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305" r:id="rId3"/>
    <p:sldId id="257" r:id="rId4"/>
    <p:sldId id="266" r:id="rId5"/>
    <p:sldId id="259" r:id="rId6"/>
    <p:sldId id="267" r:id="rId7"/>
    <p:sldId id="297" r:id="rId8"/>
    <p:sldId id="298" r:id="rId9"/>
    <p:sldId id="299" r:id="rId10"/>
    <p:sldId id="300" r:id="rId11"/>
    <p:sldId id="301" r:id="rId12"/>
    <p:sldId id="302" r:id="rId13"/>
    <p:sldId id="270" r:id="rId14"/>
    <p:sldId id="303" r:id="rId15"/>
    <p:sldId id="304" r:id="rId16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18"/>
      <p:bold r:id="rId19"/>
    </p:embeddedFont>
    <p:embeddedFont>
      <p:font typeface="Cambria Math" panose="02040503050406030204" pitchFamily="18" charset="0"/>
      <p:regular r:id="rId20"/>
    </p:embeddedFont>
    <p:embeddedFont>
      <p:font typeface="Candara" panose="020E0502030303020204" pitchFamily="34" charset="0"/>
      <p:regular r:id="rId21"/>
      <p:bold r:id="rId22"/>
      <p:italic r:id="rId23"/>
      <p:boldItalic r:id="rId24"/>
    </p:embeddedFont>
    <p:embeddedFont>
      <p:font typeface="Epilogue" panose="020B0604020202020204" charset="0"/>
      <p:regular r:id="rId25"/>
      <p:bold r:id="rId26"/>
      <p:italic r:id="rId27"/>
      <p:boldItalic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Lucida Sans" panose="020B0602030504020204" pitchFamily="34" charset="0"/>
      <p:regular r:id="rId33"/>
      <p:bold r:id="rId34"/>
      <p:italic r:id="rId35"/>
      <p:boldItalic r:id="rId36"/>
    </p:embeddedFont>
    <p:embeddedFont>
      <p:font typeface="Nunito Light" pitchFamily="2" charset="0"/>
      <p:regular r:id="rId37"/>
      <p:italic r:id="rId38"/>
    </p:embeddedFont>
    <p:embeddedFont>
      <p:font typeface="PT Sans" panose="020B0503020203020204" pitchFamily="34" charset="0"/>
      <p:regular r:id="rId39"/>
      <p:bold r:id="rId40"/>
      <p:italic r:id="rId41"/>
      <p:boldItalic r:id="rId42"/>
    </p:embeddedFont>
    <p:embeddedFont>
      <p:font typeface="Raleway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F81E4F-3026-4B8A-8629-C0A9CF839C24}">
  <a:tblStyle styleId="{CDF81E4F-3026-4B8A-8629-C0A9CF839C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CF110F-6CD8-4C54-92E9-468989483C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0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font" Target="fonts/font29.fntdata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2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X="-122033" custLinFactNeighborX="-200000" custLinFactNeighborY="13090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</dgm:ptLst>
  <dgm:cxnLst>
    <dgm:cxn modelId="{811DD4C8-7997-4FDD-B3A6-9D7E658BF8EC}" type="presOf" srcId="{2A248B7E-7D3B-4768-942E-6BAF64E26281}" destId="{A6943898-EE2C-4B31-A720-E0B36A9592C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3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NeighborX="19948" custLinFactNeighborY="16092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1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Y="-78430" custLinFactNeighborX="80656" custLinFactNeighborY="-100000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E74E26-175C-44F9-9E40-6AA41F1CBCF8}" type="doc">
      <dgm:prSet loTypeId="urn:microsoft.com/office/officeart/2005/8/layout/process1" loCatId="process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DE296793-835C-40D9-A8A9-114119997D62}">
      <dgm:prSet/>
      <dgm:spPr/>
      <dgm:t>
        <a:bodyPr/>
        <a:lstStyle/>
        <a:p>
          <a:r>
            <a:rPr lang="en-US" b="0" i="0" dirty="0"/>
            <a:t>Vertex</a:t>
          </a:r>
          <a:endParaRPr lang="en-US" dirty="0"/>
        </a:p>
      </dgm:t>
    </dgm:pt>
    <dgm:pt modelId="{3C47D589-3E3D-44D8-8D2F-A50265E85F4A}" type="parTrans" cxnId="{8204A91D-0304-4766-9C3C-E8DD17B39684}">
      <dgm:prSet/>
      <dgm:spPr/>
      <dgm:t>
        <a:bodyPr/>
        <a:lstStyle/>
        <a:p>
          <a:endParaRPr lang="en-US"/>
        </a:p>
      </dgm:t>
    </dgm:pt>
    <dgm:pt modelId="{6016432F-DC47-40F2-9CAB-B89F4B8EF99F}" type="sibTrans" cxnId="{8204A91D-0304-4766-9C3C-E8DD17B39684}">
      <dgm:prSet/>
      <dgm:spPr/>
      <dgm:t>
        <a:bodyPr/>
        <a:lstStyle/>
        <a:p>
          <a:endParaRPr lang="en-US"/>
        </a:p>
      </dgm:t>
    </dgm:pt>
    <dgm:pt modelId="{EC0C4AC8-CAE1-45D2-913D-B141A9F4B766}" type="pres">
      <dgm:prSet presAssocID="{31E74E26-175C-44F9-9E40-6AA41F1CBCF8}" presName="Name0" presStyleCnt="0">
        <dgm:presLayoutVars>
          <dgm:dir/>
          <dgm:resizeHandles val="exact"/>
        </dgm:presLayoutVars>
      </dgm:prSet>
      <dgm:spPr/>
    </dgm:pt>
    <dgm:pt modelId="{0B8BB8FA-1B01-47D6-BDEE-5870BD3A9E20}" type="pres">
      <dgm:prSet presAssocID="{DE296793-835C-40D9-A8A9-114119997D62}" presName="node" presStyleLbl="node1" presStyleIdx="0" presStyleCnt="1" custLinFactNeighborX="-11244" custLinFactNeighborY="29528">
        <dgm:presLayoutVars>
          <dgm:bulletEnabled val="1"/>
        </dgm:presLayoutVars>
      </dgm:prSet>
      <dgm:spPr/>
    </dgm:pt>
  </dgm:ptLst>
  <dgm:cxnLst>
    <dgm:cxn modelId="{8204A91D-0304-4766-9C3C-E8DD17B39684}" srcId="{31E74E26-175C-44F9-9E40-6AA41F1CBCF8}" destId="{DE296793-835C-40D9-A8A9-114119997D62}" srcOrd="0" destOrd="0" parTransId="{3C47D589-3E3D-44D8-8D2F-A50265E85F4A}" sibTransId="{6016432F-DC47-40F2-9CAB-B89F4B8EF99F}"/>
    <dgm:cxn modelId="{25C34334-E2BA-41D2-9450-0C883A2FC3FD}" type="presOf" srcId="{31E74E26-175C-44F9-9E40-6AA41F1CBCF8}" destId="{EC0C4AC8-CAE1-45D2-913D-B141A9F4B766}" srcOrd="0" destOrd="0" presId="urn:microsoft.com/office/officeart/2005/8/layout/process1"/>
    <dgm:cxn modelId="{E779563D-D581-4491-BFD6-47EC6A370974}" type="presOf" srcId="{DE296793-835C-40D9-A8A9-114119997D62}" destId="{0B8BB8FA-1B01-47D6-BDEE-5870BD3A9E20}" srcOrd="0" destOrd="0" presId="urn:microsoft.com/office/officeart/2005/8/layout/process1"/>
    <dgm:cxn modelId="{50B43289-7AB4-45C5-B792-820968B275BB}" type="presParOf" srcId="{EC0C4AC8-CAE1-45D2-913D-B141A9F4B766}" destId="{0B8BB8FA-1B01-47D6-BDEE-5870BD3A9E2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1E74E26-175C-44F9-9E40-6AA41F1CBCF8}" type="doc">
      <dgm:prSet loTypeId="urn:microsoft.com/office/officeart/2005/8/layout/process1" loCatId="process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DE296793-835C-40D9-A8A9-114119997D62}">
      <dgm:prSet/>
      <dgm:spPr/>
      <dgm:t>
        <a:bodyPr/>
        <a:lstStyle/>
        <a:p>
          <a:r>
            <a:rPr lang="en-US" b="0" i="0" dirty="0"/>
            <a:t>Edge</a:t>
          </a:r>
          <a:endParaRPr lang="en-US" dirty="0"/>
        </a:p>
      </dgm:t>
    </dgm:pt>
    <dgm:pt modelId="{3C47D589-3E3D-44D8-8D2F-A50265E85F4A}" type="parTrans" cxnId="{8204A91D-0304-4766-9C3C-E8DD17B39684}">
      <dgm:prSet/>
      <dgm:spPr/>
      <dgm:t>
        <a:bodyPr/>
        <a:lstStyle/>
        <a:p>
          <a:endParaRPr lang="en-US"/>
        </a:p>
      </dgm:t>
    </dgm:pt>
    <dgm:pt modelId="{6016432F-DC47-40F2-9CAB-B89F4B8EF99F}" type="sibTrans" cxnId="{8204A91D-0304-4766-9C3C-E8DD17B39684}">
      <dgm:prSet/>
      <dgm:spPr/>
      <dgm:t>
        <a:bodyPr/>
        <a:lstStyle/>
        <a:p>
          <a:endParaRPr lang="en-US"/>
        </a:p>
      </dgm:t>
    </dgm:pt>
    <dgm:pt modelId="{EC0C4AC8-CAE1-45D2-913D-B141A9F4B766}" type="pres">
      <dgm:prSet presAssocID="{31E74E26-175C-44F9-9E40-6AA41F1CBCF8}" presName="Name0" presStyleCnt="0">
        <dgm:presLayoutVars>
          <dgm:dir/>
          <dgm:resizeHandles val="exact"/>
        </dgm:presLayoutVars>
      </dgm:prSet>
      <dgm:spPr/>
    </dgm:pt>
    <dgm:pt modelId="{0B8BB8FA-1B01-47D6-BDEE-5870BD3A9E20}" type="pres">
      <dgm:prSet presAssocID="{DE296793-835C-40D9-A8A9-114119997D62}" presName="node" presStyleLbl="node1" presStyleIdx="0" presStyleCnt="1" custLinFactY="16047" custLinFactNeighborX="-14993" custLinFactNeighborY="100000">
        <dgm:presLayoutVars>
          <dgm:bulletEnabled val="1"/>
        </dgm:presLayoutVars>
      </dgm:prSet>
      <dgm:spPr/>
    </dgm:pt>
  </dgm:ptLst>
  <dgm:cxnLst>
    <dgm:cxn modelId="{8204A91D-0304-4766-9C3C-E8DD17B39684}" srcId="{31E74E26-175C-44F9-9E40-6AA41F1CBCF8}" destId="{DE296793-835C-40D9-A8A9-114119997D62}" srcOrd="0" destOrd="0" parTransId="{3C47D589-3E3D-44D8-8D2F-A50265E85F4A}" sibTransId="{6016432F-DC47-40F2-9CAB-B89F4B8EF99F}"/>
    <dgm:cxn modelId="{25C34334-E2BA-41D2-9450-0C883A2FC3FD}" type="presOf" srcId="{31E74E26-175C-44F9-9E40-6AA41F1CBCF8}" destId="{EC0C4AC8-CAE1-45D2-913D-B141A9F4B766}" srcOrd="0" destOrd="0" presId="urn:microsoft.com/office/officeart/2005/8/layout/process1"/>
    <dgm:cxn modelId="{E779563D-D581-4491-BFD6-47EC6A370974}" type="presOf" srcId="{DE296793-835C-40D9-A8A9-114119997D62}" destId="{0B8BB8FA-1B01-47D6-BDEE-5870BD3A9E20}" srcOrd="0" destOrd="0" presId="urn:microsoft.com/office/officeart/2005/8/layout/process1"/>
    <dgm:cxn modelId="{50B43289-7AB4-45C5-B792-820968B275BB}" type="presParOf" srcId="{EC0C4AC8-CAE1-45D2-913D-B141A9F4B766}" destId="{0B8BB8FA-1B01-47D6-BDEE-5870BD3A9E2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3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X="-122033" custLinFactNeighborX="-200000" custLinFactNeighborY="13090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1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X="-12518" custLinFactY="-417821" custLinFactNeighborX="-100000" custLinFactNeighborY="-500000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2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X="-122033" custLinFactNeighborX="-200000" custLinFactNeighborY="13090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4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248B7E-7D3B-4768-942E-6BAF64E26281}" type="doc">
      <dgm:prSet loTypeId="urn:microsoft.com/office/officeart/2005/8/layout/process1" loCatId="process" qsTypeId="urn:microsoft.com/office/officeart/2005/8/quickstyle/3d1" qsCatId="3D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1114B08B-3E5C-459F-A6EA-222C81363CB9}">
      <dgm:prSet/>
      <dgm:spPr/>
      <dgm:t>
        <a:bodyPr/>
        <a:lstStyle/>
        <a:p>
          <a:r>
            <a:rPr lang="en-US" b="1" i="0" dirty="0">
              <a:solidFill>
                <a:schemeClr val="tx1">
                  <a:lumMod val="50000"/>
                </a:schemeClr>
              </a:solidFill>
            </a:rPr>
            <a:t>1</a:t>
          </a:r>
          <a:endParaRPr lang="en-US" dirty="0">
            <a:solidFill>
              <a:schemeClr val="tx1">
                <a:lumMod val="50000"/>
              </a:schemeClr>
            </a:solidFill>
          </a:endParaRPr>
        </a:p>
      </dgm:t>
    </dgm:pt>
    <dgm:pt modelId="{A2CB8537-6C63-4A6F-941B-C55542F39578}" type="parTrans" cxnId="{FA5159A2-1FBF-4F81-A3DA-50B3CFB163CD}">
      <dgm:prSet/>
      <dgm:spPr/>
      <dgm:t>
        <a:bodyPr/>
        <a:lstStyle/>
        <a:p>
          <a:endParaRPr lang="en-US"/>
        </a:p>
      </dgm:t>
    </dgm:pt>
    <dgm:pt modelId="{CD9DAC4E-587A-466B-947F-F02DC80C40DC}" type="sibTrans" cxnId="{FA5159A2-1FBF-4F81-A3DA-50B3CFB163CD}">
      <dgm:prSet/>
      <dgm:spPr/>
      <dgm:t>
        <a:bodyPr/>
        <a:lstStyle/>
        <a:p>
          <a:endParaRPr lang="en-US"/>
        </a:p>
      </dgm:t>
    </dgm:pt>
    <dgm:pt modelId="{A6943898-EE2C-4B31-A720-E0B36A9592C1}" type="pres">
      <dgm:prSet presAssocID="{2A248B7E-7D3B-4768-942E-6BAF64E26281}" presName="Name0" presStyleCnt="0">
        <dgm:presLayoutVars>
          <dgm:dir/>
          <dgm:resizeHandles val="exact"/>
        </dgm:presLayoutVars>
      </dgm:prSet>
      <dgm:spPr/>
    </dgm:pt>
    <dgm:pt modelId="{C4F94FA5-D711-4D30-85CB-17814DB95F14}" type="pres">
      <dgm:prSet presAssocID="{1114B08B-3E5C-459F-A6EA-222C81363CB9}" presName="node" presStyleLbl="node1" presStyleIdx="0" presStyleCnt="1" custLinFactX="-122033" custLinFactNeighborX="-200000" custLinFactNeighborY="13090">
        <dgm:presLayoutVars>
          <dgm:bulletEnabled val="1"/>
        </dgm:presLayoutVars>
      </dgm:prSet>
      <dgm:spPr/>
    </dgm:pt>
  </dgm:ptLst>
  <dgm:cxnLst>
    <dgm:cxn modelId="{E49A0D6D-CAB3-4690-B12D-414759B86C8C}" type="presOf" srcId="{1114B08B-3E5C-459F-A6EA-222C81363CB9}" destId="{C4F94FA5-D711-4D30-85CB-17814DB95F14}" srcOrd="0" destOrd="0" presId="urn:microsoft.com/office/officeart/2005/8/layout/process1"/>
    <dgm:cxn modelId="{FA5159A2-1FBF-4F81-A3DA-50B3CFB163CD}" srcId="{2A248B7E-7D3B-4768-942E-6BAF64E26281}" destId="{1114B08B-3E5C-459F-A6EA-222C81363CB9}" srcOrd="0" destOrd="0" parTransId="{A2CB8537-6C63-4A6F-941B-C55542F39578}" sibTransId="{CD9DAC4E-587A-466B-947F-F02DC80C40DC}"/>
    <dgm:cxn modelId="{811DD4C8-7997-4FDD-B3A6-9D7E658BF8EC}" type="presOf" srcId="{2A248B7E-7D3B-4768-942E-6BAF64E26281}" destId="{A6943898-EE2C-4B31-A720-E0B36A9592C1}" srcOrd="0" destOrd="0" presId="urn:microsoft.com/office/officeart/2005/8/layout/process1"/>
    <dgm:cxn modelId="{DF98323A-2C60-40CE-B2FD-AAAF5C27602E}" type="presParOf" srcId="{A6943898-EE2C-4B31-A720-E0B36A9592C1}" destId="{C4F94FA5-D711-4D30-85CB-17814DB95F1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0" y="16997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2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137" y="27134"/>
        <a:ext cx="325832" cy="3334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338" y="16997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3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475" y="27134"/>
        <a:ext cx="325832" cy="3334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338" y="0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1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475" y="10137"/>
        <a:ext cx="325832" cy="3334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BB8FA-1B01-47D6-BDEE-5870BD3A9E20}">
      <dsp:nvSpPr>
        <dsp:cNvPr id="0" name=""/>
        <dsp:cNvSpPr/>
      </dsp:nvSpPr>
      <dsp:spPr>
        <a:xfrm>
          <a:off x="0" y="0"/>
          <a:ext cx="870413" cy="307777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Vertex</a:t>
          </a:r>
          <a:endParaRPr lang="en-US" sz="1300" kern="1200" dirty="0"/>
        </a:p>
      </dsp:txBody>
      <dsp:txXfrm>
        <a:off x="9014" y="9014"/>
        <a:ext cx="852385" cy="2897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BB8FA-1B01-47D6-BDEE-5870BD3A9E20}">
      <dsp:nvSpPr>
        <dsp:cNvPr id="0" name=""/>
        <dsp:cNvSpPr/>
      </dsp:nvSpPr>
      <dsp:spPr>
        <a:xfrm>
          <a:off x="0" y="0"/>
          <a:ext cx="870413" cy="307777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Edge</a:t>
          </a:r>
          <a:endParaRPr lang="en-US" sz="1300" kern="1200" dirty="0"/>
        </a:p>
      </dsp:txBody>
      <dsp:txXfrm>
        <a:off x="9014" y="9014"/>
        <a:ext cx="852385" cy="2897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0" y="16997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3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137" y="27134"/>
        <a:ext cx="325832" cy="3334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0" y="0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1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137" y="10137"/>
        <a:ext cx="325832" cy="33340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0" y="16997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2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137" y="27134"/>
        <a:ext cx="325832" cy="33340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94FA5-D711-4D30-85CB-17814DB95F14}">
      <dsp:nvSpPr>
        <dsp:cNvPr id="0" name=""/>
        <dsp:cNvSpPr/>
      </dsp:nvSpPr>
      <dsp:spPr>
        <a:xfrm>
          <a:off x="0" y="16997"/>
          <a:ext cx="346106" cy="3536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>
              <a:solidFill>
                <a:schemeClr val="tx1">
                  <a:lumMod val="50000"/>
                </a:schemeClr>
              </a:solidFill>
            </a:rPr>
            <a:t>1</a:t>
          </a:r>
          <a:endParaRPr lang="en-US" sz="1600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10137" y="27134"/>
        <a:ext cx="325832" cy="333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C3C669A1-70EB-FB46-99D5-2FFDF79DA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>
            <a:extLst>
              <a:ext uri="{FF2B5EF4-FFF2-40B4-BE49-F238E27FC236}">
                <a16:creationId xmlns:a16="http://schemas.microsoft.com/office/drawing/2014/main" id="{2B91605A-1860-B620-0A61-E28EAA132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>
            <a:extLst>
              <a:ext uri="{FF2B5EF4-FFF2-40B4-BE49-F238E27FC236}">
                <a16:creationId xmlns:a16="http://schemas.microsoft.com/office/drawing/2014/main" id="{A8A25C19-1125-2DAD-7D12-7A3A06D8E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787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5C27C12E-73C0-DF81-CBF6-574F8755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>
            <a:extLst>
              <a:ext uri="{FF2B5EF4-FFF2-40B4-BE49-F238E27FC236}">
                <a16:creationId xmlns:a16="http://schemas.microsoft.com/office/drawing/2014/main" id="{78F3C21A-6AFD-4CCB-F519-FB5797C26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>
            <a:extLst>
              <a:ext uri="{FF2B5EF4-FFF2-40B4-BE49-F238E27FC236}">
                <a16:creationId xmlns:a16="http://schemas.microsoft.com/office/drawing/2014/main" id="{945BFA32-927A-894A-CACC-3321E7135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366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5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9" Type="http://schemas.openxmlformats.org/officeDocument/2006/relationships/diagramLayout" Target="../diagrams/layout8.xml"/><Relationship Id="rId21" Type="http://schemas.openxmlformats.org/officeDocument/2006/relationships/diagramColors" Target="../diagrams/colors4.xml"/><Relationship Id="rId34" Type="http://schemas.openxmlformats.org/officeDocument/2006/relationships/diagramLayout" Target="../diagrams/layout7.xml"/><Relationship Id="rId42" Type="http://schemas.microsoft.com/office/2007/relationships/diagramDrawing" Target="../diagrams/drawing8.xml"/><Relationship Id="rId47" Type="http://schemas.microsoft.com/office/2007/relationships/diagramDrawing" Target="../diagrams/drawing9.xml"/><Relationship Id="rId50" Type="http://schemas.openxmlformats.org/officeDocument/2006/relationships/diagramQuickStyle" Target="../diagrams/quickStyle10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6" Type="http://schemas.openxmlformats.org/officeDocument/2006/relationships/diagramColors" Target="../diagrams/colors3.xml"/><Relationship Id="rId29" Type="http://schemas.openxmlformats.org/officeDocument/2006/relationships/diagramLayout" Target="../diagrams/layout6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32" Type="http://schemas.microsoft.com/office/2007/relationships/diagramDrawing" Target="../diagrams/drawing6.xml"/><Relationship Id="rId37" Type="http://schemas.microsoft.com/office/2007/relationships/diagramDrawing" Target="../diagrams/drawing7.xml"/><Relationship Id="rId40" Type="http://schemas.openxmlformats.org/officeDocument/2006/relationships/diagramQuickStyle" Target="../diagrams/quickStyle8.xml"/><Relationship Id="rId45" Type="http://schemas.openxmlformats.org/officeDocument/2006/relationships/diagramQuickStyle" Target="../diagrams/quickStyle9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28" Type="http://schemas.openxmlformats.org/officeDocument/2006/relationships/diagramData" Target="../diagrams/data6.xml"/><Relationship Id="rId36" Type="http://schemas.openxmlformats.org/officeDocument/2006/relationships/diagramColors" Target="../diagrams/colors7.xml"/><Relationship Id="rId49" Type="http://schemas.openxmlformats.org/officeDocument/2006/relationships/diagramLayout" Target="../diagrams/layout10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31" Type="http://schemas.openxmlformats.org/officeDocument/2006/relationships/diagramColors" Target="../diagrams/colors6.xml"/><Relationship Id="rId44" Type="http://schemas.openxmlformats.org/officeDocument/2006/relationships/diagramLayout" Target="../diagrams/layout9.xml"/><Relationship Id="rId52" Type="http://schemas.microsoft.com/office/2007/relationships/diagramDrawing" Target="../diagrams/drawing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Relationship Id="rId30" Type="http://schemas.openxmlformats.org/officeDocument/2006/relationships/diagramQuickStyle" Target="../diagrams/quickStyle6.xml"/><Relationship Id="rId35" Type="http://schemas.openxmlformats.org/officeDocument/2006/relationships/diagramQuickStyle" Target="../diagrams/quickStyle7.xml"/><Relationship Id="rId43" Type="http://schemas.openxmlformats.org/officeDocument/2006/relationships/diagramData" Target="../diagrams/data9.xml"/><Relationship Id="rId48" Type="http://schemas.openxmlformats.org/officeDocument/2006/relationships/diagramData" Target="../diagrams/data10.xml"/><Relationship Id="rId8" Type="http://schemas.openxmlformats.org/officeDocument/2006/relationships/diagramData" Target="../diagrams/data2.xml"/><Relationship Id="rId51" Type="http://schemas.openxmlformats.org/officeDocument/2006/relationships/diagramColors" Target="../diagrams/colors10.xml"/><Relationship Id="rId3" Type="http://schemas.openxmlformats.org/officeDocument/2006/relationships/diagramData" Target="../diagrams/data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33" Type="http://schemas.openxmlformats.org/officeDocument/2006/relationships/diagramData" Target="../diagrams/data7.xml"/><Relationship Id="rId38" Type="http://schemas.openxmlformats.org/officeDocument/2006/relationships/diagramData" Target="../diagrams/data8.xml"/><Relationship Id="rId46" Type="http://schemas.openxmlformats.org/officeDocument/2006/relationships/diagramColors" Target="../diagrams/colors9.xml"/><Relationship Id="rId20" Type="http://schemas.openxmlformats.org/officeDocument/2006/relationships/diagramQuickStyle" Target="../diagrams/quickStyle4.xml"/><Relationship Id="rId41" Type="http://schemas.openxmlformats.org/officeDocument/2006/relationships/diagramColors" Target="../diagrams/colors8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5930180" y="157051"/>
            <a:ext cx="3507667" cy="3789655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1058843" y="-620935"/>
            <a:ext cx="4266896" cy="25670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kern="1200" dirty="0">
                <a:solidFill>
                  <a:schemeClr val="tx1">
                    <a:lumMod val="50000"/>
                  </a:schemeClr>
                </a:solidFill>
                <a:latin typeface="Bahnschrift" panose="020B0502040204020203" pitchFamily="34" charset="0"/>
              </a:rPr>
              <a:t>Mini project</a:t>
            </a:r>
            <a:br>
              <a:rPr lang="en-US" sz="3600" kern="12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en-US" sz="2000" kern="12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irected graph by adjacency matrix</a:t>
            </a:r>
            <a:endParaRPr sz="20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757" name="Google Shape;757;p28"/>
          <p:cNvGrpSpPr/>
          <p:nvPr/>
        </p:nvGrpSpPr>
        <p:grpSpPr>
          <a:xfrm>
            <a:off x="7446424" y="331451"/>
            <a:ext cx="1304543" cy="1351724"/>
            <a:chOff x="5165167" y="656304"/>
            <a:chExt cx="3841016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52447" y="1945548"/>
              <a:ext cx="1463634" cy="1250722"/>
              <a:chOff x="6484795" y="2058683"/>
              <a:chExt cx="1199110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84795" y="2058683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8C145E99-D5E8-801E-B7E4-F4F29E144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444" y="1522533"/>
            <a:ext cx="4628587" cy="19120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18FFB2-0217-1109-CDEA-9811608FD72B}"/>
              </a:ext>
            </a:extLst>
          </p:cNvPr>
          <p:cNvSpPr txBox="1"/>
          <p:nvPr/>
        </p:nvSpPr>
        <p:spPr>
          <a:xfrm>
            <a:off x="550716" y="2741614"/>
            <a:ext cx="4725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ndara" panose="020E0502030303020204" pitchFamily="34" charset="0"/>
              </a:rPr>
              <a:t>Presented To:</a:t>
            </a:r>
            <a:r>
              <a:rPr lang="en-US" dirty="0">
                <a:latin typeface="Candara" panose="020E0502030303020204" pitchFamily="34" charset="0"/>
              </a:rPr>
              <a:t>	   </a:t>
            </a:r>
          </a:p>
          <a:p>
            <a:r>
              <a:rPr lang="en-US" b="1" dirty="0">
                <a:latin typeface="Candara" panose="020E0502030303020204" pitchFamily="34" charset="0"/>
              </a:rPr>
              <a:t>Sadia Nur Amin </a:t>
            </a:r>
          </a:p>
          <a:p>
            <a:r>
              <a:rPr lang="en-US" dirty="0">
                <a:latin typeface="Candara" panose="020E0502030303020204" pitchFamily="34" charset="0"/>
              </a:rPr>
              <a:t>Lecturer,</a:t>
            </a:r>
          </a:p>
          <a:p>
            <a:r>
              <a:rPr lang="en-US" dirty="0">
                <a:latin typeface="Candara" panose="020E0502030303020204" pitchFamily="34" charset="0"/>
              </a:rPr>
              <a:t>Dept. of Computer Science and Engineering(CSE)</a:t>
            </a:r>
          </a:p>
          <a:p>
            <a:r>
              <a:rPr lang="en-US" dirty="0">
                <a:latin typeface="Candara" panose="020E0502030303020204" pitchFamily="34" charset="0"/>
              </a:rPr>
              <a:t>East West University(EWU)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08614-4B3D-EDCC-93D5-019B32905553}"/>
              </a:ext>
            </a:extLst>
          </p:cNvPr>
          <p:cNvSpPr txBox="1"/>
          <p:nvPr/>
        </p:nvSpPr>
        <p:spPr>
          <a:xfrm>
            <a:off x="5112996" y="3197339"/>
            <a:ext cx="3715098" cy="1979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ndara" panose="020E0502030303020204" pitchFamily="34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ndara" panose="020E0502030303020204" pitchFamily="34" charset="0"/>
                <a:ea typeface="Times New Roman" panose="02020603050405020304" pitchFamily="18" charset="0"/>
              </a:rPr>
              <a:t>JYOTIRMAY MONDAL 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( 2024-1-60-080 )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MD. FIROZ KABIR 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(</a:t>
            </a:r>
            <a:r>
              <a:rPr lang="en-US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2025-1-60-193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 )</a:t>
            </a:r>
            <a:endParaRPr lang="en-US" dirty="0"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ZAFIRUL ANAM SARKAR 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(</a:t>
            </a:r>
            <a:r>
              <a:rPr lang="en-US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2023-3-60-575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 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b="1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TASKIN BILLAH TAMIM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(</a:t>
            </a:r>
            <a:r>
              <a:rPr lang="en-US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2025-1-60-050</a:t>
            </a:r>
            <a:r>
              <a:rPr lang="en-US" dirty="0">
                <a:latin typeface="Candara" panose="020E0502030303020204" pitchFamily="34" charset="0"/>
                <a:ea typeface="Times New Roman" panose="02020603050405020304" pitchFamily="18" charset="0"/>
              </a:rPr>
              <a:t>)</a:t>
            </a:r>
            <a:endParaRPr lang="en-US" dirty="0">
              <a:latin typeface="Candara" panose="020E0502030303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41FE-3A9C-66FE-81D4-D8DDA9F3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242" y="778513"/>
            <a:ext cx="7907633" cy="572700"/>
          </a:xfrm>
        </p:spPr>
        <p:txBody>
          <a:bodyPr/>
          <a:lstStyle/>
          <a:p>
            <a:pPr algn="ctr"/>
            <a:r>
              <a:rPr lang="de" sz="5400" b="1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Welcome to our Presentation</a:t>
            </a:r>
            <a:br>
              <a:rPr lang="de" sz="5400" b="1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</a:br>
            <a:br>
              <a:rPr lang="de" sz="6600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</a:rPr>
            </a:b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Randomly generate a 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Directed graph 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represented by adjacency matrix</a:t>
            </a:r>
            <a:endParaRPr lang="en-US" sz="3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57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an Adjacency Matrix?</a:t>
            </a:r>
            <a:endParaRPr dirty="0"/>
          </a:p>
        </p:txBody>
      </p:sp>
      <p:sp>
        <p:nvSpPr>
          <p:cNvPr id="943" name="Google Shape;943;p29"/>
          <p:cNvSpPr txBox="1"/>
          <p:nvPr/>
        </p:nvSpPr>
        <p:spPr>
          <a:xfrm>
            <a:off x="1567562" y="1257826"/>
            <a:ext cx="5804787" cy="327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b="1" u="sng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941" name="Google Shape;941;p29"/>
          <p:cNvGraphicFramePr/>
          <p:nvPr>
            <p:extLst>
              <p:ext uri="{D42A27DB-BD31-4B8C-83A1-F6EECF244321}">
                <p14:modId xmlns:p14="http://schemas.microsoft.com/office/powerpoint/2010/main" val="1856639445"/>
              </p:ext>
            </p:extLst>
          </p:nvPr>
        </p:nvGraphicFramePr>
        <p:xfrm>
          <a:off x="889000" y="1119524"/>
          <a:ext cx="6736050" cy="2648720"/>
        </p:xfrm>
        <a:graphic>
          <a:graphicData uri="http://schemas.openxmlformats.org/drawingml/2006/table">
            <a:tbl>
              <a:tblPr>
                <a:noFill/>
                <a:tableStyleId>{CDF81E4F-3026-4B8A-8629-C0A9CF839C24}</a:tableStyleId>
              </a:tblPr>
              <a:tblGrid>
                <a:gridCol w="673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74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An adjacency matrix is a table. It shows how nodes in a graph are connected.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4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Each row and column in the table stands for a node.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4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If two nodes are connected, we put a "</a:t>
                      </a:r>
                      <a:r>
                        <a:rPr lang="en-GB" sz="20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1</a:t>
                      </a: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" where their row and column meet.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4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If they are not connected, we put a “</a:t>
                      </a:r>
                      <a:r>
                        <a:rPr lang="en-GB" sz="18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0</a:t>
                      </a: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" there.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74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GB" sz="1400" b="1" dirty="0">
                          <a:effectLst>
                            <a:glow>
                              <a:schemeClr val="tx2">
                                <a:lumMod val="25000"/>
                                <a:lumOff val="75000"/>
                              </a:schemeClr>
                            </a:glow>
                          </a:effectLst>
                          <a:latin typeface="Candara" panose="020E0502030303020204" pitchFamily="34" charset="0"/>
                        </a:rPr>
                        <a:t>This matrix makes it easy to see the connections in a graph.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3385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/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/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3" name="Google Shape;1183;p38"/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38"/>
          <p:cNvGrpSpPr/>
          <p:nvPr/>
        </p:nvGrpSpPr>
        <p:grpSpPr>
          <a:xfrm>
            <a:off x="541705" y="1421418"/>
            <a:ext cx="552408" cy="792759"/>
            <a:chOff x="10519314" y="4728596"/>
            <a:chExt cx="751780" cy="1078731"/>
          </a:xfrm>
        </p:grpSpPr>
        <p:grpSp>
          <p:nvGrpSpPr>
            <p:cNvPr id="1185" name="Google Shape;1185;p3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86" name="Google Shape;1186;p3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87" name="Google Shape;1187;p3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3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3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0" name="Google Shape;1190;p3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91" name="Google Shape;1191;p3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3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3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3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95" name="Google Shape;1195;p3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96" name="Google Shape;1196;p3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3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8" name="Google Shape;1198;p3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99" name="Google Shape;1199;p3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200;p3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1" name="Google Shape;1201;p3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202" name="Google Shape;1202;p3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3" name="Google Shape;1203;p3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04" name="Google Shape;1204;p3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205" name="Google Shape;1205;p3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3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07" name="Google Shape;1207;p3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208" name="Google Shape;1208;p3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9" name="Google Shape;1209;p3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10" name="Google Shape;1210;p3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211" name="Google Shape;1211;p3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2" name="Google Shape;1212;p3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213" name="Google Shape;1213;p3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214" name="Google Shape;1214;p3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38"/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/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38"/>
          <p:cNvGrpSpPr/>
          <p:nvPr/>
        </p:nvGrpSpPr>
        <p:grpSpPr>
          <a:xfrm>
            <a:off x="7595314" y="1536380"/>
            <a:ext cx="363177" cy="451073"/>
            <a:chOff x="7385113" y="1535430"/>
            <a:chExt cx="435673" cy="541115"/>
          </a:xfrm>
        </p:grpSpPr>
        <p:sp>
          <p:nvSpPr>
            <p:cNvPr id="1252" name="Google Shape;1252;p38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3" name="Google Shape;1253;p38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254" name="Google Shape;1254;p38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38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7" name="Google Shape;1257;p38"/>
          <p:cNvGrpSpPr/>
          <p:nvPr/>
        </p:nvGrpSpPr>
        <p:grpSpPr>
          <a:xfrm>
            <a:off x="7624772" y="1623323"/>
            <a:ext cx="299338" cy="313076"/>
            <a:chOff x="7420451" y="1639728"/>
            <a:chExt cx="359091" cy="375571"/>
          </a:xfrm>
        </p:grpSpPr>
        <p:sp>
          <p:nvSpPr>
            <p:cNvPr id="1258" name="Google Shape;1258;p38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0" name="Google Shape;1260;p38"/>
          <p:cNvGrpSpPr/>
          <p:nvPr/>
        </p:nvGrpSpPr>
        <p:grpSpPr>
          <a:xfrm>
            <a:off x="8216550" y="1526835"/>
            <a:ext cx="396068" cy="717683"/>
            <a:chOff x="1945386" y="5582316"/>
            <a:chExt cx="470725" cy="852963"/>
          </a:xfrm>
        </p:grpSpPr>
        <p:grpSp>
          <p:nvGrpSpPr>
            <p:cNvPr id="1261" name="Google Shape;1261;p38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62" name="Google Shape;1262;p38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38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38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/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/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/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/>
          <p:cNvCxnSpPr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  <p:graphicFrame>
        <p:nvGraphicFramePr>
          <p:cNvPr id="3" name="Content Placeholder 12">
            <a:extLst>
              <a:ext uri="{FF2B5EF4-FFF2-40B4-BE49-F238E27FC236}">
                <a16:creationId xmlns:a16="http://schemas.microsoft.com/office/drawing/2014/main" id="{0390D65F-35B9-20C4-3811-0B57208EBE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605738"/>
              </p:ext>
            </p:extLst>
          </p:nvPr>
        </p:nvGraphicFramePr>
        <p:xfrm flipV="1">
          <a:off x="5049743" y="2571750"/>
          <a:ext cx="3327401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737">
                  <a:extLst>
                    <a:ext uri="{9D8B030D-6E8A-4147-A177-3AD203B41FA5}">
                      <a16:colId xmlns:a16="http://schemas.microsoft.com/office/drawing/2014/main" val="3084038450"/>
                    </a:ext>
                  </a:extLst>
                </a:gridCol>
                <a:gridCol w="670666">
                  <a:extLst>
                    <a:ext uri="{9D8B030D-6E8A-4147-A177-3AD203B41FA5}">
                      <a16:colId xmlns:a16="http://schemas.microsoft.com/office/drawing/2014/main" val="1796892629"/>
                    </a:ext>
                  </a:extLst>
                </a:gridCol>
                <a:gridCol w="670666">
                  <a:extLst>
                    <a:ext uri="{9D8B030D-6E8A-4147-A177-3AD203B41FA5}">
                      <a16:colId xmlns:a16="http://schemas.microsoft.com/office/drawing/2014/main" val="4132412048"/>
                    </a:ext>
                  </a:extLst>
                </a:gridCol>
                <a:gridCol w="670666">
                  <a:extLst>
                    <a:ext uri="{9D8B030D-6E8A-4147-A177-3AD203B41FA5}">
                      <a16:colId xmlns:a16="http://schemas.microsoft.com/office/drawing/2014/main" val="3481706223"/>
                    </a:ext>
                  </a:extLst>
                </a:gridCol>
                <a:gridCol w="670666">
                  <a:extLst>
                    <a:ext uri="{9D8B030D-6E8A-4147-A177-3AD203B41FA5}">
                      <a16:colId xmlns:a16="http://schemas.microsoft.com/office/drawing/2014/main" val="42427953"/>
                    </a:ext>
                  </a:extLst>
                </a:gridCol>
              </a:tblGrid>
              <a:tr h="3957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529574"/>
                  </a:ext>
                </a:extLst>
              </a:tr>
              <a:tr h="3957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580445"/>
                  </a:ext>
                </a:extLst>
              </a:tr>
              <a:tr h="3957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53325"/>
                  </a:ext>
                </a:extLst>
              </a:tr>
              <a:tr h="3957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002388"/>
                  </a:ext>
                </a:extLst>
              </a:tr>
              <a:tr h="3957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250149"/>
                  </a:ext>
                </a:extLst>
              </a:tr>
            </a:tbl>
          </a:graphicData>
        </a:graphic>
      </p:graphicFrame>
      <p:sp>
        <p:nvSpPr>
          <p:cNvPr id="13" name="Oval 12">
            <a:extLst>
              <a:ext uri="{FF2B5EF4-FFF2-40B4-BE49-F238E27FC236}">
                <a16:creationId xmlns:a16="http://schemas.microsoft.com/office/drawing/2014/main" id="{2C42896E-1720-C3BC-ED30-B4BC78B182AF}"/>
              </a:ext>
            </a:extLst>
          </p:cNvPr>
          <p:cNvSpPr/>
          <p:nvPr/>
        </p:nvSpPr>
        <p:spPr>
          <a:xfrm>
            <a:off x="1319431" y="1199936"/>
            <a:ext cx="425280" cy="38337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B7E229-5FFF-E72A-5DB2-655F539ED84A}"/>
              </a:ext>
            </a:extLst>
          </p:cNvPr>
          <p:cNvSpPr/>
          <p:nvPr/>
        </p:nvSpPr>
        <p:spPr>
          <a:xfrm>
            <a:off x="3199031" y="883092"/>
            <a:ext cx="425280" cy="38337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3506998-4B3A-CBED-C2D5-FDCE4CB0F004}"/>
              </a:ext>
            </a:extLst>
          </p:cNvPr>
          <p:cNvSpPr/>
          <p:nvPr/>
        </p:nvSpPr>
        <p:spPr>
          <a:xfrm>
            <a:off x="1920833" y="3351600"/>
            <a:ext cx="425280" cy="38337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419AC4-A6AA-5086-E366-A2943FEEF4FC}"/>
              </a:ext>
            </a:extLst>
          </p:cNvPr>
          <p:cNvSpPr/>
          <p:nvPr/>
        </p:nvSpPr>
        <p:spPr>
          <a:xfrm>
            <a:off x="3921508" y="2257997"/>
            <a:ext cx="425280" cy="38337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DFA772-E166-571A-71DF-6AD1487524FE}"/>
              </a:ext>
            </a:extLst>
          </p:cNvPr>
          <p:cNvCxnSpPr>
            <a:stCxn id="14" idx="5"/>
            <a:endCxn id="17" idx="1"/>
          </p:cNvCxnSpPr>
          <p:nvPr/>
        </p:nvCxnSpPr>
        <p:spPr>
          <a:xfrm>
            <a:off x="3562030" y="1210320"/>
            <a:ext cx="421759" cy="110382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866B81-101A-FCC7-7C70-45B435A5A427}"/>
              </a:ext>
            </a:extLst>
          </p:cNvPr>
          <p:cNvCxnSpPr>
            <a:cxnSpLocks/>
            <a:stCxn id="16" idx="7"/>
            <a:endCxn id="17" idx="3"/>
          </p:cNvCxnSpPr>
          <p:nvPr/>
        </p:nvCxnSpPr>
        <p:spPr>
          <a:xfrm flipV="1">
            <a:off x="2283832" y="2585225"/>
            <a:ext cx="1699957" cy="822518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headEnd type="stealth" w="lg" len="lg"/>
            <a:tailEnd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8101860-96AD-FBFD-9C1A-83CD0F17E03E}"/>
              </a:ext>
            </a:extLst>
          </p:cNvPr>
          <p:cNvCxnSpPr>
            <a:cxnSpLocks/>
            <a:stCxn id="16" idx="0"/>
            <a:endCxn id="14" idx="3"/>
          </p:cNvCxnSpPr>
          <p:nvPr/>
        </p:nvCxnSpPr>
        <p:spPr>
          <a:xfrm flipV="1">
            <a:off x="2133473" y="1210320"/>
            <a:ext cx="1127839" cy="214128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headEnd type="none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664D6423-9800-E40C-79F2-6DE9C35054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338814"/>
              </p:ext>
            </p:extLst>
          </p:nvPr>
        </p:nvGraphicFramePr>
        <p:xfrm>
          <a:off x="3151209" y="2776911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0B03401A-D6FD-34E1-236B-BA16A0A5D5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608609"/>
              </p:ext>
            </p:extLst>
          </p:nvPr>
        </p:nvGraphicFramePr>
        <p:xfrm>
          <a:off x="2107946" y="1612501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3" name="Diagram 42">
            <a:extLst>
              <a:ext uri="{FF2B5EF4-FFF2-40B4-BE49-F238E27FC236}">
                <a16:creationId xmlns:a16="http://schemas.microsoft.com/office/drawing/2014/main" id="{4EFE6741-8DE8-7C0C-A4AA-5176D1B21B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835208"/>
              </p:ext>
            </p:extLst>
          </p:nvPr>
        </p:nvGraphicFramePr>
        <p:xfrm>
          <a:off x="3615654" y="1608754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11F7E24F-1D94-F92A-830C-57DBACE3D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76386"/>
              </p:ext>
            </p:extLst>
          </p:nvPr>
        </p:nvGraphicFramePr>
        <p:xfrm>
          <a:off x="2667152" y="1873843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sp>
        <p:nvSpPr>
          <p:cNvPr id="46" name="Oval 45">
            <a:extLst>
              <a:ext uri="{FF2B5EF4-FFF2-40B4-BE49-F238E27FC236}">
                <a16:creationId xmlns:a16="http://schemas.microsoft.com/office/drawing/2014/main" id="{213AFCA2-239A-6394-7604-047255AA8EF1}"/>
              </a:ext>
            </a:extLst>
          </p:cNvPr>
          <p:cNvSpPr/>
          <p:nvPr/>
        </p:nvSpPr>
        <p:spPr>
          <a:xfrm>
            <a:off x="5307051" y="576140"/>
            <a:ext cx="425280" cy="38337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CA441DA-8CB6-5301-2BA2-300B02A441FC}"/>
              </a:ext>
            </a:extLst>
          </p:cNvPr>
          <p:cNvCxnSpPr/>
          <p:nvPr/>
        </p:nvCxnSpPr>
        <p:spPr>
          <a:xfrm>
            <a:off x="5180051" y="1424984"/>
            <a:ext cx="649249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20E2116F-AB76-6D43-522F-DC00F0190DCE}"/>
              </a:ext>
            </a:extLst>
          </p:cNvPr>
          <p:cNvSpPr/>
          <p:nvPr/>
        </p:nvSpPr>
        <p:spPr>
          <a:xfrm>
            <a:off x="6032500" y="742862"/>
            <a:ext cx="425280" cy="7366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B0860A4B-D6AC-CE24-FE9D-317C8A0A3507}"/>
              </a:ext>
            </a:extLst>
          </p:cNvPr>
          <p:cNvSpPr/>
          <p:nvPr/>
        </p:nvSpPr>
        <p:spPr>
          <a:xfrm>
            <a:off x="6019800" y="1390562"/>
            <a:ext cx="425280" cy="7366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5" name="Diagram 54">
            <a:extLst>
              <a:ext uri="{FF2B5EF4-FFF2-40B4-BE49-F238E27FC236}">
                <a16:creationId xmlns:a16="http://schemas.microsoft.com/office/drawing/2014/main" id="{9915D1F7-60AC-82F7-31EF-16F7083848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2752559"/>
              </p:ext>
            </p:extLst>
          </p:nvPr>
        </p:nvGraphicFramePr>
        <p:xfrm>
          <a:off x="6543807" y="628058"/>
          <a:ext cx="871264" cy="307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58E8764A-D599-769C-393A-77B924F641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4719775"/>
              </p:ext>
            </p:extLst>
          </p:nvPr>
        </p:nvGraphicFramePr>
        <p:xfrm>
          <a:off x="6574895" y="1252895"/>
          <a:ext cx="871264" cy="307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BE234CD-08B4-50A8-64A0-58C7E33C69D6}"/>
              </a:ext>
            </a:extLst>
          </p:cNvPr>
          <p:cNvSpPr/>
          <p:nvPr/>
        </p:nvSpPr>
        <p:spPr>
          <a:xfrm>
            <a:off x="1516566" y="741234"/>
            <a:ext cx="1728439" cy="451946"/>
          </a:xfrm>
          <a:custGeom>
            <a:avLst/>
            <a:gdLst>
              <a:gd name="connsiteX0" fmla="*/ 0 w 1728439"/>
              <a:gd name="connsiteY0" fmla="*/ 451946 h 451946"/>
              <a:gd name="connsiteX1" fmla="*/ 669073 w 1728439"/>
              <a:gd name="connsiteY1" fmla="*/ 5898 h 451946"/>
              <a:gd name="connsiteX2" fmla="*/ 1728439 w 1728439"/>
              <a:gd name="connsiteY2" fmla="*/ 184317 h 451946"/>
              <a:gd name="connsiteX3" fmla="*/ 1728439 w 1728439"/>
              <a:gd name="connsiteY3" fmla="*/ 184317 h 45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439" h="451946">
                <a:moveTo>
                  <a:pt x="0" y="451946"/>
                </a:moveTo>
                <a:cubicBezTo>
                  <a:pt x="190500" y="251224"/>
                  <a:pt x="381000" y="50503"/>
                  <a:pt x="669073" y="5898"/>
                </a:cubicBezTo>
                <a:cubicBezTo>
                  <a:pt x="957146" y="-38707"/>
                  <a:pt x="1728439" y="184317"/>
                  <a:pt x="1728439" y="184317"/>
                </a:cubicBezTo>
                <a:lnTo>
                  <a:pt x="1728439" y="184317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9BA6EE-B2BD-49EF-59D8-5EAEE275BCED}"/>
              </a:ext>
            </a:extLst>
          </p:cNvPr>
          <p:cNvSpPr/>
          <p:nvPr/>
        </p:nvSpPr>
        <p:spPr>
          <a:xfrm>
            <a:off x="1694985" y="1103971"/>
            <a:ext cx="1471961" cy="440711"/>
          </a:xfrm>
          <a:custGeom>
            <a:avLst/>
            <a:gdLst>
              <a:gd name="connsiteX0" fmla="*/ 0 w 1471961"/>
              <a:gd name="connsiteY0" fmla="*/ 423746 h 440711"/>
              <a:gd name="connsiteX1" fmla="*/ 613317 w 1471961"/>
              <a:gd name="connsiteY1" fmla="*/ 390292 h 440711"/>
              <a:gd name="connsiteX2" fmla="*/ 1471961 w 1471961"/>
              <a:gd name="connsiteY2" fmla="*/ 0 h 440711"/>
              <a:gd name="connsiteX3" fmla="*/ 1471961 w 1471961"/>
              <a:gd name="connsiteY3" fmla="*/ 0 h 440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961" h="440711">
                <a:moveTo>
                  <a:pt x="0" y="423746"/>
                </a:moveTo>
                <a:cubicBezTo>
                  <a:pt x="183995" y="442331"/>
                  <a:pt x="367990" y="460916"/>
                  <a:pt x="613317" y="390292"/>
                </a:cubicBezTo>
                <a:cubicBezTo>
                  <a:pt x="858644" y="319668"/>
                  <a:pt x="1471961" y="0"/>
                  <a:pt x="1471961" y="0"/>
                </a:cubicBezTo>
                <a:lnTo>
                  <a:pt x="1471961" y="0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head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9AB2C45-D54E-3BA2-09C6-34C163C15FD8}"/>
              </a:ext>
            </a:extLst>
          </p:cNvPr>
          <p:cNvSpPr/>
          <p:nvPr/>
        </p:nvSpPr>
        <p:spPr>
          <a:xfrm>
            <a:off x="1076574" y="1550020"/>
            <a:ext cx="863738" cy="1918009"/>
          </a:xfrm>
          <a:custGeom>
            <a:avLst/>
            <a:gdLst>
              <a:gd name="connsiteX0" fmla="*/ 283875 w 863738"/>
              <a:gd name="connsiteY0" fmla="*/ 0 h 1918009"/>
              <a:gd name="connsiteX1" fmla="*/ 27397 w 863738"/>
              <a:gd name="connsiteY1" fmla="*/ 1048214 h 1918009"/>
              <a:gd name="connsiteX2" fmla="*/ 863738 w 863738"/>
              <a:gd name="connsiteY2" fmla="*/ 1918009 h 1918009"/>
              <a:gd name="connsiteX3" fmla="*/ 863738 w 863738"/>
              <a:gd name="connsiteY3" fmla="*/ 1918009 h 1918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738" h="1918009">
                <a:moveTo>
                  <a:pt x="283875" y="0"/>
                </a:moveTo>
                <a:cubicBezTo>
                  <a:pt x="107314" y="364273"/>
                  <a:pt x="-69247" y="728546"/>
                  <a:pt x="27397" y="1048214"/>
                </a:cubicBezTo>
                <a:cubicBezTo>
                  <a:pt x="124041" y="1367882"/>
                  <a:pt x="863738" y="1918009"/>
                  <a:pt x="863738" y="1918009"/>
                </a:cubicBezTo>
                <a:lnTo>
                  <a:pt x="863738" y="1918009"/>
                </a:lnTo>
              </a:path>
            </a:pathLst>
          </a:custGeom>
          <a:ln>
            <a:solidFill>
              <a:schemeClr val="accent4">
                <a:lumMod val="75000"/>
              </a:schemeClr>
            </a:solidFill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5EBCA09-0FA3-0291-0E61-DA127F9600CC}"/>
              </a:ext>
            </a:extLst>
          </p:cNvPr>
          <p:cNvSpPr/>
          <p:nvPr/>
        </p:nvSpPr>
        <p:spPr>
          <a:xfrm>
            <a:off x="1583473" y="1583473"/>
            <a:ext cx="499238" cy="1879119"/>
          </a:xfrm>
          <a:custGeom>
            <a:avLst/>
            <a:gdLst>
              <a:gd name="connsiteX0" fmla="*/ 0 w 499238"/>
              <a:gd name="connsiteY0" fmla="*/ 0 h 1879119"/>
              <a:gd name="connsiteX1" fmla="*/ 401444 w 499238"/>
              <a:gd name="connsiteY1" fmla="*/ 836342 h 1879119"/>
              <a:gd name="connsiteX2" fmla="*/ 490654 w 499238"/>
              <a:gd name="connsiteY2" fmla="*/ 1784195 h 1879119"/>
              <a:gd name="connsiteX3" fmla="*/ 490654 w 499238"/>
              <a:gd name="connsiteY3" fmla="*/ 1795347 h 187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238" h="1879119">
                <a:moveTo>
                  <a:pt x="0" y="0"/>
                </a:moveTo>
                <a:cubicBezTo>
                  <a:pt x="159834" y="269488"/>
                  <a:pt x="319668" y="538976"/>
                  <a:pt x="401444" y="836342"/>
                </a:cubicBezTo>
                <a:cubicBezTo>
                  <a:pt x="483220" y="1133708"/>
                  <a:pt x="475786" y="1624361"/>
                  <a:pt x="490654" y="1784195"/>
                </a:cubicBezTo>
                <a:cubicBezTo>
                  <a:pt x="505522" y="1944029"/>
                  <a:pt x="498088" y="1869688"/>
                  <a:pt x="490654" y="1795347"/>
                </a:cubicBezTo>
              </a:path>
            </a:pathLst>
          </a:custGeom>
          <a:ln>
            <a:head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71F0B1D7-5A31-87C6-271D-3D25B3C9D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352502"/>
              </p:ext>
            </p:extLst>
          </p:nvPr>
        </p:nvGraphicFramePr>
        <p:xfrm>
          <a:off x="1775786" y="2138349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3" r:lo="rId34" r:qs="rId35" r:cs="rId36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3508A13-6ABB-14C0-C1F7-75F9BC45B7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896761"/>
              </p:ext>
            </p:extLst>
          </p:nvPr>
        </p:nvGraphicFramePr>
        <p:xfrm>
          <a:off x="2282277" y="1221864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8" r:lo="rId39" r:qs="rId40" r:cs="rId41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2575F95-50CE-ED92-8445-7F69408534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5713245"/>
              </p:ext>
            </p:extLst>
          </p:nvPr>
        </p:nvGraphicFramePr>
        <p:xfrm>
          <a:off x="1960250" y="562207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3" r:lo="rId44" r:qs="rId45" r:cs="rId46"/>
          </a:graphicData>
        </a:graphic>
      </p:graphicFrame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89DAB02B-4472-8A0D-68D1-F9EA90AB30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193322"/>
              </p:ext>
            </p:extLst>
          </p:nvPr>
        </p:nvGraphicFramePr>
        <p:xfrm>
          <a:off x="936310" y="2314140"/>
          <a:ext cx="346445" cy="37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8" r:lo="rId49" r:qs="rId50" r:cs="rId5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439644" y="42243"/>
            <a:ext cx="5834208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What is a Directed Graph?</a:t>
            </a:r>
            <a:endParaRPr sz="3200"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270567" y="1175254"/>
            <a:ext cx="5612466" cy="33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ct val="105000"/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A </a:t>
            </a:r>
            <a:r>
              <a:rPr lang="en-US" sz="1600" b="1" dirty="0">
                <a:latin typeface="Candara" panose="020E0502030303020204" pitchFamily="34" charset="0"/>
              </a:rPr>
              <a:t>directed graph</a:t>
            </a:r>
            <a:r>
              <a:rPr lang="en-US" sz="1600" dirty="0">
                <a:latin typeface="Candara" panose="020E0502030303020204" pitchFamily="34" charset="0"/>
              </a:rPr>
              <a:t> is a type of graph where the connections between nodes have a specific </a:t>
            </a:r>
            <a:r>
              <a:rPr lang="en-US" sz="1600" b="1" dirty="0">
                <a:latin typeface="Candara" panose="020E0502030303020204" pitchFamily="34" charset="0"/>
              </a:rPr>
              <a:t>direction</a:t>
            </a:r>
            <a:r>
              <a:rPr lang="en-US" sz="1600" dirty="0">
                <a:latin typeface="Candara" panose="020E0502030303020204" pitchFamily="34" charset="0"/>
              </a:rPr>
              <a:t>.</a:t>
            </a:r>
          </a:p>
          <a:p>
            <a:pPr>
              <a:buSzPct val="105000"/>
              <a:buFont typeface="+mj-lt"/>
              <a:buAutoNum type="arabicPeriod"/>
            </a:pPr>
            <a:endParaRPr lang="en-US" sz="800" dirty="0">
              <a:latin typeface="Candara" panose="020E0502030303020204" pitchFamily="34" charset="0"/>
            </a:endParaRPr>
          </a:p>
          <a:p>
            <a:pPr>
              <a:buSzPct val="105000"/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This means that if one node is connected to another, the connection only works </a:t>
            </a:r>
            <a:r>
              <a:rPr lang="en-US" sz="1600" b="1" dirty="0">
                <a:latin typeface="Candara" panose="020E0502030303020204" pitchFamily="34" charset="0"/>
              </a:rPr>
              <a:t>one way</a:t>
            </a:r>
            <a:r>
              <a:rPr lang="en-US" sz="1600" dirty="0">
                <a:latin typeface="Candara" panose="020E0502030303020204" pitchFamily="34" charset="0"/>
              </a:rPr>
              <a:t>, unless another arrow exists in the opposite direction.</a:t>
            </a:r>
          </a:p>
          <a:p>
            <a:pPr>
              <a:buSzPct val="105000"/>
              <a:buFont typeface="+mj-lt"/>
              <a:buAutoNum type="arabicPeriod"/>
            </a:pPr>
            <a:endParaRPr lang="en-US" sz="800" dirty="0">
              <a:latin typeface="Candara" panose="020E0502030303020204" pitchFamily="34" charset="0"/>
            </a:endParaRPr>
          </a:p>
          <a:p>
            <a:pPr>
              <a:buSzPct val="105000"/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The lines that connect the nodes are called </a:t>
            </a:r>
            <a:r>
              <a:rPr lang="en-US" sz="1600" b="1" dirty="0">
                <a:latin typeface="Candara" panose="020E0502030303020204" pitchFamily="34" charset="0"/>
              </a:rPr>
              <a:t>directed edges</a:t>
            </a:r>
            <a:r>
              <a:rPr lang="en-US" sz="1600" dirty="0">
                <a:latin typeface="Candara" panose="020E0502030303020204" pitchFamily="34" charset="0"/>
              </a:rPr>
              <a:t> or </a:t>
            </a:r>
            <a:r>
              <a:rPr lang="en-US" sz="1600" b="1" dirty="0">
                <a:latin typeface="Candara" panose="020E0502030303020204" pitchFamily="34" charset="0"/>
              </a:rPr>
              <a:t>arcs</a:t>
            </a:r>
            <a:r>
              <a:rPr lang="en-US" sz="1600" dirty="0">
                <a:latin typeface="Candara" panose="020E0502030303020204" pitchFamily="34" charset="0"/>
              </a:rPr>
              <a:t>, and they are drawn with </a:t>
            </a:r>
            <a:r>
              <a:rPr lang="en-US" sz="1600" b="1" dirty="0">
                <a:latin typeface="Candara" panose="020E0502030303020204" pitchFamily="34" charset="0"/>
              </a:rPr>
              <a:t>arrows</a:t>
            </a:r>
            <a:r>
              <a:rPr lang="en-US" sz="1600" dirty="0">
                <a:latin typeface="Candara" panose="020E0502030303020204" pitchFamily="34" charset="0"/>
              </a:rPr>
              <a:t> to show the direction.</a:t>
            </a:r>
          </a:p>
          <a:p>
            <a:pPr>
              <a:buSzPct val="105000"/>
              <a:buFont typeface="+mj-lt"/>
              <a:buAutoNum type="arabicPeriod"/>
            </a:pPr>
            <a:endParaRPr lang="en-US" sz="800" dirty="0">
              <a:latin typeface="Candara" panose="020E0502030303020204" pitchFamily="34" charset="0"/>
            </a:endParaRPr>
          </a:p>
          <a:p>
            <a:pPr marL="381000" indent="-228600">
              <a:buSzPct val="105000"/>
              <a:buFont typeface="+mj-lt"/>
              <a:buAutoNum type="arabicPeriod"/>
            </a:pPr>
            <a:r>
              <a:rPr lang="en-US" sz="1600" dirty="0">
                <a:latin typeface="Candara" panose="020E0502030303020204" pitchFamily="34" charset="0"/>
              </a:rPr>
              <a:t> In a directed graph, you can move from one node to  another </a:t>
            </a:r>
            <a:r>
              <a:rPr lang="en-US" sz="1600" b="1" dirty="0">
                <a:latin typeface="Candara" panose="020E0502030303020204" pitchFamily="34" charset="0"/>
              </a:rPr>
              <a:t>only in the direction of the arrow</a:t>
            </a:r>
            <a:r>
              <a:rPr lang="en-US" sz="1600" dirty="0">
                <a:latin typeface="Candara" panose="020E0502030303020204" pitchFamily="34" charset="0"/>
              </a:rPr>
              <a:t>. To go back, there must be another arrow pointing the opposite way.</a:t>
            </a:r>
          </a:p>
        </p:txBody>
      </p:sp>
      <p:pic>
        <p:nvPicPr>
          <p:cNvPr id="969" name="Google Shape;969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/>
          <a:stretch/>
        </p:blipFill>
        <p:spPr>
          <a:xfrm>
            <a:off x="5883033" y="1175254"/>
            <a:ext cx="2990400" cy="2990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" name="Google Shape;5490;p59">
            <a:extLst>
              <a:ext uri="{FF2B5EF4-FFF2-40B4-BE49-F238E27FC236}">
                <a16:creationId xmlns:a16="http://schemas.microsoft.com/office/drawing/2014/main" id="{4FB806D2-1F64-B7F1-FE50-DFF5000A4FAF}"/>
              </a:ext>
            </a:extLst>
          </p:cNvPr>
          <p:cNvGrpSpPr/>
          <p:nvPr/>
        </p:nvGrpSpPr>
        <p:grpSpPr>
          <a:xfrm>
            <a:off x="7826541" y="42243"/>
            <a:ext cx="1317459" cy="684168"/>
            <a:chOff x="238125" y="999450"/>
            <a:chExt cx="7140700" cy="3708225"/>
          </a:xfrm>
        </p:grpSpPr>
        <p:sp>
          <p:nvSpPr>
            <p:cNvPr id="3" name="Google Shape;5491;p59">
              <a:extLst>
                <a:ext uri="{FF2B5EF4-FFF2-40B4-BE49-F238E27FC236}">
                  <a16:creationId xmlns:a16="http://schemas.microsoft.com/office/drawing/2014/main" id="{5C30BB2A-9D73-0FD9-A28A-96FB9B7672FE}"/>
                </a:ext>
              </a:extLst>
            </p:cNvPr>
            <p:cNvSpPr/>
            <p:nvPr/>
          </p:nvSpPr>
          <p:spPr>
            <a:xfrm>
              <a:off x="2171975" y="3872925"/>
              <a:ext cx="7900" cy="25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" name="Google Shape;5492;p59">
              <a:extLst>
                <a:ext uri="{FF2B5EF4-FFF2-40B4-BE49-F238E27FC236}">
                  <a16:creationId xmlns:a16="http://schemas.microsoft.com/office/drawing/2014/main" id="{CADC2EC6-A2A6-55CD-792F-8F09C8353517}"/>
                </a:ext>
              </a:extLst>
            </p:cNvPr>
            <p:cNvSpPr/>
            <p:nvPr/>
          </p:nvSpPr>
          <p:spPr>
            <a:xfrm>
              <a:off x="2180300" y="999450"/>
              <a:ext cx="3256350" cy="3708225"/>
            </a:xfrm>
            <a:custGeom>
              <a:avLst/>
              <a:gdLst/>
              <a:ahLst/>
              <a:cxnLst/>
              <a:rect l="l" t="t" r="r" b="b"/>
              <a:pathLst>
                <a:path w="130254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Google Shape;5493;p59">
              <a:extLst>
                <a:ext uri="{FF2B5EF4-FFF2-40B4-BE49-F238E27FC236}">
                  <a16:creationId xmlns:a16="http://schemas.microsoft.com/office/drawing/2014/main" id="{A6AE6AC4-8276-735A-22B1-B3B58514E2D1}"/>
                </a:ext>
              </a:extLst>
            </p:cNvPr>
            <p:cNvSpPr/>
            <p:nvPr/>
          </p:nvSpPr>
          <p:spPr>
            <a:xfrm>
              <a:off x="238125" y="2853750"/>
              <a:ext cx="2358675" cy="1853475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Google Shape;5494;p59">
              <a:extLst>
                <a:ext uri="{FF2B5EF4-FFF2-40B4-BE49-F238E27FC236}">
                  <a16:creationId xmlns:a16="http://schemas.microsoft.com/office/drawing/2014/main" id="{94E4999D-81DB-3B58-B3B5-B8FBD3E23FE7}"/>
                </a:ext>
              </a:extLst>
            </p:cNvPr>
            <p:cNvSpPr/>
            <p:nvPr/>
          </p:nvSpPr>
          <p:spPr>
            <a:xfrm>
              <a:off x="238125" y="999450"/>
              <a:ext cx="1942200" cy="2270400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Google Shape;5495;p59">
              <a:extLst>
                <a:ext uri="{FF2B5EF4-FFF2-40B4-BE49-F238E27FC236}">
                  <a16:creationId xmlns:a16="http://schemas.microsoft.com/office/drawing/2014/main" id="{820FE374-E21C-B1EC-11E1-2FB528966CF4}"/>
                </a:ext>
              </a:extLst>
            </p:cNvPr>
            <p:cNvSpPr/>
            <p:nvPr/>
          </p:nvSpPr>
          <p:spPr>
            <a:xfrm>
              <a:off x="3808250" y="2852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Google Shape;5496;p59">
              <a:extLst>
                <a:ext uri="{FF2B5EF4-FFF2-40B4-BE49-F238E27FC236}">
                  <a16:creationId xmlns:a16="http://schemas.microsoft.com/office/drawing/2014/main" id="{D150B857-F341-124C-E72D-663582FED33E}"/>
                </a:ext>
              </a:extLst>
            </p:cNvPr>
            <p:cNvSpPr/>
            <p:nvPr/>
          </p:nvSpPr>
          <p:spPr>
            <a:xfrm>
              <a:off x="1762475" y="999450"/>
              <a:ext cx="2386250" cy="2044875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Google Shape;5497;p59">
              <a:extLst>
                <a:ext uri="{FF2B5EF4-FFF2-40B4-BE49-F238E27FC236}">
                  <a16:creationId xmlns:a16="http://schemas.microsoft.com/office/drawing/2014/main" id="{B7F9FA01-315C-8597-98D1-9A48FAA2CB66}"/>
                </a:ext>
              </a:extLst>
            </p:cNvPr>
            <p:cNvSpPr/>
            <p:nvPr/>
          </p:nvSpPr>
          <p:spPr>
            <a:xfrm>
              <a:off x="3338000" y="2435975"/>
              <a:ext cx="2101275" cy="2271250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Google Shape;5498;p59">
              <a:extLst>
                <a:ext uri="{FF2B5EF4-FFF2-40B4-BE49-F238E27FC236}">
                  <a16:creationId xmlns:a16="http://schemas.microsoft.com/office/drawing/2014/main" id="{B88CF07E-8A04-16A5-0D7D-28EDEC224A73}"/>
                </a:ext>
              </a:extLst>
            </p:cNvPr>
            <p:cNvSpPr/>
            <p:nvPr/>
          </p:nvSpPr>
          <p:spPr>
            <a:xfrm>
              <a:off x="5019250" y="2852875"/>
              <a:ext cx="2359150" cy="1854350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Google Shape;5499;p59">
              <a:extLst>
                <a:ext uri="{FF2B5EF4-FFF2-40B4-BE49-F238E27FC236}">
                  <a16:creationId xmlns:a16="http://schemas.microsoft.com/office/drawing/2014/main" id="{F1C25DD2-2568-F64A-74A5-1EC81608077B}"/>
                </a:ext>
              </a:extLst>
            </p:cNvPr>
            <p:cNvSpPr/>
            <p:nvPr/>
          </p:nvSpPr>
          <p:spPr>
            <a:xfrm>
              <a:off x="5025375" y="999450"/>
              <a:ext cx="2353450" cy="2270825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/>
          <p:cNvGrpSpPr/>
          <p:nvPr/>
        </p:nvGrpSpPr>
        <p:grpSpPr>
          <a:xfrm>
            <a:off x="40493" y="0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967;p31">
            <a:extLst>
              <a:ext uri="{FF2B5EF4-FFF2-40B4-BE49-F238E27FC236}">
                <a16:creationId xmlns:a16="http://schemas.microsoft.com/office/drawing/2014/main" id="{30E47490-049F-97A2-3ED0-39A4D204C7D8}"/>
              </a:ext>
            </a:extLst>
          </p:cNvPr>
          <p:cNvSpPr txBox="1">
            <a:spLocks/>
          </p:cNvSpPr>
          <p:nvPr/>
        </p:nvSpPr>
        <p:spPr>
          <a:xfrm>
            <a:off x="2982072" y="239752"/>
            <a:ext cx="3179856" cy="62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3200" dirty="0"/>
              <a:t>PSEUDO CODE</a:t>
            </a:r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D9F51DD-8EA6-DDB6-602F-6BD0E2FB9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67" y="752397"/>
            <a:ext cx="7564417" cy="4278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A78F0377-33E2-7B89-6B7E-92EFE23A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>
            <a:extLst>
              <a:ext uri="{FF2B5EF4-FFF2-40B4-BE49-F238E27FC236}">
                <a16:creationId xmlns:a16="http://schemas.microsoft.com/office/drawing/2014/main" id="{7BAB54E7-034C-4211-772F-C836B776DF32}"/>
              </a:ext>
            </a:extLst>
          </p:cNvPr>
          <p:cNvGrpSpPr/>
          <p:nvPr/>
        </p:nvGrpSpPr>
        <p:grpSpPr>
          <a:xfrm>
            <a:off x="40493" y="0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>
              <a:extLst>
                <a:ext uri="{FF2B5EF4-FFF2-40B4-BE49-F238E27FC236}">
                  <a16:creationId xmlns:a16="http://schemas.microsoft.com/office/drawing/2014/main" id="{62FF203B-C599-A844-F632-627741D2BCE3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>
                <a:extLst>
                  <a:ext uri="{FF2B5EF4-FFF2-40B4-BE49-F238E27FC236}">
                    <a16:creationId xmlns:a16="http://schemas.microsoft.com/office/drawing/2014/main" id="{861C9317-E6A3-C105-ADE3-C8E7394F6C47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>
                <a:extLst>
                  <a:ext uri="{FF2B5EF4-FFF2-40B4-BE49-F238E27FC236}">
                    <a16:creationId xmlns:a16="http://schemas.microsoft.com/office/drawing/2014/main" id="{E3A646A4-47B4-D82F-53F8-D65AFE619B29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>
                <a:extLst>
                  <a:ext uri="{FF2B5EF4-FFF2-40B4-BE49-F238E27FC236}">
                    <a16:creationId xmlns:a16="http://schemas.microsoft.com/office/drawing/2014/main" id="{65501708-8CA4-FA52-6FCB-DF5155569624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>
              <a:extLst>
                <a:ext uri="{FF2B5EF4-FFF2-40B4-BE49-F238E27FC236}">
                  <a16:creationId xmlns:a16="http://schemas.microsoft.com/office/drawing/2014/main" id="{8A16181C-3E68-FFA0-8F11-2A710A49E4D2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5C89BE9-2C67-14BF-83FC-A7BE0C6949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0052" y="479505"/>
            <a:ext cx="6757422" cy="455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3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A9550E54-E0F5-BE73-0C59-5527E3E2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>
            <a:extLst>
              <a:ext uri="{FF2B5EF4-FFF2-40B4-BE49-F238E27FC236}">
                <a16:creationId xmlns:a16="http://schemas.microsoft.com/office/drawing/2014/main" id="{1ACD5A92-030E-E1CC-5A3C-455E1F2A490F}"/>
              </a:ext>
            </a:extLst>
          </p:cNvPr>
          <p:cNvGrpSpPr/>
          <p:nvPr/>
        </p:nvGrpSpPr>
        <p:grpSpPr>
          <a:xfrm>
            <a:off x="40493" y="0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>
              <a:extLst>
                <a:ext uri="{FF2B5EF4-FFF2-40B4-BE49-F238E27FC236}">
                  <a16:creationId xmlns:a16="http://schemas.microsoft.com/office/drawing/2014/main" id="{EAC8F002-F20F-9A34-4EBC-EB8F5CFF99AC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>
                <a:extLst>
                  <a:ext uri="{FF2B5EF4-FFF2-40B4-BE49-F238E27FC236}">
                    <a16:creationId xmlns:a16="http://schemas.microsoft.com/office/drawing/2014/main" id="{1FB8D58F-191F-000D-B89B-7025C2BE5E59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>
                <a:extLst>
                  <a:ext uri="{FF2B5EF4-FFF2-40B4-BE49-F238E27FC236}">
                    <a16:creationId xmlns:a16="http://schemas.microsoft.com/office/drawing/2014/main" id="{1350CAB3-1CB9-C68B-1E08-FD7904321495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>
                <a:extLst>
                  <a:ext uri="{FF2B5EF4-FFF2-40B4-BE49-F238E27FC236}">
                    <a16:creationId xmlns:a16="http://schemas.microsoft.com/office/drawing/2014/main" id="{7BD0D08E-00A5-66A3-8F47-BDCC093AD051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>
              <a:extLst>
                <a:ext uri="{FF2B5EF4-FFF2-40B4-BE49-F238E27FC236}">
                  <a16:creationId xmlns:a16="http://schemas.microsoft.com/office/drawing/2014/main" id="{5E312BCA-445F-5D47-717D-24078C3FD113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967;p31">
            <a:extLst>
              <a:ext uri="{FF2B5EF4-FFF2-40B4-BE49-F238E27FC236}">
                <a16:creationId xmlns:a16="http://schemas.microsoft.com/office/drawing/2014/main" id="{218F0713-4E17-5232-A82E-25ECC37AE8B3}"/>
              </a:ext>
            </a:extLst>
          </p:cNvPr>
          <p:cNvSpPr txBox="1">
            <a:spLocks/>
          </p:cNvSpPr>
          <p:nvPr/>
        </p:nvSpPr>
        <p:spPr>
          <a:xfrm>
            <a:off x="3718672" y="189817"/>
            <a:ext cx="3179856" cy="62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3200" dirty="0"/>
              <a:t>OUTPUTS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992D5-98B7-C548-A7C0-AA96452F6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57" y="785756"/>
            <a:ext cx="3075843" cy="1906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5D0130-F98D-0FA5-A02F-EF5AD17FA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27" y="2221317"/>
            <a:ext cx="3556189" cy="21158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80D720-8C9F-08A2-60DF-4EA20AE4B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794" y="785756"/>
            <a:ext cx="2913828" cy="1906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0272D6-8381-A5CE-214B-08264F869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895" y="1853068"/>
            <a:ext cx="3126630" cy="1906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675322-3ADD-C267-BB1B-6F8E6C1F9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0517" y="3277102"/>
            <a:ext cx="3075844" cy="17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87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67;p31">
            <a:extLst>
              <a:ext uri="{FF2B5EF4-FFF2-40B4-BE49-F238E27FC236}">
                <a16:creationId xmlns:a16="http://schemas.microsoft.com/office/drawing/2014/main" id="{A06D8755-1817-0CEB-8F51-0191783764F9}"/>
              </a:ext>
            </a:extLst>
          </p:cNvPr>
          <p:cNvSpPr txBox="1">
            <a:spLocks/>
          </p:cNvSpPr>
          <p:nvPr/>
        </p:nvSpPr>
        <p:spPr>
          <a:xfrm>
            <a:off x="3731372" y="252452"/>
            <a:ext cx="3179856" cy="62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3200" dirty="0"/>
              <a:t>GRAPH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A1F851-BF1B-D486-9627-820EEEDA6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404990"/>
              </p:ext>
            </p:extLst>
          </p:nvPr>
        </p:nvGraphicFramePr>
        <p:xfrm>
          <a:off x="187325" y="772654"/>
          <a:ext cx="3544047" cy="1527686"/>
        </p:xfrm>
        <a:graphic>
          <a:graphicData uri="http://schemas.openxmlformats.org/drawingml/2006/table">
            <a:tbl>
              <a:tblPr bandRow="1"/>
              <a:tblGrid>
                <a:gridCol w="1825662">
                  <a:extLst>
                    <a:ext uri="{9D8B030D-6E8A-4147-A177-3AD203B41FA5}">
                      <a16:colId xmlns:a16="http://schemas.microsoft.com/office/drawing/2014/main" val="4116143736"/>
                    </a:ext>
                  </a:extLst>
                </a:gridCol>
                <a:gridCol w="1718385">
                  <a:extLst>
                    <a:ext uri="{9D8B030D-6E8A-4147-A177-3AD203B41FA5}">
                      <a16:colId xmlns:a16="http://schemas.microsoft.com/office/drawing/2014/main" val="1887452158"/>
                    </a:ext>
                  </a:extLst>
                </a:gridCol>
              </a:tblGrid>
              <a:tr h="429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vertices (n)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 time (ms)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26526"/>
                  </a:ext>
                </a:extLst>
              </a:tr>
              <a:tr h="209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903139"/>
                  </a:ext>
                </a:extLst>
              </a:tr>
              <a:tr h="209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51.00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482497"/>
                  </a:ext>
                </a:extLst>
              </a:tr>
              <a:tr h="209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119.00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624757"/>
                  </a:ext>
                </a:extLst>
              </a:tr>
              <a:tr h="209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211.00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989607"/>
                  </a:ext>
                </a:extLst>
              </a:tr>
              <a:tr h="2091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Lucida Sans" panose="020B06020305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324.00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336490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FC82781-C8A8-A00F-40CB-36EA8E3D3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22077" y="1845689"/>
            <a:ext cx="5034598" cy="275791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566BE1E-3B0F-5A8E-1970-500D9354F88B}"/>
              </a:ext>
            </a:extLst>
          </p:cNvPr>
          <p:cNvSpPr/>
          <p:nvPr/>
        </p:nvSpPr>
        <p:spPr>
          <a:xfrm>
            <a:off x="2159000" y="2489200"/>
            <a:ext cx="1485900" cy="798521"/>
          </a:xfrm>
          <a:custGeom>
            <a:avLst/>
            <a:gdLst>
              <a:gd name="connsiteX0" fmla="*/ 0 w 1485900"/>
              <a:gd name="connsiteY0" fmla="*/ 0 h 798521"/>
              <a:gd name="connsiteX1" fmla="*/ 368300 w 1485900"/>
              <a:gd name="connsiteY1" fmla="*/ 762000 h 798521"/>
              <a:gd name="connsiteX2" fmla="*/ 1485900 w 1485900"/>
              <a:gd name="connsiteY2" fmla="*/ 685800 h 798521"/>
              <a:gd name="connsiteX3" fmla="*/ 1485900 w 1485900"/>
              <a:gd name="connsiteY3" fmla="*/ 685800 h 79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5900" h="798521" fill="none" extrusionOk="0">
                <a:moveTo>
                  <a:pt x="0" y="0"/>
                </a:moveTo>
                <a:cubicBezTo>
                  <a:pt x="109140" y="308804"/>
                  <a:pt x="95679" y="669850"/>
                  <a:pt x="368300" y="762000"/>
                </a:cubicBezTo>
                <a:cubicBezTo>
                  <a:pt x="615950" y="876300"/>
                  <a:pt x="1485900" y="685800"/>
                  <a:pt x="1485900" y="685800"/>
                </a:cubicBezTo>
                <a:lnTo>
                  <a:pt x="1485900" y="685800"/>
                </a:lnTo>
              </a:path>
              <a:path w="1485900" h="798521" stroke="0" extrusionOk="0">
                <a:moveTo>
                  <a:pt x="0" y="0"/>
                </a:moveTo>
                <a:cubicBezTo>
                  <a:pt x="91795" y="301647"/>
                  <a:pt x="81154" y="655287"/>
                  <a:pt x="368300" y="762000"/>
                </a:cubicBezTo>
                <a:cubicBezTo>
                  <a:pt x="615950" y="876301"/>
                  <a:pt x="1485900" y="685800"/>
                  <a:pt x="1485900" y="685800"/>
                </a:cubicBezTo>
                <a:lnTo>
                  <a:pt x="1485900" y="685800"/>
                </a:lnTo>
              </a:path>
            </a:pathLst>
          </a:custGeom>
          <a:ln w="28575">
            <a:prstDash val="dash"/>
            <a:headEnd type="none"/>
            <a:tailEnd type="stealth" w="lg" len="lg"/>
            <a:extLst>
              <a:ext uri="{C807C97D-BFC1-408E-A445-0C87EB9F89A2}">
                <ask:lineSketchStyleProps xmlns:ask="http://schemas.microsoft.com/office/drawing/2018/sketchyshapes" sd="127910698">
                  <a:custGeom>
                    <a:avLst/>
                    <a:gdLst>
                      <a:gd name="connsiteX0" fmla="*/ 0 w 1485900"/>
                      <a:gd name="connsiteY0" fmla="*/ 0 h 798521"/>
                      <a:gd name="connsiteX1" fmla="*/ 368300 w 1485900"/>
                      <a:gd name="connsiteY1" fmla="*/ 762000 h 798521"/>
                      <a:gd name="connsiteX2" fmla="*/ 1485900 w 1485900"/>
                      <a:gd name="connsiteY2" fmla="*/ 685800 h 798521"/>
                      <a:gd name="connsiteX3" fmla="*/ 1485900 w 1485900"/>
                      <a:gd name="connsiteY3" fmla="*/ 685800 h 7985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85900" h="798521">
                        <a:moveTo>
                          <a:pt x="0" y="0"/>
                        </a:moveTo>
                        <a:cubicBezTo>
                          <a:pt x="60325" y="323850"/>
                          <a:pt x="120650" y="647700"/>
                          <a:pt x="368300" y="762000"/>
                        </a:cubicBezTo>
                        <a:cubicBezTo>
                          <a:pt x="615950" y="876300"/>
                          <a:pt x="1485900" y="685800"/>
                          <a:pt x="1485900" y="685800"/>
                        </a:cubicBezTo>
                        <a:lnTo>
                          <a:pt x="1485900" y="685800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BBF28F8-B139-16A9-A22B-8883294BBFE7}"/>
              </a:ext>
            </a:extLst>
          </p:cNvPr>
          <p:cNvSpPr/>
          <p:nvPr/>
        </p:nvSpPr>
        <p:spPr>
          <a:xfrm>
            <a:off x="4000500" y="1042590"/>
            <a:ext cx="990600" cy="710010"/>
          </a:xfrm>
          <a:custGeom>
            <a:avLst/>
            <a:gdLst>
              <a:gd name="connsiteX0" fmla="*/ 0 w 990600"/>
              <a:gd name="connsiteY0" fmla="*/ 36910 h 710010"/>
              <a:gd name="connsiteX1" fmla="*/ 736600 w 990600"/>
              <a:gd name="connsiteY1" fmla="*/ 75010 h 710010"/>
              <a:gd name="connsiteX2" fmla="*/ 990600 w 990600"/>
              <a:gd name="connsiteY2" fmla="*/ 710010 h 710010"/>
              <a:gd name="connsiteX3" fmla="*/ 990600 w 990600"/>
              <a:gd name="connsiteY3" fmla="*/ 710010 h 710010"/>
              <a:gd name="connsiteX4" fmla="*/ 990600 w 990600"/>
              <a:gd name="connsiteY4" fmla="*/ 710010 h 7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600" h="710010" fill="none" extrusionOk="0">
                <a:moveTo>
                  <a:pt x="0" y="36910"/>
                </a:moveTo>
                <a:cubicBezTo>
                  <a:pt x="282204" y="3331"/>
                  <a:pt x="563855" y="5085"/>
                  <a:pt x="736600" y="75010"/>
                </a:cubicBezTo>
                <a:cubicBezTo>
                  <a:pt x="901700" y="187193"/>
                  <a:pt x="990600" y="710010"/>
                  <a:pt x="990600" y="710010"/>
                </a:cubicBezTo>
                <a:lnTo>
                  <a:pt x="990600" y="710010"/>
                </a:lnTo>
                <a:lnTo>
                  <a:pt x="990600" y="710010"/>
                </a:lnTo>
              </a:path>
              <a:path w="990600" h="710010" stroke="0" extrusionOk="0">
                <a:moveTo>
                  <a:pt x="0" y="36910"/>
                </a:moveTo>
                <a:cubicBezTo>
                  <a:pt x="258513" y="-16932"/>
                  <a:pt x="527876" y="-20800"/>
                  <a:pt x="736600" y="75010"/>
                </a:cubicBezTo>
                <a:cubicBezTo>
                  <a:pt x="901701" y="187193"/>
                  <a:pt x="990599" y="710010"/>
                  <a:pt x="990600" y="710010"/>
                </a:cubicBezTo>
                <a:lnTo>
                  <a:pt x="990600" y="710010"/>
                </a:lnTo>
                <a:lnTo>
                  <a:pt x="990600" y="710010"/>
                </a:lnTo>
              </a:path>
            </a:pathLst>
          </a:custGeom>
          <a:ln w="31750">
            <a:prstDash val="dash"/>
            <a:tailEnd type="stealth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90600"/>
                      <a:gd name="connsiteY0" fmla="*/ 36910 h 710010"/>
                      <a:gd name="connsiteX1" fmla="*/ 736600 w 990600"/>
                      <a:gd name="connsiteY1" fmla="*/ 75010 h 710010"/>
                      <a:gd name="connsiteX2" fmla="*/ 990600 w 990600"/>
                      <a:gd name="connsiteY2" fmla="*/ 710010 h 710010"/>
                      <a:gd name="connsiteX3" fmla="*/ 990600 w 990600"/>
                      <a:gd name="connsiteY3" fmla="*/ 710010 h 710010"/>
                      <a:gd name="connsiteX4" fmla="*/ 990600 w 990600"/>
                      <a:gd name="connsiteY4" fmla="*/ 710010 h 710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90600" h="710010">
                        <a:moveTo>
                          <a:pt x="0" y="36910"/>
                        </a:moveTo>
                        <a:cubicBezTo>
                          <a:pt x="285750" y="-132"/>
                          <a:pt x="571500" y="-37173"/>
                          <a:pt x="736600" y="75010"/>
                        </a:cubicBezTo>
                        <a:cubicBezTo>
                          <a:pt x="901700" y="187193"/>
                          <a:pt x="990600" y="710010"/>
                          <a:pt x="990600" y="710010"/>
                        </a:cubicBezTo>
                        <a:lnTo>
                          <a:pt x="990600" y="710010"/>
                        </a:lnTo>
                        <a:lnTo>
                          <a:pt x="990600" y="710010"/>
                        </a:ln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E485B-6516-0BBE-3736-5C0C0A3E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89" y="3525982"/>
            <a:ext cx="3404466" cy="691418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1200" dirty="0">
                <a:latin typeface="Candara" panose="020E0502030303020204" pitchFamily="34" charset="0"/>
              </a:rPr>
              <a:t>GRAPH</a:t>
            </a:r>
            <a:r>
              <a:rPr lang="en-US" sz="1200" b="0" dirty="0">
                <a:latin typeface="Candara" panose="020E0502030303020204" pitchFamily="34" charset="0"/>
              </a:rPr>
              <a:t>: This chart illustrates the correlation between calculation time(</a:t>
            </a:r>
            <a:r>
              <a:rPr lang="en-US" sz="1200" b="0" dirty="0" err="1">
                <a:latin typeface="Candara" panose="020E0502030303020204" pitchFamily="34" charset="0"/>
              </a:rPr>
              <a:t>ms</a:t>
            </a:r>
            <a:r>
              <a:rPr lang="en-US" sz="1200" b="0" dirty="0">
                <a:latin typeface="Candara" panose="020E0502030303020204" pitchFamily="34" charset="0"/>
              </a:rPr>
              <a:t>) and variable n, revealing that as n values rise, calculation time consistently increases. </a:t>
            </a:r>
          </a:p>
        </p:txBody>
      </p:sp>
    </p:spTree>
    <p:extLst>
      <p:ext uri="{BB962C8B-B14F-4D97-AF65-F5344CB8AC3E}">
        <p14:creationId xmlns:p14="http://schemas.microsoft.com/office/powerpoint/2010/main" val="2292514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E4F8-719A-B642-1EC4-F5EA7AD4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437" y="-160900"/>
            <a:ext cx="8497125" cy="1006800"/>
          </a:xfrm>
        </p:spPr>
        <p:txBody>
          <a:bodyPr/>
          <a:lstStyle/>
          <a:p>
            <a:r>
              <a:rPr lang="en-US" sz="3200" b="1" dirty="0">
                <a:latin typeface="Raleway" pitchFamily="2" charset="0"/>
              </a:rPr>
              <a:t>Time Complexity Determination (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Raleway" pitchFamily="2" charset="0"/>
              </a:rPr>
              <a:t>Practical</a:t>
            </a:r>
            <a:r>
              <a:rPr lang="en-US" sz="3200" b="1" dirty="0">
                <a:latin typeface="Raleway" pitchFamily="2" charset="0"/>
              </a:rPr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82F1565-64FE-B08C-1AF3-6538F6FDE18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17368" y="845900"/>
                <a:ext cx="8376062" cy="3053000"/>
              </a:xfrm>
            </p:spPr>
            <p:txBody>
              <a:bodyPr/>
              <a:lstStyle/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 = </a:t>
                </a:r>
                <a14:m>
                  <m:oMath xmlns:m="http://schemas.openxmlformats.org/officeDocument/2006/math"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𝒂</m:t>
                    </m:r>
                    <m:sSup>
                      <m:sSupPr>
                        <m:ctrlP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endParaRPr lang="en-US" sz="18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Let f(n) =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1.4 = y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Then f(n) = O(g(n))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f(n) ≤ C × g(n)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1.4 ≤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1.4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where, 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&gt; 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 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for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≥ 0]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1.4 ≤ 0.6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Where k = 1, c = 0.6, g(n) = n</a:t>
                </a:r>
                <a:r>
                  <a:rPr lang="en-US" sz="1800" b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f(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= 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n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1.4 = O(</a:t>
                </a:r>
                <a:r>
                  <a:rPr lang="en-US" sz="1800" b="1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en-US" sz="1800" b="1" i="1" baseline="30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This shows that the practical result from experiments matches quadratic complexity.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82F1565-64FE-B08C-1AF3-6538F6FDE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17368" y="845900"/>
                <a:ext cx="8376062" cy="3053000"/>
              </a:xfrm>
              <a:blipFill>
                <a:blip r:embed="rId2"/>
                <a:stretch>
                  <a:fillRect b="-29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9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E4CBC-03C1-5B66-B01A-E1B59319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761D-4D14-50AE-B43D-6B54C349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37" y="-153200"/>
            <a:ext cx="10814463" cy="1006800"/>
          </a:xfrm>
        </p:spPr>
        <p:txBody>
          <a:bodyPr/>
          <a:lstStyle/>
          <a:p>
            <a:r>
              <a:rPr lang="en-US" sz="3200" b="1" dirty="0">
                <a:latin typeface="Raleway" pitchFamily="2" charset="0"/>
              </a:rPr>
              <a:t>Time Complexity Determination (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Raleway" pitchFamily="2" charset="0"/>
              </a:rPr>
              <a:t>Theoretical</a:t>
            </a:r>
            <a:r>
              <a:rPr lang="en-US" sz="3200" b="1" dirty="0">
                <a:latin typeface="Raleway" pitchFamily="2" charset="0"/>
              </a:rPr>
              <a:t>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98468-E3BA-244B-4BE3-6C4AC019F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938" y="853600"/>
            <a:ext cx="8376062" cy="3053000"/>
          </a:xfrm>
        </p:spPr>
        <p:txBody>
          <a:bodyPr/>
          <a:lstStyle/>
          <a:p>
            <a:pPr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f(n)   = (n+1)(n+1)+1</a:t>
            </a:r>
          </a:p>
          <a:p>
            <a:pPr>
              <a:spcAft>
                <a:spcPts val="800"/>
              </a:spcAft>
              <a:buNone/>
            </a:pPr>
            <a:endParaRPr lang="pt-BR" sz="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Expanding: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f(n)   = (n+1)(n+1)+1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=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000" b="1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n + n + 1 + 1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=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000" b="1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+ 2n + 2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f(n) = 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000" b="1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2000" b="1">
                <a:latin typeface="Times New Roman" panose="02020603050405020304" pitchFamily="18" charset="0"/>
                <a:ea typeface="Times New Roman" panose="02020603050405020304" pitchFamily="18" charset="0"/>
              </a:rPr>
              <a:t>+ 2n + 2 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O(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000" b="1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Since the dominating term is 2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000" b="1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f(n)= O(</a:t>
            </a:r>
            <a:r>
              <a:rPr lang="en-US" sz="20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2000" b="1" i="1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33FB6-7FD8-C1EA-651B-B068D7939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rcRect r="54057"/>
          <a:stretch/>
        </p:blipFill>
        <p:spPr>
          <a:xfrm>
            <a:off x="5266660" y="1110770"/>
            <a:ext cx="3546255" cy="12333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B76F79-8FF3-B1C3-6B6E-2C526D2CC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</a:extLst>
          </a:blip>
          <a:srcRect l="13819" r="13819"/>
          <a:stretch/>
        </p:blipFill>
        <p:spPr>
          <a:xfrm>
            <a:off x="5339611" y="2571750"/>
            <a:ext cx="3636336" cy="12715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1005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68;p31">
            <a:extLst>
              <a:ext uri="{FF2B5EF4-FFF2-40B4-BE49-F238E27FC236}">
                <a16:creationId xmlns:a16="http://schemas.microsoft.com/office/drawing/2014/main" id="{88B484BB-23C6-F1A9-2B93-965109DD3AEE}"/>
              </a:ext>
            </a:extLst>
          </p:cNvPr>
          <p:cNvSpPr txBox="1">
            <a:spLocks/>
          </p:cNvSpPr>
          <p:nvPr/>
        </p:nvSpPr>
        <p:spPr>
          <a:xfrm>
            <a:off x="270566" y="1175254"/>
            <a:ext cx="8467033" cy="33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From the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Computational Time vs Number of Vertices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 graph’s equation, we determined the practical time complexity of our program. The practical time complexity of the program is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O(n²)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.</a:t>
            </a:r>
          </a:p>
          <a:p>
            <a:pPr>
              <a:buNone/>
            </a:pPr>
            <a:endParaRPr lang="en-US" sz="800" dirty="0">
              <a:solidFill>
                <a:schemeClr val="bg1">
                  <a:lumMod val="10000"/>
                </a:schemeClr>
              </a:solidFill>
              <a:latin typeface="Candara" panose="020E0502030303020204" pitchFamily="34" charset="0"/>
            </a:endParaRPr>
          </a:p>
          <a:p>
            <a:pPr>
              <a:buNone/>
            </a:pPr>
            <a:endParaRPr lang="en-US" sz="800" dirty="0">
              <a:solidFill>
                <a:schemeClr val="bg1">
                  <a:lumMod val="10000"/>
                </a:schemeClr>
              </a:solidFill>
              <a:latin typeface="Candara" panose="020E0502030303020204" pitchFamily="34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On the other side, we also determined the time complexity of the program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theoretically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. The theoretical time complexity of the program is also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O(n²)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.</a:t>
            </a:r>
          </a:p>
          <a:p>
            <a:pPr>
              <a:buNone/>
            </a:pPr>
            <a:endParaRPr lang="en-US" sz="2000" dirty="0">
              <a:solidFill>
                <a:schemeClr val="bg1">
                  <a:lumMod val="10000"/>
                </a:schemeClr>
              </a:solidFill>
              <a:latin typeface="Candara" panose="020E0502030303020204" pitchFamily="34" charset="0"/>
            </a:endParaRPr>
          </a:p>
          <a:p>
            <a:pPr algn="ctr">
              <a:buNone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Although the functions were not exactly the same in both cases, ultimately they both yield the same time complexity for the program, which is:</a:t>
            </a:r>
          </a:p>
          <a:p>
            <a:pPr algn="ctr">
              <a:buNone/>
            </a:pP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O(n²)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Candara" panose="020E0502030303020204" pitchFamily="34" charset="0"/>
              </a:rPr>
              <a:t>.</a:t>
            </a:r>
            <a:endParaRPr lang="en-US" sz="1600" dirty="0">
              <a:solidFill>
                <a:schemeClr val="bg1">
                  <a:lumMod val="1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6" name="Google Shape;1306;p40">
            <a:extLst>
              <a:ext uri="{FF2B5EF4-FFF2-40B4-BE49-F238E27FC236}">
                <a16:creationId xmlns:a16="http://schemas.microsoft.com/office/drawing/2014/main" id="{EC9BB77B-F039-3AD0-E75A-CE34EC9CD0A8}"/>
              </a:ext>
            </a:extLst>
          </p:cNvPr>
          <p:cNvSpPr txBox="1">
            <a:spLocks/>
          </p:cNvSpPr>
          <p:nvPr/>
        </p:nvSpPr>
        <p:spPr>
          <a:xfrm>
            <a:off x="3069500" y="425696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b="1" dirty="0">
                <a:latin typeface="Candara" panose="020E0502030303020204" pitchFamily="34" charset="0"/>
              </a:rPr>
              <a:t>Comparison</a:t>
            </a:r>
            <a:endParaRPr lang="en-US" sz="4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27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42"/>
          <p:cNvSpPr txBox="1">
            <a:spLocks noGrp="1"/>
          </p:cNvSpPr>
          <p:nvPr>
            <p:ph type="title"/>
          </p:nvPr>
        </p:nvSpPr>
        <p:spPr>
          <a:xfrm>
            <a:off x="3074828" y="241232"/>
            <a:ext cx="329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WORK</a:t>
            </a:r>
            <a:endParaRPr dirty="0"/>
          </a:p>
        </p:txBody>
      </p:sp>
      <p:sp>
        <p:nvSpPr>
          <p:cNvPr id="1332" name="Google Shape;1332;p42"/>
          <p:cNvSpPr txBox="1"/>
          <p:nvPr/>
        </p:nvSpPr>
        <p:spPr>
          <a:xfrm>
            <a:off x="723900" y="1646757"/>
            <a:ext cx="2225233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Epilogue" panose="020B0604020202020204" charset="0"/>
              </a:rPr>
              <a:t>Weighted Directed Graphs</a:t>
            </a:r>
            <a:br>
              <a:rPr lang="en-US" sz="1800" dirty="0">
                <a:latin typeface="Epilogue" panose="020B0604020202020204" charset="0"/>
              </a:rPr>
            </a:br>
            <a:endParaRPr sz="1800" b="1" dirty="0">
              <a:solidFill>
                <a:schemeClr val="dk1"/>
              </a:solidFill>
              <a:latin typeface="Epilogue" panose="020B0604020202020204" charset="0"/>
              <a:ea typeface="Epilogue"/>
              <a:cs typeface="Epilogue"/>
              <a:sym typeface="Epilogue"/>
            </a:endParaRPr>
          </a:p>
        </p:txBody>
      </p:sp>
      <p:sp>
        <p:nvSpPr>
          <p:cNvPr id="1333" name="Google Shape;1333;p42"/>
          <p:cNvSpPr txBox="1"/>
          <p:nvPr/>
        </p:nvSpPr>
        <p:spPr>
          <a:xfrm>
            <a:off x="723899" y="2427996"/>
            <a:ext cx="2205285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>
                    <a:lumMod val="10000"/>
                  </a:schemeClr>
                </a:solidFill>
                <a:latin typeface="Epilogue"/>
                <a:ea typeface="Epilogue"/>
                <a:cs typeface="Epilogue"/>
                <a:sym typeface="Epilogue"/>
              </a:rPr>
              <a:t>Effcient Storage</a:t>
            </a:r>
            <a:endParaRPr sz="1800" b="1" dirty="0">
              <a:solidFill>
                <a:schemeClr val="bg1">
                  <a:lumMod val="10000"/>
                </a:schemeClr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334" name="Google Shape;1334;p42"/>
          <p:cNvSpPr txBox="1"/>
          <p:nvPr/>
        </p:nvSpPr>
        <p:spPr>
          <a:xfrm>
            <a:off x="723900" y="3645721"/>
            <a:ext cx="2329616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Parallel processing</a:t>
            </a:r>
            <a:endParaRPr sz="18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335" name="Google Shape;1335;p42"/>
          <p:cNvSpPr txBox="1"/>
          <p:nvPr/>
        </p:nvSpPr>
        <p:spPr>
          <a:xfrm>
            <a:off x="6619450" y="1337344"/>
            <a:ext cx="1757100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Practical Applications</a:t>
            </a:r>
            <a:endParaRPr sz="18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336" name="Google Shape;1336;p42"/>
          <p:cNvSpPr txBox="1"/>
          <p:nvPr/>
        </p:nvSpPr>
        <p:spPr>
          <a:xfrm>
            <a:off x="6619450" y="2491496"/>
            <a:ext cx="1757100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Visualization Tools </a:t>
            </a:r>
            <a:endParaRPr sz="18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337" name="Google Shape;1337;p42"/>
          <p:cNvSpPr txBox="1"/>
          <p:nvPr/>
        </p:nvSpPr>
        <p:spPr>
          <a:xfrm>
            <a:off x="6115742" y="3569521"/>
            <a:ext cx="2286208" cy="6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rPr>
              <a:t>Dynamic Graphs</a:t>
            </a:r>
            <a:endParaRPr sz="1800" b="1" dirty="0">
              <a:solidFill>
                <a:schemeClr val="dk1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1338" name="Google Shape;1338;p42"/>
          <p:cNvSpPr/>
          <p:nvPr/>
        </p:nvSpPr>
        <p:spPr>
          <a:xfrm>
            <a:off x="3088263" y="1484157"/>
            <a:ext cx="471300" cy="4713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42"/>
          <p:cNvSpPr/>
          <p:nvPr/>
        </p:nvSpPr>
        <p:spPr>
          <a:xfrm>
            <a:off x="3088263" y="2625682"/>
            <a:ext cx="471300" cy="4713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42"/>
          <p:cNvSpPr/>
          <p:nvPr/>
        </p:nvSpPr>
        <p:spPr>
          <a:xfrm>
            <a:off x="3088263" y="3767207"/>
            <a:ext cx="471300" cy="4713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42"/>
          <p:cNvSpPr/>
          <p:nvPr/>
        </p:nvSpPr>
        <p:spPr>
          <a:xfrm>
            <a:off x="5584438" y="1484157"/>
            <a:ext cx="471300" cy="4713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42"/>
          <p:cNvSpPr/>
          <p:nvPr/>
        </p:nvSpPr>
        <p:spPr>
          <a:xfrm>
            <a:off x="5584438" y="2625682"/>
            <a:ext cx="471300" cy="4713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42"/>
          <p:cNvSpPr/>
          <p:nvPr/>
        </p:nvSpPr>
        <p:spPr>
          <a:xfrm>
            <a:off x="5584438" y="3767207"/>
            <a:ext cx="471300" cy="4713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4" name="Google Shape;1344;p42"/>
          <p:cNvSpPr txBox="1"/>
          <p:nvPr/>
        </p:nvSpPr>
        <p:spPr>
          <a:xfrm>
            <a:off x="723900" y="1813085"/>
            <a:ext cx="175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Add edge weights and sortest path dinding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5" name="Google Shape;1345;p42"/>
          <p:cNvSpPr txBox="1"/>
          <p:nvPr/>
        </p:nvSpPr>
        <p:spPr>
          <a:xfrm>
            <a:off x="723900" y="2891106"/>
            <a:ext cx="175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adjacency list for sparse graphs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6" name="Google Shape;1346;p42"/>
          <p:cNvSpPr txBox="1"/>
          <p:nvPr/>
        </p:nvSpPr>
        <p:spPr>
          <a:xfrm>
            <a:off x="723900" y="4096131"/>
            <a:ext cx="175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Speed up calculations using multi core CPUs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7" name="Google Shape;1347;p42"/>
          <p:cNvSpPr txBox="1"/>
          <p:nvPr/>
        </p:nvSpPr>
        <p:spPr>
          <a:xfrm>
            <a:off x="6619450" y="1813085"/>
            <a:ext cx="175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Apply  in traffic, web, and social networks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8" name="Google Shape;1348;p42"/>
          <p:cNvSpPr txBox="1"/>
          <p:nvPr/>
        </p:nvSpPr>
        <p:spPr>
          <a:xfrm>
            <a:off x="6619450" y="2954606"/>
            <a:ext cx="175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clearer visual output for large graphs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9" name="Google Shape;1349;p42"/>
          <p:cNvSpPr txBox="1"/>
          <p:nvPr/>
        </p:nvSpPr>
        <p:spPr>
          <a:xfrm>
            <a:off x="6619450" y="4096131"/>
            <a:ext cx="175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Support real-time graph updates and changes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50" name="Google Shape;1350;p42"/>
          <p:cNvGrpSpPr/>
          <p:nvPr/>
        </p:nvGrpSpPr>
        <p:grpSpPr>
          <a:xfrm>
            <a:off x="3146528" y="1550189"/>
            <a:ext cx="354778" cy="339271"/>
            <a:chOff x="5045500" y="842250"/>
            <a:chExt cx="503875" cy="481850"/>
          </a:xfrm>
        </p:grpSpPr>
        <p:sp>
          <p:nvSpPr>
            <p:cNvPr id="1351" name="Google Shape;1351;p42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2" name="Google Shape;1352;p42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53" name="Google Shape;1353;p42"/>
          <p:cNvGrpSpPr/>
          <p:nvPr/>
        </p:nvGrpSpPr>
        <p:grpSpPr>
          <a:xfrm>
            <a:off x="3155438" y="2717933"/>
            <a:ext cx="336965" cy="286833"/>
            <a:chOff x="5645200" y="879425"/>
            <a:chExt cx="478575" cy="407375"/>
          </a:xfrm>
        </p:grpSpPr>
        <p:sp>
          <p:nvSpPr>
            <p:cNvPr id="1354" name="Google Shape;1354;p42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5" name="Google Shape;1355;p42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6" name="Google Shape;1356;p42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7" name="Google Shape;1357;p42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8" name="Google Shape;1358;p42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9" name="Google Shape;1359;p42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60" name="Google Shape;1360;p42"/>
          <p:cNvGrpSpPr/>
          <p:nvPr/>
        </p:nvGrpSpPr>
        <p:grpSpPr>
          <a:xfrm>
            <a:off x="3155452" y="3833212"/>
            <a:ext cx="339253" cy="339253"/>
            <a:chOff x="1492675" y="4992125"/>
            <a:chExt cx="481825" cy="481825"/>
          </a:xfrm>
        </p:grpSpPr>
        <p:sp>
          <p:nvSpPr>
            <p:cNvPr id="1361" name="Google Shape;1361;p42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2" name="Google Shape;1362;p42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63" name="Google Shape;1363;p42"/>
          <p:cNvGrpSpPr/>
          <p:nvPr/>
        </p:nvGrpSpPr>
        <p:grpSpPr>
          <a:xfrm>
            <a:off x="5650474" y="1550196"/>
            <a:ext cx="339253" cy="339253"/>
            <a:chOff x="1492675" y="2027925"/>
            <a:chExt cx="481825" cy="481825"/>
          </a:xfrm>
        </p:grpSpPr>
        <p:sp>
          <p:nvSpPr>
            <p:cNvPr id="1364" name="Google Shape;1364;p42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5" name="Google Shape;1365;p42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6" name="Google Shape;1366;p42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7" name="Google Shape;1367;p42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8" name="Google Shape;1368;p42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69" name="Google Shape;1369;p42"/>
          <p:cNvGrpSpPr/>
          <p:nvPr/>
        </p:nvGrpSpPr>
        <p:grpSpPr>
          <a:xfrm>
            <a:off x="5740575" y="2691709"/>
            <a:ext cx="159039" cy="339253"/>
            <a:chOff x="4584850" y="4399275"/>
            <a:chExt cx="225875" cy="481825"/>
          </a:xfrm>
        </p:grpSpPr>
        <p:sp>
          <p:nvSpPr>
            <p:cNvPr id="1370" name="Google Shape;1370;p42"/>
            <p:cNvSpPr/>
            <p:nvPr/>
          </p:nvSpPr>
          <p:spPr>
            <a:xfrm>
              <a:off x="4655400" y="4399275"/>
              <a:ext cx="84700" cy="84725"/>
            </a:xfrm>
            <a:custGeom>
              <a:avLst/>
              <a:gdLst/>
              <a:ahLst/>
              <a:cxnLst/>
              <a:rect l="l" t="t" r="r" b="b"/>
              <a:pathLst>
                <a:path w="3388" h="3389" extrusionOk="0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71" name="Google Shape;1371;p42"/>
            <p:cNvSpPr/>
            <p:nvPr/>
          </p:nvSpPr>
          <p:spPr>
            <a:xfrm>
              <a:off x="4584850" y="4512200"/>
              <a:ext cx="225875" cy="368900"/>
            </a:xfrm>
            <a:custGeom>
              <a:avLst/>
              <a:gdLst/>
              <a:ahLst/>
              <a:cxnLst/>
              <a:rect l="l" t="t" r="r" b="b"/>
              <a:pathLst>
                <a:path w="9035" h="14756" extrusionOk="0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72" name="Google Shape;1372;p42"/>
          <p:cNvGrpSpPr/>
          <p:nvPr/>
        </p:nvGrpSpPr>
        <p:grpSpPr>
          <a:xfrm>
            <a:off x="5649251" y="3833252"/>
            <a:ext cx="340573" cy="339271"/>
            <a:chOff x="2085450" y="842250"/>
            <a:chExt cx="483700" cy="481850"/>
          </a:xfrm>
          <a:solidFill>
            <a:schemeClr val="bg1"/>
          </a:solidFill>
        </p:grpSpPr>
        <p:sp>
          <p:nvSpPr>
            <p:cNvPr id="1373" name="Google Shape;1373;p42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74" name="Google Shape;1374;p42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75" name="Google Shape;1375;p42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76" name="Google Shape;1376;p42"/>
          <p:cNvSpPr/>
          <p:nvPr/>
        </p:nvSpPr>
        <p:spPr>
          <a:xfrm>
            <a:off x="3868216" y="1511468"/>
            <a:ext cx="1407579" cy="2685758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7" name="Google Shape;1377;p42"/>
          <p:cNvGrpSpPr/>
          <p:nvPr/>
        </p:nvGrpSpPr>
        <p:grpSpPr>
          <a:xfrm>
            <a:off x="3796102" y="1357102"/>
            <a:ext cx="1551654" cy="3149588"/>
            <a:chOff x="5186401" y="494525"/>
            <a:chExt cx="1834973" cy="3724678"/>
          </a:xfrm>
        </p:grpSpPr>
        <p:sp>
          <p:nvSpPr>
            <p:cNvPr id="1378" name="Google Shape;1378;p42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2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80" name="Google Shape;1380;p42"/>
          <p:cNvPicPr preferRelativeResize="0"/>
          <p:nvPr/>
        </p:nvPicPr>
        <p:blipFill rotWithShape="1">
          <a:blip r:embed="rId3">
            <a:alphaModFix/>
          </a:blip>
          <a:srcRect l="66075" r="4445"/>
          <a:stretch/>
        </p:blipFill>
        <p:spPr>
          <a:xfrm>
            <a:off x="3880883" y="1529616"/>
            <a:ext cx="1407612" cy="2685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1542-18C2-D4FF-3FDC-A5A06D7D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pic>
        <p:nvPicPr>
          <p:cNvPr id="3" name="Picture 2" descr="Pins pinned on a white surface and connecting a black thread">
            <a:extLst>
              <a:ext uri="{FF2B5EF4-FFF2-40B4-BE49-F238E27FC236}">
                <a16:creationId xmlns:a16="http://schemas.microsoft.com/office/drawing/2014/main" id="{46225BD7-3FC6-E1BD-BF91-097E7E3C6E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7" r="32282" b="-2"/>
          <a:stretch/>
        </p:blipFill>
        <p:spPr>
          <a:xfrm>
            <a:off x="5520634" y="1062271"/>
            <a:ext cx="3420166" cy="3420167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5" name="Google Shape;968;p31">
            <a:extLst>
              <a:ext uri="{FF2B5EF4-FFF2-40B4-BE49-F238E27FC236}">
                <a16:creationId xmlns:a16="http://schemas.microsoft.com/office/drawing/2014/main" id="{BB5279A1-55F6-8440-C899-184A77A9605B}"/>
              </a:ext>
            </a:extLst>
          </p:cNvPr>
          <p:cNvSpPr txBox="1">
            <a:spLocks/>
          </p:cNvSpPr>
          <p:nvPr/>
        </p:nvSpPr>
        <p:spPr>
          <a:xfrm>
            <a:off x="270567" y="1175254"/>
            <a:ext cx="5612466" cy="33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5000"/>
              <a:buFont typeface="+mj-lt"/>
              <a:buAutoNum type="arabicPeriod"/>
            </a:pP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A517746-BBDE-0E91-E17E-FB9E7728C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1" y="976717"/>
            <a:ext cx="469899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Adjacency matrix is a simple way to represent directed graphs.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ra" panose="020E0502030303020204" pitchFamily="34" charset="0"/>
              </a:rPr>
              <a:t>Easy to calculate in-degree and out-degree.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>
              <a:latin typeface="Candara" panose="020E05020303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ra" panose="020E0502030303020204" pitchFamily="34" charset="0"/>
              </a:rPr>
              <a:t>Verified in-degree = out-degree.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>
              <a:latin typeface="Candara" panose="020E05020303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ra" panose="020E0502030303020204" pitchFamily="34" charset="0"/>
              </a:rPr>
              <a:t>Both theoretical and practical analysis show </a:t>
            </a:r>
            <a:r>
              <a:rPr lang="en-US" sz="2000" b="1" dirty="0">
                <a:latin typeface="Candara" panose="020E0502030303020204" pitchFamily="34" charset="0"/>
              </a:rPr>
              <a:t>O(n²)</a:t>
            </a:r>
            <a:r>
              <a:rPr lang="en-US" sz="2000" dirty="0">
                <a:latin typeface="Candara" panose="020E0502030303020204" pitchFamily="34" charset="0"/>
              </a:rPr>
              <a:t> time complexity.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en-US" sz="1000" dirty="0">
              <a:latin typeface="Candara" panose="020E0502030303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ra" panose="020E0502030303020204" pitchFamily="34" charset="0"/>
              </a:rPr>
              <a:t>Useful for graph analysis, but memory heavy for large graphs.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207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0EBE-41ED-006F-616D-EB9B158B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150" y="462350"/>
            <a:ext cx="4351700" cy="1048950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7F15D-BDB4-7734-8905-1786469C0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29"/>
          <a:stretch/>
        </p:blipFill>
        <p:spPr>
          <a:xfrm>
            <a:off x="2159000" y="1507717"/>
            <a:ext cx="4826000" cy="317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61458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773</Words>
  <Application>Microsoft Office PowerPoint</Application>
  <PresentationFormat>On-screen Show (16:9)</PresentationFormat>
  <Paragraphs>132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PT Sans</vt:lpstr>
      <vt:lpstr>Lucida Sans</vt:lpstr>
      <vt:lpstr>Times New Roman</vt:lpstr>
      <vt:lpstr>Cambria Math</vt:lpstr>
      <vt:lpstr>Candara</vt:lpstr>
      <vt:lpstr>Bahnschrift</vt:lpstr>
      <vt:lpstr>Nunito Light</vt:lpstr>
      <vt:lpstr>Raleway</vt:lpstr>
      <vt:lpstr>Arial</vt:lpstr>
      <vt:lpstr>Lato</vt:lpstr>
      <vt:lpstr>Wingdings</vt:lpstr>
      <vt:lpstr>Calibri</vt:lpstr>
      <vt:lpstr>Epilogue</vt:lpstr>
      <vt:lpstr>Multimedia Software Pitch Deck by Slidesgo</vt:lpstr>
      <vt:lpstr>Mini project Directed graph by adjacency matrix</vt:lpstr>
      <vt:lpstr>Welcome to our Presentation  Randomly generate a Directed graph represented by adjacency matrix</vt:lpstr>
      <vt:lpstr>What is an Adjacency Matrix?</vt:lpstr>
      <vt:lpstr>PowerPoint Presentation</vt:lpstr>
      <vt:lpstr>What is a Directed Graph?</vt:lpstr>
      <vt:lpstr>PowerPoint Presentation</vt:lpstr>
      <vt:lpstr>PowerPoint Presentation</vt:lpstr>
      <vt:lpstr>PowerPoint Presentation</vt:lpstr>
      <vt:lpstr>GRAPH: This chart illustrates the correlation between calculation time(ms) and variable n, revealing that as n values rise, calculation time consistently increases. </vt:lpstr>
      <vt:lpstr>Time Complexity Determination (Practical)</vt:lpstr>
      <vt:lpstr>Time Complexity Determination (Theoretical)</vt:lpstr>
      <vt:lpstr>PowerPoint Presentation</vt:lpstr>
      <vt:lpstr>FUTURE WORK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Jyoti Mondal</cp:lastModifiedBy>
  <cp:revision>8</cp:revision>
  <dcterms:modified xsi:type="dcterms:W3CDTF">2025-08-31T19:16:54Z</dcterms:modified>
</cp:coreProperties>
</file>