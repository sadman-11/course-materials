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419" r:id="rId2"/>
    <p:sldId id="406" r:id="rId3"/>
    <p:sldId id="407" r:id="rId4"/>
    <p:sldId id="408" r:id="rId5"/>
    <p:sldId id="409" r:id="rId6"/>
    <p:sldId id="410" r:id="rId7"/>
    <p:sldId id="420" r:id="rId8"/>
    <p:sldId id="412" r:id="rId9"/>
    <p:sldId id="413" r:id="rId10"/>
    <p:sldId id="414" r:id="rId11"/>
    <p:sldId id="415" r:id="rId12"/>
    <p:sldId id="417" r:id="rId13"/>
    <p:sldId id="41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914CDBD-2041-4F67-960D-6CAD4D953A4C}">
          <p14:sldIdLst>
            <p14:sldId id="419"/>
            <p14:sldId id="406"/>
            <p14:sldId id="407"/>
            <p14:sldId id="408"/>
            <p14:sldId id="409"/>
            <p14:sldId id="410"/>
            <p14:sldId id="420"/>
            <p14:sldId id="412"/>
            <p14:sldId id="413"/>
            <p14:sldId id="414"/>
            <p14:sldId id="415"/>
            <p14:sldId id="417"/>
            <p14:sldId id="418"/>
          </p14:sldIdLst>
        </p14:section>
        <p14:section name="Untitled Section" id="{EFB56F58-5817-4C93-9AA2-4847E5B78262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4" d="100"/>
          <a:sy n="54" d="100"/>
        </p:scale>
        <p:origin x="2820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2B00CC-FD85-445F-BC74-BB2EF09B146D}" type="datetimeFigureOut">
              <a:rPr lang="en-US" smtClean="0"/>
              <a:t>24/2/2026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CF2132-6940-4B72-A481-E6579FFE0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5066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FCC82D-B58B-415D-B561-3631A61C084F}" type="datetimeFigureOut">
              <a:rPr lang="en-US" smtClean="0"/>
              <a:t>24/2/2026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480315-78CB-48C5-AAA4-C4DAF5D340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557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FE945-9542-4FEB-93DA-4011C445AE25}" type="datetimeFigureOut">
              <a:rPr lang="en-US" smtClean="0"/>
              <a:t>24/2/2026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27202-94DD-4821-ACAC-189A35423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117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FE945-9542-4FEB-93DA-4011C445AE25}" type="datetimeFigureOut">
              <a:rPr lang="en-US" smtClean="0"/>
              <a:t>24/2/2026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27202-94DD-4821-ACAC-189A35423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564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FE945-9542-4FEB-93DA-4011C445AE25}" type="datetimeFigureOut">
              <a:rPr lang="en-US" smtClean="0"/>
              <a:t>24/2/2026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27202-94DD-4821-ACAC-189A35423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944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FE945-9542-4FEB-93DA-4011C445AE25}" type="datetimeFigureOut">
              <a:rPr lang="en-US" smtClean="0"/>
              <a:t>24/2/2026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27202-94DD-4821-ACAC-189A35423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60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FE945-9542-4FEB-93DA-4011C445AE25}" type="datetimeFigureOut">
              <a:rPr lang="en-US" smtClean="0"/>
              <a:t>24/2/2026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27202-94DD-4821-ACAC-189A35423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429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FE945-9542-4FEB-93DA-4011C445AE25}" type="datetimeFigureOut">
              <a:rPr lang="en-US" smtClean="0"/>
              <a:t>24/2/2026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27202-94DD-4821-ACAC-189A35423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9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FE945-9542-4FEB-93DA-4011C445AE25}" type="datetimeFigureOut">
              <a:rPr lang="en-US" smtClean="0"/>
              <a:t>24/2/2026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27202-94DD-4821-ACAC-189A35423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983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FE945-9542-4FEB-93DA-4011C445AE25}" type="datetimeFigureOut">
              <a:rPr lang="en-US" smtClean="0"/>
              <a:t>24/2/2026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27202-94DD-4821-ACAC-189A35423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338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FE945-9542-4FEB-93DA-4011C445AE25}" type="datetimeFigureOut">
              <a:rPr lang="en-US" smtClean="0"/>
              <a:t>24/2/2026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27202-94DD-4821-ACAC-189A35423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370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FE945-9542-4FEB-93DA-4011C445AE25}" type="datetimeFigureOut">
              <a:rPr lang="en-US" smtClean="0"/>
              <a:t>24/2/2026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27202-94DD-4821-ACAC-189A35423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270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FE945-9542-4FEB-93DA-4011C445AE25}" type="datetimeFigureOut">
              <a:rPr lang="en-US" smtClean="0"/>
              <a:t>24/2/2026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27202-94DD-4821-ACAC-189A35423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06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7FE945-9542-4FEB-93DA-4011C445AE25}" type="datetimeFigureOut">
              <a:rPr lang="en-US" smtClean="0"/>
              <a:t>24/2/2026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C27202-94DD-4821-ACAC-189A35423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185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4047" y="399246"/>
            <a:ext cx="10183906" cy="203467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COURSE TITLE: </a:t>
            </a:r>
            <a:r>
              <a:rPr lang="en-US" sz="3200" b="1" dirty="0" smtClean="0"/>
              <a:t>: Statistics </a:t>
            </a:r>
            <a:r>
              <a:rPr lang="en-US" sz="2800" b="1" dirty="0" smtClean="0"/>
              <a:t>and </a:t>
            </a:r>
            <a:r>
              <a:rPr lang="en-US" sz="2800" b="1" dirty="0"/>
              <a:t>Probability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COURSE CODE: 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STA 102</a:t>
            </a:r>
            <a:b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Topics:</a:t>
            </a:r>
            <a:r>
              <a:rPr lang="en-US" sz="3200" dirty="0">
                <a:solidFill>
                  <a:srgbClr val="000000"/>
                </a:solidFill>
                <a:latin typeface="Calibri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b="1" dirty="0" smtClean="0"/>
              <a:t>Correlation </a:t>
            </a:r>
            <a:r>
              <a:rPr lang="en-US" sz="2900" b="1" dirty="0" smtClean="0"/>
              <a:t>&amp; Regression</a:t>
            </a:r>
            <a:endParaRPr lang="en-US" sz="2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061126"/>
            <a:ext cx="9144000" cy="1655762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Instructor: Md.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Ershadul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Haque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, PhD</a:t>
            </a:r>
          </a:p>
          <a:p>
            <a:pPr>
              <a:lnSpc>
                <a:spcPct val="120000"/>
              </a:lnSpc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Professor, Department of Statistics, DU</a:t>
            </a:r>
          </a:p>
          <a:p>
            <a:pPr>
              <a:lnSpc>
                <a:spcPct val="120000"/>
              </a:lnSpc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&amp;</a:t>
            </a:r>
          </a:p>
          <a:p>
            <a:pPr>
              <a:lnSpc>
                <a:spcPct val="120000"/>
              </a:lnSpc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Adjunct Faculty, EWU, Bangladesh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1506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23682" y="566671"/>
            <a:ext cx="9776012" cy="605308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Correlation and Regression Analysis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2581" y="1348236"/>
            <a:ext cx="10831132" cy="5334952"/>
          </a:xfrm>
        </p:spPr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Correlation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The linear relationship between two interval/ratio scale variables is called correlation. 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Correlation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analysis: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Correlation analysis is the statistical tool we can use to describe the degree to which one variable is linearly related to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another.</a:t>
            </a:r>
          </a:p>
          <a:p>
            <a:pPr marL="342900" indent="-3429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Types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of 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correlation: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) Positive correlation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and (ii) Negative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correlation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If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relationship between two variables is such that the increase/decrease of one accomplished by the increase/decrease of another variable, then the correlation is called positive correlation. 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If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relationship between two variables is such that the increase/decrease of one accomplished by the decrease/ increase of another variable, then the correlation is called negative correlation. </a:t>
            </a:r>
          </a:p>
          <a:p>
            <a:pPr marL="685800" indent="-282575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85800" indent="-282575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0763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23682" y="566671"/>
            <a:ext cx="9776012" cy="605308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Scatter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diagram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682581" y="1348236"/>
                <a:ext cx="10831132" cy="5334952"/>
              </a:xfrm>
            </p:spPr>
            <p:txBody>
              <a:bodyPr>
                <a:noAutofit/>
              </a:bodyPr>
              <a:lstStyle/>
              <a:p>
                <a:pPr marL="342900" indent="-34290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We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can tentatively decide whether there is an approximate linear (straight-line) relationship between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by drawing a scatter diagram. </a:t>
                </a:r>
                <a:endParaRPr lang="en-US" sz="2000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If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values tend to increase/decrease in a straight line fashion, as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values increase/decrease, then it is reasonable to decide that there exist some degree of positive correlation between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marL="342900" indent="-34290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If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values tend to increase/decrease in a straight line fashion, as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values decrease/increase, then it is reasonable to decide that there exist some degree of negative correlation between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marL="342900" indent="-34290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If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values do not tend to increase or decrease in a straight line fashion, as the change in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values, then it is reasonable to decide that there is no (linear) relationship between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marL="342900" indent="-34290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685800" indent="-282575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ü"/>
                </a:pP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Subtit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682581" y="1348236"/>
                <a:ext cx="10831132" cy="5334952"/>
              </a:xfrm>
              <a:blipFill rotWithShape="0">
                <a:blip r:embed="rId2"/>
                <a:stretch>
                  <a:fillRect l="-506" t="-457" r="-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4892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23682" y="566671"/>
            <a:ext cx="9776012" cy="605308"/>
          </a:xfrm>
        </p:spPr>
        <p:txBody>
          <a:bodyPr>
            <a:noAutofit/>
          </a:bodyPr>
          <a:lstStyle/>
          <a:p>
            <a:pPr lvl="0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Scatter diagram: Visual representation of correlation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682581" y="1348236"/>
                <a:ext cx="10831132" cy="5334952"/>
              </a:xfrm>
            </p:spPr>
            <p:txBody>
              <a:bodyPr>
                <a:noAutofit/>
              </a:bodyPr>
              <a:lstStyle/>
              <a:p>
                <a:pPr marL="342900" indent="-34290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US" sz="2000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US" sz="2000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US" sz="2000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US" sz="2000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From the scatter diagram, we can observe that there exists a positive correlation between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</m:oMath>
                </a14:m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</m:oMath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Subtit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682581" y="1348236"/>
                <a:ext cx="10831132" cy="5334952"/>
              </a:xfrm>
              <a:blipFill rotWithShape="0">
                <a:blip r:embed="rId2"/>
                <a:stretch>
                  <a:fillRect l="-5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9094" y="1348237"/>
            <a:ext cx="6057558" cy="3678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895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0141" y="438083"/>
            <a:ext cx="9776012" cy="447742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Coefficient of Correlation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ubtitle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682581" y="1019624"/>
                <a:ext cx="10831132" cy="5838376"/>
              </a:xfrm>
            </p:spPr>
            <p:txBody>
              <a:bodyPr>
                <a:noAutofit/>
              </a:bodyPr>
              <a:lstStyle/>
              <a:p>
                <a:pPr marL="342900" indent="-342900" algn="just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000" b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Karl </a:t>
                </a:r>
                <a:r>
                  <a:rPr lang="en-U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Pearson’s</a:t>
                </a:r>
                <a:r>
                  <a:rPr lang="en-US" sz="2000" b="1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Coefficient of Correlation: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The coefficient of correlation is denoted by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. If the two variables under study are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, then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defined 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as</a:t>
                </a: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subHide m:val="on"/>
                              <m:supHide m:val="on"/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e>
                          </m:nary>
                          <m:f>
                            <m:fPr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∑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US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∑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limLoc m:val="undOvr"/>
                                      <m:subHide m:val="on"/>
                                      <m:supHide m:val="on"/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sSup>
                                        <m:sSup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US" sz="18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p>
                                            <m:sSupPr>
                                              <m:ctrlP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∑</m:t>
                                                  </m:r>
                                                  <m: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</m:d>
                                            </m:e>
                                            <m:sup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num>
                                        <m:den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den>
                                      </m:f>
                                    </m:e>
                                  </m:nary>
                                </m:e>
                              </m:d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limLoc m:val="undOvr"/>
                                      <m:subHide m:val="on"/>
                                      <m:supHide m:val="on"/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sSup>
                                        <m:sSupPr>
                                          <m:ctrlP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p>
                                            <m:sSupPr>
                                              <m:ctrlP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∑</m:t>
                                                  </m:r>
                                                  <m:r>
                                                    <a:rPr lang="en-US" sz="18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</m:d>
                                            </m:e>
                                            <m:sup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num>
                                        <m:den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den>
                                      </m:f>
                                    </m:e>
                                  </m:nary>
                                </m:e>
                              </m:d>
                            </m:e>
                          </m:rad>
                        </m:den>
                      </m:f>
                    </m:oMath>
                  </m:oMathPara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 algn="just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It can be shown that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𝑟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takes value between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−1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+1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. The sign of r gives the direction of the relation, i.e., whether they are positively correlated or negatively correlated. The magnitude of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𝑟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i.e.,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|</m:t>
                    </m:r>
                    <m:r>
                      <a:rPr lang="en-US" sz="2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𝑟</m:t>
                    </m:r>
                    <m:r>
                      <a:rPr lang="en-US" sz="2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|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gives the strength of the relationship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lang="en-US" sz="2000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" name="Subtit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682581" y="1019624"/>
                <a:ext cx="10831132" cy="5838376"/>
              </a:xfrm>
              <a:blipFill rotWithShape="0">
                <a:blip r:embed="rId2"/>
                <a:stretch>
                  <a:fillRect l="-506" r="-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6956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0141" y="152333"/>
            <a:ext cx="9776012" cy="447742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Coefficient of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Correlation (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cont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…)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ubtitle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682581" y="600074"/>
                <a:ext cx="10831132" cy="6257925"/>
              </a:xfrm>
            </p:spPr>
            <p:txBody>
              <a:bodyPr>
                <a:noAutofit/>
              </a:bodyPr>
              <a:lstStyle/>
              <a:p>
                <a:pPr marL="342900" indent="-34290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800" b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Example (Employee </a:t>
                </a:r>
                <a:r>
                  <a:rPr lang="en-US" sz="1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Satisfaction vs. </a:t>
                </a:r>
                <a:r>
                  <a:rPr lang="en-US" sz="1800" b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Productivity): </a:t>
                </a:r>
                <a:r>
                  <a:rPr lang="en-US" sz="1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A 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company collects data from 8 departments on employee satisfaction </a:t>
                </a:r>
                <a:r>
                  <a:rPr lang="en-US" sz="1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score and 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average monthly output per </a:t>
                </a:r>
                <a:r>
                  <a:rPr lang="en-US" sz="1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employee.</a:t>
                </a:r>
              </a:p>
              <a:p>
                <a:pPr marL="342900" indent="-342900" algn="l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800" b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Data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  <a:b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Satisfaction: </a:t>
                </a:r>
                <a:r>
                  <a:rPr lang="en-US" sz="1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			3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-US" sz="1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  4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-US" sz="1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 5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-US" sz="1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 6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-US" sz="1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  7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-US" sz="1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8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-US" sz="1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 9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-US" sz="1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10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/>
                </a:r>
                <a:b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Productivity (units/month): </a:t>
                </a:r>
                <a:r>
                  <a:rPr lang="en-US" sz="1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	50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, 55, 60, 65, 68, 75, 78, </a:t>
                </a:r>
                <a:r>
                  <a:rPr lang="en-US" sz="1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80</a:t>
                </a: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 algn="l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800" b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Question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:r>
                  <a:rPr lang="en-US" sz="1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(a) Determine 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strength and direction of the linear </a:t>
                </a:r>
                <a:r>
                  <a:rPr lang="en-US" sz="1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correlation between satisfaction 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and </a:t>
                </a:r>
                <a:r>
                  <a:rPr lang="en-US" sz="1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productivity 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(units/month)</a:t>
                </a:r>
                <a:r>
                  <a:rPr lang="en-US" sz="1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(b) </a:t>
                </a:r>
                <a:r>
                  <a:rPr lang="en-US" sz="1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How 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can this help HR improve </a:t>
                </a:r>
                <a:r>
                  <a:rPr lang="en-US" sz="1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productivity?</a:t>
                </a:r>
              </a:p>
              <a:p>
                <a:pPr marL="342900" indent="-342900" algn="l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Solution:</a:t>
                </a:r>
                <a:r>
                  <a:rPr lang="en-US" sz="1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Let 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us consider </a:t>
                </a:r>
                <a:r>
                  <a:rPr lang="en-US" sz="1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satisfaction</a:t>
                </a:r>
                <a:r>
                  <a:rPr lang="en-US" sz="1800" dirty="0" smtClean="0"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 score </a:t>
                </a:r>
                <a:r>
                  <a:rPr lang="en-US" sz="1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as 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variable </a:t>
                </a:r>
                <a14:m>
                  <m:oMath xmlns:m="http://schemas.openxmlformats.org/officeDocument/2006/math">
                    <m:r>
                      <a:rPr lang="en-US" sz="18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, and Productivity (units/month) as variable </a:t>
                </a:r>
                <a14:m>
                  <m:oMath xmlns:m="http://schemas.openxmlformats.org/officeDocument/2006/math">
                    <m:r>
                      <a:rPr lang="en-US" sz="18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</m:oMath>
                </a14:m>
                <a:r>
                  <a:rPr lang="en-US" sz="1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. We have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∑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𝑥𝑦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=3638, ∑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=52, ∑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=531, ∑</m:t>
                    </m:r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=380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∑</m:t>
                    </m:r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=36083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𝑛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=8</m:t>
                    </m:r>
                  </m:oMath>
                </a14:m>
                <a:r>
                  <a:rPr lang="en-US" sz="1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. Therefore, </a:t>
                </a:r>
              </a:p>
              <a:p>
                <a:pPr algn="l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subHide m:val="on"/>
                              <m:supHide m:val="on"/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e>
                          </m:nary>
                          <m:f>
                            <m:f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∑</m:t>
                                  </m:r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∑</m:t>
                                  </m:r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limLoc m:val="undOvr"/>
                                      <m:subHide m:val="on"/>
                                      <m:supHide m:val="on"/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sSup>
                                        <m:sSupPr>
                                          <m:ctrlP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p>
                                            <m:sSupPr>
                                              <m:ctrlP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∑</m:t>
                                                  </m:r>
                                                  <m: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</m:d>
                                            </m:e>
                                            <m:sup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num>
                                        <m:den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den>
                                      </m:f>
                                    </m:e>
                                  </m:nary>
                                </m:e>
                              </m:d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limLoc m:val="undOvr"/>
                                      <m:subHide m:val="on"/>
                                      <m:supHide m:val="on"/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sSup>
                                        <m:sSupPr>
                                          <m:ctrlP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p>
                                            <m:sSupPr>
                                              <m:ctrlP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∑</m:t>
                                                  </m:r>
                                                  <m: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</m:d>
                                            </m:e>
                                            <m:sup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num>
                                        <m:den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den>
                                      </m:f>
                                    </m:e>
                                  </m:nary>
                                </m:e>
                              </m:d>
                            </m:e>
                          </m:rad>
                        </m:den>
                      </m:f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=0.994</m:t>
                      </m:r>
                    </m:oMath>
                  </m:oMathPara>
                </a14:m>
                <a:endParaRPr lang="en-US" sz="1800" b="0" dirty="0" smtClean="0">
                  <a:latin typeface="Arial" panose="020B06040202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1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	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There is a strong positive correlation between satisfaction and productivity (</a:t>
                </a:r>
                <a:r>
                  <a:rPr lang="en-US" sz="1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units/month)</a:t>
                </a:r>
              </a:p>
              <a:p>
                <a:pPr marL="342900" indent="-342900" algn="just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 algn="just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The result suggests improving employee satisfaction can boost productivity.</a:t>
                </a:r>
              </a:p>
              <a:p>
                <a:pPr marL="342900" indent="-342900" algn="just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 algn="just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 algn="just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" name="Subtit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682581" y="600074"/>
                <a:ext cx="10831132" cy="6257925"/>
              </a:xfrm>
              <a:blipFill rotWithShape="0">
                <a:blip r:embed="rId2"/>
                <a:stretch>
                  <a:fillRect l="-394" t="-487" r="-4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2440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0141" y="330507"/>
            <a:ext cx="9776012" cy="447742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Spearman’s Rank Correlation Coefficient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ubtitle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682581" y="778248"/>
                <a:ext cx="10831132" cy="5931833"/>
              </a:xfrm>
            </p:spPr>
            <p:txBody>
              <a:bodyPr>
                <a:noAutofit/>
              </a:bodyPr>
              <a:lstStyle/>
              <a:p>
                <a:pPr marL="342900" indent="-342900" algn="just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This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will be useful measure of correlation, if the data set is given in rank. It is denoted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𝑟</m:t>
                        </m:r>
                      </m:e>
                      <m:sub>
                        <m:r>
                          <a:rPr lang="en-US" sz="20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, if two rank variable are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𝑌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respectively (without tied rank) then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𝑟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=1−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6</m:t>
                        </m:r>
                        <m:nary>
                          <m:naryPr>
                            <m:chr m:val="∑"/>
                            <m:limLoc m:val="undOvr"/>
                            <m:subHide m:val="on"/>
                            <m:supHide m:val="on"/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naryPr>
                          <m:sub/>
                          <m:sup/>
                          <m:e>
                            <m:sSup>
                              <m:s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−1)</m:t>
                        </m:r>
                      </m:den>
                    </m:f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 where, n = Total no. of pair rank, and,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</m:t>
                        </m:r>
                      </m:e>
                      <m:sub>
                        <m:r>
                          <a:rPr lang="en-US" sz="20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  <m:r>
                      <a:rPr lang="en-US" sz="2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0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  <m:r>
                      <a:rPr lang="en-US" sz="2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e>
                      <m:sub>
                        <m:r>
                          <a:rPr lang="en-US" sz="20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 algn="just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This formula can be derived from Karl Pearson’s coefficient of correlation. </a:t>
                </a:r>
              </a:p>
              <a:p>
                <a:pPr marL="342900" indent="-342900" algn="just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𝑟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follows all the properties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𝑟</m:t>
                    </m:r>
                  </m:oMath>
                </a14:m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marL="342900" indent="-342900" algn="just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Example: A football team has 15 effective players in a match. Two judges watch their play and assign his/her evaluation by ranking the players as follows</a:t>
                </a:r>
              </a:p>
              <a:p>
                <a:pPr marL="342900" indent="-342900" algn="just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	Compute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coefficient of correlation and comment.</a:t>
                </a:r>
              </a:p>
              <a:p>
                <a:pPr marL="342900" indent="-342900" algn="just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" name="Subtit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682581" y="778248"/>
                <a:ext cx="10831132" cy="5931833"/>
              </a:xfrm>
              <a:blipFill rotWithShape="0">
                <a:blip r:embed="rId2"/>
                <a:stretch>
                  <a:fillRect l="-506" r="-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4992" y="4648000"/>
            <a:ext cx="8079340" cy="1255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017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23682" y="82579"/>
            <a:ext cx="9776012" cy="441857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Regression Analysis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6122" y="618564"/>
            <a:ext cx="10831132" cy="6131859"/>
          </a:xfrm>
        </p:spPr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regression analysis is a technique of studying the dependence of one variable (called dependent variable), on one or more variables (called explanatory variables), with a view to estimating or predicting the population mean or average value of the dependent variable in terms of the known or fixed values of the independent 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variables.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Simple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Linear 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Regression: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It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includes only one independent variable. It is usually referred by drawing a particular straight line through a scatter plot.</a:t>
            </a:r>
          </a:p>
          <a:p>
            <a:pPr algn="l"/>
            <a:endParaRPr lang="en-US" sz="1800" dirty="0"/>
          </a:p>
          <a:p>
            <a:pPr algn="l"/>
            <a:endParaRPr lang="en-US" sz="1800" dirty="0"/>
          </a:p>
          <a:p>
            <a:endParaRPr lang="en-US" sz="1800" dirty="0">
              <a:latin typeface="Times New Roman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316" y="2443585"/>
            <a:ext cx="5702253" cy="4569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124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23682" y="176708"/>
            <a:ext cx="9776012" cy="441857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Simple Linear Regression Model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696122" y="618564"/>
                <a:ext cx="10831132" cy="6131859"/>
              </a:xfrm>
            </p:spPr>
            <p:txBody>
              <a:bodyPr>
                <a:noAutofit/>
              </a:bodyPr>
              <a:lstStyle/>
              <a:p>
                <a:pPr marL="342900" indent="-34290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000" b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Simple Linear Regression Model: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dependent variable (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𝑌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) can be modeled by the value of independent variable (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) as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Y</m:t>
                    </m:r>
                    <m: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𝛽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0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𝛽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𝜖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𝛽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𝛽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are the regression parameters and</a:t>
                </a:r>
                <a:r>
                  <a:rPr lang="en-US" sz="20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l-GR" sz="20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ε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is the </a:t>
                </a:r>
                <a:r>
                  <a:rPr lang="en-US" sz="2000" b="1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random error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term such that </a:t>
                </a:r>
                <a14:m>
                  <m:oMath xmlns:m="http://schemas.openxmlformats.org/officeDocument/2006/math">
                    <m:r>
                      <a:rPr lang="el-GR" sz="2000" b="1" i="1">
                        <a:latin typeface="Cambria Math" panose="02040503050406030204" pitchFamily="18" charset="0"/>
                      </a:rPr>
                      <m:t>𝜺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(0,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marL="342900" indent="-34290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Estimated regression equation of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</m:oMath>
                </a14:m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on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</m:oMath>
                </a14:m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: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𝑌</m:t>
                            </m:r>
                          </m:e>
                        </m:acc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 dirty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acc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0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 dirty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acc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800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800100" lvl="1" indent="-342900" algn="l">
                  <a:lnSpc>
                    <a:spcPct val="100000"/>
                  </a:lnSpc>
                  <a:buFont typeface="Wingdings" panose="05000000000000000000" pitchFamily="2" charset="2"/>
                  <a:buChar char="ü"/>
                </a:pPr>
                <a:r>
                  <a:rPr lang="en-US" dirty="0"/>
                  <a:t>Estimate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: 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𝜷</m:t>
                            </m:r>
                          </m:e>
                        </m:acc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undOvr"/>
                            <m:subHide m:val="on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𝑥𝑦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nary>
                                  <m:naryPr>
                                    <m:chr m:val="∑"/>
                                    <m:limLoc m:val="undOvr"/>
                                    <m:subHide m:val="on"/>
                                    <m:supHide m:val="on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nary>
                                <m:nary>
                                  <m:naryPr>
                                    <m:chr m:val="∑"/>
                                    <m:limLoc m:val="undOvr"/>
                                    <m:subHide m:val="on"/>
                                    <m:supHide m:val="on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nary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limLoc m:val="undOvr"/>
                            <m:subHide m:val="on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∑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den>
                    </m:f>
                  </m:oMath>
                </a14:m>
                <a:endParaRPr lang="en-US" dirty="0"/>
              </a:p>
              <a:p>
                <a:pPr marL="800100" lvl="1" indent="-342900" algn="l">
                  <a:lnSpc>
                    <a:spcPct val="100000"/>
                  </a:lnSpc>
                  <a:buFont typeface="Wingdings" panose="05000000000000000000" pitchFamily="2" charset="2"/>
                  <a:buChar char="ü"/>
                </a:pPr>
                <a:r>
                  <a:rPr lang="en-US" dirty="0"/>
                  <a:t>Estimate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: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𝜷</m:t>
                            </m:r>
                          </m:e>
                        </m:acc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dirty="0"/>
                  <a:t> </a:t>
                </a:r>
                <a:endParaRPr lang="en-US" sz="1800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US" sz="20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read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𝑌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hat, is the estimated value of the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𝑌</m:t>
                    </m:r>
                    <m:r>
                      <a:rPr lang="en-US" sz="2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variable for a selected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value.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 dirty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accPr>
                          <m:e>
                            <m:r>
                              <a:rPr lang="en-US" sz="2000" dirty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2000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the estimated intercept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 dirty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accPr>
                          <m:e>
                            <m:r>
                              <a:rPr lang="en-US" sz="2000" dirty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𝜷</m:t>
                            </m:r>
                          </m:e>
                        </m:acc>
                      </m:e>
                      <m:sub>
                        <m:r>
                          <a:rPr lang="en-US" sz="2000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is the slope of the line, or the average change in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𝒀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for 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each unit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change 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either increase or decrease) in the independent variable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</m:oMath>
                </a14:m>
                <a:r>
                  <a:rPr lang="en-US" sz="2000" b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marL="342900" indent="-34290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Coefficient of determination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𝒓</m:t>
                        </m:r>
                      </m:e>
                      <m:sup>
                        <m:r>
                          <a:rPr lang="en-US" sz="20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):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𝑟</m:t>
                        </m:r>
                      </m:e>
                      <m:sup>
                        <m:r>
                          <a:rPr lang="en-US" sz="20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measures how good the fit of the regression line is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? It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takes on values between 0 and 1. Values of this ratio closer to 1 would imply a better fitting estimated regression line. </a:t>
                </a:r>
                <a:endParaRPr lang="en-US" sz="2000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000" dirty="0">
                    <a:cs typeface="Arial" panose="020B0604020202020204" pitchFamily="34" charset="0"/>
                  </a:rPr>
                  <a:t>For instance,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𝑟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=0.77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, implies that 77% of the total variation of Y (dependent variable) is explained by the 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independent variable.</a:t>
                </a: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Subtit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696122" y="618564"/>
                <a:ext cx="10831132" cy="6131859"/>
              </a:xfrm>
              <a:blipFill rotWithShape="0">
                <a:blip r:embed="rId2"/>
                <a:stretch>
                  <a:fillRect l="-506" t="-398" r="-6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3984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0141" y="152333"/>
            <a:ext cx="9776012" cy="447742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Simple Linear Regression (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cont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…)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682581" y="600074"/>
                <a:ext cx="10831132" cy="6257925"/>
              </a:xfrm>
            </p:spPr>
            <p:txBody>
              <a:bodyPr>
                <a:noAutofit/>
              </a:bodyPr>
              <a:lstStyle/>
              <a:p>
                <a:pPr marL="342900" indent="-34290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800" b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Example: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A 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study was made by a retail merchant to determine the relation between weekly advertising expenditures and sales. The following data were recorded from a sample:</a:t>
                </a: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Find 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which one is the dependent variable and which is the independent </a:t>
                </a:r>
                <a:r>
                  <a:rPr lang="en-US" sz="1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variable.</a:t>
                </a:r>
              </a:p>
              <a:p>
                <a:pPr marL="342900" indent="-34290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Estimate 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regression </a:t>
                </a:r>
                <a:r>
                  <a:rPr lang="en-US" sz="1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equation and interpret the parameters. </a:t>
                </a:r>
              </a:p>
              <a:p>
                <a:pPr marL="342900" indent="-34290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What 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is the expected sale in a week with advertising cost $45?</a:t>
                </a:r>
              </a:p>
              <a:p>
                <a:pPr marL="342900" indent="-34290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Let us consider </a:t>
                </a:r>
                <a:r>
                  <a:rPr lang="en-US" sz="1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advertising cost 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as variable </a:t>
                </a:r>
                <a14:m>
                  <m:oMath xmlns:m="http://schemas.openxmlformats.org/officeDocument/2006/math">
                    <m:r>
                      <a:rPr lang="en-US" sz="18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, and </a:t>
                </a:r>
                <a:r>
                  <a:rPr lang="en-US" sz="1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sales 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as variable </a:t>
                </a:r>
                <a14:m>
                  <m:oMath xmlns:m="http://schemas.openxmlformats.org/officeDocument/2006/math">
                    <m:r>
                      <a:rPr lang="en-US" sz="18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marL="342900" indent="-342900" algn="just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US" sz="1800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 algn="just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US" sz="1800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 algn="just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 algn="just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Subtit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682581" y="600074"/>
                <a:ext cx="10831132" cy="6257925"/>
              </a:xfrm>
              <a:blipFill rotWithShape="0">
                <a:blip r:embed="rId2"/>
                <a:stretch>
                  <a:fillRect l="-394" t="-487" r="-4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Table 6"/>
          <p:cNvGraphicFramePr>
            <a:graphicFrameLocks noGrp="1"/>
          </p:cNvGraphicFramePr>
          <p:nvPr>
            <p:extLst/>
          </p:nvPr>
        </p:nvGraphicFramePr>
        <p:xfrm>
          <a:off x="1685925" y="1236042"/>
          <a:ext cx="8264897" cy="514570"/>
        </p:xfrm>
        <a:graphic>
          <a:graphicData uri="http://schemas.openxmlformats.org/drawingml/2006/table">
            <a:tbl>
              <a:tblPr firstRow="1" firstCol="1" bandRow="1"/>
              <a:tblGrid>
                <a:gridCol w="1873859"/>
                <a:gridCol w="567860"/>
                <a:gridCol w="506013"/>
                <a:gridCol w="506013"/>
                <a:gridCol w="578303"/>
                <a:gridCol w="506013"/>
                <a:gridCol w="506013"/>
                <a:gridCol w="506013"/>
                <a:gridCol w="542962"/>
                <a:gridCol w="542962"/>
                <a:gridCol w="542962"/>
                <a:gridCol w="542962"/>
                <a:gridCol w="542962"/>
              </a:tblGrid>
              <a:tr h="16218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Advertising Cost ($)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20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Sales ($)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385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400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395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365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475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440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490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420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560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525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480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510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1371600" y="3322487"/>
              <a:ext cx="7328647" cy="3435096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926067"/>
                    <a:gridCol w="1180204"/>
                    <a:gridCol w="1398494"/>
                    <a:gridCol w="1411941"/>
                    <a:gridCol w="1411941"/>
                  </a:tblGrid>
                  <a:tr h="0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Advertising Cost (x)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Sales (y)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  <m:sup>
                                    <m: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4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  <m:sup>
                                    <m: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4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40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385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1600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148225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15400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20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400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400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160000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8000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25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395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625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156025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9875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20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365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400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133225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7300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30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475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900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225625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14250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50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440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2500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193600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22000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40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490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1600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240100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19600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20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420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400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176400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8400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50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560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2500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313600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28000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40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525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1600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275625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21000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25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480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625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230400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12000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50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510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2500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260100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25500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nary>
                                <m:naryPr>
                                  <m:chr m:val="∑"/>
                                  <m:limLoc m:val="undOvr"/>
                                  <m:subHide m:val="on"/>
                                  <m:supHide m:val="on"/>
                                  <m:ctrlPr>
                                    <a:rPr lang="en-US" sz="1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  <m:r>
                                <a:rPr lang="en-US" sz="1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=410  </m:t>
                              </m:r>
                            </m:oMath>
                          </a14:m>
                          <a:r>
                            <a:rPr lang="en-US" sz="1400"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 </a:t>
                          </a:r>
                          <a:endParaRPr lang="en-US" sz="14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nary>
                                <m:naryPr>
                                  <m:chr m:val="∑"/>
                                  <m:limLoc m:val="undOvr"/>
                                  <m:subHide m:val="on"/>
                                  <m:supHide m:val="on"/>
                                  <m:ctrlPr>
                                    <a:rPr lang="en-US" sz="1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  <m:r>
                                <a:rPr lang="en-US" sz="1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=5445</m:t>
                              </m:r>
                            </m:oMath>
                          </a14:m>
                          <a:r>
                            <a:rPr lang="en-US" sz="1400" dirty="0"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 </a:t>
                          </a:r>
                          <a:endParaRPr lang="en-US" sz="14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nary>
                                <m:naryPr>
                                  <m:chr m:val="∑"/>
                                  <m:limLoc m:val="undOvr"/>
                                  <m:subHide m:val="on"/>
                                  <m:supHide m:val="on"/>
                                  <m:ctrlPr>
                                    <a:rPr lang="en-US" sz="1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p>
                                    <m:sSupPr>
                                      <m:ctrlPr>
                                        <a:rPr lang="en-US" sz="14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en-US" sz="14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oMath>
                          </a14:m>
                          <a:r>
                            <a:rPr lang="en-US" sz="1400"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 =15650</a:t>
                          </a:r>
                          <a:endParaRPr lang="en-US" sz="14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nary>
                                <m:naryPr>
                                  <m:chr m:val="∑"/>
                                  <m:limLoc m:val="undOvr"/>
                                  <m:subHide m:val="on"/>
                                  <m:supHide m:val="on"/>
                                  <m:ctrlPr>
                                    <a:rPr lang="en-US" sz="1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p>
                                    <m:sSupPr>
                                      <m:ctrlPr>
                                        <a:rPr lang="en-US" sz="14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en-US" sz="14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oMath>
                          </a14:m>
                          <a:r>
                            <a:rPr lang="en-US" sz="1400"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=2512925</a:t>
                          </a:r>
                          <a:endParaRPr lang="en-US" sz="14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nary>
                                <m:naryPr>
                                  <m:chr m:val="∑"/>
                                  <m:limLoc m:val="undOvr"/>
                                  <m:subHide m:val="on"/>
                                  <m:supHide m:val="on"/>
                                  <m:ctrlPr>
                                    <a:rPr lang="en-US" sz="1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14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oMath>
                          </a14:m>
                          <a:r>
                            <a:rPr lang="en-US" sz="1400" dirty="0"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=191325</a:t>
                          </a:r>
                          <a:endParaRPr lang="en-US" sz="14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1371600" y="3322487"/>
              <a:ext cx="7328647" cy="3435096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926067"/>
                    <a:gridCol w="1180204"/>
                    <a:gridCol w="1398494"/>
                    <a:gridCol w="1411941"/>
                    <a:gridCol w="1411941"/>
                  </a:tblGrid>
                  <a:tr h="245364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Advertising Cost (x)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Sales (y)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223581" t="-17500" r="-203493" b="-15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319397" t="-17500" r="-100862" b="-15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419397" t="-17500" r="-862" b="-1525000"/>
                          </a:stretch>
                        </a:blipFill>
                      </a:tcPr>
                    </a:tc>
                  </a:tr>
                  <a:tr h="245364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40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385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1600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148225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15400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245364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20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400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400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160000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8000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245364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25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395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625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156025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9875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245364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20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365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400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133225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7300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245364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30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475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900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225625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14250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245364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50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440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2500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193600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22000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245364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40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490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1600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240100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19600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245364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20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420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400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176400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8400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245364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50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560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2500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313600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28000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245364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40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525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1600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275625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21000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245364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25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480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625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230400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12000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245364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50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510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2500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260100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25500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24536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633" t="-1327500" r="-281329" b="-21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163918" t="-1327500" r="-358247" b="-21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223581" t="-1327500" r="-203493" b="-21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319397" t="-1327500" r="-100862" b="-21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419397" t="-1327500" r="-862" b="-215000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61807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0141" y="123753"/>
            <a:ext cx="9776012" cy="447742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Simple Linear Regression (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cont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…)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682581" y="571495"/>
                <a:ext cx="10831132" cy="5838376"/>
              </a:xfrm>
            </p:spPr>
            <p:txBody>
              <a:bodyPr>
                <a:noAutofit/>
              </a:bodyPr>
              <a:lstStyle/>
              <a:p>
                <a:pPr marL="342900" indent="-342900" algn="just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We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have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𝑛</m:t>
                    </m:r>
                    <m:r>
                      <a:rPr lang="en-US" sz="2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=12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,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200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sz="2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sz="20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410</m:t>
                    </m:r>
                    <m:r>
                      <a:rPr lang="en-US" sz="2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 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200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sz="2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=5</m:t>
                    </m:r>
                    <m:r>
                      <a:rPr lang="en-US" sz="20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445</m:t>
                    </m:r>
                  </m:oMath>
                </a14:m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. So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US" sz="20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</m:acc>
                    <m:r>
                      <a:rPr lang="en-US" sz="2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=34.</m:t>
                    </m:r>
                    <m:r>
                      <a:rPr lang="en-US" sz="20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17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US" sz="20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e>
                    </m:acc>
                    <m:r>
                      <a:rPr lang="en-US" sz="2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sz="20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453.75</m:t>
                    </m:r>
                  </m:oMath>
                </a14:m>
                <a:endParaRPr lang="en-US" sz="2000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 algn="just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Estimated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regression equation of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on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: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𝑌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 dirty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acc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0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 dirty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acc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2000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800100" lvl="1" indent="-342900" algn="l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dirty="0"/>
                  <a:t>Estimate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: 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𝜷</m:t>
                            </m:r>
                          </m:e>
                        </m:acc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undOvr"/>
                            <m:subHide m:val="on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d>
                          </m:e>
                        </m:nary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</m:d>
                        <m:r>
                          <a:rPr lang="en-US"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nary>
                          <m:naryPr>
                            <m:chr m:val="∑"/>
                            <m:limLoc m:val="undOvr"/>
                            <m:subHide m:val="on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undOvr"/>
                            <m:subHide m:val="on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limLoc m:val="undOvr"/>
                            <m:subHide m:val="on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=3.22</m:t>
                    </m:r>
                  </m:oMath>
                </a14:m>
                <a:endParaRPr lang="en-US" dirty="0"/>
              </a:p>
              <a:p>
                <a:pPr marL="800100" lvl="1" indent="-342900" algn="l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dirty="0"/>
                  <a:t>Estimate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: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𝜷</m:t>
                            </m:r>
                          </m:e>
                        </m:acc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=343.72</m:t>
                    </m:r>
                  </m:oMath>
                </a14:m>
                <a:r>
                  <a:rPr lang="en-US" dirty="0"/>
                  <a:t> </a:t>
                </a:r>
                <a:endParaRPr lang="en-US" sz="2000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 algn="just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Estimated 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regression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equation of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on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: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𝑌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343.72</m:t>
                    </m:r>
                    <m:r>
                      <a:rPr lang="en-US" sz="20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3.22 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2000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 algn="just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The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expected sale in a week with advertising cost $45 is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accPr>
                        <m:e>
                          <m:r>
                            <a:rPr lang="en-US" sz="200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𝑦</m:t>
                          </m:r>
                        </m:e>
                      </m:acc>
                      <m:r>
                        <a:rPr lang="en-US" sz="200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=343.72+3.22×45=$488.62</m:t>
                      </m:r>
                    </m:oMath>
                  </m:oMathPara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 algn="just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Subtit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682581" y="571495"/>
                <a:ext cx="10831132" cy="5838376"/>
              </a:xfrm>
              <a:blipFill rotWithShape="0">
                <a:blip r:embed="rId2"/>
                <a:stretch>
                  <a:fillRect l="-506" t="-66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3255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6147" y="1"/>
            <a:ext cx="9144000" cy="605308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Arial" pitchFamily="34" charset="0"/>
                <a:cs typeface="Arial" pitchFamily="34" charset="0"/>
              </a:rPr>
              <a:t>Exercise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8282" y="605308"/>
            <a:ext cx="10831132" cy="6095531"/>
          </a:xfrm>
        </p:spPr>
        <p:txBody>
          <a:bodyPr>
            <a:noAutofit/>
          </a:bodyPr>
          <a:lstStyle/>
          <a:p>
            <a:pPr marL="285744" indent="-285744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Problem-1: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company wants to analyze the relationship between Advertising Spend ($1,000s) and Sales Revenue ($1,000s) to determine whether increasing the budget for advertising leads to increased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sales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44" indent="-285744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44" indent="-285744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44" indent="-285744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44" indent="-285744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44" indent="-285744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44" indent="-285744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44" indent="-285744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44" indent="-285744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44" indent="-285744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44" indent="-285744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44" indent="-285744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44" indent="-285744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44" indent="-285744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44" indent="-285744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1855084" y="1675357"/>
          <a:ext cx="7517517" cy="4882605"/>
        </p:xfrm>
        <a:graphic>
          <a:graphicData uri="http://schemas.openxmlformats.org/drawingml/2006/table">
            <a:tbl>
              <a:tblPr/>
              <a:tblGrid>
                <a:gridCol w="2505839"/>
                <a:gridCol w="2505839"/>
                <a:gridCol w="2505839"/>
              </a:tblGrid>
              <a:tr h="375585">
                <a:tc>
                  <a:txBody>
                    <a:bodyPr/>
                    <a:lstStyle/>
                    <a:p>
                      <a:r>
                        <a:rPr lang="en-US" sz="1800" b="1" dirty="0"/>
                        <a:t>Month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Advertising Spend (X)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Sales Revenue (Y)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75585"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2.0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25.0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75585">
                <a:tc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2.5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27.5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75585">
                <a:tc>
                  <a:txBody>
                    <a:bodyPr/>
                    <a:lstStyle/>
                    <a:p>
                      <a:r>
                        <a:rPr lang="en-US" sz="1800" dirty="0"/>
                        <a:t>3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3.0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31.0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75585">
                <a:tc>
                  <a:txBody>
                    <a:bodyPr/>
                    <a:lstStyle/>
                    <a:p>
                      <a:r>
                        <a:rPr lang="en-US" sz="1800"/>
                        <a:t>4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3.5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34.0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75585">
                <a:tc>
                  <a:txBody>
                    <a:bodyPr/>
                    <a:lstStyle/>
                    <a:p>
                      <a:r>
                        <a:rPr lang="en-US" sz="1800"/>
                        <a:t>5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4.0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36.5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75585">
                <a:tc>
                  <a:txBody>
                    <a:bodyPr/>
                    <a:lstStyle/>
                    <a:p>
                      <a:r>
                        <a:rPr lang="en-US" sz="1800"/>
                        <a:t>6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4.5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39.5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75585">
                <a:tc>
                  <a:txBody>
                    <a:bodyPr/>
                    <a:lstStyle/>
                    <a:p>
                      <a:r>
                        <a:rPr lang="en-US" sz="1800"/>
                        <a:t>7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5.0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41.0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75585">
                <a:tc>
                  <a:txBody>
                    <a:bodyPr/>
                    <a:lstStyle/>
                    <a:p>
                      <a:r>
                        <a:rPr lang="en-US" sz="1800"/>
                        <a:t>8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5.5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44.0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75585">
                <a:tc>
                  <a:txBody>
                    <a:bodyPr/>
                    <a:lstStyle/>
                    <a:p>
                      <a:r>
                        <a:rPr lang="en-US" sz="1800"/>
                        <a:t>9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6.0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46.5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75585">
                <a:tc>
                  <a:txBody>
                    <a:bodyPr/>
                    <a:lstStyle/>
                    <a:p>
                      <a:r>
                        <a:rPr lang="en-US" sz="1800"/>
                        <a:t>10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6.5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49.0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75585">
                <a:tc>
                  <a:txBody>
                    <a:bodyPr/>
                    <a:lstStyle/>
                    <a:p>
                      <a:r>
                        <a:rPr lang="en-US" sz="1800"/>
                        <a:t>11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7.0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51.0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75585">
                <a:tc>
                  <a:txBody>
                    <a:bodyPr/>
                    <a:lstStyle/>
                    <a:p>
                      <a:r>
                        <a:rPr lang="en-US" sz="1800" dirty="0"/>
                        <a:t>12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7.5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54.5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17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6147" y="1"/>
            <a:ext cx="9144000" cy="605308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Arial" pitchFamily="34" charset="0"/>
                <a:cs typeface="Arial" pitchFamily="34" charset="0"/>
              </a:rPr>
              <a:t>Exercise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ubtitle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568282" y="605308"/>
                <a:ext cx="10831132" cy="6095531"/>
              </a:xfrm>
            </p:spPr>
            <p:txBody>
              <a:bodyPr>
                <a:noAutofit/>
              </a:bodyPr>
              <a:lstStyle/>
              <a:p>
                <a:pPr marL="285744" indent="-285744" algn="just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US" sz="2000" b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Problem-1 </a:t>
                </a:r>
                <a:r>
                  <a:rPr lang="en-US" sz="2000" b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(Continued):</a:t>
                </a:r>
                <a:endParaRPr lang="en-US" sz="2000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44" indent="-285744" algn="just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) 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Draw a scatter diagram. What does it suggest?</a:t>
                </a:r>
              </a:p>
              <a:p>
                <a:pPr marL="285744" indent="-285744" algn="just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b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) Find the correlation 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coefficient. </a:t>
                </a:r>
                <a:endParaRPr lang="en-US" sz="2000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44" indent="-285744" algn="just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c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) Fit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a simple linear regression model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Y</m:t>
                    </m:r>
                    <m: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𝛽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0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𝛽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𝜖</m:t>
                    </m:r>
                  </m:oMath>
                </a14:m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marL="285744" indent="-285744" algn="just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d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) How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much sales revenue increases for each additional $1,000 spent on 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advertising.</a:t>
                </a:r>
              </a:p>
              <a:p>
                <a:pPr marL="285744" indent="-285744" algn="just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)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Estimate sales for a given ad budget (e.g., $6,500).</a:t>
                </a:r>
              </a:p>
              <a:p>
                <a:pPr marL="285744" indent="-285744" algn="just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f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) How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much of the variability in sales 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revenue is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explained by ad spending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? </a:t>
                </a: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" name="Subtit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568282" y="605308"/>
                <a:ext cx="10831132" cy="6095531"/>
              </a:xfrm>
              <a:blipFill rotWithShape="0">
                <a:blip r:embed="rId2"/>
                <a:stretch>
                  <a:fillRect l="-506" t="-4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3586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2385</TotalTime>
  <Words>851</Words>
  <Application>Microsoft Office PowerPoint</Application>
  <PresentationFormat>Widescreen</PresentationFormat>
  <Paragraphs>238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Times New Roman</vt:lpstr>
      <vt:lpstr>Wingdings</vt:lpstr>
      <vt:lpstr>Office Theme</vt:lpstr>
      <vt:lpstr>COURSE TITLE: : Statistics and Probability COURSE CODE: STA 102 Topics: Correlation &amp; Regression</vt:lpstr>
      <vt:lpstr>Correlation and Regression Analysis</vt:lpstr>
      <vt:lpstr>Scatter diagram</vt:lpstr>
      <vt:lpstr>Scatter diagram: Visual representation of correlation</vt:lpstr>
      <vt:lpstr>Coefficient of Correlation</vt:lpstr>
      <vt:lpstr>Coefficient of Correlation (cont…)</vt:lpstr>
      <vt:lpstr>Spearman’s Rank Correlation Coefficient</vt:lpstr>
      <vt:lpstr>Regression Analysis</vt:lpstr>
      <vt:lpstr>Simple Linear Regression Model</vt:lpstr>
      <vt:lpstr>Simple Linear Regression (cont…)</vt:lpstr>
      <vt:lpstr>Simple Linear Regression (cont…)</vt:lpstr>
      <vt:lpstr>Exercise</vt:lpstr>
      <vt:lpstr>Exercise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Session-04</dc:title>
  <dc:creator>mitu</dc:creator>
  <cp:lastModifiedBy>Statistics</cp:lastModifiedBy>
  <cp:revision>297</cp:revision>
  <dcterms:created xsi:type="dcterms:W3CDTF">2018-02-23T02:59:54Z</dcterms:created>
  <dcterms:modified xsi:type="dcterms:W3CDTF">2026-02-24T06:32:27Z</dcterms:modified>
</cp:coreProperties>
</file>