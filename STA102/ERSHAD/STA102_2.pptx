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28"/>
  </p:notesMasterIdLst>
  <p:sldIdLst>
    <p:sldId id="326" r:id="rId2"/>
    <p:sldId id="328" r:id="rId3"/>
    <p:sldId id="329" r:id="rId4"/>
    <p:sldId id="350" r:id="rId5"/>
    <p:sldId id="351" r:id="rId6"/>
    <p:sldId id="290" r:id="rId7"/>
    <p:sldId id="332" r:id="rId8"/>
    <p:sldId id="333" r:id="rId9"/>
    <p:sldId id="334" r:id="rId10"/>
    <p:sldId id="335" r:id="rId11"/>
    <p:sldId id="336" r:id="rId12"/>
    <p:sldId id="337" r:id="rId13"/>
    <p:sldId id="294" r:id="rId14"/>
    <p:sldId id="295" r:id="rId15"/>
    <p:sldId id="309" r:id="rId16"/>
    <p:sldId id="311" r:id="rId17"/>
    <p:sldId id="338" r:id="rId18"/>
    <p:sldId id="339" r:id="rId19"/>
    <p:sldId id="340" r:id="rId20"/>
    <p:sldId id="346" r:id="rId21"/>
    <p:sldId id="347" r:id="rId22"/>
    <p:sldId id="348" r:id="rId23"/>
    <p:sldId id="349" r:id="rId24"/>
    <p:sldId id="327" r:id="rId25"/>
    <p:sldId id="314" r:id="rId26"/>
    <p:sldId id="2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68"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0B186-27FF-45C1-9A94-5D2DFEE2F58F}" type="datetimeFigureOut">
              <a:rPr lang="en-US" smtClean="0"/>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C7E12-A643-4540-A7C7-B065AF7B49F6}" type="slidenum">
              <a:rPr lang="en-US" smtClean="0"/>
              <a:t>‹#›</a:t>
            </a:fld>
            <a:endParaRPr lang="en-US"/>
          </a:p>
        </p:txBody>
      </p:sp>
    </p:spTree>
    <p:extLst>
      <p:ext uri="{BB962C8B-B14F-4D97-AF65-F5344CB8AC3E}">
        <p14:creationId xmlns:p14="http://schemas.microsoft.com/office/powerpoint/2010/main" val="3958203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AE9BE1E-5F2D-465B-B7AA-A3F35EC386BE}"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97916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E9BE1E-5F2D-465B-B7AA-A3F35EC386BE}"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786048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E9BE1E-5F2D-465B-B7AA-A3F35EC386BE}"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795539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E9BE1E-5F2D-465B-B7AA-A3F35EC386BE}" type="datetimeFigureOut">
              <a:rPr lang="en-US" smtClean="0"/>
              <a:pPr/>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951317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AE9BE1E-5F2D-465B-B7AA-A3F35EC386BE}" type="datetimeFigureOut">
              <a:rPr lang="en-US" smtClean="0"/>
              <a:pPr/>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607939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AE9BE1E-5F2D-465B-B7AA-A3F35EC386BE}" type="datetimeFigureOut">
              <a:rPr lang="en-US" smtClean="0"/>
              <a:pPr/>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485994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E9BE1E-5F2D-465B-B7AA-A3F35EC386BE}" type="datetimeFigureOut">
              <a:rPr lang="en-US" smtClean="0"/>
              <a:pPr/>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2397187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E9BE1E-5F2D-465B-B7AA-A3F35EC386BE}" type="datetimeFigureOut">
              <a:rPr lang="en-US" smtClean="0"/>
              <a:pPr/>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991195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E9BE1E-5F2D-465B-B7AA-A3F35EC386BE}" type="datetimeFigureOut">
              <a:rPr lang="en-US" smtClean="0"/>
              <a:pPr/>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3733687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E9BE1E-5F2D-465B-B7AA-A3F35EC386BE}"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865993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AE9BE1E-5F2D-465B-B7AA-A3F35EC386BE}"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8553F-0502-40B5-88F7-0911625DF834}" type="slidenum">
              <a:rPr lang="en-US" smtClean="0"/>
              <a:pPr/>
              <a:t>‹#›</a:t>
            </a:fld>
            <a:endParaRPr lang="en-US"/>
          </a:p>
        </p:txBody>
      </p:sp>
    </p:spTree>
    <p:extLst>
      <p:ext uri="{BB962C8B-B14F-4D97-AF65-F5344CB8AC3E}">
        <p14:creationId xmlns:p14="http://schemas.microsoft.com/office/powerpoint/2010/main" val="42129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E9BE1E-5F2D-465B-B7AA-A3F35EC386BE}" type="datetimeFigureOut">
              <a:rPr lang="en-US" smtClean="0"/>
              <a:pPr/>
              <a:t>1/27/2026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8553F-0502-40B5-88F7-0911625DF834}" type="slidenum">
              <a:rPr lang="en-US" smtClean="0"/>
              <a:pPr/>
              <a:t>‹#›</a:t>
            </a:fld>
            <a:endParaRPr lang="en-US"/>
          </a:p>
        </p:txBody>
      </p:sp>
    </p:spTree>
    <p:extLst>
      <p:ext uri="{BB962C8B-B14F-4D97-AF65-F5344CB8AC3E}">
        <p14:creationId xmlns:p14="http://schemas.microsoft.com/office/powerpoint/2010/main" val="278332729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4143" y="399246"/>
            <a:ext cx="10523810" cy="1994330"/>
          </a:xfrm>
        </p:spPr>
        <p:txBody>
          <a:bodyPr>
            <a:noAutofit/>
          </a:bodyPr>
          <a:lstStyle/>
          <a:p>
            <a:pPr>
              <a:lnSpc>
                <a:spcPct val="150000"/>
              </a:lnSpc>
            </a:pPr>
            <a:br>
              <a:rPr lang="en-US" sz="3000" b="1" dirty="0">
                <a:latin typeface="Arial" panose="020B0604020202020204" pitchFamily="34" charset="0"/>
                <a:cs typeface="Arial" panose="020B0604020202020204" pitchFamily="34" charset="0"/>
              </a:rPr>
            </a:br>
            <a:br>
              <a:rPr lang="en-US" sz="3000" b="1" dirty="0">
                <a:latin typeface="Arial" panose="020B0604020202020204" pitchFamily="34" charset="0"/>
                <a:cs typeface="Arial" panose="020B0604020202020204" pitchFamily="34" charset="0"/>
              </a:rPr>
            </a:br>
            <a:r>
              <a:rPr lang="en-US" sz="3000" b="1" dirty="0">
                <a:latin typeface="Arial" panose="020B0604020202020204" pitchFamily="34" charset="0"/>
                <a:cs typeface="Arial" panose="020B0604020202020204" pitchFamily="34" charset="0"/>
              </a:rPr>
              <a:t>COURSE TITLE: </a:t>
            </a:r>
            <a:r>
              <a:rPr lang="en-US" sz="3200" b="1" dirty="0"/>
              <a:t>: Statistics </a:t>
            </a:r>
            <a:r>
              <a:rPr lang="en-US" sz="2800" b="1" dirty="0"/>
              <a:t>and Probability</a:t>
            </a:r>
            <a:br>
              <a:rPr lang="en-US" sz="3000" dirty="0">
                <a:latin typeface="Arial" panose="020B0604020202020204" pitchFamily="34" charset="0"/>
                <a:cs typeface="Arial" panose="020B0604020202020204" pitchFamily="34" charset="0"/>
              </a:rPr>
            </a:br>
            <a:r>
              <a:rPr lang="en-US" sz="3000" b="1" dirty="0">
                <a:latin typeface="Arial" panose="020B0604020202020204" pitchFamily="34" charset="0"/>
                <a:cs typeface="Arial" panose="020B0604020202020204" pitchFamily="34" charset="0"/>
              </a:rPr>
              <a:t>COURSE CODE: </a:t>
            </a:r>
            <a:r>
              <a:rPr lang="en-US" sz="3000" dirty="0">
                <a:latin typeface="Arial" panose="020B0604020202020204" pitchFamily="34" charset="0"/>
                <a:cs typeface="Arial" panose="020B0604020202020204" pitchFamily="34" charset="0"/>
              </a:rPr>
              <a:t>STA 102</a:t>
            </a:r>
            <a:br>
              <a:rPr lang="en-US" sz="3000" dirty="0">
                <a:latin typeface="Arial" panose="020B0604020202020204" pitchFamily="34" charset="0"/>
                <a:cs typeface="Arial" panose="020B0604020202020204" pitchFamily="34" charset="0"/>
              </a:rPr>
            </a:br>
            <a:r>
              <a:rPr lang="en-US" sz="3000" b="1" dirty="0">
                <a:latin typeface="Arial" panose="020B0604020202020204" pitchFamily="34" charset="0"/>
                <a:cs typeface="Arial" panose="020B0604020202020204" pitchFamily="34" charset="0"/>
              </a:rPr>
              <a:t>Topics:</a:t>
            </a:r>
            <a:r>
              <a:rPr lang="en-US" sz="3000" dirty="0">
                <a:solidFill>
                  <a:srgbClr val="000000"/>
                </a:solidFill>
                <a:latin typeface="Calibri" panose="020B0604020202020204" pitchFamily="34" charset="0"/>
                <a:cs typeface="Arial" panose="020B0604020202020204" pitchFamily="34" charset="0"/>
              </a:rPr>
              <a:t> </a:t>
            </a:r>
            <a:r>
              <a:rPr lang="en-US" sz="2800" b="1" dirty="0"/>
              <a:t>Numerical Measures: Measures of Central Tendency &amp; Location</a:t>
            </a:r>
          </a:p>
        </p:txBody>
      </p:sp>
      <p:sp>
        <p:nvSpPr>
          <p:cNvPr id="3" name="Subtitle 2"/>
          <p:cNvSpPr>
            <a:spLocks noGrp="1"/>
          </p:cNvSpPr>
          <p:nvPr>
            <p:ph type="subTitle" idx="1"/>
          </p:nvPr>
        </p:nvSpPr>
        <p:spPr>
          <a:xfrm>
            <a:off x="1524000" y="3061126"/>
            <a:ext cx="9144000" cy="1655762"/>
          </a:xfrm>
        </p:spPr>
        <p:txBody>
          <a:bodyPr>
            <a:normAutofit fontScale="77500" lnSpcReduction="20000"/>
          </a:bodyPr>
          <a:lstStyle/>
          <a:p>
            <a:pPr>
              <a:lnSpc>
                <a:spcPct val="120000"/>
              </a:lnSpc>
            </a:pPr>
            <a:r>
              <a:rPr lang="en-US" dirty="0">
                <a:latin typeface="Arial" panose="020B0604020202020204" pitchFamily="34" charset="0"/>
                <a:cs typeface="Arial" panose="020B0604020202020204" pitchFamily="34" charset="0"/>
              </a:rPr>
              <a:t>Instructor: Md. </a:t>
            </a:r>
            <a:r>
              <a:rPr lang="en-US" dirty="0" err="1">
                <a:latin typeface="Arial" panose="020B0604020202020204" pitchFamily="34" charset="0"/>
                <a:cs typeface="Arial" panose="020B0604020202020204" pitchFamily="34" charset="0"/>
              </a:rPr>
              <a:t>Ershadul</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Haque</a:t>
            </a:r>
            <a:r>
              <a:rPr lang="en-US" dirty="0">
                <a:latin typeface="Arial" panose="020B0604020202020204" pitchFamily="34" charset="0"/>
                <a:cs typeface="Arial" panose="020B0604020202020204" pitchFamily="34" charset="0"/>
              </a:rPr>
              <a:t>, PhD</a:t>
            </a:r>
          </a:p>
          <a:p>
            <a:pPr>
              <a:lnSpc>
                <a:spcPct val="120000"/>
              </a:lnSpc>
            </a:pPr>
            <a:r>
              <a:rPr lang="en-US" dirty="0">
                <a:latin typeface="Arial" panose="020B0604020202020204" pitchFamily="34" charset="0"/>
                <a:cs typeface="Arial" panose="020B0604020202020204" pitchFamily="34" charset="0"/>
              </a:rPr>
              <a:t>Professor, Department of Statistics, DU</a:t>
            </a:r>
          </a:p>
          <a:p>
            <a:pPr>
              <a:lnSpc>
                <a:spcPct val="120000"/>
              </a:lnSpc>
            </a:pPr>
            <a:r>
              <a:rPr lang="en-US" dirty="0">
                <a:latin typeface="Arial" panose="020B0604020202020204" pitchFamily="34" charset="0"/>
                <a:cs typeface="Arial" panose="020B0604020202020204" pitchFamily="34" charset="0"/>
              </a:rPr>
              <a:t>&amp;</a:t>
            </a:r>
          </a:p>
          <a:p>
            <a:pPr>
              <a:lnSpc>
                <a:spcPct val="120000"/>
              </a:lnSpc>
            </a:pPr>
            <a:r>
              <a:rPr lang="en-US" dirty="0">
                <a:latin typeface="Arial" panose="020B0604020202020204" pitchFamily="34" charset="0"/>
                <a:cs typeface="Arial" panose="020B0604020202020204" pitchFamily="34" charset="0"/>
              </a:rPr>
              <a:t>Adjunct Faculty, EWU, Bangladesh</a:t>
            </a:r>
          </a:p>
        </p:txBody>
      </p:sp>
    </p:spTree>
    <p:extLst>
      <p:ext uri="{BB962C8B-B14F-4D97-AF65-F5344CB8AC3E}">
        <p14:creationId xmlns:p14="http://schemas.microsoft.com/office/powerpoint/2010/main" val="19559643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2581" y="833084"/>
            <a:ext cx="10831132" cy="5876809"/>
          </a:xfrm>
        </p:spPr>
        <p:txBody>
          <a:bodyPr>
            <a:noAutofit/>
          </a:bodyPr>
          <a:lstStyle/>
          <a:p>
            <a:pPr marL="342900" indent="-342900" algn="just">
              <a:lnSpc>
                <a:spcPct val="150000"/>
              </a:lnSpc>
              <a:buFont typeface="Arial" panose="020B0604020202020204" pitchFamily="34" charset="0"/>
              <a:buChar char="•"/>
            </a:pPr>
            <a:r>
              <a:rPr lang="en-US" sz="2200" dirty="0">
                <a:latin typeface="Arial" panose="020B0604020202020204" pitchFamily="34" charset="0"/>
                <a:cs typeface="Arial" panose="020B0604020202020204" pitchFamily="34" charset="0"/>
              </a:rPr>
              <a:t>We will discuss two numerical ways of describing a set of data, namely, </a:t>
            </a:r>
            <a:r>
              <a:rPr lang="en-US" sz="2200" b="1" dirty="0">
                <a:latin typeface="Arial" panose="020B0604020202020204" pitchFamily="34" charset="0"/>
                <a:cs typeface="Arial" panose="020B0604020202020204" pitchFamily="34" charset="0"/>
              </a:rPr>
              <a:t>measures of central tendency</a:t>
            </a:r>
            <a:r>
              <a:rPr lang="en-US" sz="2200" dirty="0">
                <a:latin typeface="Arial" panose="020B0604020202020204" pitchFamily="34" charset="0"/>
                <a:cs typeface="Arial" panose="020B0604020202020204" pitchFamily="34" charset="0"/>
              </a:rPr>
              <a:t> (measures of location) and </a:t>
            </a:r>
            <a:r>
              <a:rPr lang="en-US" sz="2200" b="1" dirty="0">
                <a:latin typeface="Arial" panose="020B0604020202020204" pitchFamily="34" charset="0"/>
                <a:cs typeface="Arial" panose="020B0604020202020204" pitchFamily="34" charset="0"/>
              </a:rPr>
              <a:t>measures of dispersion</a:t>
            </a:r>
            <a:r>
              <a:rPr lang="en-US" sz="2200" dirty="0">
                <a:latin typeface="Arial" panose="020B0604020202020204" pitchFamily="34" charset="0"/>
                <a:cs typeface="Arial" panose="020B0604020202020204" pitchFamily="34" charset="0"/>
              </a:rPr>
              <a:t>. </a:t>
            </a:r>
          </a:p>
          <a:p>
            <a:pPr marL="285750" indent="-28575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In any data set, the values often show a tendency to cluster around a particular value. This clustering behavior is called </a:t>
            </a:r>
            <a:r>
              <a:rPr lang="en-US" sz="2200" b="1" dirty="0">
                <a:latin typeface="Arial" panose="020B0604020202020204" pitchFamily="34" charset="0"/>
                <a:cs typeface="Arial" panose="020B0604020202020204" pitchFamily="34" charset="0"/>
              </a:rPr>
              <a:t>central tendency</a:t>
            </a:r>
            <a:r>
              <a:rPr lang="en-US" sz="2200" dirty="0">
                <a:latin typeface="Arial" panose="020B0604020202020204" pitchFamily="34" charset="0"/>
                <a:cs typeface="Arial" panose="020B0604020202020204" pitchFamily="34" charset="0"/>
              </a:rPr>
              <a:t>.</a:t>
            </a:r>
          </a:p>
          <a:p>
            <a:pPr marL="285750" indent="-28575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The </a:t>
            </a:r>
            <a:r>
              <a:rPr lang="en-US" sz="2200" b="1" i="1" dirty="0">
                <a:latin typeface="Arial" pitchFamily="34" charset="0"/>
                <a:cs typeface="Arial" pitchFamily="34" charset="0"/>
              </a:rPr>
              <a:t>measure of central tenden</a:t>
            </a:r>
            <a:r>
              <a:rPr lang="en-US" sz="2200" dirty="0">
                <a:latin typeface="Arial" pitchFamily="34" charset="0"/>
                <a:cs typeface="Arial" pitchFamily="34" charset="0"/>
              </a:rPr>
              <a:t>cy (or </a:t>
            </a:r>
            <a:r>
              <a:rPr lang="en-US" sz="2200" b="1" i="1" dirty="0">
                <a:latin typeface="Arial" pitchFamily="34" charset="0"/>
                <a:cs typeface="Arial" pitchFamily="34" charset="0"/>
              </a:rPr>
              <a:t>averages</a:t>
            </a:r>
            <a:r>
              <a:rPr lang="en-US" sz="2200" dirty="0">
                <a:latin typeface="Arial" pitchFamily="34" charset="0"/>
                <a:cs typeface="Arial" pitchFamily="34" charset="0"/>
              </a:rPr>
              <a:t>) are numerical values that </a:t>
            </a:r>
            <a:r>
              <a:rPr lang="en-US" sz="2200" b="1" i="1" dirty="0">
                <a:latin typeface="Arial" pitchFamily="34" charset="0"/>
                <a:cs typeface="Arial" pitchFamily="34" charset="0"/>
              </a:rPr>
              <a:t>describe this concentration of data around the center</a:t>
            </a:r>
            <a:r>
              <a:rPr lang="en-US" sz="2200" dirty="0">
                <a:latin typeface="Arial" panose="020B0604020202020204" pitchFamily="34" charset="0"/>
                <a:cs typeface="Arial" panose="020B0604020202020204" pitchFamily="34" charset="0"/>
              </a:rPr>
              <a:t>.</a:t>
            </a:r>
          </a:p>
          <a:p>
            <a:pPr marL="285750" indent="-28575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These measures serve as </a:t>
            </a:r>
            <a:r>
              <a:rPr lang="en-US" sz="2200" b="1" i="1" dirty="0">
                <a:latin typeface="Arial" pitchFamily="34" charset="0"/>
                <a:cs typeface="Arial" pitchFamily="34" charset="0"/>
              </a:rPr>
              <a:t>numerical indicators of</a:t>
            </a:r>
            <a:r>
              <a:rPr lang="en-US" sz="2200" dirty="0">
                <a:latin typeface="Arial" pitchFamily="34" charset="0"/>
                <a:cs typeface="Arial" pitchFamily="34" charset="0"/>
              </a:rPr>
              <a:t> the “</a:t>
            </a:r>
            <a:r>
              <a:rPr lang="en-US" sz="2200" b="1" i="1" dirty="0">
                <a:latin typeface="Arial" pitchFamily="34" charset="0"/>
                <a:cs typeface="Arial" pitchFamily="34" charset="0"/>
              </a:rPr>
              <a:t>center</a:t>
            </a:r>
            <a:r>
              <a:rPr lang="en-US" sz="2200" dirty="0">
                <a:latin typeface="Arial" pitchFamily="34" charset="0"/>
                <a:cs typeface="Arial" pitchFamily="34" charset="0"/>
              </a:rPr>
              <a:t>,” or the </a:t>
            </a:r>
            <a:r>
              <a:rPr lang="en-US" sz="2200" b="1" i="1" dirty="0">
                <a:latin typeface="Arial" pitchFamily="34" charset="0"/>
                <a:cs typeface="Arial" pitchFamily="34" charset="0"/>
              </a:rPr>
              <a:t>most typical/representative</a:t>
            </a:r>
            <a:r>
              <a:rPr lang="en-US" sz="2200" dirty="0">
                <a:latin typeface="Arial" pitchFamily="34" charset="0"/>
                <a:cs typeface="Arial" pitchFamily="34" charset="0"/>
              </a:rPr>
              <a:t> value of a data set. Here are some examples:</a:t>
            </a:r>
          </a:p>
          <a:p>
            <a:pPr marL="742950" lvl="1" indent="-285750" algn="just">
              <a:lnSpc>
                <a:spcPct val="150000"/>
              </a:lnSpc>
              <a:buFont typeface="Wingdings" panose="05000000000000000000" pitchFamily="2" charset="2"/>
              <a:buChar char="ü"/>
            </a:pPr>
            <a:r>
              <a:rPr lang="en-US" sz="2200" dirty="0">
                <a:latin typeface="Arial" pitchFamily="34" charset="0"/>
                <a:cs typeface="Arial" pitchFamily="34" charset="0"/>
              </a:rPr>
              <a:t>The average time to change home-ownership in Dhaka is 11.8 years.</a:t>
            </a:r>
          </a:p>
          <a:p>
            <a:pPr marL="742950" lvl="1" indent="-285750" algn="just">
              <a:lnSpc>
                <a:spcPct val="150000"/>
              </a:lnSpc>
              <a:buFont typeface="Wingdings" panose="05000000000000000000" pitchFamily="2" charset="2"/>
              <a:buChar char="ü"/>
            </a:pPr>
            <a:r>
              <a:rPr lang="en-US" sz="2200" dirty="0">
                <a:latin typeface="Arial" pitchFamily="34" charset="0"/>
                <a:cs typeface="Arial" pitchFamily="34" charset="0"/>
              </a:rPr>
              <a:t>The CEO of company-A received 568 pieces of mail per week, on the average.</a:t>
            </a:r>
          </a:p>
          <a:p>
            <a:pPr marL="742950" lvl="1" indent="-285750" algn="just">
              <a:lnSpc>
                <a:spcPct val="150000"/>
              </a:lnSpc>
              <a:buFont typeface="Wingdings" panose="05000000000000000000" pitchFamily="2" charset="2"/>
              <a:buChar char="ü"/>
            </a:pPr>
            <a:r>
              <a:rPr lang="en-US" sz="2200" dirty="0">
                <a:latin typeface="Arial" pitchFamily="34" charset="0"/>
                <a:cs typeface="Arial" pitchFamily="34" charset="0"/>
              </a:rPr>
              <a:t>The average American home has more TV sets than people. There are 2.73 TV sets and 2.55 people in the typical home.</a:t>
            </a:r>
          </a:p>
        </p:txBody>
      </p:sp>
      <p:sp>
        <p:nvSpPr>
          <p:cNvPr id="4" name="Title 1"/>
          <p:cNvSpPr txBox="1">
            <a:spLocks/>
          </p:cNvSpPr>
          <p:nvPr/>
        </p:nvSpPr>
        <p:spPr>
          <a:xfrm>
            <a:off x="682581" y="150382"/>
            <a:ext cx="10715222" cy="60530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400" b="1" dirty="0">
                <a:latin typeface="Arial" panose="020B0604020202020204" pitchFamily="34" charset="0"/>
                <a:cs typeface="Arial" panose="020B0604020202020204" pitchFamily="34" charset="0"/>
              </a:rPr>
              <a:t>Describing data: Numerical measures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996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a:latin typeface="Arial" pitchFamily="34" charset="0"/>
                <a:cs typeface="Arial" pitchFamily="34" charset="0"/>
              </a:rPr>
              <a:t>Measures of Central Tendency</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833000"/>
            <a:ext cx="10831132" cy="5917424"/>
          </a:xfrm>
        </p:spPr>
        <p:txBody>
          <a:bodyPr>
            <a:noAutofit/>
          </a:bodyPr>
          <a:lstStyle/>
          <a:p>
            <a:pPr marL="285750" indent="-285750" algn="just">
              <a:lnSpc>
                <a:spcPct val="100000"/>
              </a:lnSpc>
              <a:buFont typeface="Arial" panose="020B0604020202020204" pitchFamily="34" charset="0"/>
              <a:buChar char="•"/>
            </a:pPr>
            <a:r>
              <a:rPr lang="en-US" sz="2300" dirty="0">
                <a:latin typeface="Arial" pitchFamily="34" charset="0"/>
                <a:cs typeface="Arial" pitchFamily="34" charset="0"/>
              </a:rPr>
              <a:t>Different measures of central tendency</a:t>
            </a:r>
          </a:p>
          <a:p>
            <a:pPr marL="742950" lvl="1" indent="-285750" algn="just">
              <a:lnSpc>
                <a:spcPct val="100000"/>
              </a:lnSpc>
              <a:buFont typeface="Wingdings" panose="05000000000000000000" pitchFamily="2" charset="2"/>
              <a:buChar char="ü"/>
            </a:pPr>
            <a:r>
              <a:rPr lang="en-US" sz="2300" dirty="0">
                <a:latin typeface="Arial" pitchFamily="34" charset="0"/>
                <a:cs typeface="Arial" pitchFamily="34" charset="0"/>
              </a:rPr>
              <a:t>Mean (Arithmetic, Geometric, Harmonic)</a:t>
            </a:r>
          </a:p>
          <a:p>
            <a:pPr marL="742950" lvl="1" indent="-285750" algn="just">
              <a:lnSpc>
                <a:spcPct val="100000"/>
              </a:lnSpc>
              <a:buFont typeface="Wingdings" panose="05000000000000000000" pitchFamily="2" charset="2"/>
              <a:buChar char="ü"/>
            </a:pPr>
            <a:r>
              <a:rPr lang="en-US" sz="2300" dirty="0">
                <a:latin typeface="Arial" pitchFamily="34" charset="0"/>
                <a:cs typeface="Arial" pitchFamily="34" charset="0"/>
              </a:rPr>
              <a:t>Median</a:t>
            </a:r>
          </a:p>
          <a:p>
            <a:pPr marL="742950" lvl="1" indent="-285750" algn="just">
              <a:lnSpc>
                <a:spcPct val="100000"/>
              </a:lnSpc>
              <a:buFont typeface="Wingdings" panose="05000000000000000000" pitchFamily="2" charset="2"/>
              <a:buChar char="ü"/>
            </a:pPr>
            <a:r>
              <a:rPr lang="en-US" sz="2300" dirty="0">
                <a:latin typeface="Arial" pitchFamily="34" charset="0"/>
                <a:cs typeface="Arial" pitchFamily="34" charset="0"/>
              </a:rPr>
              <a:t>Mode</a:t>
            </a:r>
          </a:p>
          <a:p>
            <a:pPr marL="285750" indent="-285750" algn="just">
              <a:lnSpc>
                <a:spcPct val="100000"/>
              </a:lnSpc>
              <a:buFont typeface="Arial" panose="020B0604020202020204" pitchFamily="34" charset="0"/>
              <a:buChar char="•"/>
            </a:pPr>
            <a:r>
              <a:rPr lang="en-US" sz="2300" dirty="0">
                <a:latin typeface="Arial" pitchFamily="34" charset="0"/>
                <a:cs typeface="Arial" pitchFamily="34" charset="0"/>
              </a:rPr>
              <a:t>Few Special measures of central tendency</a:t>
            </a:r>
          </a:p>
          <a:p>
            <a:pPr marL="742950" lvl="1" indent="-285750" algn="just">
              <a:lnSpc>
                <a:spcPct val="100000"/>
              </a:lnSpc>
              <a:buFont typeface="Wingdings" panose="05000000000000000000" pitchFamily="2" charset="2"/>
              <a:buChar char="ü"/>
            </a:pPr>
            <a:r>
              <a:rPr lang="en-US" sz="2300" dirty="0">
                <a:latin typeface="Arial" pitchFamily="34" charset="0"/>
                <a:cs typeface="Arial" pitchFamily="34" charset="0"/>
              </a:rPr>
              <a:t>Pooled mean </a:t>
            </a:r>
          </a:p>
          <a:p>
            <a:pPr marL="742950" lvl="1" indent="-285750" algn="just">
              <a:lnSpc>
                <a:spcPct val="100000"/>
              </a:lnSpc>
              <a:buFont typeface="Wingdings" panose="05000000000000000000" pitchFamily="2" charset="2"/>
              <a:buChar char="ü"/>
            </a:pPr>
            <a:r>
              <a:rPr lang="en-US" sz="2300" dirty="0">
                <a:latin typeface="Arial" pitchFamily="34" charset="0"/>
                <a:cs typeface="Arial" pitchFamily="34" charset="0"/>
              </a:rPr>
              <a:t>Weighted mean</a:t>
            </a:r>
          </a:p>
          <a:p>
            <a:pPr algn="just">
              <a:lnSpc>
                <a:spcPct val="100000"/>
              </a:lnSpc>
            </a:pPr>
            <a:endParaRPr lang="en-GB" sz="2300" dirty="0">
              <a:latin typeface="Arial" pitchFamily="34" charset="0"/>
              <a:cs typeface="Arial" pitchFamily="34" charset="0"/>
            </a:endParaRPr>
          </a:p>
          <a:p>
            <a:pPr marL="342900" indent="-342900" algn="just">
              <a:lnSpc>
                <a:spcPct val="100000"/>
              </a:lnSpc>
              <a:spcBef>
                <a:spcPts val="600"/>
              </a:spcBef>
              <a:spcAft>
                <a:spcPts val="600"/>
              </a:spcAft>
              <a:buFont typeface="Arial" panose="020B0604020202020204" pitchFamily="34" charset="0"/>
              <a:buChar char="•"/>
            </a:pPr>
            <a:endParaRPr lang="en-US" sz="23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5805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66671"/>
            <a:ext cx="9144000" cy="605308"/>
          </a:xfrm>
        </p:spPr>
        <p:txBody>
          <a:bodyPr>
            <a:noAutofit/>
          </a:bodyPr>
          <a:lstStyle/>
          <a:p>
            <a:r>
              <a:rPr lang="en-US" sz="2800" b="1" dirty="0">
                <a:latin typeface="Arial" pitchFamily="34" charset="0"/>
                <a:cs typeface="Arial" pitchFamily="34" charset="0"/>
              </a:rPr>
              <a:t>Mean</a:t>
            </a:r>
            <a:endParaRPr lang="en-US" sz="28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155728"/>
                <a:ext cx="10831132" cy="5231625"/>
              </a:xfrm>
            </p:spPr>
            <p:txBody>
              <a:bodyPr>
                <a:noAutofit/>
              </a:bodyPr>
              <a:lstStyle/>
              <a:p>
                <a:pPr marL="285750" indent="-285750" algn="just">
                  <a:lnSpc>
                    <a:spcPct val="100000"/>
                  </a:lnSpc>
                  <a:buFont typeface="Arial" panose="020B0604020202020204" pitchFamily="34" charset="0"/>
                  <a:buChar char="•"/>
                </a:pPr>
                <a:r>
                  <a:rPr lang="en-US" sz="2300" dirty="0">
                    <a:latin typeface="Arial" pitchFamily="34" charset="0"/>
                    <a:cs typeface="Arial" pitchFamily="34" charset="0"/>
                  </a:rPr>
                  <a:t>The most popular and best-understood measure for describing a quantitative data is the </a:t>
                </a:r>
                <a:r>
                  <a:rPr lang="en-US" sz="2300" i="1" dirty="0">
                    <a:latin typeface="Arial" pitchFamily="34" charset="0"/>
                    <a:cs typeface="Arial" pitchFamily="34" charset="0"/>
                  </a:rPr>
                  <a:t>arithmetic mean (mean)</a:t>
                </a:r>
                <a:r>
                  <a:rPr lang="en-US" sz="2300" dirty="0">
                    <a:latin typeface="Arial" pitchFamily="34" charset="0"/>
                    <a:cs typeface="Arial" pitchFamily="34" charset="0"/>
                  </a:rPr>
                  <a:t>. </a:t>
                </a:r>
              </a:p>
              <a:p>
                <a:pPr marL="285750" indent="-285750" algn="just">
                  <a:lnSpc>
                    <a:spcPct val="100000"/>
                  </a:lnSpc>
                  <a:buFont typeface="Arial" panose="020B0604020202020204" pitchFamily="34" charset="0"/>
                  <a:buChar char="•"/>
                </a:pPr>
                <a:r>
                  <a:rPr lang="en-US" sz="2300" dirty="0">
                    <a:latin typeface="Arial" pitchFamily="34" charset="0"/>
                    <a:cs typeface="Arial" pitchFamily="34" charset="0"/>
                  </a:rPr>
                  <a:t>The </a:t>
                </a:r>
                <a:r>
                  <a:rPr lang="en-US" sz="2300" b="1" i="1" dirty="0">
                    <a:latin typeface="Arial" panose="020B0604020202020204" pitchFamily="34" charset="0"/>
                    <a:cs typeface="Arial" panose="020B0604020202020204" pitchFamily="34" charset="0"/>
                  </a:rPr>
                  <a:t>mean</a:t>
                </a:r>
                <a:r>
                  <a:rPr lang="en-US" sz="2300" dirty="0">
                    <a:latin typeface="Arial" pitchFamily="34" charset="0"/>
                    <a:cs typeface="Arial" pitchFamily="34" charset="0"/>
                  </a:rPr>
                  <a:t> </a:t>
                </a:r>
                <a:r>
                  <a:rPr lang="en-US" sz="2300" b="1" i="1" dirty="0">
                    <a:latin typeface="Arial" panose="020B0604020202020204" pitchFamily="34" charset="0"/>
                    <a:cs typeface="Arial" panose="020B0604020202020204" pitchFamily="34" charset="0"/>
                  </a:rPr>
                  <a:t>for a sampled data</a:t>
                </a:r>
                <a:r>
                  <a:rPr lang="en-US" sz="2300" dirty="0">
                    <a:latin typeface="Arial" pitchFamily="34" charset="0"/>
                    <a:cs typeface="Arial" pitchFamily="34" charset="0"/>
                  </a:rPr>
                  <a:t> is denoted by </a:t>
                </a:r>
                <a14:m>
                  <m:oMath xmlns:m="http://schemas.openxmlformats.org/officeDocument/2006/math">
                    <m:acc>
                      <m:accPr>
                        <m:chr m:val="̅"/>
                        <m:ctrlPr>
                          <a:rPr lang="en-US" sz="2300" i="1">
                            <a:latin typeface="Cambria Math" panose="02040503050406030204" pitchFamily="18" charset="0"/>
                          </a:rPr>
                        </m:ctrlPr>
                      </m:accPr>
                      <m:e>
                        <m:r>
                          <a:rPr lang="en-US" sz="2300" i="1">
                            <a:latin typeface="Cambria Math" panose="02040503050406030204" pitchFamily="18" charset="0"/>
                          </a:rPr>
                          <m:t>𝑥</m:t>
                        </m:r>
                      </m:e>
                    </m:acc>
                  </m:oMath>
                </a14:m>
                <a:r>
                  <a:rPr lang="en-US" sz="2300" dirty="0">
                    <a:latin typeface="Arial" panose="020B0604020202020204" pitchFamily="34" charset="0"/>
                    <a:cs typeface="Arial" panose="020B0604020202020204" pitchFamily="34" charset="0"/>
                  </a:rPr>
                  <a:t>, it is read “</a:t>
                </a:r>
                <a14:m>
                  <m:oMath xmlns:m="http://schemas.openxmlformats.org/officeDocument/2006/math">
                    <m:r>
                      <a:rPr lang="en-US" sz="2300" i="1">
                        <a:latin typeface="Cambria Math" panose="02040503050406030204" pitchFamily="18" charset="0"/>
                      </a:rPr>
                      <m:t>𝑥</m:t>
                    </m:r>
                  </m:oMath>
                </a14:m>
                <a:r>
                  <a:rPr lang="en-US" sz="2300" dirty="0">
                    <a:latin typeface="Arial" panose="020B0604020202020204" pitchFamily="34" charset="0"/>
                    <a:cs typeface="Arial" panose="020B0604020202020204" pitchFamily="34" charset="0"/>
                  </a:rPr>
                  <a:t> bar”.</a:t>
                </a:r>
              </a:p>
              <a:p>
                <a:pPr marL="285750" indent="-285750" algn="just">
                  <a:lnSpc>
                    <a:spcPct val="100000"/>
                  </a:lnSpc>
                  <a:buFont typeface="Arial" panose="020B0604020202020204" pitchFamily="34" charset="0"/>
                  <a:buChar char="•"/>
                </a:pPr>
                <a:r>
                  <a:rPr lang="en-US" sz="2300" dirty="0">
                    <a:latin typeface="Arial" panose="020B0604020202020204" pitchFamily="34" charset="0"/>
                    <a:cs typeface="Arial" panose="020B0604020202020204" pitchFamily="34" charset="0"/>
                  </a:rPr>
                  <a:t>Suppose there are </a:t>
                </a:r>
                <a14:m>
                  <m:oMath xmlns:m="http://schemas.openxmlformats.org/officeDocument/2006/math">
                    <m:r>
                      <a:rPr lang="en-US" sz="2300" i="1">
                        <a:latin typeface="Cambria Math" panose="02040503050406030204" pitchFamily="18" charset="0"/>
                      </a:rPr>
                      <m:t>𝑛</m:t>
                    </m:r>
                    <m:r>
                      <a:rPr lang="en-US" sz="2300" i="1">
                        <a:latin typeface="Cambria Math" panose="02040503050406030204" pitchFamily="18" charset="0"/>
                      </a:rPr>
                      <m:t> </m:t>
                    </m:r>
                  </m:oMath>
                </a14:m>
                <a:r>
                  <a:rPr lang="en-US" sz="2300" dirty="0">
                    <a:latin typeface="Arial" panose="020B0604020202020204" pitchFamily="34" charset="0"/>
                    <a:cs typeface="Arial" panose="020B0604020202020204" pitchFamily="34" charset="0"/>
                  </a:rPr>
                  <a:t>values </a:t>
                </a:r>
                <a14:m>
                  <m:oMath xmlns:m="http://schemas.openxmlformats.org/officeDocument/2006/math">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i="1">
                            <a:latin typeface="Cambria Math" panose="02040503050406030204" pitchFamily="18" charset="0"/>
                          </a:rPr>
                          <m:t>1</m:t>
                        </m:r>
                      </m:sub>
                    </m:sSub>
                    <m:r>
                      <a:rPr lang="en-US" sz="2300" i="1">
                        <a:latin typeface="Cambria Math" panose="02040503050406030204" pitchFamily="18" charset="0"/>
                      </a:rPr>
                      <m:t>, </m:t>
                    </m:r>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i="1">
                            <a:latin typeface="Cambria Math" panose="02040503050406030204" pitchFamily="18" charset="0"/>
                          </a:rPr>
                          <m:t>2</m:t>
                        </m:r>
                      </m:sub>
                    </m:sSub>
                    <m:r>
                      <a:rPr lang="en-US" sz="2300" i="1">
                        <a:latin typeface="Cambria Math" panose="02040503050406030204" pitchFamily="18" charset="0"/>
                      </a:rPr>
                      <m:t>, …,</m:t>
                    </m:r>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i="1">
                            <a:latin typeface="Cambria Math" panose="02040503050406030204" pitchFamily="18" charset="0"/>
                          </a:rPr>
                          <m:t>𝑛</m:t>
                        </m:r>
                      </m:sub>
                    </m:sSub>
                  </m:oMath>
                </a14:m>
                <a:r>
                  <a:rPr lang="en-US" sz="2300" dirty="0">
                    <a:latin typeface="Arial" panose="020B0604020202020204" pitchFamily="34" charset="0"/>
                    <a:cs typeface="Arial" panose="020B0604020202020204" pitchFamily="34" charset="0"/>
                  </a:rPr>
                  <a:t> for </a:t>
                </a:r>
                <a14:m>
                  <m:oMath xmlns:m="http://schemas.openxmlformats.org/officeDocument/2006/math">
                    <m:r>
                      <a:rPr lang="en-US" sz="2300" i="1">
                        <a:latin typeface="Cambria Math" panose="02040503050406030204" pitchFamily="18" charset="0"/>
                      </a:rPr>
                      <m:t>𝑥</m:t>
                    </m:r>
                  </m:oMath>
                </a14:m>
                <a:r>
                  <a:rPr lang="en-US" sz="2300" dirty="0">
                    <a:latin typeface="Arial" panose="020B0604020202020204" pitchFamily="34" charset="0"/>
                    <a:cs typeface="Arial" panose="020B0604020202020204" pitchFamily="34" charset="0"/>
                  </a:rPr>
                  <a:t>, then the </a:t>
                </a:r>
                <a14:m>
                  <m:oMath xmlns:m="http://schemas.openxmlformats.org/officeDocument/2006/math">
                    <m:acc>
                      <m:accPr>
                        <m:chr m:val="̅"/>
                        <m:ctrlPr>
                          <a:rPr lang="en-US" sz="2300" i="1">
                            <a:latin typeface="Cambria Math" panose="02040503050406030204" pitchFamily="18" charset="0"/>
                          </a:rPr>
                        </m:ctrlPr>
                      </m:accPr>
                      <m:e>
                        <m:r>
                          <a:rPr lang="en-US" sz="2300" i="1">
                            <a:latin typeface="Cambria Math" panose="02040503050406030204" pitchFamily="18" charset="0"/>
                          </a:rPr>
                          <m:t>𝑥</m:t>
                        </m:r>
                      </m:e>
                    </m:acc>
                  </m:oMath>
                </a14:m>
                <a:r>
                  <a:rPr lang="en-US" sz="2300" dirty="0">
                    <a:latin typeface="Arial" panose="020B0604020202020204" pitchFamily="34" charset="0"/>
                    <a:cs typeface="Arial" panose="020B0604020202020204" pitchFamily="34" charset="0"/>
                  </a:rPr>
                  <a:t> is defined as </a:t>
                </a:r>
              </a:p>
              <a:p>
                <a:pPr algn="just">
                  <a:lnSpc>
                    <a:spcPct val="100000"/>
                  </a:lnSpc>
                </a:pPr>
                <a14:m>
                  <m:oMathPara xmlns:m="http://schemas.openxmlformats.org/officeDocument/2006/math">
                    <m:oMathParaPr>
                      <m:jc m:val="centerGroup"/>
                    </m:oMathParaPr>
                    <m:oMath xmlns:m="http://schemas.openxmlformats.org/officeDocument/2006/math">
                      <m:acc>
                        <m:accPr>
                          <m:chr m:val="̅"/>
                          <m:ctrlPr>
                            <a:rPr lang="en-US" sz="2300" i="1">
                              <a:latin typeface="Cambria Math" panose="02040503050406030204" pitchFamily="18" charset="0"/>
                            </a:rPr>
                          </m:ctrlPr>
                        </m:accPr>
                        <m:e>
                          <m:box>
                            <m:boxPr>
                              <m:ctrlPr>
                                <a:rPr lang="en-US" sz="2300" i="1">
                                  <a:latin typeface="Cambria Math" panose="02040503050406030204" pitchFamily="18" charset="0"/>
                                </a:rPr>
                              </m:ctrlPr>
                            </m:boxPr>
                            <m:e>
                              <m:r>
                                <a:rPr lang="en-US" sz="2300" i="1">
                                  <a:latin typeface="Cambria Math" panose="02040503050406030204" pitchFamily="18" charset="0"/>
                                </a:rPr>
                                <m:t>𝑥</m:t>
                              </m:r>
                            </m:e>
                          </m:box>
                        </m:e>
                      </m:acc>
                      <m:r>
                        <a:rPr lang="en-US" sz="2300">
                          <a:latin typeface="Cambria Math" panose="02040503050406030204" pitchFamily="18" charset="0"/>
                        </a:rPr>
                        <m:t>=</m:t>
                      </m:r>
                      <m:f>
                        <m:fPr>
                          <m:ctrlPr>
                            <a:rPr lang="en-US" sz="2300" i="1">
                              <a:latin typeface="Cambria Math" panose="02040503050406030204" pitchFamily="18" charset="0"/>
                            </a:rPr>
                          </m:ctrlPr>
                        </m:fPr>
                        <m:num>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a:latin typeface="Cambria Math" panose="02040503050406030204" pitchFamily="18" charset="0"/>
                                </a:rPr>
                                <m:t>1</m:t>
                              </m:r>
                            </m:sub>
                          </m:sSub>
                          <m:r>
                            <a:rPr lang="en-US" sz="2300">
                              <a:latin typeface="Cambria Math" panose="02040503050406030204" pitchFamily="18" charset="0"/>
                            </a:rPr>
                            <m:t>+</m:t>
                          </m:r>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a:latin typeface="Cambria Math" panose="02040503050406030204" pitchFamily="18" charset="0"/>
                                </a:rPr>
                                <m:t>2</m:t>
                              </m:r>
                            </m:sub>
                          </m:sSub>
                          <m:r>
                            <a:rPr lang="en-US" sz="2300">
                              <a:latin typeface="Cambria Math" panose="02040503050406030204" pitchFamily="18" charset="0"/>
                            </a:rPr>
                            <m:t>+</m:t>
                          </m:r>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a:latin typeface="Cambria Math" panose="02040503050406030204" pitchFamily="18" charset="0"/>
                                </a:rPr>
                                <m:t>3</m:t>
                              </m:r>
                            </m:sub>
                          </m:sSub>
                          <m:r>
                            <a:rPr lang="en-US" sz="2300">
                              <a:latin typeface="Cambria Math" panose="02040503050406030204" pitchFamily="18" charset="0"/>
                            </a:rPr>
                            <m:t>+…+…+</m:t>
                          </m:r>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i="1">
                                  <a:latin typeface="Cambria Math" panose="02040503050406030204" pitchFamily="18" charset="0"/>
                                </a:rPr>
                                <m:t>𝑛</m:t>
                              </m:r>
                            </m:sub>
                          </m:sSub>
                        </m:num>
                        <m:den>
                          <m:r>
                            <a:rPr lang="en-US" sz="2300" i="1">
                              <a:latin typeface="Cambria Math" panose="02040503050406030204" pitchFamily="18" charset="0"/>
                            </a:rPr>
                            <m:t>𝑛</m:t>
                          </m:r>
                        </m:den>
                      </m:f>
                      <m:r>
                        <a:rPr lang="en-US" sz="2300">
                          <a:latin typeface="Cambria Math" panose="02040503050406030204" pitchFamily="18" charset="0"/>
                        </a:rPr>
                        <m:t>=</m:t>
                      </m:r>
                      <m:f>
                        <m:fPr>
                          <m:ctrlPr>
                            <a:rPr lang="en-US" sz="2300" i="1">
                              <a:latin typeface="Cambria Math" panose="02040503050406030204" pitchFamily="18" charset="0"/>
                            </a:rPr>
                          </m:ctrlPr>
                        </m:fPr>
                        <m:num>
                          <m:r>
                            <a:rPr lang="en-US" sz="2300" i="1">
                              <a:latin typeface="Cambria Math" panose="02040503050406030204" pitchFamily="18" charset="0"/>
                            </a:rPr>
                            <m:t>∑</m:t>
                          </m:r>
                          <m:r>
                            <a:rPr lang="en-US" sz="2300" i="1">
                              <a:latin typeface="Cambria Math" panose="02040503050406030204" pitchFamily="18" charset="0"/>
                            </a:rPr>
                            <m:t>𝑥</m:t>
                          </m:r>
                        </m:num>
                        <m:den>
                          <m:r>
                            <a:rPr lang="en-US" sz="2300" i="1">
                              <a:latin typeface="Cambria Math" panose="02040503050406030204" pitchFamily="18" charset="0"/>
                            </a:rPr>
                            <m:t>𝑛</m:t>
                          </m:r>
                        </m:den>
                      </m:f>
                    </m:oMath>
                  </m:oMathPara>
                </a14:m>
                <a:endParaRPr lang="en-US" sz="2300" dirty="0">
                  <a:latin typeface="Arial" panose="020B0604020202020204" pitchFamily="34" charset="0"/>
                  <a:cs typeface="Arial" panose="020B0604020202020204" pitchFamily="34" charset="0"/>
                </a:endParaRPr>
              </a:p>
              <a:p>
                <a:pPr algn="just">
                  <a:lnSpc>
                    <a:spcPct val="100000"/>
                  </a:lnSpc>
                </a:pPr>
                <a:r>
                  <a:rPr lang="en-US" sz="2300" dirty="0">
                    <a:latin typeface="Arial" panose="020B0604020202020204" pitchFamily="34" charset="0"/>
                    <a:cs typeface="Arial" panose="020B0604020202020204" pitchFamily="34" charset="0"/>
                  </a:rPr>
                  <a:t>Example: A manufacturer of electronic components is interested in determining the lifetime of a certain type of battery. A sample, in hour’s of life, is as follows: </a:t>
                </a:r>
              </a:p>
              <a:p>
                <a:pPr algn="just">
                  <a:lnSpc>
                    <a:spcPct val="100000"/>
                  </a:lnSpc>
                </a:pPr>
                <a:r>
                  <a:rPr lang="en-US" sz="2300" dirty="0">
                    <a:latin typeface="Arial" panose="020B0604020202020204" pitchFamily="34" charset="0"/>
                    <a:cs typeface="Arial" panose="020B0604020202020204" pitchFamily="34" charset="0"/>
                  </a:rPr>
                  <a:t>123,116,122,110,175, 120,125, 111, 118, 117</a:t>
                </a:r>
                <a:endParaRPr lang="en-GB" sz="2300" dirty="0">
                  <a:latin typeface="Arial" pitchFamily="34" charset="0"/>
                  <a:cs typeface="Arial" pitchFamily="34" charset="0"/>
                </a:endParaRPr>
              </a:p>
              <a:p>
                <a:pPr marL="285750" indent="-285750" algn="just">
                  <a:lnSpc>
                    <a:spcPct val="100000"/>
                  </a:lnSpc>
                  <a:buFont typeface="Arial" panose="020B0604020202020204" pitchFamily="34" charset="0"/>
                  <a:buChar char="•"/>
                </a:pPr>
                <a:r>
                  <a:rPr lang="en-US" sz="2300" dirty="0">
                    <a:latin typeface="Arial" pitchFamily="34" charset="0"/>
                    <a:cs typeface="Arial" pitchFamily="34" charset="0"/>
                  </a:rPr>
                  <a:t>The geometric mean is defined as </a:t>
                </a:r>
                <a14:m>
                  <m:oMath xmlns:m="http://schemas.openxmlformats.org/officeDocument/2006/math">
                    <m:r>
                      <a:rPr lang="en-US" sz="2300" b="0" i="1" smtClean="0">
                        <a:latin typeface="Cambria Math" panose="02040503050406030204" pitchFamily="18" charset="0"/>
                        <a:cs typeface="Arial" pitchFamily="34" charset="0"/>
                      </a:rPr>
                      <m:t>𝐺𝑀</m:t>
                    </m:r>
                    <m:r>
                      <a:rPr lang="en-US" sz="2300" b="0" i="1" smtClean="0">
                        <a:latin typeface="Cambria Math" panose="02040503050406030204" pitchFamily="18" charset="0"/>
                        <a:cs typeface="Arial" pitchFamily="34" charset="0"/>
                      </a:rPr>
                      <m:t>=</m:t>
                    </m:r>
                    <m:sSup>
                      <m:sSupPr>
                        <m:ctrlPr>
                          <a:rPr lang="en-US" sz="2300" b="0" i="1" smtClean="0">
                            <a:latin typeface="Cambria Math" panose="02040503050406030204" pitchFamily="18" charset="0"/>
                            <a:cs typeface="Arial" pitchFamily="34" charset="0"/>
                          </a:rPr>
                        </m:ctrlPr>
                      </m:sSupPr>
                      <m:e>
                        <m:d>
                          <m:dPr>
                            <m:ctrlPr>
                              <a:rPr lang="en-US" sz="2300" b="0" i="1" smtClean="0">
                                <a:latin typeface="Cambria Math" panose="02040503050406030204" pitchFamily="18" charset="0"/>
                                <a:cs typeface="Arial" pitchFamily="34" charset="0"/>
                              </a:rPr>
                            </m:ctrlPr>
                          </m:dPr>
                          <m:e>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a:latin typeface="Cambria Math" panose="02040503050406030204" pitchFamily="18" charset="0"/>
                                  </a:rPr>
                                  <m:t>1</m:t>
                                </m:r>
                              </m:sub>
                            </m:sSub>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a:latin typeface="Cambria Math" panose="02040503050406030204" pitchFamily="18" charset="0"/>
                                  </a:rPr>
                                  <m:t>2</m:t>
                                </m:r>
                              </m:sub>
                            </m:sSub>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a:latin typeface="Cambria Math" panose="02040503050406030204" pitchFamily="18" charset="0"/>
                                  </a:rPr>
                                  <m:t>3</m:t>
                                </m:r>
                              </m:sub>
                            </m:sSub>
                            <m:r>
                              <a:rPr lang="en-US" sz="2300" i="1">
                                <a:latin typeface="Cambria Math" panose="02040503050406030204" pitchFamily="18" charset="0"/>
                              </a:rPr>
                              <m:t>⋯</m:t>
                            </m:r>
                            <m:sSub>
                              <m:sSubPr>
                                <m:ctrlPr>
                                  <a:rPr lang="en-US" sz="2300" i="1">
                                    <a:latin typeface="Cambria Math" panose="02040503050406030204" pitchFamily="18" charset="0"/>
                                  </a:rPr>
                                </m:ctrlPr>
                              </m:sSubPr>
                              <m:e>
                                <m:r>
                                  <a:rPr lang="en-US" sz="2300" i="1">
                                    <a:latin typeface="Cambria Math" panose="02040503050406030204" pitchFamily="18" charset="0"/>
                                  </a:rPr>
                                  <m:t>𝑥</m:t>
                                </m:r>
                              </m:e>
                              <m:sub>
                                <m:r>
                                  <a:rPr lang="en-US" sz="2300" i="1">
                                    <a:latin typeface="Cambria Math" panose="02040503050406030204" pitchFamily="18" charset="0"/>
                                  </a:rPr>
                                  <m:t>𝑛</m:t>
                                </m:r>
                              </m:sub>
                            </m:sSub>
                          </m:e>
                        </m:d>
                      </m:e>
                      <m:sup>
                        <m:f>
                          <m:fPr>
                            <m:ctrlPr>
                              <a:rPr lang="en-US" sz="2300" b="0" i="1" smtClean="0">
                                <a:latin typeface="Cambria Math" panose="02040503050406030204" pitchFamily="18" charset="0"/>
                                <a:cs typeface="Arial" pitchFamily="34" charset="0"/>
                              </a:rPr>
                            </m:ctrlPr>
                          </m:fPr>
                          <m:num>
                            <m:r>
                              <a:rPr lang="en-US" sz="2300" b="0" i="1" smtClean="0">
                                <a:latin typeface="Cambria Math" panose="02040503050406030204" pitchFamily="18" charset="0"/>
                                <a:cs typeface="Arial" pitchFamily="34" charset="0"/>
                              </a:rPr>
                              <m:t>1</m:t>
                            </m:r>
                          </m:num>
                          <m:den>
                            <m:r>
                              <a:rPr lang="en-US" sz="2300" b="0" i="1" smtClean="0">
                                <a:latin typeface="Cambria Math" panose="02040503050406030204" pitchFamily="18" charset="0"/>
                                <a:cs typeface="Arial" pitchFamily="34" charset="0"/>
                              </a:rPr>
                              <m:t>𝑛</m:t>
                            </m:r>
                          </m:den>
                        </m:f>
                      </m:sup>
                    </m:sSup>
                    <m:r>
                      <a:rPr lang="en-US" sz="2300" b="0" i="1" smtClean="0">
                        <a:latin typeface="Cambria Math" panose="02040503050406030204" pitchFamily="18" charset="0"/>
                        <a:cs typeface="Arial" pitchFamily="34" charset="0"/>
                      </a:rPr>
                      <m:t>=</m:t>
                    </m:r>
                    <m:sSup>
                      <m:sSupPr>
                        <m:ctrlPr>
                          <a:rPr lang="en-US" sz="2300" b="0" i="1" smtClean="0">
                            <a:latin typeface="Cambria Math" panose="02040503050406030204" pitchFamily="18" charset="0"/>
                            <a:cs typeface="Arial" pitchFamily="34" charset="0"/>
                          </a:rPr>
                        </m:ctrlPr>
                      </m:sSupPr>
                      <m:e>
                        <m:r>
                          <a:rPr lang="en-US" sz="2300" b="0" i="1" smtClean="0">
                            <a:latin typeface="Cambria Math" panose="02040503050406030204" pitchFamily="18" charset="0"/>
                            <a:cs typeface="Arial" pitchFamily="34" charset="0"/>
                          </a:rPr>
                          <m:t>𝑒</m:t>
                        </m:r>
                      </m:e>
                      <m:sup>
                        <m:d>
                          <m:dPr>
                            <m:ctrlPr>
                              <a:rPr lang="en-US" sz="2300" b="0" i="1" smtClean="0">
                                <a:latin typeface="Cambria Math" panose="02040503050406030204" pitchFamily="18" charset="0"/>
                                <a:cs typeface="Arial" pitchFamily="34" charset="0"/>
                              </a:rPr>
                            </m:ctrlPr>
                          </m:dPr>
                          <m:e>
                            <m:f>
                              <m:fPr>
                                <m:ctrlPr>
                                  <a:rPr lang="en-US" sz="2300" i="1">
                                    <a:latin typeface="Cambria Math" panose="02040503050406030204" pitchFamily="18" charset="0"/>
                                    <a:cs typeface="Arial" pitchFamily="34" charset="0"/>
                                  </a:rPr>
                                </m:ctrlPr>
                              </m:fPr>
                              <m:num>
                                <m:r>
                                  <a:rPr lang="en-US" sz="2300" i="1">
                                    <a:latin typeface="Cambria Math" panose="02040503050406030204" pitchFamily="18" charset="0"/>
                                    <a:cs typeface="Arial" pitchFamily="34" charset="0"/>
                                  </a:rPr>
                                  <m:t>1</m:t>
                                </m:r>
                              </m:num>
                              <m:den>
                                <m:r>
                                  <a:rPr lang="en-US" sz="2300" i="1">
                                    <a:latin typeface="Cambria Math" panose="02040503050406030204" pitchFamily="18" charset="0"/>
                                    <a:cs typeface="Arial" pitchFamily="34" charset="0"/>
                                  </a:rPr>
                                  <m:t>𝑛</m:t>
                                </m:r>
                              </m:den>
                            </m:f>
                            <m:r>
                              <a:rPr lang="en-US" sz="2300" i="1">
                                <a:latin typeface="Cambria Math" panose="02040503050406030204" pitchFamily="18" charset="0"/>
                                <a:cs typeface="Arial" pitchFamily="34" charset="0"/>
                              </a:rPr>
                              <m:t>∑</m:t>
                            </m:r>
                            <m:func>
                              <m:funcPr>
                                <m:ctrlPr>
                                  <a:rPr lang="en-US" sz="2300" i="1">
                                    <a:latin typeface="Cambria Math" panose="02040503050406030204" pitchFamily="18" charset="0"/>
                                    <a:cs typeface="Arial" pitchFamily="34" charset="0"/>
                                  </a:rPr>
                                </m:ctrlPr>
                              </m:funcPr>
                              <m:fName>
                                <m:sSub>
                                  <m:sSubPr>
                                    <m:ctrlPr>
                                      <a:rPr lang="en-US" sz="2300" i="1">
                                        <a:latin typeface="Cambria Math" panose="02040503050406030204" pitchFamily="18" charset="0"/>
                                        <a:cs typeface="Arial" pitchFamily="34" charset="0"/>
                                      </a:rPr>
                                    </m:ctrlPr>
                                  </m:sSubPr>
                                  <m:e>
                                    <m:r>
                                      <m:rPr>
                                        <m:sty m:val="p"/>
                                      </m:rPr>
                                      <a:rPr lang="en-US" sz="2300">
                                        <a:latin typeface="Cambria Math" panose="02040503050406030204" pitchFamily="18" charset="0"/>
                                        <a:cs typeface="Arial" pitchFamily="34" charset="0"/>
                                      </a:rPr>
                                      <m:t>log</m:t>
                                    </m:r>
                                  </m:e>
                                  <m:sub>
                                    <m:r>
                                      <a:rPr lang="en-US" sz="2300" i="1">
                                        <a:latin typeface="Cambria Math" panose="02040503050406030204" pitchFamily="18" charset="0"/>
                                        <a:cs typeface="Arial" pitchFamily="34" charset="0"/>
                                      </a:rPr>
                                      <m:t>𝑒</m:t>
                                    </m:r>
                                  </m:sub>
                                </m:sSub>
                              </m:fName>
                              <m:e>
                                <m:d>
                                  <m:dPr>
                                    <m:ctrlPr>
                                      <a:rPr lang="en-US" sz="2300" i="1" smtClean="0">
                                        <a:latin typeface="Cambria Math" panose="02040503050406030204" pitchFamily="18" charset="0"/>
                                        <a:cs typeface="Arial" pitchFamily="34" charset="0"/>
                                      </a:rPr>
                                    </m:ctrlPr>
                                  </m:dPr>
                                  <m:e>
                                    <m:r>
                                      <a:rPr lang="en-US" sz="2300" b="0" i="1" smtClean="0">
                                        <a:latin typeface="Cambria Math" panose="02040503050406030204" pitchFamily="18" charset="0"/>
                                        <a:cs typeface="Arial" pitchFamily="34" charset="0"/>
                                      </a:rPr>
                                      <m:t>𝑥</m:t>
                                    </m:r>
                                  </m:e>
                                </m:d>
                              </m:e>
                            </m:func>
                          </m:e>
                        </m:d>
                      </m:sup>
                    </m:sSup>
                  </m:oMath>
                </a14:m>
                <a:endParaRPr lang="en-US" sz="2300" dirty="0">
                  <a:latin typeface="Arial" pitchFamily="34" charset="0"/>
                  <a:cs typeface="Arial" pitchFamily="34" charset="0"/>
                </a:endParaRPr>
              </a:p>
              <a:p>
                <a:pPr marL="285750" indent="-285750" algn="just">
                  <a:lnSpc>
                    <a:spcPct val="100000"/>
                  </a:lnSpc>
                  <a:buFont typeface="Arial" panose="020B0604020202020204" pitchFamily="34" charset="0"/>
                  <a:buChar char="•"/>
                </a:pPr>
                <a:r>
                  <a:rPr lang="en-US" sz="2300" dirty="0">
                    <a:latin typeface="Arial" pitchFamily="34" charset="0"/>
                    <a:cs typeface="Arial" pitchFamily="34" charset="0"/>
                  </a:rPr>
                  <a:t>The harmonic mean is defined as H</a:t>
                </a:r>
                <a14:m>
                  <m:oMath xmlns:m="http://schemas.openxmlformats.org/officeDocument/2006/math">
                    <m:r>
                      <a:rPr lang="en-US" sz="2300" i="1">
                        <a:latin typeface="Cambria Math" panose="02040503050406030204" pitchFamily="18" charset="0"/>
                        <a:cs typeface="Arial" pitchFamily="34" charset="0"/>
                      </a:rPr>
                      <m:t>𝑀</m:t>
                    </m:r>
                    <m:r>
                      <a:rPr lang="en-US" sz="2300" i="1">
                        <a:latin typeface="Cambria Math" panose="02040503050406030204" pitchFamily="18" charset="0"/>
                        <a:cs typeface="Arial" pitchFamily="34" charset="0"/>
                      </a:rPr>
                      <m:t>=</m:t>
                    </m:r>
                    <m:f>
                      <m:fPr>
                        <m:ctrlPr>
                          <a:rPr lang="en-US" sz="2300" i="1" smtClean="0">
                            <a:latin typeface="Cambria Math" panose="02040503050406030204" pitchFamily="18" charset="0"/>
                            <a:cs typeface="Arial" pitchFamily="34" charset="0"/>
                          </a:rPr>
                        </m:ctrlPr>
                      </m:fPr>
                      <m:num>
                        <m:r>
                          <a:rPr lang="en-US" sz="2300" b="0" i="1" smtClean="0">
                            <a:latin typeface="Cambria Math" panose="02040503050406030204" pitchFamily="18" charset="0"/>
                            <a:cs typeface="Arial" pitchFamily="34" charset="0"/>
                          </a:rPr>
                          <m:t>𝑛</m:t>
                        </m:r>
                      </m:num>
                      <m:den>
                        <m:r>
                          <a:rPr lang="en-US" sz="2300" b="0" i="1" smtClean="0">
                            <a:latin typeface="Cambria Math" panose="02040503050406030204" pitchFamily="18" charset="0"/>
                            <a:cs typeface="Arial" pitchFamily="34" charset="0"/>
                          </a:rPr>
                          <m:t>∑</m:t>
                        </m:r>
                        <m:d>
                          <m:dPr>
                            <m:ctrlPr>
                              <a:rPr lang="en-US" sz="2300" b="0" i="1" smtClean="0">
                                <a:latin typeface="Cambria Math" panose="02040503050406030204" pitchFamily="18" charset="0"/>
                                <a:cs typeface="Arial" pitchFamily="34" charset="0"/>
                              </a:rPr>
                            </m:ctrlPr>
                          </m:dPr>
                          <m:e>
                            <m:f>
                              <m:fPr>
                                <m:ctrlPr>
                                  <a:rPr lang="en-US" sz="2300" b="0" i="1" smtClean="0">
                                    <a:latin typeface="Cambria Math" panose="02040503050406030204" pitchFamily="18" charset="0"/>
                                    <a:cs typeface="Arial" pitchFamily="34" charset="0"/>
                                  </a:rPr>
                                </m:ctrlPr>
                              </m:fPr>
                              <m:num>
                                <m:r>
                                  <a:rPr lang="en-US" sz="2300" b="0" i="1" smtClean="0">
                                    <a:latin typeface="Cambria Math" panose="02040503050406030204" pitchFamily="18" charset="0"/>
                                    <a:cs typeface="Arial" pitchFamily="34" charset="0"/>
                                  </a:rPr>
                                  <m:t>1</m:t>
                                </m:r>
                              </m:num>
                              <m:den>
                                <m:r>
                                  <a:rPr lang="en-US" sz="2300" b="0" i="1" smtClean="0">
                                    <a:latin typeface="Cambria Math" panose="02040503050406030204" pitchFamily="18" charset="0"/>
                                    <a:cs typeface="Arial" pitchFamily="34" charset="0"/>
                                  </a:rPr>
                                  <m:t>𝑥</m:t>
                                </m:r>
                              </m:den>
                            </m:f>
                          </m:e>
                        </m:d>
                      </m:den>
                    </m:f>
                  </m:oMath>
                </a14:m>
                <a:endParaRPr lang="en-US" sz="2300" dirty="0">
                  <a:latin typeface="Arial" pitchFamily="34" charset="0"/>
                  <a:cs typeface="Arial"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155728"/>
                <a:ext cx="10831132" cy="5231625"/>
              </a:xfrm>
              <a:blipFill>
                <a:blip r:embed="rId2"/>
                <a:stretch>
                  <a:fillRect l="-844" t="-932" r="-788"/>
                </a:stretch>
              </a:blipFill>
            </p:spPr>
            <p:txBody>
              <a:bodyPr/>
              <a:lstStyle/>
              <a:p>
                <a:r>
                  <a:rPr lang="en-US">
                    <a:noFill/>
                  </a:rPr>
                  <a:t> </a:t>
                </a:r>
              </a:p>
            </p:txBody>
          </p:sp>
        </mc:Fallback>
      </mc:AlternateContent>
    </p:spTree>
    <p:extLst>
      <p:ext uri="{BB962C8B-B14F-4D97-AF65-F5344CB8AC3E}">
        <p14:creationId xmlns:p14="http://schemas.microsoft.com/office/powerpoint/2010/main" val="723546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66671"/>
            <a:ext cx="9144000" cy="605308"/>
          </a:xfrm>
        </p:spPr>
        <p:txBody>
          <a:bodyPr>
            <a:noAutofit/>
          </a:bodyPr>
          <a:lstStyle/>
          <a:p>
            <a:r>
              <a:rPr lang="en-US" sz="2400" b="1" dirty="0">
                <a:latin typeface="Arial" pitchFamily="34" charset="0"/>
                <a:cs typeface="Arial" pitchFamily="34" charset="0"/>
              </a:rPr>
              <a:t>Mean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1155728"/>
                <a:ext cx="10831132" cy="5302824"/>
              </a:xfrm>
            </p:spPr>
            <p:txBody>
              <a:bodyPr>
                <a:noAutofit/>
              </a:bodyPr>
              <a:lstStyle/>
              <a:p>
                <a:pPr marL="285750" indent="-28575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The mean (arithmetic mean) is calculated as</a:t>
                </a:r>
              </a:p>
              <a:p>
                <a:pPr algn="just">
                  <a:lnSpc>
                    <a:spcPct val="100000"/>
                  </a:lnSpc>
                </a:pPr>
                <a14:m>
                  <m:oMathPara xmlns:m="http://schemas.openxmlformats.org/officeDocument/2006/math">
                    <m:oMathParaPr>
                      <m:jc m:val="centerGroup"/>
                    </m:oMathParaPr>
                    <m:oMath xmlns:m="http://schemas.openxmlformats.org/officeDocument/2006/math">
                      <m:acc>
                        <m:accPr>
                          <m:chr m:val="̅"/>
                          <m:ctrlPr>
                            <a:rPr lang="en-US" sz="2200" i="1">
                              <a:latin typeface="Cambria Math" panose="02040503050406030204" pitchFamily="18" charset="0"/>
                            </a:rPr>
                          </m:ctrlPr>
                        </m:accPr>
                        <m:e>
                          <m:box>
                            <m:boxPr>
                              <m:ctrlPr>
                                <a:rPr lang="en-US" sz="2200" i="1">
                                  <a:latin typeface="Cambria Math" panose="02040503050406030204" pitchFamily="18" charset="0"/>
                                </a:rPr>
                              </m:ctrlPr>
                            </m:boxPr>
                            <m:e>
                              <m:r>
                                <a:rPr lang="en-US" sz="2200" i="1">
                                  <a:latin typeface="Cambria Math" panose="02040503050406030204" pitchFamily="18" charset="0"/>
                                </a:rPr>
                                <m:t>𝑥</m:t>
                              </m:r>
                            </m:e>
                          </m:box>
                        </m:e>
                      </m:acc>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rPr>
                            <m:t>∑</m:t>
                          </m:r>
                          <m:r>
                            <a:rPr lang="en-US" sz="2200" i="1">
                              <a:latin typeface="Cambria Math" panose="02040503050406030204" pitchFamily="18" charset="0"/>
                            </a:rPr>
                            <m:t>𝑥</m:t>
                          </m:r>
                        </m:num>
                        <m:den>
                          <m:r>
                            <a:rPr lang="en-US" sz="2200" i="1">
                              <a:latin typeface="Cambria Math" panose="02040503050406030204" pitchFamily="18" charset="0"/>
                            </a:rPr>
                            <m:t>𝑛</m:t>
                          </m:r>
                        </m:den>
                      </m:f>
                      <m:r>
                        <a:rPr lang="en-US" sz="2200" i="1">
                          <a:latin typeface="Cambria Math" panose="02040503050406030204" pitchFamily="18" charset="0"/>
                        </a:rPr>
                        <m:t>=</m:t>
                      </m:r>
                      <m:f>
                        <m:fPr>
                          <m:ctrlPr>
                            <a:rPr lang="en-US" sz="2200" i="1">
                              <a:latin typeface="Cambria Math" panose="02040503050406030204" pitchFamily="18" charset="0"/>
                            </a:rPr>
                          </m:ctrlPr>
                        </m:fPr>
                        <m:num>
                          <m:r>
                            <a:rPr lang="en-US" sz="2200" b="0" i="1" smtClean="0">
                              <a:latin typeface="Cambria Math" panose="02040503050406030204" pitchFamily="18" charset="0"/>
                            </a:rPr>
                            <m:t>1237</m:t>
                          </m:r>
                        </m:num>
                        <m:den>
                          <m:r>
                            <a:rPr lang="en-US" sz="2200" b="0" i="1" smtClean="0">
                              <a:latin typeface="Cambria Math" panose="02040503050406030204" pitchFamily="18" charset="0"/>
                            </a:rPr>
                            <m:t>10</m:t>
                          </m:r>
                        </m:den>
                      </m:f>
                      <m:r>
                        <a:rPr lang="en-US" sz="2200" i="1">
                          <a:latin typeface="Cambria Math" panose="02040503050406030204" pitchFamily="18" charset="0"/>
                        </a:rPr>
                        <m:t>=1</m:t>
                      </m:r>
                      <m:r>
                        <a:rPr lang="en-US" sz="2200" b="0" i="1" smtClean="0">
                          <a:latin typeface="Cambria Math" panose="02040503050406030204" pitchFamily="18" charset="0"/>
                        </a:rPr>
                        <m:t>23.7</m:t>
                      </m:r>
                    </m:oMath>
                  </m:oMathPara>
                </a14:m>
                <a:endParaRPr lang="en-US" sz="2200" i="1"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Thus the mean lifetime (hours) of the sample is 123.7.</a:t>
                </a:r>
              </a:p>
              <a:p>
                <a:pPr marL="342900" indent="-342900" algn="just">
                  <a:lnSpc>
                    <a:spcPct val="100000"/>
                  </a:lnSpc>
                  <a:spcBef>
                    <a:spcPts val="600"/>
                  </a:spcBef>
                  <a:spcAft>
                    <a:spcPts val="600"/>
                  </a:spcAft>
                  <a:buFont typeface="Arial" panose="020B0604020202020204" pitchFamily="34" charset="0"/>
                  <a:buChar char="•"/>
                </a:pPr>
                <a:r>
                  <a:rPr lang="en-US" sz="2200" b="1" dirty="0">
                    <a:latin typeface="Arial" panose="020B0604020202020204" pitchFamily="34" charset="0"/>
                    <a:cs typeface="Arial" panose="020B0604020202020204" pitchFamily="34" charset="0"/>
                  </a:rPr>
                  <a:t>Population mean</a:t>
                </a:r>
                <a:r>
                  <a:rPr lang="en-US" sz="2200" dirty="0">
                    <a:latin typeface="Arial" panose="020B0604020202020204" pitchFamily="34" charset="0"/>
                    <a:cs typeface="Arial" panose="020B0604020202020204" pitchFamily="34" charset="0"/>
                  </a:rPr>
                  <a:t>: Suppose there are </a:t>
                </a:r>
                <a14:m>
                  <m:oMath xmlns:m="http://schemas.openxmlformats.org/officeDocument/2006/math">
                    <m:r>
                      <m:rPr>
                        <m:sty m:val="p"/>
                      </m:rPr>
                      <a:rPr lang="en-US" sz="2200">
                        <a:latin typeface="Cambria Math" panose="02040503050406030204" pitchFamily="18" charset="0"/>
                        <a:cs typeface="Arial" pitchFamily="34" charset="0"/>
                      </a:rPr>
                      <m:t>N</m:t>
                    </m:r>
                    <m:r>
                      <a:rPr lang="en-US" sz="2200">
                        <a:latin typeface="Cambria Math" panose="02040503050406030204" pitchFamily="18" charset="0"/>
                        <a:cs typeface="Arial" pitchFamily="34" charset="0"/>
                      </a:rPr>
                      <m:t> </m:t>
                    </m:r>
                  </m:oMath>
                </a14:m>
                <a:r>
                  <a:rPr lang="en-US" sz="2200" dirty="0">
                    <a:latin typeface="Arial" panose="020B0604020202020204" pitchFamily="34" charset="0"/>
                    <a:cs typeface="Arial" panose="020B0604020202020204" pitchFamily="34" charset="0"/>
                  </a:rPr>
                  <a:t>values </a:t>
                </a:r>
                <a14:m>
                  <m:oMath xmlns:m="http://schemas.openxmlformats.org/officeDocument/2006/math">
                    <m:sSub>
                      <m:sSubPr>
                        <m:ctrlPr>
                          <a:rPr lang="en-US" sz="2200" i="1">
                            <a:latin typeface="Cambria Math" panose="02040503050406030204" pitchFamily="18" charset="0"/>
                            <a:cs typeface="Arial" pitchFamily="34" charset="0"/>
                          </a:rPr>
                        </m:ctrlPr>
                      </m:sSubPr>
                      <m:e>
                        <m:r>
                          <a:rPr lang="en-US" sz="2200">
                            <a:latin typeface="Cambria Math" panose="02040503050406030204" pitchFamily="18" charset="0"/>
                            <a:cs typeface="Arial" pitchFamily="34" charset="0"/>
                          </a:rPr>
                          <m:t>𝑥</m:t>
                        </m:r>
                      </m:e>
                      <m:sub>
                        <m:r>
                          <a:rPr lang="en-US" sz="2200">
                            <a:latin typeface="Cambria Math" panose="02040503050406030204" pitchFamily="18" charset="0"/>
                            <a:cs typeface="Arial" pitchFamily="34" charset="0"/>
                          </a:rPr>
                          <m:t>1</m:t>
                        </m:r>
                      </m:sub>
                    </m:sSub>
                    <m:r>
                      <a:rPr lang="en-US" sz="2200">
                        <a:latin typeface="Cambria Math" panose="02040503050406030204" pitchFamily="18" charset="0"/>
                        <a:cs typeface="Arial" pitchFamily="34" charset="0"/>
                      </a:rPr>
                      <m:t>, </m:t>
                    </m:r>
                    <m:sSub>
                      <m:sSubPr>
                        <m:ctrlPr>
                          <a:rPr lang="en-US" sz="2200" i="1">
                            <a:latin typeface="Cambria Math" panose="02040503050406030204" pitchFamily="18" charset="0"/>
                            <a:cs typeface="Arial" pitchFamily="34" charset="0"/>
                          </a:rPr>
                        </m:ctrlPr>
                      </m:sSubPr>
                      <m:e>
                        <m:r>
                          <a:rPr lang="en-US" sz="2200">
                            <a:latin typeface="Cambria Math" panose="02040503050406030204" pitchFamily="18" charset="0"/>
                            <a:cs typeface="Arial" pitchFamily="34" charset="0"/>
                          </a:rPr>
                          <m:t>𝑥</m:t>
                        </m:r>
                      </m:e>
                      <m:sub>
                        <m:r>
                          <a:rPr lang="en-US" sz="2200">
                            <a:latin typeface="Cambria Math" panose="02040503050406030204" pitchFamily="18" charset="0"/>
                            <a:cs typeface="Arial" pitchFamily="34" charset="0"/>
                          </a:rPr>
                          <m:t>2</m:t>
                        </m:r>
                      </m:sub>
                    </m:sSub>
                    <m:r>
                      <a:rPr lang="en-US" sz="2200">
                        <a:latin typeface="Cambria Math" panose="02040503050406030204" pitchFamily="18" charset="0"/>
                        <a:cs typeface="Arial" pitchFamily="34" charset="0"/>
                      </a:rPr>
                      <m:t>, …,</m:t>
                    </m:r>
                    <m:sSub>
                      <m:sSubPr>
                        <m:ctrlPr>
                          <a:rPr lang="en-US" sz="2200" i="1">
                            <a:latin typeface="Cambria Math" panose="02040503050406030204" pitchFamily="18" charset="0"/>
                            <a:cs typeface="Arial" pitchFamily="34" charset="0"/>
                          </a:rPr>
                        </m:ctrlPr>
                      </m:sSubPr>
                      <m:e>
                        <m:r>
                          <a:rPr lang="en-US" sz="2200">
                            <a:latin typeface="Cambria Math" panose="02040503050406030204" pitchFamily="18" charset="0"/>
                            <a:cs typeface="Arial" pitchFamily="34" charset="0"/>
                          </a:rPr>
                          <m:t>𝑥</m:t>
                        </m:r>
                      </m:e>
                      <m:sub>
                        <m:r>
                          <m:rPr>
                            <m:sty m:val="p"/>
                          </m:rPr>
                          <a:rPr lang="en-US" sz="2200">
                            <a:latin typeface="Cambria Math" panose="02040503050406030204" pitchFamily="18" charset="0"/>
                            <a:cs typeface="Arial" pitchFamily="34" charset="0"/>
                          </a:rPr>
                          <m:t>N</m:t>
                        </m:r>
                      </m:sub>
                    </m:sSub>
                  </m:oMath>
                </a14:m>
                <a:r>
                  <a:rPr lang="en-US" sz="2200" dirty="0">
                    <a:latin typeface="Arial" panose="020B0604020202020204" pitchFamily="34" charset="0"/>
                    <a:cs typeface="Arial" panose="020B0604020202020204" pitchFamily="34" charset="0"/>
                  </a:rPr>
                  <a:t> for </a:t>
                </a:r>
                <a14:m>
                  <m:oMath xmlns:m="http://schemas.openxmlformats.org/officeDocument/2006/math">
                    <m:r>
                      <a:rPr lang="en-US" sz="2200">
                        <a:latin typeface="Cambria Math" panose="02040503050406030204" pitchFamily="18" charset="0"/>
                        <a:cs typeface="Arial" pitchFamily="34" charset="0"/>
                      </a:rPr>
                      <m:t>𝑥</m:t>
                    </m:r>
                  </m:oMath>
                </a14:m>
                <a:r>
                  <a:rPr lang="en-US" sz="2200" dirty="0">
                    <a:latin typeface="Arial" panose="020B0604020202020204" pitchFamily="34" charset="0"/>
                    <a:cs typeface="Arial" panose="020B0604020202020204" pitchFamily="34" charset="0"/>
                  </a:rPr>
                  <a:t> in the population, then the population mean </a:t>
                </a:r>
                <a14:m>
                  <m:oMath xmlns:m="http://schemas.openxmlformats.org/officeDocument/2006/math">
                    <m:r>
                      <a:rPr lang="en-US" sz="2200">
                        <a:latin typeface="Cambria Math" panose="02040503050406030204" pitchFamily="18" charset="0"/>
                        <a:cs typeface="Arial" pitchFamily="34" charset="0"/>
                      </a:rPr>
                      <m:t>𝜇</m:t>
                    </m:r>
                  </m:oMath>
                </a14:m>
                <a:r>
                  <a:rPr lang="en-US" sz="2200" dirty="0">
                    <a:latin typeface="Arial" panose="020B0604020202020204" pitchFamily="34" charset="0"/>
                    <a:cs typeface="Arial" panose="020B0604020202020204" pitchFamily="34" charset="0"/>
                  </a:rPr>
                  <a:t> is defined as </a:t>
                </a:r>
                <a14:m>
                  <m:oMath xmlns:m="http://schemas.openxmlformats.org/officeDocument/2006/math">
                    <m:r>
                      <a:rPr lang="en-US" sz="2200">
                        <a:latin typeface="Cambria Math" panose="02040503050406030204" pitchFamily="18" charset="0"/>
                        <a:cs typeface="Arial" pitchFamily="34" charset="0"/>
                      </a:rPr>
                      <m:t>𝜇</m:t>
                    </m:r>
                    <m:r>
                      <a:rPr lang="en-US" sz="2200">
                        <a:latin typeface="Cambria Math" panose="02040503050406030204" pitchFamily="18" charset="0"/>
                        <a:cs typeface="Arial" pitchFamily="34" charset="0"/>
                      </a:rPr>
                      <m:t>=</m:t>
                    </m:r>
                    <m:f>
                      <m:fPr>
                        <m:ctrlPr>
                          <a:rPr lang="en-US" sz="2200" i="1">
                            <a:latin typeface="Cambria Math" panose="02040503050406030204" pitchFamily="18" charset="0"/>
                            <a:cs typeface="Arial" pitchFamily="34" charset="0"/>
                          </a:rPr>
                        </m:ctrlPr>
                      </m:fPr>
                      <m:num>
                        <m:r>
                          <a:rPr lang="en-US" sz="2200">
                            <a:latin typeface="Cambria Math" panose="02040503050406030204" pitchFamily="18" charset="0"/>
                            <a:cs typeface="Arial" pitchFamily="34" charset="0"/>
                          </a:rPr>
                          <m:t>∑</m:t>
                        </m:r>
                        <m:r>
                          <a:rPr lang="en-US" sz="2200">
                            <a:latin typeface="Cambria Math" panose="02040503050406030204" pitchFamily="18" charset="0"/>
                            <a:cs typeface="Arial" pitchFamily="34" charset="0"/>
                          </a:rPr>
                          <m:t>𝑥</m:t>
                        </m:r>
                      </m:num>
                      <m:den>
                        <m:r>
                          <a:rPr lang="en-US" sz="2200">
                            <a:latin typeface="Cambria Math" panose="02040503050406030204" pitchFamily="18" charset="0"/>
                            <a:cs typeface="Arial" pitchFamily="34" charset="0"/>
                          </a:rPr>
                          <m:t>𝑁</m:t>
                        </m:r>
                      </m:den>
                    </m:f>
                    <m:r>
                      <a:rPr lang="en-US" sz="2200">
                        <a:latin typeface="Cambria Math" panose="02040503050406030204" pitchFamily="18" charset="0"/>
                        <a:cs typeface="Arial" pitchFamily="34" charset="0"/>
                      </a:rPr>
                      <m:t>.</m:t>
                    </m:r>
                  </m:oMath>
                </a14:m>
                <a:r>
                  <a:rPr lang="en-US" sz="2200" dirty="0">
                    <a:latin typeface="Arial" panose="020B0604020202020204" pitchFamily="34" charset="0"/>
                    <a:cs typeface="Arial" panose="020B0604020202020204" pitchFamily="34" charset="0"/>
                  </a:rPr>
                  <a:t> </a:t>
                </a:r>
              </a:p>
              <a:p>
                <a:pPr marL="742950" lvl="1" indent="-285750" algn="just">
                  <a:lnSpc>
                    <a:spcPct val="10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Any measurable characteristic of a population is called a parameter. </a:t>
                </a:r>
              </a:p>
              <a:p>
                <a:pPr marL="742950" lvl="1" indent="-285750" algn="just">
                  <a:lnSpc>
                    <a:spcPct val="100000"/>
                  </a:lnSpc>
                  <a:buFont typeface="Wingdings" panose="05000000000000000000" pitchFamily="2" charset="2"/>
                  <a:buChar char="ü"/>
                </a:pPr>
                <a:r>
                  <a:rPr lang="en-US" sz="2200" dirty="0">
                    <a:latin typeface="Arial" panose="020B0604020202020204" pitchFamily="34" charset="0"/>
                    <a:cs typeface="Arial" panose="020B0604020202020204" pitchFamily="34" charset="0"/>
                  </a:rPr>
                  <a:t>Population mean </a:t>
                </a:r>
                <a14:m>
                  <m:oMath xmlns:m="http://schemas.openxmlformats.org/officeDocument/2006/math">
                    <m:r>
                      <a:rPr lang="en-US" sz="2200">
                        <a:latin typeface="Cambria Math" panose="02040503050406030204" pitchFamily="18" charset="0"/>
                        <a:cs typeface="Arial" pitchFamily="34" charset="0"/>
                      </a:rPr>
                      <m:t>𝜇</m:t>
                    </m:r>
                  </m:oMath>
                </a14:m>
                <a:r>
                  <a:rPr lang="en-US" sz="2200" dirty="0">
                    <a:latin typeface="Arial" panose="020B0604020202020204" pitchFamily="34" charset="0"/>
                    <a:cs typeface="Arial" panose="020B0604020202020204" pitchFamily="34" charset="0"/>
                  </a:rPr>
                  <a:t> is a parameter. </a:t>
                </a:r>
              </a:p>
              <a:p>
                <a:pPr marL="285750" indent="-285750" algn="just">
                  <a:lnSpc>
                    <a:spcPct val="100000"/>
                  </a:lnSpc>
                  <a:buFont typeface="Arial" panose="020B0604020202020204" pitchFamily="34" charset="0"/>
                  <a:buChar char="•"/>
                </a:pPr>
                <a:r>
                  <a:rPr lang="en-US" sz="2200" dirty="0">
                    <a:latin typeface="Arial" panose="020B0604020202020204" pitchFamily="34" charset="0"/>
                    <a:cs typeface="Arial" panose="020B0604020202020204" pitchFamily="34" charset="0"/>
                  </a:rPr>
                  <a:t>Arithmetic mean (AM) for grouped data:</a:t>
                </a:r>
              </a:p>
              <a:p>
                <a:pPr>
                  <a:lnSpc>
                    <a:spcPct val="100000"/>
                  </a:lnSpc>
                </a:pPr>
                <a:r>
                  <a:rPr lang="en-GB" sz="2200" dirty="0">
                    <a:latin typeface="Arial" pitchFamily="34" charset="0"/>
                    <a:cs typeface="Arial" pitchFamily="34" charset="0"/>
                  </a:rPr>
                  <a:t>Mid-values: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b="0" i="1" smtClean="0">
                            <a:latin typeface="Cambria Math" panose="02040503050406030204" pitchFamily="18" charset="0"/>
                          </a:rPr>
                          <m:t>𝑘</m:t>
                        </m:r>
                      </m:sub>
                    </m:sSub>
                  </m:oMath>
                </a14:m>
                <a:endParaRPr lang="en-GB" sz="2200" dirty="0">
                  <a:latin typeface="Arial" pitchFamily="34" charset="0"/>
                  <a:cs typeface="Arial" pitchFamily="34" charset="0"/>
                </a:endParaRPr>
              </a:p>
              <a:p>
                <a:pPr>
                  <a:lnSpc>
                    <a:spcPct val="100000"/>
                  </a:lnSpc>
                </a:pPr>
                <a:r>
                  <a:rPr lang="en-GB" sz="2200" dirty="0">
                    <a:latin typeface="Arial" pitchFamily="34" charset="0"/>
                    <a:cs typeface="Arial" pitchFamily="34" charset="0"/>
                  </a:rPr>
                  <a:t>Frequencies: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𝑓</m:t>
                        </m:r>
                      </m:e>
                      <m:sub>
                        <m:r>
                          <a:rPr lang="en-US" sz="2200" i="1">
                            <a:latin typeface="Cambria Math" panose="02040503050406030204" pitchFamily="18" charset="0"/>
                          </a:rPr>
                          <m:t>1</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𝑓</m:t>
                        </m:r>
                      </m:e>
                      <m:sub>
                        <m:r>
                          <a:rPr lang="en-US" sz="2200" i="1">
                            <a:latin typeface="Cambria Math" panose="02040503050406030204" pitchFamily="18" charset="0"/>
                          </a:rPr>
                          <m:t>2</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𝑓</m:t>
                        </m:r>
                      </m:e>
                      <m:sub>
                        <m:r>
                          <a:rPr lang="en-US" sz="2200" b="0" i="1" smtClean="0">
                            <a:latin typeface="Cambria Math" panose="02040503050406030204" pitchFamily="18" charset="0"/>
                          </a:rPr>
                          <m:t>𝑘</m:t>
                        </m:r>
                      </m:sub>
                    </m:sSub>
                  </m:oMath>
                </a14:m>
                <a:endParaRPr lang="en-GB" sz="2200" dirty="0">
                  <a:latin typeface="Arial" pitchFamily="34" charset="0"/>
                  <a:cs typeface="Arial" pitchFamily="34" charset="0"/>
                </a:endParaRPr>
              </a:p>
              <a:p>
                <a:pPr marL="342900" indent="-342900" algn="just">
                  <a:lnSpc>
                    <a:spcPct val="100000"/>
                  </a:lnSpc>
                  <a:spcBef>
                    <a:spcPts val="600"/>
                  </a:spcBef>
                  <a:spcAft>
                    <a:spcPts val="600"/>
                  </a:spcAft>
                  <a:buFont typeface="Arial" panose="020B0604020202020204" pitchFamily="34" charset="0"/>
                  <a:buChar char="•"/>
                </a:pPr>
                <a:r>
                  <a:rPr lang="en-US" sz="2200" dirty="0">
                    <a:latin typeface="Arial" panose="020B0604020202020204" pitchFamily="34" charset="0"/>
                    <a:cs typeface="Arial" panose="020B0604020202020204" pitchFamily="34" charset="0"/>
                  </a:rPr>
                  <a:t>Then the </a:t>
                </a:r>
                <a14:m>
                  <m:oMath xmlns:m="http://schemas.openxmlformats.org/officeDocument/2006/math">
                    <m:acc>
                      <m:accPr>
                        <m:chr m:val="̅"/>
                        <m:ctrlPr>
                          <a:rPr lang="en-US" sz="2200" i="1">
                            <a:latin typeface="Cambria Math" panose="02040503050406030204" pitchFamily="18" charset="0"/>
                            <a:cs typeface="Arial" panose="020B0604020202020204" pitchFamily="34" charset="0"/>
                          </a:rPr>
                        </m:ctrlPr>
                      </m:accPr>
                      <m:e>
                        <m:r>
                          <a:rPr lang="en-US" sz="2200">
                            <a:latin typeface="Cambria Math" panose="02040503050406030204" pitchFamily="18" charset="0"/>
                            <a:cs typeface="Arial" panose="020B0604020202020204" pitchFamily="34" charset="0"/>
                          </a:rPr>
                          <m:t>𝑥</m:t>
                        </m:r>
                      </m:e>
                    </m:acc>
                  </m:oMath>
                </a14:m>
                <a:r>
                  <a:rPr lang="en-US" sz="2200" dirty="0">
                    <a:latin typeface="Arial" panose="020B0604020202020204" pitchFamily="34" charset="0"/>
                    <a:cs typeface="Arial" panose="020B0604020202020204" pitchFamily="34" charset="0"/>
                  </a:rPr>
                  <a:t> for grouped data is defined as </a:t>
                </a:r>
                <a14:m>
                  <m:oMath xmlns:m="http://schemas.openxmlformats.org/officeDocument/2006/math">
                    <m:acc>
                      <m:accPr>
                        <m:chr m:val="̅"/>
                        <m:ctrlPr>
                          <a:rPr lang="en-US" sz="2200" i="1" smtClean="0">
                            <a:latin typeface="Cambria Math" panose="02040503050406030204" pitchFamily="18" charset="0"/>
                            <a:cs typeface="Arial" panose="020B0604020202020204" pitchFamily="34" charset="0"/>
                          </a:rPr>
                        </m:ctrlPr>
                      </m:accPr>
                      <m:e>
                        <m:r>
                          <a:rPr lang="en-US" sz="2200" b="0" i="1" smtClean="0">
                            <a:latin typeface="Cambria Math" panose="02040503050406030204" pitchFamily="18" charset="0"/>
                            <a:cs typeface="Arial" panose="020B0604020202020204" pitchFamily="34" charset="0"/>
                          </a:rPr>
                          <m:t>𝑥</m:t>
                        </m:r>
                      </m:e>
                    </m:acc>
                    <m:r>
                      <a:rPr lang="en-US" sz="2200" b="0" i="1" smtClean="0">
                        <a:latin typeface="Cambria Math" panose="02040503050406030204" pitchFamily="18" charset="0"/>
                        <a:cs typeface="Arial" panose="020B0604020202020204" pitchFamily="34" charset="0"/>
                      </a:rPr>
                      <m:t>=</m:t>
                    </m:r>
                    <m:f>
                      <m:fPr>
                        <m:ctrlPr>
                          <a:rPr lang="en-US" sz="2200" b="0" i="1" smtClean="0">
                            <a:latin typeface="Cambria Math" panose="02040503050406030204" pitchFamily="18" charset="0"/>
                            <a:cs typeface="Arial" panose="020B0604020202020204" pitchFamily="34" charset="0"/>
                          </a:rPr>
                        </m:ctrlPr>
                      </m:fPr>
                      <m:num>
                        <m:nary>
                          <m:naryPr>
                            <m:chr m:val="∑"/>
                            <m:subHide m:val="on"/>
                            <m:supHide m:val="on"/>
                            <m:ctrlPr>
                              <a:rPr lang="en-US" sz="2200" b="0" i="1" smtClean="0">
                                <a:latin typeface="Cambria Math" panose="02040503050406030204" pitchFamily="18" charset="0"/>
                                <a:cs typeface="Arial" panose="020B0604020202020204" pitchFamily="34" charset="0"/>
                              </a:rPr>
                            </m:ctrlPr>
                          </m:naryPr>
                          <m:sub/>
                          <m:sup/>
                          <m:e>
                            <m:r>
                              <a:rPr lang="en-US" sz="2200" b="0" i="1" smtClean="0">
                                <a:latin typeface="Cambria Math" panose="02040503050406030204" pitchFamily="18" charset="0"/>
                                <a:cs typeface="Arial" panose="020B0604020202020204" pitchFamily="34" charset="0"/>
                              </a:rPr>
                              <m:t>𝑓𝑥</m:t>
                            </m:r>
                          </m:e>
                        </m:nary>
                      </m:num>
                      <m:den>
                        <m:r>
                          <a:rPr lang="en-US" sz="2200" b="0" i="1" smtClean="0">
                            <a:latin typeface="Cambria Math" panose="02040503050406030204" pitchFamily="18" charset="0"/>
                            <a:cs typeface="Arial" panose="020B0604020202020204" pitchFamily="34" charset="0"/>
                          </a:rPr>
                          <m:t>𝑛</m:t>
                        </m:r>
                      </m:den>
                    </m:f>
                  </m:oMath>
                </a14:m>
                <a:r>
                  <a:rPr lang="en-US" sz="2200" dirty="0"/>
                  <a:t>, where </a:t>
                </a:r>
                <a14:m>
                  <m:oMath xmlns:m="http://schemas.openxmlformats.org/officeDocument/2006/math">
                    <m:r>
                      <a:rPr lang="en-US" sz="2200" b="0" i="1" smtClean="0">
                        <a:latin typeface="Cambria Math" panose="02040503050406030204" pitchFamily="18" charset="0"/>
                      </a:rPr>
                      <m:t>𝑛</m:t>
                    </m:r>
                    <m:r>
                      <a:rPr lang="en-US" sz="2200" b="0" i="1" smtClean="0">
                        <a:latin typeface="Cambria Math" panose="02040503050406030204" pitchFamily="18" charset="0"/>
                      </a:rPr>
                      <m:t>=</m:t>
                    </m:r>
                    <m:nary>
                      <m:naryPr>
                        <m:chr m:val="∑"/>
                        <m:subHide m:val="on"/>
                        <m:supHide m:val="on"/>
                        <m:ctrlPr>
                          <a:rPr lang="en-US" sz="2200" b="0" i="1" smtClean="0">
                            <a:latin typeface="Cambria Math" panose="02040503050406030204" pitchFamily="18" charset="0"/>
                          </a:rPr>
                        </m:ctrlPr>
                      </m:naryPr>
                      <m:sub/>
                      <m:sup/>
                      <m:e>
                        <m:r>
                          <a:rPr lang="en-US" sz="2200" b="0" i="1" smtClean="0">
                            <a:latin typeface="Cambria Math" panose="02040503050406030204" pitchFamily="18" charset="0"/>
                          </a:rPr>
                          <m:t>𝑓</m:t>
                        </m:r>
                      </m:e>
                    </m:nary>
                  </m:oMath>
                </a14:m>
                <a:r>
                  <a:rPr lang="en-US" sz="2200" dirty="0"/>
                  <a:t>.</a:t>
                </a:r>
                <a:endParaRPr lang="en-US" sz="2200" dirty="0">
                  <a:latin typeface="Arial" panose="020B0604020202020204" pitchFamily="34" charset="0"/>
                  <a:cs typeface="Arial" panose="020B0604020202020204" pitchFamily="34" charset="0"/>
                </a:endParaRPr>
              </a:p>
              <a:p>
                <a:pPr marL="342900" indent="-342900" algn="just">
                  <a:lnSpc>
                    <a:spcPct val="100000"/>
                  </a:lnSpc>
                  <a:spcBef>
                    <a:spcPts val="600"/>
                  </a:spcBef>
                  <a:spcAft>
                    <a:spcPts val="600"/>
                  </a:spcAft>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1155728"/>
                <a:ext cx="10831132" cy="5302824"/>
              </a:xfrm>
              <a:blipFill>
                <a:blip r:embed="rId2"/>
                <a:stretch>
                  <a:fillRect l="-675" t="-690" r="-732" b="-230"/>
                </a:stretch>
              </a:blipFill>
            </p:spPr>
            <p:txBody>
              <a:bodyPr/>
              <a:lstStyle/>
              <a:p>
                <a:r>
                  <a:rPr lang="en-US">
                    <a:noFill/>
                  </a:rPr>
                  <a:t> </a:t>
                </a:r>
              </a:p>
            </p:txBody>
          </p:sp>
        </mc:Fallback>
      </mc:AlternateContent>
    </p:spTree>
    <p:extLst>
      <p:ext uri="{BB962C8B-B14F-4D97-AF65-F5344CB8AC3E}">
        <p14:creationId xmlns:p14="http://schemas.microsoft.com/office/powerpoint/2010/main" val="2924502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15342"/>
            <a:ext cx="9144000" cy="605308"/>
          </a:xfrm>
        </p:spPr>
        <p:txBody>
          <a:bodyPr>
            <a:noAutofit/>
          </a:bodyPr>
          <a:lstStyle/>
          <a:p>
            <a:r>
              <a:rPr lang="en-US" sz="2400" b="1" dirty="0">
                <a:latin typeface="Arial" pitchFamily="34" charset="0"/>
                <a:cs typeface="Arial" pitchFamily="34" charset="0"/>
              </a:rPr>
              <a:t>Mean (</a:t>
            </a:r>
            <a:r>
              <a:rPr lang="en-US" sz="2400" b="1" dirty="0" err="1">
                <a:latin typeface="Arial" pitchFamily="34" charset="0"/>
                <a:cs typeface="Arial" pitchFamily="34" charset="0"/>
              </a:rPr>
              <a:t>cont</a:t>
            </a:r>
            <a:r>
              <a:rPr lang="en-US" sz="2400" b="1" dirty="0">
                <a:latin typeface="Arial" pitchFamily="34" charset="0"/>
                <a:cs typeface="Arial"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2581" y="590954"/>
                <a:ext cx="10831132" cy="6267046"/>
              </a:xfrm>
            </p:spPr>
            <p:txBody>
              <a:bodyPr>
                <a:noAutofit/>
              </a:bodyPr>
              <a:lstStyle/>
              <a:p>
                <a:pPr marL="285750" indent="-285750" algn="just">
                  <a:lnSpc>
                    <a:spcPct val="100000"/>
                  </a:lnSpc>
                  <a:buFont typeface="Arial" panose="020B0604020202020204" pitchFamily="34" charset="0"/>
                  <a:buChar char="•"/>
                </a:pPr>
                <a:r>
                  <a:rPr lang="en-US" sz="1800" dirty="0">
                    <a:latin typeface="Arial" panose="020B0604020202020204" pitchFamily="34" charset="0"/>
                    <a:cs typeface="Arial" panose="020B0604020202020204" pitchFamily="34" charset="0"/>
                  </a:rPr>
                  <a:t>The following frequency distribution shows the frequency distribution of ages of 150 subjects</a:t>
                </a:r>
              </a:p>
              <a:p>
                <a:pPr>
                  <a:lnSpc>
                    <a:spcPct val="100000"/>
                  </a:lnSpc>
                </a:pPr>
                <a:r>
                  <a:rPr lang="en-US" sz="1800" dirty="0">
                    <a:latin typeface="Arial" panose="020B0604020202020204" pitchFamily="34" charset="0"/>
                    <a:cs typeface="Arial" panose="020B0604020202020204" pitchFamily="34" charset="0"/>
                  </a:rPr>
                  <a:t>Table: Frequency distribution of ages of 150 subjects</a:t>
                </a:r>
              </a:p>
              <a:p>
                <a:pPr marL="285750" indent="-285750" algn="just">
                  <a:lnSpc>
                    <a:spcPct val="10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algn="just">
                  <a:lnSpc>
                    <a:spcPct val="100000"/>
                  </a:lnSpc>
                </a:pPr>
                <a:endParaRPr lang="en-US" sz="1800" dirty="0">
                  <a:latin typeface="Arial" panose="020B0604020202020204" pitchFamily="34" charset="0"/>
                  <a:cs typeface="Arial" panose="020B0604020202020204" pitchFamily="34" charset="0"/>
                </a:endParaRPr>
              </a:p>
              <a:p>
                <a:pPr algn="just">
                  <a:lnSpc>
                    <a:spcPct val="100000"/>
                  </a:lnSpc>
                </a:pPr>
                <a:endParaRPr lang="en-US" sz="18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1800" dirty="0">
                    <a:latin typeface="Arial" panose="020B0604020202020204" pitchFamily="34" charset="0"/>
                    <a:cs typeface="Arial" panose="020B0604020202020204" pitchFamily="34" charset="0"/>
                  </a:rPr>
                  <a:t>To compute the mean (arithmetic mean), we have constructed the following table</a:t>
                </a: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endParaRPr lang="en-US" sz="1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mean (arithmetic mean) is calculated as</a:t>
                </a:r>
                <a14:m>
                  <m:oMath xmlns:m="http://schemas.openxmlformats.org/officeDocument/2006/math">
                    <m:acc>
                      <m:accPr>
                        <m:chr m:val="̅"/>
                        <m:ctrlPr>
                          <a:rPr lang="en-US" sz="2000" i="1">
                            <a:latin typeface="Cambria Math" panose="02040503050406030204" pitchFamily="18" charset="0"/>
                            <a:cs typeface="Arial" panose="020B0604020202020204" pitchFamily="34" charset="0"/>
                          </a:rPr>
                        </m:ctrlPr>
                      </m:accPr>
                      <m:e>
                        <m:r>
                          <a:rPr lang="en-US" sz="2000" i="1">
                            <a:latin typeface="Cambria Math" panose="02040503050406030204" pitchFamily="18" charset="0"/>
                            <a:cs typeface="Arial" panose="020B0604020202020204" pitchFamily="34" charset="0"/>
                          </a:rPr>
                          <m:t>𝑥</m:t>
                        </m:r>
                      </m:e>
                    </m:acc>
                    <m:r>
                      <a:rPr lang="en-US" sz="2000" i="1">
                        <a:latin typeface="Cambria Math" panose="02040503050406030204" pitchFamily="18" charset="0"/>
                        <a:cs typeface="Arial" panose="020B0604020202020204" pitchFamily="34" charset="0"/>
                      </a:rPr>
                      <m:t>=</m:t>
                    </m:r>
                    <m:f>
                      <m:fPr>
                        <m:ctrlPr>
                          <a:rPr lang="en-US" sz="2000" i="1">
                            <a:latin typeface="Cambria Math" panose="02040503050406030204" pitchFamily="18" charset="0"/>
                            <a:cs typeface="Arial" panose="020B0604020202020204" pitchFamily="34" charset="0"/>
                          </a:rPr>
                        </m:ctrlPr>
                      </m:fPr>
                      <m:num>
                        <m:nary>
                          <m:naryPr>
                            <m:chr m:val="∑"/>
                            <m:subHide m:val="on"/>
                            <m:supHide m:val="on"/>
                            <m:ctrlPr>
                              <a:rPr lang="en-US" sz="2000" i="1">
                                <a:latin typeface="Cambria Math" panose="02040503050406030204" pitchFamily="18" charset="0"/>
                                <a:cs typeface="Arial" panose="020B0604020202020204" pitchFamily="34" charset="0"/>
                              </a:rPr>
                            </m:ctrlPr>
                          </m:naryPr>
                          <m:sub/>
                          <m:sup/>
                          <m:e>
                            <m:r>
                              <a:rPr lang="en-US" sz="2000" i="1">
                                <a:latin typeface="Cambria Math" panose="02040503050406030204" pitchFamily="18" charset="0"/>
                                <a:cs typeface="Arial" panose="020B0604020202020204" pitchFamily="34" charset="0"/>
                              </a:rPr>
                              <m:t>𝑓𝑥</m:t>
                            </m:r>
                          </m:e>
                        </m:nary>
                      </m:num>
                      <m:den>
                        <m:r>
                          <a:rPr lang="en-US" sz="2000" i="1">
                            <a:latin typeface="Cambria Math" panose="02040503050406030204" pitchFamily="18" charset="0"/>
                            <a:cs typeface="Arial" panose="020B0604020202020204" pitchFamily="34" charset="0"/>
                          </a:rPr>
                          <m:t>𝑛</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b="0" i="1" smtClean="0">
                            <a:latin typeface="Cambria Math" panose="02040503050406030204" pitchFamily="18" charset="0"/>
                          </a:rPr>
                          <m:t>6225</m:t>
                        </m:r>
                      </m:num>
                      <m:den>
                        <m:r>
                          <a:rPr lang="en-US" sz="2000" i="1">
                            <a:latin typeface="Cambria Math" panose="02040503050406030204" pitchFamily="18" charset="0"/>
                          </a:rPr>
                          <m:t>1</m:t>
                        </m:r>
                        <m:r>
                          <a:rPr lang="en-US" sz="2000" b="0" i="1" smtClean="0">
                            <a:latin typeface="Cambria Math" panose="02040503050406030204" pitchFamily="18" charset="0"/>
                          </a:rPr>
                          <m:t>5</m:t>
                        </m:r>
                        <m:r>
                          <a:rPr lang="en-US" sz="2000" i="1">
                            <a:latin typeface="Cambria Math" panose="02040503050406030204" pitchFamily="18" charset="0"/>
                          </a:rPr>
                          <m:t>0</m:t>
                        </m:r>
                      </m:den>
                    </m:f>
                    <m:r>
                      <a:rPr lang="en-US" sz="2000" i="1">
                        <a:latin typeface="Cambria Math" panose="02040503050406030204" pitchFamily="18" charset="0"/>
                      </a:rPr>
                      <m:t>=4</m:t>
                    </m:r>
                    <m:r>
                      <a:rPr lang="en-US" sz="2000" b="0" i="1" smtClean="0">
                        <a:latin typeface="Cambria Math" panose="02040503050406030204" pitchFamily="18" charset="0"/>
                      </a:rPr>
                      <m:t>1.</m:t>
                    </m:r>
                    <m:r>
                      <a:rPr lang="en-US" sz="2000" i="1">
                        <a:latin typeface="Cambria Math" panose="02040503050406030204" pitchFamily="18" charset="0"/>
                      </a:rPr>
                      <m:t>5</m:t>
                    </m:r>
                  </m:oMath>
                </a14:m>
                <a:r>
                  <a:rPr lang="en-US" sz="2000" dirty="0">
                    <a:latin typeface="Arial" panose="020B0604020202020204" pitchFamily="34" charset="0"/>
                    <a:cs typeface="Arial" panose="020B0604020202020204" pitchFamily="34" charset="0"/>
                  </a:rPr>
                  <a:t> </a:t>
                </a:r>
              </a:p>
              <a:p>
                <a:pPr marL="285750" indent="-285750" algn="just">
                  <a:lnSpc>
                    <a:spcPct val="10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2581" y="590954"/>
                <a:ext cx="10831132" cy="6267046"/>
              </a:xfrm>
              <a:blipFill>
                <a:blip r:embed="rId2"/>
                <a:stretch>
                  <a:fillRect l="-506" t="-584"/>
                </a:stretch>
              </a:blipFill>
            </p:spPr>
            <p:txBody>
              <a:bodyPr/>
              <a:lstStyle/>
              <a:p>
                <a:r>
                  <a:rPr lang="en-US">
                    <a:noFill/>
                  </a:rPr>
                  <a:t> </a:t>
                </a:r>
              </a:p>
            </p:txBody>
          </p:sp>
        </mc:Fallback>
      </mc:AlternateContent>
      <p:graphicFrame>
        <p:nvGraphicFramePr>
          <p:cNvPr id="5" name="Table 4"/>
          <p:cNvGraphicFramePr>
            <a:graphicFrameLocks noGrp="1"/>
          </p:cNvGraphicFramePr>
          <p:nvPr>
            <p:extLst>
              <p:ext uri="{D42A27DB-BD31-4B8C-83A1-F6EECF244321}">
                <p14:modId xmlns:p14="http://schemas.microsoft.com/office/powerpoint/2010/main" val="3747326497"/>
              </p:ext>
            </p:extLst>
          </p:nvPr>
        </p:nvGraphicFramePr>
        <p:xfrm>
          <a:off x="4395019" y="1330384"/>
          <a:ext cx="3208940" cy="1935020"/>
        </p:xfrm>
        <a:graphic>
          <a:graphicData uri="http://schemas.openxmlformats.org/drawingml/2006/table">
            <a:tbl>
              <a:tblPr firstRow="1" firstCol="1" bandRow="1"/>
              <a:tblGrid>
                <a:gridCol w="1760462">
                  <a:extLst>
                    <a:ext uri="{9D8B030D-6E8A-4147-A177-3AD203B41FA5}">
                      <a16:colId xmlns:a16="http://schemas.microsoft.com/office/drawing/2014/main" val="20000"/>
                    </a:ext>
                  </a:extLst>
                </a:gridCol>
                <a:gridCol w="1448478">
                  <a:extLst>
                    <a:ext uri="{9D8B030D-6E8A-4147-A177-3AD203B41FA5}">
                      <a16:colId xmlns:a16="http://schemas.microsoft.com/office/drawing/2014/main" val="20001"/>
                    </a:ext>
                  </a:extLst>
                </a:gridCol>
              </a:tblGrid>
              <a:tr h="491665">
                <a:tc>
                  <a:txBody>
                    <a:bodyPr/>
                    <a:lstStyle/>
                    <a:p>
                      <a:pPr marL="0" marR="0" algn="just">
                        <a:lnSpc>
                          <a:spcPct val="115000"/>
                        </a:lnSpc>
                        <a:spcBef>
                          <a:spcPts val="0"/>
                        </a:spcBef>
                        <a:spcAft>
                          <a:spcPts val="0"/>
                        </a:spcAft>
                      </a:pPr>
                      <a:r>
                        <a:rPr lang="en-US" sz="1800" dirty="0">
                          <a:effectLst/>
                          <a:latin typeface="Arial" panose="020B0604020202020204" pitchFamily="34" charset="0"/>
                          <a:ea typeface="Calibri" panose="020F0502020204030204" pitchFamily="34" charset="0"/>
                          <a:cs typeface="Arial" panose="020B0604020202020204" pitchFamily="34" charset="0"/>
                        </a:rPr>
                        <a:t>Age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a:effectLst/>
                          <a:latin typeface="Arial" panose="020B0604020202020204" pitchFamily="34" charset="0"/>
                          <a:ea typeface="Calibri" panose="020F0502020204030204" pitchFamily="34" charset="0"/>
                          <a:cs typeface="Arial" panose="020B0604020202020204" pitchFamily="34" charset="0"/>
                        </a:rPr>
                        <a:t>Frequency</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45832">
                <a:tc>
                  <a:txBody>
                    <a:bodyPr/>
                    <a:lstStyle/>
                    <a:p>
                      <a:pPr marL="0" marR="0" algn="just">
                        <a:lnSpc>
                          <a:spcPct val="115000"/>
                        </a:lnSpc>
                        <a:spcBef>
                          <a:spcPts val="0"/>
                        </a:spcBef>
                        <a:spcAft>
                          <a:spcPts val="0"/>
                        </a:spcAft>
                      </a:pPr>
                      <a:r>
                        <a:rPr lang="en-US" sz="1800" dirty="0">
                          <a:effectLst/>
                          <a:latin typeface="Arial" panose="020B0604020202020204" pitchFamily="34" charset="0"/>
                          <a:ea typeface="Calibri" panose="020F0502020204030204" pitchFamily="34" charset="0"/>
                          <a:cs typeface="Arial" panose="020B0604020202020204" pitchFamily="34" charset="0"/>
                        </a:rPr>
                        <a:t>11-20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just">
                        <a:lnSpc>
                          <a:spcPct val="115000"/>
                        </a:lnSpc>
                        <a:spcBef>
                          <a:spcPts val="0"/>
                        </a:spcBef>
                        <a:spcAft>
                          <a:spcPts val="0"/>
                        </a:spcAft>
                      </a:pPr>
                      <a:r>
                        <a:rPr lang="en-US" sz="1800" dirty="0">
                          <a:effectLst/>
                          <a:latin typeface="Arial" panose="020B0604020202020204" pitchFamily="34" charset="0"/>
                          <a:ea typeface="Calibri" panose="020F0502020204030204" pitchFamily="34" charset="0"/>
                          <a:cs typeface="Arial" panose="020B0604020202020204" pitchFamily="34" charset="0"/>
                        </a:rPr>
                        <a:t>5</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45832">
                <a:tc>
                  <a:txBody>
                    <a:bodyPr/>
                    <a:lstStyle/>
                    <a:p>
                      <a:pPr marL="0" marR="0" algn="just">
                        <a:lnSpc>
                          <a:spcPct val="115000"/>
                        </a:lnSpc>
                        <a:spcBef>
                          <a:spcPts val="0"/>
                        </a:spcBef>
                        <a:spcAft>
                          <a:spcPts val="0"/>
                        </a:spcAft>
                      </a:pPr>
                      <a:r>
                        <a:rPr lang="en-US" sz="1800">
                          <a:effectLst/>
                          <a:latin typeface="Arial" panose="020B0604020202020204" pitchFamily="34" charset="0"/>
                          <a:ea typeface="Calibri" panose="020F0502020204030204" pitchFamily="34" charset="0"/>
                          <a:cs typeface="Arial" panose="020B0604020202020204" pitchFamily="34" charset="0"/>
                        </a:rPr>
                        <a:t>21-30</a:t>
                      </a:r>
                    </a:p>
                  </a:txBody>
                  <a:tcPr marL="68580" marR="68580" marT="0" marB="0">
                    <a:lnL>
                      <a:noFill/>
                    </a:lnL>
                    <a:lnR>
                      <a:noFill/>
                    </a:lnR>
                    <a:lnT>
                      <a:noFill/>
                    </a:lnT>
                    <a:lnB>
                      <a:noFill/>
                    </a:lnB>
                  </a:tcPr>
                </a:tc>
                <a:tc>
                  <a:txBody>
                    <a:bodyPr/>
                    <a:lstStyle/>
                    <a:p>
                      <a:pPr marL="0" marR="0" algn="just">
                        <a:lnSpc>
                          <a:spcPct val="115000"/>
                        </a:lnSpc>
                        <a:spcBef>
                          <a:spcPts val="0"/>
                        </a:spcBef>
                        <a:spcAft>
                          <a:spcPts val="0"/>
                        </a:spcAft>
                      </a:pPr>
                      <a:r>
                        <a:rPr lang="en-US" sz="1800" dirty="0">
                          <a:effectLst/>
                          <a:latin typeface="Arial" panose="020B0604020202020204" pitchFamily="34" charset="0"/>
                          <a:ea typeface="Calibri" panose="020F0502020204030204" pitchFamily="34" charset="0"/>
                          <a:cs typeface="Arial" panose="020B0604020202020204" pitchFamily="34" charset="0"/>
                        </a:rPr>
                        <a:t>15</a:t>
                      </a:r>
                    </a:p>
                  </a:txBody>
                  <a:tcPr marL="68580" marR="68580" marT="0" marB="0">
                    <a:lnL>
                      <a:noFill/>
                    </a:lnL>
                    <a:lnR>
                      <a:noFill/>
                    </a:lnR>
                    <a:lnT>
                      <a:noFill/>
                    </a:lnT>
                    <a:lnB>
                      <a:noFill/>
                    </a:lnB>
                  </a:tcPr>
                </a:tc>
                <a:extLst>
                  <a:ext uri="{0D108BD9-81ED-4DB2-BD59-A6C34878D82A}">
                    <a16:rowId xmlns:a16="http://schemas.microsoft.com/office/drawing/2014/main" val="10002"/>
                  </a:ext>
                </a:extLst>
              </a:tr>
              <a:tr h="245832">
                <a:tc>
                  <a:txBody>
                    <a:bodyPr/>
                    <a:lstStyle/>
                    <a:p>
                      <a:pPr marL="0" marR="0" algn="just">
                        <a:lnSpc>
                          <a:spcPct val="115000"/>
                        </a:lnSpc>
                        <a:spcBef>
                          <a:spcPts val="0"/>
                        </a:spcBef>
                        <a:spcAft>
                          <a:spcPts val="0"/>
                        </a:spcAft>
                      </a:pPr>
                      <a:r>
                        <a:rPr lang="en-US" sz="1800" dirty="0">
                          <a:effectLst/>
                          <a:latin typeface="Arial" panose="020B0604020202020204" pitchFamily="34" charset="0"/>
                          <a:ea typeface="Calibri" panose="020F0502020204030204" pitchFamily="34" charset="0"/>
                          <a:cs typeface="Arial" panose="020B0604020202020204" pitchFamily="34" charset="0"/>
                        </a:rPr>
                        <a:t>31-40</a:t>
                      </a:r>
                    </a:p>
                  </a:txBody>
                  <a:tcPr marL="68580" marR="68580" marT="0" marB="0">
                    <a:lnL>
                      <a:noFill/>
                    </a:lnL>
                    <a:lnR>
                      <a:noFill/>
                    </a:lnR>
                    <a:lnT>
                      <a:noFill/>
                    </a:lnT>
                    <a:lnB>
                      <a:noFill/>
                    </a:lnB>
                  </a:tcPr>
                </a:tc>
                <a:tc>
                  <a:txBody>
                    <a:bodyPr/>
                    <a:lstStyle/>
                    <a:p>
                      <a:pPr marL="0" marR="0" algn="just">
                        <a:lnSpc>
                          <a:spcPct val="115000"/>
                        </a:lnSpc>
                        <a:spcBef>
                          <a:spcPts val="0"/>
                        </a:spcBef>
                        <a:spcAft>
                          <a:spcPts val="0"/>
                        </a:spcAft>
                      </a:pPr>
                      <a:r>
                        <a:rPr lang="en-US" sz="1800" dirty="0">
                          <a:effectLst/>
                          <a:latin typeface="Arial" panose="020B0604020202020204" pitchFamily="34" charset="0"/>
                          <a:ea typeface="Calibri" panose="020F0502020204030204" pitchFamily="34" charset="0"/>
                          <a:cs typeface="Arial" panose="020B0604020202020204" pitchFamily="34" charset="0"/>
                        </a:rPr>
                        <a:t>50</a:t>
                      </a:r>
                    </a:p>
                  </a:txBody>
                  <a:tcPr marL="68580" marR="68580" marT="0" marB="0">
                    <a:lnL>
                      <a:noFill/>
                    </a:lnL>
                    <a:lnR>
                      <a:noFill/>
                    </a:lnR>
                    <a:lnT>
                      <a:noFill/>
                    </a:lnT>
                    <a:lnB>
                      <a:noFill/>
                    </a:lnB>
                  </a:tcPr>
                </a:tc>
                <a:extLst>
                  <a:ext uri="{0D108BD9-81ED-4DB2-BD59-A6C34878D82A}">
                    <a16:rowId xmlns:a16="http://schemas.microsoft.com/office/drawing/2014/main" val="10003"/>
                  </a:ext>
                </a:extLst>
              </a:tr>
              <a:tr h="245832">
                <a:tc>
                  <a:txBody>
                    <a:bodyPr/>
                    <a:lstStyle/>
                    <a:p>
                      <a:pPr marL="0" marR="0" algn="just">
                        <a:lnSpc>
                          <a:spcPct val="115000"/>
                        </a:lnSpc>
                        <a:spcBef>
                          <a:spcPts val="0"/>
                        </a:spcBef>
                        <a:spcAft>
                          <a:spcPts val="0"/>
                        </a:spcAft>
                      </a:pPr>
                      <a:r>
                        <a:rPr lang="en-US" sz="1800">
                          <a:effectLst/>
                          <a:latin typeface="Arial" panose="020B0604020202020204" pitchFamily="34" charset="0"/>
                          <a:ea typeface="Calibri" panose="020F0502020204030204" pitchFamily="34" charset="0"/>
                          <a:cs typeface="Arial" panose="020B0604020202020204" pitchFamily="34" charset="0"/>
                        </a:rPr>
                        <a:t>41-50</a:t>
                      </a:r>
                    </a:p>
                  </a:txBody>
                  <a:tcPr marL="68580" marR="68580" marT="0" marB="0">
                    <a:lnL>
                      <a:noFill/>
                    </a:lnL>
                    <a:lnR>
                      <a:noFill/>
                    </a:lnR>
                    <a:lnT>
                      <a:noFill/>
                    </a:lnT>
                    <a:lnB>
                      <a:noFill/>
                    </a:lnB>
                  </a:tcPr>
                </a:tc>
                <a:tc>
                  <a:txBody>
                    <a:bodyPr/>
                    <a:lstStyle/>
                    <a:p>
                      <a:pPr marL="0" marR="0" algn="just">
                        <a:lnSpc>
                          <a:spcPct val="115000"/>
                        </a:lnSpc>
                        <a:spcBef>
                          <a:spcPts val="0"/>
                        </a:spcBef>
                        <a:spcAft>
                          <a:spcPts val="0"/>
                        </a:spcAft>
                      </a:pPr>
                      <a:r>
                        <a:rPr lang="en-US" sz="1800" dirty="0">
                          <a:effectLst/>
                          <a:latin typeface="Arial" panose="020B0604020202020204" pitchFamily="34" charset="0"/>
                          <a:ea typeface="Calibri" panose="020F0502020204030204" pitchFamily="34" charset="0"/>
                          <a:cs typeface="Arial" panose="020B0604020202020204" pitchFamily="34" charset="0"/>
                        </a:rPr>
                        <a:t>45</a:t>
                      </a:r>
                    </a:p>
                  </a:txBody>
                  <a:tcPr marL="68580" marR="68580" marT="0" marB="0">
                    <a:lnL>
                      <a:noFill/>
                    </a:lnL>
                    <a:lnR>
                      <a:noFill/>
                    </a:lnR>
                    <a:lnT>
                      <a:noFill/>
                    </a:lnT>
                    <a:lnB>
                      <a:noFill/>
                    </a:lnB>
                  </a:tcPr>
                </a:tc>
                <a:extLst>
                  <a:ext uri="{0D108BD9-81ED-4DB2-BD59-A6C34878D82A}">
                    <a16:rowId xmlns:a16="http://schemas.microsoft.com/office/drawing/2014/main" val="10004"/>
                  </a:ext>
                </a:extLst>
              </a:tr>
              <a:tr h="245832">
                <a:tc>
                  <a:txBody>
                    <a:bodyPr/>
                    <a:lstStyle/>
                    <a:p>
                      <a:pPr marL="0" marR="0" algn="just">
                        <a:lnSpc>
                          <a:spcPct val="115000"/>
                        </a:lnSpc>
                        <a:spcBef>
                          <a:spcPts val="0"/>
                        </a:spcBef>
                        <a:spcAft>
                          <a:spcPts val="0"/>
                        </a:spcAft>
                      </a:pPr>
                      <a:r>
                        <a:rPr lang="en-US" sz="1800">
                          <a:effectLst/>
                          <a:latin typeface="Arial" panose="020B0604020202020204" pitchFamily="34" charset="0"/>
                          <a:ea typeface="Calibri" panose="020F0502020204030204" pitchFamily="34" charset="0"/>
                          <a:cs typeface="Arial" panose="020B0604020202020204" pitchFamily="34" charset="0"/>
                        </a:rPr>
                        <a:t>51-60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800" dirty="0">
                          <a:effectLst/>
                          <a:latin typeface="Arial" panose="020B0604020202020204" pitchFamily="34" charset="0"/>
                          <a:ea typeface="Calibri" panose="020F0502020204030204" pitchFamily="34" charset="0"/>
                          <a:cs typeface="Arial" panose="020B0604020202020204" pitchFamily="34" charset="0"/>
                        </a:rPr>
                        <a:t>35</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AlternateContent xmlns:mc="http://schemas.openxmlformats.org/markup-compatibility/2006">
        <mc:Choice xmlns:a14="http://schemas.microsoft.com/office/drawing/2010/main" Requires="a14">
          <p:graphicFrame>
            <p:nvGraphicFramePr>
              <p:cNvPr id="8" name="Table 7"/>
              <p:cNvGraphicFramePr>
                <a:graphicFrameLocks noGrp="1"/>
              </p:cNvGraphicFramePr>
              <p:nvPr>
                <p:extLst>
                  <p:ext uri="{D42A27DB-BD31-4B8C-83A1-F6EECF244321}">
                    <p14:modId xmlns:p14="http://schemas.microsoft.com/office/powerpoint/2010/main" val="762832409"/>
                  </p:ext>
                </p:extLst>
              </p:nvPr>
            </p:nvGraphicFramePr>
            <p:xfrm>
              <a:off x="2913389" y="3840516"/>
              <a:ext cx="6172200" cy="2249604"/>
            </p:xfrm>
            <a:graphic>
              <a:graphicData uri="http://schemas.openxmlformats.org/drawingml/2006/table">
                <a:tbl>
                  <a:tblPr firstRow="1" firstCol="1" bandRow="1"/>
                  <a:tblGrid>
                    <a:gridCol w="1630870">
                      <a:extLst>
                        <a:ext uri="{9D8B030D-6E8A-4147-A177-3AD203B41FA5}">
                          <a16:colId xmlns:a16="http://schemas.microsoft.com/office/drawing/2014/main" val="20000"/>
                        </a:ext>
                      </a:extLst>
                    </a:gridCol>
                    <a:gridCol w="1534245">
                      <a:extLst>
                        <a:ext uri="{9D8B030D-6E8A-4147-A177-3AD203B41FA5}">
                          <a16:colId xmlns:a16="http://schemas.microsoft.com/office/drawing/2014/main" val="20001"/>
                        </a:ext>
                      </a:extLst>
                    </a:gridCol>
                    <a:gridCol w="1544179">
                      <a:extLst>
                        <a:ext uri="{9D8B030D-6E8A-4147-A177-3AD203B41FA5}">
                          <a16:colId xmlns:a16="http://schemas.microsoft.com/office/drawing/2014/main" val="20002"/>
                        </a:ext>
                      </a:extLst>
                    </a:gridCol>
                    <a:gridCol w="1462906">
                      <a:extLst>
                        <a:ext uri="{9D8B030D-6E8A-4147-A177-3AD203B41FA5}">
                          <a16:colId xmlns:a16="http://schemas.microsoft.com/office/drawing/2014/main" val="20003"/>
                        </a:ext>
                      </a:extLst>
                    </a:gridCol>
                  </a:tblGrid>
                  <a:tr h="575170">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Age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Frequency </a:t>
                          </a:r>
                          <a14:m>
                            <m:oMath xmlns:m="http://schemas.openxmlformats.org/officeDocument/2006/math">
                              <m:r>
                                <a:rPr lang="en-US" sz="1500">
                                  <a:effectLst/>
                                  <a:latin typeface="Cambria Math" panose="02040503050406030204" pitchFamily="18" charset="0"/>
                                  <a:ea typeface="Calibri" panose="020F0502020204030204" pitchFamily="34" charset="0"/>
                                  <a:cs typeface="Times New Roman" panose="02020603050405020304" pitchFamily="18" charset="0"/>
                                </a:rPr>
                                <m:t>(</m:t>
                              </m:r>
                              <m:r>
                                <a:rPr lang="en-US" sz="1500" i="1">
                                  <a:effectLst/>
                                  <a:latin typeface="Cambria Math" panose="02040503050406030204" pitchFamily="18" charset="0"/>
                                  <a:ea typeface="Calibri" panose="020F0502020204030204" pitchFamily="34" charset="0"/>
                                  <a:cs typeface="Times New Roman" panose="02020603050405020304" pitchFamily="18" charset="0"/>
                                </a:rPr>
                                <m:t>𝑓</m:t>
                              </m:r>
                              <m:r>
                                <a:rPr lang="en-US" sz="1500">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Mid values </a:t>
                          </a:r>
                          <a14:m>
                            <m:oMath xmlns:m="http://schemas.openxmlformats.org/officeDocument/2006/math">
                              <m:r>
                                <a:rPr lang="en-US" sz="1500">
                                  <a:effectLst/>
                                  <a:latin typeface="Cambria Math" panose="02040503050406030204" pitchFamily="18" charset="0"/>
                                  <a:ea typeface="Calibri" panose="020F0502020204030204" pitchFamily="34" charset="0"/>
                                  <a:cs typeface="Times New Roman" panose="02020603050405020304" pitchFamily="18" charset="0"/>
                                </a:rPr>
                                <m:t>(</m:t>
                              </m:r>
                              <m:r>
                                <a:rPr lang="en-US" sz="1500" i="1">
                                  <a:effectLst/>
                                  <a:latin typeface="Cambria Math" panose="02040503050406030204" pitchFamily="18" charset="0"/>
                                  <a:ea typeface="Calibri" panose="020F0502020204030204" pitchFamily="34" charset="0"/>
                                  <a:cs typeface="Times New Roman" panose="02020603050405020304" pitchFamily="18" charset="0"/>
                                </a:rPr>
                                <m:t>𝑥</m:t>
                              </m:r>
                              <m:r>
                                <a:rPr lang="en-US" sz="1500">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i="1">
                                    <a:effectLst/>
                                    <a:latin typeface="Cambria Math" panose="02040503050406030204" pitchFamily="18" charset="0"/>
                                    <a:ea typeface="Calibri" panose="020F0502020204030204" pitchFamily="34" charset="0"/>
                                    <a:cs typeface="Times New Roman" panose="02020603050405020304" pitchFamily="18" charset="0"/>
                                  </a:rPr>
                                  <m:t>𝑓𝑥</m:t>
                                </m:r>
                              </m:oMath>
                            </m:oMathPara>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4816">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11-20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15.5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77.5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4816">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21-30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25.5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382.5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4816">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31-40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35.5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1775.0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4816">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41-50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45.5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2047.5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4816">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51-60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1942.5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0354">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Total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i="1">
                                    <a:effectLst/>
                                    <a:latin typeface="Cambria Math" panose="02040503050406030204" pitchFamily="18" charset="0"/>
                                    <a:ea typeface="Calibri" panose="020F0502020204030204" pitchFamily="34" charset="0"/>
                                    <a:cs typeface="Times New Roman" panose="02020603050405020304" pitchFamily="18" charset="0"/>
                                  </a:rPr>
                                  <m:t>𝑛</m:t>
                                </m:r>
                                <m:r>
                                  <a:rPr lang="en-US" sz="1500" i="1">
                                    <a:effectLst/>
                                    <a:latin typeface="Cambria Math" panose="02040503050406030204" pitchFamily="18" charset="0"/>
                                    <a:ea typeface="Calibri" panose="020F0502020204030204" pitchFamily="34" charset="0"/>
                                    <a:cs typeface="Times New Roman" panose="02020603050405020304" pitchFamily="18" charset="0"/>
                                  </a:rPr>
                                  <m:t>=</m:t>
                                </m:r>
                                <m:r>
                                  <a:rPr lang="en-US" sz="1500">
                                    <a:effectLst/>
                                    <a:latin typeface="Cambria Math" panose="02040503050406030204" pitchFamily="18" charset="0"/>
                                    <a:ea typeface="Calibri" panose="020F0502020204030204" pitchFamily="34" charset="0"/>
                                    <a:cs typeface="Times New Roman" panose="02020603050405020304" pitchFamily="18" charset="0"/>
                                  </a:rPr>
                                  <m:t>150</m:t>
                                </m:r>
                              </m:oMath>
                            </m:oMathPara>
                          </a14:m>
                          <a:endParaRPr lang="en-US" sz="15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1500">
                                    <a:effectLst/>
                                    <a:latin typeface="Cambria Math" panose="02040503050406030204" pitchFamily="18" charset="0"/>
                                    <a:ea typeface="Calibri" panose="020F0502020204030204" pitchFamily="34" charset="0"/>
                                    <a:cs typeface="Times New Roman" panose="02020603050405020304" pitchFamily="18" charset="0"/>
                                  </a:rPr>
                                  <m:t>6225</m:t>
                                </m:r>
                              </m:oMath>
                            </m:oMathPara>
                          </a14:m>
                          <a:endParaRPr lang="en-US" sz="15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p:graphicFrame>
            <p:nvGraphicFramePr>
              <p:cNvPr id="8" name="Table 7"/>
              <p:cNvGraphicFramePr>
                <a:graphicFrameLocks noGrp="1"/>
              </p:cNvGraphicFramePr>
              <p:nvPr>
                <p:extLst>
                  <p:ext uri="{D42A27DB-BD31-4B8C-83A1-F6EECF244321}">
                    <p14:modId xmlns:p14="http://schemas.microsoft.com/office/powerpoint/2010/main" val="762832409"/>
                  </p:ext>
                </p:extLst>
              </p:nvPr>
            </p:nvGraphicFramePr>
            <p:xfrm>
              <a:off x="2913389" y="3840516"/>
              <a:ext cx="6172200" cy="2249604"/>
            </p:xfrm>
            <a:graphic>
              <a:graphicData uri="http://schemas.openxmlformats.org/drawingml/2006/table">
                <a:tbl>
                  <a:tblPr firstRow="1" firstCol="1" bandRow="1"/>
                  <a:tblGrid>
                    <a:gridCol w="1630870">
                      <a:extLst>
                        <a:ext uri="{9D8B030D-6E8A-4147-A177-3AD203B41FA5}">
                          <a16:colId xmlns:a16="http://schemas.microsoft.com/office/drawing/2014/main" val="20000"/>
                        </a:ext>
                      </a:extLst>
                    </a:gridCol>
                    <a:gridCol w="1534245">
                      <a:extLst>
                        <a:ext uri="{9D8B030D-6E8A-4147-A177-3AD203B41FA5}">
                          <a16:colId xmlns:a16="http://schemas.microsoft.com/office/drawing/2014/main" val="20001"/>
                        </a:ext>
                      </a:extLst>
                    </a:gridCol>
                    <a:gridCol w="1544179">
                      <a:extLst>
                        <a:ext uri="{9D8B030D-6E8A-4147-A177-3AD203B41FA5}">
                          <a16:colId xmlns:a16="http://schemas.microsoft.com/office/drawing/2014/main" val="20002"/>
                        </a:ext>
                      </a:extLst>
                    </a:gridCol>
                    <a:gridCol w="1462906">
                      <a:extLst>
                        <a:ext uri="{9D8B030D-6E8A-4147-A177-3AD203B41FA5}">
                          <a16:colId xmlns:a16="http://schemas.microsoft.com/office/drawing/2014/main" val="20003"/>
                        </a:ext>
                      </a:extLst>
                    </a:gridCol>
                  </a:tblGrid>
                  <a:tr h="575170">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Age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6746" t="-8421" r="-196825" b="-29789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05118" t="-8421" r="-95276" b="-297895"/>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22917" t="-8421" r="-833" b="-297895"/>
                          </a:stretch>
                        </a:blipFill>
                      </a:tcPr>
                    </a:tc>
                    <a:extLst>
                      <a:ext uri="{0D108BD9-81ED-4DB2-BD59-A6C34878D82A}">
                        <a16:rowId xmlns:a16="http://schemas.microsoft.com/office/drawing/2014/main" val="10000"/>
                      </a:ext>
                    </a:extLst>
                  </a:tr>
                  <a:tr h="274816">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11-20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15.5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77.5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4816">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21-30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25.5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382.5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4816">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31-40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35.5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1775.0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4816">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41-50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45.5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2047.5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4816">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51-60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35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55.5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1942.5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0354">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Total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06746" t="-671429" r="-196825" b="-16327"/>
                          </a:stretch>
                        </a:blipFill>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22917" t="-671429" r="-833" b="-16327"/>
                          </a:stretch>
                        </a:blipFill>
                      </a:tcPr>
                    </a:tc>
                    <a:extLst>
                      <a:ext uri="{0D108BD9-81ED-4DB2-BD59-A6C34878D82A}">
                        <a16:rowId xmlns:a16="http://schemas.microsoft.com/office/drawing/2014/main" val="10006"/>
                      </a:ext>
                    </a:extLst>
                  </a:tr>
                </a:tbl>
              </a:graphicData>
            </a:graphic>
          </p:graphicFrame>
        </mc:Fallback>
      </mc:AlternateContent>
    </p:spTree>
    <p:extLst>
      <p:ext uri="{BB962C8B-B14F-4D97-AF65-F5344CB8AC3E}">
        <p14:creationId xmlns:p14="http://schemas.microsoft.com/office/powerpoint/2010/main" val="194264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a:latin typeface="Arial" pitchFamily="34" charset="0"/>
                <a:cs typeface="Arial" pitchFamily="34" charset="0"/>
              </a:rPr>
              <a:t>Pooled Mean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833000"/>
                <a:ext cx="10831132" cy="5917424"/>
              </a:xfrm>
            </p:spPr>
            <p:txBody>
              <a:bodyPr>
                <a:noAutofit/>
              </a:bodyPr>
              <a:lstStyle/>
              <a:p>
                <a:pPr marL="285750" indent="-285750" algn="just">
                  <a:lnSpc>
                    <a:spcPct val="100000"/>
                  </a:lnSpc>
                  <a:buFont typeface="Arial" panose="020B0604020202020204" pitchFamily="34" charset="0"/>
                  <a:buChar char="•"/>
                </a:pPr>
                <a:r>
                  <a:rPr lang="en-US" sz="2000" dirty="0">
                    <a:latin typeface="Arial" pitchFamily="34" charset="0"/>
                    <a:cs typeface="Arial" pitchFamily="34" charset="0"/>
                  </a:rPr>
                  <a:t>The pooled mean, also called combined mean is obtained by combining two or more sub-group means into a single mean.</a:t>
                </a:r>
              </a:p>
              <a:p>
                <a:pPr marL="285750" indent="-285750" algn="just">
                  <a:lnSpc>
                    <a:spcPct val="100000"/>
                  </a:lnSpc>
                  <a:buFont typeface="Arial" panose="020B0604020202020204" pitchFamily="34" charset="0"/>
                  <a:buChar char="•"/>
                </a:pPr>
                <a:r>
                  <a:rPr lang="en-US" sz="2000" dirty="0">
                    <a:latin typeface="Arial" pitchFamily="34" charset="0"/>
                    <a:cs typeface="Arial" pitchFamily="34" charset="0"/>
                  </a:rPr>
                  <a:t>If a set consists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observations of the form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11</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12</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1</m:t>
                            </m:r>
                          </m:sub>
                        </m:sSub>
                      </m:sub>
                    </m:sSub>
                  </m:oMath>
                </a14:m>
                <a:r>
                  <a:rPr lang="en-US" sz="2000" dirty="0">
                    <a:latin typeface="Arial" panose="020B0604020202020204" pitchFamily="34" charset="0"/>
                    <a:cs typeface="Arial" panose="020B0604020202020204" pitchFamily="34" charset="0"/>
                  </a:rPr>
                  <a:t> with mean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and a second set consists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2</m:t>
                        </m:r>
                      </m:sub>
                    </m:sSub>
                  </m:oMath>
                </a14:m>
                <a:r>
                  <a:rPr lang="en-US" sz="2000" dirty="0">
                    <a:latin typeface="Arial" panose="020B0604020202020204" pitchFamily="34" charset="0"/>
                    <a:cs typeface="Arial" panose="020B0604020202020204" pitchFamily="34" charset="0"/>
                  </a:rPr>
                  <a:t> observations of the form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21</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22</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2</m:t>
                            </m:r>
                          </m:sub>
                        </m:sSub>
                      </m:sub>
                    </m:sSub>
                  </m:oMath>
                </a14:m>
                <a:r>
                  <a:rPr lang="en-US" sz="2000" dirty="0">
                    <a:latin typeface="Arial" panose="020B0604020202020204" pitchFamily="34" charset="0"/>
                    <a:cs typeface="Arial" panose="020B0604020202020204" pitchFamily="34" charset="0"/>
                  </a:rPr>
                  <a:t> with mean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2</m:t>
                        </m:r>
                      </m:sub>
                    </m:sSub>
                  </m:oMath>
                </a14:m>
                <a:r>
                  <a:rPr lang="en-US" sz="2000" dirty="0">
                    <a:latin typeface="Arial" panose="020B0604020202020204" pitchFamily="34" charset="0"/>
                    <a:cs typeface="Arial" panose="020B0604020202020204" pitchFamily="34" charset="0"/>
                  </a:rPr>
                  <a:t>, then the mean of all the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2</m:t>
                        </m:r>
                      </m:sub>
                    </m:sSub>
                  </m:oMath>
                </a14:m>
                <a:r>
                  <a:rPr lang="en-US" sz="2000" dirty="0">
                    <a:latin typeface="Arial" panose="020B0604020202020204" pitchFamily="34" charset="0"/>
                    <a:cs typeface="Arial" panose="020B0604020202020204" pitchFamily="34" charset="0"/>
                  </a:rPr>
                  <a:t> observations is given by </a:t>
                </a: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𝑐</m:t>
                        </m:r>
                      </m:sub>
                    </m:sSub>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1 </m:t>
                            </m:r>
                          </m:sub>
                        </m:sSub>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2 </m:t>
                            </m:r>
                          </m:sub>
                        </m:sSub>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2</m:t>
                            </m:r>
                          </m:sub>
                        </m:sSub>
                      </m:den>
                    </m:f>
                  </m:oMath>
                </a14:m>
                <a:r>
                  <a:rPr lang="en-US" sz="2000" dirty="0">
                    <a:latin typeface="Arial" panose="020B0604020202020204" pitchFamily="34" charset="0"/>
                    <a:cs typeface="Arial" panose="020B0604020202020204" pitchFamily="34" charset="0"/>
                  </a:rPr>
                  <a:t>.</a:t>
                </a:r>
              </a:p>
              <a:p>
                <a:pPr marL="285750" indent="-28575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For </a:t>
                </a:r>
                <a14:m>
                  <m:oMath xmlns:m="http://schemas.openxmlformats.org/officeDocument/2006/math">
                    <m:r>
                      <a:rPr lang="en-US" sz="2000" b="0" i="1" smtClean="0">
                        <a:latin typeface="Cambria Math" panose="02040503050406030204" pitchFamily="18" charset="0"/>
                        <a:cs typeface="Arial" pitchFamily="34" charset="0"/>
                      </a:rPr>
                      <m:t>𝑘</m:t>
                    </m:r>
                  </m:oMath>
                </a14:m>
                <a:r>
                  <a:rPr lang="en-US" sz="2000" dirty="0">
                    <a:latin typeface="Arial" pitchFamily="34" charset="0"/>
                    <a:cs typeface="Arial" pitchFamily="34" charset="0"/>
                  </a:rPr>
                  <a:t> sub-groups the combined mean can be computed as</a:t>
                </a:r>
              </a:p>
              <a:p>
                <a:pPr algn="just">
                  <a:lnSpc>
                    <a:spcPct val="100000"/>
                  </a:lnSpc>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𝑐</m:t>
                          </m:r>
                        </m:sub>
                      </m:sSub>
                      <m:r>
                        <a:rPr lang="en-US" sz="2000" b="0" i="1" smtClean="0">
                          <a:latin typeface="Cambria Math" panose="02040503050406030204" pitchFamily="18" charset="0"/>
                          <a:cs typeface="Arial" pitchFamily="34" charset="0"/>
                        </a:rPr>
                        <m:t>=</m:t>
                      </m:r>
                      <m:f>
                        <m:fPr>
                          <m:ctrlPr>
                            <a:rPr lang="en-US" sz="2000" b="0" i="1" smtClean="0">
                              <a:latin typeface="Cambria Math" panose="02040503050406030204" pitchFamily="18" charset="0"/>
                              <a:cs typeface="Arial" pitchFamily="34" charset="0"/>
                            </a:rPr>
                          </m:ctrlPr>
                        </m:fPr>
                        <m:num>
                          <m:nary>
                            <m:naryPr>
                              <m:chr m:val="∑"/>
                              <m:ctrlPr>
                                <a:rPr lang="en-US" sz="2000" b="0" i="1" smtClean="0">
                                  <a:latin typeface="Cambria Math" panose="02040503050406030204" pitchFamily="18" charset="0"/>
                                  <a:cs typeface="Arial" pitchFamily="34" charset="0"/>
                                </a:rPr>
                              </m:ctrlPr>
                            </m:naryPr>
                            <m:sub>
                              <m:r>
                                <a:rPr lang="en-US" sz="2000" b="0" i="1" smtClean="0">
                                  <a:latin typeface="Cambria Math" panose="02040503050406030204" pitchFamily="18" charset="0"/>
                                  <a:cs typeface="Arial" pitchFamily="34" charset="0"/>
                                </a:rPr>
                                <m:t>𝑖</m:t>
                              </m:r>
                            </m:sub>
                            <m:sup>
                              <m:r>
                                <a:rPr lang="en-US" sz="2000" b="0" i="1" smtClean="0">
                                  <a:latin typeface="Cambria Math" panose="02040503050406030204" pitchFamily="18" charset="0"/>
                                  <a:cs typeface="Arial" pitchFamily="34" charset="0"/>
                                </a:rPr>
                                <m:t>𝑘</m:t>
                              </m:r>
                            </m:sup>
                            <m:e>
                              <m:sSub>
                                <m:sSubPr>
                                  <m:ctrlPr>
                                    <a:rPr lang="en-US" sz="2000" b="0" i="1" smtClean="0">
                                      <a:latin typeface="Cambria Math" panose="02040503050406030204" pitchFamily="18" charset="0"/>
                                      <a:cs typeface="Arial" pitchFamily="34" charset="0"/>
                                    </a:rPr>
                                  </m:ctrlPr>
                                </m:sSubPr>
                                <m:e>
                                  <m:r>
                                    <a:rPr lang="en-US" sz="2000" b="0" i="1" smtClean="0">
                                      <a:latin typeface="Cambria Math" panose="02040503050406030204" pitchFamily="18" charset="0"/>
                                      <a:cs typeface="Arial" pitchFamily="34" charset="0"/>
                                    </a:rPr>
                                    <m:t>𝑛</m:t>
                                  </m:r>
                                </m:e>
                                <m:sub>
                                  <m:r>
                                    <a:rPr lang="en-US" sz="2000" b="0" i="1" smtClean="0">
                                      <a:latin typeface="Cambria Math" panose="02040503050406030204" pitchFamily="18" charset="0"/>
                                      <a:cs typeface="Arial" pitchFamily="34" charset="0"/>
                                    </a:rPr>
                                    <m:t>𝑖</m:t>
                                  </m:r>
                                </m:sub>
                              </m:sSub>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b="0" i="1" smtClean="0">
                                      <a:latin typeface="Cambria Math" panose="02040503050406030204" pitchFamily="18" charset="0"/>
                                    </a:rPr>
                                    <m:t>𝑖</m:t>
                                  </m:r>
                                </m:sub>
                              </m:sSub>
                            </m:e>
                          </m:nary>
                        </m:num>
                        <m:den>
                          <m:nary>
                            <m:naryPr>
                              <m:chr m:val="∑"/>
                              <m:ctrlPr>
                                <a:rPr lang="en-US" sz="2000" b="0" i="1" smtClean="0">
                                  <a:latin typeface="Cambria Math" panose="02040503050406030204" pitchFamily="18" charset="0"/>
                                  <a:cs typeface="Arial" pitchFamily="34" charset="0"/>
                                </a:rPr>
                              </m:ctrlPr>
                            </m:naryPr>
                            <m:sub>
                              <m:r>
                                <a:rPr lang="en-US" sz="2000" b="0" i="1" smtClean="0">
                                  <a:latin typeface="Cambria Math" panose="02040503050406030204" pitchFamily="18" charset="0"/>
                                  <a:cs typeface="Arial" pitchFamily="34" charset="0"/>
                                </a:rPr>
                                <m:t>𝑖</m:t>
                              </m:r>
                            </m:sub>
                            <m:sup>
                              <m:r>
                                <a:rPr lang="en-US" sz="2000" b="0" i="1" smtClean="0">
                                  <a:latin typeface="Cambria Math" panose="02040503050406030204" pitchFamily="18" charset="0"/>
                                  <a:cs typeface="Arial" pitchFamily="34" charset="0"/>
                                </a:rPr>
                                <m:t>𝑘</m:t>
                              </m:r>
                            </m:sup>
                            <m:e>
                              <m:sSub>
                                <m:sSubPr>
                                  <m:ctrlPr>
                                    <a:rPr lang="en-US" sz="2000" b="0" i="1" smtClean="0">
                                      <a:latin typeface="Cambria Math" panose="02040503050406030204" pitchFamily="18" charset="0"/>
                                      <a:cs typeface="Arial" pitchFamily="34" charset="0"/>
                                    </a:rPr>
                                  </m:ctrlPr>
                                </m:sSubPr>
                                <m:e>
                                  <m:r>
                                    <a:rPr lang="en-US" sz="2000" b="0" i="1" smtClean="0">
                                      <a:latin typeface="Cambria Math" panose="02040503050406030204" pitchFamily="18" charset="0"/>
                                      <a:cs typeface="Arial" pitchFamily="34" charset="0"/>
                                    </a:rPr>
                                    <m:t>𝑛</m:t>
                                  </m:r>
                                </m:e>
                                <m:sub>
                                  <m:r>
                                    <a:rPr lang="en-US" sz="2000" b="0" i="1" smtClean="0">
                                      <a:latin typeface="Cambria Math" panose="02040503050406030204" pitchFamily="18" charset="0"/>
                                      <a:cs typeface="Arial" pitchFamily="34" charset="0"/>
                                    </a:rPr>
                                    <m:t>𝑖</m:t>
                                  </m:r>
                                </m:sub>
                              </m:sSub>
                            </m:e>
                          </m:nary>
                        </m:den>
                      </m:f>
                    </m:oMath>
                  </m:oMathPara>
                </a14:m>
                <a:endParaRPr lang="en-US" sz="2000" dirty="0">
                  <a:latin typeface="Arial" pitchFamily="34" charset="0"/>
                  <a:cs typeface="Arial" pitchFamily="34" charset="0"/>
                </a:endParaRPr>
              </a:p>
              <a:p>
                <a:pPr marL="285750" indent="-285750" algn="just">
                  <a:lnSpc>
                    <a:spcPct val="100000"/>
                  </a:lnSpc>
                  <a:buFont typeface="Arial" panose="020B0604020202020204" pitchFamily="34" charset="0"/>
                  <a:buChar char="•"/>
                </a:pPr>
                <a:r>
                  <a:rPr lang="en-US" sz="2000" b="1" dirty="0">
                    <a:latin typeface="Arial" pitchFamily="34" charset="0"/>
                    <a:cs typeface="Arial" pitchFamily="34" charset="0"/>
                  </a:rPr>
                  <a:t>Example:</a:t>
                </a:r>
                <a:r>
                  <a:rPr lang="en-US" sz="2000" dirty="0">
                    <a:latin typeface="Arial" pitchFamily="34" charset="0"/>
                    <a:cs typeface="Arial" pitchFamily="34" charset="0"/>
                  </a:rPr>
                  <a:t> In a factory there are 20 workers of which 12 are males and 8 are females. The mean wages of male and female workers are Tk.15000 and Tk.12000, respectively. What is the mean wage of all the 20 workers?</a:t>
                </a:r>
              </a:p>
              <a:p>
                <a:pPr>
                  <a:lnSpc>
                    <a:spcPct val="100000"/>
                  </a:lnSpc>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𝑐</m:t>
                          </m:r>
                        </m:sub>
                      </m:sSub>
                      <m:r>
                        <a:rPr lang="en-US" sz="2000" i="1">
                          <a:latin typeface="Cambria Math" panose="02040503050406030204" pitchFamily="18" charset="0"/>
                        </a:rPr>
                        <m:t>=</m:t>
                      </m:r>
                      <m:f>
                        <m:fPr>
                          <m:ctrlPr>
                            <a:rPr lang="en-US" sz="2000" i="1">
                              <a:latin typeface="Cambria Math" panose="02040503050406030204" pitchFamily="18" charset="0"/>
                            </a:rPr>
                          </m:ctrlPr>
                        </m:fPr>
                        <m:num>
                          <m:sSub>
                            <m:sSubPr>
                              <m:ctrlPr>
                                <a:rPr lang="en-US" sz="2000" i="1" smtClean="0">
                                  <a:latin typeface="Cambria Math" panose="02040503050406030204" pitchFamily="18" charset="0"/>
                                </a:rPr>
                              </m:ctrlPr>
                            </m:sSubPr>
                            <m:e>
                              <m:r>
                                <a:rPr lang="en-US" sz="2000" i="1">
                                  <a:latin typeface="Cambria Math" panose="02040503050406030204" pitchFamily="18" charset="0"/>
                                </a:rPr>
                                <m:t>𝑛</m:t>
                              </m:r>
                            </m:e>
                            <m:sub>
                              <m:r>
                                <a:rPr lang="en-US" sz="2000" i="1" smtClean="0">
                                  <a:latin typeface="Cambria Math" panose="02040503050406030204" pitchFamily="18" charset="0"/>
                                </a:rPr>
                                <m:t>1</m:t>
                              </m:r>
                              <m:r>
                                <a:rPr lang="en-US" sz="2000" i="1">
                                  <a:latin typeface="Cambria Math" panose="02040503050406030204" pitchFamily="18" charset="0"/>
                                </a:rPr>
                                <m:t> </m:t>
                              </m:r>
                            </m:sub>
                          </m:sSub>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2 </m:t>
                              </m:r>
                            </m:sub>
                          </m:sSub>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2</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2</m:t>
                              </m:r>
                            </m:sub>
                          </m:sSub>
                        </m:den>
                      </m:f>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12×15000+8×12000</m:t>
                          </m:r>
                        </m:num>
                        <m:den>
                          <m:r>
                            <a:rPr lang="en-US" sz="2000" b="0" i="1" smtClean="0">
                              <a:latin typeface="Cambria Math" panose="02040503050406030204" pitchFamily="18" charset="0"/>
                            </a:rPr>
                            <m:t>20</m:t>
                          </m:r>
                        </m:den>
                      </m:f>
                      <m:r>
                        <a:rPr lang="en-US" sz="2000" b="0" i="1" smtClean="0">
                          <a:latin typeface="Cambria Math" panose="02040503050406030204" pitchFamily="18" charset="0"/>
                        </a:rPr>
                        <m:t>=13800</m:t>
                      </m:r>
                    </m:oMath>
                  </m:oMathPara>
                </a14:m>
                <a:endParaRPr lang="en-US" sz="2000" dirty="0">
                  <a:latin typeface="Arial" pitchFamily="34" charset="0"/>
                  <a:cs typeface="Arial" pitchFamily="34" charset="0"/>
                </a:endParaRPr>
              </a:p>
              <a:p>
                <a:pPr>
                  <a:lnSpc>
                    <a:spcPct val="100000"/>
                  </a:lnSpc>
                </a:pPr>
                <a:r>
                  <a:rPr lang="en-US" sz="2000" dirty="0">
                    <a:latin typeface="Arial" pitchFamily="34" charset="0"/>
                    <a:cs typeface="Arial" pitchFamily="34" charset="0"/>
                  </a:rPr>
                  <a:t>Thus the mean wage of 20 workers is Tk.13800</a:t>
                </a:r>
              </a:p>
              <a:p>
                <a:pPr>
                  <a:lnSpc>
                    <a:spcPct val="100000"/>
                  </a:lnSpc>
                </a:pPr>
                <a:endParaRPr lang="en-US" sz="2000" dirty="0">
                  <a:latin typeface="Arial" pitchFamily="34" charset="0"/>
                  <a:cs typeface="Arial" pitchFamily="34" charset="0"/>
                </a:endParaRPr>
              </a:p>
              <a:p>
                <a:pPr algn="just">
                  <a:lnSpc>
                    <a:spcPct val="100000"/>
                  </a:lnSpc>
                </a:pPr>
                <a:endParaRPr lang="en-US" sz="2000" dirty="0">
                  <a:latin typeface="Arial" pitchFamily="34" charset="0"/>
                  <a:cs typeface="Arial"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833000"/>
                <a:ext cx="10831132" cy="5917424"/>
              </a:xfrm>
              <a:blipFill rotWithShape="0">
                <a:blip r:embed="rId2"/>
                <a:stretch>
                  <a:fillRect l="-506" t="-515" r="-563"/>
                </a:stretch>
              </a:blipFill>
            </p:spPr>
            <p:txBody>
              <a:bodyPr/>
              <a:lstStyle/>
              <a:p>
                <a:r>
                  <a:rPr lang="en-US">
                    <a:noFill/>
                  </a:rPr>
                  <a:t> </a:t>
                </a:r>
              </a:p>
            </p:txBody>
          </p:sp>
        </mc:Fallback>
      </mc:AlternateContent>
    </p:spTree>
    <p:extLst>
      <p:ext uri="{BB962C8B-B14F-4D97-AF65-F5344CB8AC3E}">
        <p14:creationId xmlns:p14="http://schemas.microsoft.com/office/powerpoint/2010/main" val="3376987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a:latin typeface="Arial" pitchFamily="34" charset="0"/>
                <a:cs typeface="Arial" pitchFamily="34" charset="0"/>
              </a:rPr>
              <a:t>Weighted Mean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833000"/>
                <a:ext cx="10831132" cy="5903976"/>
              </a:xfrm>
            </p:spPr>
            <p:txBody>
              <a:bodyPr>
                <a:noAutofit/>
              </a:bodyPr>
              <a:lstStyle/>
              <a:p>
                <a:pPr marL="285750" indent="-28575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weighted mean</a:t>
                </a:r>
                <a:r>
                  <a:rPr lang="en-US" sz="2000" dirty="0">
                    <a:latin typeface="Arial" panose="020B0604020202020204" pitchFamily="34" charset="0"/>
                    <a:cs typeface="Arial" panose="020B0604020202020204" pitchFamily="34" charset="0"/>
                  </a:rPr>
                  <a:t> is an average where </a:t>
                </a:r>
                <a:r>
                  <a:rPr lang="en-US" sz="2000" b="1" dirty="0">
                    <a:latin typeface="Arial" panose="020B0604020202020204" pitchFamily="34" charset="0"/>
                    <a:cs typeface="Arial" panose="020B0604020202020204" pitchFamily="34" charset="0"/>
                  </a:rPr>
                  <a:t>each data value contributes according to its importance (weight)</a:t>
                </a:r>
                <a:r>
                  <a:rPr lang="en-US" sz="2000" dirty="0">
                    <a:latin typeface="Arial" panose="020B0604020202020204" pitchFamily="34" charset="0"/>
                    <a:cs typeface="Arial" panose="020B0604020202020204" pitchFamily="34" charset="0"/>
                  </a:rPr>
                  <a:t>.</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In a simple mean, all values are treated equally.</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In a weighted mean, some values count more (or less) depending on their assigned weights.</a:t>
                </a:r>
              </a:p>
              <a:p>
                <a:pPr marL="285750" indent="-28575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If a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a:latin typeface="Cambria Math" panose="02040503050406030204" pitchFamily="18" charset="0"/>
                            <a:cs typeface="Arial" panose="020B0604020202020204" pitchFamily="34" charset="0"/>
                          </a:rPr>
                          <m:t>𝑥</m:t>
                        </m:r>
                      </m:e>
                      <m:sub>
                        <m:r>
                          <a:rPr lang="en-US" sz="2000">
                            <a:latin typeface="Cambria Math" panose="02040503050406030204" pitchFamily="18" charset="0"/>
                            <a:cs typeface="Arial" panose="020B0604020202020204" pitchFamily="34" charset="0"/>
                          </a:rPr>
                          <m:t>1</m:t>
                        </m:r>
                      </m:sub>
                    </m:sSub>
                    <m:r>
                      <a:rPr lang="en-US" sz="200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a:latin typeface="Cambria Math" panose="02040503050406030204" pitchFamily="18" charset="0"/>
                            <a:cs typeface="Arial" panose="020B0604020202020204" pitchFamily="34" charset="0"/>
                          </a:rPr>
                          <m:t>𝑥</m:t>
                        </m:r>
                      </m:e>
                      <m:sub>
                        <m:r>
                          <a:rPr lang="en-US" sz="2000">
                            <a:latin typeface="Cambria Math" panose="02040503050406030204" pitchFamily="18" charset="0"/>
                            <a:cs typeface="Arial" panose="020B0604020202020204" pitchFamily="34" charset="0"/>
                          </a:rPr>
                          <m:t>2</m:t>
                        </m:r>
                      </m:sub>
                    </m:sSub>
                    <m:r>
                      <a:rPr lang="en-US" sz="200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a:latin typeface="Cambria Math" panose="02040503050406030204" pitchFamily="18" charset="0"/>
                            <a:cs typeface="Arial" panose="020B0604020202020204" pitchFamily="34" charset="0"/>
                          </a:rPr>
                          <m:t>𝑥</m:t>
                        </m:r>
                      </m:e>
                      <m:sub>
                        <m:r>
                          <m:rPr>
                            <m:sty m:val="p"/>
                          </m:rPr>
                          <a:rPr lang="en-US" sz="2000" b="0" i="0" smtClean="0">
                            <a:latin typeface="Cambria Math" panose="02040503050406030204" pitchFamily="18" charset="0"/>
                            <a:cs typeface="Arial" panose="020B0604020202020204" pitchFamily="34" charset="0"/>
                          </a:rPr>
                          <m:t>k</m:t>
                        </m:r>
                      </m:sub>
                    </m:sSub>
                  </m:oMath>
                </a14:m>
                <a:r>
                  <a:rPr lang="en-US" sz="2000" dirty="0">
                    <a:latin typeface="Arial" panose="020B0604020202020204" pitchFamily="34" charset="0"/>
                    <a:cs typeface="Arial" panose="020B0604020202020204" pitchFamily="34" charset="0"/>
                  </a:rPr>
                  <a:t> are the data values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a:latin typeface="Cambria Math" panose="02040503050406030204" pitchFamily="18" charset="0"/>
                            <a:cs typeface="Arial" panose="020B0604020202020204" pitchFamily="34" charset="0"/>
                          </a:rPr>
                          <m:t>𝑤</m:t>
                        </m:r>
                      </m:e>
                      <m:sub>
                        <m:r>
                          <a:rPr lang="en-US" sz="2000">
                            <a:latin typeface="Cambria Math" panose="02040503050406030204" pitchFamily="18" charset="0"/>
                            <a:cs typeface="Arial" panose="020B0604020202020204" pitchFamily="34" charset="0"/>
                          </a:rPr>
                          <m:t>1</m:t>
                        </m:r>
                      </m:sub>
                    </m:sSub>
                    <m:r>
                      <a:rPr lang="en-US" sz="200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a:latin typeface="Cambria Math" panose="02040503050406030204" pitchFamily="18" charset="0"/>
                            <a:cs typeface="Arial" panose="020B0604020202020204" pitchFamily="34" charset="0"/>
                          </a:rPr>
                          <m:t>𝑤</m:t>
                        </m:r>
                      </m:e>
                      <m:sub>
                        <m:r>
                          <a:rPr lang="en-US" sz="2000">
                            <a:latin typeface="Cambria Math" panose="02040503050406030204" pitchFamily="18" charset="0"/>
                            <a:cs typeface="Arial" panose="020B0604020202020204" pitchFamily="34" charset="0"/>
                          </a:rPr>
                          <m:t>2</m:t>
                        </m:r>
                      </m:sub>
                    </m:sSub>
                    <m:r>
                      <a:rPr lang="en-US" sz="200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a:latin typeface="Cambria Math" panose="02040503050406030204" pitchFamily="18" charset="0"/>
                            <a:cs typeface="Arial" panose="020B0604020202020204" pitchFamily="34" charset="0"/>
                          </a:rPr>
                          <m:t>𝑤</m:t>
                        </m:r>
                      </m:e>
                      <m:sub>
                        <m:r>
                          <m:rPr>
                            <m:sty m:val="p"/>
                          </m:rPr>
                          <a:rPr lang="en-US" sz="2000" b="0" i="0" smtClean="0">
                            <a:latin typeface="Cambria Math" panose="02040503050406030204" pitchFamily="18" charset="0"/>
                            <a:cs typeface="Arial" panose="020B0604020202020204" pitchFamily="34" charset="0"/>
                          </a:rPr>
                          <m:t>k</m:t>
                        </m:r>
                      </m:sub>
                    </m:sSub>
                  </m:oMath>
                </a14:m>
                <a:r>
                  <a:rPr lang="en-US" sz="2000" dirty="0">
                    <a:latin typeface="Arial" panose="020B0604020202020204" pitchFamily="34" charset="0"/>
                    <a:cs typeface="Arial" panose="020B0604020202020204" pitchFamily="34" charset="0"/>
                  </a:rPr>
                  <a:t> are their corresponding weights, then:</a:t>
                </a:r>
              </a:p>
              <a:p>
                <a:pPr algn="just">
                  <a:lnSpc>
                    <a:spcPct val="100000"/>
                  </a:lnSpc>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b="0" i="1" smtClean="0">
                              <a:latin typeface="Cambria Math" panose="02040503050406030204" pitchFamily="18" charset="0"/>
                            </a:rPr>
                            <m:t>𝑤</m:t>
                          </m:r>
                        </m:sub>
                      </m:sSub>
                      <m:r>
                        <a:rPr lang="en-US" sz="2000" i="1">
                          <a:latin typeface="Cambria Math" panose="02040503050406030204" pitchFamily="18" charset="0"/>
                          <a:cs typeface="Arial" pitchFamily="34" charset="0"/>
                        </a:rPr>
                        <m:t>=</m:t>
                      </m:r>
                      <m:f>
                        <m:fPr>
                          <m:ctrlPr>
                            <a:rPr lang="en-US" sz="2000" i="1">
                              <a:latin typeface="Cambria Math" panose="02040503050406030204" pitchFamily="18" charset="0"/>
                              <a:cs typeface="Arial" pitchFamily="34" charset="0"/>
                            </a:rPr>
                          </m:ctrlPr>
                        </m:fPr>
                        <m:num>
                          <m:nary>
                            <m:naryPr>
                              <m:chr m:val="∑"/>
                              <m:ctrlPr>
                                <a:rPr lang="en-US" sz="2000" i="1">
                                  <a:latin typeface="Cambria Math" panose="02040503050406030204" pitchFamily="18" charset="0"/>
                                  <a:cs typeface="Arial" pitchFamily="34" charset="0"/>
                                </a:rPr>
                              </m:ctrlPr>
                            </m:naryPr>
                            <m:sub>
                              <m:r>
                                <a:rPr lang="en-US" sz="2000" i="1">
                                  <a:latin typeface="Cambria Math" panose="02040503050406030204" pitchFamily="18" charset="0"/>
                                  <a:cs typeface="Arial" pitchFamily="34" charset="0"/>
                                </a:rPr>
                                <m:t>𝑖</m:t>
                              </m:r>
                            </m:sub>
                            <m:sup>
                              <m:r>
                                <a:rPr lang="en-US" sz="2000" i="1">
                                  <a:latin typeface="Cambria Math" panose="02040503050406030204" pitchFamily="18" charset="0"/>
                                  <a:cs typeface="Arial" pitchFamily="34" charset="0"/>
                                </a:rPr>
                                <m:t>𝑘</m:t>
                              </m:r>
                            </m:sup>
                            <m:e>
                              <m:sSub>
                                <m:sSubPr>
                                  <m:ctrlPr>
                                    <a:rPr lang="en-US" sz="2000" i="1">
                                      <a:latin typeface="Cambria Math" panose="02040503050406030204" pitchFamily="18" charset="0"/>
                                      <a:cs typeface="Arial" pitchFamily="34" charset="0"/>
                                    </a:rPr>
                                  </m:ctrlPr>
                                </m:sSubPr>
                                <m:e>
                                  <m:r>
                                    <a:rPr lang="en-US" sz="2000" b="0" i="1" smtClean="0">
                                      <a:latin typeface="Cambria Math" panose="02040503050406030204" pitchFamily="18" charset="0"/>
                                      <a:cs typeface="Arial" pitchFamily="34" charset="0"/>
                                    </a:rPr>
                                    <m:t>𝑤</m:t>
                                  </m:r>
                                </m:e>
                                <m:sub>
                                  <m:r>
                                    <a:rPr lang="en-US" sz="2000" i="1">
                                      <a:latin typeface="Cambria Math" panose="02040503050406030204" pitchFamily="18" charset="0"/>
                                      <a:cs typeface="Arial" pitchFamily="34" charset="0"/>
                                    </a:rPr>
                                    <m:t>𝑖</m:t>
                                  </m:r>
                                </m:sub>
                              </m:sSub>
                              <m:sSub>
                                <m:sSubPr>
                                  <m:ctrlPr>
                                    <a:rPr lang="en-US" sz="2000" b="0" i="1" smtClean="0">
                                      <a:latin typeface="Cambria Math" panose="02040503050406030204" pitchFamily="18" charset="0"/>
                                      <a:cs typeface="Arial" pitchFamily="34" charset="0"/>
                                    </a:rPr>
                                  </m:ctrlPr>
                                </m:sSubPr>
                                <m:e>
                                  <m:r>
                                    <a:rPr lang="en-US" sz="2000" b="0" i="1" smtClean="0">
                                      <a:latin typeface="Cambria Math" panose="02040503050406030204" pitchFamily="18" charset="0"/>
                                      <a:cs typeface="Arial" pitchFamily="34" charset="0"/>
                                    </a:rPr>
                                    <m:t>𝑥</m:t>
                                  </m:r>
                                </m:e>
                                <m:sub>
                                  <m:r>
                                    <a:rPr lang="en-US" sz="2000" b="0" i="1" smtClean="0">
                                      <a:latin typeface="Cambria Math" panose="02040503050406030204" pitchFamily="18" charset="0"/>
                                      <a:cs typeface="Arial" pitchFamily="34" charset="0"/>
                                    </a:rPr>
                                    <m:t>𝑖</m:t>
                                  </m:r>
                                </m:sub>
                              </m:sSub>
                            </m:e>
                          </m:nary>
                        </m:num>
                        <m:den>
                          <m:nary>
                            <m:naryPr>
                              <m:chr m:val="∑"/>
                              <m:ctrlPr>
                                <a:rPr lang="en-US" sz="2000" i="1">
                                  <a:latin typeface="Cambria Math" panose="02040503050406030204" pitchFamily="18" charset="0"/>
                                  <a:cs typeface="Arial" pitchFamily="34" charset="0"/>
                                </a:rPr>
                              </m:ctrlPr>
                            </m:naryPr>
                            <m:sub>
                              <m:r>
                                <a:rPr lang="en-US" sz="2000" i="1">
                                  <a:latin typeface="Cambria Math" panose="02040503050406030204" pitchFamily="18" charset="0"/>
                                  <a:cs typeface="Arial" pitchFamily="34" charset="0"/>
                                </a:rPr>
                                <m:t>𝑖</m:t>
                              </m:r>
                            </m:sub>
                            <m:sup>
                              <m:r>
                                <a:rPr lang="en-US" sz="2000" i="1">
                                  <a:latin typeface="Cambria Math" panose="02040503050406030204" pitchFamily="18" charset="0"/>
                                  <a:cs typeface="Arial" pitchFamily="34" charset="0"/>
                                </a:rPr>
                                <m:t>𝑘</m:t>
                              </m:r>
                            </m:sup>
                            <m:e>
                              <m:sSub>
                                <m:sSubPr>
                                  <m:ctrlPr>
                                    <a:rPr lang="en-US" sz="2000" b="0" i="1" smtClean="0">
                                      <a:latin typeface="Cambria Math" panose="02040503050406030204" pitchFamily="18" charset="0"/>
                                      <a:cs typeface="Arial" pitchFamily="34" charset="0"/>
                                    </a:rPr>
                                  </m:ctrlPr>
                                </m:sSubPr>
                                <m:e>
                                  <m:r>
                                    <a:rPr lang="en-US" sz="2000" b="0" i="1" smtClean="0">
                                      <a:latin typeface="Cambria Math" panose="02040503050406030204" pitchFamily="18" charset="0"/>
                                      <a:cs typeface="Arial" pitchFamily="34" charset="0"/>
                                    </a:rPr>
                                    <m:t>𝑤</m:t>
                                  </m:r>
                                </m:e>
                                <m:sub>
                                  <m:r>
                                    <a:rPr lang="en-US" sz="2000" b="0" i="1" smtClean="0">
                                      <a:latin typeface="Cambria Math" panose="02040503050406030204" pitchFamily="18" charset="0"/>
                                      <a:cs typeface="Arial" pitchFamily="34" charset="0"/>
                                    </a:rPr>
                                    <m:t>𝑖</m:t>
                                  </m:r>
                                </m:sub>
                              </m:sSub>
                            </m:e>
                          </m:nary>
                        </m:den>
                      </m:f>
                    </m:oMath>
                  </m:oMathPara>
                </a14:m>
                <a:endParaRPr lang="en-US" sz="20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000" b="1" dirty="0">
                    <a:latin typeface="Arial" pitchFamily="34" charset="0"/>
                    <a:cs typeface="Arial" pitchFamily="34" charset="0"/>
                  </a:rPr>
                  <a:t>Example:</a:t>
                </a:r>
                <a:r>
                  <a:rPr lang="en-US" sz="2000" dirty="0">
                    <a:latin typeface="Arial" panose="020B0604020202020204" pitchFamily="34" charset="0"/>
                    <a:cs typeface="Arial" panose="020B0604020202020204" pitchFamily="34" charset="0"/>
                  </a:rPr>
                  <a:t> A student completed three courses in a semester with the following grades and credit hours:</a:t>
                </a:r>
              </a:p>
              <a:p>
                <a:pPr algn="just">
                  <a:lnSpc>
                    <a:spcPct val="100000"/>
                  </a:lnSpc>
                </a:pPr>
                <a:r>
                  <a:rPr lang="en-US" sz="2000" dirty="0">
                    <a:latin typeface="Arial" panose="020B0604020202020204" pitchFamily="34" charset="0"/>
                    <a:cs typeface="Arial" panose="020B0604020202020204" pitchFamily="34" charset="0"/>
                  </a:rPr>
                  <a:t>	Course C101: Grade point = 3.5, Credit hours = 3</a:t>
                </a:r>
              </a:p>
              <a:p>
                <a:pPr algn="just">
                  <a:lnSpc>
                    <a:spcPct val="100000"/>
                  </a:lnSpc>
                </a:pPr>
                <a:r>
                  <a:rPr lang="en-US" sz="2000" dirty="0">
                    <a:latin typeface="Arial" panose="020B0604020202020204" pitchFamily="34" charset="0"/>
                    <a:cs typeface="Arial" panose="020B0604020202020204" pitchFamily="34" charset="0"/>
                  </a:rPr>
                  <a:t>	Course C102: Grade point = 3.0, Credit hours = 4</a:t>
                </a:r>
              </a:p>
              <a:p>
                <a:pPr algn="just">
                  <a:lnSpc>
                    <a:spcPct val="100000"/>
                  </a:lnSpc>
                </a:pPr>
                <a:r>
                  <a:rPr lang="en-US" sz="2000" dirty="0">
                    <a:latin typeface="Arial" panose="020B0604020202020204" pitchFamily="34" charset="0"/>
                    <a:cs typeface="Arial" panose="020B0604020202020204" pitchFamily="34" charset="0"/>
                  </a:rPr>
                  <a:t>	Course C103: Grade point = 4.0, Credit hours = 2</a:t>
                </a:r>
              </a:p>
              <a:p>
                <a:pPr algn="just">
                  <a:lnSpc>
                    <a:spcPct val="100000"/>
                  </a:lnSpc>
                </a:pPr>
                <a:r>
                  <a:rPr lang="en-US" sz="2000" dirty="0">
                    <a:latin typeface="Arial" panose="020B0604020202020204" pitchFamily="34" charset="0"/>
                    <a:cs typeface="Arial" panose="020B0604020202020204" pitchFamily="34" charset="0"/>
                  </a:rPr>
                  <a:t>     What is the student’s GPA for the semester?</a:t>
                </a:r>
              </a:p>
              <a:p>
                <a:pPr algn="l">
                  <a:lnSpc>
                    <a:spcPct val="100000"/>
                  </a:lnSpc>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𝑥</m:t>
                              </m:r>
                            </m:e>
                          </m:acc>
                        </m:e>
                        <m:sub>
                          <m:r>
                            <a:rPr lang="en-US" sz="2000" i="1">
                              <a:latin typeface="Cambria Math" panose="02040503050406030204" pitchFamily="18" charset="0"/>
                            </a:rPr>
                            <m:t>𝑤</m:t>
                          </m:r>
                        </m:sub>
                      </m:sSub>
                      <m:r>
                        <a:rPr lang="en-US" sz="2000" i="1">
                          <a:latin typeface="Cambria Math" panose="02040503050406030204" pitchFamily="18" charset="0"/>
                          <a:cs typeface="Arial" pitchFamily="34" charset="0"/>
                        </a:rPr>
                        <m:t>=</m:t>
                      </m:r>
                      <m:f>
                        <m:fPr>
                          <m:ctrlPr>
                            <a:rPr lang="en-US" sz="2000" i="1">
                              <a:latin typeface="Cambria Math" panose="02040503050406030204" pitchFamily="18" charset="0"/>
                              <a:cs typeface="Arial" pitchFamily="34" charset="0"/>
                            </a:rPr>
                          </m:ctrlPr>
                        </m:fPr>
                        <m:num>
                          <m:nary>
                            <m:naryPr>
                              <m:chr m:val="∑"/>
                              <m:ctrlPr>
                                <a:rPr lang="en-US" sz="2000" i="1">
                                  <a:latin typeface="Cambria Math" panose="02040503050406030204" pitchFamily="18" charset="0"/>
                                  <a:cs typeface="Arial" pitchFamily="34" charset="0"/>
                                </a:rPr>
                              </m:ctrlPr>
                            </m:naryPr>
                            <m:sub>
                              <m:r>
                                <a:rPr lang="en-US" sz="2000" i="1">
                                  <a:latin typeface="Cambria Math" panose="02040503050406030204" pitchFamily="18" charset="0"/>
                                  <a:cs typeface="Arial" pitchFamily="34" charset="0"/>
                                </a:rPr>
                                <m:t>𝑖</m:t>
                              </m:r>
                            </m:sub>
                            <m:sup>
                              <m:r>
                                <a:rPr lang="en-US" sz="2000" b="0" i="1" smtClean="0">
                                  <a:latin typeface="Cambria Math" panose="02040503050406030204" pitchFamily="18" charset="0"/>
                                  <a:cs typeface="Arial" pitchFamily="34" charset="0"/>
                                </a:rPr>
                                <m:t>3</m:t>
                              </m:r>
                            </m:sup>
                            <m:e>
                              <m:sSub>
                                <m:sSubPr>
                                  <m:ctrlPr>
                                    <a:rPr lang="en-US" sz="2000" i="1">
                                      <a:latin typeface="Cambria Math" panose="02040503050406030204" pitchFamily="18" charset="0"/>
                                      <a:cs typeface="Arial" pitchFamily="34" charset="0"/>
                                    </a:rPr>
                                  </m:ctrlPr>
                                </m:sSubPr>
                                <m:e>
                                  <m:r>
                                    <a:rPr lang="en-US" sz="2000" i="1">
                                      <a:latin typeface="Cambria Math" panose="02040503050406030204" pitchFamily="18" charset="0"/>
                                      <a:cs typeface="Arial" pitchFamily="34" charset="0"/>
                                    </a:rPr>
                                    <m:t>𝑤</m:t>
                                  </m:r>
                                </m:e>
                                <m:sub>
                                  <m:r>
                                    <a:rPr lang="en-US" sz="2000" i="1">
                                      <a:latin typeface="Cambria Math" panose="02040503050406030204" pitchFamily="18" charset="0"/>
                                      <a:cs typeface="Arial" pitchFamily="34" charset="0"/>
                                    </a:rPr>
                                    <m:t>𝑖</m:t>
                                  </m:r>
                                </m:sub>
                              </m:sSub>
                              <m:sSub>
                                <m:sSubPr>
                                  <m:ctrlPr>
                                    <a:rPr lang="en-US" sz="2000" i="1">
                                      <a:latin typeface="Cambria Math" panose="02040503050406030204" pitchFamily="18" charset="0"/>
                                      <a:cs typeface="Arial" pitchFamily="34" charset="0"/>
                                    </a:rPr>
                                  </m:ctrlPr>
                                </m:sSubPr>
                                <m:e>
                                  <m:r>
                                    <a:rPr lang="en-US" sz="2000" i="1">
                                      <a:latin typeface="Cambria Math" panose="02040503050406030204" pitchFamily="18" charset="0"/>
                                      <a:cs typeface="Arial" pitchFamily="34" charset="0"/>
                                    </a:rPr>
                                    <m:t>𝑥</m:t>
                                  </m:r>
                                </m:e>
                                <m:sub>
                                  <m:r>
                                    <a:rPr lang="en-US" sz="2000" i="1">
                                      <a:latin typeface="Cambria Math" panose="02040503050406030204" pitchFamily="18" charset="0"/>
                                      <a:cs typeface="Arial" pitchFamily="34" charset="0"/>
                                    </a:rPr>
                                    <m:t>𝑖</m:t>
                                  </m:r>
                                </m:sub>
                              </m:sSub>
                            </m:e>
                          </m:nary>
                        </m:num>
                        <m:den>
                          <m:nary>
                            <m:naryPr>
                              <m:chr m:val="∑"/>
                              <m:ctrlPr>
                                <a:rPr lang="en-US" sz="2000" i="1">
                                  <a:latin typeface="Cambria Math" panose="02040503050406030204" pitchFamily="18" charset="0"/>
                                  <a:cs typeface="Arial" pitchFamily="34" charset="0"/>
                                </a:rPr>
                              </m:ctrlPr>
                            </m:naryPr>
                            <m:sub>
                              <m:r>
                                <a:rPr lang="en-US" sz="2000" i="1">
                                  <a:latin typeface="Cambria Math" panose="02040503050406030204" pitchFamily="18" charset="0"/>
                                  <a:cs typeface="Arial" pitchFamily="34" charset="0"/>
                                </a:rPr>
                                <m:t>𝑖</m:t>
                              </m:r>
                            </m:sub>
                            <m:sup>
                              <m:r>
                                <a:rPr lang="en-US" sz="2000" b="0" i="1" smtClean="0">
                                  <a:latin typeface="Cambria Math" panose="02040503050406030204" pitchFamily="18" charset="0"/>
                                  <a:cs typeface="Arial" pitchFamily="34" charset="0"/>
                                </a:rPr>
                                <m:t>3</m:t>
                              </m:r>
                            </m:sup>
                            <m:e>
                              <m:sSub>
                                <m:sSubPr>
                                  <m:ctrlPr>
                                    <a:rPr lang="en-US" sz="2000" i="1">
                                      <a:latin typeface="Cambria Math" panose="02040503050406030204" pitchFamily="18" charset="0"/>
                                      <a:cs typeface="Arial" pitchFamily="34" charset="0"/>
                                    </a:rPr>
                                  </m:ctrlPr>
                                </m:sSubPr>
                                <m:e>
                                  <m:r>
                                    <a:rPr lang="en-US" sz="2000" i="1">
                                      <a:latin typeface="Cambria Math" panose="02040503050406030204" pitchFamily="18" charset="0"/>
                                      <a:cs typeface="Arial" pitchFamily="34" charset="0"/>
                                    </a:rPr>
                                    <m:t>𝑤</m:t>
                                  </m:r>
                                </m:e>
                                <m:sub>
                                  <m:r>
                                    <a:rPr lang="en-US" sz="2000" i="1">
                                      <a:latin typeface="Cambria Math" panose="02040503050406030204" pitchFamily="18" charset="0"/>
                                      <a:cs typeface="Arial" pitchFamily="34" charset="0"/>
                                    </a:rPr>
                                    <m:t>𝑖</m:t>
                                  </m:r>
                                </m:sub>
                              </m:sSub>
                            </m:e>
                          </m:nary>
                        </m:den>
                      </m:f>
                      <m:r>
                        <a:rPr lang="en-US" sz="2000" b="0" i="1" smtClean="0">
                          <a:latin typeface="Cambria Math" panose="02040503050406030204" pitchFamily="18" charset="0"/>
                          <a:cs typeface="Arial" pitchFamily="34" charset="0"/>
                        </a:rPr>
                        <m:t>=</m:t>
                      </m:r>
                      <m:f>
                        <m:fPr>
                          <m:ctrlPr>
                            <a:rPr lang="en-US" sz="2000" b="0" i="1" smtClean="0">
                              <a:latin typeface="Cambria Math" panose="02040503050406030204" pitchFamily="18" charset="0"/>
                              <a:cs typeface="Arial" pitchFamily="34" charset="0"/>
                            </a:rPr>
                          </m:ctrlPr>
                        </m:fPr>
                        <m:num>
                          <m:r>
                            <a:rPr lang="en-US" sz="2000" b="0" i="1" smtClean="0">
                              <a:latin typeface="Cambria Math" panose="02040503050406030204" pitchFamily="18" charset="0"/>
                              <a:cs typeface="Arial" pitchFamily="34" charset="0"/>
                            </a:rPr>
                            <m:t>30.5</m:t>
                          </m:r>
                        </m:num>
                        <m:den>
                          <m:r>
                            <a:rPr lang="en-US" sz="2000" b="0" i="1" smtClean="0">
                              <a:latin typeface="Cambria Math" panose="02040503050406030204" pitchFamily="18" charset="0"/>
                              <a:cs typeface="Arial" pitchFamily="34" charset="0"/>
                            </a:rPr>
                            <m:t>9</m:t>
                          </m:r>
                        </m:den>
                      </m:f>
                      <m:r>
                        <a:rPr lang="en-US" sz="2000" b="0" i="1" smtClean="0">
                          <a:latin typeface="Cambria Math" panose="02040503050406030204" pitchFamily="18" charset="0"/>
                          <a:cs typeface="Arial" pitchFamily="34" charset="0"/>
                        </a:rPr>
                        <m:t>=3.39</m:t>
                      </m:r>
                    </m:oMath>
                  </m:oMathPara>
                </a14:m>
                <a:endParaRPr lang="en-US" sz="2000" dirty="0">
                  <a:latin typeface="Arial" pitchFamily="34" charset="0"/>
                  <a:cs typeface="Arial" pitchFamily="34" charset="0"/>
                </a:endParaRPr>
              </a:p>
              <a:p>
                <a:pPr algn="just">
                  <a:lnSpc>
                    <a:spcPct val="100000"/>
                  </a:lnSpc>
                </a:pPr>
                <a:endParaRPr lang="en-US" sz="2000" dirty="0">
                  <a:latin typeface="Arial" pitchFamily="34" charset="0"/>
                  <a:cs typeface="Arial"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833000"/>
                <a:ext cx="10831132" cy="5903976"/>
              </a:xfrm>
              <a:blipFill rotWithShape="0">
                <a:blip r:embed="rId2"/>
                <a:stretch>
                  <a:fillRect l="-506" t="-517" r="-563" b="-1963"/>
                </a:stretch>
              </a:blipFill>
            </p:spPr>
            <p:txBody>
              <a:bodyPr/>
              <a:lstStyle/>
              <a:p>
                <a:r>
                  <a:rPr lang="en-US">
                    <a:noFill/>
                  </a:rPr>
                  <a:t> </a:t>
                </a:r>
              </a:p>
            </p:txBody>
          </p:sp>
        </mc:Fallback>
      </mc:AlternateContent>
    </p:spTree>
    <p:extLst>
      <p:ext uri="{BB962C8B-B14F-4D97-AF65-F5344CB8AC3E}">
        <p14:creationId xmlns:p14="http://schemas.microsoft.com/office/powerpoint/2010/main" val="543674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09479"/>
            <a:ext cx="9144000" cy="605308"/>
          </a:xfrm>
        </p:spPr>
        <p:txBody>
          <a:bodyPr>
            <a:noAutofit/>
          </a:bodyPr>
          <a:lstStyle/>
          <a:p>
            <a:r>
              <a:rPr lang="en-US" sz="2400" b="1" dirty="0">
                <a:latin typeface="Arial" pitchFamily="34" charset="0"/>
                <a:cs typeface="Arial" pitchFamily="34" charset="0"/>
              </a:rPr>
              <a:t>Problems on Special Mean</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814787"/>
            <a:ext cx="10831132" cy="5900338"/>
          </a:xfrm>
        </p:spPr>
        <p:txBody>
          <a:bodyPr>
            <a:noAutofit/>
          </a:bodyPr>
          <a:lstStyle/>
          <a:p>
            <a:pPr marL="285750" indent="-285750" algn="just">
              <a:lnSpc>
                <a:spcPct val="15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Problem-1: </a:t>
            </a:r>
            <a:r>
              <a:rPr lang="en-US" sz="2200" dirty="0">
                <a:latin typeface="Arial" panose="020B0604020202020204" pitchFamily="34" charset="0"/>
                <a:cs typeface="Arial" panose="020B0604020202020204" pitchFamily="34" charset="0"/>
              </a:rPr>
              <a:t>A factory has two types (A &amp; B) of workers in the production. A recent study has found that the effective work hours among the type-A workers is 5 hours and among the type-B workers is 6 hours. If 150 type-A workers and 100 type-B workers works together, find the average effective work hours. </a:t>
            </a:r>
          </a:p>
          <a:p>
            <a:pPr marL="285750" indent="-285750" algn="just">
              <a:lnSpc>
                <a:spcPct val="15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Problem-2: </a:t>
            </a:r>
            <a:r>
              <a:rPr lang="en-US" sz="2200" dirty="0">
                <a:latin typeface="Arial" panose="020B0604020202020204" pitchFamily="34" charset="0"/>
                <a:cs typeface="Arial" panose="020B0604020202020204" pitchFamily="34" charset="0"/>
              </a:rPr>
              <a:t>A factory has two types (A &amp; B) of workers in the production. A recent study has found that the effective work hours among the type-A workers is 5 hours and among the type-B workers is 6 hours. If 60% type-A workers and 40% type-B workers works together, find the average effective work hours. </a:t>
            </a:r>
          </a:p>
          <a:p>
            <a:pPr lvl="1" algn="just">
              <a:lnSpc>
                <a:spcPct val="150000"/>
              </a:lnSpc>
            </a:pPr>
            <a:endParaRPr lang="en-US" sz="2200" dirty="0">
              <a:latin typeface="Arial" panose="020B0604020202020204" pitchFamily="34" charset="0"/>
            </a:endParaRPr>
          </a:p>
        </p:txBody>
      </p:sp>
    </p:spTree>
    <p:extLst>
      <p:ext uri="{BB962C8B-B14F-4D97-AF65-F5344CB8AC3E}">
        <p14:creationId xmlns:p14="http://schemas.microsoft.com/office/powerpoint/2010/main" val="4086627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28601"/>
            <a:ext cx="9144000" cy="416858"/>
          </a:xfrm>
        </p:spPr>
        <p:txBody>
          <a:bodyPr>
            <a:noAutofit/>
          </a:bodyPr>
          <a:lstStyle/>
          <a:p>
            <a:r>
              <a:rPr lang="en-US" sz="2400" b="1" dirty="0">
                <a:latin typeface="Arial" pitchFamily="34" charset="0"/>
                <a:cs typeface="Arial" pitchFamily="34" charset="0"/>
              </a:rPr>
              <a:t>Properties of Arithmetic Mean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0434" y="900953"/>
                <a:ext cx="10831132" cy="5550714"/>
              </a:xfrm>
            </p:spPr>
            <p:txBody>
              <a:bodyPr>
                <a:noAutofit/>
              </a:bodyPr>
              <a:lstStyle/>
              <a:p>
                <a:pPr marL="285750" indent="-285750" algn="just">
                  <a:lnSpc>
                    <a:spcPct val="1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Property-1:</a:t>
                </a:r>
                <a:r>
                  <a:rPr lang="en-US" sz="2200" dirty="0">
                    <a:latin typeface="Arial" panose="020B0604020202020204" pitchFamily="34" charset="0"/>
                    <a:cs typeface="Arial" panose="020B0604020202020204" pitchFamily="34" charset="0"/>
                  </a:rPr>
                  <a:t> The sum of the deviations of the values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2</m:t>
                        </m:r>
                      </m:sub>
                    </m:sSub>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𝑛</m:t>
                        </m:r>
                      </m:sub>
                    </m:sSub>
                  </m:oMath>
                </a14:m>
                <a:r>
                  <a:rPr lang="en-US" sz="2200" dirty="0">
                    <a:latin typeface="Arial" panose="020B0604020202020204" pitchFamily="34" charset="0"/>
                    <a:cs typeface="Arial" panose="020B0604020202020204" pitchFamily="34" charset="0"/>
                  </a:rPr>
                  <a:t> from their arithmetic mean is zero. Symbolically, </a:t>
                </a:r>
                <a14:m>
                  <m:oMath xmlns:m="http://schemas.openxmlformats.org/officeDocument/2006/math">
                    <m:nary>
                      <m:naryPr>
                        <m:chr m:val="∑"/>
                        <m:ctrlPr>
                          <a:rPr lang="en-US" sz="2200" i="1">
                            <a:latin typeface="Cambria Math" panose="02040503050406030204" pitchFamily="18" charset="0"/>
                          </a:rPr>
                        </m:ctrlPr>
                      </m:naryPr>
                      <m:sub>
                        <m:r>
                          <a:rPr lang="en-US" sz="2200" i="1">
                            <a:latin typeface="Cambria Math" panose="02040503050406030204" pitchFamily="18" charset="0"/>
                          </a:rPr>
                          <m:t>𝑖</m:t>
                        </m:r>
                        <m:r>
                          <a:rPr lang="en-US" sz="2200" i="1">
                            <a:latin typeface="Cambria Math" panose="02040503050406030204" pitchFamily="18" charset="0"/>
                          </a:rPr>
                          <m:t>=1</m:t>
                        </m:r>
                      </m:sub>
                      <m:sup>
                        <m:r>
                          <a:rPr lang="en-US" sz="2200" i="1">
                            <a:latin typeface="Cambria Math" panose="02040503050406030204" pitchFamily="18" charset="0"/>
                          </a:rPr>
                          <m:t>𝑛</m:t>
                        </m:r>
                      </m:sup>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𝑖</m:t>
                                </m:r>
                              </m:sub>
                            </m:sSub>
                            <m:r>
                              <a:rPr lang="en-US" sz="2200" i="1">
                                <a:latin typeface="Cambria Math" panose="02040503050406030204" pitchFamily="18" charset="0"/>
                              </a:rPr>
                              <m:t>−</m:t>
                            </m:r>
                            <m:acc>
                              <m:accPr>
                                <m:chr m:val="̅"/>
                                <m:ctrlPr>
                                  <a:rPr lang="en-US" sz="2200" i="1">
                                    <a:latin typeface="Cambria Math" panose="02040503050406030204" pitchFamily="18" charset="0"/>
                                  </a:rPr>
                                </m:ctrlPr>
                              </m:accPr>
                              <m:e>
                                <m:r>
                                  <a:rPr lang="en-US" sz="2200" i="1">
                                    <a:latin typeface="Cambria Math" panose="02040503050406030204" pitchFamily="18" charset="0"/>
                                  </a:rPr>
                                  <m:t>𝑥</m:t>
                                </m:r>
                              </m:e>
                            </m:acc>
                          </m:e>
                        </m:d>
                      </m:e>
                    </m:nary>
                    <m:r>
                      <a:rPr lang="en-US" sz="2200" i="1">
                        <a:latin typeface="Cambria Math" panose="02040503050406030204" pitchFamily="18" charset="0"/>
                      </a:rPr>
                      <m:t>=0</m:t>
                    </m:r>
                  </m:oMath>
                </a14:m>
                <a:endParaRPr lang="en-US" sz="2200" dirty="0">
                  <a:latin typeface="Arial" panose="020B06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Property-2:</a:t>
                </a:r>
                <a:r>
                  <a:rPr lang="en-US" sz="2200" dirty="0">
                    <a:latin typeface="Arial" panose="020B0604020202020204" pitchFamily="34" charset="0"/>
                    <a:cs typeface="Arial" panose="020B0604020202020204" pitchFamily="34" charset="0"/>
                  </a:rPr>
                  <a:t> The arithmetic mean is sensitive to extreme values. In other words, the arithmetic mean is affected by extreme values.</a:t>
                </a:r>
              </a:p>
              <a:p>
                <a:pPr marL="285750" indent="-285750" algn="just">
                  <a:lnSpc>
                    <a:spcPct val="100000"/>
                  </a:lnSpc>
                  <a:buFont typeface="Arial" panose="020B0604020202020204" pitchFamily="34" charset="0"/>
                  <a:buChar char="•"/>
                </a:pPr>
                <a:r>
                  <a:rPr lang="en-US" sz="2200" b="1" dirty="0">
                    <a:latin typeface="Arial" panose="020B0604020202020204" pitchFamily="34" charset="0"/>
                    <a:cs typeface="Arial" panose="020B0604020202020204" pitchFamily="34" charset="0"/>
                  </a:rPr>
                  <a:t>Property-3:</a:t>
                </a:r>
                <a:r>
                  <a:rPr lang="en-US" sz="2200" dirty="0">
                    <a:latin typeface="Arial" panose="020B0604020202020204" pitchFamily="34" charset="0"/>
                    <a:cs typeface="Arial" panose="020B0604020202020204" pitchFamily="34" charset="0"/>
                  </a:rPr>
                  <a:t> The arithmetic mean is considered the </a:t>
                </a:r>
                <a:r>
                  <a:rPr lang="en-US" sz="2200" b="1" i="1" dirty="0">
                    <a:latin typeface="Arial" panose="020B0604020202020204" pitchFamily="34" charset="0"/>
                    <a:cs typeface="Arial" panose="020B0604020202020204" pitchFamily="34" charset="0"/>
                  </a:rPr>
                  <a:t>most stable measure of central tendency</a:t>
                </a:r>
                <a:r>
                  <a:rPr lang="en-US" sz="2200" dirty="0">
                    <a:latin typeface="Arial" panose="020B0604020202020204" pitchFamily="34" charset="0"/>
                    <a:cs typeface="Arial" panose="020B0604020202020204" pitchFamily="34" charset="0"/>
                  </a:rPr>
                  <a:t> because it uses all observations and shows the </a:t>
                </a:r>
                <a:r>
                  <a:rPr lang="en-US" sz="2200" b="1" i="1" dirty="0">
                    <a:latin typeface="Arial" panose="020B0604020202020204" pitchFamily="34" charset="0"/>
                    <a:cs typeface="Arial" panose="020B0604020202020204" pitchFamily="34" charset="0"/>
                  </a:rPr>
                  <a:t>least fluctuation</a:t>
                </a:r>
                <a:r>
                  <a:rPr lang="en-US" sz="2200" i="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across different samples of the same population.</a:t>
                </a:r>
                <a:endParaRPr lang="en-US" sz="2200" b="1"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0434" y="900953"/>
                <a:ext cx="10831132" cy="5550714"/>
              </a:xfrm>
              <a:blipFill rotWithShape="0">
                <a:blip r:embed="rId2"/>
                <a:stretch>
                  <a:fillRect l="-676" t="-3736" r="-788"/>
                </a:stretch>
              </a:blipFill>
            </p:spPr>
            <p:txBody>
              <a:bodyPr/>
              <a:lstStyle/>
              <a:p>
                <a:r>
                  <a:rPr lang="en-US">
                    <a:noFill/>
                  </a:rPr>
                  <a:t> </a:t>
                </a:r>
              </a:p>
            </p:txBody>
          </p:sp>
        </mc:Fallback>
      </mc:AlternateContent>
    </p:spTree>
    <p:extLst>
      <p:ext uri="{BB962C8B-B14F-4D97-AF65-F5344CB8AC3E}">
        <p14:creationId xmlns:p14="http://schemas.microsoft.com/office/powerpoint/2010/main" val="300444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6134" y="0"/>
            <a:ext cx="9144000" cy="471488"/>
          </a:xfrm>
        </p:spPr>
        <p:txBody>
          <a:bodyPr>
            <a:noAutofit/>
          </a:bodyPr>
          <a:lstStyle/>
          <a:p>
            <a:r>
              <a:rPr lang="en-US" sz="2400" b="1" dirty="0">
                <a:latin typeface="Arial" pitchFamily="34" charset="0"/>
                <a:cs typeface="Arial" pitchFamily="34" charset="0"/>
              </a:rPr>
              <a:t>Median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471488"/>
                <a:ext cx="10831132" cy="6386512"/>
              </a:xfrm>
            </p:spPr>
            <p:txBody>
              <a:bodyPr>
                <a:noAutofit/>
              </a:bodyPr>
              <a:lstStyle/>
              <a:p>
                <a:pPr marL="285750" indent="-285750" algn="just">
                  <a:lnSpc>
                    <a:spcPct val="150000"/>
                  </a:lnSpc>
                  <a:buFont typeface="Arial" panose="020B0604020202020204" pitchFamily="34" charset="0"/>
                  <a:buChar char="•"/>
                </a:pPr>
                <a:r>
                  <a:rPr lang="en-US" sz="2000" dirty="0">
                    <a:latin typeface="Arial" pitchFamily="34" charset="0"/>
                    <a:cs typeface="Arial" pitchFamily="34" charset="0"/>
                  </a:rPr>
                  <a:t>Median is the middle most value when the observations or a set of values are arranged in ascending (or descending) order of magnitude. </a:t>
                </a:r>
              </a:p>
              <a:p>
                <a:pPr marL="742950" lvl="1" indent="-285750" algn="just">
                  <a:lnSpc>
                    <a:spcPct val="150000"/>
                  </a:lnSpc>
                  <a:buFont typeface="Wingdings" panose="05000000000000000000" pitchFamily="2" charset="2"/>
                  <a:buChar char="ü"/>
                </a:pPr>
                <a:r>
                  <a:rPr lang="en-US" dirty="0">
                    <a:latin typeface="Arial" pitchFamily="34" charset="0"/>
                    <a:cs typeface="Arial" pitchFamily="34" charset="0"/>
                  </a:rPr>
                  <a:t>the number of observations below the position corresponding to median should be equal to the number of observations above the position. </a:t>
                </a:r>
              </a:p>
              <a:p>
                <a:pPr marL="285750" indent="-285750" algn="just">
                  <a:lnSpc>
                    <a:spcPct val="150000"/>
                  </a:lnSpc>
                  <a:buFont typeface="Arial" panose="020B0604020202020204" pitchFamily="34" charset="0"/>
                  <a:buChar char="•"/>
                </a:pPr>
                <a:r>
                  <a:rPr lang="en-US" sz="2000" dirty="0">
                    <a:latin typeface="Arial" pitchFamily="34" charset="0"/>
                    <a:cs typeface="Arial" pitchFamily="34" charset="0"/>
                  </a:rPr>
                  <a:t>Median for raw data: Let us consider </a:t>
                </a:r>
                <a14:m>
                  <m:oMath xmlns:m="http://schemas.openxmlformats.org/officeDocument/2006/math">
                    <m:r>
                      <a:rPr lang="en-US" sz="2000">
                        <a:latin typeface="Cambria Math" panose="02040503050406030204" pitchFamily="18" charset="0"/>
                        <a:cs typeface="Arial" pitchFamily="34" charset="0"/>
                      </a:rPr>
                      <m:t>𝑛</m:t>
                    </m:r>
                  </m:oMath>
                </a14:m>
                <a:r>
                  <a:rPr lang="en-US" sz="2000" dirty="0">
                    <a:latin typeface="Arial" pitchFamily="34" charset="0"/>
                    <a:cs typeface="Arial" pitchFamily="34" charset="0"/>
                  </a:rPr>
                  <a:t> observations on a variable. At first we have to arrange the observations in ascending/descending order of magnitude and then identify whether </a:t>
                </a:r>
                <a14:m>
                  <m:oMath xmlns:m="http://schemas.openxmlformats.org/officeDocument/2006/math">
                    <m:r>
                      <a:rPr lang="en-US" sz="2000">
                        <a:latin typeface="Cambria Math" panose="02040503050406030204" pitchFamily="18" charset="0"/>
                        <a:cs typeface="Arial" pitchFamily="34" charset="0"/>
                      </a:rPr>
                      <m:t>𝑛</m:t>
                    </m:r>
                  </m:oMath>
                </a14:m>
                <a:r>
                  <a:rPr lang="en-US" sz="2000" dirty="0">
                    <a:latin typeface="Arial" pitchFamily="34" charset="0"/>
                    <a:cs typeface="Arial" pitchFamily="34" charset="0"/>
                  </a:rPr>
                  <a:t> is even or odd</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If </a:t>
                </a:r>
                <a14:m>
                  <m:oMath xmlns:m="http://schemas.openxmlformats.org/officeDocument/2006/math">
                    <m:r>
                      <a:rPr lang="en-US">
                        <a:latin typeface="Cambria Math" panose="02040503050406030204" pitchFamily="18" charset="0"/>
                        <a:cs typeface="Arial" panose="020B0604020202020204" pitchFamily="34" charset="0"/>
                      </a:rPr>
                      <m:t>𝑛</m:t>
                    </m:r>
                  </m:oMath>
                </a14:m>
                <a:r>
                  <a:rPr lang="en-US" dirty="0">
                    <a:latin typeface="Arial" panose="020B0604020202020204" pitchFamily="34" charset="0"/>
                    <a:cs typeface="Arial" panose="020B0604020202020204" pitchFamily="34" charset="0"/>
                  </a:rPr>
                  <a:t> is odd: Median = </a:t>
                </a:r>
                <a14:m>
                  <m:oMath xmlns:m="http://schemas.openxmlformats.org/officeDocument/2006/math">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r>
                                  <a:rPr lang="en-US">
                                    <a:latin typeface="Cambria Math" panose="02040503050406030204" pitchFamily="18" charset="0"/>
                                    <a:cs typeface="Arial" panose="020B0604020202020204" pitchFamily="34" charset="0"/>
                                  </a:rPr>
                                  <m:t>𝑛</m:t>
                                </m:r>
                                <m:r>
                                  <a:rPr lang="en-US">
                                    <a:latin typeface="Cambria Math" panose="02040503050406030204" pitchFamily="18" charset="0"/>
                                    <a:cs typeface="Arial" panose="020B0604020202020204" pitchFamily="34" charset="0"/>
                                  </a:rPr>
                                  <m:t>+1</m:t>
                                </m:r>
                              </m:num>
                              <m:den>
                                <m:r>
                                  <a:rPr lang="en-US">
                                    <a:latin typeface="Cambria Math" panose="02040503050406030204" pitchFamily="18" charset="0"/>
                                    <a:cs typeface="Arial" panose="020B0604020202020204" pitchFamily="34" charset="0"/>
                                  </a:rPr>
                                  <m:t>2</m:t>
                                </m:r>
                              </m:den>
                            </m:f>
                          </m:e>
                        </m:d>
                      </m:e>
                      <m:sup>
                        <m:r>
                          <a:rPr lang="en-US">
                            <a:latin typeface="Cambria Math" panose="02040503050406030204" pitchFamily="18" charset="0"/>
                            <a:cs typeface="Arial" panose="020B0604020202020204" pitchFamily="34" charset="0"/>
                          </a:rPr>
                          <m:t>𝑡h</m:t>
                        </m:r>
                      </m:sup>
                    </m:sSup>
                  </m:oMath>
                </a14:m>
                <a:r>
                  <a:rPr lang="en-US" dirty="0">
                    <a:latin typeface="Arial" panose="020B0604020202020204" pitchFamily="34" charset="0"/>
                    <a:cs typeface="Arial" panose="020B0604020202020204" pitchFamily="34" charset="0"/>
                  </a:rPr>
                  <a:t> observation.</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If </a:t>
                </a:r>
                <a14:m>
                  <m:oMath xmlns:m="http://schemas.openxmlformats.org/officeDocument/2006/math">
                    <m:r>
                      <a:rPr lang="en-US">
                        <a:latin typeface="Cambria Math" panose="02040503050406030204" pitchFamily="18" charset="0"/>
                        <a:cs typeface="Arial" panose="020B0604020202020204" pitchFamily="34" charset="0"/>
                      </a:rPr>
                      <m:t>𝑛</m:t>
                    </m:r>
                  </m:oMath>
                </a14:m>
                <a:r>
                  <a:rPr lang="en-US" dirty="0">
                    <a:latin typeface="Arial" panose="020B0604020202020204" pitchFamily="34" charset="0"/>
                    <a:cs typeface="Arial" panose="020B0604020202020204" pitchFamily="34" charset="0"/>
                  </a:rPr>
                  <a:t> is even: Median = Mean of </a:t>
                </a:r>
                <a14:m>
                  <m:oMath xmlns:m="http://schemas.openxmlformats.org/officeDocument/2006/math">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r>
                                  <a:rPr lang="en-US">
                                    <a:latin typeface="Cambria Math" panose="02040503050406030204" pitchFamily="18" charset="0"/>
                                    <a:cs typeface="Arial" panose="020B0604020202020204" pitchFamily="34" charset="0"/>
                                  </a:rPr>
                                  <m:t>𝑛</m:t>
                                </m:r>
                              </m:num>
                              <m:den>
                                <m:r>
                                  <a:rPr lang="en-US">
                                    <a:latin typeface="Cambria Math" panose="02040503050406030204" pitchFamily="18" charset="0"/>
                                    <a:cs typeface="Arial" panose="020B0604020202020204" pitchFamily="34" charset="0"/>
                                  </a:rPr>
                                  <m:t>2</m:t>
                                </m:r>
                              </m:den>
                            </m:f>
                          </m:e>
                        </m:d>
                      </m:e>
                      <m:sup>
                        <m:r>
                          <a:rPr lang="en-US">
                            <a:latin typeface="Cambria Math" panose="02040503050406030204" pitchFamily="18" charset="0"/>
                            <a:cs typeface="Arial" panose="020B0604020202020204" pitchFamily="34" charset="0"/>
                          </a:rPr>
                          <m:t>𝑡h</m:t>
                        </m:r>
                      </m:sup>
                    </m:sSup>
                  </m:oMath>
                </a14:m>
                <a:r>
                  <a:rPr lang="en-US" dirty="0">
                    <a:latin typeface="Arial" panose="020B0604020202020204" pitchFamily="34" charset="0"/>
                    <a:cs typeface="Arial" panose="020B0604020202020204" pitchFamily="34" charset="0"/>
                  </a:rPr>
                  <a:t> observation and </a:t>
                </a:r>
                <a14:m>
                  <m:oMath xmlns:m="http://schemas.openxmlformats.org/officeDocument/2006/math">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r>
                                  <a:rPr lang="en-US">
                                    <a:latin typeface="Cambria Math" panose="02040503050406030204" pitchFamily="18" charset="0"/>
                                    <a:cs typeface="Arial" panose="020B0604020202020204" pitchFamily="34" charset="0"/>
                                  </a:rPr>
                                  <m:t>𝑛</m:t>
                                </m:r>
                              </m:num>
                              <m:den>
                                <m:r>
                                  <a:rPr lang="en-US">
                                    <a:latin typeface="Cambria Math" panose="02040503050406030204" pitchFamily="18" charset="0"/>
                                    <a:cs typeface="Arial" panose="020B0604020202020204" pitchFamily="34" charset="0"/>
                                  </a:rPr>
                                  <m:t>2</m:t>
                                </m:r>
                              </m:den>
                            </m:f>
                            <m:r>
                              <a:rPr lang="en-US">
                                <a:latin typeface="Cambria Math" panose="02040503050406030204" pitchFamily="18" charset="0"/>
                                <a:cs typeface="Arial" panose="020B0604020202020204" pitchFamily="34" charset="0"/>
                              </a:rPr>
                              <m:t>+1</m:t>
                            </m:r>
                          </m:e>
                        </m:d>
                      </m:e>
                      <m:sup>
                        <m:r>
                          <a:rPr lang="en-US">
                            <a:latin typeface="Cambria Math" panose="02040503050406030204" pitchFamily="18" charset="0"/>
                            <a:cs typeface="Arial" panose="020B0604020202020204" pitchFamily="34" charset="0"/>
                          </a:rPr>
                          <m:t>𝑡h</m:t>
                        </m:r>
                      </m:sup>
                    </m:sSup>
                  </m:oMath>
                </a14:m>
                <a:r>
                  <a:rPr lang="en-US" dirty="0">
                    <a:latin typeface="Arial" pitchFamily="34" charset="0"/>
                    <a:cs typeface="Arial" pitchFamily="34" charset="0"/>
                  </a:rPr>
                  <a:t> observation</a:t>
                </a:r>
                <a:endParaRPr lang="en-US" sz="2000" dirty="0">
                  <a:latin typeface="Arial" pitchFamily="34" charset="0"/>
                  <a:cs typeface="Arial" pitchFamily="34" charset="0"/>
                </a:endParaRPr>
              </a:p>
              <a:p>
                <a:pPr marL="285750" indent="-285750" algn="just">
                  <a:lnSpc>
                    <a:spcPct val="150000"/>
                  </a:lnSpc>
                  <a:buFont typeface="Arial" panose="020B0604020202020204" pitchFamily="34" charset="0"/>
                  <a:buChar char="•"/>
                </a:pPr>
                <a:r>
                  <a:rPr lang="en-US" sz="2000" dirty="0">
                    <a:latin typeface="Arial" pitchFamily="34" charset="0"/>
                    <a:cs typeface="Arial" pitchFamily="34" charset="0"/>
                  </a:rPr>
                  <a:t>The main </a:t>
                </a:r>
                <a:r>
                  <a:rPr lang="en-US" sz="2000" b="1" dirty="0">
                    <a:latin typeface="Arial" pitchFamily="34" charset="0"/>
                    <a:cs typeface="Arial" pitchFamily="34" charset="0"/>
                  </a:rPr>
                  <a:t>property of the median</a:t>
                </a:r>
                <a:r>
                  <a:rPr lang="en-US" sz="2000" dirty="0">
                    <a:latin typeface="Arial" pitchFamily="34" charset="0"/>
                    <a:cs typeface="Arial" pitchFamily="34" charset="0"/>
                  </a:rPr>
                  <a:t>:</a:t>
                </a:r>
              </a:p>
              <a:p>
                <a:pPr marL="742950" lvl="1" indent="-285750" algn="just">
                  <a:lnSpc>
                    <a:spcPct val="150000"/>
                  </a:lnSpc>
                  <a:buFont typeface="Wingdings" panose="05000000000000000000" pitchFamily="2" charset="2"/>
                  <a:buChar char="ü"/>
                </a:pPr>
                <a:r>
                  <a:rPr lang="en-US" dirty="0">
                    <a:latin typeface="Arial" pitchFamily="34" charset="0"/>
                    <a:cs typeface="Arial" pitchFamily="34" charset="0"/>
                  </a:rPr>
                  <a:t>It is not affected by extremely large or small values.</a:t>
                </a:r>
              </a:p>
              <a:p>
                <a:pPr marL="285750" indent="-285750" algn="just">
                  <a:lnSpc>
                    <a:spcPct val="150000"/>
                  </a:lnSpc>
                  <a:buFont typeface="Arial" panose="020B0604020202020204" pitchFamily="34" charset="0"/>
                  <a:buChar char="•"/>
                </a:pPr>
                <a:endParaRPr lang="en-US" sz="2000" dirty="0">
                  <a:latin typeface="Arial" pitchFamily="34" charset="0"/>
                  <a:cs typeface="Arial" pitchFamily="34" charset="0"/>
                </a:endParaRPr>
              </a:p>
              <a:p>
                <a:pPr marL="285750" indent="-285750" algn="just">
                  <a:lnSpc>
                    <a:spcPct val="150000"/>
                  </a:lnSpc>
                  <a:buFont typeface="Arial" panose="020B0604020202020204" pitchFamily="34" charset="0"/>
                  <a:buChar char="•"/>
                </a:pPr>
                <a:endParaRPr lang="en-GB" sz="2000" dirty="0">
                  <a:latin typeface="Arial" pitchFamily="34" charset="0"/>
                  <a:cs typeface="Arial"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471488"/>
                <a:ext cx="10831132" cy="6386512"/>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1019769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123758"/>
            <a:ext cx="9144000" cy="376304"/>
          </a:xfrm>
        </p:spPr>
        <p:txBody>
          <a:bodyPr>
            <a:noAutofit/>
          </a:bodyPr>
          <a:lstStyle/>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500062"/>
                <a:ext cx="10831132" cy="6200776"/>
              </a:xfrm>
            </p:spPr>
            <p:txBody>
              <a:bodyPr>
                <a:noAutofit/>
              </a:bodyPr>
              <a:lstStyle/>
              <a:p>
                <a:pPr marL="285750" indent="-285750" algn="just">
                  <a:lnSpc>
                    <a:spcPct val="150000"/>
                  </a:lnSpc>
                  <a:buFont typeface="Arial" panose="020B0604020202020204" pitchFamily="34" charset="0"/>
                  <a:buChar char="•"/>
                </a:pPr>
                <a:r>
                  <a:rPr lang="en-US" sz="2000" dirty="0">
                    <a:latin typeface="Arial" pitchFamily="34" charset="0"/>
                    <a:cs typeface="Arial" pitchFamily="34" charset="0"/>
                  </a:rPr>
                  <a:t>Find median for the data: 12, 7, 2, 34, 17, 21 and 19</a:t>
                </a:r>
              </a:p>
              <a:p>
                <a:pPr marL="742950" lvl="1" indent="-285750" algn="just">
                  <a:lnSpc>
                    <a:spcPct val="100000"/>
                  </a:lnSpc>
                  <a:buFont typeface="Wingdings" panose="05000000000000000000" pitchFamily="2" charset="2"/>
                  <a:buChar char="ü"/>
                </a:pPr>
                <a:r>
                  <a:rPr lang="en-US" dirty="0">
                    <a:latin typeface="Arial" pitchFamily="34" charset="0"/>
                    <a:cs typeface="Arial" pitchFamily="34" charset="0"/>
                  </a:rPr>
                  <a:t>arrange the values in ascending order  2, 7, 12, 17, 19, 21, 34 </a:t>
                </a:r>
              </a:p>
              <a:p>
                <a:pPr marL="742950" lvl="1" indent="-285750" algn="just">
                  <a:lnSpc>
                    <a:spcPct val="100000"/>
                  </a:lnSpc>
                  <a:buFont typeface="Wingdings" panose="05000000000000000000" pitchFamily="2" charset="2"/>
                  <a:buChar char="ü"/>
                </a:pPr>
                <a:r>
                  <a:rPr lang="en-US" dirty="0">
                    <a:latin typeface="Arial" pitchFamily="34" charset="0"/>
                    <a:cs typeface="Arial" pitchFamily="34" charset="0"/>
                  </a:rPr>
                  <a:t>Count the total number of elements,  Here n= 7,  7 is an odd number</a:t>
                </a:r>
              </a:p>
              <a:p>
                <a:pPr marL="742950" lvl="1" indent="-285750" algn="just">
                  <a:lnSpc>
                    <a:spcPct val="100000"/>
                  </a:lnSpc>
                  <a:buFont typeface="Wingdings" panose="05000000000000000000" pitchFamily="2" charset="2"/>
                  <a:buChar char="ü"/>
                </a:pPr>
                <a:r>
                  <a:rPr lang="en-US" dirty="0">
                    <a:latin typeface="Arial" pitchFamily="34" charset="0"/>
                    <a:cs typeface="Arial" pitchFamily="34" charset="0"/>
                  </a:rPr>
                  <a:t>Median = </a:t>
                </a:r>
                <a14:m>
                  <m:oMath xmlns:m="http://schemas.openxmlformats.org/officeDocument/2006/math">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r>
                                  <a:rPr lang="en-US">
                                    <a:latin typeface="Cambria Math" panose="02040503050406030204" pitchFamily="18" charset="0"/>
                                    <a:cs typeface="Arial" panose="020B0604020202020204" pitchFamily="34" charset="0"/>
                                  </a:rPr>
                                  <m:t>𝑛</m:t>
                                </m:r>
                                <m:r>
                                  <a:rPr lang="en-US">
                                    <a:latin typeface="Cambria Math" panose="02040503050406030204" pitchFamily="18" charset="0"/>
                                    <a:cs typeface="Arial" panose="020B0604020202020204" pitchFamily="34" charset="0"/>
                                  </a:rPr>
                                  <m:t>+1</m:t>
                                </m:r>
                              </m:num>
                              <m:den>
                                <m:r>
                                  <a:rPr lang="en-US">
                                    <a:latin typeface="Cambria Math" panose="02040503050406030204" pitchFamily="18" charset="0"/>
                                    <a:cs typeface="Arial" panose="020B0604020202020204" pitchFamily="34" charset="0"/>
                                  </a:rPr>
                                  <m:t>2</m:t>
                                </m:r>
                              </m:den>
                            </m:f>
                          </m:e>
                        </m:d>
                      </m:e>
                      <m:sup>
                        <m:r>
                          <a:rPr lang="en-US">
                            <a:latin typeface="Cambria Math" panose="02040503050406030204" pitchFamily="18" charset="0"/>
                            <a:cs typeface="Arial" panose="020B0604020202020204" pitchFamily="34" charset="0"/>
                          </a:rPr>
                          <m:t>𝑡h</m:t>
                        </m:r>
                      </m:sup>
                    </m:sSup>
                  </m:oMath>
                </a14:m>
                <a:r>
                  <a:rPr lang="en-US" dirty="0">
                    <a:latin typeface="Arial" panose="020B0604020202020204" pitchFamily="34" charset="0"/>
                    <a:cs typeface="Arial" panose="020B0604020202020204" pitchFamily="34" charset="0"/>
                  </a:rPr>
                  <a:t> observation = </a:t>
                </a:r>
                <a14:m>
                  <m:oMath xmlns:m="http://schemas.openxmlformats.org/officeDocument/2006/math">
                    <m:sSup>
                      <m:sSupPr>
                        <m:ctrlPr>
                          <a:rPr lang="en-US" i="1">
                            <a:latin typeface="Cambria Math" panose="02040503050406030204" pitchFamily="18" charset="0"/>
                            <a:cs typeface="Arial" panose="020B0604020202020204" pitchFamily="34" charset="0"/>
                          </a:rPr>
                        </m:ctrlPr>
                      </m:sSupPr>
                      <m:e>
                        <m:r>
                          <a:rPr lang="en-US">
                            <a:latin typeface="Cambria Math" panose="02040503050406030204" pitchFamily="18" charset="0"/>
                            <a:cs typeface="Arial" panose="020B0604020202020204" pitchFamily="34" charset="0"/>
                          </a:rPr>
                          <m:t>4</m:t>
                        </m:r>
                      </m:e>
                      <m:sup>
                        <m:r>
                          <a:rPr lang="en-US">
                            <a:latin typeface="Cambria Math" panose="02040503050406030204" pitchFamily="18" charset="0"/>
                            <a:cs typeface="Arial" panose="020B0604020202020204" pitchFamily="34" charset="0"/>
                          </a:rPr>
                          <m:t>𝑡h</m:t>
                        </m:r>
                      </m:sup>
                    </m:sSup>
                  </m:oMath>
                </a14:m>
                <a:r>
                  <a:rPr lang="en-US" dirty="0">
                    <a:latin typeface="Arial" panose="020B0604020202020204" pitchFamily="34" charset="0"/>
                    <a:cs typeface="Arial" panose="020B0604020202020204" pitchFamily="34" charset="0"/>
                  </a:rPr>
                  <a:t> observation = 17</a:t>
                </a:r>
              </a:p>
              <a:p>
                <a:pPr marL="285750" indent="-285750" algn="just">
                  <a:lnSpc>
                    <a:spcPct val="150000"/>
                  </a:lnSpc>
                  <a:buFont typeface="Arial" panose="020B0604020202020204" pitchFamily="34" charset="0"/>
                  <a:buChar char="•"/>
                </a:pPr>
                <a:r>
                  <a:rPr lang="en-US" sz="2000" dirty="0">
                    <a:latin typeface="Arial" pitchFamily="34" charset="0"/>
                    <a:cs typeface="Arial" pitchFamily="34" charset="0"/>
                  </a:rPr>
                  <a:t>Find median for the data: 12, 7, 2, 34, 17, 40, 21 and 18</a:t>
                </a:r>
              </a:p>
              <a:p>
                <a:pPr marL="742950" lvl="1" indent="-285750" algn="just">
                  <a:lnSpc>
                    <a:spcPct val="100000"/>
                  </a:lnSpc>
                  <a:buFont typeface="Wingdings" panose="05000000000000000000" pitchFamily="2" charset="2"/>
                  <a:buChar char="ü"/>
                </a:pPr>
                <a:r>
                  <a:rPr lang="en-US" dirty="0">
                    <a:latin typeface="Arial" pitchFamily="34" charset="0"/>
                    <a:cs typeface="Arial" pitchFamily="34" charset="0"/>
                  </a:rPr>
                  <a:t>arrange the values in ascending order  2, 7, 12, 17, 18, 21, 34, 40</a:t>
                </a:r>
              </a:p>
              <a:p>
                <a:pPr marL="742950" lvl="1" indent="-285750" algn="just">
                  <a:lnSpc>
                    <a:spcPct val="100000"/>
                  </a:lnSpc>
                  <a:buFont typeface="Wingdings" panose="05000000000000000000" pitchFamily="2" charset="2"/>
                  <a:buChar char="ü"/>
                </a:pPr>
                <a:r>
                  <a:rPr lang="en-US" dirty="0">
                    <a:latin typeface="Arial" pitchFamily="34" charset="0"/>
                    <a:cs typeface="Arial" pitchFamily="34" charset="0"/>
                  </a:rPr>
                  <a:t>Count the total number of elements,  Here n= 8,  8 is an even number</a:t>
                </a:r>
              </a:p>
              <a:p>
                <a:pPr marL="742950" lvl="1" indent="-285750" algn="just">
                  <a:lnSpc>
                    <a:spcPct val="100000"/>
                  </a:lnSpc>
                  <a:buFont typeface="Wingdings" panose="05000000000000000000" pitchFamily="2" charset="2"/>
                  <a:buChar char="ü"/>
                </a:pPr>
                <a:r>
                  <a:rPr lang="en-US" dirty="0">
                    <a:latin typeface="Arial" pitchFamily="34" charset="0"/>
                    <a:cs typeface="Arial" pitchFamily="34" charset="0"/>
                  </a:rPr>
                  <a:t>Median = </a:t>
                </a:r>
                <a14:m>
                  <m:oMath xmlns:m="http://schemas.openxmlformats.org/officeDocument/2006/math">
                    <m:f>
                      <m:fPr>
                        <m:ctrlPr>
                          <a:rPr lang="en-US" i="1">
                            <a:latin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r>
                                      <a:rPr lang="en-US">
                                        <a:latin typeface="Cambria Math" panose="02040503050406030204" pitchFamily="18" charset="0"/>
                                        <a:cs typeface="Arial" panose="020B0604020202020204" pitchFamily="34" charset="0"/>
                                      </a:rPr>
                                      <m:t>𝑛</m:t>
                                    </m:r>
                                  </m:num>
                                  <m:den>
                                    <m:r>
                                      <a:rPr lang="en-US">
                                        <a:latin typeface="Cambria Math" panose="02040503050406030204" pitchFamily="18" charset="0"/>
                                        <a:cs typeface="Arial" panose="020B0604020202020204" pitchFamily="34" charset="0"/>
                                      </a:rPr>
                                      <m:t>2</m:t>
                                    </m:r>
                                  </m:den>
                                </m:f>
                              </m:e>
                            </m:d>
                          </m:e>
                          <m:sup>
                            <m:r>
                              <a:rPr lang="en-US">
                                <a:latin typeface="Cambria Math" panose="02040503050406030204" pitchFamily="18" charset="0"/>
                                <a:cs typeface="Arial" panose="020B0604020202020204" pitchFamily="34" charset="0"/>
                              </a:rPr>
                              <m:t>𝑡h</m:t>
                            </m:r>
                          </m:sup>
                        </m:sSup>
                        <m:r>
                          <a:rPr lang="en-US">
                            <a:latin typeface="Cambria Math" panose="02040503050406030204" pitchFamily="18" charset="0"/>
                            <a:cs typeface="Arial" panose="020B0604020202020204" pitchFamily="34" charset="0"/>
                          </a:rPr>
                          <m:t>𝑣𝑎𝑙𝑢𝑒</m:t>
                        </m:r>
                        <m:r>
                          <a:rPr lang="en-US">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d>
                              <m:dPr>
                                <m:ctrlPr>
                                  <a:rPr lang="en-US" i="1">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r>
                                      <a:rPr lang="en-US">
                                        <a:latin typeface="Cambria Math" panose="02040503050406030204" pitchFamily="18" charset="0"/>
                                        <a:cs typeface="Arial" panose="020B0604020202020204" pitchFamily="34" charset="0"/>
                                      </a:rPr>
                                      <m:t>𝑛</m:t>
                                    </m:r>
                                  </m:num>
                                  <m:den>
                                    <m:r>
                                      <a:rPr lang="en-US">
                                        <a:latin typeface="Cambria Math" panose="02040503050406030204" pitchFamily="18" charset="0"/>
                                        <a:cs typeface="Arial" panose="020B0604020202020204" pitchFamily="34" charset="0"/>
                                      </a:rPr>
                                      <m:t>2</m:t>
                                    </m:r>
                                  </m:den>
                                </m:f>
                                <m:r>
                                  <a:rPr lang="en-US">
                                    <a:latin typeface="Cambria Math" panose="02040503050406030204" pitchFamily="18" charset="0"/>
                                    <a:cs typeface="Arial" panose="020B0604020202020204" pitchFamily="34" charset="0"/>
                                  </a:rPr>
                                  <m:t>+1</m:t>
                                </m:r>
                              </m:e>
                            </m:d>
                          </m:e>
                          <m:sup>
                            <m:r>
                              <a:rPr lang="en-US">
                                <a:latin typeface="Cambria Math" panose="02040503050406030204" pitchFamily="18" charset="0"/>
                                <a:cs typeface="Arial" panose="020B0604020202020204" pitchFamily="34" charset="0"/>
                              </a:rPr>
                              <m:t>𝑡h</m:t>
                            </m:r>
                          </m:sup>
                        </m:sSup>
                        <m:r>
                          <a:rPr lang="en-US">
                            <a:latin typeface="Cambria Math" panose="02040503050406030204" pitchFamily="18" charset="0"/>
                            <a:cs typeface="Arial" panose="020B0604020202020204" pitchFamily="34" charset="0"/>
                          </a:rPr>
                          <m:t>𝑣𝑎𝑙𝑢𝑒</m:t>
                        </m:r>
                      </m:num>
                      <m:den>
                        <m:r>
                          <a:rPr lang="en-US">
                            <a:latin typeface="Cambria Math" panose="02040503050406030204" pitchFamily="18" charset="0"/>
                            <a:cs typeface="Arial" panose="020B0604020202020204" pitchFamily="34" charset="0"/>
                          </a:rPr>
                          <m:t>2</m:t>
                        </m:r>
                      </m:den>
                    </m:f>
                  </m:oMath>
                </a14:m>
                <a:r>
                  <a:rPr lang="en-US" dirty="0">
                    <a:latin typeface="Arial" panose="020B0604020202020204" pitchFamily="34" charset="0"/>
                    <a:cs typeface="Arial" panose="020B0604020202020204" pitchFamily="34" charset="0"/>
                  </a:rPr>
                  <a:t> = </a:t>
                </a:r>
                <a14:m>
                  <m:oMath xmlns:m="http://schemas.openxmlformats.org/officeDocument/2006/math">
                    <m:f>
                      <m:fPr>
                        <m:ctrlPr>
                          <a:rPr lang="en-US" i="1">
                            <a:latin typeface="Cambria Math" panose="02040503050406030204" pitchFamily="18" charset="0"/>
                            <a:cs typeface="Arial" panose="020B0604020202020204" pitchFamily="34" charset="0"/>
                          </a:rPr>
                        </m:ctrlPr>
                      </m:fPr>
                      <m:num>
                        <m:sSup>
                          <m:sSupPr>
                            <m:ctrlPr>
                              <a:rPr lang="en-US" i="1">
                                <a:latin typeface="Cambria Math" panose="02040503050406030204" pitchFamily="18" charset="0"/>
                                <a:cs typeface="Arial" panose="020B0604020202020204" pitchFamily="34" charset="0"/>
                              </a:rPr>
                            </m:ctrlPr>
                          </m:sSupPr>
                          <m:e>
                            <m:r>
                              <a:rPr lang="en-US">
                                <a:latin typeface="Cambria Math" panose="02040503050406030204" pitchFamily="18" charset="0"/>
                                <a:cs typeface="Arial" panose="020B0604020202020204" pitchFamily="34" charset="0"/>
                              </a:rPr>
                              <m:t>4</m:t>
                            </m:r>
                          </m:e>
                          <m:sup>
                            <m:r>
                              <a:rPr lang="en-US">
                                <a:latin typeface="Cambria Math" panose="02040503050406030204" pitchFamily="18" charset="0"/>
                                <a:cs typeface="Arial" panose="020B0604020202020204" pitchFamily="34" charset="0"/>
                              </a:rPr>
                              <m:t>𝑡h</m:t>
                            </m:r>
                          </m:sup>
                        </m:sSup>
                        <m:r>
                          <a:rPr lang="en-US">
                            <a:latin typeface="Cambria Math" panose="02040503050406030204" pitchFamily="18" charset="0"/>
                            <a:cs typeface="Arial" panose="020B0604020202020204" pitchFamily="34" charset="0"/>
                          </a:rPr>
                          <m:t>𝑣𝑎𝑙𝑢𝑒</m:t>
                        </m:r>
                        <m:r>
                          <a:rPr lang="en-US">
                            <a:latin typeface="Cambria Math" panose="02040503050406030204" pitchFamily="18" charset="0"/>
                            <a:cs typeface="Arial" panose="020B0604020202020204" pitchFamily="34" charset="0"/>
                          </a:rPr>
                          <m:t>+</m:t>
                        </m:r>
                        <m:sSup>
                          <m:sSupPr>
                            <m:ctrlPr>
                              <a:rPr lang="en-US" i="1">
                                <a:latin typeface="Cambria Math" panose="02040503050406030204" pitchFamily="18" charset="0"/>
                                <a:cs typeface="Arial" panose="020B0604020202020204" pitchFamily="34" charset="0"/>
                              </a:rPr>
                            </m:ctrlPr>
                          </m:sSupPr>
                          <m:e>
                            <m:r>
                              <a:rPr lang="en-US">
                                <a:latin typeface="Cambria Math" panose="02040503050406030204" pitchFamily="18" charset="0"/>
                                <a:cs typeface="Arial" panose="020B0604020202020204" pitchFamily="34" charset="0"/>
                              </a:rPr>
                              <m:t>5</m:t>
                            </m:r>
                          </m:e>
                          <m:sup>
                            <m:r>
                              <a:rPr lang="en-US">
                                <a:latin typeface="Cambria Math" panose="02040503050406030204" pitchFamily="18" charset="0"/>
                                <a:cs typeface="Arial" panose="020B0604020202020204" pitchFamily="34" charset="0"/>
                              </a:rPr>
                              <m:t>𝑡h</m:t>
                            </m:r>
                          </m:sup>
                        </m:sSup>
                        <m:r>
                          <a:rPr lang="en-US">
                            <a:latin typeface="Cambria Math" panose="02040503050406030204" pitchFamily="18" charset="0"/>
                            <a:cs typeface="Arial" panose="020B0604020202020204" pitchFamily="34" charset="0"/>
                          </a:rPr>
                          <m:t>𝑣𝑎𝑙𝑢𝑒</m:t>
                        </m:r>
                      </m:num>
                      <m:den>
                        <m:r>
                          <a:rPr lang="en-US">
                            <a:latin typeface="Cambria Math" panose="02040503050406030204" pitchFamily="18" charset="0"/>
                            <a:cs typeface="Arial" panose="020B0604020202020204" pitchFamily="34" charset="0"/>
                          </a:rPr>
                          <m:t>2</m:t>
                        </m:r>
                      </m:den>
                    </m:f>
                  </m:oMath>
                </a14:m>
                <a:r>
                  <a:rPr lang="en-US" dirty="0">
                    <a:latin typeface="Arial" panose="020B0604020202020204" pitchFamily="34" charset="0"/>
                    <a:cs typeface="Arial" panose="020B0604020202020204" pitchFamily="34" charset="0"/>
                  </a:rPr>
                  <a:t> = </a:t>
                </a:r>
                <a14:m>
                  <m:oMath xmlns:m="http://schemas.openxmlformats.org/officeDocument/2006/math">
                    <m:f>
                      <m:fPr>
                        <m:ctrlPr>
                          <a:rPr lang="en-US" i="1">
                            <a:latin typeface="Cambria Math" panose="02040503050406030204" pitchFamily="18" charset="0"/>
                            <a:cs typeface="Arial" panose="020B0604020202020204" pitchFamily="34" charset="0"/>
                          </a:rPr>
                        </m:ctrlPr>
                      </m:fPr>
                      <m:num>
                        <m:r>
                          <a:rPr lang="en-US">
                            <a:latin typeface="Cambria Math" panose="02040503050406030204" pitchFamily="18" charset="0"/>
                            <a:cs typeface="Arial" panose="020B0604020202020204" pitchFamily="34" charset="0"/>
                          </a:rPr>
                          <m:t>17+18</m:t>
                        </m:r>
                      </m:num>
                      <m:den>
                        <m:r>
                          <a:rPr lang="en-US">
                            <a:latin typeface="Cambria Math" panose="02040503050406030204" pitchFamily="18" charset="0"/>
                            <a:cs typeface="Arial" panose="020B0604020202020204" pitchFamily="34" charset="0"/>
                          </a:rPr>
                          <m:t>2</m:t>
                        </m:r>
                      </m:den>
                    </m:f>
                    <m:r>
                      <a:rPr lang="en-US">
                        <a:latin typeface="Cambria Math" panose="02040503050406030204" pitchFamily="18" charset="0"/>
                        <a:cs typeface="Arial" panose="020B0604020202020204" pitchFamily="34" charset="0"/>
                      </a:rPr>
                      <m:t>=17.5</m:t>
                    </m:r>
                  </m:oMath>
                </a14:m>
                <a:endParaRPr lang="en-US" sz="2000" dirty="0">
                  <a:latin typeface="Arial" pitchFamily="34" charset="0"/>
                  <a:cs typeface="Arial" pitchFamily="34" charset="0"/>
                </a:endParaRPr>
              </a:p>
              <a:p>
                <a:pPr marL="285750" indent="-285750" algn="just">
                  <a:lnSpc>
                    <a:spcPct val="150000"/>
                  </a:lnSpc>
                  <a:buFont typeface="Arial" panose="020B0604020202020204" pitchFamily="34" charset="0"/>
                  <a:buChar char="•"/>
                </a:pPr>
                <a:r>
                  <a:rPr lang="en-US" sz="2000" b="1" dirty="0">
                    <a:latin typeface="Arial" pitchFamily="34" charset="0"/>
                    <a:cs typeface="Arial" pitchFamily="34" charset="0"/>
                  </a:rPr>
                  <a:t>Mode</a:t>
                </a:r>
                <a:r>
                  <a:rPr lang="en-US" sz="2000" dirty="0">
                    <a:latin typeface="Arial" pitchFamily="34" charset="0"/>
                    <a:cs typeface="Arial" pitchFamily="34" charset="0"/>
                  </a:rPr>
                  <a:t>: The mode is simply that value which has the highest frequency. For example: The scores obtained by 5 students in a statistics test are  10, 7, 7, 7, and 0. The value “7” has the highest frequency, therefore the mode is “7”. Although mode can be computed for any level of measurement, it is especially useful in summarizing nominal-level data.</a:t>
                </a:r>
                <a:endParaRPr lang="en-US" dirty="0">
                  <a:latin typeface="Arial" pitchFamily="34" charset="0"/>
                  <a:cs typeface="Arial" pitchFamily="34" charset="0"/>
                </a:endParaRPr>
              </a:p>
              <a:p>
                <a:pPr marL="285750" indent="-285750" algn="just">
                  <a:lnSpc>
                    <a:spcPct val="150000"/>
                  </a:lnSpc>
                  <a:buFont typeface="Arial" panose="020B0604020202020204" pitchFamily="34" charset="0"/>
                  <a:buChar char="•"/>
                </a:pPr>
                <a:endParaRPr lang="en-US" sz="2000" dirty="0">
                  <a:latin typeface="Arial" pitchFamily="34" charset="0"/>
                  <a:cs typeface="Arial" pitchFamily="34" charset="0"/>
                </a:endParaRPr>
              </a:p>
              <a:p>
                <a:pPr algn="just">
                  <a:lnSpc>
                    <a:spcPct val="150000"/>
                  </a:lnSpc>
                </a:pPr>
                <a:endParaRPr lang="en-GB" sz="2000" dirty="0">
                  <a:latin typeface="Arial" pitchFamily="34" charset="0"/>
                  <a:cs typeface="Arial"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500062"/>
                <a:ext cx="10831132" cy="6200776"/>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3296008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66671"/>
            <a:ext cx="9144000" cy="605308"/>
          </a:xfrm>
        </p:spPr>
        <p:txBody>
          <a:bodyPr>
            <a:noAutofit/>
          </a:bodyPr>
          <a:lstStyle/>
          <a:p>
            <a:r>
              <a:rPr lang="en-US" sz="2400" b="1" dirty="0">
                <a:latin typeface="Arial" pitchFamily="34" charset="0"/>
                <a:cs typeface="Arial" pitchFamily="34" charset="0"/>
              </a:rPr>
              <a:t>Median for Grouped data</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155728"/>
                <a:ext cx="10831132" cy="5446778"/>
              </a:xfrm>
            </p:spPr>
            <p:txBody>
              <a:bodyPr>
                <a:noAutofit/>
              </a:bodyPr>
              <a:lstStyle/>
              <a:p>
                <a:pPr marL="285750" indent="-285750" algn="just">
                  <a:lnSpc>
                    <a:spcPct val="150000"/>
                  </a:lnSpc>
                  <a:buFont typeface="Arial" panose="020B0604020202020204" pitchFamily="34" charset="0"/>
                  <a:buChar char="•"/>
                </a:pPr>
                <a:r>
                  <a:rPr lang="en-US" sz="2000" dirty="0">
                    <a:latin typeface="Arial" pitchFamily="34" charset="0"/>
                    <a:cs typeface="Arial" pitchFamily="34" charset="0"/>
                  </a:rPr>
                  <a:t>Median for group data: To calculated median for grouped frequency distribution, we regard the frequencies are evenly spread over the class intervals and the class intervals are formed so that there could be no gaps in the intervals. For example 1-5, 6-10, 11-15 should be replaced by 0.5-5.5, 5.5-10.5, 10.5-15.5. Then median is calculated as follows</a:t>
                </a:r>
              </a:p>
              <a:p>
                <a:pPr marL="0" lvl="1">
                  <a:lnSpc>
                    <a:spcPct val="150000"/>
                  </a:lnSpc>
                  <a:spcBef>
                    <a:spcPts val="1000"/>
                  </a:spcBef>
                </a:pPr>
                <a:r>
                  <a:rPr lang="en-US" dirty="0">
                    <a:latin typeface="Arial" pitchFamily="34" charset="0"/>
                    <a:cs typeface="Arial" pitchFamily="34" charset="0"/>
                  </a:rPr>
                  <a:t>Median </a:t>
                </a:r>
                <a14:m>
                  <m:oMath xmlns:m="http://schemas.openxmlformats.org/officeDocument/2006/math">
                    <m:r>
                      <a:rPr lang="en-US">
                        <a:latin typeface="Cambria Math" panose="02040503050406030204" pitchFamily="18" charset="0"/>
                        <a:cs typeface="Arial" pitchFamily="34" charset="0"/>
                      </a:rPr>
                      <m:t>=</m:t>
                    </m:r>
                    <m:r>
                      <a:rPr lang="en-US">
                        <a:latin typeface="Cambria Math" panose="02040503050406030204" pitchFamily="18" charset="0"/>
                        <a:cs typeface="Arial" pitchFamily="34" charset="0"/>
                      </a:rPr>
                      <m:t>𝐿</m:t>
                    </m:r>
                    <m:r>
                      <a:rPr lang="en-US">
                        <a:latin typeface="Cambria Math" panose="02040503050406030204" pitchFamily="18" charset="0"/>
                        <a:cs typeface="Arial" pitchFamily="34" charset="0"/>
                      </a:rPr>
                      <m:t>+</m:t>
                    </m:r>
                    <m:d>
                      <m:dPr>
                        <m:ctrlPr>
                          <a:rPr lang="en-US" i="1">
                            <a:latin typeface="Cambria Math" panose="02040503050406030204" pitchFamily="18" charset="0"/>
                            <a:cs typeface="Arial" pitchFamily="34" charset="0"/>
                          </a:rPr>
                        </m:ctrlPr>
                      </m:dPr>
                      <m:e>
                        <m:f>
                          <m:fPr>
                            <m:ctrlPr>
                              <a:rPr lang="en-US" i="1">
                                <a:latin typeface="Cambria Math" panose="02040503050406030204" pitchFamily="18" charset="0"/>
                                <a:cs typeface="Arial" pitchFamily="34" charset="0"/>
                              </a:rPr>
                            </m:ctrlPr>
                          </m:fPr>
                          <m:num>
                            <m:f>
                              <m:fPr>
                                <m:type m:val="lin"/>
                                <m:ctrlPr>
                                  <a:rPr lang="en-US" i="1">
                                    <a:latin typeface="Cambria Math" panose="02040503050406030204" pitchFamily="18" charset="0"/>
                                    <a:cs typeface="Arial" pitchFamily="34" charset="0"/>
                                  </a:rPr>
                                </m:ctrlPr>
                              </m:fPr>
                              <m:num>
                                <m:r>
                                  <a:rPr lang="en-US">
                                    <a:latin typeface="Cambria Math" panose="02040503050406030204" pitchFamily="18" charset="0"/>
                                    <a:cs typeface="Arial" pitchFamily="34" charset="0"/>
                                  </a:rPr>
                                  <m:t>𝑛</m:t>
                                </m:r>
                              </m:num>
                              <m:den>
                                <m:r>
                                  <a:rPr lang="en-US">
                                    <a:latin typeface="Cambria Math" panose="02040503050406030204" pitchFamily="18" charset="0"/>
                                    <a:cs typeface="Arial" pitchFamily="34" charset="0"/>
                                  </a:rPr>
                                  <m:t>2</m:t>
                                </m:r>
                              </m:den>
                            </m:f>
                            <m:r>
                              <a:rPr lang="en-US">
                                <a:latin typeface="Cambria Math" panose="02040503050406030204" pitchFamily="18" charset="0"/>
                                <a:cs typeface="Arial" pitchFamily="34" charset="0"/>
                              </a:rPr>
                              <m:t>−</m:t>
                            </m:r>
                            <m:sSub>
                              <m:sSubPr>
                                <m:ctrlPr>
                                  <a:rPr lang="en-US" b="0" i="1" smtClean="0">
                                    <a:latin typeface="Cambria Math" panose="02040503050406030204" pitchFamily="18" charset="0"/>
                                    <a:cs typeface="Arial" pitchFamily="34" charset="0"/>
                                  </a:rPr>
                                </m:ctrlPr>
                              </m:sSubPr>
                              <m:e>
                                <m:r>
                                  <a:rPr lang="en-US">
                                    <a:latin typeface="Cambria Math" panose="02040503050406030204" pitchFamily="18" charset="0"/>
                                    <a:cs typeface="Arial" pitchFamily="34" charset="0"/>
                                  </a:rPr>
                                  <m:t>𝐹</m:t>
                                </m:r>
                              </m:e>
                              <m:sub>
                                <m:r>
                                  <a:rPr lang="en-US" b="0" i="0" smtClean="0">
                                    <a:latin typeface="Cambria Math" panose="02040503050406030204" pitchFamily="18" charset="0"/>
                                    <a:cs typeface="Arial" pitchFamily="34" charset="0"/>
                                  </a:rPr>
                                  <m:t>−1</m:t>
                                </m:r>
                              </m:sub>
                            </m:sSub>
                          </m:num>
                          <m:den>
                            <m:sSub>
                              <m:sSubPr>
                                <m:ctrlPr>
                                  <a:rPr lang="en-US" i="1">
                                    <a:latin typeface="Cambria Math" panose="02040503050406030204" pitchFamily="18" charset="0"/>
                                    <a:cs typeface="Arial" pitchFamily="34" charset="0"/>
                                  </a:rPr>
                                </m:ctrlPr>
                              </m:sSubPr>
                              <m:e>
                                <m:r>
                                  <a:rPr lang="en-US">
                                    <a:latin typeface="Cambria Math" panose="02040503050406030204" pitchFamily="18" charset="0"/>
                                    <a:cs typeface="Arial" pitchFamily="34" charset="0"/>
                                  </a:rPr>
                                  <m:t>𝑓</m:t>
                                </m:r>
                              </m:e>
                              <m:sub>
                                <m:r>
                                  <a:rPr lang="en-US" b="0" i="1" smtClean="0">
                                    <a:latin typeface="Cambria Math" panose="02040503050406030204" pitchFamily="18" charset="0"/>
                                    <a:cs typeface="Arial" pitchFamily="34" charset="0"/>
                                  </a:rPr>
                                  <m:t>0</m:t>
                                </m:r>
                              </m:sub>
                            </m:sSub>
                          </m:den>
                        </m:f>
                      </m:e>
                    </m:d>
                    <m:r>
                      <a:rPr lang="en-US">
                        <a:latin typeface="Cambria Math" panose="02040503050406030204" pitchFamily="18" charset="0"/>
                        <a:cs typeface="Arial" pitchFamily="34" charset="0"/>
                      </a:rPr>
                      <m:t>h</m:t>
                    </m:r>
                  </m:oMath>
                </a14:m>
                <a:endParaRPr lang="en-US" sz="2000" dirty="0">
                  <a:latin typeface="Arial" pitchFamily="34" charset="0"/>
                  <a:cs typeface="Arial" pitchFamily="34" charset="0"/>
                </a:endParaRPr>
              </a:p>
              <a:p>
                <a:pPr marL="742950" lvl="1" indent="-285750" algn="just">
                  <a:lnSpc>
                    <a:spcPct val="150000"/>
                  </a:lnSpc>
                  <a:buFont typeface="Wingdings" panose="05000000000000000000" pitchFamily="2" charset="2"/>
                  <a:buChar char="ü"/>
                </a:pPr>
                <a:r>
                  <a:rPr lang="en-US" sz="1800" dirty="0"/>
                  <a:t>L = lower boundary of the median class.</a:t>
                </a:r>
              </a:p>
              <a:p>
                <a:pPr marL="742950" lvl="1" indent="-285750" algn="just">
                  <a:lnSpc>
                    <a:spcPct val="150000"/>
                  </a:lnSpc>
                  <a:buFont typeface="Wingdings" panose="05000000000000000000" pitchFamily="2" charset="2"/>
                  <a:buChar char="ü"/>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𝐹</m:t>
                        </m:r>
                      </m:e>
                      <m:sub>
                        <m:r>
                          <a:rPr lang="en-US" sz="1800" b="0" i="1" smtClean="0">
                            <a:latin typeface="Cambria Math" panose="02040503050406030204" pitchFamily="18" charset="0"/>
                          </a:rPr>
                          <m:t>−1</m:t>
                        </m:r>
                      </m:sub>
                    </m:sSub>
                  </m:oMath>
                </a14:m>
                <a:r>
                  <a:rPr lang="en-US" sz="1800" dirty="0"/>
                  <a:t> = Cumulative frequency of pre-median class.</a:t>
                </a:r>
              </a:p>
              <a:p>
                <a:pPr marL="742950" lvl="1" indent="-285750" algn="just">
                  <a:lnSpc>
                    <a:spcPct val="150000"/>
                  </a:lnSpc>
                  <a:buFont typeface="Wingdings" panose="05000000000000000000" pitchFamily="2" charset="2"/>
                  <a:buChar char="ü"/>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𝑓</m:t>
                        </m:r>
                      </m:e>
                      <m:sub>
                        <m:r>
                          <a:rPr lang="en-US" sz="1800" b="0" i="1" smtClean="0">
                            <a:latin typeface="Cambria Math" panose="02040503050406030204" pitchFamily="18" charset="0"/>
                          </a:rPr>
                          <m:t>0</m:t>
                        </m:r>
                      </m:sub>
                    </m:sSub>
                  </m:oMath>
                </a14:m>
                <a:r>
                  <a:rPr lang="en-US" sz="1800" dirty="0"/>
                  <a:t> = frequency of the median class.</a:t>
                </a:r>
              </a:p>
              <a:p>
                <a:pPr marL="742950" lvl="1" indent="-285750" algn="just">
                  <a:lnSpc>
                    <a:spcPct val="150000"/>
                  </a:lnSpc>
                  <a:buFont typeface="Wingdings" panose="05000000000000000000" pitchFamily="2" charset="2"/>
                  <a:buChar char="ü"/>
                </a:pPr>
                <a:r>
                  <a:rPr lang="en-US" sz="1800" dirty="0"/>
                  <a:t>h = width of median class =(upper boundary – lower boundary) of median class.</a:t>
                </a:r>
              </a:p>
              <a:p>
                <a:pPr marL="742950" lvl="1" indent="-285750" algn="just">
                  <a:lnSpc>
                    <a:spcPct val="150000"/>
                  </a:lnSpc>
                  <a:buFont typeface="Wingdings" panose="05000000000000000000" pitchFamily="2" charset="2"/>
                  <a:buChar char="ü"/>
                </a:pPr>
                <a:r>
                  <a:rPr lang="en-US" sz="1800" dirty="0"/>
                  <a:t>Median Class is the class that contains </a:t>
                </a:r>
                <a14:m>
                  <m:oMath xmlns:m="http://schemas.openxmlformats.org/officeDocument/2006/math">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f>
                              <m:fPr>
                                <m:ctrlPr>
                                  <a:rPr lang="en-US" sz="1800" i="1">
                                    <a:latin typeface="Cambria Math" panose="02040503050406030204" pitchFamily="18" charset="0"/>
                                  </a:rPr>
                                </m:ctrlPr>
                              </m:fPr>
                              <m:num>
                                <m:r>
                                  <a:rPr lang="en-US" sz="1800">
                                    <a:latin typeface="Cambria Math" panose="02040503050406030204" pitchFamily="18" charset="0"/>
                                  </a:rPr>
                                  <m:t>𝑛</m:t>
                                </m:r>
                              </m:num>
                              <m:den>
                                <m:r>
                                  <a:rPr lang="en-US" sz="1800">
                                    <a:latin typeface="Cambria Math" panose="02040503050406030204" pitchFamily="18" charset="0"/>
                                  </a:rPr>
                                  <m:t>2</m:t>
                                </m:r>
                              </m:den>
                            </m:f>
                          </m:e>
                        </m:d>
                      </m:e>
                      <m:sup>
                        <m:r>
                          <a:rPr lang="en-US" sz="1800">
                            <a:latin typeface="Cambria Math" panose="02040503050406030204" pitchFamily="18" charset="0"/>
                          </a:rPr>
                          <m:t>𝑡h</m:t>
                        </m:r>
                      </m:sup>
                    </m:sSup>
                  </m:oMath>
                </a14:m>
                <a:r>
                  <a:rPr lang="en-US" sz="1800" dirty="0"/>
                  <a:t> observation of the given data. </a:t>
                </a:r>
              </a:p>
              <a:p>
                <a:pPr marL="742950" lvl="1" indent="-285750" algn="just">
                  <a:lnSpc>
                    <a:spcPct val="150000"/>
                  </a:lnSpc>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endParaRPr lang="en-US" sz="2000" dirty="0">
                  <a:latin typeface="Arial" pitchFamily="34" charset="0"/>
                  <a:cs typeface="Arial" pitchFamily="34" charset="0"/>
                </a:endParaRPr>
              </a:p>
              <a:p>
                <a:pPr marL="285750" indent="-285750" algn="just">
                  <a:lnSpc>
                    <a:spcPct val="150000"/>
                  </a:lnSpc>
                  <a:buFont typeface="Arial" panose="020B0604020202020204" pitchFamily="34" charset="0"/>
                  <a:buChar char="•"/>
                </a:pPr>
                <a:endParaRPr lang="en-US" sz="2000" dirty="0">
                  <a:latin typeface="Arial" pitchFamily="34" charset="0"/>
                  <a:cs typeface="Arial" pitchFamily="34" charset="0"/>
                </a:endParaRPr>
              </a:p>
              <a:p>
                <a:pPr algn="just">
                  <a:lnSpc>
                    <a:spcPct val="150000"/>
                  </a:lnSpc>
                </a:pPr>
                <a:endParaRPr lang="en-GB" sz="2000" dirty="0">
                  <a:latin typeface="Arial" pitchFamily="34" charset="0"/>
                  <a:cs typeface="Arial"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155728"/>
                <a:ext cx="10831132" cy="5446778"/>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1395760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15342"/>
            <a:ext cx="9144000" cy="605308"/>
          </a:xfrm>
        </p:spPr>
        <p:txBody>
          <a:bodyPr>
            <a:noAutofit/>
          </a:bodyPr>
          <a:lstStyle/>
          <a:p>
            <a:r>
              <a:rPr lang="en-US" sz="2400" b="1" dirty="0">
                <a:latin typeface="Arial" pitchFamily="34" charset="0"/>
                <a:cs typeface="Arial" pitchFamily="34" charset="0"/>
              </a:rPr>
              <a:t>Median for grouped data (</a:t>
            </a:r>
            <a:r>
              <a:rPr lang="en-US" sz="2400" b="1" dirty="0" err="1">
                <a:latin typeface="Arial" pitchFamily="34" charset="0"/>
                <a:cs typeface="Arial" pitchFamily="34" charset="0"/>
              </a:rPr>
              <a:t>cont</a:t>
            </a:r>
            <a:r>
              <a:rPr lang="en-US" sz="2400" b="1" dirty="0">
                <a:latin typeface="Arial" pitchFamily="34" charset="0"/>
                <a:cs typeface="Arial"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590954"/>
                <a:ext cx="10831132" cy="5769505"/>
              </a:xfrm>
            </p:spPr>
            <p:txBody>
              <a:bodyPr>
                <a:noAutofit/>
              </a:bodyPr>
              <a:lstStyle/>
              <a:p>
                <a:pPr marL="285750" indent="-28575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Calculate the median age (in years) of workers from the following data</a:t>
                </a:r>
              </a:p>
              <a:p>
                <a:pPr marL="285750" indent="-285750" algn="just">
                  <a:lnSpc>
                    <a:spcPct val="150000"/>
                  </a:lnSpc>
                  <a:buFont typeface="Arial" panose="020B0604020202020204" pitchFamily="34" charset="0"/>
                  <a:buChar char="•"/>
                </a:pPr>
                <a:endParaRPr lang="en-US" sz="1800" dirty="0">
                  <a:latin typeface="Arial" pitchFamily="34" charset="0"/>
                  <a:cs typeface="Arial" pitchFamily="34" charset="0"/>
                </a:endParaRPr>
              </a:p>
              <a:p>
                <a:pPr algn="just">
                  <a:lnSpc>
                    <a:spcPct val="150000"/>
                  </a:lnSpc>
                </a:pPr>
                <a:endParaRPr lang="en-US" sz="1800" dirty="0">
                  <a:latin typeface="Arial" pitchFamily="34" charset="0"/>
                  <a:cs typeface="Arial" pitchFamily="34" charset="0"/>
                </a:endParaRPr>
              </a:p>
              <a:p>
                <a:pPr algn="just">
                  <a:lnSpc>
                    <a:spcPct val="150000"/>
                  </a:lnSpc>
                </a:pPr>
                <a:endParaRPr lang="en-US" sz="1800" dirty="0">
                  <a:latin typeface="Arial" pitchFamily="34" charset="0"/>
                  <a:cs typeface="Arial" pitchFamily="34" charset="0"/>
                </a:endParaRPr>
              </a:p>
              <a:p>
                <a:pPr marL="285750" indent="-285750" algn="just">
                  <a:lnSpc>
                    <a:spcPct val="150000"/>
                  </a:lnSpc>
                  <a:buFont typeface="Arial" panose="020B0604020202020204" pitchFamily="34" charset="0"/>
                  <a:buChar char="•"/>
                </a:pPr>
                <a:r>
                  <a:rPr lang="en-US" sz="1800" dirty="0">
                    <a:latin typeface="Arial" pitchFamily="34" charset="0"/>
                    <a:cs typeface="Arial" pitchFamily="34" charset="0"/>
                  </a:rPr>
                  <a:t>To compute the median age of workers, we have constructed the following table</a:t>
                </a:r>
              </a:p>
              <a:p>
                <a:pPr algn="just">
                  <a:lnSpc>
                    <a:spcPct val="150000"/>
                  </a:lnSpc>
                </a:pPr>
                <a:endParaRPr lang="en-US" sz="1800" dirty="0">
                  <a:latin typeface="Arial" panose="020B0604020202020204" pitchFamily="34" charset="0"/>
                  <a:cs typeface="Arial" panose="020B0604020202020204" pitchFamily="34" charset="0"/>
                </a:endParaRPr>
              </a:p>
              <a:p>
                <a:pPr algn="just">
                  <a:lnSpc>
                    <a:spcPct val="150000"/>
                  </a:lnSpc>
                </a:pPr>
                <a:endParaRPr lang="en-US" sz="18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The median class is that contains the 75th value</a:t>
                </a:r>
              </a:p>
              <a:p>
                <a:r>
                  <a:rPr lang="en-US" sz="1800" dirty="0">
                    <a:latin typeface="Arial" panose="020B0604020202020204" pitchFamily="34" charset="0"/>
                    <a:cs typeface="Arial" panose="020B0604020202020204" pitchFamily="34" charset="0"/>
                  </a:rPr>
                  <a:t>Median = 40.5 + </a:t>
                </a:r>
                <a14:m>
                  <m:oMath xmlns:m="http://schemas.openxmlformats.org/officeDocument/2006/math">
                    <m:f>
                      <m:fPr>
                        <m:ctrlPr>
                          <a:rPr lang="en-US" sz="1800" i="1">
                            <a:latin typeface="Cambria Math" panose="02040503050406030204" pitchFamily="18" charset="0"/>
                            <a:cs typeface="Arial" pitchFamily="34" charset="0"/>
                          </a:rPr>
                        </m:ctrlPr>
                      </m:fPr>
                      <m:num>
                        <m:r>
                          <a:rPr lang="en-US" sz="1800">
                            <a:latin typeface="Cambria Math" panose="02040503050406030204" pitchFamily="18" charset="0"/>
                            <a:cs typeface="Arial" pitchFamily="34" charset="0"/>
                          </a:rPr>
                          <m:t>75−70</m:t>
                        </m:r>
                      </m:num>
                      <m:den>
                        <m:r>
                          <a:rPr lang="en-US" sz="1800">
                            <a:latin typeface="Cambria Math" panose="02040503050406030204" pitchFamily="18" charset="0"/>
                            <a:cs typeface="Arial" pitchFamily="34" charset="0"/>
                          </a:rPr>
                          <m:t>45</m:t>
                        </m:r>
                      </m:den>
                    </m:f>
                    <m:r>
                      <a:rPr lang="en-US" sz="1800">
                        <a:latin typeface="Cambria Math" panose="02040503050406030204" pitchFamily="18" charset="0"/>
                        <a:cs typeface="Arial" pitchFamily="34" charset="0"/>
                      </a:rPr>
                      <m:t>×10</m:t>
                    </m:r>
                  </m:oMath>
                </a14:m>
                <a:r>
                  <a:rPr lang="en-US" sz="1800" dirty="0">
                    <a:latin typeface="Arial" pitchFamily="34" charset="0"/>
                    <a:cs typeface="Arial" pitchFamily="34" charset="0"/>
                  </a:rPr>
                  <a:t> = 40.5 + 1.11 = 41.61</a:t>
                </a:r>
                <a:endParaRPr lang="en-US" sz="20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590954"/>
                <a:ext cx="10831132" cy="5769505"/>
              </a:xfrm>
              <a:blipFill rotWithShape="0">
                <a:blip r:embed="rId2"/>
                <a:stretch>
                  <a:fillRect l="-394" b="-1903"/>
                </a:stretch>
              </a:blipFill>
            </p:spPr>
            <p:txBody>
              <a:bodyPr/>
              <a:lstStyle/>
              <a:p>
                <a:r>
                  <a:rPr lang="en-US">
                    <a:noFill/>
                  </a:rPr>
                  <a:t> </a:t>
                </a:r>
              </a:p>
            </p:txBody>
          </p:sp>
        </mc:Fallback>
      </mc:AlternateContent>
      <p:pic>
        <p:nvPicPr>
          <p:cNvPr id="8" name="Picture 7"/>
          <p:cNvPicPr>
            <a:picLocks noChangeAspect="1"/>
          </p:cNvPicPr>
          <p:nvPr/>
        </p:nvPicPr>
        <p:blipFill>
          <a:blip r:embed="rId3"/>
          <a:stretch>
            <a:fillRect/>
          </a:stretch>
        </p:blipFill>
        <p:spPr>
          <a:xfrm>
            <a:off x="3133087" y="3175197"/>
            <a:ext cx="5925826" cy="2255716"/>
          </a:xfrm>
          <a:prstGeom prst="rect">
            <a:avLst/>
          </a:prstGeom>
        </p:spPr>
      </p:pic>
      <p:graphicFrame>
        <p:nvGraphicFramePr>
          <p:cNvPr id="5" name="Table 4"/>
          <p:cNvGraphicFramePr>
            <a:graphicFrameLocks noGrp="1"/>
          </p:cNvGraphicFramePr>
          <p:nvPr/>
        </p:nvGraphicFramePr>
        <p:xfrm>
          <a:off x="4300538" y="1136362"/>
          <a:ext cx="2671761" cy="1531663"/>
        </p:xfrm>
        <a:graphic>
          <a:graphicData uri="http://schemas.openxmlformats.org/drawingml/2006/table">
            <a:tbl>
              <a:tblPr firstRow="1" firstCol="1" bandRow="1"/>
              <a:tblGrid>
                <a:gridCol w="1465758">
                  <a:extLst>
                    <a:ext uri="{9D8B030D-6E8A-4147-A177-3AD203B41FA5}">
                      <a16:colId xmlns:a16="http://schemas.microsoft.com/office/drawing/2014/main" val="20000"/>
                    </a:ext>
                  </a:extLst>
                </a:gridCol>
                <a:gridCol w="1206003">
                  <a:extLst>
                    <a:ext uri="{9D8B030D-6E8A-4147-A177-3AD203B41FA5}">
                      <a16:colId xmlns:a16="http://schemas.microsoft.com/office/drawing/2014/main" val="20001"/>
                    </a:ext>
                  </a:extLst>
                </a:gridCol>
              </a:tblGrid>
              <a:tr h="278098">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Age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Frequency</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0713">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11-20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50713">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21-30</a:t>
                      </a:r>
                    </a:p>
                  </a:txBody>
                  <a:tcPr marL="68580" marR="68580" marT="0" marB="0">
                    <a:lnL>
                      <a:noFill/>
                    </a:lnL>
                    <a:lnR>
                      <a:noFill/>
                    </a:lnR>
                    <a:lnT>
                      <a:noFill/>
                    </a:lnT>
                    <a:lnB>
                      <a:noFill/>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15</a:t>
                      </a:r>
                    </a:p>
                  </a:txBody>
                  <a:tcPr marL="68580" marR="68580" marT="0" marB="0">
                    <a:lnL>
                      <a:noFill/>
                    </a:lnL>
                    <a:lnR>
                      <a:noFill/>
                    </a:lnR>
                    <a:lnT>
                      <a:noFill/>
                    </a:lnT>
                    <a:lnB>
                      <a:noFill/>
                    </a:lnB>
                  </a:tcPr>
                </a:tc>
                <a:extLst>
                  <a:ext uri="{0D108BD9-81ED-4DB2-BD59-A6C34878D82A}">
                    <a16:rowId xmlns:a16="http://schemas.microsoft.com/office/drawing/2014/main" val="10002"/>
                  </a:ext>
                </a:extLst>
              </a:tr>
              <a:tr h="250713">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31-40</a:t>
                      </a:r>
                    </a:p>
                  </a:txBody>
                  <a:tcPr marL="68580" marR="68580" marT="0" marB="0">
                    <a:lnL>
                      <a:noFill/>
                    </a:lnL>
                    <a:lnR>
                      <a:noFill/>
                    </a:lnR>
                    <a:lnT>
                      <a:noFill/>
                    </a:lnT>
                    <a:lnB>
                      <a:noFill/>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50</a:t>
                      </a:r>
                    </a:p>
                  </a:txBody>
                  <a:tcPr marL="68580" marR="68580" marT="0" marB="0">
                    <a:lnL>
                      <a:noFill/>
                    </a:lnL>
                    <a:lnR>
                      <a:noFill/>
                    </a:lnR>
                    <a:lnT>
                      <a:noFill/>
                    </a:lnT>
                    <a:lnB>
                      <a:noFill/>
                    </a:lnB>
                  </a:tcPr>
                </a:tc>
                <a:extLst>
                  <a:ext uri="{0D108BD9-81ED-4DB2-BD59-A6C34878D82A}">
                    <a16:rowId xmlns:a16="http://schemas.microsoft.com/office/drawing/2014/main" val="10003"/>
                  </a:ext>
                </a:extLst>
              </a:tr>
              <a:tr h="250713">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41-50</a:t>
                      </a:r>
                    </a:p>
                  </a:txBody>
                  <a:tcPr marL="68580" marR="68580" marT="0" marB="0">
                    <a:lnL>
                      <a:noFill/>
                    </a:lnL>
                    <a:lnR>
                      <a:noFill/>
                    </a:lnR>
                    <a:lnT>
                      <a:noFill/>
                    </a:lnT>
                    <a:lnB>
                      <a:noFill/>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45</a:t>
                      </a:r>
                    </a:p>
                  </a:txBody>
                  <a:tcPr marL="68580" marR="68580" marT="0" marB="0">
                    <a:lnL>
                      <a:noFill/>
                    </a:lnL>
                    <a:lnR>
                      <a:noFill/>
                    </a:lnR>
                    <a:lnT>
                      <a:noFill/>
                    </a:lnT>
                    <a:lnB>
                      <a:noFill/>
                    </a:lnB>
                  </a:tcPr>
                </a:tc>
                <a:extLst>
                  <a:ext uri="{0D108BD9-81ED-4DB2-BD59-A6C34878D82A}">
                    <a16:rowId xmlns:a16="http://schemas.microsoft.com/office/drawing/2014/main" val="10004"/>
                  </a:ext>
                </a:extLst>
              </a:tr>
              <a:tr h="250713">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51-60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35</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71529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6708"/>
            <a:ext cx="9144000" cy="605308"/>
          </a:xfrm>
        </p:spPr>
        <p:txBody>
          <a:bodyPr>
            <a:noAutofit/>
          </a:bodyPr>
          <a:lstStyle/>
          <a:p>
            <a:r>
              <a:rPr lang="en-US" sz="2400" b="1" dirty="0">
                <a:latin typeface="Arial" pitchFamily="34" charset="0"/>
                <a:cs typeface="Arial" pitchFamily="34" charset="0"/>
              </a:rPr>
              <a:t>Mode for grouped data</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833000"/>
                <a:ext cx="10831132" cy="5554353"/>
              </a:xfrm>
            </p:spPr>
            <p:txBody>
              <a:bodyPr>
                <a:noAutofit/>
              </a:bodyPr>
              <a:lstStyle/>
              <a:p>
                <a:pPr marL="285750" indent="-285750" algn="just">
                  <a:lnSpc>
                    <a:spcPct val="15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For grouped data</a:t>
                </a:r>
                <a:r>
                  <a:rPr lang="en-US" sz="2000" dirty="0">
                    <a:latin typeface="Arial" panose="020B0604020202020204" pitchFamily="34" charset="0"/>
                    <a:cs typeface="Arial" panose="020B0604020202020204" pitchFamily="34" charset="0"/>
                  </a:rPr>
                  <a:t> mode is obtained by using the following formula</a:t>
                </a:r>
              </a:p>
              <a:p>
                <a:pPr algn="just">
                  <a:lnSpc>
                    <a:spcPct val="150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𝑀𝑜</m:t>
                      </m:r>
                      <m:r>
                        <a:rPr lang="en-US" sz="2000" i="1">
                          <a:latin typeface="Cambria Math" panose="02040503050406030204" pitchFamily="18" charset="0"/>
                        </a:rPr>
                        <m:t>=</m:t>
                      </m:r>
                      <m:r>
                        <a:rPr lang="en-US" sz="2000" b="0" i="1" smtClean="0">
                          <a:latin typeface="Cambria Math" panose="02040503050406030204" pitchFamily="18" charset="0"/>
                        </a:rPr>
                        <m:t>𝐿</m:t>
                      </m:r>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smtClean="0">
                                      <a:latin typeface="Cambria Math" panose="02040503050406030204" pitchFamily="18" charset="0"/>
                                    </a:rPr>
                                    <m:t>0</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−1</m:t>
                                  </m:r>
                                </m:sub>
                              </m:sSub>
                              <m:r>
                                <a:rPr lang="en-US" sz="2000" i="1">
                                  <a:latin typeface="Cambria Math" panose="02040503050406030204" pitchFamily="18" charset="0"/>
                                </a:rPr>
                                <m:t>)</m:t>
                              </m:r>
                            </m:num>
                            <m:den>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0</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−1</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0</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𝑓</m:t>
                                  </m:r>
                                </m:e>
                                <m:sub>
                                  <m:r>
                                    <a:rPr lang="en-US" sz="2000" i="1">
                                      <a:latin typeface="Cambria Math" panose="02040503050406030204" pitchFamily="18" charset="0"/>
                                    </a:rPr>
                                    <m:t>1</m:t>
                                  </m:r>
                                </m:sub>
                              </m:sSub>
                              <m:r>
                                <a:rPr lang="en-US" sz="2000" i="1">
                                  <a:latin typeface="Cambria Math" panose="02040503050406030204" pitchFamily="18" charset="0"/>
                                </a:rPr>
                                <m:t>)</m:t>
                              </m:r>
                            </m:den>
                          </m:f>
                        </m:e>
                      </m:d>
                      <m:r>
                        <a:rPr lang="en-US" sz="2000" b="0" i="1" smtClean="0">
                          <a:latin typeface="Cambria Math" panose="02040503050406030204" pitchFamily="18" charset="0"/>
                        </a:rPr>
                        <m:t>h</m:t>
                      </m:r>
                    </m:oMath>
                  </m:oMathPara>
                </a14:m>
                <a:endParaRPr lang="en-US" sz="2000" dirty="0">
                  <a:latin typeface="Arial" pitchFamily="34" charset="0"/>
                  <a:cs typeface="Arial" pitchFamily="34" charset="0"/>
                </a:endParaRPr>
              </a:p>
              <a:p>
                <a:pPr marL="742950" lvl="1" indent="-285750" algn="just">
                  <a:lnSpc>
                    <a:spcPct val="150000"/>
                  </a:lnSpc>
                  <a:buFont typeface="Wingdings" panose="05000000000000000000" pitchFamily="2" charset="2"/>
                  <a:buChar char="ü"/>
                </a:pPr>
                <a:r>
                  <a:rPr lang="en-US" sz="1800" dirty="0"/>
                  <a:t>L = lower boundary of the modal class.</a:t>
                </a:r>
              </a:p>
              <a:p>
                <a:pPr marL="742950" lvl="1" indent="-285750" algn="just">
                  <a:lnSpc>
                    <a:spcPct val="150000"/>
                  </a:lnSpc>
                  <a:buFont typeface="Wingdings" panose="05000000000000000000" pitchFamily="2" charset="2"/>
                  <a:buChar char="ü"/>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𝑓</m:t>
                        </m:r>
                      </m:e>
                      <m:sub>
                        <m:r>
                          <a:rPr lang="en-US" sz="1800" b="0" i="1" smtClean="0">
                            <a:latin typeface="Cambria Math" panose="02040503050406030204" pitchFamily="18" charset="0"/>
                          </a:rPr>
                          <m:t>−1</m:t>
                        </m:r>
                      </m:sub>
                    </m:sSub>
                  </m:oMath>
                </a14:m>
                <a:r>
                  <a:rPr lang="en-US" sz="1800" dirty="0"/>
                  <a:t> = frequency of pre-modal class.</a:t>
                </a:r>
              </a:p>
              <a:p>
                <a:pPr marL="742950" lvl="1" indent="-285750" algn="just">
                  <a:lnSpc>
                    <a:spcPct val="150000"/>
                  </a:lnSpc>
                  <a:buFont typeface="Wingdings" panose="05000000000000000000" pitchFamily="2" charset="2"/>
                  <a:buChar char="ü"/>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𝑓</m:t>
                        </m:r>
                      </m:e>
                      <m:sub>
                        <m:r>
                          <a:rPr lang="en-US" sz="1800" b="0" i="1" smtClean="0">
                            <a:latin typeface="Cambria Math" panose="02040503050406030204" pitchFamily="18" charset="0"/>
                          </a:rPr>
                          <m:t>0</m:t>
                        </m:r>
                      </m:sub>
                    </m:sSub>
                  </m:oMath>
                </a14:m>
                <a:r>
                  <a:rPr lang="en-US" sz="1800" dirty="0"/>
                  <a:t> = frequency of the modal class.</a:t>
                </a:r>
              </a:p>
              <a:p>
                <a:pPr marL="742950" lvl="1" indent="-285750" algn="just">
                  <a:lnSpc>
                    <a:spcPct val="150000"/>
                  </a:lnSpc>
                  <a:buFont typeface="Wingdings" panose="05000000000000000000" pitchFamily="2" charset="2"/>
                  <a:buChar char="ü"/>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𝑓</m:t>
                        </m:r>
                      </m:e>
                      <m:sub>
                        <m:r>
                          <a:rPr lang="en-US" sz="1800" i="1">
                            <a:latin typeface="Cambria Math" panose="02040503050406030204" pitchFamily="18" charset="0"/>
                          </a:rPr>
                          <m:t>1</m:t>
                        </m:r>
                      </m:sub>
                    </m:sSub>
                  </m:oMath>
                </a14:m>
                <a:r>
                  <a:rPr lang="en-US" sz="1800" dirty="0"/>
                  <a:t> = frequency of post-modal class.</a:t>
                </a:r>
              </a:p>
              <a:p>
                <a:pPr marL="742950" lvl="1" indent="-285750" algn="just">
                  <a:lnSpc>
                    <a:spcPct val="150000"/>
                  </a:lnSpc>
                  <a:buFont typeface="Wingdings" panose="05000000000000000000" pitchFamily="2" charset="2"/>
                  <a:buChar char="ü"/>
                </a:pPr>
                <a:r>
                  <a:rPr lang="en-US" sz="1800" dirty="0"/>
                  <a:t>h = width of modal class</a:t>
                </a:r>
              </a:p>
              <a:p>
                <a:pPr marL="742950" lvl="1" indent="-285750" algn="just">
                  <a:lnSpc>
                    <a:spcPct val="150000"/>
                  </a:lnSpc>
                  <a:buFont typeface="Wingdings" panose="05000000000000000000" pitchFamily="2" charset="2"/>
                  <a:buChar char="ü"/>
                </a:pPr>
                <a:r>
                  <a:rPr lang="en-US" sz="1800" dirty="0"/>
                  <a:t>The class that contains highest frequency is the </a:t>
                </a:r>
                <a:r>
                  <a:rPr lang="en-US" sz="1800" b="1" dirty="0"/>
                  <a:t>modal class</a:t>
                </a:r>
                <a:r>
                  <a:rPr lang="en-US" sz="1800" dirty="0"/>
                  <a:t>.</a:t>
                </a:r>
              </a:p>
              <a:p>
                <a:pPr marL="285750" indent="-285750" algn="just">
                  <a:lnSpc>
                    <a:spcPct val="150000"/>
                  </a:lnSpc>
                  <a:buFont typeface="Arial" panose="020B0604020202020204" pitchFamily="34" charset="0"/>
                  <a:buChar char="•"/>
                </a:pPr>
                <a:endParaRPr lang="en-US" sz="2000" dirty="0">
                  <a:latin typeface="Arial" pitchFamily="34" charset="0"/>
                  <a:cs typeface="Arial"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833000"/>
                <a:ext cx="10831132" cy="5554353"/>
              </a:xfrm>
              <a:blipFill rotWithShape="0">
                <a:blip r:embed="rId2"/>
                <a:stretch>
                  <a:fillRect l="-506"/>
                </a:stretch>
              </a:blipFill>
            </p:spPr>
            <p:txBody>
              <a:bodyPr/>
              <a:lstStyle/>
              <a:p>
                <a:r>
                  <a:rPr lang="en-US">
                    <a:noFill/>
                  </a:rPr>
                  <a:t> </a:t>
                </a:r>
              </a:p>
            </p:txBody>
          </p:sp>
        </mc:Fallback>
      </mc:AlternateContent>
    </p:spTree>
    <p:extLst>
      <p:ext uri="{BB962C8B-B14F-4D97-AF65-F5344CB8AC3E}">
        <p14:creationId xmlns:p14="http://schemas.microsoft.com/office/powerpoint/2010/main" val="1779706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15342"/>
            <a:ext cx="9144000" cy="605308"/>
          </a:xfrm>
        </p:spPr>
        <p:txBody>
          <a:bodyPr>
            <a:noAutofit/>
          </a:bodyPr>
          <a:lstStyle/>
          <a:p>
            <a:r>
              <a:rPr lang="en-US" sz="2400" b="1" dirty="0">
                <a:latin typeface="Arial" pitchFamily="34" charset="0"/>
                <a:cs typeface="Arial" pitchFamily="34" charset="0"/>
              </a:rPr>
              <a:t>Mode for grouped data (</a:t>
            </a:r>
            <a:r>
              <a:rPr lang="en-US" sz="2400" b="1" dirty="0" err="1">
                <a:latin typeface="Arial" pitchFamily="34" charset="0"/>
                <a:cs typeface="Arial" pitchFamily="34" charset="0"/>
              </a:rPr>
              <a:t>cont</a:t>
            </a:r>
            <a:r>
              <a:rPr lang="en-US" sz="2400" b="1" dirty="0">
                <a:latin typeface="Arial" pitchFamily="34" charset="0"/>
                <a:cs typeface="Arial" pitchFamily="34" charset="0"/>
              </a:rPr>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590954"/>
                <a:ext cx="10831132" cy="5769505"/>
              </a:xfrm>
            </p:spPr>
            <p:txBody>
              <a:bodyPr>
                <a:noAutofit/>
              </a:bodyPr>
              <a:lstStyle/>
              <a:p>
                <a:pPr marL="285750" indent="-28575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Calculate the modal age (in years) of workers from the following data</a:t>
                </a:r>
              </a:p>
              <a:p>
                <a:pPr marL="285750" indent="-285750" algn="just">
                  <a:lnSpc>
                    <a:spcPct val="15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algn="just">
                  <a:lnSpc>
                    <a:spcPct val="150000"/>
                  </a:lnSpc>
                </a:pPr>
                <a:endParaRPr lang="en-US" sz="1800" dirty="0">
                  <a:latin typeface="Arial" panose="020B0604020202020204" pitchFamily="34" charset="0"/>
                  <a:cs typeface="Arial" panose="020B0604020202020204" pitchFamily="34" charset="0"/>
                </a:endParaRPr>
              </a:p>
              <a:p>
                <a:pPr algn="just">
                  <a:lnSpc>
                    <a:spcPct val="150000"/>
                  </a:lnSpc>
                </a:pPr>
                <a:endParaRPr lang="en-US" sz="1800" dirty="0">
                  <a:latin typeface="Arial" panose="020B0604020202020204" pitchFamily="34" charset="0"/>
                  <a:cs typeface="Arial" panose="020B0604020202020204" pitchFamily="34" charset="0"/>
                </a:endParaRPr>
              </a:p>
              <a:p>
                <a:pPr algn="just">
                  <a:lnSpc>
                    <a:spcPct val="150000"/>
                  </a:lnSpc>
                </a:pPr>
                <a:endParaRPr lang="en-US" sz="18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The class boundaries of modal class is 30.5-40.5, the highest frequency belongs to this class.</a:t>
                </a:r>
              </a:p>
              <a:p>
                <a:pPr marL="285750" indent="-285750" algn="just">
                  <a:lnSpc>
                    <a:spcPct val="150000"/>
                  </a:lnSpc>
                  <a:buFont typeface="Arial" panose="020B0604020202020204" pitchFamily="34" charset="0"/>
                  <a:buChar char="•"/>
                </a:pPr>
                <a:r>
                  <a:rPr lang="en-US" sz="1800" dirty="0">
                    <a:latin typeface="Arial" panose="020B0604020202020204" pitchFamily="34" charset="0"/>
                    <a:cs typeface="Arial" panose="020B0604020202020204" pitchFamily="34" charset="0"/>
                  </a:rPr>
                  <a:t>Mode = 30.5 + </a:t>
                </a:r>
                <a14:m>
                  <m:oMath xmlns:m="http://schemas.openxmlformats.org/officeDocument/2006/math">
                    <m:f>
                      <m:fPr>
                        <m:ctrlPr>
                          <a:rPr lang="en-US" sz="1800" i="1">
                            <a:latin typeface="Cambria Math" panose="02040503050406030204" pitchFamily="18" charset="0"/>
                            <a:cs typeface="Arial" pitchFamily="34" charset="0"/>
                          </a:rPr>
                        </m:ctrlPr>
                      </m:fPr>
                      <m:num>
                        <m:r>
                          <a:rPr lang="en-US" sz="1800" b="0" i="0" smtClean="0">
                            <a:latin typeface="Cambria Math" panose="02040503050406030204" pitchFamily="18" charset="0"/>
                            <a:cs typeface="Arial" pitchFamily="34" charset="0"/>
                          </a:rPr>
                          <m:t>50</m:t>
                        </m:r>
                        <m:r>
                          <a:rPr lang="en-US" sz="1800">
                            <a:latin typeface="Cambria Math" panose="02040503050406030204" pitchFamily="18" charset="0"/>
                            <a:cs typeface="Arial" pitchFamily="34" charset="0"/>
                          </a:rPr>
                          <m:t>−</m:t>
                        </m:r>
                        <m:r>
                          <a:rPr lang="en-US" sz="1800" b="0" i="1" smtClean="0">
                            <a:latin typeface="Cambria Math" panose="02040503050406030204" pitchFamily="18" charset="0"/>
                            <a:cs typeface="Arial" pitchFamily="34" charset="0"/>
                          </a:rPr>
                          <m:t>15</m:t>
                        </m:r>
                      </m:num>
                      <m:den>
                        <m:d>
                          <m:dPr>
                            <m:ctrlPr>
                              <a:rPr lang="en-US" sz="1800" b="0" i="1" smtClean="0">
                                <a:latin typeface="Cambria Math" panose="02040503050406030204" pitchFamily="18" charset="0"/>
                                <a:cs typeface="Arial" pitchFamily="34" charset="0"/>
                              </a:rPr>
                            </m:ctrlPr>
                          </m:dPr>
                          <m:e>
                            <m:r>
                              <a:rPr lang="en-US" sz="1800">
                                <a:latin typeface="Cambria Math" panose="02040503050406030204" pitchFamily="18" charset="0"/>
                                <a:cs typeface="Arial" pitchFamily="34" charset="0"/>
                              </a:rPr>
                              <m:t>50−</m:t>
                            </m:r>
                            <m:r>
                              <a:rPr lang="en-US" sz="1800" i="1">
                                <a:latin typeface="Cambria Math" panose="02040503050406030204" pitchFamily="18" charset="0"/>
                                <a:cs typeface="Arial" pitchFamily="34" charset="0"/>
                              </a:rPr>
                              <m:t>15</m:t>
                            </m:r>
                          </m:e>
                        </m:d>
                        <m:r>
                          <a:rPr lang="en-US" sz="1800" b="0" i="1" smtClean="0">
                            <a:latin typeface="Cambria Math" panose="02040503050406030204" pitchFamily="18" charset="0"/>
                            <a:cs typeface="Arial" pitchFamily="34" charset="0"/>
                          </a:rPr>
                          <m:t>+(</m:t>
                        </m:r>
                        <m:r>
                          <a:rPr lang="en-US" sz="1800">
                            <a:latin typeface="Cambria Math" panose="02040503050406030204" pitchFamily="18" charset="0"/>
                            <a:cs typeface="Arial" pitchFamily="34" charset="0"/>
                          </a:rPr>
                          <m:t>50</m:t>
                        </m:r>
                        <m:r>
                          <a:rPr lang="en-US" sz="1800" b="0" i="1" smtClean="0">
                            <a:latin typeface="Cambria Math" panose="02040503050406030204" pitchFamily="18" charset="0"/>
                            <a:cs typeface="Arial" pitchFamily="34" charset="0"/>
                          </a:rPr>
                          <m:t>−4</m:t>
                        </m:r>
                        <m:r>
                          <a:rPr lang="en-US" sz="1800" i="1">
                            <a:latin typeface="Cambria Math" panose="02040503050406030204" pitchFamily="18" charset="0"/>
                            <a:cs typeface="Arial" pitchFamily="34" charset="0"/>
                          </a:rPr>
                          <m:t>5</m:t>
                        </m:r>
                        <m:r>
                          <a:rPr lang="en-US" sz="1800" b="0" i="1" smtClean="0">
                            <a:latin typeface="Cambria Math" panose="02040503050406030204" pitchFamily="18" charset="0"/>
                            <a:cs typeface="Arial" pitchFamily="34" charset="0"/>
                          </a:rPr>
                          <m:t>)</m:t>
                        </m:r>
                      </m:den>
                    </m:f>
                    <m:r>
                      <a:rPr lang="en-US" sz="1800">
                        <a:latin typeface="Cambria Math" panose="02040503050406030204" pitchFamily="18" charset="0"/>
                        <a:cs typeface="Arial" pitchFamily="34" charset="0"/>
                      </a:rPr>
                      <m:t>×10</m:t>
                    </m:r>
                  </m:oMath>
                </a14:m>
                <a:r>
                  <a:rPr lang="en-US" sz="1800" dirty="0">
                    <a:latin typeface="Arial" pitchFamily="34" charset="0"/>
                    <a:cs typeface="Arial" pitchFamily="34" charset="0"/>
                  </a:rPr>
                  <a:t> = 30.5 + 8.75 = 39.25</a:t>
                </a:r>
                <a:endParaRPr lang="en-US" sz="2000"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590954"/>
                <a:ext cx="10831132" cy="5769505"/>
              </a:xfrm>
              <a:blipFill rotWithShape="0">
                <a:blip r:embed="rId2"/>
                <a:stretch>
                  <a:fillRect l="-394"/>
                </a:stretch>
              </a:blipFill>
            </p:spPr>
            <p:txBody>
              <a:bodyPr/>
              <a:lstStyle/>
              <a:p>
                <a:r>
                  <a:rPr lang="en-US">
                    <a:noFill/>
                  </a:rPr>
                  <a:t> </a:t>
                </a:r>
              </a:p>
            </p:txBody>
          </p:sp>
        </mc:Fallback>
      </mc:AlternateContent>
      <p:graphicFrame>
        <p:nvGraphicFramePr>
          <p:cNvPr id="5" name="Table 4"/>
          <p:cNvGraphicFramePr>
            <a:graphicFrameLocks noGrp="1"/>
          </p:cNvGraphicFramePr>
          <p:nvPr/>
        </p:nvGraphicFramePr>
        <p:xfrm>
          <a:off x="4300538" y="1136362"/>
          <a:ext cx="2671761" cy="1531663"/>
        </p:xfrm>
        <a:graphic>
          <a:graphicData uri="http://schemas.openxmlformats.org/drawingml/2006/table">
            <a:tbl>
              <a:tblPr firstRow="1" firstCol="1" bandRow="1"/>
              <a:tblGrid>
                <a:gridCol w="1465758">
                  <a:extLst>
                    <a:ext uri="{9D8B030D-6E8A-4147-A177-3AD203B41FA5}">
                      <a16:colId xmlns:a16="http://schemas.microsoft.com/office/drawing/2014/main" val="20000"/>
                    </a:ext>
                  </a:extLst>
                </a:gridCol>
                <a:gridCol w="1206003">
                  <a:extLst>
                    <a:ext uri="{9D8B030D-6E8A-4147-A177-3AD203B41FA5}">
                      <a16:colId xmlns:a16="http://schemas.microsoft.com/office/drawing/2014/main" val="20001"/>
                    </a:ext>
                  </a:extLst>
                </a:gridCol>
              </a:tblGrid>
              <a:tr h="278098">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Age</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Frequency</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0713">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11-20</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a:t>
                      </a: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50713">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21-30</a:t>
                      </a:r>
                    </a:p>
                  </a:txBody>
                  <a:tcPr marL="68580" marR="68580" marT="0" marB="0">
                    <a:lnL>
                      <a:noFill/>
                    </a:lnL>
                    <a:lnR>
                      <a:noFill/>
                    </a:lnR>
                    <a:lnT>
                      <a:noFill/>
                    </a:lnT>
                    <a:lnB>
                      <a:noFill/>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15</a:t>
                      </a:r>
                    </a:p>
                  </a:txBody>
                  <a:tcPr marL="68580" marR="68580" marT="0" marB="0">
                    <a:lnL>
                      <a:noFill/>
                    </a:lnL>
                    <a:lnR>
                      <a:noFill/>
                    </a:lnR>
                    <a:lnT>
                      <a:noFill/>
                    </a:lnT>
                    <a:lnB>
                      <a:noFill/>
                    </a:lnB>
                  </a:tcPr>
                </a:tc>
                <a:extLst>
                  <a:ext uri="{0D108BD9-81ED-4DB2-BD59-A6C34878D82A}">
                    <a16:rowId xmlns:a16="http://schemas.microsoft.com/office/drawing/2014/main" val="10002"/>
                  </a:ext>
                </a:extLst>
              </a:tr>
              <a:tr h="250713">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31-40</a:t>
                      </a:r>
                    </a:p>
                  </a:txBody>
                  <a:tcPr marL="68580" marR="68580" marT="0" marB="0">
                    <a:lnL>
                      <a:noFill/>
                    </a:lnL>
                    <a:lnR>
                      <a:noFill/>
                    </a:lnR>
                    <a:lnT>
                      <a:noFill/>
                    </a:lnT>
                    <a:lnB>
                      <a:noFill/>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50</a:t>
                      </a:r>
                    </a:p>
                  </a:txBody>
                  <a:tcPr marL="68580" marR="68580" marT="0" marB="0">
                    <a:lnL>
                      <a:noFill/>
                    </a:lnL>
                    <a:lnR>
                      <a:noFill/>
                    </a:lnR>
                    <a:lnT>
                      <a:noFill/>
                    </a:lnT>
                    <a:lnB>
                      <a:noFill/>
                    </a:lnB>
                  </a:tcPr>
                </a:tc>
                <a:extLst>
                  <a:ext uri="{0D108BD9-81ED-4DB2-BD59-A6C34878D82A}">
                    <a16:rowId xmlns:a16="http://schemas.microsoft.com/office/drawing/2014/main" val="10003"/>
                  </a:ext>
                </a:extLst>
              </a:tr>
              <a:tr h="250713">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41-50</a:t>
                      </a:r>
                    </a:p>
                  </a:txBody>
                  <a:tcPr marL="68580" marR="68580" marT="0" marB="0">
                    <a:lnL>
                      <a:noFill/>
                    </a:lnL>
                    <a:lnR>
                      <a:noFill/>
                    </a:lnR>
                    <a:lnT>
                      <a:noFill/>
                    </a:lnT>
                    <a:lnB>
                      <a:noFill/>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45</a:t>
                      </a:r>
                    </a:p>
                  </a:txBody>
                  <a:tcPr marL="68580" marR="68580" marT="0" marB="0">
                    <a:lnL>
                      <a:noFill/>
                    </a:lnL>
                    <a:lnR>
                      <a:noFill/>
                    </a:lnR>
                    <a:lnT>
                      <a:noFill/>
                    </a:lnT>
                    <a:lnB>
                      <a:noFill/>
                    </a:lnB>
                  </a:tcPr>
                </a:tc>
                <a:extLst>
                  <a:ext uri="{0D108BD9-81ED-4DB2-BD59-A6C34878D82A}">
                    <a16:rowId xmlns:a16="http://schemas.microsoft.com/office/drawing/2014/main" val="10004"/>
                  </a:ext>
                </a:extLst>
              </a:tr>
              <a:tr h="250713">
                <a:tc>
                  <a:txBody>
                    <a:bodyPr/>
                    <a:lstStyle/>
                    <a:p>
                      <a:pPr marL="0" marR="0" algn="just">
                        <a:lnSpc>
                          <a:spcPct val="115000"/>
                        </a:lnSpc>
                        <a:spcBef>
                          <a:spcPts val="0"/>
                        </a:spcBef>
                        <a:spcAft>
                          <a:spcPts val="0"/>
                        </a:spcAft>
                      </a:pPr>
                      <a:r>
                        <a:rPr lang="en-US" sz="1500">
                          <a:effectLst/>
                          <a:latin typeface="Arial" panose="020B0604020202020204" pitchFamily="34" charset="0"/>
                          <a:ea typeface="Calibri" panose="020F0502020204030204" pitchFamily="34" charset="0"/>
                          <a:cs typeface="Arial" panose="020B0604020202020204" pitchFamily="34" charset="0"/>
                        </a:rPr>
                        <a:t>51-60</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500" dirty="0">
                          <a:effectLst/>
                          <a:latin typeface="Arial" panose="020B0604020202020204" pitchFamily="34" charset="0"/>
                          <a:ea typeface="Calibri" panose="020F0502020204030204" pitchFamily="34" charset="0"/>
                          <a:cs typeface="Arial" panose="020B0604020202020204" pitchFamily="34" charset="0"/>
                        </a:rPr>
                        <a:t>35</a:t>
                      </a: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7779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6134" y="0"/>
            <a:ext cx="9144000" cy="471488"/>
          </a:xfrm>
        </p:spPr>
        <p:txBody>
          <a:bodyPr>
            <a:noAutofit/>
          </a:bodyPr>
          <a:lstStyle/>
          <a:p>
            <a:r>
              <a:rPr lang="en-US" sz="2400" b="1">
                <a:latin typeface="Arial" pitchFamily="34" charset="0"/>
                <a:cs typeface="Arial" pitchFamily="34" charset="0"/>
              </a:rPr>
              <a:t>The Relative </a:t>
            </a:r>
            <a:r>
              <a:rPr lang="en-US" sz="2400" b="1" dirty="0">
                <a:latin typeface="Arial" pitchFamily="34" charset="0"/>
                <a:cs typeface="Arial" pitchFamily="34" charset="0"/>
              </a:rPr>
              <a:t>Positions of the Mean, Median, and Mode</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682581" y="471488"/>
            <a:ext cx="10831132" cy="6386512"/>
          </a:xfrm>
        </p:spPr>
        <p:txBody>
          <a:bodyPr>
            <a:noAutofit/>
          </a:bodyPr>
          <a:lstStyle/>
          <a:p>
            <a:pPr marL="285750" indent="-285750" algn="just">
              <a:lnSpc>
                <a:spcPct val="150000"/>
              </a:lnSpc>
              <a:buFont typeface="Arial" panose="020B0604020202020204" pitchFamily="34" charset="0"/>
              <a:buChar char="•"/>
            </a:pPr>
            <a:r>
              <a:rPr lang="en-US" sz="2000" dirty="0">
                <a:latin typeface="Arial" pitchFamily="34" charset="0"/>
                <a:cs typeface="Arial" pitchFamily="34" charset="0"/>
              </a:rPr>
              <a:t>For any symmetric distribution, the mode, median, and mean are located at the center and are always equal.</a:t>
            </a:r>
          </a:p>
          <a:p>
            <a:pPr marL="285750" indent="-285750" algn="just">
              <a:lnSpc>
                <a:spcPct val="150000"/>
              </a:lnSpc>
              <a:buFont typeface="Arial" panose="020B0604020202020204" pitchFamily="34" charset="0"/>
              <a:buChar char="•"/>
            </a:pPr>
            <a:r>
              <a:rPr lang="en-US" sz="2000" dirty="0">
                <a:latin typeface="Arial" pitchFamily="34" charset="0"/>
                <a:cs typeface="Arial" pitchFamily="34" charset="0"/>
              </a:rPr>
              <a:t>The term </a:t>
            </a:r>
            <a:r>
              <a:rPr lang="en-US" sz="2000" dirty="0" err="1">
                <a:latin typeface="Arial" panose="020B0604020202020204" pitchFamily="34" charset="0"/>
                <a:cs typeface="Arial" panose="020B0604020202020204" pitchFamily="34" charset="0"/>
              </a:rPr>
              <a:t>skewness</a:t>
            </a:r>
            <a:r>
              <a:rPr lang="en-US" sz="2000" dirty="0">
                <a:latin typeface="Arial" panose="020B0604020202020204" pitchFamily="34" charset="0"/>
                <a:cs typeface="Arial" panose="020B0604020202020204" pitchFamily="34" charset="0"/>
              </a:rPr>
              <a:t> refers to the lack of symmetry (</a:t>
            </a:r>
            <a:r>
              <a:rPr lang="en-US" sz="2000" b="1" i="1" dirty="0">
                <a:latin typeface="Arial" panose="020B0604020202020204" pitchFamily="34" charset="0"/>
                <a:cs typeface="Arial" panose="020B0604020202020204" pitchFamily="34" charset="0"/>
              </a:rPr>
              <a:t>asymmetry</a:t>
            </a:r>
            <a:r>
              <a:rPr lang="en-US" sz="2000" dirty="0">
                <a:latin typeface="Arial" panose="020B0604020202020204" pitchFamily="34" charset="0"/>
                <a:cs typeface="Arial" panose="020B0604020202020204" pitchFamily="34" charset="0"/>
              </a:rPr>
              <a:t>) relative to an </a:t>
            </a:r>
            <a:r>
              <a:rPr lang="en-US" sz="2000" b="1" i="1" dirty="0">
                <a:latin typeface="Arial" panose="020B0604020202020204" pitchFamily="34" charset="0"/>
                <a:cs typeface="Arial" panose="020B0604020202020204" pitchFamily="34" charset="0"/>
              </a:rPr>
              <a:t>normal distribution </a:t>
            </a:r>
            <a:r>
              <a:rPr lang="en-US" sz="2000" dirty="0">
                <a:latin typeface="Arial" panose="020B0604020202020204" pitchFamily="34" charset="0"/>
                <a:cs typeface="Arial" panose="020B0604020202020204" pitchFamily="34" charset="0"/>
              </a:rPr>
              <a:t>(symmetric distribution). Any departure of a distribution from symmetry leads to an asymmetric distribution and in such case, we call this distribution as skewed.</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 The </a:t>
            </a:r>
            <a:r>
              <a:rPr lang="en-US" sz="2000" dirty="0" err="1">
                <a:latin typeface="Arial" panose="020B0604020202020204" pitchFamily="34" charset="0"/>
                <a:cs typeface="Arial" panose="020B0604020202020204" pitchFamily="34" charset="0"/>
              </a:rPr>
              <a:t>skewness</a:t>
            </a:r>
            <a:r>
              <a:rPr lang="en-US" sz="2000" dirty="0">
                <a:latin typeface="Arial" panose="020B0604020202020204" pitchFamily="34" charset="0"/>
                <a:cs typeface="Arial" panose="020B0604020202020204" pitchFamily="34" charset="0"/>
              </a:rPr>
              <a:t> may be either positive or negative.</a:t>
            </a:r>
          </a:p>
          <a:p>
            <a:pPr algn="just">
              <a:lnSpc>
                <a:spcPct val="150000"/>
              </a:lnSpc>
            </a:pPr>
            <a:endParaRPr lang="en-US" dirty="0">
              <a:latin typeface="Arial" pitchFamily="34" charset="0"/>
              <a:cs typeface="Arial" pitchFamily="34" charset="0"/>
            </a:endParaRPr>
          </a:p>
          <a:p>
            <a:pPr marL="285750" indent="-285750" algn="just">
              <a:lnSpc>
                <a:spcPct val="150000"/>
              </a:lnSpc>
              <a:buFont typeface="Arial" panose="020B0604020202020204" pitchFamily="34" charset="0"/>
              <a:buChar char="•"/>
            </a:pPr>
            <a:endParaRPr lang="en-US" sz="2000" dirty="0">
              <a:latin typeface="Arial" pitchFamily="34" charset="0"/>
              <a:cs typeface="Arial" pitchFamily="34" charset="0"/>
            </a:endParaRPr>
          </a:p>
          <a:p>
            <a:pPr marL="285750" indent="-285750" algn="just">
              <a:lnSpc>
                <a:spcPct val="150000"/>
              </a:lnSpc>
              <a:buFont typeface="Arial" panose="020B0604020202020204" pitchFamily="34" charset="0"/>
              <a:buChar char="•"/>
            </a:pPr>
            <a:endParaRPr lang="en-GB" sz="2000" dirty="0">
              <a:latin typeface="Arial" pitchFamily="34" charset="0"/>
              <a:cs typeface="Arial" pitchFamily="34" charset="0"/>
            </a:endParaRPr>
          </a:p>
        </p:txBody>
      </p:sp>
      <p:grpSp>
        <p:nvGrpSpPr>
          <p:cNvPr id="5" name="Group 4"/>
          <p:cNvGrpSpPr>
            <a:grpSpLocks noChangeAspect="1"/>
          </p:cNvGrpSpPr>
          <p:nvPr/>
        </p:nvGrpSpPr>
        <p:grpSpPr bwMode="auto">
          <a:xfrm>
            <a:off x="3343275" y="3522663"/>
            <a:ext cx="5386388" cy="3190875"/>
            <a:chOff x="2106" y="2219"/>
            <a:chExt cx="3393" cy="2010"/>
          </a:xfrm>
        </p:grpSpPr>
        <p:sp>
          <p:nvSpPr>
            <p:cNvPr id="6" name="AutoShape 3"/>
            <p:cNvSpPr>
              <a:spLocks noChangeAspect="1" noChangeArrowheads="1" noTextEdit="1"/>
            </p:cNvSpPr>
            <p:nvPr/>
          </p:nvSpPr>
          <p:spPr bwMode="auto">
            <a:xfrm>
              <a:off x="2106" y="2219"/>
              <a:ext cx="3393" cy="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6" y="2219"/>
              <a:ext cx="3403" cy="2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162253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pPr>
              <a:lnSpc>
                <a:spcPct val="150000"/>
              </a:lnSpc>
            </a:pPr>
            <a:r>
              <a:rPr lang="en-US" sz="2400" b="1" dirty="0">
                <a:latin typeface="Arial" panose="020B0604020202020204" pitchFamily="34" charset="0"/>
                <a:cs typeface="Arial" panose="020B0604020202020204" pitchFamily="34" charset="0"/>
              </a:rPr>
              <a:t>Positively skewed distribution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Skewness</a:t>
                </a:r>
                <a:r>
                  <a:rPr lang="en-US" sz="2000" dirty="0">
                    <a:latin typeface="Arial" panose="020B0604020202020204" pitchFamily="34" charset="0"/>
                    <a:cs typeface="Arial" panose="020B0604020202020204" pitchFamily="34" charset="0"/>
                  </a:rPr>
                  <a:t> is said to be positive if the right side tail is longer than the left side tail. </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When the </a:t>
                </a:r>
                <a:r>
                  <a:rPr lang="en-US" sz="2000" dirty="0" err="1">
                    <a:latin typeface="Arial" panose="020B0604020202020204" pitchFamily="34" charset="0"/>
                    <a:cs typeface="Arial" panose="020B0604020202020204" pitchFamily="34" charset="0"/>
                  </a:rPr>
                  <a:t>skewness</a:t>
                </a:r>
                <a:r>
                  <a:rPr lang="en-US" sz="2000" dirty="0">
                    <a:latin typeface="Arial" panose="020B0604020202020204" pitchFamily="34" charset="0"/>
                    <a:cs typeface="Arial" panose="020B0604020202020204" pitchFamily="34" charset="0"/>
                  </a:rPr>
                  <a:t> is positive, the associated distribution is positively skewed. For a positively skewed distribution, the following relationship hold:</a:t>
                </a:r>
              </a:p>
              <a:p>
                <a14:m>
                  <m:oMath xmlns:m="http://schemas.openxmlformats.org/officeDocument/2006/math">
                    <m:r>
                      <a:rPr lang="en-US" sz="2000" i="1">
                        <a:latin typeface="Cambria Math" panose="02040503050406030204" pitchFamily="18" charset="0"/>
                      </a:rPr>
                      <m:t>𝑀𝑜𝑑𝑒</m:t>
                    </m:r>
                    <m:r>
                      <a:rPr lang="en-US" sz="2000">
                        <a:latin typeface="Cambria Math" panose="02040503050406030204" pitchFamily="18" charset="0"/>
                      </a:rPr>
                      <m:t>&lt;</m:t>
                    </m:r>
                    <m:r>
                      <a:rPr lang="en-US" sz="2000" i="1">
                        <a:latin typeface="Cambria Math" panose="02040503050406030204" pitchFamily="18" charset="0"/>
                      </a:rPr>
                      <m:t>𝑀𝑒𝑑𝑖𝑎𝑛</m:t>
                    </m:r>
                    <m:r>
                      <a:rPr lang="en-US" sz="2000">
                        <a:latin typeface="Cambria Math" panose="02040503050406030204" pitchFamily="18" charset="0"/>
                      </a:rPr>
                      <m:t>&lt;</m:t>
                    </m:r>
                    <m:r>
                      <a:rPr lang="en-US" sz="2000" i="1">
                        <a:latin typeface="Cambria Math" panose="02040503050406030204" pitchFamily="18" charset="0"/>
                      </a:rPr>
                      <m:t>𝑀𝑒𝑎𝑛</m:t>
                    </m:r>
                  </m:oMath>
                </a14:m>
                <a:r>
                  <a:rPr lang="en-US" sz="20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506" r="-563"/>
                </a:stretch>
              </a:blipFill>
            </p:spPr>
            <p:txBody>
              <a:bodyPr/>
              <a:lstStyle/>
              <a:p>
                <a:r>
                  <a:rPr lang="en-US">
                    <a:noFill/>
                  </a:rPr>
                  <a:t> </a:t>
                </a:r>
              </a:p>
            </p:txBody>
          </p:sp>
        </mc:Fallback>
      </mc:AlternateContent>
      <p:grpSp>
        <p:nvGrpSpPr>
          <p:cNvPr id="6" name="Group 4"/>
          <p:cNvGrpSpPr>
            <a:grpSpLocks noChangeAspect="1"/>
          </p:cNvGrpSpPr>
          <p:nvPr/>
        </p:nvGrpSpPr>
        <p:grpSpPr bwMode="auto">
          <a:xfrm>
            <a:off x="2943224" y="3276600"/>
            <a:ext cx="5700713" cy="3276600"/>
            <a:chOff x="2615" y="1128"/>
            <a:chExt cx="2450" cy="2064"/>
          </a:xfrm>
        </p:grpSpPr>
        <p:sp>
          <p:nvSpPr>
            <p:cNvPr id="7" name="AutoShape 3"/>
            <p:cNvSpPr>
              <a:spLocks noChangeAspect="1" noChangeArrowheads="1" noTextEdit="1"/>
            </p:cNvSpPr>
            <p:nvPr/>
          </p:nvSpPr>
          <p:spPr bwMode="auto">
            <a:xfrm>
              <a:off x="2615" y="1128"/>
              <a:ext cx="2450" cy="2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5" y="1128"/>
              <a:ext cx="2457" cy="20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199177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3639"/>
            <a:ext cx="9144000" cy="605308"/>
          </a:xfrm>
        </p:spPr>
        <p:txBody>
          <a:bodyPr>
            <a:noAutofit/>
          </a:bodyPr>
          <a:lstStyle/>
          <a:p>
            <a:pPr>
              <a:lnSpc>
                <a:spcPct val="150000"/>
              </a:lnSpc>
            </a:pPr>
            <a:r>
              <a:rPr lang="en-US" sz="2400" b="1" dirty="0">
                <a:latin typeface="Arial" panose="020B0604020202020204" pitchFamily="34" charset="0"/>
                <a:cs typeface="Arial" panose="020B0604020202020204" pitchFamily="34" charset="0"/>
              </a:rPr>
              <a:t>Negatively skewed distribution</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1297397"/>
                <a:ext cx="10831132" cy="5372344"/>
              </a:xfrm>
            </p:spPr>
            <p:txBody>
              <a:bodyPr>
                <a:noAutofit/>
              </a:bodyPr>
              <a:lstStyle/>
              <a:p>
                <a:pPr marL="342900" indent="-342900" algn="just">
                  <a:lnSpc>
                    <a:spcPct val="150000"/>
                  </a:lnSpc>
                  <a:buFont typeface="Arial" panose="020B0604020202020204" pitchFamily="34" charset="0"/>
                  <a:buChar char="•"/>
                </a:pPr>
                <a:r>
                  <a:rPr lang="en-US" sz="2000" dirty="0" err="1">
                    <a:latin typeface="Arial" panose="020B0604020202020204" pitchFamily="34" charset="0"/>
                    <a:cs typeface="Arial" panose="020B0604020202020204" pitchFamily="34" charset="0"/>
                  </a:rPr>
                  <a:t>Skewness</a:t>
                </a:r>
                <a:r>
                  <a:rPr lang="en-US" sz="2000" dirty="0">
                    <a:latin typeface="Arial" panose="020B0604020202020204" pitchFamily="34" charset="0"/>
                    <a:cs typeface="Arial" panose="020B0604020202020204" pitchFamily="34" charset="0"/>
                  </a:rPr>
                  <a:t> is said to be negative if the left side tail is longer than the right side tail. </a:t>
                </a:r>
              </a:p>
              <a:p>
                <a:pPr marL="342900" indent="-342900" algn="just">
                  <a:lnSpc>
                    <a:spcPct val="150000"/>
                  </a:lnSpc>
                  <a:buFont typeface="Arial" panose="020B0604020202020204" pitchFamily="34" charset="0"/>
                  <a:buChar char="•"/>
                </a:pPr>
                <a:r>
                  <a:rPr lang="en-US" sz="2000" dirty="0">
                    <a:latin typeface="Arial" panose="020B0604020202020204" pitchFamily="34" charset="0"/>
                    <a:cs typeface="Arial" panose="020B0604020202020204" pitchFamily="34" charset="0"/>
                  </a:rPr>
                  <a:t>When the </a:t>
                </a:r>
                <a:r>
                  <a:rPr lang="en-US" sz="2000" dirty="0" err="1">
                    <a:latin typeface="Arial" panose="020B0604020202020204" pitchFamily="34" charset="0"/>
                    <a:cs typeface="Arial" panose="020B0604020202020204" pitchFamily="34" charset="0"/>
                  </a:rPr>
                  <a:t>skewness</a:t>
                </a:r>
                <a:r>
                  <a:rPr lang="en-US" sz="2000" dirty="0">
                    <a:latin typeface="Arial" panose="020B0604020202020204" pitchFamily="34" charset="0"/>
                    <a:cs typeface="Arial" panose="020B0604020202020204" pitchFamily="34" charset="0"/>
                  </a:rPr>
                  <a:t> is negative, we call the distribution a negatively skewed. For a negatively skewed distribution  </a:t>
                </a:r>
                <a14:m>
                  <m:oMath xmlns:m="http://schemas.openxmlformats.org/officeDocument/2006/math">
                    <m:r>
                      <a:rPr lang="en-US" sz="2000" i="1">
                        <a:latin typeface="Cambria Math" panose="02040503050406030204" pitchFamily="18" charset="0"/>
                      </a:rPr>
                      <m:t>𝑀𝑒𝑎𝑛</m:t>
                    </m:r>
                    <m:r>
                      <a:rPr lang="en-US" sz="2000">
                        <a:latin typeface="Cambria Math" panose="02040503050406030204" pitchFamily="18" charset="0"/>
                      </a:rPr>
                      <m:t>&lt;</m:t>
                    </m:r>
                    <m:r>
                      <a:rPr lang="en-US" sz="2000" i="1">
                        <a:latin typeface="Cambria Math" panose="02040503050406030204" pitchFamily="18" charset="0"/>
                      </a:rPr>
                      <m:t>𝑀𝑒𝑑𝑖𝑎𝑛</m:t>
                    </m:r>
                    <m:r>
                      <a:rPr lang="en-US" sz="2000">
                        <a:latin typeface="Cambria Math" panose="02040503050406030204" pitchFamily="18" charset="0"/>
                      </a:rPr>
                      <m:t>&lt;</m:t>
                    </m:r>
                    <m:r>
                      <a:rPr lang="en-US" sz="2000" i="1">
                        <a:latin typeface="Cambria Math" panose="02040503050406030204" pitchFamily="18" charset="0"/>
                      </a:rPr>
                      <m:t>𝑀𝑜𝑑𝑒</m:t>
                    </m:r>
                  </m:oMath>
                </a14:m>
                <a:r>
                  <a:rPr lang="en-US" sz="2000" dirty="0">
                    <a:latin typeface="Arial" panose="020B0604020202020204" pitchFamily="34" charset="0"/>
                    <a:cs typeface="Arial" panose="020B0604020202020204" pitchFamily="34" charset="0"/>
                  </a:rPr>
                  <a:t>.</a:t>
                </a: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1297397"/>
                <a:ext cx="10831132" cy="5372344"/>
              </a:xfrm>
              <a:blipFill rotWithShape="0">
                <a:blip r:embed="rId2"/>
                <a:stretch>
                  <a:fillRect l="-506" r="-563"/>
                </a:stretch>
              </a:blipFill>
            </p:spPr>
            <p:txBody>
              <a:bodyPr/>
              <a:lstStyle/>
              <a:p>
                <a:r>
                  <a:rPr lang="en-US">
                    <a:noFill/>
                  </a:rPr>
                  <a:t> </a:t>
                </a:r>
              </a:p>
            </p:txBody>
          </p:sp>
        </mc:Fallback>
      </mc:AlternateContent>
      <p:grpSp>
        <p:nvGrpSpPr>
          <p:cNvPr id="6" name="Group 4"/>
          <p:cNvGrpSpPr>
            <a:grpSpLocks noChangeAspect="1"/>
          </p:cNvGrpSpPr>
          <p:nvPr/>
        </p:nvGrpSpPr>
        <p:grpSpPr bwMode="auto">
          <a:xfrm>
            <a:off x="3128963" y="2898775"/>
            <a:ext cx="5414962" cy="3587750"/>
            <a:chOff x="1971" y="1826"/>
            <a:chExt cx="3411" cy="2260"/>
          </a:xfrm>
        </p:grpSpPr>
        <p:sp>
          <p:nvSpPr>
            <p:cNvPr id="7" name="AutoShape 3"/>
            <p:cNvSpPr>
              <a:spLocks noChangeAspect="1" noChangeArrowheads="1" noTextEdit="1"/>
            </p:cNvSpPr>
            <p:nvPr/>
          </p:nvSpPr>
          <p:spPr bwMode="auto">
            <a:xfrm>
              <a:off x="1971" y="1826"/>
              <a:ext cx="3411" cy="2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1" y="1826"/>
              <a:ext cx="3421" cy="2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958731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96025"/>
            <a:ext cx="9144000" cy="388068"/>
          </a:xfrm>
        </p:spPr>
        <p:txBody>
          <a:bodyPr>
            <a:noAutofit/>
          </a:bodyPr>
          <a:lstStyle/>
          <a:p>
            <a:r>
              <a:rPr lang="en-US" sz="2400" b="1" dirty="0">
                <a:latin typeface="Arial" panose="020B0604020202020204" pitchFamily="34" charset="0"/>
                <a:cs typeface="Arial" panose="020B0604020202020204" pitchFamily="34" charset="0"/>
              </a:rPr>
              <a:t>Measures of Location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790158" y="581755"/>
                <a:ext cx="10831132" cy="6155221"/>
              </a:xfrm>
            </p:spPr>
            <p:txBody>
              <a:bodyPr>
                <a:noAutofit/>
              </a:bodyPr>
              <a:lstStyle/>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Measures of location are numerical values that describe the position of a specific value relative to the rest of the dataset. </a:t>
                </a: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A </a:t>
                </a:r>
                <a:r>
                  <a:rPr lang="en-US" sz="2000" b="1" dirty="0" err="1">
                    <a:latin typeface="Arial" panose="020B0604020202020204" pitchFamily="34" charset="0"/>
                    <a:cs typeface="Arial" panose="020B0604020202020204" pitchFamily="34" charset="0"/>
                  </a:rPr>
                  <a:t>quantile</a:t>
                </a:r>
                <a:r>
                  <a:rPr lang="en-US" sz="2000" dirty="0">
                    <a:latin typeface="Arial" panose="020B0604020202020204" pitchFamily="34" charset="0"/>
                    <a:cs typeface="Arial" panose="020B0604020202020204" pitchFamily="34" charset="0"/>
                  </a:rPr>
                  <a:t> is a cut-point that divides an ordered dataset (or distribution) into equal-sized parts. It divides data into </a:t>
                </a:r>
                <a:r>
                  <a:rPr lang="en-US" sz="2000" b="1" dirty="0">
                    <a:latin typeface="Arial" panose="020B0604020202020204" pitchFamily="34" charset="0"/>
                    <a:cs typeface="Arial" panose="020B0604020202020204" pitchFamily="34" charset="0"/>
                  </a:rPr>
                  <a:t>equal-sized intervals</a:t>
                </a:r>
                <a:r>
                  <a:rPr lang="en-US" sz="2000" dirty="0">
                    <a:latin typeface="Arial" panose="020B0604020202020204" pitchFamily="34" charset="0"/>
                    <a:cs typeface="Arial" panose="020B0604020202020204" pitchFamily="34" charset="0"/>
                  </a:rPr>
                  <a:t> based on probability. </a:t>
                </a: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Usually, we use three measures of location: </a:t>
                </a:r>
                <a:r>
                  <a:rPr lang="en-US" sz="2000" b="1" dirty="0">
                    <a:latin typeface="Arial" panose="020B0604020202020204" pitchFamily="34" charset="0"/>
                    <a:cs typeface="Arial" panose="020B0604020202020204" pitchFamily="34" charset="0"/>
                  </a:rPr>
                  <a:t>quartiles</a:t>
                </a:r>
                <a:r>
                  <a:rPr lang="en-US" sz="2000"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deciles</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percentiles</a:t>
                </a:r>
                <a:r>
                  <a:rPr lang="en-US" sz="2000" dirty="0">
                    <a:latin typeface="Arial" panose="020B0604020202020204" pitchFamily="34" charset="0"/>
                    <a:cs typeface="Arial" panose="020B0604020202020204" pitchFamily="34" charset="0"/>
                  </a:rPr>
                  <a:t>. Besides, the averages i.e., </a:t>
                </a:r>
                <a:r>
                  <a:rPr lang="en-US" sz="2000" b="1" dirty="0">
                    <a:latin typeface="Arial" panose="020B0604020202020204" pitchFamily="34" charset="0"/>
                    <a:cs typeface="Arial" panose="020B0604020202020204" pitchFamily="34" charset="0"/>
                  </a:rPr>
                  <a:t>mean, median , mode</a:t>
                </a:r>
                <a:r>
                  <a:rPr lang="en-US" sz="2000" dirty="0">
                    <a:latin typeface="Arial" panose="020B0604020202020204" pitchFamily="34" charset="0"/>
                    <a:cs typeface="Arial" panose="020B0604020202020204" pitchFamily="34" charset="0"/>
                  </a:rPr>
                  <a:t> can also be considered as </a:t>
                </a:r>
                <a:r>
                  <a:rPr lang="en-US" sz="2000" b="1" dirty="0">
                    <a:latin typeface="Arial" panose="020B0604020202020204" pitchFamily="34" charset="0"/>
                    <a:cs typeface="Arial" panose="020B0604020202020204" pitchFamily="34" charset="0"/>
                  </a:rPr>
                  <a:t>measures of locations </a:t>
                </a:r>
                <a:r>
                  <a:rPr lang="en-US" sz="2000" dirty="0">
                    <a:latin typeface="Arial" panose="020B0604020202020204" pitchFamily="34" charset="0"/>
                    <a:cs typeface="Arial" panose="020B0604020202020204" pitchFamily="34" charset="0"/>
                  </a:rPr>
                  <a:t>since they describe some positions of the dataset.</a:t>
                </a: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The positions that divide the data into four equal parts are called </a:t>
                </a:r>
                <a:r>
                  <a:rPr lang="en-US" sz="2000" b="1" dirty="0">
                    <a:latin typeface="Arial" panose="020B0604020202020204" pitchFamily="34" charset="0"/>
                    <a:cs typeface="Arial" panose="020B0604020202020204" pitchFamily="34" charset="0"/>
                  </a:rPr>
                  <a:t>quartiles</a:t>
                </a:r>
                <a:r>
                  <a:rPr lang="en-US" sz="2000" dirty="0">
                    <a:latin typeface="Arial" panose="020B0604020202020204" pitchFamily="34" charset="0"/>
                    <a:cs typeface="Arial" panose="020B0604020202020204" pitchFamily="34" charset="0"/>
                  </a:rPr>
                  <a:t>. There are 4 </a:t>
                </a:r>
                <a:r>
                  <a:rPr lang="en-US" sz="2000" dirty="0" err="1">
                    <a:latin typeface="Arial" panose="020B0604020202020204" pitchFamily="34" charset="0"/>
                    <a:cs typeface="Arial" panose="020B0604020202020204" pitchFamily="34" charset="0"/>
                  </a:rPr>
                  <a:t>quantiles</a:t>
                </a:r>
                <a:r>
                  <a:rPr lang="en-US" sz="2000" dirty="0">
                    <a:latin typeface="Arial" panose="020B0604020202020204" pitchFamily="34" charset="0"/>
                    <a:cs typeface="Arial" panose="020B0604020202020204" pitchFamily="34" charset="0"/>
                  </a:rPr>
                  <a:t> in finding the quartiles. </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There are three </a:t>
                </a:r>
                <a:r>
                  <a:rPr lang="en-US" b="1" dirty="0">
                    <a:latin typeface="Arial" panose="020B0604020202020204" pitchFamily="34" charset="0"/>
                    <a:cs typeface="Arial" panose="020B0604020202020204" pitchFamily="34" charset="0"/>
                  </a:rPr>
                  <a:t>quartiles</a:t>
                </a:r>
                <a:r>
                  <a:rPr lang="en-US" dirty="0">
                    <a:latin typeface="Arial" panose="020B0604020202020204" pitchFamily="34" charset="0"/>
                    <a:cs typeface="Arial" panose="020B0604020202020204" pitchFamily="34" charset="0"/>
                  </a:rPr>
                  <a:t> in a data set, usually denoted by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2</m:t>
                        </m:r>
                      </m:sub>
                    </m:sSub>
                    <m:r>
                      <a:rPr lang="en-US" i="1">
                        <a:latin typeface="Cambria Math" panose="02040503050406030204" pitchFamily="18" charset="0"/>
                      </a:rPr>
                      <m:t>&amp; </m:t>
                    </m:r>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3</m:t>
                        </m:r>
                      </m:sub>
                    </m:sSub>
                  </m:oMath>
                </a14:m>
                <a:r>
                  <a:rPr lang="en-US" dirty="0">
                    <a:latin typeface="Arial" panose="020B0604020202020204" pitchFamily="34" charset="0"/>
                    <a:cs typeface="Arial" panose="020B0604020202020204" pitchFamily="34" charset="0"/>
                  </a:rPr>
                  <a:t>; which divide the whole data set into four equal parts</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 The </a:t>
                </a:r>
                <a:r>
                  <a:rPr lang="en-US" b="1" dirty="0">
                    <a:latin typeface="Arial" panose="020B0604020202020204" pitchFamily="34" charset="0"/>
                    <a:cs typeface="Arial" panose="020B0604020202020204" pitchFamily="34" charset="0"/>
                  </a:rPr>
                  <a:t>first quartile</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1</m:t>
                        </m:r>
                      </m:sub>
                    </m:sSub>
                  </m:oMath>
                </a14:m>
                <a:r>
                  <a:rPr lang="en-US" dirty="0">
                    <a:latin typeface="Arial" panose="020B0604020202020204" pitchFamily="34" charset="0"/>
                    <a:cs typeface="Arial" panose="020B0604020202020204" pitchFamily="34" charset="0"/>
                  </a:rPr>
                  <a:t>, is the value at or below which one-fourth (25%) of all observations in the data set fall</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second quartile</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2</m:t>
                        </m:r>
                      </m:sub>
                    </m:sSub>
                  </m:oMath>
                </a14:m>
                <a:r>
                  <a:rPr lang="en-US" dirty="0">
                    <a:latin typeface="Arial" panose="020B0604020202020204" pitchFamily="34" charset="0"/>
                    <a:cs typeface="Arial" panose="020B0604020202020204" pitchFamily="34" charset="0"/>
                  </a:rPr>
                  <a:t>, is the value at or below which two-fourth (50%) of all observations in the data set fall (therefore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2</m:t>
                        </m:r>
                      </m:sub>
                    </m:sSub>
                  </m:oMath>
                </a14:m>
                <a:r>
                  <a:rPr lang="en-US" dirty="0">
                    <a:latin typeface="Arial" panose="020B0604020202020204" pitchFamily="34" charset="0"/>
                    <a:cs typeface="Arial" panose="020B0604020202020204" pitchFamily="34" charset="0"/>
                  </a:rPr>
                  <a:t> is identical with the median)</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third quartile</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3</m:t>
                        </m:r>
                      </m:sub>
                    </m:sSub>
                  </m:oMath>
                </a14:m>
                <a:r>
                  <a:rPr lang="en-US" dirty="0">
                    <a:latin typeface="Arial" panose="020B0604020202020204" pitchFamily="34" charset="0"/>
                    <a:cs typeface="Arial" panose="020B0604020202020204" pitchFamily="34" charset="0"/>
                  </a:rPr>
                  <a:t>, is the value at or below which three-fourth (75%) of all observations in the dataset lie.</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790158" y="581755"/>
                <a:ext cx="10831132" cy="6155221"/>
              </a:xfrm>
              <a:blipFill rotWithShape="0">
                <a:blip r:embed="rId2"/>
                <a:stretch>
                  <a:fillRect l="-507" t="-396" r="-619"/>
                </a:stretch>
              </a:blipFill>
            </p:spPr>
            <p:txBody>
              <a:bodyPr/>
              <a:lstStyle/>
              <a:p>
                <a:r>
                  <a:rPr lang="en-US">
                    <a:noFill/>
                  </a:rPr>
                  <a:t> </a:t>
                </a:r>
              </a:p>
            </p:txBody>
          </p:sp>
        </mc:Fallback>
      </mc:AlternateContent>
    </p:spTree>
    <p:extLst>
      <p:ext uri="{BB962C8B-B14F-4D97-AF65-F5344CB8AC3E}">
        <p14:creationId xmlns:p14="http://schemas.microsoft.com/office/powerpoint/2010/main" val="3520120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6147" y="96025"/>
            <a:ext cx="9144000" cy="388068"/>
          </a:xfrm>
        </p:spPr>
        <p:txBody>
          <a:bodyPr>
            <a:noAutofit/>
          </a:bodyPr>
          <a:lstStyle/>
          <a:p>
            <a:r>
              <a:rPr lang="en-US" sz="2400" b="1" dirty="0">
                <a:latin typeface="Arial" panose="020B0604020202020204" pitchFamily="34" charset="0"/>
                <a:cs typeface="Arial" panose="020B0604020202020204" pitchFamily="34" charset="0"/>
              </a:rPr>
              <a:t>Measures of Location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790158" y="581755"/>
                <a:ext cx="10831132" cy="6155221"/>
              </a:xfrm>
            </p:spPr>
            <p:txBody>
              <a:bodyPr>
                <a:noAutofit/>
              </a:bodyPr>
              <a:lstStyle/>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When the data is divided into ten equal parts, each division is called a </a:t>
                </a:r>
                <a:r>
                  <a:rPr lang="en-US" sz="2000" b="1" dirty="0" err="1">
                    <a:latin typeface="Arial" panose="020B0604020202020204" pitchFamily="34" charset="0"/>
                    <a:cs typeface="Arial" panose="020B0604020202020204" pitchFamily="34" charset="0"/>
                  </a:rPr>
                  <a:t>decile</a:t>
                </a:r>
                <a:r>
                  <a:rPr lang="en-US" sz="2000" dirty="0">
                    <a:latin typeface="Arial" panose="020B0604020202020204" pitchFamily="34" charset="0"/>
                    <a:cs typeface="Arial" panose="020B0604020202020204" pitchFamily="34" charset="0"/>
                  </a:rPr>
                  <a:t>. There are nine </a:t>
                </a:r>
                <a:r>
                  <a:rPr lang="en-US" sz="2000" b="1" dirty="0" err="1">
                    <a:latin typeface="Arial" panose="020B0604020202020204" pitchFamily="34" charset="0"/>
                    <a:cs typeface="Arial" panose="020B0604020202020204" pitchFamily="34" charset="0"/>
                  </a:rPr>
                  <a:t>deciles</a:t>
                </a:r>
                <a:r>
                  <a:rPr lang="en-US" sz="2000" dirty="0">
                    <a:latin typeface="Arial" panose="020B0604020202020204" pitchFamily="34" charset="0"/>
                    <a:cs typeface="Arial" panose="020B0604020202020204" pitchFamily="34" charset="0"/>
                  </a:rPr>
                  <a:t> in a data set, usually denoted by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𝐷</m:t>
                        </m:r>
                      </m:e>
                      <m:sub>
                        <m:r>
                          <a:rPr lang="en-US" sz="2000" i="1">
                            <a:latin typeface="Cambria Math" panose="02040503050406030204" pitchFamily="18" charset="0"/>
                          </a:rPr>
                          <m:t>1</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𝐷</m:t>
                        </m:r>
                      </m:e>
                      <m:sub>
                        <m:r>
                          <a:rPr lang="en-US" sz="2000" i="1">
                            <a:latin typeface="Cambria Math" panose="02040503050406030204" pitchFamily="18" charset="0"/>
                          </a:rPr>
                          <m:t>2</m:t>
                        </m:r>
                      </m:sub>
                    </m:sSub>
                    <m:r>
                      <a:rPr lang="en-US" sz="2000" i="1">
                        <a:latin typeface="Cambria Math" panose="02040503050406030204" pitchFamily="18" charset="0"/>
                      </a:rPr>
                      <m:t>, ⋯, </m:t>
                    </m:r>
                    <m:sSub>
                      <m:sSubPr>
                        <m:ctrlPr>
                          <a:rPr lang="en-US" sz="2000" i="1">
                            <a:latin typeface="Cambria Math" panose="02040503050406030204" pitchFamily="18" charset="0"/>
                          </a:rPr>
                        </m:ctrlPr>
                      </m:sSubPr>
                      <m:e>
                        <m:r>
                          <a:rPr lang="en-US" sz="2000" i="1">
                            <a:latin typeface="Cambria Math" panose="02040503050406030204" pitchFamily="18" charset="0"/>
                          </a:rPr>
                          <m:t>𝐷</m:t>
                        </m:r>
                      </m:e>
                      <m:sub>
                        <m:r>
                          <a:rPr lang="en-US" sz="2000" i="1">
                            <a:latin typeface="Cambria Math" panose="02040503050406030204" pitchFamily="18" charset="0"/>
                          </a:rPr>
                          <m:t>9</m:t>
                        </m:r>
                      </m:sub>
                    </m:sSub>
                  </m:oMath>
                </a14:m>
                <a:r>
                  <a:rPr lang="en-US" sz="2000" dirty="0">
                    <a:latin typeface="Arial" panose="020B0604020202020204" pitchFamily="34" charset="0"/>
                    <a:cs typeface="Arial" panose="020B0604020202020204" pitchFamily="34" charset="0"/>
                  </a:rPr>
                  <a:t>. There are 10 </a:t>
                </a:r>
                <a:r>
                  <a:rPr lang="en-US" sz="2000" dirty="0" err="1">
                    <a:latin typeface="Arial" panose="020B0604020202020204" pitchFamily="34" charset="0"/>
                    <a:cs typeface="Arial" panose="020B0604020202020204" pitchFamily="34" charset="0"/>
                  </a:rPr>
                  <a:t>quantiles</a:t>
                </a:r>
                <a:r>
                  <a:rPr lang="en-US" sz="2000" dirty="0">
                    <a:latin typeface="Arial" panose="020B0604020202020204" pitchFamily="34" charset="0"/>
                    <a:cs typeface="Arial" panose="020B0604020202020204" pitchFamily="34" charset="0"/>
                  </a:rPr>
                  <a:t> in finding the </a:t>
                </a:r>
                <a:r>
                  <a:rPr lang="en-US" sz="2000" dirty="0" err="1">
                    <a:latin typeface="Arial" panose="020B0604020202020204" pitchFamily="34" charset="0"/>
                    <a:cs typeface="Arial" panose="020B0604020202020204" pitchFamily="34" charset="0"/>
                  </a:rPr>
                  <a:t>deciles</a:t>
                </a:r>
                <a:r>
                  <a:rPr lang="en-US" sz="2000" dirty="0">
                    <a:latin typeface="Arial" panose="020B0604020202020204" pitchFamily="34" charset="0"/>
                    <a:cs typeface="Arial" panose="020B0604020202020204" pitchFamily="34" charset="0"/>
                  </a:rPr>
                  <a:t>. </a:t>
                </a:r>
              </a:p>
              <a:p>
                <a:pPr marL="342900" indent="-342900" algn="just">
                  <a:lnSpc>
                    <a:spcPct val="100000"/>
                  </a:lnSpc>
                  <a:buFont typeface="Arial" panose="020B0604020202020204" pitchFamily="34" charset="0"/>
                  <a:buChar char="•"/>
                </a:pPr>
                <a:r>
                  <a:rPr lang="en-US" sz="2000" dirty="0">
                    <a:latin typeface="Arial" panose="020B0604020202020204" pitchFamily="34" charset="0"/>
                    <a:cs typeface="Arial" panose="020B0604020202020204" pitchFamily="34" charset="0"/>
                  </a:rPr>
                  <a:t>When the data is divided into hundred equal parts, each division is called a </a:t>
                </a:r>
                <a:r>
                  <a:rPr lang="en-US" sz="2000" b="1" dirty="0">
                    <a:latin typeface="Arial" panose="020B0604020202020204" pitchFamily="34" charset="0"/>
                    <a:cs typeface="Arial" panose="020B0604020202020204" pitchFamily="34" charset="0"/>
                  </a:rPr>
                  <a:t>percentile</a:t>
                </a:r>
                <a:r>
                  <a:rPr lang="en-US" sz="2000" dirty="0">
                    <a:latin typeface="Arial" panose="020B0604020202020204" pitchFamily="34" charset="0"/>
                    <a:cs typeface="Arial" panose="020B0604020202020204" pitchFamily="34" charset="0"/>
                  </a:rPr>
                  <a:t>. There are ninety-nine </a:t>
                </a:r>
                <a:r>
                  <a:rPr lang="en-US" sz="2000" b="1" dirty="0">
                    <a:latin typeface="Arial" panose="020B0604020202020204" pitchFamily="34" charset="0"/>
                    <a:cs typeface="Arial" panose="020B0604020202020204" pitchFamily="34" charset="0"/>
                  </a:rPr>
                  <a:t>percentiles</a:t>
                </a:r>
                <a:r>
                  <a:rPr lang="en-US" sz="2000" dirty="0">
                    <a:latin typeface="Arial" panose="020B0604020202020204" pitchFamily="34" charset="0"/>
                    <a:cs typeface="Arial" panose="020B0604020202020204" pitchFamily="34" charset="0"/>
                  </a:rPr>
                  <a:t> in a data set, usually denoted by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1</m:t>
                        </m:r>
                      </m:sub>
                    </m:sSub>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2</m:t>
                        </m:r>
                      </m:sub>
                    </m:sSub>
                    <m:r>
                      <a:rPr lang="en-US" sz="2000" i="1">
                        <a:latin typeface="Cambria Math" panose="02040503050406030204" pitchFamily="18" charset="0"/>
                      </a:rPr>
                      <m:t>, ⋯, </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99</m:t>
                        </m:r>
                      </m:sub>
                    </m:sSub>
                  </m:oMath>
                </a14:m>
                <a:r>
                  <a:rPr lang="en-US" sz="2000" dirty="0">
                    <a:latin typeface="Arial" panose="020B0604020202020204" pitchFamily="34" charset="0"/>
                    <a:cs typeface="Arial" panose="020B0604020202020204" pitchFamily="34" charset="0"/>
                  </a:rPr>
                  <a:t>. There are 100 </a:t>
                </a:r>
                <a:r>
                  <a:rPr lang="en-US" sz="2000" dirty="0" err="1">
                    <a:latin typeface="Arial" panose="020B0604020202020204" pitchFamily="34" charset="0"/>
                    <a:cs typeface="Arial" panose="020B0604020202020204" pitchFamily="34" charset="0"/>
                  </a:rPr>
                  <a:t>quantiles</a:t>
                </a:r>
                <a:r>
                  <a:rPr lang="en-US" sz="2000" dirty="0">
                    <a:latin typeface="Arial" panose="020B0604020202020204" pitchFamily="34" charset="0"/>
                    <a:cs typeface="Arial" panose="020B0604020202020204" pitchFamily="34" charset="0"/>
                  </a:rPr>
                  <a:t> in finding the percentiles. </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 For a distribution of a continuous variable, the </a:t>
                </a:r>
                <a14:m>
                  <m:oMath xmlns:m="http://schemas.openxmlformats.org/officeDocument/2006/math">
                    <m:r>
                      <a:rPr lang="en-US">
                        <a:latin typeface="Cambria Math" panose="02040503050406030204" pitchFamily="18" charset="0"/>
                        <a:cs typeface="Arial" panose="020B0604020202020204" pitchFamily="34" charset="0"/>
                      </a:rPr>
                      <m:t>𝑝</m:t>
                    </m:r>
                  </m:oMath>
                </a14:m>
                <a:r>
                  <a:rPr lang="en-US" dirty="0" err="1">
                    <a:latin typeface="Arial" panose="020B0604020202020204" pitchFamily="34" charset="0"/>
                    <a:cs typeface="Arial" panose="020B0604020202020204" pitchFamily="34" charset="0"/>
                  </a:rPr>
                  <a:t>th</a:t>
                </a:r>
                <a:r>
                  <a:rPr lang="en-US" dirty="0">
                    <a:latin typeface="Arial" panose="020B0604020202020204" pitchFamily="34" charset="0"/>
                    <a:cs typeface="Arial" panose="020B0604020202020204" pitchFamily="34" charset="0"/>
                  </a:rPr>
                  <a:t> percentile (</a:t>
                </a:r>
                <a:r>
                  <a:rPr lang="en-US" dirty="0" err="1">
                    <a:latin typeface="Arial" panose="020B0604020202020204" pitchFamily="34" charset="0"/>
                    <a:cs typeface="Arial" panose="020B0604020202020204" pitchFamily="34" charset="0"/>
                  </a:rPr>
                  <a:t>quantile</a:t>
                </a:r>
                <a:r>
                  <a:rPr lang="en-US" dirty="0">
                    <a:latin typeface="Arial" panose="020B0604020202020204" pitchFamily="34" charset="0"/>
                    <a:cs typeface="Arial" panose="020B0604020202020204" pitchFamily="34" charset="0"/>
                  </a:rPr>
                  <a:t>) is the value below which a proportion </a:t>
                </a:r>
                <a14:m>
                  <m:oMath xmlns:m="http://schemas.openxmlformats.org/officeDocument/2006/math">
                    <m:r>
                      <a:rPr lang="en-US">
                        <a:latin typeface="Cambria Math" panose="02040503050406030204" pitchFamily="18" charset="0"/>
                        <a:cs typeface="Arial" panose="020B0604020202020204" pitchFamily="34" charset="0"/>
                      </a:rPr>
                      <m:t>𝑝</m:t>
                    </m:r>
                  </m:oMath>
                </a14:m>
                <a:r>
                  <a:rPr lang="en-US" dirty="0">
                    <a:latin typeface="Arial" panose="020B0604020202020204" pitchFamily="34" charset="0"/>
                    <a:cs typeface="Arial" panose="020B0604020202020204" pitchFamily="34" charset="0"/>
                  </a:rPr>
                  <a:t> of the distribution lies. </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In the case of discrete variable or raw dataset, the </a:t>
                </a:r>
                <a14:m>
                  <m:oMath xmlns:m="http://schemas.openxmlformats.org/officeDocument/2006/math">
                    <m:r>
                      <a:rPr lang="en-US">
                        <a:latin typeface="Cambria Math" panose="02040503050406030204" pitchFamily="18" charset="0"/>
                        <a:cs typeface="Arial" panose="020B0604020202020204" pitchFamily="34" charset="0"/>
                      </a:rPr>
                      <m:t>𝑝</m:t>
                    </m:r>
                  </m:oMath>
                </a14:m>
                <a:r>
                  <a:rPr lang="en-US" dirty="0" err="1">
                    <a:latin typeface="Arial" panose="020B0604020202020204" pitchFamily="34" charset="0"/>
                    <a:cs typeface="Arial" panose="020B0604020202020204" pitchFamily="34" charset="0"/>
                  </a:rPr>
                  <a:t>th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quantile</a:t>
                </a:r>
                <a:r>
                  <a:rPr lang="en-US" dirty="0">
                    <a:latin typeface="Arial" panose="020B0604020202020204" pitchFamily="34" charset="0"/>
                    <a:cs typeface="Arial" panose="020B0604020202020204" pitchFamily="34" charset="0"/>
                  </a:rPr>
                  <a:t> is the value </a:t>
                </a:r>
                <a:r>
                  <a:rPr lang="en-US" b="1" dirty="0">
                    <a:latin typeface="Arial" panose="020B0604020202020204" pitchFamily="34" charset="0"/>
                    <a:cs typeface="Arial" panose="020B0604020202020204" pitchFamily="34" charset="0"/>
                  </a:rPr>
                  <a:t>at or below</a:t>
                </a:r>
                <a:r>
                  <a:rPr lang="en-US" dirty="0">
                    <a:latin typeface="Arial" panose="020B0604020202020204" pitchFamily="34" charset="0"/>
                    <a:cs typeface="Arial" panose="020B0604020202020204" pitchFamily="34" charset="0"/>
                  </a:rPr>
                  <a:t> which </a:t>
                </a:r>
                <a:r>
                  <a:rPr lang="en-US" b="1" dirty="0">
                    <a:latin typeface="Arial" panose="020B0604020202020204" pitchFamily="34" charset="0"/>
                    <a:cs typeface="Arial" panose="020B0604020202020204" pitchFamily="34" charset="0"/>
                  </a:rPr>
                  <a:t>at least </a:t>
                </a:r>
                <a:r>
                  <a:rPr lang="en-US" dirty="0">
                    <a:latin typeface="Arial" panose="020B0604020202020204" pitchFamily="34" charset="0"/>
                    <a:cs typeface="Arial" panose="020B0604020202020204" pitchFamily="34" charset="0"/>
                  </a:rPr>
                  <a:t>the </a:t>
                </a:r>
                <a:r>
                  <a:rPr lang="en-US" b="1" dirty="0">
                    <a:latin typeface="Arial" panose="020B0604020202020204" pitchFamily="34" charset="0"/>
                    <a:cs typeface="Arial" panose="020B0604020202020204" pitchFamily="34" charset="0"/>
                  </a:rPr>
                  <a:t>proportion </a:t>
                </a:r>
                <a14:m>
                  <m:oMath xmlns:m="http://schemas.openxmlformats.org/officeDocument/2006/math">
                    <m:r>
                      <a:rPr lang="en-US" b="1" i="1">
                        <a:latin typeface="Cambria Math" panose="02040503050406030204" pitchFamily="18" charset="0"/>
                        <a:cs typeface="Arial" panose="020B0604020202020204" pitchFamily="34" charset="0"/>
                      </a:rPr>
                      <m:t>𝒑</m:t>
                    </m:r>
                  </m:oMath>
                </a14:m>
                <a:r>
                  <a:rPr lang="en-US" dirty="0">
                    <a:latin typeface="Arial" panose="020B0604020202020204" pitchFamily="34" charset="0"/>
                    <a:cs typeface="Arial" panose="020B0604020202020204" pitchFamily="34" charset="0"/>
                  </a:rPr>
                  <a:t> of the data lies. </a:t>
                </a:r>
                <a:endParaRPr lang="en-US" sz="2000" dirty="0">
                  <a:latin typeface="Arial" panose="020B0604020202020204" pitchFamily="34" charset="0"/>
                  <a:cs typeface="Arial" panose="020B0604020202020204" pitchFamily="34" charset="0"/>
                </a:endParaRPr>
              </a:p>
              <a:p>
                <a:pPr marL="342900" indent="-342900" algn="just">
                  <a:lnSpc>
                    <a:spcPct val="150000"/>
                  </a:lnSpc>
                  <a:buFont typeface="Arial" panose="020B0604020202020204" pitchFamily="34" charset="0"/>
                  <a:buChar char="•"/>
                </a:pPr>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𝑄</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𝑃</m:t>
                        </m:r>
                      </m:e>
                      <m:sub>
                        <m:r>
                          <a:rPr lang="en-US" sz="2000" i="1">
                            <a:latin typeface="Cambria Math" panose="02040503050406030204" pitchFamily="18" charset="0"/>
                            <a:cs typeface="Arial" panose="020B0604020202020204" pitchFamily="34" charset="0"/>
                          </a:rPr>
                          <m:t>25</m:t>
                        </m:r>
                      </m:sub>
                    </m:sSub>
                  </m:oMath>
                </a14:m>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𝑄</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𝑃</m:t>
                        </m:r>
                      </m:e>
                      <m:sub>
                        <m:r>
                          <a:rPr lang="en-US" sz="2000" i="1">
                            <a:latin typeface="Cambria Math" panose="02040503050406030204" pitchFamily="18" charset="0"/>
                            <a:cs typeface="Arial" panose="020B0604020202020204" pitchFamily="34" charset="0"/>
                          </a:rPr>
                          <m:t>50</m:t>
                        </m:r>
                      </m:sub>
                    </m:sSub>
                  </m:oMath>
                </a14:m>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𝑄</m:t>
                        </m:r>
                      </m:e>
                      <m:sub>
                        <m:r>
                          <a:rPr lang="en-US" sz="2000" b="0" i="1" smtClean="0">
                            <a:latin typeface="Cambria Math" panose="02040503050406030204" pitchFamily="18" charset="0"/>
                            <a:cs typeface="Arial" panose="020B0604020202020204" pitchFamily="34" charset="0"/>
                          </a:rPr>
                          <m:t>3</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7</m:t>
                        </m:r>
                        <m:r>
                          <a:rPr lang="en-US" sz="2000" i="1">
                            <a:latin typeface="Cambria Math" panose="02040503050406030204" pitchFamily="18" charset="0"/>
                            <a:cs typeface="Arial" panose="020B0604020202020204" pitchFamily="34" charset="0"/>
                          </a:rPr>
                          <m:t>5</m:t>
                        </m:r>
                      </m:sub>
                    </m:sSub>
                  </m:oMath>
                </a14:m>
                <a:endParaRPr lang="en-US" sz="2000" dirty="0">
                  <a:cs typeface="Arial" panose="020B0604020202020204" pitchFamily="34" charset="0"/>
                </a:endParaRPr>
              </a:p>
              <a:p>
                <a:pPr marL="342900" indent="-342900" algn="just">
                  <a:lnSpc>
                    <a:spcPct val="150000"/>
                  </a:lnSpc>
                  <a:buFont typeface="Arial" panose="020B0604020202020204" pitchFamily="34" charset="0"/>
                  <a:buChar char="•"/>
                </a:pP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𝐷</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𝑃</m:t>
                        </m:r>
                      </m:e>
                      <m:sub>
                        <m:r>
                          <a:rPr lang="en-US" sz="2000" i="1">
                            <a:latin typeface="Cambria Math" panose="02040503050406030204" pitchFamily="18" charset="0"/>
                            <a:cs typeface="Arial" panose="020B0604020202020204" pitchFamily="34" charset="0"/>
                          </a:rPr>
                          <m:t>10</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𝐷</m:t>
                        </m:r>
                      </m:e>
                      <m:sub>
                        <m:r>
                          <a:rPr lang="en-US" sz="2000" b="0" i="1" smtClean="0">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2</m:t>
                        </m:r>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m:t>
                    </m:r>
                    <m:r>
                      <a:rPr lang="en-US" sz="2000" i="1" smtClean="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𝐷</m:t>
                        </m:r>
                      </m:e>
                      <m:sub>
                        <m:r>
                          <a:rPr lang="en-US" sz="2000" i="1">
                            <a:latin typeface="Cambria Math" panose="02040503050406030204" pitchFamily="18" charset="0"/>
                            <a:cs typeface="Arial" panose="020B0604020202020204" pitchFamily="34" charset="0"/>
                          </a:rPr>
                          <m:t>5</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𝑃</m:t>
                        </m:r>
                      </m:e>
                      <m:sub>
                        <m:r>
                          <a:rPr lang="en-US" sz="2000" i="1">
                            <a:latin typeface="Cambria Math" panose="02040503050406030204" pitchFamily="18" charset="0"/>
                            <a:cs typeface="Arial" panose="020B0604020202020204" pitchFamily="34" charset="0"/>
                          </a:rPr>
                          <m:t>50</m:t>
                        </m:r>
                      </m:sub>
                    </m:sSub>
                    <m:r>
                      <a:rPr lang="en-US" sz="2000" b="0" i="1" smtClean="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𝐷</m:t>
                        </m:r>
                      </m:e>
                      <m:sub>
                        <m:r>
                          <a:rPr lang="en-US" sz="2000" b="0" i="1" smtClean="0">
                            <a:latin typeface="Cambria Math" panose="02040503050406030204" pitchFamily="18" charset="0"/>
                            <a:cs typeface="Arial" panose="020B0604020202020204" pitchFamily="34" charset="0"/>
                          </a:rPr>
                          <m:t>9</m:t>
                        </m:r>
                      </m:sub>
                    </m:sSub>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𝑃</m:t>
                        </m:r>
                      </m:e>
                      <m:sub>
                        <m:r>
                          <a:rPr lang="en-US" sz="2000" b="0" i="1" smtClean="0">
                            <a:latin typeface="Cambria Math" panose="02040503050406030204" pitchFamily="18" charset="0"/>
                            <a:cs typeface="Arial" panose="020B0604020202020204" pitchFamily="34" charset="0"/>
                          </a:rPr>
                          <m:t>9</m:t>
                        </m:r>
                        <m:r>
                          <a:rPr lang="en-US" sz="2000" i="1">
                            <a:latin typeface="Cambria Math" panose="02040503050406030204" pitchFamily="18" charset="0"/>
                            <a:cs typeface="Arial" panose="020B0604020202020204" pitchFamily="34" charset="0"/>
                          </a:rPr>
                          <m:t>0</m:t>
                        </m:r>
                      </m:sub>
                    </m:sSub>
                  </m:oMath>
                </a14:m>
                <a:endParaRPr lang="en-US" sz="2000" dirty="0">
                  <a:latin typeface="Arial" panose="020B0604020202020204" pitchFamily="34" charset="0"/>
                  <a:cs typeface="Arial" panose="020B0604020202020204" pitchFamily="34"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790158" y="581755"/>
                <a:ext cx="10831132" cy="6155221"/>
              </a:xfrm>
              <a:blipFill rotWithShape="0">
                <a:blip r:embed="rId2"/>
                <a:stretch>
                  <a:fillRect l="-507" t="-396" r="-619"/>
                </a:stretch>
              </a:blipFill>
            </p:spPr>
            <p:txBody>
              <a:bodyPr/>
              <a:lstStyle/>
              <a:p>
                <a:r>
                  <a:rPr lang="en-US">
                    <a:noFill/>
                  </a:rPr>
                  <a:t> </a:t>
                </a:r>
              </a:p>
            </p:txBody>
          </p:sp>
        </mc:Fallback>
      </mc:AlternateContent>
    </p:spTree>
    <p:extLst>
      <p:ext uri="{BB962C8B-B14F-4D97-AF65-F5344CB8AC3E}">
        <p14:creationId xmlns:p14="http://schemas.microsoft.com/office/powerpoint/2010/main" val="1634624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The Percentiles </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6155221"/>
              </a:xfrm>
            </p:spPr>
            <p:txBody>
              <a:bodyPr>
                <a:noAutofit/>
              </a:bodyPr>
              <a:lstStyle/>
              <a:p>
                <a:pPr marL="342900" indent="-342900" algn="just">
                  <a:lnSpc>
                    <a:spcPct val="100000"/>
                  </a:lnSpc>
                  <a:buFont typeface="Arial" panose="020B0604020202020204" pitchFamily="34" charset="0"/>
                  <a:buChar char="•"/>
                </a:pPr>
                <a:endParaRPr lang="en-US" sz="2000" b="1"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Calculation of the </a:t>
                </a:r>
                <a14:m>
                  <m:oMath xmlns:m="http://schemas.openxmlformats.org/officeDocument/2006/math">
                    <m:r>
                      <a:rPr lang="en-US" sz="2000" b="1" i="1" smtClean="0">
                        <a:latin typeface="Cambria Math" panose="02040503050406030204" pitchFamily="18" charset="0"/>
                        <a:cs typeface="Arial" panose="020B0604020202020204" pitchFamily="34" charset="0"/>
                      </a:rPr>
                      <m:t>𝒓</m:t>
                    </m:r>
                  </m:oMath>
                </a14:m>
                <a:r>
                  <a:rPr lang="en-US" sz="2000" b="1" dirty="0" err="1">
                    <a:latin typeface="Arial" panose="020B0604020202020204" pitchFamily="34" charset="0"/>
                    <a:cs typeface="Arial" panose="020B0604020202020204" pitchFamily="34" charset="0"/>
                  </a:rPr>
                  <a:t>th</a:t>
                </a:r>
                <a:r>
                  <a:rPr lang="en-US" sz="2000" b="1" dirty="0">
                    <a:latin typeface="Arial" panose="020B0604020202020204" pitchFamily="34" charset="0"/>
                    <a:cs typeface="Arial" panose="020B0604020202020204" pitchFamily="34" charset="0"/>
                  </a:rPr>
                  <a:t> percentile </a:t>
                </a:r>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m:t>
                        </m:r>
                        <m:r>
                          <a:rPr lang="en-US" sz="2000" b="1" i="1">
                            <a:latin typeface="Cambria Math" panose="02040503050406030204" pitchFamily="18" charset="0"/>
                          </a:rPr>
                          <m:t>𝑷</m:t>
                        </m:r>
                      </m:e>
                      <m:sub>
                        <m:r>
                          <a:rPr lang="en-US" sz="2000" b="1" i="1">
                            <a:latin typeface="Cambria Math" panose="02040503050406030204" pitchFamily="18" charset="0"/>
                          </a:rPr>
                          <m:t>𝒓</m:t>
                        </m:r>
                      </m:sub>
                    </m:sSub>
                    <m:r>
                      <a:rPr lang="en-US" sz="2000" b="1" i="1">
                        <a:latin typeface="Cambria Math" panose="02040503050406030204" pitchFamily="18" charset="0"/>
                      </a:rPr>
                      <m:t>)</m:t>
                    </m:r>
                  </m:oMath>
                </a14:m>
                <a:r>
                  <a:rPr lang="en-US" sz="2000" b="1" dirty="0">
                    <a:latin typeface="Arial" panose="020B0604020202020204" pitchFamily="34" charset="0"/>
                    <a:cs typeface="Arial" panose="020B0604020202020204" pitchFamily="34" charset="0"/>
                  </a:rPr>
                  <a:t>  from raw data:</a:t>
                </a:r>
                <a:r>
                  <a:rPr lang="en-US" sz="2000" dirty="0">
                    <a:latin typeface="Arial" panose="020B0604020202020204" pitchFamily="34" charset="0"/>
                    <a:cs typeface="Arial" panose="020B0604020202020204" pitchFamily="34" charset="0"/>
                  </a:rPr>
                  <a:t> </a:t>
                </a:r>
              </a:p>
              <a:p>
                <a:pPr marL="800100" lvl="1" indent="-342900" algn="just">
                  <a:lnSpc>
                    <a:spcPct val="100000"/>
                  </a:lnSpc>
                  <a:buFont typeface="Wingdings" panose="05000000000000000000" pitchFamily="2" charset="2"/>
                  <a:buChar char="ü"/>
                </a:pPr>
                <a:r>
                  <a:rPr lang="en-US" b="1" dirty="0">
                    <a:latin typeface="Arial" panose="020B0604020202020204" pitchFamily="34" charset="0"/>
                    <a:cs typeface="Arial" panose="020B0604020202020204" pitchFamily="34" charset="0"/>
                  </a:rPr>
                  <a:t>Case-I</a:t>
                </a:r>
                <a:r>
                  <a:rPr lang="en-US" dirty="0">
                    <a:latin typeface="Arial" panose="020B0604020202020204" pitchFamily="34" charset="0"/>
                    <a:cs typeface="Arial" panose="020B0604020202020204" pitchFamily="34" charset="0"/>
                  </a:rPr>
                  <a:t>  </a:t>
                </a:r>
                <a14:m>
                  <m:oMath xmlns:m="http://schemas.openxmlformats.org/officeDocument/2006/math">
                    <m:r>
                      <a:rPr lang="en-US">
                        <a:latin typeface="Cambria Math" panose="02040503050406030204" pitchFamily="18" charset="0"/>
                      </a:rPr>
                      <m:t>(</m:t>
                    </m:r>
                    <m:r>
                      <m:rPr>
                        <m:sty m:val="p"/>
                      </m:rPr>
                      <a:rPr lang="en-US">
                        <a:latin typeface="Cambria Math" panose="02040503050406030204" pitchFamily="18" charset="0"/>
                      </a:rPr>
                      <m:t>r</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latin typeface="Arial" panose="020B0604020202020204" pitchFamily="34" charset="0"/>
                    <a:cs typeface="Arial" panose="020B0604020202020204" pitchFamily="34" charset="0"/>
                  </a:rPr>
                  <a:t> is divisible by 100: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𝑟</m:t>
                        </m:r>
                      </m:sub>
                    </m:sSub>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𝑟𝑛</m:t>
                                    </m:r>
                                  </m:num>
                                  <m:den>
                                    <m:r>
                                      <a:rPr lang="en-US" i="1">
                                        <a:latin typeface="Cambria Math" panose="02040503050406030204" pitchFamily="18" charset="0"/>
                                      </a:rPr>
                                      <m:t>100</m:t>
                                    </m:r>
                                  </m:den>
                                </m:f>
                              </m:e>
                            </m:d>
                          </m:e>
                          <m:sup>
                            <m:r>
                              <a:rPr lang="en-US" i="1">
                                <a:latin typeface="Cambria Math" panose="02040503050406030204" pitchFamily="18" charset="0"/>
                              </a:rPr>
                              <m:t>𝑡h</m:t>
                            </m:r>
                          </m:sup>
                        </m:sSup>
                        <m:r>
                          <a:rPr lang="en-US" i="1">
                            <a:latin typeface="Cambria Math" panose="02040503050406030204" pitchFamily="18" charset="0"/>
                          </a:rPr>
                          <m:t>𝑣𝑎𝑙𝑢𝑒</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𝑟𝑛</m:t>
                                    </m:r>
                                  </m:num>
                                  <m:den>
                                    <m:r>
                                      <a:rPr lang="en-US" i="1">
                                        <a:latin typeface="Cambria Math" panose="02040503050406030204" pitchFamily="18" charset="0"/>
                                      </a:rPr>
                                      <m:t>100</m:t>
                                    </m:r>
                                  </m:den>
                                </m:f>
                                <m:r>
                                  <a:rPr lang="en-US" i="1">
                                    <a:latin typeface="Cambria Math" panose="02040503050406030204" pitchFamily="18" charset="0"/>
                                  </a:rPr>
                                  <m:t>+1</m:t>
                                </m:r>
                              </m:e>
                            </m:d>
                          </m:e>
                          <m:sup>
                            <m:r>
                              <a:rPr lang="en-US" i="1">
                                <a:latin typeface="Cambria Math" panose="02040503050406030204" pitchFamily="18" charset="0"/>
                              </a:rPr>
                              <m:t>𝑡h</m:t>
                            </m:r>
                          </m:sup>
                        </m:sSup>
                        <m:r>
                          <a:rPr lang="en-US" i="1">
                            <a:latin typeface="Cambria Math" panose="02040503050406030204" pitchFamily="18" charset="0"/>
                          </a:rPr>
                          <m:t>𝑣𝑎𝑙𝑢𝑒</m:t>
                        </m:r>
                      </m:num>
                      <m:den>
                        <m:r>
                          <a:rPr lang="en-US" i="1">
                            <a:latin typeface="Cambria Math" panose="02040503050406030204" pitchFamily="18" charset="0"/>
                          </a:rPr>
                          <m:t>2</m:t>
                        </m:r>
                      </m:den>
                    </m:f>
                  </m:oMath>
                </a14:m>
                <a:endParaRPr lang="en-US" dirty="0">
                  <a:latin typeface="Arial" panose="020B0604020202020204" pitchFamily="34" charset="0"/>
                </a:endParaRPr>
              </a:p>
              <a:p>
                <a:pPr marL="800100" lvl="1" indent="-342900" algn="just">
                  <a:lnSpc>
                    <a:spcPct val="100000"/>
                  </a:lnSpc>
                  <a:buFont typeface="Wingdings" panose="05000000000000000000" pitchFamily="2" charset="2"/>
                  <a:buChar char="ü"/>
                </a:pPr>
                <a:endParaRPr lang="en-US" b="1" dirty="0">
                  <a:latin typeface="Arial" panose="020B0604020202020204" pitchFamily="34" charset="0"/>
                  <a:cs typeface="Arial" panose="020B0604020202020204" pitchFamily="34" charset="0"/>
                </a:endParaRPr>
              </a:p>
              <a:p>
                <a:pPr marL="800100" lvl="1" indent="-342900" algn="just">
                  <a:lnSpc>
                    <a:spcPct val="100000"/>
                  </a:lnSpc>
                  <a:buFont typeface="Wingdings" panose="05000000000000000000" pitchFamily="2" charset="2"/>
                  <a:buChar char="ü"/>
                </a:pPr>
                <a:r>
                  <a:rPr lang="en-US" b="1" dirty="0">
                    <a:latin typeface="Arial" panose="020B0604020202020204" pitchFamily="34" charset="0"/>
                    <a:cs typeface="Arial" panose="020B0604020202020204" pitchFamily="34" charset="0"/>
                  </a:rPr>
                  <a:t>Case-II</a:t>
                </a:r>
                <a14:m>
                  <m:oMath xmlns:m="http://schemas.openxmlformats.org/officeDocument/2006/math">
                    <m:r>
                      <a:rPr lang="en-US">
                        <a:latin typeface="Cambria Math" panose="02040503050406030204" pitchFamily="18" charset="0"/>
                      </a:rPr>
                      <m:t>(</m:t>
                    </m:r>
                    <m:r>
                      <m:rPr>
                        <m:sty m:val="p"/>
                      </m:rPr>
                      <a:rPr lang="en-US">
                        <a:latin typeface="Cambria Math" panose="02040503050406030204" pitchFamily="18" charset="0"/>
                      </a:rPr>
                      <m:t>r</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latin typeface="Arial" panose="020B0604020202020204" pitchFamily="34" charset="0"/>
                    <a:cs typeface="Arial" panose="020B0604020202020204" pitchFamily="34" charset="0"/>
                  </a:rPr>
                  <a:t> is not divisible by 100: Let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oMath>
                </a14:m>
                <a:r>
                  <a:rPr lang="en-US" dirty="0">
                    <a:latin typeface="Arial" panose="020B0604020202020204" pitchFamily="34" charset="0"/>
                    <a:cs typeface="Arial" panose="020B0604020202020204" pitchFamily="34" charset="0"/>
                  </a:rPr>
                  <a:t> a number obtained by rounding up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𝑟𝑛</m:t>
                        </m:r>
                      </m:num>
                      <m:den>
                        <m:r>
                          <a:rPr lang="en-US" i="1">
                            <a:latin typeface="Cambria Math" panose="02040503050406030204" pitchFamily="18" charset="0"/>
                          </a:rPr>
                          <m:t>100</m:t>
                        </m:r>
                      </m:den>
                    </m:f>
                  </m:oMath>
                </a14:m>
                <a:r>
                  <a:rPr lang="en-US" dirty="0">
                    <a:latin typeface="Arial" panose="020B0604020202020204" pitchFamily="34" charset="0"/>
                    <a:cs typeface="Arial" panose="020B0604020202020204" pitchFamily="34" charset="0"/>
                  </a:rPr>
                  <a:t> to the nearest integer. Then,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𝑟</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𝑘</m:t>
                        </m:r>
                      </m:e>
                      <m:sup>
                        <m:r>
                          <a:rPr lang="en-US" i="1">
                            <a:latin typeface="Cambria Math" panose="02040503050406030204" pitchFamily="18" charset="0"/>
                          </a:rPr>
                          <m:t>𝑡h</m:t>
                        </m:r>
                      </m:sup>
                    </m:sSup>
                  </m:oMath>
                </a14:m>
                <a:r>
                  <a:rPr lang="en-US" dirty="0">
                    <a:latin typeface="Arial" panose="020B0604020202020204" pitchFamily="34" charset="0"/>
                    <a:cs typeface="Arial" panose="020B0604020202020204" pitchFamily="34" charset="0"/>
                  </a:rPr>
                  <a:t> observation.</a:t>
                </a:r>
              </a:p>
              <a:p>
                <a:pPr marL="342900" indent="-342900" algn="just">
                  <a:lnSpc>
                    <a:spcPct val="100000"/>
                  </a:lnSpc>
                  <a:buFont typeface="Arial" panose="020B0604020202020204" pitchFamily="34" charset="0"/>
                  <a:buChar char="•"/>
                </a:pPr>
                <a:endParaRPr lang="en-US" sz="2000" b="1" dirty="0">
                  <a:latin typeface="Arial" panose="020B0604020202020204" pitchFamily="34" charset="0"/>
                  <a:cs typeface="Arial" panose="020B0604020202020204" pitchFamily="34" charset="0"/>
                </a:endParaRPr>
              </a:p>
              <a:p>
                <a:pPr marL="342900" indent="-342900" algn="just">
                  <a:lnSpc>
                    <a:spcPct val="1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Example</a:t>
                </a:r>
                <a:r>
                  <a:rPr lang="en-US" sz="2000" dirty="0">
                    <a:latin typeface="Arial" panose="020B0604020202020204" pitchFamily="34" charset="0"/>
                    <a:cs typeface="Arial" panose="020B0604020202020204" pitchFamily="34" charset="0"/>
                  </a:rPr>
                  <a:t>: The following data is a set of 20 observations. Compute the 5</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percentile, 25</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percentile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𝑄</m:t>
                        </m:r>
                      </m:e>
                      <m:sub>
                        <m:r>
                          <a:rPr lang="en-US" sz="2000" b="0" i="1" smtClean="0">
                            <a:latin typeface="Cambria Math" panose="02040503050406030204" pitchFamily="18" charset="0"/>
                            <a:cs typeface="Arial" panose="020B0604020202020204" pitchFamily="34" charset="0"/>
                          </a:rPr>
                          <m:t>1</m:t>
                        </m:r>
                      </m:sub>
                    </m:sSub>
                  </m:oMath>
                </a14:m>
                <a:r>
                  <a:rPr lang="en-US" sz="2000" dirty="0">
                    <a:latin typeface="Arial" panose="020B0604020202020204" pitchFamily="34" charset="0"/>
                    <a:cs typeface="Arial" panose="020B0604020202020204" pitchFamily="34" charset="0"/>
                  </a:rPr>
                  <a:t>), 67</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percentile, 90</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percentile (</a:t>
                </a:r>
                <a14:m>
                  <m:oMath xmlns:m="http://schemas.openxmlformats.org/officeDocument/2006/math">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𝐷</m:t>
                        </m:r>
                      </m:e>
                      <m:sub>
                        <m:r>
                          <a:rPr lang="en-US" sz="2000" b="0" i="1" smtClean="0">
                            <a:latin typeface="Cambria Math" panose="02040503050406030204" pitchFamily="18" charset="0"/>
                            <a:cs typeface="Arial" panose="020B0604020202020204" pitchFamily="34" charset="0"/>
                          </a:rPr>
                          <m:t>9</m:t>
                        </m:r>
                      </m:sub>
                    </m:sSub>
                  </m:oMath>
                </a14:m>
                <a:r>
                  <a:rPr lang="en-US" sz="2000" dirty="0">
                    <a:latin typeface="Arial" panose="020B0604020202020204" pitchFamily="34" charset="0"/>
                    <a:cs typeface="Arial" panose="020B0604020202020204" pitchFamily="34" charset="0"/>
                  </a:rPr>
                  <a:t>) and 97</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percentile. </a:t>
                </a:r>
              </a:p>
              <a:p>
                <a:pPr lvl="1" algn="just">
                  <a:lnSpc>
                    <a:spcPct val="100000"/>
                  </a:lnSpc>
                </a:pPr>
                <a:r>
                  <a:rPr lang="en-US" dirty="0">
                    <a:latin typeface="Arial" panose="020B0604020202020204" pitchFamily="34" charset="0"/>
                    <a:cs typeface="Arial" panose="020B0604020202020204" pitchFamily="34" charset="0"/>
                  </a:rPr>
                  <a:t>50.4  54.6  55.7  56.8  64.1  66.0  67.3  71.0  72.2  72.3  73.3  73.6  74.0  76.5  79.6  80.5  80.6  82.4  83.0 100.0.</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6155221"/>
              </a:xfrm>
              <a:blipFill rotWithShape="0">
                <a:blip r:embed="rId2"/>
                <a:stretch>
                  <a:fillRect l="-506" r="-563"/>
                </a:stretch>
              </a:blipFill>
            </p:spPr>
            <p:txBody>
              <a:bodyPr/>
              <a:lstStyle/>
              <a:p>
                <a:r>
                  <a:rPr lang="en-US">
                    <a:noFill/>
                  </a:rPr>
                  <a:t> </a:t>
                </a:r>
              </a:p>
            </p:txBody>
          </p:sp>
        </mc:Fallback>
      </mc:AlternateContent>
    </p:spTree>
    <p:extLst>
      <p:ext uri="{BB962C8B-B14F-4D97-AF65-F5344CB8AC3E}">
        <p14:creationId xmlns:p14="http://schemas.microsoft.com/office/powerpoint/2010/main" val="2153253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9814"/>
            <a:ext cx="9144000" cy="605308"/>
          </a:xfrm>
        </p:spPr>
        <p:txBody>
          <a:bodyPr>
            <a:noAutofit/>
          </a:bodyPr>
          <a:lstStyle/>
          <a:p>
            <a:r>
              <a:rPr lang="en-US" sz="2400" b="1" dirty="0">
                <a:latin typeface="Arial" panose="020B0604020202020204" pitchFamily="34" charset="0"/>
                <a:cs typeface="Arial" panose="020B0604020202020204" pitchFamily="34" charset="0"/>
              </a:rPr>
              <a:t>The Percentiles </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2581" y="931379"/>
                <a:ext cx="10831132" cy="6155221"/>
              </a:xfrm>
            </p:spPr>
            <p:txBody>
              <a:bodyPr>
                <a:noAutofit/>
              </a:bodyPr>
              <a:lstStyle/>
              <a:p>
                <a:pPr marL="342900" indent="-342900" algn="just">
                  <a:lnSpc>
                    <a:spcPct val="100000"/>
                  </a:lnSpc>
                  <a:buFont typeface="Arial" panose="020B0604020202020204" pitchFamily="34" charset="0"/>
                  <a:buChar char="•"/>
                </a:pPr>
                <a:r>
                  <a:rPr lang="en-US" sz="2000" b="1" dirty="0">
                    <a:latin typeface="Arial" panose="020B0604020202020204" pitchFamily="34" charset="0"/>
                    <a:cs typeface="Arial" panose="020B0604020202020204" pitchFamily="34" charset="0"/>
                  </a:rPr>
                  <a:t>Solution</a:t>
                </a:r>
                <a:r>
                  <a:rPr lang="en-US" sz="2000" dirty="0">
                    <a:latin typeface="Arial" panose="020B0604020202020204" pitchFamily="34" charset="0"/>
                    <a:cs typeface="Arial" panose="020B0604020202020204" pitchFamily="34" charset="0"/>
                  </a:rPr>
                  <a:t>: Here </a:t>
                </a:r>
                <a14:m>
                  <m:oMath xmlns:m="http://schemas.openxmlformats.org/officeDocument/2006/math">
                    <m:r>
                      <a:rPr lang="en-US" sz="2000" b="0" i="1" smtClean="0">
                        <a:latin typeface="Cambria Math" panose="02040503050406030204" pitchFamily="18" charset="0"/>
                        <a:cs typeface="Arial" panose="020B0604020202020204" pitchFamily="34" charset="0"/>
                      </a:rPr>
                      <m:t>𝑛</m:t>
                    </m:r>
                    <m:r>
                      <a:rPr lang="en-US" sz="2000" b="0" i="1" smtClean="0">
                        <a:latin typeface="Cambria Math" panose="02040503050406030204" pitchFamily="18" charset="0"/>
                        <a:cs typeface="Arial" panose="020B0604020202020204" pitchFamily="34" charset="0"/>
                      </a:rPr>
                      <m:t>=20</m:t>
                    </m:r>
                  </m:oMath>
                </a14:m>
                <a:endParaRPr lang="en-US" sz="2000" b="0" dirty="0">
                  <a:latin typeface="Arial" panose="020B0604020202020204" pitchFamily="34" charset="0"/>
                  <a:cs typeface="Arial" panose="020B0604020202020204" pitchFamily="34" charset="0"/>
                </a:endParaRP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Computing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𝑃</m:t>
                        </m:r>
                      </m:e>
                      <m:sub>
                        <m:r>
                          <a:rPr lang="en-US" b="0" i="1" smtClean="0">
                            <a:latin typeface="Cambria Math" panose="02040503050406030204" pitchFamily="18" charset="0"/>
                            <a:cs typeface="Arial" panose="020B0604020202020204" pitchFamily="34" charset="0"/>
                          </a:rPr>
                          <m:t>5</m:t>
                        </m:r>
                      </m:sub>
                    </m:sSub>
                  </m:oMath>
                </a14:m>
                <a:r>
                  <a:rPr lang="en-US" dirty="0"/>
                  <a:t>: </a:t>
                </a:r>
                <a14:m>
                  <m:oMath xmlns:m="http://schemas.openxmlformats.org/officeDocument/2006/math">
                    <m:r>
                      <a:rPr lang="en-US" dirty="0">
                        <a:latin typeface="Cambria Math" panose="02040503050406030204" pitchFamily="18" charset="0"/>
                      </a:rPr>
                      <m:t>5</m:t>
                    </m:r>
                    <m:r>
                      <a:rPr lang="en-US" i="1">
                        <a:latin typeface="Cambria Math" panose="02040503050406030204" pitchFamily="18" charset="0"/>
                      </a:rPr>
                      <m:t>×20=</m:t>
                    </m:r>
                    <m:r>
                      <a:rPr lang="en-US" b="0" i="1" smtClean="0">
                        <a:latin typeface="Cambria Math" panose="02040503050406030204" pitchFamily="18" charset="0"/>
                      </a:rPr>
                      <m:t>100</m:t>
                    </m:r>
                  </m:oMath>
                </a14:m>
                <a:r>
                  <a:rPr lang="en-US" dirty="0">
                    <a:latin typeface="Arial" panose="020B0604020202020204" pitchFamily="34" charset="0"/>
                    <a:cs typeface="Arial" panose="020B0604020202020204" pitchFamily="34" charset="0"/>
                  </a:rPr>
                  <a:t> is divisible by 100 i.e.,</a:t>
                </a:r>
                <a:r>
                  <a:rPr lang="en-US" dirty="0">
                    <a:cs typeface="Arial" panose="020B0604020202020204" pitchFamily="34" charset="0"/>
                  </a:rPr>
                  <a:t>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𝑃</m:t>
                        </m:r>
                      </m:e>
                      <m:sub>
                        <m:r>
                          <a:rPr lang="en-US" b="0" i="1" smtClean="0">
                            <a:latin typeface="Cambria Math" panose="02040503050406030204" pitchFamily="18" charset="0"/>
                            <a:cs typeface="Arial" panose="020B0604020202020204" pitchFamily="34" charset="0"/>
                          </a:rPr>
                          <m:t>5</m:t>
                        </m:r>
                      </m:sub>
                    </m:sSub>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rPr>
                        </m:ctrlPr>
                      </m:fPr>
                      <m:num>
                        <m:f>
                          <m:fPr>
                            <m:ctrlPr>
                              <a:rPr lang="en-US" i="1">
                                <a:latin typeface="Cambria Math" panose="02040503050406030204" pitchFamily="18" charset="0"/>
                              </a:rPr>
                            </m:ctrlPr>
                          </m:fPr>
                          <m:num>
                            <m:r>
                              <a:rPr lang="en-US" b="0" i="1" smtClean="0">
                                <a:latin typeface="Cambria Math" panose="02040503050406030204" pitchFamily="18" charset="0"/>
                              </a:rPr>
                              <m:t>100</m:t>
                            </m:r>
                          </m:num>
                          <m:den>
                            <m:r>
                              <a:rPr lang="en-US" i="1">
                                <a:latin typeface="Cambria Math" panose="02040503050406030204" pitchFamily="18" charset="0"/>
                              </a:rPr>
                              <m:t>100</m:t>
                            </m:r>
                          </m:den>
                        </m:f>
                        <m:r>
                          <a:rPr lang="en-US" i="1">
                            <a:latin typeface="Cambria Math" panose="02040503050406030204" pitchFamily="18" charset="0"/>
                          </a:rPr>
                          <m:t> </m:t>
                        </m:r>
                        <m:r>
                          <a:rPr lang="en-US" i="1">
                            <a:latin typeface="Cambria Math" panose="02040503050406030204" pitchFamily="18" charset="0"/>
                          </a:rPr>
                          <m:t>𝑡h</m:t>
                        </m:r>
                        <m:r>
                          <m:rPr>
                            <m:nor/>
                          </m:rPr>
                          <a:rPr lang="en-US" i="1" baseline="30000">
                            <a:latin typeface="Arial" panose="020B0604020202020204" pitchFamily="34" charset="0"/>
                            <a:cs typeface="Arial" panose="020B0604020202020204" pitchFamily="34" charset="0"/>
                          </a:rPr>
                          <m:t>  </m:t>
                        </m:r>
                        <m:r>
                          <m:rPr>
                            <m:nor/>
                          </m:rPr>
                          <a:rPr lang="en-US">
                            <a:latin typeface="Arial" panose="020B0604020202020204" pitchFamily="34" charset="0"/>
                            <a:cs typeface="Arial" panose="020B0604020202020204" pitchFamily="34" charset="0"/>
                          </a:rPr>
                          <m:t>+</m:t>
                        </m:r>
                        <m:r>
                          <m:rPr>
                            <m:nor/>
                          </m:rPr>
                          <a:rPr lang="en-US" i="1">
                            <a:latin typeface="Arial" panose="020B0604020202020204" pitchFamily="34" charset="0"/>
                            <a:cs typeface="Arial" panose="020B0604020202020204" pitchFamily="34" charset="0"/>
                          </a:rPr>
                          <m:t> </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1</m:t>
                                </m:r>
                                <m:r>
                                  <a:rPr lang="en-US" i="1">
                                    <a:latin typeface="Cambria Math" panose="02040503050406030204" pitchFamily="18" charset="0"/>
                                  </a:rPr>
                                  <m:t>00</m:t>
                                </m:r>
                              </m:num>
                              <m:den>
                                <m:r>
                                  <a:rPr lang="en-US" i="1">
                                    <a:latin typeface="Cambria Math" panose="02040503050406030204" pitchFamily="18" charset="0"/>
                                  </a:rPr>
                                  <m:t>100</m:t>
                                </m:r>
                              </m:den>
                            </m:f>
                            <m:r>
                              <a:rPr lang="en-US" i="1">
                                <a:latin typeface="Cambria Math" panose="02040503050406030204" pitchFamily="18" charset="0"/>
                              </a:rPr>
                              <m:t>+1</m:t>
                            </m:r>
                          </m:e>
                        </m:d>
                        <m:r>
                          <a:rPr lang="en-US" i="1">
                            <a:latin typeface="Cambria Math" panose="02040503050406030204" pitchFamily="18" charset="0"/>
                          </a:rPr>
                          <m:t>𝑡h</m:t>
                        </m:r>
                      </m:num>
                      <m:den>
                        <m:r>
                          <a:rPr lang="en-US" i="1">
                            <a:latin typeface="Cambria Math" panose="02040503050406030204" pitchFamily="18" charset="0"/>
                          </a:rPr>
                          <m:t>2</m:t>
                        </m:r>
                      </m:den>
                    </m:f>
                    <m:r>
                      <a:rPr lang="en-US">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50.4</m:t>
                        </m:r>
                        <m:r>
                          <a:rPr lang="en-US" i="1">
                            <a:latin typeface="Cambria Math" panose="02040503050406030204" pitchFamily="18" charset="0"/>
                          </a:rPr>
                          <m:t>+</m:t>
                        </m:r>
                        <m:r>
                          <a:rPr lang="en-US" b="0" i="1" smtClean="0">
                            <a:latin typeface="Cambria Math" panose="02040503050406030204" pitchFamily="18" charset="0"/>
                          </a:rPr>
                          <m:t>54.6</m:t>
                        </m:r>
                      </m:num>
                      <m:den>
                        <m:r>
                          <a:rPr lang="en-US" i="1">
                            <a:latin typeface="Cambria Math" panose="02040503050406030204" pitchFamily="18" charset="0"/>
                          </a:rPr>
                          <m:t>2</m:t>
                        </m:r>
                      </m:den>
                    </m:f>
                    <m:r>
                      <a:rPr lang="en-US" i="1">
                        <a:latin typeface="Cambria Math" panose="02040503050406030204" pitchFamily="18" charset="0"/>
                      </a:rPr>
                      <m:t>=</m:t>
                    </m:r>
                    <m:r>
                      <a:rPr lang="en-US" b="0" i="1" smtClean="0">
                        <a:latin typeface="Cambria Math" panose="02040503050406030204" pitchFamily="18" charset="0"/>
                      </a:rPr>
                      <m:t>52.5</m:t>
                    </m:r>
                  </m:oMath>
                </a14:m>
                <a:endParaRPr lang="en-US" dirty="0">
                  <a:latin typeface="Arial" panose="020B0604020202020204" pitchFamily="34" charset="0"/>
                </a:endParaRP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Computing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𝑄</m:t>
                        </m:r>
                      </m:e>
                      <m:sub>
                        <m:r>
                          <a:rPr lang="en-US" b="0" i="1" smtClean="0">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cs typeface="Arial" panose="020B0604020202020204" pitchFamily="34" charset="0"/>
                      </a:rPr>
                      <m:t>: </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𝑄</m:t>
                        </m:r>
                      </m:e>
                      <m:sub>
                        <m:r>
                          <a:rPr lang="en-US" i="1">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𝑃</m:t>
                        </m:r>
                      </m:e>
                      <m:sub>
                        <m:r>
                          <a:rPr lang="en-US" b="0" i="1" smtClean="0">
                            <a:latin typeface="Cambria Math" panose="02040503050406030204" pitchFamily="18" charset="0"/>
                            <a:cs typeface="Arial" panose="020B0604020202020204" pitchFamily="34" charset="0"/>
                          </a:rPr>
                          <m:t>25</m:t>
                        </m:r>
                      </m:sub>
                    </m:sSub>
                  </m:oMath>
                </a14:m>
                <a:r>
                  <a:rPr lang="en-US" dirty="0"/>
                  <a:t>, </a:t>
                </a:r>
                <a14:m>
                  <m:oMath xmlns:m="http://schemas.openxmlformats.org/officeDocument/2006/math">
                    <m:r>
                      <a:rPr lang="en-US" smtClean="0">
                        <a:latin typeface="Cambria Math" panose="02040503050406030204" pitchFamily="18" charset="0"/>
                      </a:rPr>
                      <m:t>2</m:t>
                    </m:r>
                    <m:r>
                      <a:rPr lang="en-US" b="0" i="0" smtClean="0">
                        <a:latin typeface="Cambria Math" panose="02040503050406030204" pitchFamily="18" charset="0"/>
                      </a:rPr>
                      <m:t>5</m:t>
                    </m:r>
                    <m:r>
                      <a:rPr lang="en-US" i="1">
                        <a:latin typeface="Cambria Math" panose="02040503050406030204" pitchFamily="18" charset="0"/>
                      </a:rPr>
                      <m:t>×</m:t>
                    </m:r>
                    <m:r>
                      <a:rPr lang="en-US" b="0" i="1" smtClean="0">
                        <a:latin typeface="Cambria Math" panose="02040503050406030204" pitchFamily="18" charset="0"/>
                      </a:rPr>
                      <m:t>20=500</m:t>
                    </m:r>
                  </m:oMath>
                </a14:m>
                <a:r>
                  <a:rPr lang="en-US" dirty="0">
                    <a:latin typeface="Arial" panose="020B0604020202020204" pitchFamily="34" charset="0"/>
                    <a:cs typeface="Arial" panose="020B0604020202020204" pitchFamily="34" charset="0"/>
                  </a:rPr>
                  <a:t> is divisible by 100 i.e.,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𝑄</m:t>
                        </m:r>
                      </m:e>
                      <m:sub>
                        <m:r>
                          <a:rPr lang="en-US" i="1">
                            <a:latin typeface="Cambria Math" panose="02040503050406030204" pitchFamily="18" charset="0"/>
                            <a:cs typeface="Arial" panose="020B0604020202020204" pitchFamily="34" charset="0"/>
                          </a:rPr>
                          <m:t>1</m:t>
                        </m:r>
                      </m:sub>
                    </m:sSub>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rPr>
                        </m:ctrlPr>
                      </m:fPr>
                      <m:num>
                        <m:f>
                          <m:fPr>
                            <m:ctrlPr>
                              <a:rPr lang="en-US" i="1">
                                <a:latin typeface="Cambria Math" panose="02040503050406030204" pitchFamily="18" charset="0"/>
                              </a:rPr>
                            </m:ctrlPr>
                          </m:fPr>
                          <m:num>
                            <m:r>
                              <a:rPr lang="en-US" b="0" i="1" smtClean="0">
                                <a:latin typeface="Cambria Math" panose="02040503050406030204" pitchFamily="18" charset="0"/>
                              </a:rPr>
                              <m:t>500</m:t>
                            </m:r>
                          </m:num>
                          <m:den>
                            <m:r>
                              <a:rPr lang="en-US" b="0" i="1" smtClean="0">
                                <a:latin typeface="Cambria Math" panose="02040503050406030204" pitchFamily="18" charset="0"/>
                              </a:rPr>
                              <m:t>100</m:t>
                            </m:r>
                          </m:den>
                        </m:f>
                        <m:r>
                          <a:rPr lang="en-US" i="1">
                            <a:latin typeface="Cambria Math" panose="02040503050406030204" pitchFamily="18" charset="0"/>
                          </a:rPr>
                          <m:t> </m:t>
                        </m:r>
                        <m:r>
                          <a:rPr lang="en-US" i="1">
                            <a:latin typeface="Cambria Math" panose="02040503050406030204" pitchFamily="18" charset="0"/>
                          </a:rPr>
                          <m:t>𝑡h</m:t>
                        </m:r>
                        <m:r>
                          <m:rPr>
                            <m:nor/>
                          </m:rPr>
                          <a:rPr lang="en-US" i="1" baseline="30000">
                            <a:latin typeface="Arial" panose="020B0604020202020204" pitchFamily="34" charset="0"/>
                            <a:cs typeface="Arial" panose="020B0604020202020204" pitchFamily="34" charset="0"/>
                          </a:rPr>
                          <m:t>  </m:t>
                        </m:r>
                        <m:r>
                          <m:rPr>
                            <m:nor/>
                          </m:rPr>
                          <a:rPr lang="en-US">
                            <a:latin typeface="Arial" panose="020B0604020202020204" pitchFamily="34" charset="0"/>
                            <a:cs typeface="Arial" panose="020B0604020202020204" pitchFamily="34" charset="0"/>
                          </a:rPr>
                          <m:t>+</m:t>
                        </m:r>
                        <m:r>
                          <m:rPr>
                            <m:nor/>
                          </m:rPr>
                          <a:rPr lang="en-US" i="1">
                            <a:latin typeface="Arial" panose="020B0604020202020204" pitchFamily="34" charset="0"/>
                            <a:cs typeface="Arial" panose="020B0604020202020204" pitchFamily="34" charset="0"/>
                          </a:rPr>
                          <m:t> </m:t>
                        </m:r>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panose="02040503050406030204" pitchFamily="18" charset="0"/>
                                  </a:rPr>
                                  <m:t>500</m:t>
                                </m:r>
                              </m:num>
                              <m:den>
                                <m:r>
                                  <a:rPr lang="en-US" b="0" i="1" smtClean="0">
                                    <a:latin typeface="Cambria Math" panose="02040503050406030204" pitchFamily="18" charset="0"/>
                                  </a:rPr>
                                  <m:t>100</m:t>
                                </m:r>
                              </m:den>
                            </m:f>
                            <m:r>
                              <a:rPr lang="en-US" i="1">
                                <a:latin typeface="Cambria Math" panose="02040503050406030204" pitchFamily="18" charset="0"/>
                              </a:rPr>
                              <m:t>+1</m:t>
                            </m:r>
                          </m:e>
                        </m:d>
                        <m:r>
                          <a:rPr lang="en-US" i="1">
                            <a:latin typeface="Cambria Math" panose="02040503050406030204" pitchFamily="18" charset="0"/>
                          </a:rPr>
                          <m:t>𝑡h</m:t>
                        </m:r>
                      </m:num>
                      <m:den>
                        <m:r>
                          <a:rPr lang="en-US" i="1">
                            <a:latin typeface="Cambria Math" panose="02040503050406030204" pitchFamily="18" charset="0"/>
                          </a:rPr>
                          <m:t>2</m:t>
                        </m:r>
                      </m:den>
                    </m:f>
                    <m:r>
                      <a:rPr lang="en-US">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64.1</m:t>
                        </m:r>
                        <m:r>
                          <a:rPr lang="en-US" i="1">
                            <a:latin typeface="Cambria Math" panose="02040503050406030204" pitchFamily="18" charset="0"/>
                          </a:rPr>
                          <m:t>+</m:t>
                        </m:r>
                        <m:r>
                          <a:rPr lang="en-US" b="0" i="1" smtClean="0">
                            <a:latin typeface="Cambria Math" panose="02040503050406030204" pitchFamily="18" charset="0"/>
                          </a:rPr>
                          <m:t>66</m:t>
                        </m:r>
                      </m:num>
                      <m:den>
                        <m:r>
                          <a:rPr lang="en-US" i="1">
                            <a:latin typeface="Cambria Math" panose="02040503050406030204" pitchFamily="18" charset="0"/>
                          </a:rPr>
                          <m:t>2</m:t>
                        </m:r>
                      </m:den>
                    </m:f>
                    <m:r>
                      <a:rPr lang="en-US" i="1">
                        <a:latin typeface="Cambria Math" panose="02040503050406030204" pitchFamily="18" charset="0"/>
                      </a:rPr>
                      <m:t>=</m:t>
                    </m:r>
                    <m:r>
                      <a:rPr lang="en-US" b="0" i="1" smtClean="0">
                        <a:latin typeface="Cambria Math" panose="02040503050406030204" pitchFamily="18" charset="0"/>
                      </a:rPr>
                      <m:t>65.05</m:t>
                    </m:r>
                  </m:oMath>
                </a14:m>
                <a:endParaRPr lang="en-US" b="0" dirty="0">
                  <a:latin typeface="Arial" panose="020B0604020202020204" pitchFamily="34" charset="0"/>
                </a:endParaRP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Computing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𝑃</m:t>
                        </m:r>
                      </m:e>
                      <m:sub>
                        <m:r>
                          <a:rPr lang="en-US" b="0" i="1" smtClean="0">
                            <a:latin typeface="Cambria Math" panose="02040503050406030204" pitchFamily="18" charset="0"/>
                            <a:cs typeface="Arial" panose="020B0604020202020204" pitchFamily="34" charset="0"/>
                          </a:rPr>
                          <m:t>6</m:t>
                        </m:r>
                        <m:r>
                          <a:rPr lang="en-US" i="1">
                            <a:latin typeface="Cambria Math" panose="02040503050406030204" pitchFamily="18" charset="0"/>
                            <a:cs typeface="Arial" panose="020B0604020202020204" pitchFamily="34" charset="0"/>
                          </a:rPr>
                          <m:t>7</m:t>
                        </m:r>
                      </m:sub>
                    </m:sSub>
                  </m:oMath>
                </a14:m>
                <a:r>
                  <a:rPr lang="en-US" dirty="0"/>
                  <a:t>: </a:t>
                </a:r>
                <a14:m>
                  <m:oMath xmlns:m="http://schemas.openxmlformats.org/officeDocument/2006/math">
                    <m:r>
                      <a:rPr lang="en-US" dirty="0">
                        <a:latin typeface="Cambria Math" panose="02040503050406030204" pitchFamily="18" charset="0"/>
                      </a:rPr>
                      <m:t>6</m:t>
                    </m:r>
                    <m:r>
                      <a:rPr lang="en-US">
                        <a:latin typeface="Cambria Math" panose="02040503050406030204" pitchFamily="18" charset="0"/>
                      </a:rPr>
                      <m:t>7</m:t>
                    </m:r>
                    <m:r>
                      <a:rPr lang="en-US" i="1">
                        <a:latin typeface="Cambria Math" panose="02040503050406030204" pitchFamily="18" charset="0"/>
                      </a:rPr>
                      <m:t>×20=1</m:t>
                    </m:r>
                    <m:r>
                      <a:rPr lang="en-US" b="0" i="1" smtClean="0">
                        <a:latin typeface="Cambria Math" panose="02040503050406030204" pitchFamily="18" charset="0"/>
                      </a:rPr>
                      <m:t>3</m:t>
                    </m:r>
                    <m:r>
                      <a:rPr lang="en-US" i="1">
                        <a:latin typeface="Cambria Math" panose="02040503050406030204" pitchFamily="18" charset="0"/>
                      </a:rPr>
                      <m:t>40</m:t>
                    </m:r>
                  </m:oMath>
                </a14:m>
                <a:r>
                  <a:rPr lang="en-US" dirty="0">
                    <a:latin typeface="Arial" panose="020B0604020202020204" pitchFamily="34" charset="0"/>
                    <a:cs typeface="Arial" panose="020B0604020202020204" pitchFamily="34" charset="0"/>
                  </a:rPr>
                  <a:t> is not divisible by 100 i.e.,</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𝑃</m:t>
                        </m:r>
                      </m:e>
                      <m:sub>
                        <m:r>
                          <a:rPr lang="en-US" b="0" i="1" smtClean="0">
                            <a:latin typeface="Cambria Math" panose="02040503050406030204" pitchFamily="18" charset="0"/>
                            <a:cs typeface="Arial" panose="020B0604020202020204" pitchFamily="34" charset="0"/>
                          </a:rPr>
                          <m:t>6</m:t>
                        </m:r>
                        <m:r>
                          <a:rPr lang="en-US" i="1">
                            <a:latin typeface="Cambria Math" panose="02040503050406030204" pitchFamily="18" charset="0"/>
                            <a:cs typeface="Arial" panose="020B0604020202020204" pitchFamily="34" charset="0"/>
                          </a:rPr>
                          <m:t>7</m:t>
                        </m:r>
                      </m:sub>
                    </m:sSub>
                    <m:r>
                      <a:rPr lang="en-US" i="1">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14</m:t>
                    </m:r>
                    <m:r>
                      <a:rPr lang="en-US" i="1">
                        <a:latin typeface="Cambria Math" panose="02040503050406030204" pitchFamily="18" charset="0"/>
                        <a:cs typeface="Arial" panose="020B0604020202020204" pitchFamily="34" charset="0"/>
                      </a:rPr>
                      <m:t>𝑡h</m:t>
                    </m:r>
                  </m:oMath>
                </a14:m>
                <a:r>
                  <a:rPr lang="en-US" dirty="0">
                    <a:latin typeface="Arial" panose="020B0604020202020204" pitchFamily="34" charset="0"/>
                    <a:cs typeface="Arial" panose="020B0604020202020204" pitchFamily="34" charset="0"/>
                  </a:rPr>
                  <a:t>=76.5 </a:t>
                </a: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Computing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9</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𝐷</m:t>
                        </m:r>
                      </m:e>
                      <m:sub>
                        <m:r>
                          <a:rPr lang="en-US" i="1">
                            <a:latin typeface="Cambria Math" panose="02040503050406030204" pitchFamily="18" charset="0"/>
                            <a:cs typeface="Arial" panose="020B0604020202020204" pitchFamily="34" charset="0"/>
                          </a:rPr>
                          <m:t>9</m:t>
                        </m:r>
                      </m:sub>
                    </m:sSub>
                    <m:r>
                      <a:rPr lang="en-US" b="0" i="0"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m:rPr>
                            <m:sty m:val="p"/>
                          </m:rPr>
                          <a:rPr lang="en-US" b="0" i="0" smtClean="0">
                            <a:latin typeface="Cambria Math" panose="02040503050406030204" pitchFamily="18" charset="0"/>
                            <a:cs typeface="Arial" panose="020B0604020202020204" pitchFamily="34" charset="0"/>
                          </a:rPr>
                          <m:t>P</m:t>
                        </m:r>
                      </m:e>
                      <m:sub>
                        <m:r>
                          <a:rPr lang="en-US" b="0" i="0" smtClean="0">
                            <a:latin typeface="Cambria Math" panose="02040503050406030204" pitchFamily="18" charset="0"/>
                            <a:cs typeface="Arial" panose="020B0604020202020204" pitchFamily="34" charset="0"/>
                          </a:rPr>
                          <m:t>90</m:t>
                        </m:r>
                      </m:sub>
                    </m:sSub>
                    <m:r>
                      <a:rPr lang="en-US" b="0" i="0" smtClean="0">
                        <a:latin typeface="Cambria Math" panose="02040503050406030204" pitchFamily="18" charset="0"/>
                        <a:cs typeface="Arial" panose="020B0604020202020204" pitchFamily="34" charset="0"/>
                      </a:rPr>
                      <m:t>, </m:t>
                    </m:r>
                    <m:r>
                      <a:rPr lang="en-US" dirty="0">
                        <a:latin typeface="Cambria Math" panose="02040503050406030204" pitchFamily="18" charset="0"/>
                      </a:rPr>
                      <m:t>9</m:t>
                    </m:r>
                    <m:r>
                      <a:rPr lang="en-US" b="0" i="0" dirty="0" smtClean="0">
                        <a:latin typeface="Cambria Math" panose="02040503050406030204" pitchFamily="18" charset="0"/>
                      </a:rPr>
                      <m:t>0</m:t>
                    </m:r>
                    <m:r>
                      <a:rPr lang="en-US" i="1">
                        <a:latin typeface="Cambria Math" panose="02040503050406030204" pitchFamily="18" charset="0"/>
                      </a:rPr>
                      <m:t>×20=1</m:t>
                    </m:r>
                    <m:r>
                      <a:rPr lang="en-US" b="0" i="1" smtClean="0">
                        <a:latin typeface="Cambria Math" panose="02040503050406030204" pitchFamily="18" charset="0"/>
                      </a:rPr>
                      <m:t>8</m:t>
                    </m:r>
                    <m:r>
                      <a:rPr lang="en-US" i="1">
                        <a:latin typeface="Cambria Math" panose="02040503050406030204" pitchFamily="18" charset="0"/>
                      </a:rPr>
                      <m:t>00</m:t>
                    </m:r>
                  </m:oMath>
                </a14:m>
                <a:r>
                  <a:rPr lang="en-US" dirty="0">
                    <a:latin typeface="Arial" panose="020B0604020202020204" pitchFamily="34" charset="0"/>
                    <a:cs typeface="Arial" panose="020B0604020202020204" pitchFamily="34" charset="0"/>
                  </a:rPr>
                  <a:t> is divisible by 100 i.e.,</a:t>
                </a:r>
                <a:r>
                  <a:rPr lang="en-US" dirty="0">
                    <a:cs typeface="Arial" panose="020B0604020202020204" pitchFamily="34" charset="0"/>
                  </a:rPr>
                  <a:t>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9</m:t>
                        </m:r>
                      </m:sub>
                    </m:sSub>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rPr>
                        </m:ctrlPr>
                      </m:fPr>
                      <m:num>
                        <m:r>
                          <a:rPr lang="en-US" b="0" i="1" smtClean="0">
                            <a:latin typeface="Cambria Math" panose="02040503050406030204" pitchFamily="18" charset="0"/>
                          </a:rPr>
                          <m:t>18</m:t>
                        </m:r>
                        <m:r>
                          <a:rPr lang="en-US" i="1">
                            <a:latin typeface="Cambria Math" panose="02040503050406030204" pitchFamily="18" charset="0"/>
                          </a:rPr>
                          <m:t> </m:t>
                        </m:r>
                        <m:r>
                          <a:rPr lang="en-US" i="1">
                            <a:latin typeface="Cambria Math" panose="02040503050406030204" pitchFamily="18" charset="0"/>
                          </a:rPr>
                          <m:t>𝑡h</m:t>
                        </m:r>
                        <m:r>
                          <m:rPr>
                            <m:nor/>
                          </m:rPr>
                          <a:rPr lang="en-US" i="1" baseline="30000">
                            <a:latin typeface="Arial" panose="020B0604020202020204" pitchFamily="34" charset="0"/>
                            <a:cs typeface="Arial" panose="020B0604020202020204" pitchFamily="34" charset="0"/>
                          </a:rPr>
                          <m:t>  </m:t>
                        </m:r>
                        <m:r>
                          <m:rPr>
                            <m:nor/>
                          </m:rPr>
                          <a:rPr lang="en-US">
                            <a:latin typeface="Arial" panose="020B0604020202020204" pitchFamily="34" charset="0"/>
                            <a:cs typeface="Arial" panose="020B0604020202020204" pitchFamily="34" charset="0"/>
                          </a:rPr>
                          <m:t>+</m:t>
                        </m:r>
                        <m:r>
                          <m:rPr>
                            <m:nor/>
                          </m:rPr>
                          <a:rPr lang="en-US" i="1">
                            <a:latin typeface="Arial" panose="020B0604020202020204" pitchFamily="34" charset="0"/>
                            <a:cs typeface="Arial" panose="020B0604020202020204" pitchFamily="34" charset="0"/>
                          </a:rPr>
                          <m:t> </m:t>
                        </m:r>
                        <m:r>
                          <a:rPr lang="en-US" b="0" i="1" smtClean="0">
                            <a:latin typeface="Cambria Math" panose="02040503050406030204" pitchFamily="18" charset="0"/>
                          </a:rPr>
                          <m:t>19</m:t>
                        </m:r>
                        <m:r>
                          <a:rPr lang="en-US" i="1">
                            <a:latin typeface="Cambria Math" panose="02040503050406030204" pitchFamily="18" charset="0"/>
                          </a:rPr>
                          <m:t>𝑡h</m:t>
                        </m:r>
                      </m:num>
                      <m:den>
                        <m:r>
                          <a:rPr lang="en-US" i="1">
                            <a:latin typeface="Cambria Math" panose="02040503050406030204" pitchFamily="18" charset="0"/>
                          </a:rPr>
                          <m:t>2</m:t>
                        </m:r>
                      </m:den>
                    </m:f>
                    <m:r>
                      <a:rPr lang="en-US">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82</m:t>
                        </m:r>
                        <m:r>
                          <a:rPr lang="en-US" i="1">
                            <a:latin typeface="Cambria Math" panose="02040503050406030204" pitchFamily="18" charset="0"/>
                          </a:rPr>
                          <m:t>.4+</m:t>
                        </m:r>
                        <m:r>
                          <a:rPr lang="en-US" b="0" i="1" smtClean="0">
                            <a:latin typeface="Cambria Math" panose="02040503050406030204" pitchFamily="18" charset="0"/>
                          </a:rPr>
                          <m:t>83</m:t>
                        </m:r>
                      </m:num>
                      <m:den>
                        <m:r>
                          <a:rPr lang="en-US" i="1">
                            <a:latin typeface="Cambria Math" panose="02040503050406030204" pitchFamily="18" charset="0"/>
                          </a:rPr>
                          <m:t>2</m:t>
                        </m:r>
                      </m:den>
                    </m:f>
                    <m:r>
                      <a:rPr lang="en-US" i="1">
                        <a:latin typeface="Cambria Math" panose="02040503050406030204" pitchFamily="18" charset="0"/>
                      </a:rPr>
                      <m:t>=</m:t>
                    </m:r>
                    <m:r>
                      <a:rPr lang="en-US" b="0" i="1" smtClean="0">
                        <a:latin typeface="Cambria Math" panose="02040503050406030204" pitchFamily="18" charset="0"/>
                      </a:rPr>
                      <m:t>82.7</m:t>
                    </m:r>
                  </m:oMath>
                </a14:m>
                <a:endParaRPr lang="en-US" b="0" dirty="0">
                  <a:latin typeface="Arial" panose="020B0604020202020204" pitchFamily="34" charset="0"/>
                </a:endParaRPr>
              </a:p>
              <a:p>
                <a:pPr marL="742950" lvl="1" indent="-285750" algn="just">
                  <a:lnSpc>
                    <a:spcPct val="100000"/>
                  </a:lnSpc>
                  <a:buFont typeface="Wingdings" panose="05000000000000000000" pitchFamily="2" charset="2"/>
                  <a:buChar char="ü"/>
                </a:pPr>
                <a:r>
                  <a:rPr lang="en-US" dirty="0">
                    <a:latin typeface="Arial" panose="020B0604020202020204" pitchFamily="34" charset="0"/>
                    <a:cs typeface="Arial" panose="020B0604020202020204" pitchFamily="34" charset="0"/>
                  </a:rPr>
                  <a:t>For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𝑃</m:t>
                        </m:r>
                      </m:e>
                      <m:sub>
                        <m:r>
                          <a:rPr lang="en-US" b="0" i="1" smtClean="0">
                            <a:latin typeface="Cambria Math" panose="02040503050406030204" pitchFamily="18" charset="0"/>
                            <a:cs typeface="Arial" panose="020B0604020202020204" pitchFamily="34" charset="0"/>
                          </a:rPr>
                          <m:t>97</m:t>
                        </m:r>
                      </m:sub>
                    </m:sSub>
                    <m:r>
                      <a:rPr lang="en-US" b="0" i="0" smtClean="0">
                        <a:latin typeface="Cambria Math" panose="02040503050406030204" pitchFamily="18" charset="0"/>
                        <a:cs typeface="Arial" panose="020B0604020202020204" pitchFamily="34" charset="0"/>
                      </a:rPr>
                      <m:t>:</m:t>
                    </m:r>
                  </m:oMath>
                </a14:m>
                <a:r>
                  <a:rPr lang="en-US" dirty="0"/>
                  <a:t> </a:t>
                </a:r>
                <a14:m>
                  <m:oMath xmlns:m="http://schemas.openxmlformats.org/officeDocument/2006/math">
                    <m:r>
                      <a:rPr lang="en-US">
                        <a:latin typeface="Cambria Math" panose="02040503050406030204" pitchFamily="18" charset="0"/>
                      </a:rPr>
                      <m:t>9</m:t>
                    </m:r>
                    <m:r>
                      <a:rPr lang="en-US" b="0" i="0" smtClean="0">
                        <a:latin typeface="Cambria Math" panose="02040503050406030204" pitchFamily="18" charset="0"/>
                      </a:rPr>
                      <m:t>7</m:t>
                    </m:r>
                    <m:r>
                      <a:rPr lang="en-US" i="1">
                        <a:latin typeface="Cambria Math" panose="02040503050406030204" pitchFamily="18" charset="0"/>
                      </a:rPr>
                      <m:t>×20=</m:t>
                    </m:r>
                    <m:r>
                      <a:rPr lang="en-US" b="0" i="1" smtClean="0">
                        <a:latin typeface="Cambria Math" panose="02040503050406030204" pitchFamily="18" charset="0"/>
                      </a:rPr>
                      <m:t>194</m:t>
                    </m:r>
                    <m:r>
                      <a:rPr lang="en-US" i="1">
                        <a:latin typeface="Cambria Math" panose="02040503050406030204" pitchFamily="18" charset="0"/>
                      </a:rPr>
                      <m:t>0</m:t>
                    </m:r>
                  </m:oMath>
                </a14:m>
                <a:r>
                  <a:rPr lang="en-US" dirty="0">
                    <a:latin typeface="Arial" panose="020B0604020202020204" pitchFamily="34" charset="0"/>
                    <a:cs typeface="Arial" panose="020B0604020202020204" pitchFamily="34" charset="0"/>
                  </a:rPr>
                  <a:t> is not divisible by 100 i.e.,</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𝑃</m:t>
                        </m:r>
                      </m:e>
                      <m:sub>
                        <m:r>
                          <a:rPr lang="en-US" i="1">
                            <a:latin typeface="Cambria Math" panose="02040503050406030204" pitchFamily="18" charset="0"/>
                            <a:cs typeface="Arial" panose="020B0604020202020204" pitchFamily="34" charset="0"/>
                          </a:rPr>
                          <m:t>97</m:t>
                        </m:r>
                      </m:sub>
                    </m:sSub>
                    <m:r>
                      <a:rPr lang="en-US" i="1">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20</m:t>
                    </m:r>
                    <m:r>
                      <a:rPr lang="en-US" b="0" i="1" smtClean="0">
                        <a:latin typeface="Cambria Math" panose="02040503050406030204" pitchFamily="18" charset="0"/>
                        <a:cs typeface="Arial" panose="020B0604020202020204" pitchFamily="34" charset="0"/>
                      </a:rPr>
                      <m:t>𝑡h</m:t>
                    </m:r>
                  </m:oMath>
                </a14:m>
                <a:r>
                  <a:rPr lang="en-US" dirty="0">
                    <a:latin typeface="Arial" panose="020B0604020202020204" pitchFamily="34" charset="0"/>
                    <a:cs typeface="Arial" panose="020B0604020202020204" pitchFamily="34" charset="0"/>
                  </a:rPr>
                  <a:t>=100 </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2581" y="931379"/>
                <a:ext cx="10831132" cy="6155221"/>
              </a:xfrm>
              <a:blipFill rotWithShape="0">
                <a:blip r:embed="rId2"/>
                <a:stretch>
                  <a:fillRect l="-506" t="-495"/>
                </a:stretch>
              </a:blipFill>
            </p:spPr>
            <p:txBody>
              <a:bodyPr/>
              <a:lstStyle/>
              <a:p>
                <a:r>
                  <a:rPr lang="en-US">
                    <a:noFill/>
                  </a:rPr>
                  <a:t> </a:t>
                </a:r>
              </a:p>
            </p:txBody>
          </p:sp>
        </mc:Fallback>
      </mc:AlternateContent>
    </p:spTree>
    <p:extLst>
      <p:ext uri="{BB962C8B-B14F-4D97-AF65-F5344CB8AC3E}">
        <p14:creationId xmlns:p14="http://schemas.microsoft.com/office/powerpoint/2010/main" val="2682634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4327"/>
            <a:ext cx="9144000" cy="392704"/>
          </a:xfrm>
        </p:spPr>
        <p:txBody>
          <a:bodyPr>
            <a:noAutofit/>
          </a:bodyPr>
          <a:lstStyle/>
          <a:p>
            <a:r>
              <a:rPr lang="en-US" sz="2400" b="1" dirty="0">
                <a:latin typeface="Arial" pitchFamily="34" charset="0"/>
                <a:cs typeface="Arial" pitchFamily="34" charset="0"/>
              </a:rPr>
              <a:t>Exercise</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406400" y="557167"/>
            <a:ext cx="11466286" cy="6061347"/>
          </a:xfrm>
        </p:spPr>
        <p:txBody>
          <a:bodyPr>
            <a:noAutofit/>
          </a:bodyPr>
          <a:lstStyle/>
          <a:p>
            <a:pPr marL="342900" lvl="0" indent="-342900" algn="l">
              <a:buFont typeface="Arial" panose="020B0604020202020204" pitchFamily="34" charset="0"/>
              <a:buChar char="•"/>
            </a:pPr>
            <a:r>
              <a:rPr lang="en-US" sz="2000" b="1" dirty="0">
                <a:latin typeface="Arial" panose="020B0604020202020204" pitchFamily="34" charset="0"/>
                <a:cs typeface="Arial" panose="020B0604020202020204" pitchFamily="34" charset="0"/>
              </a:rPr>
              <a:t>Problem-1:</a:t>
            </a:r>
            <a:r>
              <a:rPr lang="en-US" sz="2000" dirty="0">
                <a:latin typeface="Arial" panose="020B0604020202020204" pitchFamily="34" charset="0"/>
                <a:cs typeface="Arial" panose="020B0604020202020204" pitchFamily="34" charset="0"/>
              </a:rPr>
              <a:t> The following data show the number of spam e-mails received by the office of the EWU in 14 consecutive weeks:</a:t>
            </a:r>
          </a:p>
          <a:p>
            <a:r>
              <a:rPr lang="en-US" sz="2000" dirty="0">
                <a:latin typeface="Arial" panose="020B0604020202020204" pitchFamily="34" charset="0"/>
                <a:cs typeface="Arial" panose="020B0604020202020204" pitchFamily="34" charset="0"/>
              </a:rPr>
              <a:t>1, 5, 2, 12, 6, 8, 0, 10, 32, 7, 3, 9, 4, 2</a:t>
            </a:r>
          </a:p>
          <a:p>
            <a:pPr marL="342900" lvl="0" indent="-342900" algn="l">
              <a:buFont typeface="Wingdings" panose="05000000000000000000" pitchFamily="2" charset="2"/>
              <a:buChar char="Ø"/>
            </a:pPr>
            <a:r>
              <a:rPr lang="en-US" sz="2000" dirty="0">
                <a:latin typeface="Arial" panose="020B0604020202020204" pitchFamily="34" charset="0"/>
                <a:cs typeface="Arial" panose="020B0604020202020204" pitchFamily="34" charset="0"/>
              </a:rPr>
              <a:t>(a) Compute the mean, median and mode. Based on these values, describe the shape of the   </a:t>
            </a:r>
          </a:p>
          <a:p>
            <a:pPr lvl="0" algn="l"/>
            <a:r>
              <a:rPr lang="en-US" sz="2000" dirty="0">
                <a:latin typeface="Arial" panose="020B0604020202020204" pitchFamily="34" charset="0"/>
                <a:cs typeface="Arial" panose="020B0604020202020204" pitchFamily="34" charset="0"/>
              </a:rPr>
              <a:t>     distribution of data? </a:t>
            </a:r>
          </a:p>
          <a:p>
            <a:pPr marL="342900" indent="-342900" algn="l">
              <a:buFont typeface="Wingdings" panose="05000000000000000000" pitchFamily="2" charset="2"/>
              <a:buChar char="Ø"/>
            </a:pPr>
            <a:r>
              <a:rPr lang="en-US" sz="2000" dirty="0">
                <a:latin typeface="Arial" panose="020B0604020202020204" pitchFamily="34" charset="0"/>
                <a:cs typeface="Arial" panose="020B0604020202020204" pitchFamily="34" charset="0"/>
              </a:rPr>
              <a:t>(b) Find the 10</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and 95</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percentiles; 7</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decile</a:t>
            </a:r>
            <a:r>
              <a:rPr lang="en-US" sz="2000" dirty="0">
                <a:latin typeface="Arial" panose="020B0604020202020204" pitchFamily="34" charset="0"/>
                <a:cs typeface="Arial" panose="020B0604020202020204" pitchFamily="34" charset="0"/>
              </a:rPr>
              <a:t>; 1</a:t>
            </a:r>
            <a:r>
              <a:rPr lang="en-US" sz="2000" baseline="30000" dirty="0">
                <a:latin typeface="Arial" panose="020B0604020202020204" pitchFamily="34" charset="0"/>
                <a:cs typeface="Arial" panose="020B0604020202020204" pitchFamily="34" charset="0"/>
              </a:rPr>
              <a:t>st</a:t>
            </a:r>
            <a:r>
              <a:rPr lang="en-US" sz="2000" dirty="0">
                <a:latin typeface="Arial" panose="020B0604020202020204" pitchFamily="34" charset="0"/>
                <a:cs typeface="Arial" panose="020B0604020202020204" pitchFamily="34" charset="0"/>
              </a:rPr>
              <a:t> and 3</a:t>
            </a:r>
            <a:r>
              <a:rPr lang="en-US" sz="2000" baseline="30000" dirty="0">
                <a:latin typeface="Arial" panose="020B0604020202020204" pitchFamily="34" charset="0"/>
                <a:cs typeface="Arial" panose="020B0604020202020204" pitchFamily="34" charset="0"/>
              </a:rPr>
              <a:t>rd</a:t>
            </a:r>
            <a:r>
              <a:rPr lang="en-US" sz="2000" dirty="0">
                <a:latin typeface="Arial" panose="020B0604020202020204" pitchFamily="34" charset="0"/>
                <a:cs typeface="Arial" panose="020B0604020202020204" pitchFamily="34" charset="0"/>
              </a:rPr>
              <a:t> quartiles. </a:t>
            </a:r>
          </a:p>
        </p:txBody>
      </p:sp>
    </p:spTree>
    <p:extLst>
      <p:ext uri="{BB962C8B-B14F-4D97-AF65-F5344CB8AC3E}">
        <p14:creationId xmlns:p14="http://schemas.microsoft.com/office/powerpoint/2010/main" val="3456383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4327"/>
            <a:ext cx="9144000" cy="392704"/>
          </a:xfrm>
        </p:spPr>
        <p:txBody>
          <a:bodyPr>
            <a:noAutofit/>
          </a:bodyPr>
          <a:lstStyle/>
          <a:p>
            <a:r>
              <a:rPr lang="en-US" sz="2400" b="1" dirty="0">
                <a:latin typeface="Arial" pitchFamily="34" charset="0"/>
                <a:cs typeface="Arial" pitchFamily="34" charset="0"/>
              </a:rPr>
              <a:t>Exercise (</a:t>
            </a:r>
            <a:r>
              <a:rPr lang="en-US" sz="2400" b="1" dirty="0" err="1">
                <a:latin typeface="Arial" pitchFamily="34" charset="0"/>
                <a:cs typeface="Arial" pitchFamily="34" charset="0"/>
              </a:rPr>
              <a:t>cont</a:t>
            </a:r>
            <a:r>
              <a:rPr lang="en-US" sz="2400" b="1" dirty="0">
                <a:latin typeface="Arial" pitchFamily="34" charset="0"/>
                <a:cs typeface="Arial" pitchFamily="34" charset="0"/>
              </a:rPr>
              <a:t>…)</a:t>
            </a:r>
            <a:endParaRPr lang="en-US" sz="24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406400" y="557167"/>
            <a:ext cx="11466286" cy="6061347"/>
          </a:xfrm>
        </p:spPr>
        <p:txBody>
          <a:bodyPr>
            <a:noAutofit/>
          </a:bodyPr>
          <a:lstStyle/>
          <a:p>
            <a:pPr marL="342900" lvl="0" indent="-342900" algn="l">
              <a:buFont typeface="Arial" panose="020B0604020202020204" pitchFamily="34" charset="0"/>
              <a:buChar char="•"/>
            </a:pPr>
            <a:r>
              <a:rPr lang="en-US" sz="2000" b="1" dirty="0">
                <a:latin typeface="Arial" panose="020B0604020202020204" pitchFamily="34" charset="0"/>
                <a:cs typeface="Arial" panose="020B0604020202020204" pitchFamily="34" charset="0"/>
              </a:rPr>
              <a:t>Problem-2:</a:t>
            </a:r>
            <a:r>
              <a:rPr lang="en-US" sz="2000" dirty="0">
                <a:latin typeface="Arial" panose="020B0604020202020204" pitchFamily="34" charset="0"/>
                <a:cs typeface="Arial" panose="020B0604020202020204" pitchFamily="34" charset="0"/>
              </a:rPr>
              <a:t> The following table gives the age distribution for the number of deaths in New York State due to accidents for residents age 25 and older.</a:t>
            </a:r>
          </a:p>
          <a:p>
            <a:pPr marL="342900" lvl="0" indent="-34290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lvl="0" indent="-34290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lvl="0" indent="-34290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lvl="0" indent="-34290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lvl="0" indent="-34290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lvl="0" indent="-34290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lvl="0" indent="-34290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342900" lvl="0" indent="-34290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lvl="0" algn="l"/>
            <a:endParaRPr lang="en-US" sz="2000" dirty="0">
              <a:latin typeface="Arial" panose="020B0604020202020204" pitchFamily="34" charset="0"/>
              <a:cs typeface="Arial" panose="020B0604020202020204" pitchFamily="34" charset="0"/>
            </a:endParaRPr>
          </a:p>
          <a:p>
            <a:pPr marL="342900" lvl="0" indent="-342900" algn="l">
              <a:buFont typeface="Wingdings" panose="05000000000000000000" pitchFamily="2" charset="2"/>
              <a:buChar char="Ø"/>
            </a:pPr>
            <a:r>
              <a:rPr lang="en-US" sz="2000" dirty="0">
                <a:latin typeface="Arial" panose="020B0604020202020204" pitchFamily="34" charset="0"/>
                <a:cs typeface="Arial" panose="020B0604020202020204" pitchFamily="34" charset="0"/>
              </a:rPr>
              <a:t>(a) Compute the mean, median and mode. Based on these values, describe the shape of the   </a:t>
            </a:r>
          </a:p>
          <a:p>
            <a:pPr lvl="0" algn="l"/>
            <a:r>
              <a:rPr lang="en-US" sz="2000" dirty="0">
                <a:latin typeface="Arial" panose="020B0604020202020204" pitchFamily="34" charset="0"/>
                <a:cs typeface="Arial" panose="020B0604020202020204" pitchFamily="34" charset="0"/>
              </a:rPr>
              <a:t>     distribution of data? </a:t>
            </a:r>
          </a:p>
          <a:p>
            <a:pPr marL="342900" indent="-342900" algn="l">
              <a:buFont typeface="Wingdings" panose="05000000000000000000" pitchFamily="2" charset="2"/>
              <a:buChar char="Ø"/>
            </a:pPr>
            <a:r>
              <a:rPr lang="en-US" sz="2000" dirty="0">
                <a:latin typeface="Arial" panose="020B0604020202020204" pitchFamily="34" charset="0"/>
                <a:cs typeface="Arial" panose="020B0604020202020204" pitchFamily="34" charset="0"/>
              </a:rPr>
              <a:t>(b) Find the15</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percentiles; 4</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 decile; 1</a:t>
            </a:r>
            <a:r>
              <a:rPr lang="en-US" sz="2000" baseline="30000" dirty="0">
                <a:latin typeface="Arial" panose="020B0604020202020204" pitchFamily="34" charset="0"/>
                <a:cs typeface="Arial" panose="020B0604020202020204" pitchFamily="34" charset="0"/>
              </a:rPr>
              <a:t>st</a:t>
            </a:r>
            <a:r>
              <a:rPr lang="en-US" sz="2000" dirty="0">
                <a:latin typeface="Arial" panose="020B0604020202020204" pitchFamily="34" charset="0"/>
                <a:cs typeface="Arial" panose="020B0604020202020204" pitchFamily="34" charset="0"/>
              </a:rPr>
              <a:t> and 3</a:t>
            </a:r>
            <a:r>
              <a:rPr lang="en-US" sz="2000" baseline="30000" dirty="0">
                <a:latin typeface="Arial" panose="020B0604020202020204" pitchFamily="34" charset="0"/>
                <a:cs typeface="Arial" panose="020B0604020202020204" pitchFamily="34" charset="0"/>
              </a:rPr>
              <a:t>rd</a:t>
            </a:r>
            <a:r>
              <a:rPr lang="en-US" sz="2000" dirty="0">
                <a:latin typeface="Arial" panose="020B0604020202020204" pitchFamily="34" charset="0"/>
                <a:cs typeface="Arial" panose="020B0604020202020204" pitchFamily="34" charset="0"/>
              </a:rPr>
              <a:t> quartiles.</a:t>
            </a:r>
          </a:p>
        </p:txBody>
      </p:sp>
      <p:pic>
        <p:nvPicPr>
          <p:cNvPr id="4" name="Picture 3"/>
          <p:cNvPicPr>
            <a:picLocks noChangeAspect="1"/>
          </p:cNvPicPr>
          <p:nvPr/>
        </p:nvPicPr>
        <p:blipFill>
          <a:blip r:embed="rId2"/>
          <a:stretch>
            <a:fillRect/>
          </a:stretch>
        </p:blipFill>
        <p:spPr>
          <a:xfrm>
            <a:off x="3352413" y="1192716"/>
            <a:ext cx="5056867" cy="3719532"/>
          </a:xfrm>
          <a:prstGeom prst="rect">
            <a:avLst/>
          </a:prstGeom>
        </p:spPr>
      </p:pic>
    </p:spTree>
    <p:extLst>
      <p:ext uri="{BB962C8B-B14F-4D97-AF65-F5344CB8AC3E}">
        <p14:creationId xmlns:p14="http://schemas.microsoft.com/office/powerpoint/2010/main" val="3701688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061126"/>
            <a:ext cx="9144000" cy="1655762"/>
          </a:xfrm>
        </p:spPr>
        <p:txBody>
          <a:bodyPr>
            <a:normAutofit/>
          </a:bodyPr>
          <a:lstStyle/>
          <a:p>
            <a:pPr>
              <a:lnSpc>
                <a:spcPct val="150000"/>
              </a:lnSpc>
            </a:pPr>
            <a:r>
              <a:rPr lang="en-US" sz="4000"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3443422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3741</TotalTime>
  <Words>2798</Words>
  <Application>Microsoft Office PowerPoint</Application>
  <PresentationFormat>Widescreen</PresentationFormat>
  <Paragraphs>269</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Cambria Math</vt:lpstr>
      <vt:lpstr>Wingdings</vt:lpstr>
      <vt:lpstr>Office Theme</vt:lpstr>
      <vt:lpstr>  COURSE TITLE: : Statistics and Probability COURSE CODE: STA 102 Topics: Numerical Measures: Measures of Central Tendency &amp; Location</vt:lpstr>
      <vt:lpstr>PowerPoint Presentation</vt:lpstr>
      <vt:lpstr>Measures of Central Tendency</vt:lpstr>
      <vt:lpstr>Mean</vt:lpstr>
      <vt:lpstr>Mean</vt:lpstr>
      <vt:lpstr>Mean (cont…)</vt:lpstr>
      <vt:lpstr>Pooled Mean</vt:lpstr>
      <vt:lpstr>Weighted Mean</vt:lpstr>
      <vt:lpstr>Problems on Special Mean</vt:lpstr>
      <vt:lpstr>Properties of Arithmetic Mean</vt:lpstr>
      <vt:lpstr>Median</vt:lpstr>
      <vt:lpstr>PowerPoint Presentation</vt:lpstr>
      <vt:lpstr>Median for Grouped data</vt:lpstr>
      <vt:lpstr>Median for grouped data (cont…)</vt:lpstr>
      <vt:lpstr>Mode for grouped data</vt:lpstr>
      <vt:lpstr>Mode for grouped data (cont…)</vt:lpstr>
      <vt:lpstr>The Relative Positions of the Mean, Median, and Mode</vt:lpstr>
      <vt:lpstr>Positively skewed distribution</vt:lpstr>
      <vt:lpstr>Negatively skewed distribution</vt:lpstr>
      <vt:lpstr>Measures of Location</vt:lpstr>
      <vt:lpstr>Measures of Location</vt:lpstr>
      <vt:lpstr>The Percentiles </vt:lpstr>
      <vt:lpstr>The Percentiles </vt:lpstr>
      <vt:lpstr>Exercise</vt:lpstr>
      <vt:lpstr>Exercise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  Business Statistics COURSE CODE: BUS 7203</dc:title>
  <dc:creator>EH</dc:creator>
  <cp:lastModifiedBy>EH</cp:lastModifiedBy>
  <cp:revision>237</cp:revision>
  <dcterms:created xsi:type="dcterms:W3CDTF">2021-09-04T13:58:51Z</dcterms:created>
  <dcterms:modified xsi:type="dcterms:W3CDTF">2026-01-27T10:38:15Z</dcterms:modified>
</cp:coreProperties>
</file>