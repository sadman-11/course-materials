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419" r:id="rId2"/>
    <p:sldId id="378" r:id="rId3"/>
    <p:sldId id="379" r:id="rId4"/>
    <p:sldId id="380" r:id="rId5"/>
    <p:sldId id="381" r:id="rId6"/>
    <p:sldId id="382" r:id="rId7"/>
    <p:sldId id="383" r:id="rId8"/>
    <p:sldId id="384" r:id="rId9"/>
    <p:sldId id="385" r:id="rId10"/>
    <p:sldId id="386" r:id="rId11"/>
    <p:sldId id="387" r:id="rId12"/>
    <p:sldId id="388" r:id="rId13"/>
    <p:sldId id="389" r:id="rId14"/>
    <p:sldId id="390" r:id="rId15"/>
    <p:sldId id="391" r:id="rId16"/>
    <p:sldId id="392" r:id="rId17"/>
    <p:sldId id="393" r:id="rId18"/>
    <p:sldId id="394" r:id="rId19"/>
    <p:sldId id="395" r:id="rId20"/>
    <p:sldId id="396" r:id="rId21"/>
    <p:sldId id="397" r:id="rId22"/>
    <p:sldId id="398" r:id="rId23"/>
    <p:sldId id="399" r:id="rId24"/>
    <p:sldId id="400" r:id="rId25"/>
    <p:sldId id="401" r:id="rId26"/>
    <p:sldId id="402" r:id="rId27"/>
    <p:sldId id="403" r:id="rId28"/>
    <p:sldId id="404" r:id="rId29"/>
    <p:sldId id="405" r:id="rId30"/>
    <p:sldId id="409" r:id="rId31"/>
    <p:sldId id="410" r:id="rId32"/>
    <p:sldId id="411" r:id="rId33"/>
    <p:sldId id="41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914CDBD-2041-4F67-960D-6CAD4D953A4C}">
          <p14:sldIdLst>
            <p14:sldId id="419"/>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9"/>
            <p14:sldId id="410"/>
            <p14:sldId id="411"/>
            <p14:sldId id="416"/>
          </p14:sldIdLst>
        </p14:section>
        <p14:section name="Untitled Section" id="{EFB56F58-5817-4C93-9AA2-4847E5B782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56" y="60"/>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42B00CC-FD85-445F-BC74-BB2EF09B146D}" type="datetimeFigureOut">
              <a:rPr lang="en-US" smtClean="0"/>
              <a:t>19/4/2026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CF2132-6940-4B72-A481-E6579FFE0D75}" type="slidenum">
              <a:rPr lang="en-US" smtClean="0"/>
              <a:t>‹#›</a:t>
            </a:fld>
            <a:endParaRPr lang="en-US"/>
          </a:p>
        </p:txBody>
      </p:sp>
    </p:spTree>
    <p:extLst>
      <p:ext uri="{BB962C8B-B14F-4D97-AF65-F5344CB8AC3E}">
        <p14:creationId xmlns:p14="http://schemas.microsoft.com/office/powerpoint/2010/main" val="42335066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CC82D-B58B-415D-B561-3631A61C084F}" type="datetimeFigureOut">
              <a:rPr lang="en-US" smtClean="0"/>
              <a:t>19/4/2026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80315-78CB-48C5-AAA4-C4DAF5D340C1}" type="slidenum">
              <a:rPr lang="en-US" smtClean="0"/>
              <a:t>‹#›</a:t>
            </a:fld>
            <a:endParaRPr lang="en-US"/>
          </a:p>
        </p:txBody>
      </p:sp>
    </p:spTree>
    <p:extLst>
      <p:ext uri="{BB962C8B-B14F-4D97-AF65-F5344CB8AC3E}">
        <p14:creationId xmlns:p14="http://schemas.microsoft.com/office/powerpoint/2010/main" val="3434557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67FE945-9542-4FEB-93DA-4011C445AE25}" type="datetimeFigureOut">
              <a:rPr lang="en-US" smtClean="0"/>
              <a:t>19/4/2026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3608117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FE945-9542-4FEB-93DA-4011C445AE25}" type="datetimeFigureOut">
              <a:rPr lang="en-US" smtClean="0"/>
              <a:t>19/4/2026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3187564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7FE945-9542-4FEB-93DA-4011C445AE25}" type="datetimeFigureOut">
              <a:rPr lang="en-US" smtClean="0"/>
              <a:t>19/4/2026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2846944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67FE945-9542-4FEB-93DA-4011C445AE25}" type="datetimeFigureOut">
              <a:rPr lang="en-US" smtClean="0"/>
              <a:t>19/4/2026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78060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7FE945-9542-4FEB-93DA-4011C445AE25}" type="datetimeFigureOut">
              <a:rPr lang="en-US" smtClean="0"/>
              <a:t>19/4/2026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64642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7FE945-9542-4FEB-93DA-4011C445AE25}" type="datetimeFigureOut">
              <a:rPr lang="en-US" smtClean="0"/>
              <a:t>19/4/2026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1419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7FE945-9542-4FEB-93DA-4011C445AE25}" type="datetimeFigureOut">
              <a:rPr lang="en-US" smtClean="0"/>
              <a:t>19/4/2026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373983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7FE945-9542-4FEB-93DA-4011C445AE25}" type="datetimeFigureOut">
              <a:rPr lang="en-US" smtClean="0"/>
              <a:t>19/4/2026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3563338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7FE945-9542-4FEB-93DA-4011C445AE25}" type="datetimeFigureOut">
              <a:rPr lang="en-US" smtClean="0"/>
              <a:t>19/4/2026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764370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FE945-9542-4FEB-93DA-4011C445AE25}" type="datetimeFigureOut">
              <a:rPr lang="en-US" smtClean="0"/>
              <a:t>19/4/2026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220727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FE945-9542-4FEB-93DA-4011C445AE25}" type="datetimeFigureOut">
              <a:rPr lang="en-US" smtClean="0"/>
              <a:t>19/4/2026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C27202-94DD-4821-ACAC-189A3542366F}" type="slidenum">
              <a:rPr lang="en-US" smtClean="0"/>
              <a:t>‹#›</a:t>
            </a:fld>
            <a:endParaRPr lang="en-US"/>
          </a:p>
        </p:txBody>
      </p:sp>
    </p:spTree>
    <p:extLst>
      <p:ext uri="{BB962C8B-B14F-4D97-AF65-F5344CB8AC3E}">
        <p14:creationId xmlns:p14="http://schemas.microsoft.com/office/powerpoint/2010/main" val="160406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7FE945-9542-4FEB-93DA-4011C445AE25}" type="datetimeFigureOut">
              <a:rPr lang="en-US" smtClean="0"/>
              <a:t>19/4/2026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C27202-94DD-4821-ACAC-189A3542366F}" type="slidenum">
              <a:rPr lang="en-US" smtClean="0"/>
              <a:t>‹#›</a:t>
            </a:fld>
            <a:endParaRPr lang="en-US"/>
          </a:p>
        </p:txBody>
      </p:sp>
    </p:spTree>
    <p:extLst>
      <p:ext uri="{BB962C8B-B14F-4D97-AF65-F5344CB8AC3E}">
        <p14:creationId xmlns:p14="http://schemas.microsoft.com/office/powerpoint/2010/main" val="3109185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047" y="399246"/>
            <a:ext cx="10183906" cy="2034672"/>
          </a:xfrm>
        </p:spPr>
        <p:txBody>
          <a:bodyPr>
            <a:noAutofit/>
          </a:bodyPr>
          <a:lstStyle/>
          <a:p>
            <a:pPr>
              <a:lnSpc>
                <a:spcPct val="150000"/>
              </a:lnSpc>
            </a:pPr>
            <a:r>
              <a:rPr lang="en-US" sz="3000" b="1" dirty="0">
                <a:latin typeface="Arial" panose="020B0604020202020204" pitchFamily="34" charset="0"/>
                <a:cs typeface="Arial" panose="020B0604020202020204" pitchFamily="34" charset="0"/>
              </a:rPr>
              <a:t>COURSE TITLE: </a:t>
            </a:r>
            <a:r>
              <a:rPr lang="en-US" sz="3200" b="1" dirty="0" smtClean="0"/>
              <a:t>: Statistics </a:t>
            </a:r>
            <a:r>
              <a:rPr lang="en-US" sz="2800" b="1" dirty="0" smtClean="0"/>
              <a:t>and </a:t>
            </a:r>
            <a:r>
              <a:rPr lang="en-US" sz="2800" b="1" dirty="0"/>
              <a:t>Probability</a:t>
            </a:r>
            <a:r>
              <a:rPr lang="en-US" sz="3000" dirty="0">
                <a:latin typeface="Arial" panose="020B0604020202020204" pitchFamily="34" charset="0"/>
                <a:cs typeface="Arial" panose="020B0604020202020204" pitchFamily="34" charset="0"/>
              </a:rPr>
              <a:t/>
            </a:r>
            <a:br>
              <a:rPr lang="en-US" sz="3000" dirty="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COURSE CODE: </a:t>
            </a:r>
            <a:r>
              <a:rPr lang="en-US" sz="3200" dirty="0" smtClean="0">
                <a:latin typeface="Arial" panose="020B0604020202020204" pitchFamily="34" charset="0"/>
                <a:cs typeface="Arial" panose="020B0604020202020204" pitchFamily="34" charset="0"/>
              </a:rPr>
              <a:t>STA 102</a:t>
            </a:r>
            <a:br>
              <a:rPr lang="en-US" sz="3200" dirty="0" smtClean="0">
                <a:latin typeface="Arial" panose="020B0604020202020204" pitchFamily="34" charset="0"/>
                <a:cs typeface="Arial" panose="020B0604020202020204" pitchFamily="34" charset="0"/>
              </a:rPr>
            </a:br>
            <a:r>
              <a:rPr lang="en-US" sz="3200" b="1" dirty="0">
                <a:latin typeface="Arial" panose="020B0604020202020204" pitchFamily="34" charset="0"/>
                <a:cs typeface="Arial" panose="020B0604020202020204" pitchFamily="34" charset="0"/>
              </a:rPr>
              <a:t>Topics:</a:t>
            </a:r>
            <a:r>
              <a:rPr lang="en-US" sz="3200" dirty="0">
                <a:solidFill>
                  <a:srgbClr val="000000"/>
                </a:solidFill>
                <a:latin typeface="Calibri" panose="020B0604020202020204" pitchFamily="34" charset="0"/>
                <a:cs typeface="Arial" panose="020B0604020202020204" pitchFamily="34" charset="0"/>
              </a:rPr>
              <a:t> </a:t>
            </a:r>
            <a:r>
              <a:rPr lang="en-US" sz="3200" dirty="0" smtClean="0">
                <a:solidFill>
                  <a:srgbClr val="000000"/>
                </a:solidFill>
                <a:latin typeface="Calibri" panose="020B0604020202020204" pitchFamily="34" charset="0"/>
                <a:cs typeface="Arial" panose="020B0604020202020204" pitchFamily="34" charset="0"/>
              </a:rPr>
              <a:t>Inference: </a:t>
            </a:r>
            <a:r>
              <a:rPr lang="en-US" sz="2900" b="1" dirty="0" smtClean="0"/>
              <a:t>Estimation and </a:t>
            </a:r>
            <a:r>
              <a:rPr lang="en-US" sz="2900" b="1" dirty="0" smtClean="0"/>
              <a:t>Test of </a:t>
            </a:r>
            <a:r>
              <a:rPr lang="en-US" sz="2900" b="1" dirty="0" smtClean="0"/>
              <a:t>Hypothesis</a:t>
            </a:r>
            <a:endParaRPr lang="en-US" sz="29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3061126"/>
            <a:ext cx="9144000" cy="1655762"/>
          </a:xfrm>
        </p:spPr>
        <p:txBody>
          <a:bodyPr>
            <a:normAutofit fontScale="77500" lnSpcReduction="20000"/>
          </a:bodyPr>
          <a:lstStyle/>
          <a:p>
            <a:pPr>
              <a:lnSpc>
                <a:spcPct val="120000"/>
              </a:lnSpc>
            </a:pPr>
            <a:r>
              <a:rPr lang="en-US" dirty="0" smtClean="0">
                <a:latin typeface="Arial" panose="020B0604020202020204" pitchFamily="34" charset="0"/>
                <a:cs typeface="Arial" panose="020B0604020202020204" pitchFamily="34" charset="0"/>
              </a:rPr>
              <a:t>Instructor: Md. </a:t>
            </a:r>
            <a:r>
              <a:rPr lang="en-US" dirty="0" err="1" smtClean="0">
                <a:latin typeface="Arial" panose="020B0604020202020204" pitchFamily="34" charset="0"/>
                <a:cs typeface="Arial" panose="020B0604020202020204" pitchFamily="34" charset="0"/>
              </a:rPr>
              <a:t>Ershadul</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Haque</a:t>
            </a:r>
            <a:r>
              <a:rPr lang="en-US" dirty="0" smtClean="0">
                <a:latin typeface="Arial" panose="020B0604020202020204" pitchFamily="34" charset="0"/>
                <a:cs typeface="Arial" panose="020B0604020202020204" pitchFamily="34" charset="0"/>
              </a:rPr>
              <a:t>, PhD</a:t>
            </a:r>
          </a:p>
          <a:p>
            <a:pPr>
              <a:lnSpc>
                <a:spcPct val="120000"/>
              </a:lnSpc>
            </a:pPr>
            <a:r>
              <a:rPr lang="en-US" dirty="0" smtClean="0">
                <a:latin typeface="Arial" panose="020B0604020202020204" pitchFamily="34" charset="0"/>
                <a:cs typeface="Arial" panose="020B0604020202020204" pitchFamily="34" charset="0"/>
              </a:rPr>
              <a:t>Professor, Department of Statistics, DU</a:t>
            </a:r>
          </a:p>
          <a:p>
            <a:pPr>
              <a:lnSpc>
                <a:spcPct val="120000"/>
              </a:lnSpc>
            </a:pPr>
            <a:r>
              <a:rPr lang="en-US" dirty="0" smtClean="0">
                <a:latin typeface="Arial" panose="020B0604020202020204" pitchFamily="34" charset="0"/>
                <a:cs typeface="Arial" panose="020B0604020202020204" pitchFamily="34" charset="0"/>
              </a:rPr>
              <a:t>&amp;</a:t>
            </a:r>
          </a:p>
          <a:p>
            <a:pPr>
              <a:lnSpc>
                <a:spcPct val="120000"/>
              </a:lnSpc>
            </a:pPr>
            <a:r>
              <a:rPr lang="en-US" dirty="0" smtClean="0">
                <a:latin typeface="Arial" panose="020B0604020202020204" pitchFamily="34" charset="0"/>
                <a:cs typeface="Arial" panose="020B0604020202020204" pitchFamily="34" charset="0"/>
              </a:rPr>
              <a:t>Adjunct Faculty, EWU, Bangladesh</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1506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a:latin typeface="Arial" panose="020B0604020202020204" pitchFamily="34" charset="0"/>
                <a:cs typeface="Arial" panose="020B0604020202020204" pitchFamily="34" charset="0"/>
              </a:rPr>
              <a:t>Sampling Distribution and Estimation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5917799"/>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Sampling </a:t>
                </a:r>
                <a:r>
                  <a:rPr lang="en-US" sz="2000" b="1" dirty="0">
                    <a:latin typeface="Arial" panose="020B0604020202020204" pitchFamily="34" charset="0"/>
                    <a:cs typeface="Arial" panose="020B0604020202020204" pitchFamily="34" charset="0"/>
                  </a:rPr>
                  <a:t>distribution:</a:t>
                </a:r>
                <a:r>
                  <a:rPr lang="en-US" sz="2000" dirty="0">
                    <a:latin typeface="Arial" panose="020B0604020202020204" pitchFamily="34" charset="0"/>
                    <a:cs typeface="Arial" panose="020B0604020202020204" pitchFamily="34" charset="0"/>
                  </a:rPr>
                  <a:t> Sampling distribution is the probability distribution of a statistic. For example, a probability distribution of all possible sample means of a given sample size is known as sampling distribution of sample mean and a probability distribution of all possible sample proportions of a given sample size is known as sampling distribution of sample proportion. </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Standard </a:t>
                </a:r>
                <a:r>
                  <a:rPr lang="en-US" sz="2000" b="1" dirty="0">
                    <a:latin typeface="Arial" panose="020B0604020202020204" pitchFamily="34" charset="0"/>
                    <a:cs typeface="Arial" panose="020B0604020202020204" pitchFamily="34" charset="0"/>
                  </a:rPr>
                  <a:t>error:</a:t>
                </a:r>
                <a:r>
                  <a:rPr lang="en-US" sz="2000" dirty="0">
                    <a:latin typeface="Arial" panose="020B0604020202020204" pitchFamily="34" charset="0"/>
                    <a:cs typeface="Arial" panose="020B0604020202020204" pitchFamily="34" charset="0"/>
                  </a:rPr>
                  <a:t> The </a:t>
                </a:r>
                <a:r>
                  <a:rPr lang="en-US" sz="2000" b="1" dirty="0">
                    <a:latin typeface="Arial" panose="020B0604020202020204" pitchFamily="34" charset="0"/>
                    <a:cs typeface="Arial" panose="020B0604020202020204" pitchFamily="34" charset="0"/>
                  </a:rPr>
                  <a:t>standard deviation </a:t>
                </a:r>
                <a:r>
                  <a:rPr lang="en-US" sz="2000" dirty="0">
                    <a:latin typeface="Arial" panose="020B0604020202020204" pitchFamily="34" charset="0"/>
                    <a:cs typeface="Arial" panose="020B0604020202020204" pitchFamily="34" charset="0"/>
                  </a:rPr>
                  <a:t>calculated from the sampling distribution is called the standard error (SE/se</a:t>
                </a:r>
                <a:r>
                  <a:rPr lang="en-US" sz="2000" dirty="0" smtClean="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precise relationship between the standard error, and the sample size</a:t>
                </a:r>
                <a:r>
                  <a:rPr lang="en-US" sz="2000" dirty="0">
                    <a:latin typeface="Arial" panose="020B0604020202020204" pitchFamily="34" charset="0"/>
                    <a:cs typeface="Arial" panose="020B0604020202020204" pitchFamily="34" charset="0"/>
                  </a:rPr>
                  <a:t>: Let us consider, we have selected a sample of size </a:t>
                </a:r>
                <a14:m>
                  <m:oMath xmlns:m="http://schemas.openxmlformats.org/officeDocument/2006/math">
                    <m:r>
                      <a:rPr lang="en-US" sz="2000" i="1">
                        <a:latin typeface="Cambria Math" panose="02040503050406030204" pitchFamily="18" charset="0"/>
                      </a:rPr>
                      <m:t>𝑛</m:t>
                    </m:r>
                  </m:oMath>
                </a14:m>
                <a:r>
                  <a:rPr lang="en-US" sz="2000" dirty="0">
                    <a:latin typeface="Arial" panose="020B0604020202020204" pitchFamily="34" charset="0"/>
                    <a:cs typeface="Arial" panose="020B0604020202020204" pitchFamily="34" charset="0"/>
                  </a:rPr>
                  <a:t> from a population with mean </a:t>
                </a:r>
                <a14:m>
                  <m:oMath xmlns:m="http://schemas.openxmlformats.org/officeDocument/2006/math">
                    <m:r>
                      <a:rPr lang="en-US" sz="2000" i="1">
                        <a:latin typeface="Cambria Math" panose="02040503050406030204" pitchFamily="18" charset="0"/>
                      </a:rPr>
                      <m:t>𝜇</m:t>
                    </m:r>
                  </m:oMath>
                </a14:m>
                <a:r>
                  <a:rPr lang="en-US" sz="2000" dirty="0">
                    <a:latin typeface="Arial" panose="020B0604020202020204" pitchFamily="34" charset="0"/>
                    <a:cs typeface="Arial" panose="020B0604020202020204" pitchFamily="34" charset="0"/>
                  </a:rPr>
                  <a:t> and variance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then</a:t>
                </a:r>
                <a:r>
                  <a:rPr lang="en-US" sz="2000" dirty="0" smtClean="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𝑆𝐸</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oMath>
                </a14:m>
                <a:r>
                  <a:rPr lang="en-US" sz="2000" dirty="0">
                    <a:latin typeface="Arial" panose="020B0604020202020204" pitchFamily="34" charset="0"/>
                    <a:cs typeface="Arial" panose="020B0604020202020204" pitchFamily="34" charset="0"/>
                  </a:rPr>
                  <a:t>. </a:t>
                </a:r>
                <a:r>
                  <a:rPr lang="en-US" sz="2000" b="1" dirty="0" smtClean="0">
                    <a:latin typeface="Arial" panose="020B0604020202020204" pitchFamily="34" charset="0"/>
                    <a:cs typeface="Arial" panose="020B0604020202020204" pitchFamily="34" charset="0"/>
                  </a:rPr>
                  <a:t>Note:</a:t>
                </a:r>
                <a:r>
                  <a:rPr lang="en-US" sz="2000" dirty="0" smtClean="0">
                    <a:latin typeface="Arial" panose="020B0604020202020204" pitchFamily="34" charset="0"/>
                    <a:cs typeface="Arial" panose="020B0604020202020204" pitchFamily="34" charset="0"/>
                  </a:rPr>
                  <a:t> As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is a parameter, it is usually </a:t>
                </a:r>
                <a:r>
                  <a:rPr lang="en-US" sz="2000" dirty="0" smtClean="0">
                    <a:latin typeface="Arial" panose="020B0604020202020204" pitchFamily="34" charset="0"/>
                    <a:cs typeface="Arial" panose="020B0604020202020204" pitchFamily="34" charset="0"/>
                  </a:rPr>
                  <a:t>unknown. </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An </a:t>
                </a:r>
                <a:r>
                  <a:rPr lang="en-US" sz="2000" b="1" dirty="0">
                    <a:latin typeface="Arial" panose="020B0604020202020204" pitchFamily="34" charset="0"/>
                    <a:cs typeface="Arial" panose="020B0604020202020204" pitchFamily="34" charset="0"/>
                  </a:rPr>
                  <a:t>estimate of standard error</a:t>
                </a:r>
                <a:r>
                  <a:rPr lang="en-US" sz="2000" dirty="0">
                    <a:latin typeface="Arial" panose="020B0604020202020204" pitchFamily="34" charset="0"/>
                    <a:cs typeface="Arial" panose="020B0604020202020204" pitchFamily="34" charset="0"/>
                  </a:rPr>
                  <a:t> is, </a:t>
                </a:r>
                <a14:m>
                  <m:oMath xmlns:m="http://schemas.openxmlformats.org/officeDocument/2006/math">
                    <m:r>
                      <m:rPr>
                        <m:sty m:val="p"/>
                      </m:rPr>
                      <a:rPr lang="en-US" sz="2000" b="0" i="0" smtClean="0">
                        <a:latin typeface="Cambria Math" panose="02040503050406030204" pitchFamily="18" charset="0"/>
                      </a:rPr>
                      <m:t>S</m:t>
                    </m:r>
                    <m:r>
                      <a:rPr lang="en-US" sz="2000" i="1">
                        <a:latin typeface="Cambria Math" panose="02040503050406030204" pitchFamily="18" charset="0"/>
                      </a:rPr>
                      <m:t>𝐸</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𝑆</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oMath>
                </a14:m>
                <a:r>
                  <a:rPr lang="en-US" sz="2000" dirty="0">
                    <a:latin typeface="Arial" panose="020B0604020202020204" pitchFamily="34" charset="0"/>
                    <a:cs typeface="Arial" panose="020B0604020202020204" pitchFamily="34" charset="0"/>
                  </a:rPr>
                  <a:t> , where </a:t>
                </a:r>
                <a14:m>
                  <m:oMath xmlns:m="http://schemas.openxmlformats.org/officeDocument/2006/math">
                    <m:r>
                      <a:rPr lang="en-US" sz="2000" i="1">
                        <a:latin typeface="Cambria Math" panose="02040503050406030204" pitchFamily="18" charset="0"/>
                      </a:rPr>
                      <m:t>𝑠</m:t>
                    </m:r>
                  </m:oMath>
                </a14:m>
                <a:r>
                  <a:rPr lang="en-US" sz="2000" dirty="0">
                    <a:latin typeface="Arial" panose="020B0604020202020204" pitchFamily="34" charset="0"/>
                    <a:cs typeface="Arial" panose="020B0604020202020204" pitchFamily="34" charset="0"/>
                  </a:rPr>
                  <a:t>  is sample standard deviation.</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5917799"/>
              </a:xfrm>
              <a:blipFill rotWithShape="0">
                <a:blip r:embed="rId2"/>
                <a:stretch>
                  <a:fillRect l="-491" r="-600"/>
                </a:stretch>
              </a:blipFill>
            </p:spPr>
            <p:txBody>
              <a:bodyPr/>
              <a:lstStyle/>
              <a:p>
                <a:r>
                  <a:rPr lang="en-US">
                    <a:noFill/>
                  </a:rPr>
                  <a:t> </a:t>
                </a:r>
              </a:p>
            </p:txBody>
          </p:sp>
        </mc:Fallback>
      </mc:AlternateContent>
    </p:spTree>
    <p:extLst>
      <p:ext uri="{BB962C8B-B14F-4D97-AF65-F5344CB8AC3E}">
        <p14:creationId xmlns:p14="http://schemas.microsoft.com/office/powerpoint/2010/main" val="18073709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a:latin typeface="Arial" panose="020B0604020202020204" pitchFamily="34" charset="0"/>
                <a:cs typeface="Arial" panose="020B0604020202020204" pitchFamily="34" charset="0"/>
              </a:rPr>
              <a:t>Properties of normal population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5917799"/>
              </a:xfrm>
            </p:spPr>
            <p:txBody>
              <a:bodyPr>
                <a:no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all samples of size </a:t>
                </a:r>
                <a14:m>
                  <m:oMath xmlns:m="http://schemas.openxmlformats.org/officeDocument/2006/math">
                    <m:r>
                      <a:rPr lang="en-US" sz="2000" i="1">
                        <a:latin typeface="Cambria Math" panose="02040503050406030204" pitchFamily="18" charset="0"/>
                      </a:rPr>
                      <m:t>𝑛</m:t>
                    </m:r>
                    <m:r>
                      <a:rPr lang="en-US" sz="2000">
                        <a:latin typeface="Cambria Math" panose="02040503050406030204" pitchFamily="18" charset="0"/>
                      </a:rPr>
                      <m:t> </m:t>
                    </m:r>
                  </m:oMath>
                </a14:m>
                <a:r>
                  <a:rPr lang="en-US" sz="2000" dirty="0">
                    <a:latin typeface="Arial" panose="020B0604020202020204" pitchFamily="34" charset="0"/>
                    <a:cs typeface="Arial" panose="020B0604020202020204" pitchFamily="34" charset="0"/>
                  </a:rPr>
                  <a:t>are selected from </a:t>
                </a:r>
                <a:r>
                  <a:rPr lang="en-US" sz="2000" b="1" i="1" dirty="0">
                    <a:latin typeface="Arial" panose="020B0604020202020204" pitchFamily="34" charset="0"/>
                    <a:cs typeface="Arial" panose="020B0604020202020204" pitchFamily="34" charset="0"/>
                  </a:rPr>
                  <a:t>normal population </a:t>
                </a:r>
                <a:r>
                  <a:rPr lang="en-US" sz="2000" i="1" dirty="0">
                    <a:latin typeface="Arial" panose="020B0604020202020204" pitchFamily="34" charset="0"/>
                    <a:cs typeface="Arial" panose="020B0604020202020204" pitchFamily="34" charset="0"/>
                  </a:rPr>
                  <a:t>with mean </a:t>
                </a:r>
                <a14:m>
                  <m:oMath xmlns:m="http://schemas.openxmlformats.org/officeDocument/2006/math">
                    <m:r>
                      <a:rPr lang="en-US" sz="2000" b="0" i="1">
                        <a:latin typeface="Cambria Math" panose="02040503050406030204" pitchFamily="18" charset="0"/>
                      </a:rPr>
                      <m:t>𝜇</m:t>
                    </m:r>
                  </m:oMath>
                </a14:m>
                <a:r>
                  <a:rPr lang="en-US" sz="2000" i="1" dirty="0">
                    <a:latin typeface="Arial" panose="020B0604020202020204" pitchFamily="34" charset="0"/>
                    <a:cs typeface="Arial" panose="020B0604020202020204" pitchFamily="34" charset="0"/>
                  </a:rPr>
                  <a:t> and variance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𝜎</m:t>
                        </m:r>
                      </m:e>
                      <m:sup>
                        <m:r>
                          <a:rPr lang="en-US" sz="2000" b="0" i="1">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the </a:t>
                </a:r>
                <a:r>
                  <a:rPr lang="en-US" sz="2000" i="1" dirty="0">
                    <a:latin typeface="Arial" panose="020B0604020202020204" pitchFamily="34" charset="0"/>
                    <a:cs typeface="Arial" panose="020B0604020202020204" pitchFamily="34" charset="0"/>
                  </a:rPr>
                  <a:t>sampling distribution of the sample mean is also normal with mean </a:t>
                </a:r>
                <a14:m>
                  <m:oMath xmlns:m="http://schemas.openxmlformats.org/officeDocument/2006/math">
                    <m:r>
                      <a:rPr lang="en-US" sz="2000" b="0" i="1">
                        <a:latin typeface="Cambria Math" panose="02040503050406030204" pitchFamily="18" charset="0"/>
                      </a:rPr>
                      <m:t>𝜇</m:t>
                    </m:r>
                  </m:oMath>
                </a14:m>
                <a:r>
                  <a:rPr lang="en-US" sz="2000" i="1" dirty="0">
                    <a:latin typeface="Arial" panose="020B0604020202020204" pitchFamily="34" charset="0"/>
                    <a:cs typeface="Arial" panose="020B0604020202020204" pitchFamily="34" charset="0"/>
                  </a:rPr>
                  <a:t> and variance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b="0" i="1">
                                <a:latin typeface="Cambria Math" panose="02040503050406030204" pitchFamily="18" charset="0"/>
                              </a:rPr>
                              <m:t>𝜎</m:t>
                            </m:r>
                          </m:e>
                          <m:sup>
                            <m:r>
                              <a:rPr lang="en-US" sz="2000" b="0" i="1">
                                <a:latin typeface="Cambria Math" panose="02040503050406030204" pitchFamily="18" charset="0"/>
                              </a:rPr>
                              <m:t>2</m:t>
                            </m:r>
                          </m:sup>
                        </m:sSup>
                      </m:num>
                      <m:den>
                        <m:r>
                          <a:rPr lang="en-US" sz="2000" b="0" i="1">
                            <a:latin typeface="Cambria Math" panose="02040503050406030204" pitchFamily="18" charset="0"/>
                          </a:rPr>
                          <m:t>𝑛</m:t>
                        </m:r>
                      </m:den>
                    </m:f>
                  </m:oMath>
                </a14:m>
                <a:r>
                  <a:rPr lang="en-US" sz="2000" i="1"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i.e.,  </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Mathematically, </a:t>
                </a:r>
                <a:r>
                  <a:rPr lang="en-US" sz="2000" dirty="0">
                    <a:latin typeface="Arial" panose="020B0604020202020204" pitchFamily="34" charset="0"/>
                    <a:cs typeface="Arial" panose="020B0604020202020204" pitchFamily="34" charset="0"/>
                  </a:rPr>
                  <a:t>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panose="02040503050406030204" pitchFamily="18" charset="0"/>
                          </a:rPr>
                          <m:t>𝑿</m:t>
                        </m:r>
                      </m:e>
                    </m:acc>
                    <m:r>
                      <a:rPr lang="en-US" sz="2000" b="1" i="1">
                        <a:latin typeface="Cambria Math" panose="02040503050406030204" pitchFamily="18" charset="0"/>
                      </a:rPr>
                      <m:t>∼</m:t>
                    </m:r>
                    <m:r>
                      <a:rPr lang="en-US" sz="2000" b="1" i="1">
                        <a:latin typeface="Cambria Math" panose="02040503050406030204" pitchFamily="18" charset="0"/>
                      </a:rPr>
                      <m:t>𝑵</m:t>
                    </m:r>
                    <m:d>
                      <m:dPr>
                        <m:ctrlPr>
                          <a:rPr lang="en-US" sz="2000" b="1" i="1">
                            <a:latin typeface="Cambria Math" panose="02040503050406030204" pitchFamily="18" charset="0"/>
                          </a:rPr>
                        </m:ctrlPr>
                      </m:dPr>
                      <m:e>
                        <m:r>
                          <a:rPr lang="en-US" sz="2000" b="1" i="1">
                            <a:latin typeface="Cambria Math" panose="02040503050406030204" pitchFamily="18" charset="0"/>
                          </a:rPr>
                          <m:t>𝝁</m:t>
                        </m:r>
                        <m:r>
                          <a:rPr lang="en-US" sz="2000" b="1" i="1">
                            <a:latin typeface="Cambria Math" panose="02040503050406030204" pitchFamily="18" charset="0"/>
                          </a:rPr>
                          <m:t>,</m:t>
                        </m:r>
                        <m:f>
                          <m:fPr>
                            <m:ctrlPr>
                              <a:rPr lang="en-US" sz="2000" b="1" i="1">
                                <a:latin typeface="Cambria Math" panose="02040503050406030204" pitchFamily="18" charset="0"/>
                              </a:rPr>
                            </m:ctrlPr>
                          </m:fPr>
                          <m:num>
                            <m:sSup>
                              <m:sSupPr>
                                <m:ctrlPr>
                                  <a:rPr lang="en-US" sz="2000" b="1" i="1">
                                    <a:latin typeface="Cambria Math" panose="02040503050406030204" pitchFamily="18" charset="0"/>
                                  </a:rPr>
                                </m:ctrlPr>
                              </m:sSupPr>
                              <m:e>
                                <m:r>
                                  <a:rPr lang="en-US" sz="2000" b="1" i="1">
                                    <a:latin typeface="Cambria Math" panose="02040503050406030204" pitchFamily="18" charset="0"/>
                                  </a:rPr>
                                  <m:t>𝝈</m:t>
                                </m:r>
                              </m:e>
                              <m:sup>
                                <m:r>
                                  <a:rPr lang="en-US" sz="2000" b="1" i="1">
                                    <a:latin typeface="Cambria Math" panose="02040503050406030204" pitchFamily="18" charset="0"/>
                                  </a:rPr>
                                  <m:t>𝟐</m:t>
                                </m:r>
                              </m:sup>
                            </m:sSup>
                          </m:num>
                          <m:den>
                            <m:r>
                              <a:rPr lang="en-US" sz="2000" b="1" i="1">
                                <a:latin typeface="Cambria Math" panose="02040503050406030204" pitchFamily="18" charset="0"/>
                              </a:rPr>
                              <m:t>𝒏</m:t>
                            </m:r>
                          </m:den>
                        </m:f>
                        <m:r>
                          <a:rPr lang="en-US" sz="2000" b="1" i="1">
                            <a:latin typeface="Cambria Math" panose="02040503050406030204" pitchFamily="18" charset="0"/>
                          </a:rPr>
                          <m:t> </m:t>
                        </m:r>
                      </m:e>
                    </m:d>
                  </m:oMath>
                </a14:m>
                <a:r>
                  <a:rPr lang="en-US" sz="2000" b="1" dirty="0" smtClean="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where mean of </a:t>
                </a:r>
                <a14:m>
                  <m:oMath xmlns:m="http://schemas.openxmlformats.org/officeDocument/2006/math">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r>
                      <a:rPr lang="en-US" sz="2000">
                        <a:latin typeface="Cambria Math" panose="02040503050406030204" pitchFamily="18" charset="0"/>
                      </a:rPr>
                      <m:t>=</m:t>
                    </m:r>
                    <m:r>
                      <a:rPr lang="en-US" sz="2000" i="1">
                        <a:latin typeface="Cambria Math" panose="02040503050406030204" pitchFamily="18" charset="0"/>
                      </a:rPr>
                      <m:t>𝜇</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𝑠𝑒</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 Then, </a:t>
                </a:r>
                <a14:m>
                  <m:oMath xmlns:m="http://schemas.openxmlformats.org/officeDocument/2006/math">
                    <m:r>
                      <m:rPr>
                        <m:sty m:val="p"/>
                      </m:rPr>
                      <a:rPr lang="en-US" sz="2000" b="0" i="0" smtClean="0">
                        <a:latin typeface="Cambria Math" panose="02040503050406030204" pitchFamily="18" charset="0"/>
                        <a:cs typeface="Arial" panose="020B0604020202020204" pitchFamily="34" charset="0"/>
                      </a:rPr>
                      <m:t>Z</m:t>
                    </m:r>
                    <m:r>
                      <a:rPr lang="en-US" sz="2000" b="0" i="0"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i="1">
                            <a:latin typeface="Cambria Math" panose="02040503050406030204" pitchFamily="18" charset="0"/>
                          </a:rPr>
                          <m:t>𝜇</m:t>
                        </m:r>
                      </m:num>
                      <m:den>
                        <m:f>
                          <m:fPr>
                            <m:ctrlPr>
                              <a:rPr lang="en-US" sz="2000" i="1">
                                <a:latin typeface="Cambria Math" panose="02040503050406030204" pitchFamily="18" charset="0"/>
                              </a:rPr>
                            </m:ctrlPr>
                          </m:fPr>
                          <m:num>
                            <m:r>
                              <a:rPr lang="en-US" sz="2000" i="1">
                                <a:latin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oMath>
                </a14:m>
                <a:r>
                  <a:rPr lang="en-US" sz="2000" dirty="0" smtClean="0">
                    <a:latin typeface="Arial" panose="020B0604020202020204" pitchFamily="34" charset="0"/>
                    <a:cs typeface="Arial" panose="020B0604020202020204" pitchFamily="34" charset="0"/>
                  </a:rPr>
                  <a:t> follows standard normal distribution. </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To draw inference for </a:t>
                </a:r>
                <a14:m>
                  <m:oMath xmlns:m="http://schemas.openxmlformats.org/officeDocument/2006/math">
                    <m:r>
                      <a:rPr lang="en-US" sz="2000" i="1">
                        <a:latin typeface="Cambria Math" panose="02040503050406030204" pitchFamily="18" charset="0"/>
                      </a:rPr>
                      <m:t>𝜇</m:t>
                    </m:r>
                  </m:oMath>
                </a14:m>
                <a:r>
                  <a:rPr lang="en-US" sz="2000" dirty="0" smtClean="0">
                    <a:latin typeface="Arial" panose="020B0604020202020204" pitchFamily="34" charset="0"/>
                    <a:cs typeface="Arial" panose="020B0604020202020204" pitchFamily="34" charset="0"/>
                  </a:rPr>
                  <a:t>,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oMath>
                </a14:m>
                <a:r>
                  <a:rPr lang="en-US" sz="2000" dirty="0" smtClean="0">
                    <a:latin typeface="Arial" panose="020B0604020202020204" pitchFamily="34" charset="0"/>
                    <a:cs typeface="Arial" panose="020B0604020202020204" pitchFamily="34" charset="0"/>
                  </a:rPr>
                  <a:t> must be known. </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𝜎</m:t>
                        </m:r>
                      </m:e>
                      <m:sup>
                        <m:r>
                          <a:rPr lang="en-US" sz="2000" i="1">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is unknown, </a:t>
                </a:r>
                <a:r>
                  <a:rPr lang="en-US" sz="2000" dirty="0">
                    <a:latin typeface="Arial" panose="020B0604020202020204" pitchFamily="34" charset="0"/>
                    <a:cs typeface="Arial" panose="020B0604020202020204" pitchFamily="34" charset="0"/>
                  </a:rPr>
                  <a:t>sample variance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𝑠</m:t>
                        </m:r>
                      </m:e>
                      <m:sup>
                        <m:r>
                          <a:rPr lang="en-US" sz="2000" i="1">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can be </a:t>
                </a:r>
                <a:r>
                  <a:rPr lang="en-US" sz="2000" dirty="0" smtClean="0">
                    <a:latin typeface="Arial" panose="020B0604020202020204" pitchFamily="34" charset="0"/>
                    <a:cs typeface="Arial" panose="020B0604020202020204" pitchFamily="34" charset="0"/>
                  </a:rPr>
                  <a:t>used </a:t>
                </a:r>
                <a:r>
                  <a:rPr lang="en-US" sz="2000" dirty="0">
                    <a:latin typeface="Arial" panose="020B0604020202020204" pitchFamily="34" charset="0"/>
                    <a:cs typeface="Arial" panose="020B0604020202020204" pitchFamily="34" charset="0"/>
                  </a:rPr>
                  <a:t>as an estimate of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𝜎</m:t>
                        </m:r>
                      </m:e>
                      <m:sup>
                        <m:r>
                          <a:rPr lang="en-US" sz="2000" i="1">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but in this case         </a:t>
                </a:r>
              </a:p>
              <a:p>
                <a:pPr algn="just">
                  <a:lnSpc>
                    <a:spcPct val="150000"/>
                  </a:lnSpc>
                </a:pP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a:t>
                </a:r>
                <a14:m>
                  <m:oMath xmlns:m="http://schemas.openxmlformats.org/officeDocument/2006/math">
                    <m:r>
                      <m:rPr>
                        <m:sty m:val="p"/>
                      </m:rPr>
                      <a:rPr lang="en-US" sz="2000" dirty="0">
                        <a:latin typeface="Cambria Math" panose="02040503050406030204" pitchFamily="18" charset="0"/>
                        <a:cs typeface="Arial" panose="020B0604020202020204" pitchFamily="34" charset="0"/>
                      </a:rPr>
                      <m:t>T</m:t>
                    </m:r>
                    <m:r>
                      <a:rPr lang="en-US" sz="200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i="1">
                            <a:latin typeface="Cambria Math" panose="02040503050406030204" pitchFamily="18" charset="0"/>
                          </a:rPr>
                          <m:t>𝜇</m:t>
                        </m:r>
                      </m:num>
                      <m:den>
                        <m:f>
                          <m:fPr>
                            <m:ctrlPr>
                              <a:rPr lang="en-US" sz="2000" i="1">
                                <a:latin typeface="Cambria Math" panose="02040503050406030204" pitchFamily="18" charset="0"/>
                              </a:rPr>
                            </m:ctrlPr>
                          </m:fPr>
                          <m:num>
                            <m:r>
                              <a:rPr lang="en-US" sz="2000" b="0" i="1" smtClean="0">
                                <a:latin typeface="Cambria Math" panose="02040503050406030204" pitchFamily="18" charset="0"/>
                              </a:rPr>
                              <m:t>𝑠</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r>
                      <a:rPr lang="en-US" sz="2000" b="1" i="1" smtClean="0">
                        <a:latin typeface="Cambria Math" panose="02040503050406030204" pitchFamily="18" charset="0"/>
                      </a:rPr>
                      <m:t>~</m:t>
                    </m:r>
                    <m:r>
                      <a:rPr lang="en-US" sz="2000" b="0" i="0" smtClean="0">
                        <a:latin typeface="Cambria Math" panose="02040503050406030204" pitchFamily="18" charset="0"/>
                      </a:rPr>
                      <m:t> </m:t>
                    </m:r>
                  </m:oMath>
                </a14:m>
                <a:r>
                  <a:rPr lang="en-US" sz="2000" dirty="0" smtClean="0">
                    <a:latin typeface="Arial" panose="020B0604020202020204" pitchFamily="34" charset="0"/>
                    <a:cs typeface="Arial" panose="020B0604020202020204" pitchFamily="34" charset="0"/>
                  </a:rPr>
                  <a:t>t-distribution with </a:t>
                </a:r>
                <a14:m>
                  <m:oMath xmlns:m="http://schemas.openxmlformats.org/officeDocument/2006/math">
                    <m:r>
                      <a:rPr lang="en-US" sz="2000" b="0" i="1" smtClean="0">
                        <a:latin typeface="Cambria Math" panose="02040503050406030204" pitchFamily="18" charset="0"/>
                        <a:cs typeface="Arial" panose="020B0604020202020204" pitchFamily="34" charset="0"/>
                      </a:rPr>
                      <m:t>𝑛</m:t>
                    </m:r>
                    <m:r>
                      <a:rPr lang="en-US" sz="2000" b="0" i="1" smtClean="0">
                        <a:latin typeface="Cambria Math" panose="02040503050406030204" pitchFamily="18" charset="0"/>
                        <a:cs typeface="Arial" panose="020B0604020202020204" pitchFamily="34" charset="0"/>
                      </a:rPr>
                      <m:t>−1</m:t>
                    </m:r>
                  </m:oMath>
                </a14:m>
                <a:r>
                  <a:rPr lang="en-US" sz="2000" dirty="0" smtClean="0">
                    <a:latin typeface="Arial" panose="020B0604020202020204" pitchFamily="34" charset="0"/>
                    <a:cs typeface="Arial" panose="020B0604020202020204" pitchFamily="34" charset="0"/>
                  </a:rPr>
                  <a:t> degrees of freedom (</a:t>
                </a:r>
                <a:r>
                  <a:rPr lang="en-US" sz="2000" dirty="0" err="1" smtClean="0">
                    <a:latin typeface="Arial" panose="020B0604020202020204" pitchFamily="34" charset="0"/>
                    <a:cs typeface="Arial" panose="020B0604020202020204" pitchFamily="34" charset="0"/>
                  </a:rPr>
                  <a:t>df</a:t>
                </a:r>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5917799"/>
              </a:xfrm>
              <a:blipFill rotWithShape="0">
                <a:blip r:embed="rId2"/>
                <a:stretch>
                  <a:fillRect l="-491" r="-600"/>
                </a:stretch>
              </a:blipFill>
            </p:spPr>
            <p:txBody>
              <a:bodyPr/>
              <a:lstStyle/>
              <a:p>
                <a:r>
                  <a:rPr lang="en-US">
                    <a:noFill/>
                  </a:rPr>
                  <a:t> </a:t>
                </a:r>
              </a:p>
            </p:txBody>
          </p:sp>
        </mc:Fallback>
      </mc:AlternateContent>
    </p:spTree>
    <p:extLst>
      <p:ext uri="{BB962C8B-B14F-4D97-AF65-F5344CB8AC3E}">
        <p14:creationId xmlns:p14="http://schemas.microsoft.com/office/powerpoint/2010/main" val="18974343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a:latin typeface="Arial" panose="020B0604020202020204" pitchFamily="34" charset="0"/>
                <a:cs typeface="Arial" panose="020B0604020202020204" pitchFamily="34" charset="0"/>
              </a:rPr>
              <a:t>The Central Limit Theorem (CLT)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6089250"/>
              </a:xfrm>
            </p:spPr>
            <p:txBody>
              <a:bodyPr>
                <a:noAutofit/>
              </a:bodyPr>
              <a:lstStyle/>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If </a:t>
                </a:r>
                <a:r>
                  <a:rPr lang="en-US" sz="2000" dirty="0">
                    <a:latin typeface="Arial" panose="020B0604020202020204" pitchFamily="34" charset="0"/>
                    <a:cs typeface="Arial" panose="020B0604020202020204" pitchFamily="34" charset="0"/>
                  </a:rPr>
                  <a:t>all samples of size </a:t>
                </a:r>
                <a14:m>
                  <m:oMath xmlns:m="http://schemas.openxmlformats.org/officeDocument/2006/math">
                    <m:r>
                      <a:rPr lang="en-US" sz="2000" i="1">
                        <a:latin typeface="Cambria Math" panose="02040503050406030204" pitchFamily="18" charset="0"/>
                      </a:rPr>
                      <m:t>𝑛</m:t>
                    </m:r>
                    <m:r>
                      <a:rPr lang="en-US" sz="2000">
                        <a:latin typeface="Cambria Math" panose="02040503050406030204" pitchFamily="18" charset="0"/>
                      </a:rPr>
                      <m:t> </m:t>
                    </m:r>
                  </m:oMath>
                </a14:m>
                <a:r>
                  <a:rPr lang="en-US" sz="2000" dirty="0">
                    <a:latin typeface="Arial" panose="020B0604020202020204" pitchFamily="34" charset="0"/>
                    <a:cs typeface="Arial" panose="020B0604020202020204" pitchFamily="34" charset="0"/>
                  </a:rPr>
                  <a:t>(</a:t>
                </a:r>
                <a14:m>
                  <m:oMath xmlns:m="http://schemas.openxmlformats.org/officeDocument/2006/math">
                    <m:r>
                      <a:rPr lang="en-US" sz="2000" i="1">
                        <a:latin typeface="Cambria Math" panose="02040503050406030204" pitchFamily="18" charset="0"/>
                      </a:rPr>
                      <m:t>𝑛</m:t>
                    </m:r>
                  </m:oMath>
                </a14:m>
                <a:r>
                  <a:rPr lang="en-US" sz="2000" dirty="0">
                    <a:latin typeface="Arial" panose="020B0604020202020204" pitchFamily="34" charset="0"/>
                    <a:cs typeface="Arial" panose="020B0604020202020204" pitchFamily="34" charset="0"/>
                  </a:rPr>
                  <a:t> is sufficiently large i.e., </a:t>
                </a:r>
                <a14:m>
                  <m:oMath xmlns:m="http://schemas.openxmlformats.org/officeDocument/2006/math">
                    <m:r>
                      <a:rPr lang="en-US" sz="2000" i="1">
                        <a:latin typeface="Cambria Math" panose="02040503050406030204" pitchFamily="18" charset="0"/>
                      </a:rPr>
                      <m:t>𝑛</m:t>
                    </m:r>
                    <m:r>
                      <a:rPr lang="en-US" sz="2000">
                        <a:latin typeface="Cambria Math" panose="02040503050406030204" pitchFamily="18" charset="0"/>
                      </a:rPr>
                      <m:t>≥30</m:t>
                    </m:r>
                  </m:oMath>
                </a14:m>
                <a:r>
                  <a:rPr lang="en-US" sz="2000" dirty="0">
                    <a:latin typeface="Arial" panose="020B0604020202020204" pitchFamily="34" charset="0"/>
                    <a:cs typeface="Arial" panose="020B0604020202020204" pitchFamily="34" charset="0"/>
                  </a:rPr>
                  <a:t>) are selected from </a:t>
                </a:r>
                <a:r>
                  <a:rPr lang="en-US" sz="2000" b="1" i="1" dirty="0">
                    <a:latin typeface="Arial" panose="020B0604020202020204" pitchFamily="34" charset="0"/>
                    <a:cs typeface="Arial" panose="020B0604020202020204" pitchFamily="34" charset="0"/>
                  </a:rPr>
                  <a:t>any population </a:t>
                </a:r>
                <a:r>
                  <a:rPr lang="en-US" sz="2000" i="1" dirty="0">
                    <a:latin typeface="Arial" panose="020B0604020202020204" pitchFamily="34" charset="0"/>
                    <a:cs typeface="Arial" panose="020B0604020202020204" pitchFamily="34" charset="0"/>
                  </a:rPr>
                  <a:t>with mean </a:t>
                </a:r>
                <a14:m>
                  <m:oMath xmlns:m="http://schemas.openxmlformats.org/officeDocument/2006/math">
                    <m:r>
                      <a:rPr lang="en-US" sz="2000" b="0" i="1">
                        <a:latin typeface="Cambria Math" panose="02040503050406030204" pitchFamily="18" charset="0"/>
                      </a:rPr>
                      <m:t>𝜇</m:t>
                    </m:r>
                  </m:oMath>
                </a14:m>
                <a:r>
                  <a:rPr lang="en-US" sz="2000" i="1" dirty="0">
                    <a:latin typeface="Arial" panose="020B0604020202020204" pitchFamily="34" charset="0"/>
                    <a:cs typeface="Arial" panose="020B0604020202020204" pitchFamily="34" charset="0"/>
                  </a:rPr>
                  <a:t> and variance </a:t>
                </a:r>
                <a14:m>
                  <m:oMath xmlns:m="http://schemas.openxmlformats.org/officeDocument/2006/math">
                    <m:sSup>
                      <m:sSupPr>
                        <m:ctrlPr>
                          <a:rPr lang="en-US" sz="2000" i="1">
                            <a:latin typeface="Cambria Math" panose="02040503050406030204" pitchFamily="18" charset="0"/>
                          </a:rPr>
                        </m:ctrlPr>
                      </m:sSupPr>
                      <m:e>
                        <m:r>
                          <a:rPr lang="en-US" sz="2000" b="0" i="1">
                            <a:latin typeface="Cambria Math" panose="02040503050406030204" pitchFamily="18" charset="0"/>
                          </a:rPr>
                          <m:t>𝜎</m:t>
                        </m:r>
                      </m:e>
                      <m:sup>
                        <m:r>
                          <a:rPr lang="en-US" sz="2000" b="0" i="1">
                            <a:latin typeface="Cambria Math" panose="02040503050406030204" pitchFamily="18" charset="0"/>
                          </a:rPr>
                          <m:t>2</m:t>
                        </m:r>
                      </m:sup>
                    </m:sSup>
                  </m:oMath>
                </a14:m>
                <a:r>
                  <a:rPr lang="en-US" sz="2000" dirty="0">
                    <a:latin typeface="Arial" panose="020B0604020202020204" pitchFamily="34" charset="0"/>
                    <a:cs typeface="Arial" panose="020B0604020202020204" pitchFamily="34" charset="0"/>
                  </a:rPr>
                  <a:t>, the </a:t>
                </a:r>
                <a:r>
                  <a:rPr lang="en-US" sz="2000" i="1" dirty="0">
                    <a:latin typeface="Arial" panose="020B0604020202020204" pitchFamily="34" charset="0"/>
                    <a:cs typeface="Arial" panose="020B0604020202020204" pitchFamily="34" charset="0"/>
                  </a:rPr>
                  <a:t>sampling distribution of the sample mean is approximately normal with mean </a:t>
                </a:r>
                <a14:m>
                  <m:oMath xmlns:m="http://schemas.openxmlformats.org/officeDocument/2006/math">
                    <m:r>
                      <a:rPr lang="en-US" sz="2000" b="0" i="1">
                        <a:latin typeface="Cambria Math" panose="02040503050406030204" pitchFamily="18" charset="0"/>
                      </a:rPr>
                      <m:t>𝜇</m:t>
                    </m:r>
                  </m:oMath>
                </a14:m>
                <a:r>
                  <a:rPr lang="en-US" sz="2000" i="1" dirty="0">
                    <a:latin typeface="Arial" panose="020B0604020202020204" pitchFamily="34" charset="0"/>
                    <a:cs typeface="Arial" panose="020B0604020202020204" pitchFamily="34" charset="0"/>
                  </a:rPr>
                  <a:t> and variance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b="0" i="1">
                                <a:latin typeface="Cambria Math" panose="02040503050406030204" pitchFamily="18" charset="0"/>
                              </a:rPr>
                              <m:t>𝜎</m:t>
                            </m:r>
                          </m:e>
                          <m:sup>
                            <m:r>
                              <a:rPr lang="en-US" sz="2000" b="0" i="1">
                                <a:latin typeface="Cambria Math" panose="02040503050406030204" pitchFamily="18" charset="0"/>
                              </a:rPr>
                              <m:t>2</m:t>
                            </m:r>
                          </m:sup>
                        </m:sSup>
                      </m:num>
                      <m:den>
                        <m:r>
                          <a:rPr lang="en-US" sz="2000" b="0" i="1">
                            <a:latin typeface="Cambria Math" panose="02040503050406030204" pitchFamily="18" charset="0"/>
                          </a:rPr>
                          <m:t>𝑛</m:t>
                        </m:r>
                      </m:den>
                    </m:f>
                  </m:oMath>
                </a14:m>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This approximation improves with </a:t>
                </a:r>
                <a:r>
                  <a:rPr lang="en-US" sz="2000" dirty="0" smtClean="0">
                    <a:latin typeface="Arial" panose="020B0604020202020204" pitchFamily="34" charset="0"/>
                    <a:cs typeface="Arial" panose="020B0604020202020204" pitchFamily="34" charset="0"/>
                  </a:rPr>
                  <a:t>larger i.e., for large </a:t>
                </a:r>
                <a14:m>
                  <m:oMath xmlns:m="http://schemas.openxmlformats.org/officeDocument/2006/math">
                    <m:r>
                      <a:rPr lang="en-US" sz="2000" i="1">
                        <a:latin typeface="Cambria Math" panose="02040503050406030204" pitchFamily="18" charset="0"/>
                      </a:rPr>
                      <m:t>𝑛</m:t>
                    </m:r>
                  </m:oMath>
                </a14:m>
                <a:r>
                  <a:rPr lang="en-US" sz="2000" dirty="0" smtClean="0">
                    <a:latin typeface="Arial" panose="020B0604020202020204" pitchFamily="34" charset="0"/>
                    <a:cs typeface="Arial" panose="020B0604020202020204" pitchFamily="34" charset="0"/>
                  </a:rPr>
                  <a:t>,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panose="02040503050406030204" pitchFamily="18" charset="0"/>
                          </a:rPr>
                          <m:t>𝑿</m:t>
                        </m:r>
                      </m:e>
                    </m:acc>
                    <m:r>
                      <a:rPr lang="en-US" sz="2000" b="1" i="1">
                        <a:latin typeface="Cambria Math" panose="02040503050406030204" pitchFamily="18" charset="0"/>
                      </a:rPr>
                      <m:t>∼</m:t>
                    </m:r>
                    <m:r>
                      <a:rPr lang="en-US" sz="2000" b="1" i="1">
                        <a:latin typeface="Cambria Math" panose="02040503050406030204" pitchFamily="18" charset="0"/>
                      </a:rPr>
                      <m:t>𝑵</m:t>
                    </m:r>
                    <m:d>
                      <m:dPr>
                        <m:ctrlPr>
                          <a:rPr lang="en-US" sz="2000" b="1" i="1">
                            <a:latin typeface="Cambria Math" panose="02040503050406030204" pitchFamily="18" charset="0"/>
                          </a:rPr>
                        </m:ctrlPr>
                      </m:dPr>
                      <m:e>
                        <m:r>
                          <a:rPr lang="en-US" sz="2000" b="1" i="1">
                            <a:latin typeface="Cambria Math" panose="02040503050406030204" pitchFamily="18" charset="0"/>
                          </a:rPr>
                          <m:t>𝝁</m:t>
                        </m:r>
                        <m:r>
                          <a:rPr lang="en-US" sz="2000" b="1" i="1">
                            <a:latin typeface="Cambria Math" panose="02040503050406030204" pitchFamily="18" charset="0"/>
                          </a:rPr>
                          <m:t>,</m:t>
                        </m:r>
                        <m:f>
                          <m:fPr>
                            <m:ctrlPr>
                              <a:rPr lang="en-US" sz="2000" b="1" i="1">
                                <a:latin typeface="Cambria Math" panose="02040503050406030204" pitchFamily="18" charset="0"/>
                              </a:rPr>
                            </m:ctrlPr>
                          </m:fPr>
                          <m:num>
                            <m:sSup>
                              <m:sSupPr>
                                <m:ctrlPr>
                                  <a:rPr lang="en-US" sz="2000" b="1" i="1">
                                    <a:latin typeface="Cambria Math" panose="02040503050406030204" pitchFamily="18" charset="0"/>
                                  </a:rPr>
                                </m:ctrlPr>
                              </m:sSupPr>
                              <m:e>
                                <m:r>
                                  <a:rPr lang="en-US" sz="2000" b="1" i="1">
                                    <a:latin typeface="Cambria Math" panose="02040503050406030204" pitchFamily="18" charset="0"/>
                                  </a:rPr>
                                  <m:t>𝝈</m:t>
                                </m:r>
                              </m:e>
                              <m:sup>
                                <m:r>
                                  <a:rPr lang="en-US" sz="2000" b="1" i="1">
                                    <a:latin typeface="Cambria Math" panose="02040503050406030204" pitchFamily="18" charset="0"/>
                                  </a:rPr>
                                  <m:t>𝟐</m:t>
                                </m:r>
                              </m:sup>
                            </m:sSup>
                          </m:num>
                          <m:den>
                            <m:r>
                              <a:rPr lang="en-US" sz="2000" b="1" i="1">
                                <a:latin typeface="Cambria Math" panose="02040503050406030204" pitchFamily="18" charset="0"/>
                              </a:rPr>
                              <m:t>𝒏</m:t>
                            </m:r>
                          </m:den>
                        </m:f>
                        <m:r>
                          <a:rPr lang="en-US" sz="2000" b="1" i="1">
                            <a:latin typeface="Cambria Math" panose="02040503050406030204" pitchFamily="18" charset="0"/>
                          </a:rPr>
                          <m:t> </m:t>
                        </m:r>
                      </m:e>
                    </m:d>
                  </m:oMath>
                </a14:m>
                <a:r>
                  <a:rPr lang="en-US" sz="2000" dirty="0" smtClean="0">
                    <a:latin typeface="Arial" panose="020B0604020202020204" pitchFamily="34" charset="0"/>
                    <a:cs typeface="Arial" panose="020B0604020202020204" pitchFamily="34" charset="0"/>
                  </a:rPr>
                  <a:t> </a:t>
                </a: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For CLT, if </a:t>
                </a:r>
                <a14:m>
                  <m:oMath xmlns:m="http://schemas.openxmlformats.org/officeDocument/2006/math">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smtClean="0">
                    <a:latin typeface="Arial" panose="020B0604020202020204" pitchFamily="34" charset="0"/>
                    <a:cs typeface="Arial" panose="020B0604020202020204" pitchFamily="34" charset="0"/>
                  </a:rPr>
                  <a:t> is unknown, sample variance (</a:t>
                </a:r>
                <a14:m>
                  <m:oMath xmlns:m="http://schemas.openxmlformats.org/officeDocument/2006/math">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𝑠</m:t>
                        </m:r>
                      </m:e>
                      <m:sup>
                        <m:r>
                          <a:rPr lang="en-US" sz="2000" b="0" i="1" smtClean="0">
                            <a:latin typeface="Cambria Math" panose="02040503050406030204" pitchFamily="18" charset="0"/>
                            <a:cs typeface="Arial" panose="020B0604020202020204" pitchFamily="34" charset="0"/>
                          </a:rPr>
                          <m:t>2</m:t>
                        </m:r>
                      </m:sup>
                    </m:sSup>
                  </m:oMath>
                </a14:m>
                <a:r>
                  <a:rPr lang="en-US" sz="2000" dirty="0" smtClean="0">
                    <a:latin typeface="Arial" panose="020B0604020202020204" pitchFamily="34" charset="0"/>
                    <a:cs typeface="Arial" panose="020B0604020202020204" pitchFamily="34" charset="0"/>
                  </a:rPr>
                  <a:t>) can be use as an estimate of </a:t>
                </a:r>
                <a14:m>
                  <m:oMath xmlns:m="http://schemas.openxmlformats.org/officeDocument/2006/math">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cs typeface="Arial" panose="020B0604020202020204" pitchFamily="34" charset="0"/>
                          </a:rPr>
                          <m:t>𝜎</m:t>
                        </m:r>
                      </m:e>
                      <m:sup>
                        <m:r>
                          <a:rPr lang="en-US" sz="2000" i="1">
                            <a:latin typeface="Cambria Math" panose="02040503050406030204" pitchFamily="18" charset="0"/>
                            <a:cs typeface="Arial" panose="020B0604020202020204" pitchFamily="34" charset="0"/>
                          </a:rPr>
                          <m:t>2</m:t>
                        </m:r>
                      </m:sup>
                    </m:sSup>
                  </m:oMath>
                </a14:m>
                <a:r>
                  <a:rPr lang="en-US" sz="2000" dirty="0" smtClean="0">
                    <a:latin typeface="Arial" panose="020B0604020202020204" pitchFamily="34" charset="0"/>
                    <a:cs typeface="Arial" panose="020B0604020202020204" pitchFamily="34" charset="0"/>
                  </a:rPr>
                  <a:t>. But if this case </a:t>
                </a:r>
                <a14:m>
                  <m:oMath xmlns:m="http://schemas.openxmlformats.org/officeDocument/2006/math">
                    <m:acc>
                      <m:accPr>
                        <m:chr m:val="̅"/>
                        <m:ctrlPr>
                          <a:rPr lang="en-US" sz="2000" b="1" i="1">
                            <a:latin typeface="Cambria Math" panose="02040503050406030204" pitchFamily="18" charset="0"/>
                          </a:rPr>
                        </m:ctrlPr>
                      </m:accPr>
                      <m:e>
                        <m:r>
                          <a:rPr lang="en-US" sz="2000" b="1" i="1">
                            <a:latin typeface="Cambria Math" panose="02040503050406030204" pitchFamily="18" charset="0"/>
                          </a:rPr>
                          <m:t>𝑿</m:t>
                        </m:r>
                      </m:e>
                    </m:acc>
                    <m:r>
                      <a:rPr lang="en-US" sz="2000" b="1" i="1">
                        <a:latin typeface="Cambria Math" panose="02040503050406030204" pitchFamily="18" charset="0"/>
                      </a:rPr>
                      <m:t>∼</m:t>
                    </m:r>
                    <m:r>
                      <a:rPr lang="en-US" sz="2000" b="1" i="1">
                        <a:latin typeface="Cambria Math" panose="02040503050406030204" pitchFamily="18" charset="0"/>
                      </a:rPr>
                      <m:t>𝑵</m:t>
                    </m:r>
                    <m:d>
                      <m:dPr>
                        <m:ctrlPr>
                          <a:rPr lang="en-US" sz="2000" b="1" i="1">
                            <a:latin typeface="Cambria Math" panose="02040503050406030204" pitchFamily="18" charset="0"/>
                          </a:rPr>
                        </m:ctrlPr>
                      </m:dPr>
                      <m:e>
                        <m:r>
                          <a:rPr lang="en-US" sz="2000" b="1" i="1">
                            <a:latin typeface="Cambria Math" panose="02040503050406030204" pitchFamily="18" charset="0"/>
                          </a:rPr>
                          <m:t>𝝁</m:t>
                        </m:r>
                        <m:r>
                          <a:rPr lang="en-US" sz="2000" b="1" i="1">
                            <a:latin typeface="Cambria Math" panose="02040503050406030204" pitchFamily="18" charset="0"/>
                          </a:rPr>
                          <m:t>,</m:t>
                        </m:r>
                        <m:f>
                          <m:fPr>
                            <m:ctrlPr>
                              <a:rPr lang="en-US" sz="2000" b="1" i="1">
                                <a:latin typeface="Cambria Math" panose="02040503050406030204" pitchFamily="18" charset="0"/>
                              </a:rPr>
                            </m:ctrlPr>
                          </m:fPr>
                          <m:num>
                            <m:sSup>
                              <m:sSupPr>
                                <m:ctrlPr>
                                  <a:rPr lang="en-US" sz="2000" b="1" i="1">
                                    <a:latin typeface="Cambria Math" panose="02040503050406030204" pitchFamily="18" charset="0"/>
                                  </a:rPr>
                                </m:ctrlPr>
                              </m:sSupPr>
                              <m:e>
                                <m:r>
                                  <a:rPr lang="en-US" sz="2000" b="1" i="1" smtClean="0">
                                    <a:latin typeface="Cambria Math" panose="02040503050406030204" pitchFamily="18" charset="0"/>
                                  </a:rPr>
                                  <m:t>𝒔</m:t>
                                </m:r>
                              </m:e>
                              <m:sup>
                                <m:r>
                                  <a:rPr lang="en-US" sz="2000" b="1" i="1">
                                    <a:latin typeface="Cambria Math" panose="02040503050406030204" pitchFamily="18" charset="0"/>
                                  </a:rPr>
                                  <m:t>𝟐</m:t>
                                </m:r>
                              </m:sup>
                            </m:sSup>
                          </m:num>
                          <m:den>
                            <m:r>
                              <a:rPr lang="en-US" sz="2000" b="1" i="1">
                                <a:latin typeface="Cambria Math" panose="02040503050406030204" pitchFamily="18" charset="0"/>
                              </a:rPr>
                              <m:t>𝒏</m:t>
                            </m:r>
                          </m:den>
                        </m:f>
                        <m:r>
                          <a:rPr lang="en-US" sz="2000" b="1" i="1">
                            <a:latin typeface="Cambria Math" panose="02040503050406030204" pitchFamily="18" charset="0"/>
                          </a:rPr>
                          <m:t> </m:t>
                        </m:r>
                      </m:e>
                    </m:d>
                  </m:oMath>
                </a14:m>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 Then, </a:t>
                </a:r>
                <a14:m>
                  <m:oMath xmlns:m="http://schemas.openxmlformats.org/officeDocument/2006/math">
                    <m:r>
                      <m:rPr>
                        <m:sty m:val="p"/>
                      </m:rPr>
                      <a:rPr lang="en-US" sz="2000">
                        <a:latin typeface="Cambria Math" panose="02040503050406030204" pitchFamily="18" charset="0"/>
                        <a:cs typeface="Arial" panose="020B0604020202020204" pitchFamily="34" charset="0"/>
                      </a:rPr>
                      <m:t>Z</m:t>
                    </m:r>
                    <m:r>
                      <a:rPr lang="en-US" sz="200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i="1">
                            <a:latin typeface="Cambria Math" panose="02040503050406030204" pitchFamily="18" charset="0"/>
                          </a:rPr>
                          <m:t>𝜇</m:t>
                        </m:r>
                      </m:num>
                      <m:den>
                        <m:f>
                          <m:fPr>
                            <m:ctrlPr>
                              <a:rPr lang="en-US" sz="2000" i="1">
                                <a:latin typeface="Cambria Math" panose="02040503050406030204" pitchFamily="18" charset="0"/>
                              </a:rPr>
                            </m:ctrlPr>
                          </m:fPr>
                          <m:num>
                            <m:r>
                              <a:rPr lang="en-US" sz="2000" b="0" i="1" smtClean="0">
                                <a:latin typeface="Cambria Math" panose="02040503050406030204" pitchFamily="18" charset="0"/>
                              </a:rPr>
                              <m:t>𝑠</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oMath>
                </a14:m>
                <a:r>
                  <a:rPr lang="en-US" sz="2000" dirty="0">
                    <a:latin typeface="Arial" panose="020B0604020202020204" pitchFamily="34" charset="0"/>
                    <a:cs typeface="Arial" panose="020B0604020202020204" pitchFamily="34" charset="0"/>
                  </a:rPr>
                  <a:t> follows standard normal distribution. </a:t>
                </a: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For </a:t>
                </a:r>
                <a:r>
                  <a:rPr lang="en-US" sz="2000" dirty="0">
                    <a:latin typeface="Arial" panose="020B0604020202020204" pitchFamily="34" charset="0"/>
                    <a:cs typeface="Arial" panose="020B0604020202020204" pitchFamily="34" charset="0"/>
                  </a:rPr>
                  <a:t>example, if a sample is selected from a </a:t>
                </a:r>
                <a:r>
                  <a:rPr lang="en-US" sz="2000" b="1" dirty="0">
                    <a:latin typeface="Arial" panose="020B0604020202020204" pitchFamily="34" charset="0"/>
                    <a:cs typeface="Arial" panose="020B0604020202020204" pitchFamily="34" charset="0"/>
                  </a:rPr>
                  <a:t>Bernoulli population</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then </a:t>
                </a:r>
                <a:r>
                  <a:rPr lang="en-US" sz="2000" dirty="0">
                    <a:latin typeface="Arial" panose="020B0604020202020204" pitchFamily="34" charset="0"/>
                    <a:cs typeface="Arial" panose="020B0604020202020204" pitchFamily="34" charset="0"/>
                  </a:rPr>
                  <a:t>for large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oMath>
                </a14:m>
                <a:r>
                  <a:rPr lang="en-US" sz="2000" dirty="0" smtClean="0">
                    <a:latin typeface="Arial" panose="020B0604020202020204" pitchFamily="34" charset="0"/>
                    <a:cs typeface="Arial" panose="020B0604020202020204" pitchFamily="34" charset="0"/>
                  </a:rPr>
                  <a:t>, we have </a:t>
                </a:r>
              </a:p>
              <a:p>
                <a:pPr algn="just">
                  <a:lnSpc>
                    <a:spcPct val="150000"/>
                  </a:lnSpc>
                </a:pPr>
                <a14:m>
                  <m:oMath xmlns:m="http://schemas.openxmlformats.org/officeDocument/2006/math">
                    <m:r>
                      <m:rPr>
                        <m:sty m:val="p"/>
                      </m:rPr>
                      <a:rPr lang="en-US" sz="2000" b="0" i="0" smtClean="0">
                        <a:latin typeface="Cambria Math" panose="02040503050406030204" pitchFamily="18" charset="0"/>
                        <a:cs typeface="Arial" panose="020B0604020202020204" pitchFamily="34" charset="0"/>
                      </a:rPr>
                      <m:t>Z</m:t>
                    </m:r>
                    <m:r>
                      <a:rPr lang="en-US" sz="2000" b="0" i="0" smtClean="0">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𝑝</m:t>
                        </m:r>
                        <m:r>
                          <a:rPr lang="en-US" sz="2000" i="1">
                            <a:latin typeface="Cambria Math" panose="02040503050406030204" pitchFamily="18" charset="0"/>
                          </a:rPr>
                          <m:t>−</m:t>
                        </m:r>
                        <m:r>
                          <a:rPr lang="en-US" sz="2000" b="0" i="1" smtClean="0">
                            <a:latin typeface="Cambria Math" panose="02040503050406030204" pitchFamily="18" charset="0"/>
                          </a:rPr>
                          <m:t>𝜋</m:t>
                        </m:r>
                      </m:num>
                      <m:den>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panose="02040503050406030204" pitchFamily="18" charset="0"/>
                                  </a:rPr>
                                  <m:t>𝑝</m:t>
                                </m:r>
                                <m:r>
                                  <a:rPr lang="en-US" sz="2000" i="1">
                                    <a:latin typeface="Cambria Math" panose="02040503050406030204" pitchFamily="18" charset="0"/>
                                  </a:rPr>
                                  <m:t>(1−</m:t>
                                </m:r>
                                <m:r>
                                  <a:rPr lang="en-US" sz="2000" i="1">
                                    <a:latin typeface="Cambria Math" panose="02040503050406030204" pitchFamily="18" charset="0"/>
                                  </a:rPr>
                                  <m:t>𝑝</m:t>
                                </m:r>
                                <m:r>
                                  <a:rPr lang="en-US" sz="2000" i="1">
                                    <a:latin typeface="Cambria Math" panose="02040503050406030204" pitchFamily="18" charset="0"/>
                                  </a:rPr>
                                  <m:t>)</m:t>
                                </m:r>
                              </m:num>
                              <m:den>
                                <m:r>
                                  <a:rPr lang="en-US" sz="2000" i="1">
                                    <a:latin typeface="Cambria Math" panose="02040503050406030204" pitchFamily="18" charset="0"/>
                                  </a:rPr>
                                  <m:t>𝑛</m:t>
                                </m:r>
                              </m:den>
                            </m:f>
                          </m:e>
                        </m:rad>
                      </m:den>
                    </m:f>
                  </m:oMath>
                </a14:m>
                <a:r>
                  <a:rPr lang="en-US" sz="2000" dirty="0" smtClean="0">
                    <a:latin typeface="Arial" panose="020B0604020202020204" pitchFamily="34" charset="0"/>
                    <a:cs typeface="Arial" panose="020B0604020202020204" pitchFamily="34" charset="0"/>
                  </a:rPr>
                  <a:t> follows </a:t>
                </a:r>
                <a:r>
                  <a:rPr lang="en-US" sz="2000" dirty="0">
                    <a:latin typeface="Arial" panose="020B0604020202020204" pitchFamily="34" charset="0"/>
                    <a:cs typeface="Arial" panose="020B0604020202020204" pitchFamily="34" charset="0"/>
                  </a:rPr>
                  <a:t>standard normal </a:t>
                </a:r>
                <a:r>
                  <a:rPr lang="en-US" sz="2000" dirty="0" smtClean="0">
                    <a:latin typeface="Arial" panose="020B0604020202020204" pitchFamily="34" charset="0"/>
                    <a:cs typeface="Arial" panose="020B0604020202020204" pitchFamily="34" charset="0"/>
                  </a:rPr>
                  <a:t>distribution.</a:t>
                </a:r>
                <a:r>
                  <a:rPr lang="en-US" sz="2000" dirty="0">
                    <a:latin typeface="Arial" panose="020B0604020202020204" pitchFamily="34" charset="0"/>
                    <a:cs typeface="Arial" panose="020B0604020202020204" pitchFamily="34" charset="0"/>
                  </a:rPr>
                  <a:t> I</a:t>
                </a:r>
                <a:r>
                  <a:rPr lang="en-US" sz="2000" dirty="0" smtClean="0">
                    <a:latin typeface="Arial" panose="020B0604020202020204" pitchFamily="34" charset="0"/>
                    <a:cs typeface="Arial" panose="020B0604020202020204" pitchFamily="34" charset="0"/>
                  </a:rPr>
                  <a:t>n </a:t>
                </a:r>
                <a:r>
                  <a:rPr lang="en-US" sz="2000" dirty="0">
                    <a:latin typeface="Arial" panose="020B0604020202020204" pitchFamily="34" charset="0"/>
                    <a:cs typeface="Arial" panose="020B0604020202020204" pitchFamily="34" charset="0"/>
                  </a:rPr>
                  <a:t>this case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oMath>
                </a14:m>
                <a:r>
                  <a:rPr lang="en-US" sz="2000" dirty="0">
                    <a:latin typeface="Arial" panose="020B0604020202020204" pitchFamily="34" charset="0"/>
                    <a:cs typeface="Arial" panose="020B0604020202020204" pitchFamily="34" charset="0"/>
                  </a:rPr>
                  <a:t> is known as sample proportion and denoted by </a:t>
                </a:r>
                <a14:m>
                  <m:oMath xmlns:m="http://schemas.openxmlformats.org/officeDocument/2006/math">
                    <m:r>
                      <a:rPr lang="en-US" sz="2000" i="1">
                        <a:latin typeface="Cambria Math" panose="02040503050406030204" pitchFamily="18" charset="0"/>
                      </a:rPr>
                      <m:t>𝑝</m:t>
                    </m:r>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Thus the population proportion </a:t>
                </a:r>
                <a14:m>
                  <m:oMath xmlns:m="http://schemas.openxmlformats.org/officeDocument/2006/math">
                    <m:r>
                      <a:rPr lang="en-US" sz="2000" i="1">
                        <a:latin typeface="Cambria Math" panose="02040503050406030204" pitchFamily="18" charset="0"/>
                      </a:rPr>
                      <m:t>𝜋</m:t>
                    </m:r>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is estimated </a:t>
                </a:r>
                <a:r>
                  <a:rPr lang="en-US" sz="2000" dirty="0">
                    <a:latin typeface="Arial" panose="020B0604020202020204" pitchFamily="34" charset="0"/>
                    <a:cs typeface="Arial" panose="020B0604020202020204" pitchFamily="34" charset="0"/>
                  </a:rPr>
                  <a:t>by </a:t>
                </a:r>
                <a14:m>
                  <m:oMath xmlns:m="http://schemas.openxmlformats.org/officeDocument/2006/math">
                    <m:r>
                      <a:rPr lang="en-US" sz="2000" i="1">
                        <a:latin typeface="Cambria Math" panose="02040503050406030204" pitchFamily="18" charset="0"/>
                      </a:rPr>
                      <m:t>𝑝</m:t>
                    </m:r>
                  </m:oMath>
                </a14:m>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6089250"/>
              </a:xfrm>
              <a:blipFill rotWithShape="0">
                <a:blip r:embed="rId2"/>
                <a:stretch>
                  <a:fillRect l="-546" r="-600" b="-901"/>
                </a:stretch>
              </a:blipFill>
            </p:spPr>
            <p:txBody>
              <a:bodyPr/>
              <a:lstStyle/>
              <a:p>
                <a:r>
                  <a:rPr lang="en-US">
                    <a:noFill/>
                  </a:rPr>
                  <a:t> </a:t>
                </a:r>
              </a:p>
            </p:txBody>
          </p:sp>
        </mc:Fallback>
      </mc:AlternateContent>
    </p:spTree>
    <p:extLst>
      <p:ext uri="{BB962C8B-B14F-4D97-AF65-F5344CB8AC3E}">
        <p14:creationId xmlns:p14="http://schemas.microsoft.com/office/powerpoint/2010/main" val="31201587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smtClean="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Visualizing CLT </a:t>
            </a:r>
          </a:p>
        </p:txBody>
      </p:sp>
      <p:sp>
        <p:nvSpPr>
          <p:cNvPr id="3" name="Subtitle 2"/>
          <p:cNvSpPr>
            <a:spLocks noGrp="1"/>
          </p:cNvSpPr>
          <p:nvPr>
            <p:ph type="subTitle" idx="1"/>
          </p:nvPr>
        </p:nvSpPr>
        <p:spPr>
          <a:xfrm>
            <a:off x="542924" y="768750"/>
            <a:ext cx="11172825" cy="5917799"/>
          </a:xfrm>
        </p:spPr>
        <p:txBody>
          <a:bodyPr>
            <a:noAutofit/>
          </a:bodyPr>
          <a:lstStyle/>
          <a:p>
            <a:pPr algn="just">
              <a:lnSpc>
                <a:spcPct val="150000"/>
              </a:lnSpc>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2107779" y="1731117"/>
            <a:ext cx="8029096" cy="4712546"/>
          </a:xfrm>
          <a:prstGeom prst="rect">
            <a:avLst/>
          </a:prstGeom>
        </p:spPr>
      </p:pic>
    </p:spTree>
    <p:extLst>
      <p:ext uri="{BB962C8B-B14F-4D97-AF65-F5344CB8AC3E}">
        <p14:creationId xmlns:p14="http://schemas.microsoft.com/office/powerpoint/2010/main" val="32584298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a:latin typeface="Arial" panose="020B0604020202020204" pitchFamily="34" charset="0"/>
                <a:cs typeface="Arial" panose="020B0604020202020204" pitchFamily="34" charset="0"/>
              </a:rPr>
              <a:t>Visualizing </a:t>
            </a:r>
            <a:r>
              <a:rPr lang="en-US" sz="2400" b="1" dirty="0" smtClean="0">
                <a:latin typeface="Arial" panose="020B0604020202020204" pitchFamily="34" charset="0"/>
                <a:cs typeface="Arial" panose="020B0604020202020204" pitchFamily="34" charset="0"/>
              </a:rPr>
              <a:t>CLT (</a:t>
            </a:r>
            <a:r>
              <a:rPr lang="en-US" sz="2400" b="1" dirty="0" err="1">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542924" y="768750"/>
            <a:ext cx="11172825" cy="5917799"/>
          </a:xfrm>
        </p:spPr>
        <p:txBody>
          <a:bodyPr>
            <a:noAutofit/>
          </a:bodyPr>
          <a:lstStyle/>
          <a:p>
            <a:pPr>
              <a:lnSpc>
                <a:spcPct val="150000"/>
              </a:lnSpc>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1524000" y="1362276"/>
            <a:ext cx="8605838" cy="5277953"/>
          </a:xfrm>
          <a:prstGeom prst="rect">
            <a:avLst/>
          </a:prstGeom>
        </p:spPr>
      </p:pic>
    </p:spTree>
    <p:extLst>
      <p:ext uri="{BB962C8B-B14F-4D97-AF65-F5344CB8AC3E}">
        <p14:creationId xmlns:p14="http://schemas.microsoft.com/office/powerpoint/2010/main" val="4259561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099" y="235036"/>
            <a:ext cx="10387013" cy="436477"/>
          </a:xfrm>
        </p:spPr>
        <p:txBody>
          <a:bodyPr>
            <a:noAutofit/>
          </a:bodyPr>
          <a:lstStyle/>
          <a:p>
            <a:r>
              <a:rPr lang="en-US" sz="2400" b="1" dirty="0" smtClean="0">
                <a:latin typeface="Arial" panose="020B0604020202020204" pitchFamily="34" charset="0"/>
                <a:cs typeface="Arial" panose="020B0604020202020204" pitchFamily="34" charset="0"/>
              </a:rPr>
              <a:t>Probability of Observing Sample Values for a Hypothetical Population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5917799"/>
              </a:xfrm>
            </p:spPr>
            <p:txBody>
              <a:bodyPr>
                <a:noAutofit/>
              </a:bodyPr>
              <a:lstStyle/>
              <a:p>
                <a:pPr marL="342900" indent="-34290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Example:</a:t>
                </a:r>
                <a:r>
                  <a:rPr lang="en-US" sz="2000" dirty="0" smtClean="0">
                    <a:latin typeface="Arial" panose="020B0604020202020204" pitchFamily="34" charset="0"/>
                    <a:cs typeface="Arial" panose="020B0604020202020204" pitchFamily="34" charset="0"/>
                  </a:rPr>
                  <a:t> The </a:t>
                </a:r>
                <a:r>
                  <a:rPr lang="en-US" sz="2000" dirty="0">
                    <a:latin typeface="Arial" panose="020B0604020202020204" pitchFamily="34" charset="0"/>
                    <a:cs typeface="Arial" panose="020B0604020202020204" pitchFamily="34" charset="0"/>
                  </a:rPr>
                  <a:t>amount of time that a customer spends waiting at an airport check-in counter is a random variable with mean 8.2 minutes. Suppose that a random sample of 50 customers is observed. Find the probability that the average time waiting in line for these customers is (a) Less than </a:t>
                </a:r>
                <a:r>
                  <a:rPr lang="en-US" sz="2000" dirty="0" smtClean="0">
                    <a:latin typeface="Arial" panose="020B0604020202020204" pitchFamily="34" charset="0"/>
                    <a:cs typeface="Arial" panose="020B0604020202020204" pitchFamily="34" charset="0"/>
                  </a:rPr>
                  <a:t>7.85 </a:t>
                </a:r>
                <a:r>
                  <a:rPr lang="en-US" sz="2000" dirty="0">
                    <a:latin typeface="Arial" panose="020B0604020202020204" pitchFamily="34" charset="0"/>
                    <a:cs typeface="Arial" panose="020B0604020202020204" pitchFamily="34" charset="0"/>
                  </a:rPr>
                  <a:t>minutes (b) </a:t>
                </a:r>
                <a:r>
                  <a:rPr lang="en-US" sz="2000" dirty="0" smtClean="0">
                    <a:latin typeface="Arial" panose="020B0604020202020204" pitchFamily="34" charset="0"/>
                    <a:cs typeface="Arial" panose="020B0604020202020204" pitchFamily="34" charset="0"/>
                  </a:rPr>
                  <a:t>Greater </a:t>
                </a:r>
                <a:r>
                  <a:rPr lang="en-US" sz="2000" dirty="0">
                    <a:latin typeface="Arial" panose="020B0604020202020204" pitchFamily="34" charset="0"/>
                    <a:cs typeface="Arial" panose="020B0604020202020204" pitchFamily="34" charset="0"/>
                  </a:rPr>
                  <a:t>than </a:t>
                </a:r>
                <a:r>
                  <a:rPr lang="en-US" sz="2000" dirty="0" smtClean="0">
                    <a:latin typeface="Arial" panose="020B0604020202020204" pitchFamily="34" charset="0"/>
                    <a:cs typeface="Arial" panose="020B0604020202020204" pitchFamily="34" charset="0"/>
                  </a:rPr>
                  <a:t>8.55 </a:t>
                </a:r>
                <a:r>
                  <a:rPr lang="en-US" sz="2000" dirty="0">
                    <a:latin typeface="Arial" panose="020B0604020202020204" pitchFamily="34" charset="0"/>
                    <a:cs typeface="Arial" panose="020B0604020202020204" pitchFamily="34" charset="0"/>
                  </a:rPr>
                  <a:t>minutes </a:t>
                </a:r>
                <a:r>
                  <a:rPr lang="en-US" sz="2000" dirty="0" smtClean="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c) Between </a:t>
                </a:r>
                <a:r>
                  <a:rPr lang="en-US" sz="2000" dirty="0" smtClean="0">
                    <a:latin typeface="Arial" panose="020B0604020202020204" pitchFamily="34" charset="0"/>
                    <a:cs typeface="Arial" panose="020B0604020202020204" pitchFamily="34" charset="0"/>
                  </a:rPr>
                  <a:t>7.784 </a:t>
                </a:r>
                <a:r>
                  <a:rPr lang="en-US" sz="2000" dirty="0">
                    <a:latin typeface="Arial" panose="020B0604020202020204" pitchFamily="34" charset="0"/>
                    <a:cs typeface="Arial" panose="020B0604020202020204" pitchFamily="34" charset="0"/>
                  </a:rPr>
                  <a:t>and </a:t>
                </a:r>
                <a:r>
                  <a:rPr lang="en-US" sz="2000" dirty="0" smtClean="0">
                    <a:latin typeface="Arial" panose="020B0604020202020204" pitchFamily="34" charset="0"/>
                    <a:cs typeface="Arial" panose="020B0604020202020204" pitchFamily="34" charset="0"/>
                  </a:rPr>
                  <a:t>8.616 minutes. </a:t>
                </a:r>
                <a:r>
                  <a:rPr lang="en-US" sz="2000" dirty="0">
                    <a:latin typeface="Arial" panose="020B0604020202020204" pitchFamily="34" charset="0"/>
                    <a:cs typeface="Arial" panose="020B0604020202020204" pitchFamily="34" charset="0"/>
                  </a:rPr>
                  <a:t>Given that the sample standard deviation is 1.5 minutes</a:t>
                </a:r>
                <a:r>
                  <a:rPr lang="en-US" sz="2000" dirty="0" smtClean="0">
                    <a:latin typeface="Arial" panose="020B0604020202020204" pitchFamily="34" charset="0"/>
                    <a:cs typeface="Arial" panose="020B0604020202020204" pitchFamily="34" charset="0"/>
                  </a:rPr>
                  <a:t>.</a:t>
                </a:r>
              </a:p>
              <a:p>
                <a:pPr marL="342900" indent="-34290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smtClean="0">
                    <a:latin typeface="Arial" panose="020B0604020202020204" pitchFamily="34" charset="0"/>
                    <a:cs typeface="Arial" panose="020B0604020202020204" pitchFamily="34" charset="0"/>
                  </a:rPr>
                  <a:t> Here </a:t>
                </a:r>
                <a14:m>
                  <m:oMath xmlns:m="http://schemas.openxmlformats.org/officeDocument/2006/math">
                    <m:r>
                      <a:rPr lang="en-US" sz="2000" b="0" i="1" smtClean="0">
                        <a:latin typeface="Cambria Math" panose="02040503050406030204" pitchFamily="18" charset="0"/>
                        <a:cs typeface="Arial" panose="020B0604020202020204" pitchFamily="34" charset="0"/>
                      </a:rPr>
                      <m:t>𝜇</m:t>
                    </m:r>
                    <m:r>
                      <a:rPr lang="en-US" sz="2000" b="0" i="1" smtClean="0">
                        <a:latin typeface="Cambria Math" panose="02040503050406030204" pitchFamily="18" charset="0"/>
                        <a:cs typeface="Arial" panose="020B0604020202020204" pitchFamily="34" charset="0"/>
                      </a:rPr>
                      <m:t>=8.2</m:t>
                    </m:r>
                    <m:r>
                      <a:rPr lang="en-US" sz="2000" b="0" i="0" smtClean="0">
                        <a:latin typeface="Cambria Math" panose="02040503050406030204" pitchFamily="18" charset="0"/>
                        <a:cs typeface="Arial" panose="020B0604020202020204" pitchFamily="34" charset="0"/>
                      </a:rPr>
                      <m:t>, </m:t>
                    </m:r>
                    <m:r>
                      <m:rPr>
                        <m:sty m:val="p"/>
                      </m:rPr>
                      <a:rPr lang="en-US" sz="2000" b="0" i="0" smtClean="0">
                        <a:latin typeface="Cambria Math" panose="02040503050406030204" pitchFamily="18" charset="0"/>
                        <a:cs typeface="Arial" panose="020B0604020202020204" pitchFamily="34" charset="0"/>
                      </a:rPr>
                      <m:t>S</m:t>
                    </m:r>
                    <m:r>
                      <a:rPr lang="en-US" sz="2000" b="0" i="1" smtClean="0">
                        <a:latin typeface="Cambria Math" panose="02040503050406030204" pitchFamily="18" charset="0"/>
                        <a:cs typeface="Arial" panose="020B0604020202020204" pitchFamily="34" charset="0"/>
                      </a:rPr>
                      <m:t>=1.5</m:t>
                    </m:r>
                    <m:r>
                      <a:rPr lang="en-US" sz="2000" b="0" i="0"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𝑛</m:t>
                    </m:r>
                    <m:r>
                      <a:rPr lang="en-US" sz="2000" b="0" i="1" smtClean="0">
                        <a:latin typeface="Cambria Math" panose="02040503050406030204" pitchFamily="18" charset="0"/>
                        <a:cs typeface="Arial" panose="020B0604020202020204" pitchFamily="34" charset="0"/>
                      </a:rPr>
                      <m:t>=50</m:t>
                    </m:r>
                  </m:oMath>
                </a14:m>
                <a:r>
                  <a:rPr lang="en-US" sz="2000" dirty="0" smtClean="0">
                    <a:latin typeface="Arial" panose="020B0604020202020204" pitchFamily="34" charset="0"/>
                    <a:cs typeface="Arial" panose="020B0604020202020204" pitchFamily="34" charset="0"/>
                  </a:rPr>
                  <a:t>. We have </a:t>
                </a:r>
                <a14:m>
                  <m:oMath xmlns:m="http://schemas.openxmlformats.org/officeDocument/2006/math">
                    <m:r>
                      <a:rPr lang="en-US" sz="2000" i="1">
                        <a:latin typeface="Cambria Math" panose="02040503050406030204" pitchFamily="18" charset="0"/>
                      </a:rPr>
                      <m:t>𝑆𝐸</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𝑆</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1.5</m:t>
                        </m:r>
                      </m:num>
                      <m:den>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50</m:t>
                            </m:r>
                          </m:e>
                        </m:rad>
                      </m:den>
                    </m:f>
                    <m:r>
                      <a:rPr lang="en-US" sz="2000" b="0" i="1" smtClean="0">
                        <a:latin typeface="Cambria Math" panose="02040503050406030204" pitchFamily="18" charset="0"/>
                      </a:rPr>
                      <m:t>=0.2121</m:t>
                    </m:r>
                  </m:oMath>
                </a14:m>
                <a:r>
                  <a:rPr lang="en-US" sz="2000" dirty="0" smtClean="0">
                    <a:latin typeface="Arial" panose="020B0604020202020204" pitchFamily="34" charset="0"/>
                    <a:cs typeface="Arial" panose="020B0604020202020204" pitchFamily="34" charset="0"/>
                  </a:rPr>
                  <a:t>. Since </a:t>
                </a:r>
                <a14:m>
                  <m:oMath xmlns:m="http://schemas.openxmlformats.org/officeDocument/2006/math">
                    <m:r>
                      <m:rPr>
                        <m:sty m:val="p"/>
                      </m:rPr>
                      <a:rPr lang="en-US" sz="2000" b="0" i="0" smtClean="0">
                        <a:latin typeface="Cambria Math" panose="02040503050406030204" pitchFamily="18" charset="0"/>
                        <a:cs typeface="Arial" panose="020B0604020202020204" pitchFamily="34" charset="0"/>
                      </a:rPr>
                      <m:t>n</m:t>
                    </m:r>
                    <m:r>
                      <a:rPr lang="en-US" sz="2000" b="0" i="1" smtClean="0">
                        <a:latin typeface="Cambria Math" panose="02040503050406030204" pitchFamily="18" charset="0"/>
                        <a:cs typeface="Arial" panose="020B0604020202020204" pitchFamily="34" charset="0"/>
                      </a:rPr>
                      <m:t>&gt;30, </m:t>
                    </m:r>
                    <m:r>
                      <a:rPr lang="en-US" sz="2000" b="1" i="1" smtClean="0">
                        <a:latin typeface="Cambria Math" panose="02040503050406030204" pitchFamily="18" charset="0"/>
                        <a:cs typeface="Arial" panose="020B0604020202020204" pitchFamily="34" charset="0"/>
                      </a:rPr>
                      <m:t> </m:t>
                    </m:r>
                    <m:acc>
                      <m:accPr>
                        <m:chr m:val="̅"/>
                        <m:ctrlPr>
                          <a:rPr lang="en-US" sz="2000" b="1" i="1">
                            <a:latin typeface="Cambria Math" panose="02040503050406030204" pitchFamily="18" charset="0"/>
                          </a:rPr>
                        </m:ctrlPr>
                      </m:accPr>
                      <m:e>
                        <m:r>
                          <a:rPr lang="en-US" sz="2000" b="1" i="1">
                            <a:latin typeface="Cambria Math" panose="02040503050406030204" pitchFamily="18" charset="0"/>
                          </a:rPr>
                          <m:t>𝑿</m:t>
                        </m:r>
                      </m:e>
                    </m:acc>
                    <m:r>
                      <a:rPr lang="en-US" sz="2000" b="1" i="1">
                        <a:latin typeface="Cambria Math" panose="02040503050406030204" pitchFamily="18" charset="0"/>
                      </a:rPr>
                      <m:t>∼</m:t>
                    </m:r>
                    <m:r>
                      <a:rPr lang="en-US" sz="2000" b="1" i="1">
                        <a:latin typeface="Cambria Math" panose="02040503050406030204" pitchFamily="18" charset="0"/>
                      </a:rPr>
                      <m:t>𝑵</m:t>
                    </m:r>
                    <m:d>
                      <m:dPr>
                        <m:ctrlPr>
                          <a:rPr lang="en-US" sz="2000" b="1" i="1">
                            <a:latin typeface="Cambria Math" panose="02040503050406030204" pitchFamily="18" charset="0"/>
                          </a:rPr>
                        </m:ctrlPr>
                      </m:dPr>
                      <m:e>
                        <m:r>
                          <a:rPr lang="en-US" sz="2000" b="1" i="1" smtClean="0">
                            <a:latin typeface="Cambria Math" panose="02040503050406030204" pitchFamily="18" charset="0"/>
                          </a:rPr>
                          <m:t>𝟖</m:t>
                        </m:r>
                        <m:r>
                          <a:rPr lang="en-US" sz="2000" b="1" i="1" smtClean="0">
                            <a:latin typeface="Cambria Math" panose="02040503050406030204" pitchFamily="18" charset="0"/>
                          </a:rPr>
                          <m:t>.</m:t>
                        </m:r>
                        <m:r>
                          <a:rPr lang="en-US" sz="2000" b="1" i="1" smtClean="0">
                            <a:latin typeface="Cambria Math" panose="02040503050406030204" pitchFamily="18" charset="0"/>
                          </a:rPr>
                          <m:t>𝟐</m:t>
                        </m:r>
                        <m:r>
                          <a:rPr lang="en-US" sz="2000" b="1" i="1">
                            <a:latin typeface="Cambria Math" panose="02040503050406030204" pitchFamily="18" charset="0"/>
                          </a:rPr>
                          <m:t>,</m:t>
                        </m:r>
                        <m:r>
                          <a:rPr lang="en-US" sz="2000" b="1" i="1" smtClean="0">
                            <a:latin typeface="Cambria Math" panose="02040503050406030204" pitchFamily="18" charset="0"/>
                          </a:rPr>
                          <m:t> </m:t>
                        </m:r>
                        <m:r>
                          <a:rPr lang="en-US" sz="2000" b="1" i="1" smtClean="0">
                            <a:latin typeface="Cambria Math" panose="02040503050406030204" pitchFamily="18" charset="0"/>
                          </a:rPr>
                          <m:t>𝟎</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m:t>
                            </m:r>
                            <m:r>
                              <a:rPr lang="en-US" sz="2000" b="1" i="1" smtClean="0">
                                <a:latin typeface="Cambria Math" panose="02040503050406030204" pitchFamily="18" charset="0"/>
                              </a:rPr>
                              <m:t>𝟐𝟏𝟐𝟏</m:t>
                            </m:r>
                          </m:e>
                          <m:sup>
                            <m:r>
                              <a:rPr lang="en-US" sz="2000" b="1" i="1" smtClean="0">
                                <a:latin typeface="Cambria Math" panose="02040503050406030204" pitchFamily="18" charset="0"/>
                              </a:rPr>
                              <m:t>𝟐</m:t>
                            </m:r>
                          </m:sup>
                        </m:sSup>
                        <m:r>
                          <a:rPr lang="en-US" sz="2000" b="1" i="1" smtClean="0">
                            <a:latin typeface="Cambria Math" panose="02040503050406030204" pitchFamily="18" charset="0"/>
                          </a:rPr>
                          <m:t> </m:t>
                        </m:r>
                      </m:e>
                    </m:d>
                  </m:oMath>
                </a14:m>
                <a:endParaRPr lang="en-US" sz="2000" b="1" dirty="0" smtClean="0">
                  <a:latin typeface="Arial" panose="020B0604020202020204" pitchFamily="34" charset="0"/>
                </a:endParaRPr>
              </a:p>
              <a:p>
                <a:pPr marL="342900" indent="-342900" algn="just">
                  <a:lnSpc>
                    <a:spcPct val="100000"/>
                  </a:lnSpc>
                  <a:buFont typeface="Arial" panose="020B0604020202020204" pitchFamily="34" charset="0"/>
                  <a:buChar char="•"/>
                </a:pPr>
                <a14:m>
                  <m:oMath xmlns:m="http://schemas.openxmlformats.org/officeDocument/2006/math">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acc>
                          <m:accPr>
                            <m:chr m:val="̅"/>
                            <m:ctrlPr>
                              <a:rPr lang="en-US" sz="2000" i="1">
                                <a:latin typeface="Cambria Math" panose="02040503050406030204" pitchFamily="18" charset="0"/>
                              </a:rPr>
                            </m:ctrlPr>
                          </m:accPr>
                          <m:e>
                            <m:r>
                              <a:rPr lang="en-US" sz="2000" b="0" i="1">
                                <a:latin typeface="Cambria Math" panose="02040503050406030204" pitchFamily="18" charset="0"/>
                              </a:rPr>
                              <m:t>𝑋</m:t>
                            </m:r>
                          </m:e>
                        </m:acc>
                        <m:r>
                          <a:rPr lang="en-US" sz="2000" b="0" i="1" smtClean="0">
                            <a:latin typeface="Cambria Math" panose="02040503050406030204" pitchFamily="18" charset="0"/>
                          </a:rPr>
                          <m:t>&lt;7.85</m:t>
                        </m:r>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f>
                          <m:fPr>
                            <m:ctrlPr>
                              <a:rPr lang="en-US" sz="2000" b="0" i="1" smtClean="0">
                                <a:latin typeface="Cambria Math" panose="02040503050406030204" pitchFamily="18" charset="0"/>
                                <a:cs typeface="Arial" panose="020B0604020202020204" pitchFamily="34"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b="0" i="1" smtClean="0">
                                <a:latin typeface="Cambria Math" panose="02040503050406030204" pitchFamily="18" charset="0"/>
                              </a:rPr>
                              <m:t>−</m:t>
                            </m:r>
                            <m:r>
                              <a:rPr lang="en-US" sz="2000" b="0" i="1" smtClean="0">
                                <a:latin typeface="Cambria Math" panose="02040503050406030204" pitchFamily="18" charset="0"/>
                              </a:rPr>
                              <m:t>𝜇</m:t>
                            </m:r>
                          </m:num>
                          <m:den>
                            <m:f>
                              <m:fPr>
                                <m:ctrlPr>
                                  <a:rPr lang="en-US" sz="2000" i="1">
                                    <a:latin typeface="Cambria Math" panose="02040503050406030204" pitchFamily="18" charset="0"/>
                                  </a:rPr>
                                </m:ctrlPr>
                              </m:fPr>
                              <m:num>
                                <m:r>
                                  <a:rPr lang="en-US" sz="2000" b="0" i="1" smtClean="0">
                                    <a:latin typeface="Cambria Math" panose="02040503050406030204" pitchFamily="18" charset="0"/>
                                  </a:rPr>
                                  <m:t>𝑆</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r>
                          <a:rPr lang="en-US" sz="2000" b="0" i="1" smtClean="0">
                            <a:latin typeface="Cambria Math" panose="02040503050406030204" pitchFamily="18" charset="0"/>
                            <a:cs typeface="Arial" panose="020B0604020202020204" pitchFamily="34" charset="0"/>
                          </a:rPr>
                          <m:t>&lt;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7.85−8.2</m:t>
                            </m:r>
                          </m:num>
                          <m:den>
                            <m:r>
                              <a:rPr lang="en-US" sz="2000" b="0" i="1" smtClean="0">
                                <a:latin typeface="Cambria Math" panose="02040503050406030204" pitchFamily="18" charset="0"/>
                                <a:cs typeface="Arial" panose="020B0604020202020204" pitchFamily="34" charset="0"/>
                              </a:rPr>
                              <m:t>0.2121</m:t>
                            </m:r>
                          </m:den>
                        </m:f>
                      </m:e>
                    </m:d>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𝑍</m:t>
                        </m:r>
                        <m:r>
                          <a:rPr lang="en-US" sz="2000" b="0" i="1" smtClean="0">
                            <a:latin typeface="Cambria Math" panose="02040503050406030204" pitchFamily="18" charset="0"/>
                            <a:cs typeface="Arial" panose="020B0604020202020204" pitchFamily="34" charset="0"/>
                          </a:rPr>
                          <m:t>&lt;−1.65</m:t>
                        </m:r>
                      </m:e>
                    </m:d>
                    <m:r>
                      <a:rPr lang="en-US" sz="2000" b="0" i="1" smtClean="0">
                        <a:latin typeface="Cambria Math" panose="02040503050406030204" pitchFamily="18" charset="0"/>
                        <a:cs typeface="Arial" panose="020B0604020202020204" pitchFamily="34" charset="0"/>
                      </a:rPr>
                      <m:t>=0.05</m:t>
                    </m:r>
                  </m:oMath>
                </a14:m>
                <a:endParaRPr lang="en-US" sz="2000"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14:m>
                  <m:oMath xmlns:m="http://schemas.openxmlformats.org/officeDocument/2006/math">
                    <m:r>
                      <a:rPr lang="en-US" sz="2000" i="1">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b="0" i="1" smtClean="0">
                            <a:latin typeface="Cambria Math" panose="02040503050406030204" pitchFamily="18" charset="0"/>
                          </a:rPr>
                          <m:t>&gt;8.55</m:t>
                        </m:r>
                      </m:e>
                    </m:d>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𝑍</m:t>
                        </m:r>
                        <m:r>
                          <a:rPr lang="en-US" sz="2000" b="0" i="1" smtClean="0">
                            <a:latin typeface="Cambria Math" panose="02040503050406030204" pitchFamily="18" charset="0"/>
                            <a:cs typeface="Arial" panose="020B0604020202020204" pitchFamily="34" charset="0"/>
                          </a:rPr>
                          <m:t>&gt;</m:t>
                        </m:r>
                        <m:r>
                          <a:rPr lang="en-US" sz="2000" i="1">
                            <a:latin typeface="Cambria Math" panose="02040503050406030204" pitchFamily="18" charset="0"/>
                            <a:cs typeface="Arial" panose="020B0604020202020204" pitchFamily="34" charset="0"/>
                          </a:rPr>
                          <m:t>1.65</m:t>
                        </m:r>
                      </m:e>
                    </m:d>
                    <m:r>
                      <a:rPr lang="en-US" sz="2000" i="1">
                        <a:latin typeface="Cambria Math" panose="02040503050406030204" pitchFamily="18" charset="0"/>
                        <a:cs typeface="Arial" panose="020B0604020202020204" pitchFamily="34" charset="0"/>
                      </a:rPr>
                      <m:t>=0.05</m:t>
                    </m:r>
                  </m:oMath>
                </a14:m>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14:m>
                  <m:oMath xmlns:m="http://schemas.openxmlformats.org/officeDocument/2006/math">
                    <m:r>
                      <a:rPr lang="en-US" sz="2000" i="1">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7.784&lt;</m:t>
                        </m:r>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&lt;</m:t>
                        </m:r>
                        <m:r>
                          <a:rPr lang="en-US" sz="2000" b="0" i="1" smtClean="0">
                            <a:latin typeface="Cambria Math" panose="02040503050406030204" pitchFamily="18" charset="0"/>
                          </a:rPr>
                          <m:t>8.616</m:t>
                        </m:r>
                      </m:e>
                    </m:d>
                    <m:r>
                      <a:rPr lang="en-US" sz="2000" i="1">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𝑃</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cs typeface="Arial" panose="020B0604020202020204" pitchFamily="34" charset="0"/>
                          </a:rPr>
                          <m:t>96&lt;</m:t>
                        </m:r>
                        <m:r>
                          <a:rPr lang="en-US" sz="2000" i="1">
                            <a:latin typeface="Cambria Math" panose="02040503050406030204" pitchFamily="18" charset="0"/>
                            <a:cs typeface="Arial" panose="020B0604020202020204" pitchFamily="34" charset="0"/>
                          </a:rPr>
                          <m:t>𝑍</m:t>
                        </m:r>
                        <m:r>
                          <a:rPr lang="en-US" sz="2000" i="1">
                            <a:latin typeface="Cambria Math" panose="02040503050406030204" pitchFamily="18" charset="0"/>
                            <a:cs typeface="Arial" panose="020B0604020202020204" pitchFamily="34" charset="0"/>
                          </a:rPr>
                          <m:t>&lt;1.96</m:t>
                        </m:r>
                      </m:e>
                    </m:d>
                    <m:r>
                      <a:rPr lang="en-US" sz="2000" i="1">
                        <a:latin typeface="Cambria Math" panose="02040503050406030204" pitchFamily="18" charset="0"/>
                        <a:cs typeface="Arial" panose="020B0604020202020204" pitchFamily="34" charset="0"/>
                      </a:rPr>
                      <m:t>=0.</m:t>
                    </m:r>
                    <m:r>
                      <a:rPr lang="en-US" sz="2000" b="0" i="1" smtClean="0">
                        <a:latin typeface="Cambria Math" panose="02040503050406030204" pitchFamily="18" charset="0"/>
                        <a:cs typeface="Arial" panose="020B0604020202020204" pitchFamily="34" charset="0"/>
                      </a:rPr>
                      <m:t>9</m:t>
                    </m:r>
                    <m:r>
                      <a:rPr lang="en-US" sz="2000" i="1">
                        <a:latin typeface="Cambria Math" panose="02040503050406030204" pitchFamily="18" charset="0"/>
                        <a:cs typeface="Arial" panose="020B0604020202020204" pitchFamily="34" charset="0"/>
                      </a:rPr>
                      <m:t>5</m:t>
                    </m:r>
                  </m:oMath>
                </a14:m>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5917799"/>
              </a:xfrm>
              <a:blipFill rotWithShape="0">
                <a:blip r:embed="rId2"/>
                <a:stretch>
                  <a:fillRect l="-491" t="-412" r="-600"/>
                </a:stretch>
              </a:blipFill>
            </p:spPr>
            <p:txBody>
              <a:bodyPr/>
              <a:lstStyle/>
              <a:p>
                <a:r>
                  <a:rPr lang="en-US">
                    <a:noFill/>
                  </a:rPr>
                  <a:t> </a:t>
                </a:r>
              </a:p>
            </p:txBody>
          </p:sp>
        </mc:Fallback>
      </mc:AlternateContent>
    </p:spTree>
    <p:extLst>
      <p:ext uri="{BB962C8B-B14F-4D97-AF65-F5344CB8AC3E}">
        <p14:creationId xmlns:p14="http://schemas.microsoft.com/office/powerpoint/2010/main" val="36162356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smtClean="0">
                <a:latin typeface="Arial" panose="020B0604020202020204" pitchFamily="34" charset="0"/>
                <a:cs typeface="Arial" panose="020B0604020202020204" pitchFamily="34" charset="0"/>
              </a:rPr>
              <a:t>Confidence Interval </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5917799"/>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Constructing a CI: </a:t>
                </a:r>
                <a:r>
                  <a:rPr lang="en-US" sz="2000" dirty="0" smtClean="0">
                    <a:latin typeface="Arial" panose="020B0604020202020204" pitchFamily="34" charset="0"/>
                    <a:cs typeface="Arial" panose="020B0604020202020204" pitchFamily="34" charset="0"/>
                  </a:rPr>
                  <a:t>It </a:t>
                </a:r>
                <a:r>
                  <a:rPr lang="en-US" sz="2000" dirty="0">
                    <a:latin typeface="Arial" panose="020B0604020202020204" pitchFamily="34" charset="0"/>
                    <a:cs typeface="Arial" panose="020B0604020202020204" pitchFamily="34" charset="0"/>
                  </a:rPr>
                  <a:t>is easy to construct a CI by using the </a:t>
                </a:r>
                <a:r>
                  <a:rPr lang="en-US" sz="2000" b="1" i="1" dirty="0">
                    <a:latin typeface="Arial" panose="020B0604020202020204" pitchFamily="34" charset="0"/>
                    <a:cs typeface="Arial" panose="020B0604020202020204" pitchFamily="34" charset="0"/>
                  </a:rPr>
                  <a:t>margin of error</a:t>
                </a:r>
                <a:r>
                  <a:rPr lang="en-US" sz="2000" dirty="0">
                    <a:latin typeface="Arial" panose="020B0604020202020204" pitchFamily="34" charset="0"/>
                    <a:cs typeface="Arial" panose="020B0604020202020204" pitchFamily="34" charset="0"/>
                  </a:rPr>
                  <a:t>. For Z-distribution, the </a:t>
                </a:r>
                <a:r>
                  <a:rPr lang="en-US" sz="2000" b="1" i="1" dirty="0">
                    <a:latin typeface="Arial" panose="020B0604020202020204" pitchFamily="34" charset="0"/>
                    <a:cs typeface="Arial" panose="020B0604020202020204" pitchFamily="34" charset="0"/>
                  </a:rPr>
                  <a:t>margin of error</a:t>
                </a:r>
                <a:r>
                  <a:rPr lang="en-US" sz="2000" dirty="0">
                    <a:latin typeface="Arial" panose="020B0604020202020204" pitchFamily="34" charset="0"/>
                    <a:cs typeface="Arial" panose="020B0604020202020204" pitchFamily="34" charset="0"/>
                  </a:rPr>
                  <a:t> is computed as </a:t>
                </a:r>
                <a14:m>
                  <m:oMath xmlns:m="http://schemas.openxmlformats.org/officeDocument/2006/math">
                    <m:r>
                      <m:rPr>
                        <m:sty m:val="p"/>
                      </m:rPr>
                      <a:rPr lang="en-US" sz="2000" b="0" i="0" smtClean="0">
                        <a:latin typeface="Cambria Math" panose="02040503050406030204" pitchFamily="18" charset="0"/>
                      </a:rPr>
                      <m:t>MoE</m:t>
                    </m:r>
                    <m:r>
                      <a:rPr lang="en-US" sz="2000" b="0" i="0" smtClean="0">
                        <a:latin typeface="Cambria Math" panose="02040503050406030204" pitchFamily="18" charset="0"/>
                      </a:rPr>
                      <m:t>=</m:t>
                    </m:r>
                    <m:r>
                      <a:rPr lang="en-US" sz="2000" i="1">
                        <a:latin typeface="Cambria Math" panose="02040503050406030204" pitchFamily="18" charset="0"/>
                      </a:rPr>
                      <m:t>𝑍</m:t>
                    </m:r>
                    <m:r>
                      <a:rPr lang="en-US" sz="2000" i="1">
                        <a:latin typeface="Cambria Math" panose="02040503050406030204" pitchFamily="18" charset="0"/>
                      </a:rPr>
                      <m:t>×</m:t>
                    </m:r>
                    <m:r>
                      <a:rPr lang="en-US" sz="2000" i="1">
                        <a:latin typeface="Cambria Math" panose="02040503050406030204" pitchFamily="18" charset="0"/>
                      </a:rPr>
                      <m:t>𝑆𝐸</m:t>
                    </m:r>
                  </m:oMath>
                </a14:m>
                <a:r>
                  <a:rPr lang="en-US" sz="2000" dirty="0">
                    <a:latin typeface="Arial" panose="020B0604020202020204" pitchFamily="34" charset="0"/>
                    <a:cs typeface="Arial" panose="020B0604020202020204" pitchFamily="34" charset="0"/>
                  </a:rPr>
                  <a:t>, where the </a:t>
                </a:r>
                <a14:m>
                  <m:oMath xmlns:m="http://schemas.openxmlformats.org/officeDocument/2006/math">
                    <m:r>
                      <a:rPr lang="en-US" sz="2000" i="1">
                        <a:latin typeface="Cambria Math" panose="02040503050406030204" pitchFamily="18" charset="0"/>
                      </a:rPr>
                      <m:t>𝑍</m:t>
                    </m:r>
                  </m:oMath>
                </a14:m>
                <a:r>
                  <a:rPr lang="en-US" sz="2000" dirty="0">
                    <a:latin typeface="Arial" panose="020B0604020202020204" pitchFamily="34" charset="0"/>
                    <a:cs typeface="Arial" panose="020B0604020202020204" pitchFamily="34" charset="0"/>
                  </a:rPr>
                  <a:t> value is determined from the specified probability. For example, </a:t>
                </a:r>
                <a:r>
                  <a:rPr lang="en-US" sz="2000" dirty="0" smtClean="0">
                    <a:latin typeface="Arial" panose="020B0604020202020204" pitchFamily="34" charset="0"/>
                    <a:cs typeface="Arial" panose="020B0604020202020204" pitchFamily="34" charset="0"/>
                  </a:rPr>
                  <a:t>for a </a:t>
                </a:r>
                <a:r>
                  <a:rPr lang="en-US" sz="2000" dirty="0">
                    <a:latin typeface="Arial" panose="020B0604020202020204" pitchFamily="34" charset="0"/>
                    <a:cs typeface="Arial" panose="020B0604020202020204" pitchFamily="34" charset="0"/>
                  </a:rPr>
                  <a:t>95% CI</a:t>
                </a:r>
                <a14:m>
                  <m:oMath xmlns:m="http://schemas.openxmlformats.org/officeDocument/2006/math">
                    <m:r>
                      <a:rPr lang="en-US" sz="2000" b="0" i="0" smtClean="0">
                        <a:latin typeface="Cambria Math" panose="02040503050406030204" pitchFamily="18" charset="0"/>
                      </a:rPr>
                      <m:t>,</m:t>
                    </m:r>
                  </m:oMath>
                </a14:m>
                <a:r>
                  <a:rPr lang="en-US" sz="2000" dirty="0" smtClean="0">
                    <a:latin typeface="Arial" panose="020B0604020202020204" pitchFamily="34" charset="0"/>
                    <a:cs typeface="Arial" panose="020B0604020202020204" pitchFamily="34" charset="0"/>
                  </a:rPr>
                  <a:t> the </a:t>
                </a:r>
                <a14:m>
                  <m:oMath xmlns:m="http://schemas.openxmlformats.org/officeDocument/2006/math">
                    <m:r>
                      <a:rPr lang="en-US" sz="2000" i="1">
                        <a:latin typeface="Cambria Math" panose="02040503050406030204" pitchFamily="18" charset="0"/>
                      </a:rPr>
                      <m:t>𝑀𝑜𝐸</m:t>
                    </m:r>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i="1">
                            <a:latin typeface="Cambria Math" panose="02040503050406030204" pitchFamily="18" charset="0"/>
                          </a:rPr>
                          <m:t>𝑍</m:t>
                        </m:r>
                      </m:e>
                      <m:sub>
                        <m:r>
                          <a:rPr lang="en-US" sz="2000" b="0" i="1" smtClean="0">
                            <a:latin typeface="Cambria Math" panose="02040503050406030204" pitchFamily="18" charset="0"/>
                          </a:rPr>
                          <m:t>0.025</m:t>
                        </m:r>
                      </m:sub>
                    </m:sSub>
                    <m:r>
                      <a:rPr lang="en-US" sz="2000" i="1">
                        <a:latin typeface="Cambria Math" panose="02040503050406030204" pitchFamily="18" charset="0"/>
                      </a:rPr>
                      <m:t>×</m:t>
                    </m:r>
                    <m:r>
                      <a:rPr lang="en-US" sz="2000" i="1">
                        <a:latin typeface="Cambria Math" panose="02040503050406030204" pitchFamily="18" charset="0"/>
                      </a:rPr>
                      <m:t>𝑆𝐸</m:t>
                    </m:r>
                    <m:r>
                      <a:rPr lang="en-US" sz="2000" i="1">
                        <a:latin typeface="Cambria Math" panose="02040503050406030204" pitchFamily="18" charset="0"/>
                      </a:rPr>
                      <m:t> </m:t>
                    </m:r>
                  </m:oMath>
                </a14:m>
                <a:r>
                  <a:rPr lang="en-US" sz="2000" dirty="0" smtClean="0">
                    <a:latin typeface="Arial" panose="020B0604020202020204" pitchFamily="34" charset="0"/>
                    <a:cs typeface="Arial" panose="020B0604020202020204" pitchFamily="34" charset="0"/>
                  </a:rPr>
                  <a:t>and the </a:t>
                </a:r>
                <a:r>
                  <a:rPr lang="en-US" sz="2000" dirty="0">
                    <a:latin typeface="Arial" panose="020B0604020202020204" pitchFamily="34" charset="0"/>
                    <a:cs typeface="Arial" panose="020B0604020202020204" pitchFamily="34" charset="0"/>
                  </a:rPr>
                  <a:t>95% CI for </a:t>
                </a:r>
                <a14:m>
                  <m:oMath xmlns:m="http://schemas.openxmlformats.org/officeDocument/2006/math">
                    <m:r>
                      <a:rPr lang="en-US" sz="2000" i="1">
                        <a:latin typeface="Cambria Math" panose="02040503050406030204" pitchFamily="18" charset="0"/>
                      </a:rPr>
                      <m:t>𝜇</m:t>
                    </m:r>
                  </m:oMath>
                </a14:m>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
                </a:r>
                <a:br>
                  <a:rPr lang="en-US" sz="2000" dirty="0">
                    <a:latin typeface="Arial" panose="020B0604020202020204" pitchFamily="34" charset="0"/>
                    <a:cs typeface="Arial" panose="020B0604020202020204" pitchFamily="34" charset="0"/>
                  </a:rPr>
                </a:br>
                <a14:m>
                  <m:oMath xmlns:m="http://schemas.openxmlformats.org/officeDocument/2006/math">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b="0" i="1" smtClean="0">
                        <a:latin typeface="Cambria Math" panose="02040503050406030204" pitchFamily="18" charset="0"/>
                      </a:rPr>
                      <m:t>𝑀𝑜𝐸</m:t>
                    </m:r>
                    <m:r>
                      <a:rPr lang="en-US" sz="2000" i="1">
                        <a:latin typeface="Cambria Math" panose="02040503050406030204" pitchFamily="18" charset="0"/>
                      </a:rPr>
                      <m:t>, </m:t>
                    </m:r>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 </m:t>
                    </m:r>
                    <m:r>
                      <a:rPr lang="en-US" sz="2000" b="0" i="1" smtClean="0">
                        <a:latin typeface="Cambria Math" panose="02040503050406030204" pitchFamily="18" charset="0"/>
                      </a:rPr>
                      <m:t>𝑀𝑜𝐸</m:t>
                    </m:r>
                    <m:r>
                      <a:rPr lang="en-US" sz="2000" i="1">
                        <a:latin typeface="Cambria Math" panose="02040503050406030204" pitchFamily="18" charset="0"/>
                      </a:rPr>
                      <m:t>]</m:t>
                    </m:r>
                  </m:oMath>
                </a14:m>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5917799"/>
              </a:xfrm>
              <a:blipFill rotWithShape="0">
                <a:blip r:embed="rId2"/>
                <a:stretch>
                  <a:fillRect l="-491" r="-600"/>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1524000" y="2543176"/>
            <a:ext cx="9066711" cy="4314824"/>
          </a:xfrm>
          <a:prstGeom prst="rect">
            <a:avLst/>
          </a:prstGeom>
        </p:spPr>
      </p:pic>
    </p:spTree>
    <p:extLst>
      <p:ext uri="{BB962C8B-B14F-4D97-AF65-F5344CB8AC3E}">
        <p14:creationId xmlns:p14="http://schemas.microsoft.com/office/powerpoint/2010/main" val="26806814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a:latin typeface="Arial" panose="020B0604020202020204" pitchFamily="34" charset="0"/>
                <a:cs typeface="Arial" panose="020B0604020202020204" pitchFamily="34" charset="0"/>
              </a:rPr>
              <a:t>Confidence Interval  </a:t>
            </a:r>
            <a:r>
              <a:rPr lang="en-US" sz="2400" b="1" dirty="0" smtClean="0">
                <a:latin typeface="Arial" panose="020B0604020202020204" pitchFamily="34" charset="0"/>
                <a:cs typeface="Arial" panose="020B0604020202020204" pitchFamily="34" charset="0"/>
              </a:rPr>
              <a:t>(</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5917799"/>
              </a:xfrm>
            </p:spPr>
            <p:txBody>
              <a:bodyPr>
                <a:noAutofit/>
              </a:bodyPr>
              <a:lstStyle/>
              <a:p>
                <a:pPr algn="just">
                  <a:lnSpc>
                    <a:spcPct val="100000"/>
                  </a:lnSpc>
                </a:pPr>
                <a:r>
                  <a:rPr lang="en-US" sz="2000" b="1" dirty="0" smtClean="0">
                    <a:latin typeface="Arial" panose="020B0604020202020204" pitchFamily="34" charset="0"/>
                    <a:cs typeface="Arial" panose="020B0604020202020204" pitchFamily="34" charset="0"/>
                  </a:rPr>
                  <a:t>Using Normal distribution</a:t>
                </a: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confidence interval for population mean if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≥30</m:t>
                    </m:r>
                  </m:oMath>
                </a14:m>
                <a:r>
                  <a:rPr lang="en-US" sz="2000" dirty="0">
                    <a:latin typeface="Arial" panose="020B0604020202020204" pitchFamily="34" charset="0"/>
                    <a:cs typeface="Arial" panose="020B0604020202020204" pitchFamily="34" charset="0"/>
                  </a:rPr>
                  <a:t>: </a:t>
                </a:r>
              </a:p>
              <a:p>
                <a:pPr>
                  <a:lnSpc>
                    <a:spcPct val="100000"/>
                  </a:lnSpc>
                </a:pP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b="0" i="1" smtClean="0">
                        <a:latin typeface="Cambria Math" panose="02040503050406030204" pitchFamily="18" charset="0"/>
                      </a:rPr>
                      <m:t>𝑀𝑜𝐸</m:t>
                    </m:r>
                    <m:r>
                      <a:rPr lang="en-US" sz="2000" i="1">
                        <a:latin typeface="Cambria Math" panose="02040503050406030204" pitchFamily="18" charset="0"/>
                      </a:rPr>
                      <m:t>&lt;</m:t>
                    </m:r>
                    <m:r>
                      <a:rPr lang="en-US" sz="2000" i="1">
                        <a:latin typeface="Cambria Math" panose="02040503050406030204" pitchFamily="18" charset="0"/>
                      </a:rPr>
                      <m:t>𝜇</m:t>
                    </m:r>
                    <m:r>
                      <a:rPr lang="en-US" sz="2000" i="1">
                        <a:latin typeface="Cambria Math" panose="02040503050406030204" pitchFamily="18" charset="0"/>
                      </a:rPr>
                      <m:t>&lt;</m:t>
                    </m:r>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b="0" i="1" smtClean="0">
                        <a:latin typeface="Cambria Math" panose="02040503050406030204" pitchFamily="18" charset="0"/>
                      </a:rPr>
                      <m:t>𝑀𝑜𝐸</m:t>
                    </m:r>
                  </m:oMath>
                </a14:m>
                <a:r>
                  <a:rPr lang="en-US" sz="2000" dirty="0" smtClean="0">
                    <a:latin typeface="Arial" panose="020B0604020202020204" pitchFamily="34" charset="0"/>
                    <a:cs typeface="Arial" panose="020B0604020202020204" pitchFamily="34" charset="0"/>
                  </a:rPr>
                  <a:t>, where </a:t>
                </a:r>
                <a14:m>
                  <m:oMath xmlns:m="http://schemas.openxmlformats.org/officeDocument/2006/math">
                    <m:r>
                      <a:rPr lang="en-US" sz="2000" i="1">
                        <a:latin typeface="Cambria Math" panose="02040503050406030204" pitchFamily="18" charset="0"/>
                      </a:rPr>
                      <m:t>𝑀𝑜𝐸</m:t>
                    </m:r>
                    <m:r>
                      <a:rPr lang="en-US" sz="2000" i="1">
                        <a:latin typeface="Cambria Math" panose="02040503050406030204" pitchFamily="18" charset="0"/>
                      </a:rPr>
                      <m:t>=</m:t>
                    </m:r>
                    <m:r>
                      <a:rPr lang="en-US" sz="2000" i="1">
                        <a:latin typeface="Cambria Math" panose="02040503050406030204" pitchFamily="18" charset="0"/>
                      </a:rPr>
                      <m:t>𝑍</m:t>
                    </m:r>
                    <m:r>
                      <a:rPr lang="en-US" sz="2000" i="1">
                        <a:latin typeface="Cambria Math" panose="02040503050406030204" pitchFamily="18" charset="0"/>
                      </a:rPr>
                      <m:t>×</m:t>
                    </m:r>
                    <m:r>
                      <a:rPr lang="en-US" sz="2000" i="1">
                        <a:latin typeface="Cambria Math" panose="02040503050406030204" pitchFamily="18" charset="0"/>
                      </a:rPr>
                      <m:t>𝑆𝐸</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oMath>
                </a14:m>
                <a:endParaRPr lang="en-US" sz="2000" i="1"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confidence interval for population proportion: </a:t>
                </a:r>
              </a:p>
              <a:p>
                <a:pPr>
                  <a:lnSpc>
                    <a:spcPct val="100000"/>
                  </a:lnSpc>
                </a:pPr>
                <a14:m>
                  <m:oMath xmlns:m="http://schemas.openxmlformats.org/officeDocument/2006/math">
                    <m:r>
                      <a:rPr lang="en-US" sz="2000" i="1">
                        <a:latin typeface="Cambria Math" panose="02040503050406030204" pitchFamily="18" charset="0"/>
                      </a:rPr>
                      <m:t>𝑝</m:t>
                    </m:r>
                    <m:r>
                      <a:rPr lang="en-US" sz="2000" i="1">
                        <a:latin typeface="Cambria Math" panose="02040503050406030204" pitchFamily="18" charset="0"/>
                      </a:rPr>
                      <m:t>−</m:t>
                    </m:r>
                    <m:r>
                      <a:rPr lang="en-US" sz="2000" i="1">
                        <a:latin typeface="Cambria Math" panose="02040503050406030204" pitchFamily="18" charset="0"/>
                      </a:rPr>
                      <m:t>𝑀𝑜𝐸</m:t>
                    </m:r>
                    <m:r>
                      <a:rPr lang="en-US" sz="2000" i="1">
                        <a:latin typeface="Cambria Math" panose="02040503050406030204" pitchFamily="18" charset="0"/>
                      </a:rPr>
                      <m:t>&lt;</m:t>
                    </m:r>
                    <m:r>
                      <a:rPr lang="en-US" sz="2000" i="1">
                        <a:latin typeface="Cambria Math" panose="02040503050406030204" pitchFamily="18" charset="0"/>
                      </a:rPr>
                      <m:t>𝜋</m:t>
                    </m:r>
                    <m:r>
                      <a:rPr lang="en-US" sz="2000" i="1">
                        <a:latin typeface="Cambria Math" panose="02040503050406030204" pitchFamily="18" charset="0"/>
                      </a:rPr>
                      <m:t>&lt;</m:t>
                    </m:r>
                    <m:r>
                      <a:rPr lang="en-US" sz="2000" i="1">
                        <a:latin typeface="Cambria Math" panose="02040503050406030204" pitchFamily="18" charset="0"/>
                      </a:rPr>
                      <m:t>𝑝</m:t>
                    </m:r>
                    <m:r>
                      <a:rPr lang="en-US" sz="2000" i="1">
                        <a:latin typeface="Cambria Math" panose="02040503050406030204" pitchFamily="18" charset="0"/>
                      </a:rPr>
                      <m:t>+</m:t>
                    </m:r>
                    <m:r>
                      <a:rPr lang="en-US" sz="2000" i="1">
                        <a:latin typeface="Cambria Math" panose="02040503050406030204" pitchFamily="18" charset="0"/>
                      </a:rPr>
                      <m:t>𝑀𝑜𝐸</m:t>
                    </m:r>
                  </m:oMath>
                </a14:m>
                <a:r>
                  <a:rPr lang="en-US" sz="2000" dirty="0">
                    <a:latin typeface="Arial" panose="020B0604020202020204" pitchFamily="34" charset="0"/>
                    <a:cs typeface="Arial" panose="020B0604020202020204" pitchFamily="34" charset="0"/>
                  </a:rPr>
                  <a:t>, where </a:t>
                </a:r>
                <a14:m>
                  <m:oMath xmlns:m="http://schemas.openxmlformats.org/officeDocument/2006/math">
                    <m:r>
                      <a:rPr lang="en-US" sz="2000" i="1">
                        <a:latin typeface="Cambria Math" panose="02040503050406030204" pitchFamily="18" charset="0"/>
                      </a:rPr>
                      <m:t>𝑀𝑜𝐸</m:t>
                    </m:r>
                    <m:r>
                      <a:rPr lang="en-US" sz="2000" i="1">
                        <a:latin typeface="Cambria Math" panose="02040503050406030204" pitchFamily="18" charset="0"/>
                      </a:rPr>
                      <m:t>=</m:t>
                    </m:r>
                    <m:r>
                      <a:rPr lang="en-US" sz="2000" i="1">
                        <a:latin typeface="Cambria Math" panose="02040503050406030204" pitchFamily="18" charset="0"/>
                      </a:rPr>
                      <m:t>𝑍</m:t>
                    </m:r>
                    <m:r>
                      <a:rPr lang="en-US" sz="2000" i="1">
                        <a:latin typeface="Cambria Math" panose="02040503050406030204" pitchFamily="18" charset="0"/>
                      </a:rPr>
                      <m:t>×</m:t>
                    </m:r>
                    <m:r>
                      <a:rPr lang="en-US" sz="2000" i="1">
                        <a:latin typeface="Cambria Math" panose="02040503050406030204" pitchFamily="18" charset="0"/>
                      </a:rPr>
                      <m:t>𝑆𝐸</m:t>
                    </m:r>
                    <m:d>
                      <m:dPr>
                        <m:ctrlPr>
                          <a:rPr lang="en-US" sz="2000" i="1">
                            <a:latin typeface="Cambria Math" panose="02040503050406030204" pitchFamily="18" charset="0"/>
                          </a:rPr>
                        </m:ctrlPr>
                      </m:dPr>
                      <m:e>
                        <m:r>
                          <a:rPr lang="en-US" sz="2000" i="1">
                            <a:latin typeface="Cambria Math" panose="02040503050406030204" pitchFamily="18" charset="0"/>
                          </a:rPr>
                          <m:t>𝑝</m:t>
                        </m:r>
                      </m:e>
                    </m:d>
                  </m:oMath>
                </a14:m>
                <a:r>
                  <a:rPr lang="en-US" sz="2000" dirty="0" smtClean="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𝑆𝐸</m:t>
                    </m:r>
                    <m:d>
                      <m:dPr>
                        <m:ctrlPr>
                          <a:rPr lang="en-US" sz="2000" i="1">
                            <a:latin typeface="Cambria Math" panose="02040503050406030204" pitchFamily="18" charset="0"/>
                          </a:rPr>
                        </m:ctrlPr>
                      </m:dPr>
                      <m:e>
                        <m:r>
                          <a:rPr lang="en-US" sz="2000" i="1">
                            <a:latin typeface="Cambria Math" panose="02040503050406030204" pitchFamily="18" charset="0"/>
                          </a:rPr>
                          <m:t>𝑝</m:t>
                        </m:r>
                      </m:e>
                    </m:d>
                    <m:r>
                      <a:rPr lang="en-US" sz="2000" b="0" i="1" smtClean="0">
                        <a:latin typeface="Cambria Math" panose="02040503050406030204" pitchFamily="18" charset="0"/>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panose="02040503050406030204" pitchFamily="18" charset="0"/>
                              </a:rPr>
                              <m:t>𝑝</m:t>
                            </m:r>
                            <m:r>
                              <a:rPr lang="en-US" sz="2000" i="1">
                                <a:latin typeface="Cambria Math" panose="02040503050406030204" pitchFamily="18" charset="0"/>
                              </a:rPr>
                              <m:t>(1−</m:t>
                            </m:r>
                            <m:r>
                              <a:rPr lang="en-US" sz="2000" i="1">
                                <a:latin typeface="Cambria Math" panose="02040503050406030204" pitchFamily="18" charset="0"/>
                              </a:rPr>
                              <m:t>𝑝</m:t>
                            </m:r>
                            <m:r>
                              <a:rPr lang="en-US" sz="2000" i="1">
                                <a:latin typeface="Cambria Math" panose="02040503050406030204" pitchFamily="18" charset="0"/>
                              </a:rPr>
                              <m:t>)</m:t>
                            </m:r>
                          </m:num>
                          <m:den>
                            <m:r>
                              <a:rPr lang="en-US" sz="2000" i="1">
                                <a:latin typeface="Cambria Math" panose="02040503050406030204" pitchFamily="18" charset="0"/>
                              </a:rPr>
                              <m:t>𝑛</m:t>
                            </m:r>
                          </m:den>
                        </m:f>
                      </m:e>
                    </m:rad>
                  </m:oMath>
                </a14:m>
                <a:endParaRPr lang="en-US" sz="2000"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where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rPr>
                      <m:t>=90</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95</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99</m:t>
                    </m:r>
                  </m:oMath>
                </a14:m>
                <a:r>
                  <a:rPr lang="en-US" sz="2000" dirty="0">
                    <a:latin typeface="Arial" panose="020B0604020202020204" pitchFamily="34" charset="0"/>
                    <a:cs typeface="Arial" panose="020B0604020202020204" pitchFamily="34" charset="0"/>
                  </a:rPr>
                  <a:t> and the value of </a:t>
                </a:r>
                <a14:m>
                  <m:oMath xmlns:m="http://schemas.openxmlformats.org/officeDocument/2006/math">
                    <m:r>
                      <a:rPr lang="en-US" sz="2000" i="1">
                        <a:latin typeface="Cambria Math" panose="02040503050406030204" pitchFamily="18" charset="0"/>
                      </a:rPr>
                      <m:t>𝑍</m:t>
                    </m:r>
                  </m:oMath>
                </a14:m>
                <a:r>
                  <a:rPr lang="en-US" sz="2000" dirty="0">
                    <a:latin typeface="Arial" panose="020B0604020202020204" pitchFamily="34" charset="0"/>
                    <a:cs typeface="Arial" panose="020B0604020202020204" pitchFamily="34" charset="0"/>
                  </a:rPr>
                  <a:t> can be determined by </a:t>
                </a:r>
                <a14:m>
                  <m:oMath xmlns:m="http://schemas.openxmlformats.org/officeDocument/2006/math">
                    <m:r>
                      <a:rPr lang="en-US" sz="2000" i="1">
                        <a:latin typeface="Cambria Math" panose="02040503050406030204" pitchFamily="18" charset="0"/>
                      </a:rPr>
                      <m:t>𝑘</m:t>
                    </m:r>
                  </m:oMath>
                </a14:m>
                <a:r>
                  <a:rPr lang="en-US" sz="2000" dirty="0" smtClean="0">
                    <a:latin typeface="Arial" panose="020B0604020202020204" pitchFamily="34" charset="0"/>
                    <a:cs typeface="Arial" panose="020B0604020202020204" pitchFamily="34" charset="0"/>
                  </a:rPr>
                  <a:t>.</a:t>
                </a:r>
              </a:p>
              <a:p>
                <a:pPr algn="just">
                  <a:lnSpc>
                    <a:spcPct val="100000"/>
                  </a:lnSpc>
                </a:pPr>
                <a:r>
                  <a:rPr lang="en-US" sz="2000" b="1" dirty="0">
                    <a:latin typeface="Arial" panose="020B0604020202020204" pitchFamily="34" charset="0"/>
                    <a:cs typeface="Arial" panose="020B0604020202020204" pitchFamily="34" charset="0"/>
                  </a:rPr>
                  <a:t>Using </a:t>
                </a:r>
                <a:r>
                  <a:rPr lang="en-US" sz="2000" b="1" dirty="0" smtClean="0">
                    <a:latin typeface="Arial" panose="020B0604020202020204" pitchFamily="34" charset="0"/>
                    <a:cs typeface="Arial" panose="020B0604020202020204" pitchFamily="34" charset="0"/>
                  </a:rPr>
                  <a:t>t-distribution</a:t>
                </a:r>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rPr>
                      <m:t>%</m:t>
                    </m:r>
                  </m:oMath>
                </a14:m>
                <a:r>
                  <a:rPr lang="en-US" sz="2000" dirty="0">
                    <a:latin typeface="Arial" panose="020B0604020202020204" pitchFamily="34" charset="0"/>
                    <a:cs typeface="Arial" panose="020B0604020202020204" pitchFamily="34" charset="0"/>
                  </a:rPr>
                  <a:t> confidence interval for population mean for a normal population if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&lt;30</m:t>
                    </m:r>
                  </m:oMath>
                </a14:m>
                <a:r>
                  <a:rPr lang="en-US" sz="2000" dirty="0">
                    <a:latin typeface="Arial" panose="020B0604020202020204" pitchFamily="34" charset="0"/>
                    <a:cs typeface="Arial" panose="020B0604020202020204" pitchFamily="34" charset="0"/>
                  </a:rPr>
                  <a:t>: </a:t>
                </a:r>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nSpc>
                    <a:spcPct val="100000"/>
                  </a:lnSpc>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i="1">
                          <a:latin typeface="Cambria Math" panose="02040503050406030204" pitchFamily="18" charset="0"/>
                        </a:rPr>
                        <m:t>𝑀𝑜𝐸</m:t>
                      </m:r>
                      <m:r>
                        <a:rPr lang="en-US" sz="2000" i="1">
                          <a:latin typeface="Cambria Math" panose="02040503050406030204" pitchFamily="18" charset="0"/>
                        </a:rPr>
                        <m:t>&lt;</m:t>
                      </m:r>
                      <m:r>
                        <a:rPr lang="en-US" sz="2000" i="1">
                          <a:latin typeface="Cambria Math" panose="02040503050406030204" pitchFamily="18" charset="0"/>
                        </a:rPr>
                        <m:t>𝜇</m:t>
                      </m:r>
                      <m:r>
                        <a:rPr lang="en-US" sz="2000" i="1">
                          <a:latin typeface="Cambria Math" panose="02040503050406030204" pitchFamily="18" charset="0"/>
                        </a:rPr>
                        <m:t>&lt;</m:t>
                      </m:r>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i="1">
                          <a:latin typeface="Cambria Math" panose="02040503050406030204" pitchFamily="18" charset="0"/>
                        </a:rPr>
                        <m:t>𝑀𝑜𝐸</m:t>
                      </m:r>
                      <m:r>
                        <m:rPr>
                          <m:nor/>
                        </m:rPr>
                        <a:rPr lang="en-US" sz="2000" dirty="0">
                          <a:latin typeface="Arial" panose="020B0604020202020204" pitchFamily="34" charset="0"/>
                          <a:cs typeface="Arial" panose="020B0604020202020204" pitchFamily="34" charset="0"/>
                        </a:rPr>
                        <m:t>, </m:t>
                      </m:r>
                      <m:r>
                        <m:rPr>
                          <m:nor/>
                        </m:rPr>
                        <a:rPr lang="en-US" sz="2000" dirty="0">
                          <a:latin typeface="Arial" panose="020B0604020202020204" pitchFamily="34" charset="0"/>
                          <a:cs typeface="Arial" panose="020B0604020202020204" pitchFamily="34" charset="0"/>
                        </a:rPr>
                        <m:t>where</m:t>
                      </m:r>
                      <m:r>
                        <m:rPr>
                          <m:nor/>
                        </m:rPr>
                        <a:rPr lang="en-US" sz="2000" dirty="0">
                          <a:latin typeface="Arial" panose="020B0604020202020204" pitchFamily="34" charset="0"/>
                          <a:cs typeface="Arial" panose="020B0604020202020204" pitchFamily="34" charset="0"/>
                        </a:rPr>
                        <m:t> </m:t>
                      </m:r>
                      <m:r>
                        <a:rPr lang="en-US" sz="2000" i="1">
                          <a:latin typeface="Cambria Math" panose="02040503050406030204" pitchFamily="18" charset="0"/>
                        </a:rPr>
                        <m:t>𝑀𝑜𝐸</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𝑛</m:t>
                          </m:r>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𝑆𝐸</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oMath>
                  </m:oMathPara>
                </a14:m>
                <a:endParaRPr lang="en-US" sz="2000"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where </a:t>
                </a:r>
                <a14:m>
                  <m:oMath xmlns:m="http://schemas.openxmlformats.org/officeDocument/2006/math">
                    <m:r>
                      <a:rPr lang="en-US" sz="2000" i="1">
                        <a:latin typeface="Cambria Math" panose="02040503050406030204" pitchFamily="18" charset="0"/>
                      </a:rPr>
                      <m:t>𝑘</m:t>
                    </m:r>
                    <m:r>
                      <a:rPr lang="en-US" sz="2000" i="1">
                        <a:latin typeface="Cambria Math" panose="02040503050406030204" pitchFamily="18" charset="0"/>
                      </a:rPr>
                      <m:t>=90</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95</m:t>
                    </m:r>
                  </m:oMath>
                </a14:m>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99</m:t>
                    </m:r>
                  </m:oMath>
                </a14:m>
                <a:r>
                  <a:rPr lang="en-US" sz="2000" dirty="0">
                    <a:latin typeface="Arial" panose="020B0604020202020204" pitchFamily="34" charset="0"/>
                    <a:cs typeface="Arial" panose="020B0604020202020204" pitchFamily="34" charset="0"/>
                  </a:rPr>
                  <a:t> and the value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𝑛</m:t>
                        </m:r>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can be determined by </a:t>
                </a:r>
                <a14:m>
                  <m:oMath xmlns:m="http://schemas.openxmlformats.org/officeDocument/2006/math">
                    <m:r>
                      <a:rPr lang="en-US" sz="2000" i="1">
                        <a:latin typeface="Cambria Math" panose="02040503050406030204" pitchFamily="18" charset="0"/>
                      </a:rPr>
                      <m:t>𝑘</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a:latin typeface="Cambria Math" panose="02040503050406030204" pitchFamily="18" charset="0"/>
                      </a:rPr>
                      <m:t>𝑛</m:t>
                    </m:r>
                  </m:oMath>
                </a14:m>
                <a:r>
                  <a:rPr lang="en-US" sz="2000" dirty="0">
                    <a:latin typeface="Arial" panose="020B0604020202020204" pitchFamily="34" charset="0"/>
                    <a:cs typeface="Arial" panose="020B0604020202020204" pitchFamily="34" charset="0"/>
                  </a:rPr>
                  <a:t>.</a:t>
                </a:r>
              </a:p>
              <a:p>
                <a:pPr marL="342900" indent="-342900" algn="just">
                  <a:lnSpc>
                    <a:spcPct val="10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algn="just">
                  <a:lnSpc>
                    <a:spcPct val="100000"/>
                  </a:lnSpc>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5917799"/>
              </a:xfrm>
              <a:blipFill rotWithShape="0">
                <a:blip r:embed="rId2"/>
                <a:stretch>
                  <a:fillRect l="-546" t="-412"/>
                </a:stretch>
              </a:blipFill>
            </p:spPr>
            <p:txBody>
              <a:bodyPr/>
              <a:lstStyle/>
              <a:p>
                <a:r>
                  <a:rPr lang="en-US">
                    <a:noFill/>
                  </a:rPr>
                  <a:t> </a:t>
                </a:r>
              </a:p>
            </p:txBody>
          </p:sp>
        </mc:Fallback>
      </mc:AlternateContent>
    </p:spTree>
    <p:extLst>
      <p:ext uri="{BB962C8B-B14F-4D97-AF65-F5344CB8AC3E}">
        <p14:creationId xmlns:p14="http://schemas.microsoft.com/office/powerpoint/2010/main" val="4179813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a:latin typeface="Arial" panose="020B0604020202020204" pitchFamily="34" charset="0"/>
                <a:cs typeface="Arial" panose="020B0604020202020204" pitchFamily="34" charset="0"/>
              </a:rPr>
              <a:t>Sampling Distribution and </a:t>
            </a:r>
            <a:r>
              <a:rPr lang="en-US" sz="2400" b="1" dirty="0" smtClean="0">
                <a:latin typeface="Arial" panose="020B0604020202020204" pitchFamily="34" charset="0"/>
                <a:cs typeface="Arial" panose="020B0604020202020204" pitchFamily="34" charset="0"/>
              </a:rPr>
              <a:t>Estimation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5917799"/>
              </a:xfrm>
            </p:spPr>
            <p:txBody>
              <a:bodyPr>
                <a:noAutofit/>
              </a:bodyPr>
              <a:lstStyle/>
              <a:p>
                <a:pPr marL="342900" indent="-34290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Example:</a:t>
                </a:r>
                <a:r>
                  <a:rPr lang="en-US" sz="2000" dirty="0" smtClean="0">
                    <a:latin typeface="Arial" panose="020B0604020202020204" pitchFamily="34" charset="0"/>
                    <a:cs typeface="Arial" panose="020B0604020202020204" pitchFamily="34" charset="0"/>
                  </a:rPr>
                  <a:t> It is our interest to know </a:t>
                </a:r>
                <a:r>
                  <a:rPr lang="en-US" sz="2000" dirty="0">
                    <a:latin typeface="Arial" panose="020B0604020202020204" pitchFamily="34" charset="0"/>
                    <a:cs typeface="Arial" panose="020B0604020202020204" pitchFamily="34" charset="0"/>
                  </a:rPr>
                  <a:t>t</a:t>
                </a:r>
                <a:r>
                  <a:rPr lang="en-US" sz="2000" dirty="0" smtClean="0">
                    <a:latin typeface="Arial" panose="020B0604020202020204" pitchFamily="34" charset="0"/>
                    <a:cs typeface="Arial" panose="020B0604020202020204" pitchFamily="34" charset="0"/>
                  </a:rPr>
                  <a:t>he </a:t>
                </a:r>
                <a:r>
                  <a:rPr lang="en-US" sz="2000" dirty="0">
                    <a:latin typeface="Arial" panose="020B0604020202020204" pitchFamily="34" charset="0"/>
                    <a:cs typeface="Arial" panose="020B0604020202020204" pitchFamily="34" charset="0"/>
                  </a:rPr>
                  <a:t>time </a:t>
                </a:r>
                <a:r>
                  <a:rPr lang="en-US" sz="2000" dirty="0" smtClean="0">
                    <a:latin typeface="Arial" panose="020B0604020202020204" pitchFamily="34" charset="0"/>
                    <a:cs typeface="Arial" panose="020B0604020202020204" pitchFamily="34" charset="0"/>
                  </a:rPr>
                  <a:t>required </a:t>
                </a:r>
                <a:r>
                  <a:rPr lang="en-US" sz="2000" dirty="0">
                    <a:latin typeface="Arial" panose="020B0604020202020204" pitchFamily="34" charset="0"/>
                    <a:cs typeface="Arial" panose="020B0604020202020204" pitchFamily="34" charset="0"/>
                  </a:rPr>
                  <a:t>a central processing unit to process a certain type of </a:t>
                </a:r>
                <a:r>
                  <a:rPr lang="en-US" sz="2000" dirty="0" smtClean="0">
                    <a:latin typeface="Arial" panose="020B0604020202020204" pitchFamily="34" charset="0"/>
                    <a:cs typeface="Arial" panose="020B0604020202020204" pitchFamily="34" charset="0"/>
                  </a:rPr>
                  <a:t>job. </a:t>
                </a:r>
                <a:r>
                  <a:rPr lang="en-US" sz="2000" dirty="0">
                    <a:latin typeface="Arial" panose="020B0604020202020204" pitchFamily="34" charset="0"/>
                    <a:cs typeface="Arial" panose="020B0604020202020204" pitchFamily="34" charset="0"/>
                  </a:rPr>
                  <a:t>From a random sample </a:t>
                </a:r>
                <a:r>
                  <a:rPr lang="en-US" sz="2000" dirty="0" smtClean="0">
                    <a:latin typeface="Arial" panose="020B0604020202020204" pitchFamily="34" charset="0"/>
                    <a:cs typeface="Arial" panose="020B0604020202020204" pitchFamily="34" charset="0"/>
                  </a:rPr>
                  <a:t>of 40 such jobs, </a:t>
                </a:r>
                <a:r>
                  <a:rPr lang="en-US" sz="2000" dirty="0">
                    <a:latin typeface="Arial" panose="020B0604020202020204" pitchFamily="34" charset="0"/>
                    <a:cs typeface="Arial" panose="020B0604020202020204" pitchFamily="34" charset="0"/>
                  </a:rPr>
                  <a:t>it is observed that </a:t>
                </a:r>
                <a:r>
                  <a:rPr lang="en-US" sz="2000" dirty="0" smtClean="0">
                    <a:latin typeface="Arial" panose="020B0604020202020204" pitchFamily="34" charset="0"/>
                    <a:cs typeface="Arial" panose="020B0604020202020204" pitchFamily="34" charset="0"/>
                  </a:rPr>
                  <a:t>the mean time to process the job is 20.5 seconds with a standard deviation of 3.8 seconds. Find (a) the margin of error for the 95% confidence interval (b) the </a:t>
                </a:r>
                <a:r>
                  <a:rPr lang="en-US" sz="2000" dirty="0">
                    <a:latin typeface="Arial" panose="020B0604020202020204" pitchFamily="34" charset="0"/>
                    <a:cs typeface="Arial" panose="020B0604020202020204" pitchFamily="34" charset="0"/>
                  </a:rPr>
                  <a:t>95% confidence interval</a:t>
                </a:r>
                <a:r>
                  <a:rPr lang="en-US" sz="2000" dirty="0" smtClean="0">
                    <a:latin typeface="Arial" panose="020B0604020202020204" pitchFamily="34" charset="0"/>
                    <a:cs typeface="Arial" panose="020B0604020202020204" pitchFamily="34" charset="0"/>
                  </a:rPr>
                  <a:t> for the mean time </a:t>
                </a:r>
                <a:r>
                  <a:rPr lang="en-US" sz="2000" dirty="0">
                    <a:latin typeface="Arial" panose="020B0604020202020204" pitchFamily="34" charset="0"/>
                    <a:cs typeface="Arial" panose="020B0604020202020204" pitchFamily="34" charset="0"/>
                  </a:rPr>
                  <a:t>required a central processing unit to </a:t>
                </a:r>
                <a:r>
                  <a:rPr lang="en-US" sz="2000" dirty="0" smtClean="0">
                    <a:latin typeface="Arial" panose="020B0604020202020204" pitchFamily="34" charset="0"/>
                    <a:cs typeface="Arial" panose="020B0604020202020204" pitchFamily="34" charset="0"/>
                  </a:rPr>
                  <a:t>process the job. </a:t>
                </a:r>
              </a:p>
              <a:p>
                <a:pPr marL="342900" indent="-342900" algn="just">
                  <a:lnSpc>
                    <a:spcPct val="10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 </a:t>
                </a:r>
                <a:r>
                  <a:rPr lang="en-US" sz="2000" dirty="0" smtClean="0">
                    <a:latin typeface="Arial" panose="020B0604020202020204" pitchFamily="34" charset="0"/>
                    <a:cs typeface="Arial" panose="020B0604020202020204" pitchFamily="34" charset="0"/>
                  </a:rPr>
                  <a:t>Here </a:t>
                </a:r>
                <a:r>
                  <a:rPr lang="en-US" sz="2000" dirty="0">
                    <a:latin typeface="Arial" panose="020B0604020202020204" pitchFamily="34" charset="0"/>
                    <a:cs typeface="Arial" panose="020B0604020202020204" pitchFamily="34" charset="0"/>
                  </a:rPr>
                  <a:t>we have </a:t>
                </a:r>
                <a14:m>
                  <m:oMath xmlns:m="http://schemas.openxmlformats.org/officeDocument/2006/math">
                    <m:r>
                      <a:rPr lang="en-US" sz="2000" i="1">
                        <a:latin typeface="Cambria Math" panose="02040503050406030204" pitchFamily="18" charset="0"/>
                      </a:rPr>
                      <m:t>𝑛</m:t>
                    </m:r>
                    <m:r>
                      <a:rPr lang="en-US" sz="2000" i="1">
                        <a:latin typeface="Cambria Math" panose="02040503050406030204" pitchFamily="18" charset="0"/>
                      </a:rPr>
                      <m:t>=40,  </m:t>
                    </m:r>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b="0" i="1" smtClean="0">
                        <a:latin typeface="Cambria Math" panose="02040503050406030204" pitchFamily="18" charset="0"/>
                      </a:rPr>
                      <m:t>20.5</m:t>
                    </m:r>
                    <m:r>
                      <a:rPr lang="en-US" sz="2000" i="1">
                        <a:latin typeface="Cambria Math" panose="02040503050406030204" pitchFamily="18" charset="0"/>
                      </a:rPr>
                      <m:t> , </m:t>
                    </m:r>
                    <m:r>
                      <a:rPr lang="en-US" sz="2000" i="1">
                        <a:latin typeface="Cambria Math" panose="02040503050406030204" pitchFamily="18" charset="0"/>
                      </a:rPr>
                      <m:t>𝑆</m:t>
                    </m:r>
                    <m:r>
                      <a:rPr lang="en-US" sz="2000" i="1">
                        <a:latin typeface="Cambria Math" panose="02040503050406030204" pitchFamily="18" charset="0"/>
                      </a:rPr>
                      <m:t> =3.8</m:t>
                    </m:r>
                  </m:oMath>
                </a14:m>
                <a:r>
                  <a:rPr lang="en-US" sz="2000" dirty="0">
                    <a:latin typeface="Arial" panose="020B0604020202020204" pitchFamily="34" charset="0"/>
                    <a:cs typeface="Arial" panose="020B0604020202020204" pitchFamily="34" charset="0"/>
                  </a:rPr>
                  <a:t>. We have </a:t>
                </a:r>
                <a14:m>
                  <m:oMath xmlns:m="http://schemas.openxmlformats.org/officeDocument/2006/math">
                    <m:r>
                      <a:rPr lang="en-US" sz="2000" i="1">
                        <a:latin typeface="Cambria Math" panose="02040503050406030204" pitchFamily="18" charset="0"/>
                      </a:rPr>
                      <m:t>𝑆𝐸</m:t>
                    </m:r>
                    <m:d>
                      <m:dPr>
                        <m:ctrlPr>
                          <a:rPr lang="en-US" sz="2000" i="1">
                            <a:latin typeface="Cambria Math" panose="02040503050406030204" pitchFamily="18" charset="0"/>
                          </a:rPr>
                        </m:ctrlPr>
                      </m:dPr>
                      <m:e>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e>
                    </m:d>
                    <m:r>
                      <a:rPr lang="en-US" sz="200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𝑆</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3.8</m:t>
                        </m:r>
                      </m:num>
                      <m:den>
                        <m:rad>
                          <m:radPr>
                            <m:degHide m:val="on"/>
                            <m:ctrlPr>
                              <a:rPr lang="en-US" sz="2000" i="1">
                                <a:latin typeface="Cambria Math" panose="02040503050406030204" pitchFamily="18" charset="0"/>
                              </a:rPr>
                            </m:ctrlPr>
                          </m:radPr>
                          <m:deg/>
                          <m:e>
                            <m:r>
                              <a:rPr lang="en-US" sz="2000" b="0" i="1" smtClean="0">
                                <a:latin typeface="Cambria Math" panose="02040503050406030204" pitchFamily="18" charset="0"/>
                              </a:rPr>
                              <m:t>40</m:t>
                            </m:r>
                          </m:e>
                        </m:rad>
                      </m:den>
                    </m:f>
                    <m:r>
                      <a:rPr lang="en-US" sz="2000" i="1">
                        <a:latin typeface="Cambria Math" panose="02040503050406030204" pitchFamily="18" charset="0"/>
                      </a:rPr>
                      <m:t>=0.</m:t>
                    </m:r>
                    <m:r>
                      <a:rPr lang="en-US" sz="2000" b="0" i="1" smtClean="0">
                        <a:latin typeface="Cambria Math" panose="02040503050406030204" pitchFamily="18" charset="0"/>
                      </a:rPr>
                      <m:t>60</m:t>
                    </m:r>
                  </m:oMath>
                </a14:m>
                <a:r>
                  <a:rPr lang="en-US" sz="2000" dirty="0">
                    <a:latin typeface="Arial" panose="020B0604020202020204" pitchFamily="34" charset="0"/>
                    <a:cs typeface="Arial" panose="020B0604020202020204" pitchFamily="34" charset="0"/>
                  </a:rPr>
                  <a:t>. Since </a:t>
                </a:r>
                <a14:m>
                  <m:oMath xmlns:m="http://schemas.openxmlformats.org/officeDocument/2006/math">
                    <m:r>
                      <m:rPr>
                        <m:sty m:val="p"/>
                      </m:rPr>
                      <a:rPr lang="en-US" sz="2000">
                        <a:latin typeface="Cambria Math" panose="02040503050406030204" pitchFamily="18" charset="0"/>
                        <a:cs typeface="Arial" panose="020B0604020202020204" pitchFamily="34" charset="0"/>
                      </a:rPr>
                      <m:t>n</m:t>
                    </m:r>
                    <m:r>
                      <a:rPr lang="en-US" sz="2000" i="1">
                        <a:latin typeface="Cambria Math" panose="02040503050406030204" pitchFamily="18" charset="0"/>
                        <a:cs typeface="Arial" panose="020B0604020202020204" pitchFamily="34" charset="0"/>
                      </a:rPr>
                      <m:t>&gt;30, </m:t>
                    </m:r>
                    <m:r>
                      <a:rPr lang="en-US" sz="2000" b="1" i="1">
                        <a:latin typeface="Cambria Math" panose="02040503050406030204" pitchFamily="18" charset="0"/>
                        <a:cs typeface="Arial" panose="020B0604020202020204" pitchFamily="34" charset="0"/>
                      </a:rPr>
                      <m:t> </m:t>
                    </m:r>
                    <m:acc>
                      <m:accPr>
                        <m:chr m:val="̅"/>
                        <m:ctrlPr>
                          <a:rPr lang="en-US" sz="2000" b="1" i="1">
                            <a:latin typeface="Cambria Math" panose="02040503050406030204" pitchFamily="18" charset="0"/>
                          </a:rPr>
                        </m:ctrlPr>
                      </m:accPr>
                      <m:e>
                        <m:r>
                          <a:rPr lang="en-US" sz="2000" b="1" i="1">
                            <a:latin typeface="Cambria Math" panose="02040503050406030204" pitchFamily="18" charset="0"/>
                          </a:rPr>
                          <m:t>𝑿</m:t>
                        </m:r>
                      </m:e>
                    </m:acc>
                    <m:r>
                      <a:rPr lang="en-US" sz="2000" b="1" i="1">
                        <a:latin typeface="Cambria Math" panose="02040503050406030204" pitchFamily="18" charset="0"/>
                      </a:rPr>
                      <m:t>∼</m:t>
                    </m:r>
                    <m:r>
                      <a:rPr lang="en-US" sz="2000" b="1" i="1">
                        <a:latin typeface="Cambria Math" panose="02040503050406030204" pitchFamily="18" charset="0"/>
                      </a:rPr>
                      <m:t>𝑵</m:t>
                    </m:r>
                    <m:d>
                      <m:dPr>
                        <m:ctrlPr>
                          <a:rPr lang="en-US" sz="2000" b="1" i="1">
                            <a:latin typeface="Cambria Math" panose="02040503050406030204" pitchFamily="18" charset="0"/>
                          </a:rPr>
                        </m:ctrlPr>
                      </m:dPr>
                      <m:e>
                        <m:r>
                          <a:rPr lang="en-US" sz="2000" b="1" i="1" smtClean="0">
                            <a:latin typeface="Cambria Math" panose="02040503050406030204" pitchFamily="18" charset="0"/>
                          </a:rPr>
                          <m:t>𝝁</m:t>
                        </m:r>
                        <m:r>
                          <a:rPr lang="en-US" sz="2000" b="1" i="1">
                            <a:latin typeface="Cambria Math" panose="02040503050406030204" pitchFamily="18" charset="0"/>
                          </a:rPr>
                          <m:t>, </m:t>
                        </m:r>
                        <m:r>
                          <a:rPr lang="en-US" sz="2000" b="1" i="1">
                            <a:latin typeface="Cambria Math" panose="02040503050406030204" pitchFamily="18" charset="0"/>
                          </a:rPr>
                          <m:t>𝟎</m:t>
                        </m:r>
                        <m:sSup>
                          <m:sSupPr>
                            <m:ctrlPr>
                              <a:rPr lang="en-US" sz="2000" b="1" i="1">
                                <a:latin typeface="Cambria Math" panose="02040503050406030204" pitchFamily="18" charset="0"/>
                              </a:rPr>
                            </m:ctrlPr>
                          </m:sSupPr>
                          <m:e>
                            <m:r>
                              <a:rPr lang="en-US" sz="2000" b="1" i="1">
                                <a:latin typeface="Cambria Math" panose="02040503050406030204" pitchFamily="18" charset="0"/>
                              </a:rPr>
                              <m:t>.</m:t>
                            </m:r>
                            <m:r>
                              <a:rPr lang="en-US" sz="2000" b="1" i="1" smtClean="0">
                                <a:latin typeface="Cambria Math" panose="02040503050406030204" pitchFamily="18" charset="0"/>
                              </a:rPr>
                              <m:t>𝟔𝟎</m:t>
                            </m:r>
                          </m:e>
                          <m:sup>
                            <m:r>
                              <a:rPr lang="en-US" sz="2000" b="1" i="1">
                                <a:latin typeface="Cambria Math" panose="02040503050406030204" pitchFamily="18" charset="0"/>
                              </a:rPr>
                              <m:t>𝟐</m:t>
                            </m:r>
                          </m:sup>
                        </m:sSup>
                        <m:r>
                          <a:rPr lang="en-US" sz="2000" b="1" i="1">
                            <a:latin typeface="Cambria Math" panose="02040503050406030204" pitchFamily="18" charset="0"/>
                          </a:rPr>
                          <m:t> </m:t>
                        </m:r>
                      </m:e>
                    </m:d>
                  </m:oMath>
                </a14:m>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For 95% confidence interval,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.025</m:t>
                        </m:r>
                      </m:sub>
                    </m:sSub>
                    <m:r>
                      <a:rPr lang="en-US" sz="2000" i="1">
                        <a:latin typeface="Cambria Math" panose="02040503050406030204" pitchFamily="18" charset="0"/>
                      </a:rPr>
                      <m:t>=1.96</m:t>
                    </m:r>
                  </m:oMath>
                </a14:m>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The margin of error is: </a:t>
                </a:r>
                <a14:m>
                  <m:oMath xmlns:m="http://schemas.openxmlformats.org/officeDocument/2006/math">
                    <m:r>
                      <m:rPr>
                        <m:sty m:val="p"/>
                      </m:rPr>
                      <a:rPr lang="en-US" sz="2000" b="0" i="0" smtClean="0">
                        <a:latin typeface="Cambria Math" panose="02040503050406030204" pitchFamily="18" charset="0"/>
                        <a:cs typeface="Arial" panose="020B0604020202020204" pitchFamily="34" charset="0"/>
                      </a:rPr>
                      <m:t>MoE</m:t>
                    </m:r>
                    <m:r>
                      <a:rPr lang="en-US" sz="2000" b="0" i="0"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1.96×0.60=1.18</m:t>
                    </m:r>
                  </m:oMath>
                </a14:m>
                <a:r>
                  <a:rPr lang="en-US" sz="2000" b="0" dirty="0" smtClean="0">
                    <a:latin typeface="Arial" panose="020B0604020202020204" pitchFamily="34" charset="0"/>
                    <a:cs typeface="Arial" panose="020B0604020202020204" pitchFamily="34" charset="0"/>
                  </a:rPr>
                  <a:t> seconds.</a:t>
                </a: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Therefore </a:t>
                </a:r>
                <a:r>
                  <a:rPr lang="en-US" sz="2000" dirty="0">
                    <a:latin typeface="Arial" panose="020B0604020202020204" pitchFamily="34" charset="0"/>
                    <a:cs typeface="Arial" panose="020B0604020202020204" pitchFamily="34" charset="0"/>
                  </a:rPr>
                  <a:t>95% confidence interval for the population mean is</a:t>
                </a:r>
              </a:p>
              <a:p>
                <a:pPr>
                  <a:lnSpc>
                    <a:spcPct val="100000"/>
                  </a:lnSpc>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b="0" i="1" smtClean="0">
                          <a:latin typeface="Cambria Math" panose="02040503050406030204" pitchFamily="18" charset="0"/>
                        </a:rPr>
                        <m:t>𝑀𝑜𝐸</m:t>
                      </m:r>
                      <m:r>
                        <a:rPr lang="en-US" sz="2000" i="1">
                          <a:latin typeface="Cambria Math" panose="02040503050406030204" pitchFamily="18" charset="0"/>
                        </a:rPr>
                        <m:t>&lt;</m:t>
                      </m:r>
                      <m:r>
                        <a:rPr lang="en-US" sz="2000" i="1">
                          <a:latin typeface="Cambria Math" panose="02040503050406030204" pitchFamily="18" charset="0"/>
                        </a:rPr>
                        <m:t>𝜇</m:t>
                      </m:r>
                      <m:r>
                        <a:rPr lang="en-US" sz="2000" i="1">
                          <a:latin typeface="Cambria Math" panose="02040503050406030204" pitchFamily="18" charset="0"/>
                        </a:rPr>
                        <m:t>&lt;</m:t>
                      </m:r>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m:t>
                      </m:r>
                      <m:r>
                        <a:rPr lang="en-US" sz="2000" b="0" i="1" smtClean="0">
                          <a:latin typeface="Cambria Math" panose="02040503050406030204" pitchFamily="18" charset="0"/>
                        </a:rPr>
                        <m:t>𝑀𝑜𝐸</m:t>
                      </m:r>
                    </m:oMath>
                  </m:oMathPara>
                </a14:m>
                <a:endParaRPr lang="en-US" sz="2000" dirty="0">
                  <a:latin typeface="Arial" panose="020B0604020202020204" pitchFamily="34" charset="0"/>
                  <a:cs typeface="Arial" panose="020B0604020202020204" pitchFamily="34" charset="0"/>
                </a:endParaRPr>
              </a:p>
              <a:p>
                <a:pPr>
                  <a:lnSpc>
                    <a:spcPct val="10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20.5</m:t>
                      </m:r>
                      <m:r>
                        <a:rPr lang="en-US" sz="2000" i="1">
                          <a:latin typeface="Cambria Math" panose="02040503050406030204" pitchFamily="18" charset="0"/>
                        </a:rPr>
                        <m:t>−</m:t>
                      </m:r>
                      <m:r>
                        <a:rPr lang="en-US" sz="2000" b="0" i="1" smtClean="0">
                          <a:latin typeface="Cambria Math" panose="02040503050406030204" pitchFamily="18" charset="0"/>
                        </a:rPr>
                        <m:t>1.18</m:t>
                      </m:r>
                      <m:r>
                        <a:rPr lang="en-US" sz="2000" i="1">
                          <a:latin typeface="Cambria Math" panose="02040503050406030204" pitchFamily="18" charset="0"/>
                        </a:rPr>
                        <m:t>&lt;</m:t>
                      </m:r>
                      <m:r>
                        <a:rPr lang="en-US" sz="2000" i="1">
                          <a:latin typeface="Cambria Math" panose="02040503050406030204" pitchFamily="18" charset="0"/>
                        </a:rPr>
                        <m:t>𝜇</m:t>
                      </m:r>
                      <m:r>
                        <a:rPr lang="en-US" sz="2000" i="1">
                          <a:latin typeface="Cambria Math" panose="02040503050406030204" pitchFamily="18" charset="0"/>
                        </a:rPr>
                        <m:t>&lt;20.5+1.18</m:t>
                      </m:r>
                    </m:oMath>
                  </m:oMathPara>
                </a14:m>
                <a:endParaRPr lang="en-US" sz="2000" dirty="0">
                  <a:latin typeface="Arial" panose="020B0604020202020204" pitchFamily="34" charset="0"/>
                  <a:cs typeface="Arial" panose="020B0604020202020204" pitchFamily="34" charset="0"/>
                </a:endParaRPr>
              </a:p>
              <a:p>
                <a:pPr>
                  <a:lnSpc>
                    <a:spcPct val="10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19.32</m:t>
                      </m:r>
                      <m:r>
                        <a:rPr lang="en-US" sz="2000" i="1">
                          <a:latin typeface="Cambria Math" panose="02040503050406030204" pitchFamily="18" charset="0"/>
                        </a:rPr>
                        <m:t>&lt;</m:t>
                      </m:r>
                      <m:r>
                        <a:rPr lang="en-US" sz="2000" i="1">
                          <a:latin typeface="Cambria Math" panose="02040503050406030204" pitchFamily="18" charset="0"/>
                        </a:rPr>
                        <m:t>𝜇</m:t>
                      </m:r>
                      <m:r>
                        <a:rPr lang="en-US" sz="2000" i="1">
                          <a:latin typeface="Cambria Math" panose="02040503050406030204" pitchFamily="18" charset="0"/>
                        </a:rPr>
                        <m:t>&lt;21.68</m:t>
                      </m:r>
                    </m:oMath>
                  </m:oMathPara>
                </a14:m>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5917799"/>
              </a:xfrm>
              <a:blipFill rotWithShape="0">
                <a:blip r:embed="rId2"/>
                <a:stretch>
                  <a:fillRect l="-491" t="-412" r="-600"/>
                </a:stretch>
              </a:blipFill>
            </p:spPr>
            <p:txBody>
              <a:bodyPr/>
              <a:lstStyle/>
              <a:p>
                <a:r>
                  <a:rPr lang="en-US">
                    <a:noFill/>
                  </a:rPr>
                  <a:t> </a:t>
                </a:r>
              </a:p>
            </p:txBody>
          </p:sp>
        </mc:Fallback>
      </mc:AlternateContent>
    </p:spTree>
    <p:extLst>
      <p:ext uri="{BB962C8B-B14F-4D97-AF65-F5344CB8AC3E}">
        <p14:creationId xmlns:p14="http://schemas.microsoft.com/office/powerpoint/2010/main" val="31384246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35036"/>
            <a:ext cx="9144000" cy="436477"/>
          </a:xfrm>
        </p:spPr>
        <p:txBody>
          <a:bodyPr>
            <a:noAutofit/>
          </a:bodyPr>
          <a:lstStyle/>
          <a:p>
            <a:r>
              <a:rPr lang="en-US" sz="2400" b="1" dirty="0">
                <a:latin typeface="Arial" panose="020B0604020202020204" pitchFamily="34" charset="0"/>
                <a:cs typeface="Arial" panose="020B0604020202020204" pitchFamily="34" charset="0"/>
              </a:rPr>
              <a:t>Sampling Distribution and </a:t>
            </a:r>
            <a:r>
              <a:rPr lang="en-US" sz="2400" b="1" dirty="0" smtClean="0">
                <a:latin typeface="Arial" panose="020B0604020202020204" pitchFamily="34" charset="0"/>
                <a:cs typeface="Arial" panose="020B0604020202020204" pitchFamily="34" charset="0"/>
              </a:rPr>
              <a:t>Estimation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542924" y="768750"/>
                <a:ext cx="11172825" cy="5917799"/>
              </a:xfrm>
            </p:spPr>
            <p:txBody>
              <a:bodyPr>
                <a:noAutofit/>
              </a:bodyPr>
              <a:lstStyle/>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Example: </a:t>
                </a:r>
                <a:r>
                  <a:rPr lang="en-US" sz="2000" dirty="0" smtClean="0">
                    <a:latin typeface="Arial" panose="020B0604020202020204" pitchFamily="34" charset="0"/>
                    <a:cs typeface="Arial" panose="020B0604020202020204" pitchFamily="34" charset="0"/>
                  </a:rPr>
                  <a:t>We </a:t>
                </a:r>
                <a:r>
                  <a:rPr lang="en-US" sz="2000" dirty="0">
                    <a:latin typeface="Arial" panose="020B0604020202020204" pitchFamily="34" charset="0"/>
                    <a:cs typeface="Arial" panose="020B0604020202020204" pitchFamily="34" charset="0"/>
                  </a:rPr>
                  <a:t>want to estimate the proportion of IC chips (used on computer memory boards) that fail after installation. From a random sample of </a:t>
                </a:r>
                <a:r>
                  <a:rPr lang="en-US" sz="2000" dirty="0" smtClean="0">
                    <a:latin typeface="Arial" panose="020B0604020202020204" pitchFamily="34" charset="0"/>
                    <a:cs typeface="Arial" panose="020B0604020202020204" pitchFamily="34" charset="0"/>
                  </a:rPr>
                  <a:t>105 </a:t>
                </a:r>
                <a:r>
                  <a:rPr lang="en-US" sz="2000" dirty="0">
                    <a:latin typeface="Arial" panose="020B0604020202020204" pitchFamily="34" charset="0"/>
                    <a:cs typeface="Arial" panose="020B0604020202020204" pitchFamily="34" charset="0"/>
                  </a:rPr>
                  <a:t>IC chips, </a:t>
                </a:r>
                <a:r>
                  <a:rPr lang="en-US" sz="2000" dirty="0" smtClean="0">
                    <a:latin typeface="Arial" panose="020B0604020202020204" pitchFamily="34" charset="0"/>
                    <a:cs typeface="Arial" panose="020B0604020202020204" pitchFamily="34" charset="0"/>
                  </a:rPr>
                  <a:t>12 </a:t>
                </a:r>
                <a:r>
                  <a:rPr lang="en-US" sz="2000" dirty="0">
                    <a:latin typeface="Arial" panose="020B0604020202020204" pitchFamily="34" charset="0"/>
                    <a:cs typeface="Arial" panose="020B0604020202020204" pitchFamily="34" charset="0"/>
                  </a:rPr>
                  <a:t>failed after </a:t>
                </a:r>
                <a:r>
                  <a:rPr lang="en-US" sz="2000" dirty="0" smtClean="0">
                    <a:latin typeface="Arial" panose="020B0604020202020204" pitchFamily="34" charset="0"/>
                    <a:cs typeface="Arial" panose="020B0604020202020204" pitchFamily="34" charset="0"/>
                  </a:rPr>
                  <a:t>installation. Find: (</a:t>
                </a:r>
                <a:r>
                  <a:rPr lang="en-US" sz="2000" dirty="0">
                    <a:latin typeface="Arial" panose="020B0604020202020204" pitchFamily="34" charset="0"/>
                    <a:cs typeface="Arial" panose="020B0604020202020204" pitchFamily="34" charset="0"/>
                  </a:rPr>
                  <a:t>a) the margin of error for a 95% confidence interval</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b) the 95% confidence interval for the failure proportion.</a:t>
                </a:r>
              </a:p>
              <a:p>
                <a:pPr marL="342900" indent="-342900" algn="just">
                  <a:lnSpc>
                    <a:spcPct val="150000"/>
                  </a:lnSpc>
                  <a:buFont typeface="Arial" panose="020B0604020202020204" pitchFamily="34" charset="0"/>
                  <a:buChar char="•"/>
                </a:pPr>
                <a:r>
                  <a:rPr lang="en-US" sz="2000" b="1" dirty="0" smtClean="0">
                    <a:latin typeface="Arial" panose="020B0604020202020204" pitchFamily="34" charset="0"/>
                    <a:cs typeface="Arial" panose="020B0604020202020204" pitchFamily="34" charset="0"/>
                  </a:rPr>
                  <a:t>Solution:</a:t>
                </a:r>
                <a:r>
                  <a:rPr lang="en-US" sz="2000" dirty="0">
                    <a:latin typeface="Arial" panose="020B0604020202020204" pitchFamily="34" charset="0"/>
                    <a:cs typeface="Arial" panose="020B0604020202020204" pitchFamily="34" charset="0"/>
                  </a:rPr>
                  <a:t> </a:t>
                </a:r>
                <a:r>
                  <a:rPr lang="en-US" sz="2000" dirty="0" smtClean="0">
                    <a:latin typeface="Arial" panose="020B0604020202020204" pitchFamily="34" charset="0"/>
                    <a:cs typeface="Arial" panose="020B0604020202020204" pitchFamily="34" charset="0"/>
                  </a:rPr>
                  <a:t>Here </a:t>
                </a:r>
                <a:r>
                  <a:rPr lang="en-US" sz="2000" dirty="0">
                    <a:latin typeface="Arial" panose="020B0604020202020204" pitchFamily="34" charset="0"/>
                    <a:cs typeface="Arial" panose="020B0604020202020204" pitchFamily="34" charset="0"/>
                  </a:rPr>
                  <a:t>we have </a:t>
                </a:r>
                <a14:m>
                  <m:oMath xmlns:m="http://schemas.openxmlformats.org/officeDocument/2006/math">
                    <m:r>
                      <a:rPr lang="en-US" sz="2000" b="0" i="1" smtClean="0">
                        <a:latin typeface="Cambria Math" panose="02040503050406030204" pitchFamily="18" charset="0"/>
                      </a:rPr>
                      <m:t>𝑛</m:t>
                    </m:r>
                    <m:r>
                      <a:rPr lang="en-US" sz="2000" i="1">
                        <a:latin typeface="Cambria Math" panose="02040503050406030204" pitchFamily="18" charset="0"/>
                      </a:rPr>
                      <m:t>=10</m:t>
                    </m:r>
                    <m:r>
                      <a:rPr lang="en-US" sz="2000" b="0" i="1" smtClean="0">
                        <a:latin typeface="Cambria Math" panose="02040503050406030204" pitchFamily="18" charset="0"/>
                      </a:rPr>
                      <m:t>5</m:t>
                    </m:r>
                    <m:r>
                      <a:rPr lang="en-US" sz="2000" i="1">
                        <a:latin typeface="Cambria Math" panose="02040503050406030204" pitchFamily="18" charset="0"/>
                      </a:rPr>
                      <m:t>, &amp; </m:t>
                    </m:r>
                    <m:r>
                      <a:rPr lang="en-US" sz="2000" i="1">
                        <a:latin typeface="Cambria Math" panose="02040503050406030204" pitchFamily="18" charset="0"/>
                      </a:rPr>
                      <m:t>𝑥</m:t>
                    </m:r>
                    <m:r>
                      <a:rPr lang="en-US" sz="2000" i="1">
                        <a:latin typeface="Cambria Math" panose="02040503050406030204" pitchFamily="18" charset="0"/>
                      </a:rPr>
                      <m:t>=12</m:t>
                    </m:r>
                  </m:oMath>
                </a14:m>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So, the sample proportion is estimated as,</a:t>
                </a:r>
              </a:p>
              <a:p>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𝑝</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𝑥</m:t>
                        </m:r>
                      </m:num>
                      <m:den>
                        <m:r>
                          <a:rPr lang="en-US" sz="2000" i="1">
                            <a:latin typeface="Cambria Math" panose="02040503050406030204" pitchFamily="18" charset="0"/>
                          </a:rPr>
                          <m:t>𝑛</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12</m:t>
                        </m:r>
                      </m:num>
                      <m:den>
                        <m:r>
                          <a:rPr lang="en-US" sz="2000" i="1">
                            <a:latin typeface="Cambria Math" panose="02040503050406030204" pitchFamily="18" charset="0"/>
                          </a:rPr>
                          <m:t>10</m:t>
                        </m:r>
                        <m:r>
                          <a:rPr lang="en-US" sz="2000" b="0" i="1" smtClean="0">
                            <a:latin typeface="Cambria Math" panose="02040503050406030204" pitchFamily="18" charset="0"/>
                          </a:rPr>
                          <m:t>5</m:t>
                        </m:r>
                      </m:den>
                    </m:f>
                    <m:r>
                      <a:rPr lang="en-US" sz="2000" i="1">
                        <a:latin typeface="Cambria Math" panose="02040503050406030204" pitchFamily="18" charset="0"/>
                      </a:rPr>
                      <m:t>=0.</m:t>
                    </m:r>
                    <m:r>
                      <a:rPr lang="en-US" sz="2000" b="0" i="1" smtClean="0">
                        <a:latin typeface="Cambria Math" panose="02040503050406030204" pitchFamily="18" charset="0"/>
                      </a:rPr>
                      <m:t>1143</m:t>
                    </m:r>
                  </m:oMath>
                </a14:m>
                <a:r>
                  <a:rPr lang="en-US" sz="2000" dirty="0">
                    <a:latin typeface="Arial" panose="020B0604020202020204" pitchFamily="34" charset="0"/>
                    <a:cs typeface="Arial" panose="020B0604020202020204" pitchFamily="34" charset="0"/>
                  </a:rPr>
                  <a:t>.</a:t>
                </a:r>
              </a:p>
              <a:p>
                <a:pPr marL="342900" indent="-342900" algn="just">
                  <a:lnSpc>
                    <a:spcPct val="100000"/>
                  </a:lnSpc>
                  <a:buFont typeface="Arial" panose="020B0604020202020204" pitchFamily="34" charset="0"/>
                  <a:buChar char="•"/>
                </a:pPr>
                <a:r>
                  <a:rPr lang="en-US" sz="2000" dirty="0" smtClean="0">
                    <a:latin typeface="Arial" panose="020B0604020202020204" pitchFamily="34" charset="0"/>
                    <a:cs typeface="Arial" panose="020B0604020202020204" pitchFamily="34" charset="0"/>
                  </a:rPr>
                  <a:t>We </a:t>
                </a:r>
                <a:r>
                  <a:rPr lang="en-US" sz="2000" dirty="0">
                    <a:latin typeface="Arial" panose="020B0604020202020204" pitchFamily="34" charset="0"/>
                    <a:cs typeface="Arial" panose="020B0604020202020204" pitchFamily="34" charset="0"/>
                  </a:rPr>
                  <a:t>have</a:t>
                </a:r>
                <a:r>
                  <a:rPr lang="en-US" sz="2000" dirty="0" smtClean="0">
                    <a:latin typeface="Arial" panose="020B0604020202020204" pitchFamily="34" charset="0"/>
                    <a:cs typeface="Arial" panose="020B0604020202020204" pitchFamily="34" charset="0"/>
                  </a:rPr>
                  <a:t> </a:t>
                </a:r>
                <a14:m>
                  <m:oMath xmlns:m="http://schemas.openxmlformats.org/officeDocument/2006/math">
                    <m:r>
                      <a:rPr lang="en-US" sz="2000" i="1">
                        <a:latin typeface="Cambria Math" panose="02040503050406030204" pitchFamily="18" charset="0"/>
                      </a:rPr>
                      <m:t>𝑆𝐸</m:t>
                    </m:r>
                    <m:d>
                      <m:dPr>
                        <m:ctrlPr>
                          <a:rPr lang="en-US" sz="2000" i="1">
                            <a:latin typeface="Cambria Math" panose="02040503050406030204" pitchFamily="18" charset="0"/>
                          </a:rPr>
                        </m:ctrlPr>
                      </m:dPr>
                      <m:e>
                        <m:r>
                          <a:rPr lang="en-US" sz="2000" i="1">
                            <a:latin typeface="Cambria Math" panose="02040503050406030204" pitchFamily="18" charset="0"/>
                          </a:rPr>
                          <m:t>𝑝</m:t>
                        </m:r>
                      </m:e>
                    </m:d>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panose="02040503050406030204" pitchFamily="18" charset="0"/>
                              </a:rPr>
                              <m:t>𝑝</m:t>
                            </m:r>
                            <m:r>
                              <a:rPr lang="en-US" sz="2000" i="1">
                                <a:latin typeface="Cambria Math" panose="02040503050406030204" pitchFamily="18" charset="0"/>
                              </a:rPr>
                              <m:t>(1−</m:t>
                            </m:r>
                            <m:r>
                              <a:rPr lang="en-US" sz="2000" i="1">
                                <a:latin typeface="Cambria Math" panose="02040503050406030204" pitchFamily="18" charset="0"/>
                              </a:rPr>
                              <m:t>𝑝</m:t>
                            </m:r>
                            <m:r>
                              <a:rPr lang="en-US" sz="2000" i="1">
                                <a:latin typeface="Cambria Math" panose="02040503050406030204" pitchFamily="18" charset="0"/>
                              </a:rPr>
                              <m:t>)</m:t>
                            </m:r>
                          </m:num>
                          <m:den>
                            <m:r>
                              <a:rPr lang="en-US" sz="2000" i="1">
                                <a:latin typeface="Cambria Math" panose="02040503050406030204" pitchFamily="18" charset="0"/>
                              </a:rPr>
                              <m:t>𝑛</m:t>
                            </m:r>
                          </m:den>
                        </m:f>
                      </m:e>
                    </m:rad>
                    <m:r>
                      <a:rPr lang="en-US" sz="2000" b="0" i="1" smtClean="0">
                        <a:latin typeface="Cambria Math" panose="02040503050406030204" pitchFamily="18" charset="0"/>
                      </a:rPr>
                      <m:t>=0.031</m:t>
                    </m:r>
                  </m:oMath>
                </a14:m>
                <a:r>
                  <a:rPr lang="en-US" sz="2000" dirty="0">
                    <a:latin typeface="Arial" panose="020B0604020202020204" pitchFamily="34" charset="0"/>
                    <a:cs typeface="Arial" panose="020B0604020202020204" pitchFamily="34" charset="0"/>
                  </a:rPr>
                  <a:t>. Since </a:t>
                </a:r>
                <a14:m>
                  <m:oMath xmlns:m="http://schemas.openxmlformats.org/officeDocument/2006/math">
                    <m:r>
                      <m:rPr>
                        <m:sty m:val="p"/>
                      </m:rPr>
                      <a:rPr lang="en-US" sz="2000">
                        <a:latin typeface="Cambria Math" panose="02040503050406030204" pitchFamily="18" charset="0"/>
                        <a:cs typeface="Arial" panose="020B0604020202020204" pitchFamily="34" charset="0"/>
                      </a:rPr>
                      <m:t>n</m:t>
                    </m:r>
                    <m:r>
                      <a:rPr lang="en-US" sz="2000" i="1">
                        <a:latin typeface="Cambria Math" panose="02040503050406030204" pitchFamily="18" charset="0"/>
                        <a:cs typeface="Arial" panose="020B0604020202020204" pitchFamily="34" charset="0"/>
                      </a:rPr>
                      <m:t>&gt;30, </m:t>
                    </m:r>
                    <m:r>
                      <a:rPr lang="en-US" sz="2000" b="1" i="1">
                        <a:latin typeface="Cambria Math" panose="02040503050406030204" pitchFamily="18" charset="0"/>
                        <a:cs typeface="Arial" panose="020B0604020202020204" pitchFamily="34" charset="0"/>
                      </a:rPr>
                      <m:t> </m:t>
                    </m:r>
                    <m:acc>
                      <m:accPr>
                        <m:chr m:val="̅"/>
                        <m:ctrlPr>
                          <a:rPr lang="en-US" sz="2000" b="1" i="1">
                            <a:latin typeface="Cambria Math" panose="02040503050406030204" pitchFamily="18" charset="0"/>
                          </a:rPr>
                        </m:ctrlPr>
                      </m:accPr>
                      <m:e>
                        <m:r>
                          <a:rPr lang="en-US" sz="2000" b="1" i="1">
                            <a:latin typeface="Cambria Math" panose="02040503050406030204" pitchFamily="18" charset="0"/>
                          </a:rPr>
                          <m:t>𝑿</m:t>
                        </m:r>
                      </m:e>
                    </m:acc>
                    <m:r>
                      <a:rPr lang="en-US" sz="2000" b="1" i="1">
                        <a:latin typeface="Cambria Math" panose="02040503050406030204" pitchFamily="18" charset="0"/>
                      </a:rPr>
                      <m:t>∼</m:t>
                    </m:r>
                    <m:r>
                      <a:rPr lang="en-US" sz="2000" b="1" i="1">
                        <a:latin typeface="Cambria Math" panose="02040503050406030204" pitchFamily="18" charset="0"/>
                      </a:rPr>
                      <m:t>𝑵</m:t>
                    </m:r>
                    <m:d>
                      <m:dPr>
                        <m:ctrlPr>
                          <a:rPr lang="en-US" sz="2000" b="1" i="1">
                            <a:latin typeface="Cambria Math" panose="02040503050406030204" pitchFamily="18" charset="0"/>
                          </a:rPr>
                        </m:ctrlPr>
                      </m:dPr>
                      <m:e>
                        <m:r>
                          <a:rPr lang="en-US" sz="2000" b="1" i="1" smtClean="0">
                            <a:latin typeface="Cambria Math" panose="02040503050406030204" pitchFamily="18" charset="0"/>
                          </a:rPr>
                          <m:t>𝝅</m:t>
                        </m:r>
                        <m:r>
                          <a:rPr lang="en-US" sz="2000" b="1" i="1">
                            <a:latin typeface="Cambria Math" panose="02040503050406030204" pitchFamily="18" charset="0"/>
                          </a:rPr>
                          <m:t>, </m:t>
                        </m:r>
                        <m:r>
                          <a:rPr lang="en-US" sz="2000" b="1" i="1">
                            <a:latin typeface="Cambria Math" panose="02040503050406030204" pitchFamily="18" charset="0"/>
                          </a:rPr>
                          <m:t>𝟎</m:t>
                        </m:r>
                        <m:sSup>
                          <m:sSupPr>
                            <m:ctrlPr>
                              <a:rPr lang="en-US" sz="2000" b="1" i="1">
                                <a:latin typeface="Cambria Math" panose="02040503050406030204" pitchFamily="18" charset="0"/>
                              </a:rPr>
                            </m:ctrlPr>
                          </m:sSupPr>
                          <m:e>
                            <m:r>
                              <a:rPr lang="en-US" sz="2000" b="1" i="1">
                                <a:latin typeface="Cambria Math" panose="02040503050406030204" pitchFamily="18" charset="0"/>
                              </a:rPr>
                              <m:t>.</m:t>
                            </m:r>
                            <m:r>
                              <a:rPr lang="en-US" sz="2000" b="1" i="1" smtClean="0">
                                <a:latin typeface="Cambria Math" panose="02040503050406030204" pitchFamily="18" charset="0"/>
                              </a:rPr>
                              <m:t>𝟎𝟑𝟏</m:t>
                            </m:r>
                          </m:e>
                          <m:sup>
                            <m:r>
                              <a:rPr lang="en-US" sz="2000" b="1" i="1">
                                <a:latin typeface="Cambria Math" panose="02040503050406030204" pitchFamily="18" charset="0"/>
                              </a:rPr>
                              <m:t>𝟐</m:t>
                            </m:r>
                          </m:sup>
                        </m:sSup>
                        <m:r>
                          <a:rPr lang="en-US" sz="2000" b="1" i="1">
                            <a:latin typeface="Cambria Math" panose="02040503050406030204" pitchFamily="18" charset="0"/>
                          </a:rPr>
                          <m:t> </m:t>
                        </m:r>
                      </m:e>
                    </m:d>
                  </m:oMath>
                </a14:m>
                <a:endParaRPr lang="en-US" sz="2000"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For 95% confidence interval,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𝑍</m:t>
                        </m:r>
                      </m:e>
                      <m:sub>
                        <m:r>
                          <a:rPr lang="en-US" sz="2000" i="1">
                            <a:latin typeface="Cambria Math" panose="02040503050406030204" pitchFamily="18" charset="0"/>
                          </a:rPr>
                          <m:t>.025</m:t>
                        </m:r>
                      </m:sub>
                    </m:sSub>
                    <m:r>
                      <a:rPr lang="en-US" sz="2000" i="1">
                        <a:latin typeface="Cambria Math" panose="02040503050406030204" pitchFamily="18" charset="0"/>
                      </a:rPr>
                      <m:t>=1.96</m:t>
                    </m:r>
                  </m:oMath>
                </a14:m>
                <a:r>
                  <a:rPr lang="en-US" sz="2000" dirty="0">
                    <a:latin typeface="Arial" panose="020B0604020202020204" pitchFamily="34" charset="0"/>
                    <a:cs typeface="Arial" panose="020B0604020202020204" pitchFamily="34" charset="0"/>
                  </a:rPr>
                  <a:t>. The margin of error is: </a:t>
                </a:r>
                <a14:m>
                  <m:oMath xmlns:m="http://schemas.openxmlformats.org/officeDocument/2006/math">
                    <m:r>
                      <m:rPr>
                        <m:sty m:val="p"/>
                      </m:rPr>
                      <a:rPr lang="en-US" sz="2000">
                        <a:latin typeface="Cambria Math" panose="02040503050406030204" pitchFamily="18" charset="0"/>
                        <a:cs typeface="Arial" panose="020B0604020202020204" pitchFamily="34" charset="0"/>
                      </a:rPr>
                      <m:t>MoE</m:t>
                    </m:r>
                    <m:r>
                      <a:rPr lang="en-US" sz="2000">
                        <a:latin typeface="Cambria Math" panose="02040503050406030204" pitchFamily="18" charset="0"/>
                        <a:cs typeface="Arial" panose="020B0604020202020204" pitchFamily="34" charset="0"/>
                      </a:rPr>
                      <m:t>=</m:t>
                    </m:r>
                    <m:r>
                      <a:rPr lang="en-US" sz="2000" i="1">
                        <a:latin typeface="Cambria Math" panose="02040503050406030204" pitchFamily="18" charset="0"/>
                        <a:cs typeface="Arial" panose="020B0604020202020204" pitchFamily="34" charset="0"/>
                      </a:rPr>
                      <m:t>1.96×0.</m:t>
                    </m:r>
                    <m:r>
                      <a:rPr lang="en-US" sz="2000" b="0" i="1" smtClean="0">
                        <a:latin typeface="Cambria Math" panose="02040503050406030204" pitchFamily="18" charset="0"/>
                        <a:cs typeface="Arial" panose="020B0604020202020204" pitchFamily="34" charset="0"/>
                      </a:rPr>
                      <m:t>031</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0.061</m:t>
                    </m:r>
                  </m:oMath>
                </a14:m>
                <a:r>
                  <a:rPr lang="en-US" sz="2000" dirty="0" smtClean="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Therefore 95% confidence interval for the population </a:t>
                </a:r>
                <a:r>
                  <a:rPr lang="en-US" sz="2000" dirty="0" smtClean="0">
                    <a:latin typeface="Arial" panose="020B0604020202020204" pitchFamily="34" charset="0"/>
                    <a:cs typeface="Arial" panose="020B0604020202020204" pitchFamily="34" charset="0"/>
                  </a:rPr>
                  <a:t>proportion </a:t>
                </a:r>
                <a:r>
                  <a:rPr lang="en-US" sz="2000" dirty="0">
                    <a:latin typeface="Arial" panose="020B0604020202020204" pitchFamily="34" charset="0"/>
                    <a:cs typeface="Arial" panose="020B0604020202020204" pitchFamily="34" charset="0"/>
                  </a:rPr>
                  <a:t>is</a:t>
                </a:r>
              </a:p>
              <a:p>
                <a:pPr>
                  <a:lnSpc>
                    <a:spcPct val="10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m:t>
                      </m:r>
                      <m:r>
                        <a:rPr lang="en-US" sz="2000" i="1">
                          <a:latin typeface="Cambria Math" panose="02040503050406030204" pitchFamily="18" charset="0"/>
                        </a:rPr>
                        <m:t>𝑀𝑜𝐸</m:t>
                      </m:r>
                      <m:r>
                        <a:rPr lang="en-US" sz="2000" i="1">
                          <a:latin typeface="Cambria Math" panose="02040503050406030204" pitchFamily="18" charset="0"/>
                        </a:rPr>
                        <m:t>&lt;</m:t>
                      </m:r>
                      <m:r>
                        <a:rPr lang="en-US" sz="2000" b="0" i="1" smtClean="0">
                          <a:latin typeface="Cambria Math" panose="02040503050406030204" pitchFamily="18" charset="0"/>
                        </a:rPr>
                        <m:t>𝜋</m:t>
                      </m:r>
                      <m:r>
                        <a:rPr lang="en-US" sz="2000" i="1">
                          <a:latin typeface="Cambria Math" panose="02040503050406030204" pitchFamily="18" charset="0"/>
                        </a:rPr>
                        <m:t>&lt;</m:t>
                      </m:r>
                      <m:r>
                        <a:rPr lang="en-US" sz="2000" b="0" i="1" smtClean="0">
                          <a:latin typeface="Cambria Math" panose="02040503050406030204" pitchFamily="18" charset="0"/>
                        </a:rPr>
                        <m:t>𝑝</m:t>
                      </m:r>
                      <m:r>
                        <a:rPr lang="en-US" sz="2000" i="1">
                          <a:latin typeface="Cambria Math" panose="02040503050406030204" pitchFamily="18" charset="0"/>
                        </a:rPr>
                        <m:t>+</m:t>
                      </m:r>
                      <m:r>
                        <a:rPr lang="en-US" sz="2000" i="1">
                          <a:latin typeface="Cambria Math" panose="02040503050406030204" pitchFamily="18" charset="0"/>
                        </a:rPr>
                        <m:t>𝑀𝑜𝐸</m:t>
                      </m:r>
                    </m:oMath>
                  </m:oMathPara>
                </a14:m>
                <a:endParaRPr lang="en-US" sz="2000" dirty="0">
                  <a:latin typeface="Arial" panose="020B0604020202020204" pitchFamily="34" charset="0"/>
                  <a:cs typeface="Arial" panose="020B0604020202020204" pitchFamily="34" charset="0"/>
                </a:endParaRPr>
              </a:p>
              <a:p>
                <a:pPr>
                  <a:lnSpc>
                    <a:spcPct val="10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0.1143</m:t>
                      </m:r>
                      <m:r>
                        <a:rPr lang="en-US" sz="2000" i="1">
                          <a:latin typeface="Cambria Math" panose="02040503050406030204" pitchFamily="18" charset="0"/>
                        </a:rPr>
                        <m:t>−</m:t>
                      </m:r>
                      <m:r>
                        <a:rPr lang="en-US" sz="2000" b="0" i="1" smtClean="0">
                          <a:latin typeface="Cambria Math" panose="02040503050406030204" pitchFamily="18" charset="0"/>
                        </a:rPr>
                        <m:t>0.061</m:t>
                      </m:r>
                      <m:r>
                        <a:rPr lang="en-US" sz="2000" i="1">
                          <a:latin typeface="Cambria Math" panose="02040503050406030204" pitchFamily="18" charset="0"/>
                        </a:rPr>
                        <m:t>&lt;</m:t>
                      </m:r>
                      <m:r>
                        <a:rPr lang="en-US" sz="2000" b="0" i="1" smtClean="0">
                          <a:latin typeface="Cambria Math" panose="02040503050406030204" pitchFamily="18" charset="0"/>
                        </a:rPr>
                        <m:t>𝜋</m:t>
                      </m:r>
                      <m:r>
                        <a:rPr lang="en-US" sz="2000" i="1">
                          <a:latin typeface="Cambria Math" panose="02040503050406030204" pitchFamily="18" charset="0"/>
                        </a:rPr>
                        <m:t>&lt;</m:t>
                      </m:r>
                      <m:r>
                        <a:rPr lang="en-US" sz="2000" b="0" i="1" smtClean="0">
                          <a:latin typeface="Cambria Math" panose="02040503050406030204" pitchFamily="18" charset="0"/>
                        </a:rPr>
                        <m:t>0.1143</m:t>
                      </m:r>
                      <m:r>
                        <a:rPr lang="en-US" sz="2000" i="1">
                          <a:latin typeface="Cambria Math" panose="02040503050406030204" pitchFamily="18" charset="0"/>
                        </a:rPr>
                        <m:t>+</m:t>
                      </m:r>
                      <m:r>
                        <a:rPr lang="en-US" sz="2000" b="0" i="1" smtClean="0">
                          <a:latin typeface="Cambria Math" panose="02040503050406030204" pitchFamily="18" charset="0"/>
                        </a:rPr>
                        <m:t>0.061</m:t>
                      </m:r>
                    </m:oMath>
                  </m:oMathPara>
                </a14:m>
                <a:endParaRPr lang="en-US" sz="2000" dirty="0">
                  <a:latin typeface="Arial" panose="020B0604020202020204" pitchFamily="34" charset="0"/>
                  <a:cs typeface="Arial" panose="020B0604020202020204" pitchFamily="34" charset="0"/>
                </a:endParaRPr>
              </a:p>
              <a:p>
                <a:pPr>
                  <a:lnSpc>
                    <a:spcPct val="10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0.0533&lt;</m:t>
                      </m:r>
                      <m:r>
                        <a:rPr lang="en-US" sz="2000" b="0" i="1" smtClean="0">
                          <a:latin typeface="Cambria Math" panose="02040503050406030204" pitchFamily="18" charset="0"/>
                        </a:rPr>
                        <m:t>𝜋</m:t>
                      </m:r>
                      <m:r>
                        <a:rPr lang="en-US" sz="2000" i="1">
                          <a:latin typeface="Cambria Math" panose="02040503050406030204" pitchFamily="18" charset="0"/>
                        </a:rPr>
                        <m:t>&lt;0.1753</m:t>
                      </m:r>
                    </m:oMath>
                  </m:oMathPara>
                </a14:m>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smtClean="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542924" y="768750"/>
                <a:ext cx="11172825" cy="5917799"/>
              </a:xfrm>
              <a:blipFill rotWithShape="0">
                <a:blip r:embed="rId2"/>
                <a:stretch>
                  <a:fillRect l="-491" r="-600"/>
                </a:stretch>
              </a:blipFill>
            </p:spPr>
            <p:txBody>
              <a:bodyPr/>
              <a:lstStyle/>
              <a:p>
                <a:r>
                  <a:rPr lang="en-US">
                    <a:noFill/>
                  </a:rPr>
                  <a:t> </a:t>
                </a:r>
              </a:p>
            </p:txBody>
          </p:sp>
        </mc:Fallback>
      </mc:AlternateContent>
    </p:spTree>
    <p:extLst>
      <p:ext uri="{BB962C8B-B14F-4D97-AF65-F5344CB8AC3E}">
        <p14:creationId xmlns:p14="http://schemas.microsoft.com/office/powerpoint/2010/main" val="36628424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85949"/>
            <a:ext cx="10515600" cy="6257713"/>
          </a:xfrm>
        </p:spPr>
        <p:txBody>
          <a:bodyPr>
            <a:noAutofit/>
          </a:bodyPr>
          <a:lstStyle/>
          <a:p>
            <a:pPr marL="0" indent="0">
              <a:buNone/>
            </a:pPr>
            <a:r>
              <a:rPr lang="en-US" sz="2400" b="1" dirty="0">
                <a:latin typeface="Arial" panose="020B0604020202020204" pitchFamily="34" charset="0"/>
                <a:cs typeface="Arial" panose="020B0604020202020204" pitchFamily="34" charset="0"/>
              </a:rPr>
              <a:t>Hypothesis:</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 A statement about a population parameter (population mean, population proportion, etc.) subject to verification.</a:t>
            </a:r>
          </a:p>
          <a:p>
            <a:r>
              <a:rPr lang="en-US" sz="2400" dirty="0">
                <a:latin typeface="Arial" panose="020B0604020202020204" pitchFamily="34" charset="0"/>
                <a:cs typeface="Arial" panose="020B0604020202020204" pitchFamily="34" charset="0"/>
              </a:rPr>
              <a:t>The purpose of hypothesis testing is to draw a conclusion about the population parameters for which we do not have complete knowledge.</a:t>
            </a:r>
          </a:p>
          <a:p>
            <a:pPr marL="0" indent="0">
              <a:buNone/>
            </a:pPr>
            <a:r>
              <a:rPr lang="en-US" sz="2400" b="1" dirty="0" smtClean="0">
                <a:latin typeface="Arial" panose="020B0604020202020204" pitchFamily="34" charset="0"/>
                <a:cs typeface="Arial" panose="020B0604020202020204" pitchFamily="34" charset="0"/>
              </a:rPr>
              <a:t>Examples</a:t>
            </a:r>
            <a:r>
              <a:rPr lang="en-US" sz="2400" b="1" dirty="0">
                <a:latin typeface="Arial" panose="020B0604020202020204" pitchFamily="34" charset="0"/>
                <a:cs typeface="Arial" panose="020B0604020202020204" pitchFamily="34" charset="0"/>
              </a:rPr>
              <a:t>:</a:t>
            </a:r>
          </a:p>
          <a:p>
            <a:pPr marL="457200" lvl="0" indent="-457200">
              <a:buFont typeface="+mj-lt"/>
              <a:buAutoNum type="arabicPeriod"/>
            </a:pPr>
            <a:r>
              <a:rPr lang="en-US" sz="2400" dirty="0">
                <a:latin typeface="Arial" panose="020B0604020202020204" pitchFamily="34" charset="0"/>
                <a:cs typeface="Arial" panose="020B0604020202020204" pitchFamily="34" charset="0"/>
              </a:rPr>
              <a:t>A production manager claims that a 500 mg tablet is overfilled.</a:t>
            </a:r>
          </a:p>
          <a:p>
            <a:pPr marL="457200" lvl="0" indent="-457200">
              <a:buFont typeface="+mj-lt"/>
              <a:buAutoNum type="arabicPeriod"/>
            </a:pPr>
            <a:r>
              <a:rPr lang="en-US" sz="2400" dirty="0">
                <a:latin typeface="Arial" panose="020B0604020202020204" pitchFamily="34" charset="0"/>
                <a:cs typeface="Arial" panose="020B0604020202020204" pitchFamily="34" charset="0"/>
              </a:rPr>
              <a:t>A physician may hypothesize that the recommended drug is effective in more than 90% cases.</a:t>
            </a:r>
          </a:p>
          <a:p>
            <a:pPr marL="457200" indent="-457200">
              <a:buFont typeface="+mj-lt"/>
              <a:buAutoNum type="arabicPeriod"/>
            </a:pPr>
            <a:r>
              <a:rPr lang="en-US" sz="2400" dirty="0">
                <a:latin typeface="Arial" panose="020B0604020202020204" pitchFamily="34" charset="0"/>
                <a:cs typeface="Arial" panose="020B0604020202020204" pitchFamily="34" charset="0"/>
              </a:rPr>
              <a:t>A bulb’s manufacturing company claims that a new bulb it has developed has an average lifetime that exceeds the current industry average of 8,000 hours.</a:t>
            </a:r>
          </a:p>
        </p:txBody>
      </p:sp>
    </p:spTree>
    <p:extLst>
      <p:ext uri="{BB962C8B-B14F-4D97-AF65-F5344CB8AC3E}">
        <p14:creationId xmlns:p14="http://schemas.microsoft.com/office/powerpoint/2010/main" val="819480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4053" y="280830"/>
            <a:ext cx="11113061" cy="3785652"/>
          </a:xfrm>
          <a:prstGeom prst="rect">
            <a:avLst/>
          </a:prstGeom>
        </p:spPr>
        <p:txBody>
          <a:bodyPr wrap="square">
            <a:spAutoFit/>
          </a:bodyPr>
          <a:lstStyle/>
          <a:p>
            <a:pPr lvl="0"/>
            <a:r>
              <a:rPr lang="en-US" sz="2400" b="1" dirty="0">
                <a:latin typeface="Arial" panose="020B0604020202020204" pitchFamily="34" charset="0"/>
                <a:cs typeface="Arial" panose="020B0604020202020204" pitchFamily="34" charset="0"/>
              </a:rPr>
              <a:t>Test of a Statistical Hypothesis:</a:t>
            </a:r>
          </a:p>
          <a:p>
            <a:pPr lvl="0"/>
            <a:endParaRPr lang="en-US" sz="24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 A two-action decision rule based on sample observations. The rule can be used to determine whether the hypothesis is a reasonable statement.</a:t>
            </a:r>
          </a:p>
          <a:p>
            <a:pPr marL="342900" indent="-342900" algn="just">
              <a:buFont typeface="Arial" panose="020B0604020202020204" pitchFamily="34" charset="0"/>
              <a:buChar char="•"/>
            </a:pPr>
            <a:r>
              <a:rPr lang="en-US" sz="2400" dirty="0" smtClean="0">
                <a:latin typeface="Arial" panose="020B0604020202020204" pitchFamily="34" charset="0"/>
                <a:cs typeface="Arial" panose="020B0604020202020204" pitchFamily="34" charset="0"/>
              </a:rPr>
              <a:t>The </a:t>
            </a:r>
            <a:r>
              <a:rPr lang="en-US" sz="2400" dirty="0">
                <a:latin typeface="Arial" panose="020B0604020202020204" pitchFamily="34" charset="0"/>
                <a:cs typeface="Arial" panose="020B0604020202020204" pitchFamily="34" charset="0"/>
              </a:rPr>
              <a:t>two-actions being the acceptance or rejection of the hypothesis under consideration</a:t>
            </a:r>
            <a:r>
              <a:rPr lang="en-US" sz="2400" dirty="0" smtClean="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If the hypothesis is reasonable, we would </a:t>
            </a:r>
            <a:r>
              <a:rPr lang="en-US" sz="2400" dirty="0">
                <a:solidFill>
                  <a:schemeClr val="accent2">
                    <a:lumMod val="75000"/>
                  </a:schemeClr>
                </a:solidFill>
                <a:latin typeface="Arial" panose="020B0604020202020204" pitchFamily="34" charset="0"/>
                <a:cs typeface="Arial" panose="020B0604020202020204" pitchFamily="34" charset="0"/>
              </a:rPr>
              <a:t>accept</a:t>
            </a:r>
            <a:r>
              <a:rPr lang="en-US" sz="2400" dirty="0">
                <a:latin typeface="Arial" panose="020B0604020202020204" pitchFamily="34" charset="0"/>
                <a:cs typeface="Arial" panose="020B0604020202020204" pitchFamily="34" charset="0"/>
              </a:rPr>
              <a:t> it, otherwise it would be </a:t>
            </a:r>
            <a:r>
              <a:rPr lang="en-US" sz="2400" dirty="0">
                <a:solidFill>
                  <a:srgbClr val="0070C0"/>
                </a:solidFill>
                <a:latin typeface="Arial" panose="020B0604020202020204" pitchFamily="34" charset="0"/>
                <a:cs typeface="Arial" panose="020B0604020202020204" pitchFamily="34" charset="0"/>
              </a:rPr>
              <a:t>rejected</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Two mutually exclusive and opposite hypothesis can be formulated: </a:t>
            </a:r>
            <a:r>
              <a:rPr lang="en-US" sz="2400" i="1" dirty="0">
                <a:latin typeface="Arial" panose="020B0604020202020204" pitchFamily="34" charset="0"/>
                <a:cs typeface="Arial" panose="020B0604020202020204" pitchFamily="34" charset="0"/>
              </a:rPr>
              <a:t>null hypothesis </a:t>
            </a:r>
            <a:r>
              <a:rPr lang="en-US" sz="2400" dirty="0">
                <a:latin typeface="Arial" panose="020B0604020202020204" pitchFamily="34" charset="0"/>
                <a:cs typeface="Arial" panose="020B0604020202020204" pitchFamily="34" charset="0"/>
              </a:rPr>
              <a:t>and </a:t>
            </a:r>
            <a:r>
              <a:rPr lang="en-US" sz="2400" i="1" dirty="0">
                <a:latin typeface="Arial" panose="020B0604020202020204" pitchFamily="34" charset="0"/>
                <a:cs typeface="Arial" panose="020B0604020202020204" pitchFamily="34" charset="0"/>
              </a:rPr>
              <a:t>alternative hypothesis</a:t>
            </a:r>
            <a:r>
              <a:rPr lang="en-US" sz="2400" dirty="0" smtClean="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21290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82628" y="695167"/>
                <a:ext cx="11113061" cy="5324535"/>
              </a:xfrm>
              <a:prstGeom prst="rect">
                <a:avLst/>
              </a:prstGeom>
            </p:spPr>
            <p:txBody>
              <a:bodyPr wrap="square">
                <a:spAutoFit/>
              </a:bodyPr>
              <a:lstStyle/>
              <a:p>
                <a:pPr lvl="0"/>
                <a:r>
                  <a:rPr lang="en-US" sz="2400" b="1" dirty="0">
                    <a:latin typeface="Arial" panose="020B0604020202020204" pitchFamily="34" charset="0"/>
                    <a:cs typeface="Arial" panose="020B0604020202020204" pitchFamily="34" charset="0"/>
                  </a:rPr>
                  <a:t>Null Hypothesis</a:t>
                </a:r>
                <a:r>
                  <a:rPr lang="en-US" sz="24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null hypothesis, denoted by </a:t>
                </a:r>
                <a14:m>
                  <m:oMath xmlns:m="http://schemas.openxmlformats.org/officeDocument/2006/math">
                    <m:sSub>
                      <m:sSubPr>
                        <m:ctrlPr>
                          <a:rPr lang="en-US" sz="2400" b="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𝐻</m:t>
                        </m:r>
                      </m:e>
                      <m:sub>
                        <m:r>
                          <a:rPr lang="en-US" sz="2400" b="0" i="1" smtClean="0">
                            <a:latin typeface="Cambria Math" panose="02040503050406030204" pitchFamily="18" charset="0"/>
                            <a:cs typeface="Arial" panose="020B0604020202020204" pitchFamily="34" charset="0"/>
                          </a:rPr>
                          <m:t>0</m:t>
                        </m:r>
                      </m:sub>
                    </m:sSub>
                  </m:oMath>
                </a14:m>
                <a:r>
                  <a:rPr lang="en-US" sz="2400" dirty="0">
                    <a:latin typeface="Arial" panose="020B0604020202020204" pitchFamily="34" charset="0"/>
                    <a:cs typeface="Arial" panose="020B0604020202020204" pitchFamily="34" charset="0"/>
                  </a:rPr>
                  <a:t>, represents the </a:t>
                </a:r>
                <a:r>
                  <a:rPr lang="en-US" sz="2400" i="1" dirty="0">
                    <a:latin typeface="Arial" panose="020B0604020202020204" pitchFamily="34" charset="0"/>
                    <a:cs typeface="Arial" panose="020B0604020202020204" pitchFamily="34" charset="0"/>
                  </a:rPr>
                  <a:t>status quo</a:t>
                </a:r>
                <a:r>
                  <a:rPr lang="en-US" sz="2400" dirty="0">
                    <a:latin typeface="Arial" panose="020B0604020202020204" pitchFamily="34" charset="0"/>
                    <a:cs typeface="Arial" panose="020B0604020202020204" pitchFamily="34" charset="0"/>
                  </a:rPr>
                  <a:t> (thus it always contains the equality sign) and involves stating the belief that the population parameter is a specific value.</a:t>
                </a:r>
              </a:p>
              <a:p>
                <a:pPr marL="342900" indent="-342900" algn="just">
                  <a:buFont typeface="Arial" panose="020B0604020202020204" pitchFamily="34" charset="0"/>
                  <a:buChar char="•"/>
                </a:pPr>
                <a:r>
                  <a:rPr lang="en-US" sz="2400" dirty="0" smtClean="0">
                    <a:latin typeface="Arial" panose="020B0604020202020204" pitchFamily="34" charset="0"/>
                    <a:cs typeface="Arial" panose="020B0604020202020204" pitchFamily="34" charset="0"/>
                  </a:rPr>
                  <a:t>In hypothesis testing the </a:t>
                </a:r>
                <a:r>
                  <a:rPr lang="en-US" sz="2400" dirty="0">
                    <a:latin typeface="Arial" panose="020B0604020202020204" pitchFamily="34" charset="0"/>
                    <a:cs typeface="Arial" panose="020B0604020202020204" pitchFamily="34" charset="0"/>
                  </a:rPr>
                  <a:t>decision rule is </a:t>
                </a:r>
                <a:r>
                  <a:rPr lang="en-US" sz="2400" dirty="0" smtClean="0">
                    <a:latin typeface="Arial" panose="020B0604020202020204" pitchFamily="34" charset="0"/>
                    <a:cs typeface="Arial" panose="020B0604020202020204" pitchFamily="34" charset="0"/>
                  </a:rPr>
                  <a:t>formulated considering the null</a:t>
                </a:r>
                <a:r>
                  <a:rPr lang="en-US" sz="2400" dirty="0">
                    <a:latin typeface="Arial" panose="020B0604020202020204" pitchFamily="34" charset="0"/>
                    <a:cs typeface="Arial" panose="020B0604020202020204" pitchFamily="34" charset="0"/>
                  </a:rPr>
                  <a:t> hypothesis </a:t>
                </a:r>
                <a:r>
                  <a:rPr lang="en-US" sz="2400" dirty="0" smtClean="0">
                    <a:latin typeface="Arial" panose="020B0604020202020204" pitchFamily="34" charset="0"/>
                    <a:cs typeface="Arial" panose="020B0604020202020204" pitchFamily="34" charset="0"/>
                  </a:rPr>
                  <a:t>is true.</a:t>
                </a: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Usually, the null </a:t>
                </a:r>
                <a:r>
                  <a:rPr lang="en-US" sz="2400" dirty="0" smtClean="0">
                    <a:latin typeface="Arial" panose="020B0604020202020204" pitchFamily="34" charset="0"/>
                    <a:cs typeface="Arial" panose="020B0604020202020204" pitchFamily="34" charset="0"/>
                  </a:rPr>
                  <a:t>hypothesis is </a:t>
                </a:r>
                <a:r>
                  <a:rPr lang="en-US" sz="2400" dirty="0">
                    <a:latin typeface="Arial" panose="020B0604020202020204" pitchFamily="34" charset="0"/>
                    <a:cs typeface="Arial" panose="020B0604020202020204" pitchFamily="34" charset="0"/>
                  </a:rPr>
                  <a:t>not rejected unless there is convincing sample evidence against it</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Examples:</a:t>
                </a:r>
              </a:p>
              <a:p>
                <a:pPr algn="just"/>
                <a:endParaRPr lang="en-US" sz="1200" b="1" dirty="0">
                  <a:latin typeface="Arial" panose="020B0604020202020204" pitchFamily="34" charset="0"/>
                  <a:cs typeface="Arial" panose="020B0604020202020204" pitchFamily="34" charset="0"/>
                </a:endParaRPr>
              </a:p>
              <a:p>
                <a:pPr marL="342900" lvl="0" indent="-342900" algn="just">
                  <a:buFont typeface="Arial" panose="020B0604020202020204" pitchFamily="34" charset="0"/>
                  <a:buChar char="•"/>
                </a:pPr>
                <a:r>
                  <a:rPr lang="en-US" sz="2400" dirty="0" smtClean="0">
                    <a:latin typeface="Arial" panose="020B0604020202020204" pitchFamily="34" charset="0"/>
                    <a:cs typeface="Arial" panose="020B0604020202020204" pitchFamily="34" charset="0"/>
                  </a:rPr>
                  <a:t>Claim</a:t>
                </a:r>
                <a:r>
                  <a:rPr lang="en-US" sz="2400" dirty="0">
                    <a:latin typeface="Arial" panose="020B0604020202020204" pitchFamily="34" charset="0"/>
                    <a:cs typeface="Arial" panose="020B0604020202020204" pitchFamily="34" charset="0"/>
                  </a:rPr>
                  <a:t>: Average lifetime of newly developed bulbs exceeds the current industry average of 8,000 hours.</a:t>
                </a:r>
              </a:p>
              <a:p>
                <a:pPr marL="800100" lvl="1" indent="-342900" algn="just">
                  <a:buFont typeface="Wingdings" panose="05000000000000000000" pitchFamily="2" charset="2"/>
                  <a:buChar char="ü"/>
                </a:pPr>
                <a:r>
                  <a:rPr lang="en-US" sz="2000" dirty="0">
                    <a:latin typeface="Arial" panose="020B0604020202020204" pitchFamily="34" charset="0"/>
                    <a:cs typeface="Arial" panose="020B0604020202020204" pitchFamily="34" charset="0"/>
                  </a:rPr>
                  <a:t>Null Hypothesis: Newly developed bulb has an average lifetime that does not exceed the current industry average of 8,000 hours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r>
                      <a:rPr lang="en-US" sz="2000" i="1">
                        <a:latin typeface="Cambria Math" panose="02040503050406030204" pitchFamily="18" charset="0"/>
                      </a:rPr>
                      <m:t>: </m:t>
                    </m:r>
                    <m:r>
                      <a:rPr lang="en-US" sz="2000" i="1">
                        <a:latin typeface="Cambria Math" panose="02040503050406030204" pitchFamily="18" charset="0"/>
                      </a:rPr>
                      <m:t>𝜇</m:t>
                    </m:r>
                    <m:r>
                      <a:rPr lang="en-US" sz="2000" b="0" i="1" smtClean="0">
                        <a:latin typeface="Cambria Math" panose="02040503050406030204" pitchFamily="18" charset="0"/>
                      </a:rPr>
                      <m:t>≤80</m:t>
                    </m:r>
                    <m:r>
                      <a:rPr lang="en-US" sz="2000" i="1">
                        <a:latin typeface="Cambria Math" panose="02040503050406030204" pitchFamily="18" charset="0"/>
                      </a:rPr>
                      <m:t>00</m:t>
                    </m:r>
                  </m:oMath>
                </a14:m>
                <a:r>
                  <a:rPr lang="en-US" sz="20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582628" y="695167"/>
                <a:ext cx="11113061" cy="5324535"/>
              </a:xfrm>
              <a:prstGeom prst="rect">
                <a:avLst/>
              </a:prstGeom>
              <a:blipFill rotWithShape="0">
                <a:blip r:embed="rId2"/>
                <a:stretch>
                  <a:fillRect l="-878" t="-802" r="-823" b="-1260"/>
                </a:stretch>
              </a:blipFill>
            </p:spPr>
            <p:txBody>
              <a:bodyPr/>
              <a:lstStyle/>
              <a:p>
                <a:r>
                  <a:rPr lang="en-US">
                    <a:noFill/>
                  </a:rPr>
                  <a:t> </a:t>
                </a:r>
              </a:p>
            </p:txBody>
          </p:sp>
        </mc:Fallback>
      </mc:AlternateContent>
    </p:spTree>
    <p:extLst>
      <p:ext uri="{BB962C8B-B14F-4D97-AF65-F5344CB8AC3E}">
        <p14:creationId xmlns:p14="http://schemas.microsoft.com/office/powerpoint/2010/main" val="40450466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82628" y="323681"/>
                <a:ext cx="11113061" cy="5324535"/>
              </a:xfrm>
              <a:prstGeom prst="rect">
                <a:avLst/>
              </a:prstGeom>
            </p:spPr>
            <p:txBody>
              <a:bodyPr wrap="square">
                <a:spAutoFit/>
              </a:bodyPr>
              <a:lstStyle/>
              <a:p>
                <a:pPr lvl="0"/>
                <a:r>
                  <a:rPr lang="en-US" sz="2400" b="1" dirty="0">
                    <a:latin typeface="Arial" panose="020B0604020202020204" pitchFamily="34" charset="0"/>
                    <a:cs typeface="Arial" panose="020B0604020202020204" pitchFamily="34" charset="0"/>
                  </a:rPr>
                  <a:t>Alternative Hypothesis</a:t>
                </a:r>
                <a:r>
                  <a:rPr lang="en-US" sz="2400" dirty="0">
                    <a:latin typeface="Arial" panose="020B0604020202020204" pitchFamily="34" charset="0"/>
                    <a:cs typeface="Arial" panose="020B0604020202020204" pitchFamily="34" charset="0"/>
                  </a:rPr>
                  <a:t>:</a:t>
                </a:r>
              </a:p>
              <a:p>
                <a:endParaRPr lang="en-US" sz="1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alternative </a:t>
                </a:r>
                <a:r>
                  <a:rPr lang="en-US" sz="2400" dirty="0" smtClean="0">
                    <a:latin typeface="Arial" panose="020B0604020202020204" pitchFamily="34" charset="0"/>
                    <a:cs typeface="Arial" panose="020B0604020202020204" pitchFamily="34" charset="0"/>
                  </a:rPr>
                  <a:t>hypothesis </a:t>
                </a:r>
                <a:r>
                  <a:rPr lang="en-US" sz="2400" dirty="0">
                    <a:latin typeface="Arial" panose="020B0604020202020204" pitchFamily="34" charset="0"/>
                    <a:cs typeface="Arial" panose="020B0604020202020204" pitchFamily="34" charset="0"/>
                  </a:rPr>
                  <a:t>also called the research </a:t>
                </a:r>
                <a:r>
                  <a:rPr lang="en-US" sz="2400" dirty="0" smtClean="0">
                    <a:latin typeface="Arial" panose="020B0604020202020204" pitchFamily="34" charset="0"/>
                    <a:cs typeface="Arial" panose="020B0604020202020204" pitchFamily="34" charset="0"/>
                  </a:rPr>
                  <a:t>hypothesis,  denoted by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oMath>
                </a14:m>
                <a:r>
                  <a:rPr lang="en-US" sz="2400" dirty="0">
                    <a:latin typeface="Arial" panose="020B0604020202020204" pitchFamily="34" charset="0"/>
                    <a:cs typeface="Arial" panose="020B0604020202020204" pitchFamily="34" charset="0"/>
                  </a:rPr>
                  <a:t> or </a:t>
                </a:r>
                <a14:m>
                  <m:oMath xmlns:m="http://schemas.openxmlformats.org/officeDocument/2006/math">
                    <m:sSub>
                      <m:sSubPr>
                        <m:ctrlPr>
                          <a:rPr lang="en-US" sz="2400" i="1">
                            <a:latin typeface="Cambria Math" panose="02040503050406030204" pitchFamily="18" charset="0"/>
                            <a:cs typeface="Arial" panose="020B0604020202020204" pitchFamily="34" charset="0"/>
                          </a:rPr>
                        </m:ctrlPr>
                      </m:sSubPr>
                      <m:e>
                        <m:r>
                          <a:rPr lang="en-US" sz="2400" i="1">
                            <a:latin typeface="Cambria Math" panose="02040503050406030204" pitchFamily="18" charset="0"/>
                            <a:cs typeface="Arial" panose="020B0604020202020204" pitchFamily="34" charset="0"/>
                          </a:rPr>
                          <m:t>𝐻</m:t>
                        </m:r>
                      </m:e>
                      <m:sub>
                        <m:r>
                          <a:rPr lang="en-US" sz="2400" i="1">
                            <a:latin typeface="Cambria Math" panose="02040503050406030204" pitchFamily="18" charset="0"/>
                            <a:cs typeface="Arial" panose="020B0604020202020204" pitchFamily="34" charset="0"/>
                          </a:rPr>
                          <m:t>𝑎</m:t>
                        </m:r>
                      </m:sub>
                    </m:sSub>
                  </m:oMath>
                </a14:m>
                <a:r>
                  <a:rPr lang="en-US" sz="2400" dirty="0">
                    <a:latin typeface="Arial" panose="020B0604020202020204" pitchFamily="34" charset="0"/>
                    <a:cs typeface="Arial" panose="020B0604020202020204" pitchFamily="34" charset="0"/>
                  </a:rPr>
                  <a:t>, represents the opposite of the null hypothesis and is believed to be true if the null hypothesis is found to be false. </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alternative hypothesis always states that the population parameter is </a:t>
                </a:r>
                <a14:m>
                  <m:oMath xmlns:m="http://schemas.openxmlformats.org/officeDocument/2006/math">
                    <m:r>
                      <a:rPr lang="en-US" sz="2400" b="0" i="1" smtClean="0">
                        <a:latin typeface="Cambria Math" panose="02040503050406030204" pitchFamily="18" charset="0"/>
                        <a:cs typeface="Arial" panose="020B0604020202020204" pitchFamily="34" charset="0"/>
                      </a:rPr>
                      <m:t>&gt;</m:t>
                    </m:r>
                  </m:oMath>
                </a14:m>
                <a:r>
                  <a:rPr lang="en-US" sz="2400" dirty="0">
                    <a:latin typeface="Arial" panose="020B0604020202020204" pitchFamily="34" charset="0"/>
                    <a:cs typeface="Arial" panose="020B0604020202020204" pitchFamily="34" charset="0"/>
                  </a:rPr>
                  <a:t> (greater than), </a:t>
                </a:r>
                <a14:m>
                  <m:oMath xmlns:m="http://schemas.openxmlformats.org/officeDocument/2006/math">
                    <m:r>
                      <a:rPr lang="en-US" sz="2400" b="0" i="1" smtClean="0">
                        <a:latin typeface="Cambria Math" panose="02040503050406030204" pitchFamily="18" charset="0"/>
                        <a:cs typeface="Arial" panose="020B0604020202020204" pitchFamily="34" charset="0"/>
                      </a:rPr>
                      <m:t>≠</m:t>
                    </m:r>
                    <m:r>
                      <a:rPr lang="en-US" sz="2400" b="0" i="0"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(not equal to), or </a:t>
                </a:r>
                <a14:m>
                  <m:oMath xmlns:m="http://schemas.openxmlformats.org/officeDocument/2006/math">
                    <m:r>
                      <a:rPr lang="en-US" sz="2400" b="0" i="1" smtClean="0">
                        <a:latin typeface="Cambria Math" panose="02040503050406030204" pitchFamily="18" charset="0"/>
                        <a:cs typeface="Arial" panose="020B0604020202020204" pitchFamily="34" charset="0"/>
                      </a:rPr>
                      <m:t>&lt;</m:t>
                    </m:r>
                  </m:oMath>
                </a14:m>
                <a:r>
                  <a:rPr lang="en-US" sz="2400" dirty="0">
                    <a:latin typeface="Arial" panose="020B0604020202020204" pitchFamily="34" charset="0"/>
                    <a:cs typeface="Arial" panose="020B0604020202020204" pitchFamily="34" charset="0"/>
                  </a:rPr>
                  <a:t> (less than) a specific value.</a:t>
                </a:r>
              </a:p>
              <a:p>
                <a:pPr marL="342900" indent="-342900" algn="just">
                  <a:buFont typeface="Arial" panose="020B0604020202020204" pitchFamily="34" charset="0"/>
                  <a:buChar char="•"/>
                </a:pPr>
                <a:r>
                  <a:rPr lang="en-US" sz="2400" dirty="0" smtClean="0">
                    <a:latin typeface="Arial" panose="020B0604020202020204" pitchFamily="34" charset="0"/>
                    <a:cs typeface="Arial" panose="020B0604020202020204" pitchFamily="34" charset="0"/>
                  </a:rPr>
                  <a:t>In </a:t>
                </a:r>
                <a:r>
                  <a:rPr lang="en-US" sz="2400" dirty="0">
                    <a:latin typeface="Arial" panose="020B0604020202020204" pitchFamily="34" charset="0"/>
                    <a:cs typeface="Arial" panose="020B0604020202020204" pitchFamily="34" charset="0"/>
                  </a:rPr>
                  <a:t>any hypothesis test, the goal is to establish the alternative/research hypothesis on the basis of sample evidence.</a:t>
                </a:r>
              </a:p>
              <a:p>
                <a:pPr algn="just"/>
                <a:endParaRPr lang="en-US" sz="1200"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Examples:</a:t>
                </a:r>
              </a:p>
              <a:p>
                <a:pPr algn="just"/>
                <a:endParaRPr lang="en-US" sz="1200" b="1" dirty="0">
                  <a:latin typeface="Arial" panose="020B0604020202020204" pitchFamily="34" charset="0"/>
                  <a:cs typeface="Arial" panose="020B0604020202020204" pitchFamily="34" charset="0"/>
                </a:endParaRPr>
              </a:p>
              <a:p>
                <a:pPr marL="342900" lvl="0" indent="-342900" algn="just">
                  <a:buFont typeface="Arial" panose="020B0604020202020204" pitchFamily="34" charset="0"/>
                  <a:buChar char="•"/>
                </a:pPr>
                <a:r>
                  <a:rPr lang="en-US" sz="2400" dirty="0" smtClean="0">
                    <a:latin typeface="Arial" panose="020B0604020202020204" pitchFamily="34" charset="0"/>
                    <a:cs typeface="Arial" panose="020B0604020202020204" pitchFamily="34" charset="0"/>
                  </a:rPr>
                  <a:t>Claim</a:t>
                </a:r>
                <a:r>
                  <a:rPr lang="en-US" sz="2400" dirty="0">
                    <a:latin typeface="Arial" panose="020B0604020202020204" pitchFamily="34" charset="0"/>
                    <a:cs typeface="Arial" panose="020B0604020202020204" pitchFamily="34" charset="0"/>
                  </a:rPr>
                  <a:t>: Average lifetime of newly developed bulbs exceeds the current industry average of 8,000 hours.</a:t>
                </a:r>
              </a:p>
              <a:p>
                <a:pPr marL="800100" lvl="1" indent="-342900" algn="just">
                  <a:buFont typeface="Wingdings" panose="05000000000000000000" pitchFamily="2" charset="2"/>
                  <a:buChar char="ü"/>
                </a:pPr>
                <a:r>
                  <a:rPr lang="en-US" sz="2000" dirty="0">
                    <a:latin typeface="Arial" panose="020B0604020202020204" pitchFamily="34" charset="0"/>
                    <a:cs typeface="Arial" panose="020B0604020202020204" pitchFamily="34" charset="0"/>
                  </a:rPr>
                  <a:t>Alternative Hypothesis: Newly developed bulb has an average lifetime that exceeds the current industry average of 8,000 hours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r>
                      <a:rPr lang="en-US" sz="2000" i="1">
                        <a:latin typeface="Cambria Math" panose="02040503050406030204" pitchFamily="18" charset="0"/>
                      </a:rPr>
                      <m:t>: </m:t>
                    </m:r>
                    <m:r>
                      <a:rPr lang="en-US" sz="2000" i="1" smtClean="0">
                        <a:latin typeface="Cambria Math" panose="02040503050406030204" pitchFamily="18" charset="0"/>
                      </a:rPr>
                      <m:t>𝜇</m:t>
                    </m:r>
                    <m:r>
                      <a:rPr lang="en-US" sz="2000" b="0" i="1" smtClean="0">
                        <a:latin typeface="Cambria Math" panose="02040503050406030204" pitchFamily="18" charset="0"/>
                      </a:rPr>
                      <m:t>&gt;</m:t>
                    </m:r>
                    <m:r>
                      <a:rPr lang="en-US" sz="2000" i="1">
                        <a:latin typeface="Cambria Math" panose="02040503050406030204" pitchFamily="18" charset="0"/>
                      </a:rPr>
                      <m:t>8000</m:t>
                    </m:r>
                  </m:oMath>
                </a14:m>
                <a:r>
                  <a:rPr lang="en-US" sz="20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582628" y="323681"/>
                <a:ext cx="11113061" cy="5324535"/>
              </a:xfrm>
              <a:prstGeom prst="rect">
                <a:avLst/>
              </a:prstGeom>
              <a:blipFill rotWithShape="0">
                <a:blip r:embed="rId2"/>
                <a:stretch>
                  <a:fillRect l="-878" t="-801" r="-823" b="-1144"/>
                </a:stretch>
              </a:blipFill>
            </p:spPr>
            <p:txBody>
              <a:bodyPr/>
              <a:lstStyle/>
              <a:p>
                <a:r>
                  <a:rPr lang="en-US">
                    <a:noFill/>
                  </a:rPr>
                  <a:t> </a:t>
                </a:r>
              </a:p>
            </p:txBody>
          </p:sp>
        </mc:Fallback>
      </mc:AlternateContent>
    </p:spTree>
    <p:extLst>
      <p:ext uri="{BB962C8B-B14F-4D97-AF65-F5344CB8AC3E}">
        <p14:creationId xmlns:p14="http://schemas.microsoft.com/office/powerpoint/2010/main" val="1686109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82628" y="437983"/>
                <a:ext cx="11113061" cy="6432530"/>
              </a:xfrm>
              <a:prstGeom prst="rect">
                <a:avLst/>
              </a:prstGeom>
            </p:spPr>
            <p:txBody>
              <a:bodyPr wrap="square">
                <a:spAutoFit/>
              </a:bodyPr>
              <a:lstStyle/>
              <a:p>
                <a:pPr lvl="0"/>
                <a:r>
                  <a:rPr lang="en-US" sz="2400" b="1" dirty="0">
                    <a:latin typeface="Arial" panose="020B0604020202020204" pitchFamily="34" charset="0"/>
                    <a:cs typeface="Arial" panose="020B0604020202020204" pitchFamily="34" charset="0"/>
                  </a:rPr>
                  <a:t>One-tailed Test:</a:t>
                </a:r>
              </a:p>
              <a:p>
                <a:pPr lvl="0"/>
                <a:endParaRPr lang="en-US" sz="12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A test of hypothesis is called one-tailed if the alternative hypothesis contains either </a:t>
                </a:r>
                <a14:m>
                  <m:oMath xmlns:m="http://schemas.openxmlformats.org/officeDocument/2006/math">
                    <m:r>
                      <a:rPr lang="en-US" sz="2400" b="0" i="1" smtClean="0">
                        <a:latin typeface="Cambria Math" panose="02040503050406030204" pitchFamily="18" charset="0"/>
                        <a:cs typeface="Arial" panose="020B0604020202020204" pitchFamily="34" charset="0"/>
                      </a:rPr>
                      <m:t>&gt;</m:t>
                    </m:r>
                  </m:oMath>
                </a14:m>
                <a:r>
                  <a:rPr lang="en-US" sz="2400" dirty="0">
                    <a:latin typeface="Arial" panose="020B0604020202020204" pitchFamily="34" charset="0"/>
                    <a:cs typeface="Arial" panose="020B0604020202020204" pitchFamily="34" charset="0"/>
                  </a:rPr>
                  <a:t> or </a:t>
                </a:r>
                <a14:m>
                  <m:oMath xmlns:m="http://schemas.openxmlformats.org/officeDocument/2006/math">
                    <m:r>
                      <a:rPr lang="en-US" sz="2400" b="0" i="1" smtClean="0">
                        <a:latin typeface="Cambria Math" panose="02040503050406030204" pitchFamily="18" charset="0"/>
                        <a:cs typeface="Arial" panose="020B0604020202020204" pitchFamily="34" charset="0"/>
                      </a:rPr>
                      <m:t>&lt;</m:t>
                    </m:r>
                  </m:oMath>
                </a14:m>
                <a:r>
                  <a:rPr lang="en-US" sz="2400" dirty="0">
                    <a:latin typeface="Arial" panose="020B0604020202020204" pitchFamily="34" charset="0"/>
                    <a:cs typeface="Arial" panose="020B0604020202020204" pitchFamily="34" charset="0"/>
                  </a:rPr>
                  <a:t> sign.</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A one-tailed test is one of the following forms</a:t>
                </a:r>
              </a:p>
              <a:p>
                <a:pPr marL="800100" lvl="1" indent="-342900" algn="just">
                  <a:buFont typeface="Wingdings" panose="05000000000000000000" pitchFamily="2" charset="2"/>
                  <a:buChar char="ü"/>
                </a:pPr>
                <a14:m>
                  <m:oMath xmlns:m="http://schemas.openxmlformats.org/officeDocument/2006/math">
                    <m:sSub>
                      <m:sSubPr>
                        <m:ctrlPr>
                          <a:rPr lang="en-US" sz="2400" i="1">
                            <a:latin typeface="Cambria Math" panose="02040503050406030204" pitchFamily="18" charset="0"/>
                            <a:cs typeface="Arial" panose="020B0604020202020204" pitchFamily="34" charset="0"/>
                          </a:rPr>
                        </m:ctrlPr>
                      </m:sSubPr>
                      <m:e>
                        <m:r>
                          <a:rPr lang="en-US" sz="2400">
                            <a:latin typeface="Cambria Math" panose="02040503050406030204" pitchFamily="18" charset="0"/>
                            <a:cs typeface="Arial" panose="020B0604020202020204" pitchFamily="34" charset="0"/>
                          </a:rPr>
                          <m:t>𝐻</m:t>
                        </m:r>
                      </m:e>
                      <m:sub>
                        <m:r>
                          <a:rPr lang="en-US" sz="2400">
                            <a:latin typeface="Cambria Math" panose="02040503050406030204" pitchFamily="18" charset="0"/>
                            <a:cs typeface="Arial" panose="020B0604020202020204" pitchFamily="34" charset="0"/>
                          </a:rPr>
                          <m:t>0</m:t>
                        </m:r>
                      </m:sub>
                    </m:sSub>
                    <m:r>
                      <a:rPr lang="en-US" sz="2400">
                        <a:latin typeface="Cambria Math" panose="02040503050406030204" pitchFamily="18" charset="0"/>
                        <a:cs typeface="Arial" panose="020B0604020202020204" pitchFamily="34" charset="0"/>
                      </a:rPr>
                      <m:t>:</m:t>
                    </m:r>
                    <m:r>
                      <a:rPr lang="en-US" sz="2400" smtClean="0">
                        <a:latin typeface="Cambria Math" panose="02040503050406030204" pitchFamily="18" charset="0"/>
                        <a:cs typeface="Arial" panose="020B0604020202020204" pitchFamily="34" charset="0"/>
                      </a:rPr>
                      <m:t>𝜇</m:t>
                    </m:r>
                    <m:r>
                      <a:rPr lang="en-US" sz="2400" b="0" i="1" smtClean="0">
                        <a:latin typeface="Cambria Math" panose="02040503050406030204" pitchFamily="18" charset="0"/>
                        <a:cs typeface="Arial" panose="020B0604020202020204" pitchFamily="34" charset="0"/>
                      </a:rPr>
                      <m:t>≤</m:t>
                    </m:r>
                    <m:r>
                      <a:rPr lang="en-US" sz="2400">
                        <a:latin typeface="Cambria Math" panose="02040503050406030204" pitchFamily="18" charset="0"/>
                        <a:cs typeface="Arial" panose="020B0604020202020204" pitchFamily="34" charset="0"/>
                      </a:rPr>
                      <m:t>500</m:t>
                    </m:r>
                  </m:oMath>
                </a14:m>
                <a:r>
                  <a:rPr lang="en-US" sz="2400" dirty="0">
                    <a:latin typeface="Arial" panose="020B0604020202020204" pitchFamily="34" charset="0"/>
                    <a:cs typeface="Arial" panose="020B0604020202020204" pitchFamily="34" charset="0"/>
                  </a:rPr>
                  <a:t> vs </a:t>
                </a:r>
                <a14:m>
                  <m:oMath xmlns:m="http://schemas.openxmlformats.org/officeDocument/2006/math">
                    <m:sSub>
                      <m:sSubPr>
                        <m:ctrlPr>
                          <a:rPr lang="en-US" sz="2400" i="1">
                            <a:latin typeface="Cambria Math" panose="02040503050406030204" pitchFamily="18" charset="0"/>
                            <a:cs typeface="Arial" panose="020B0604020202020204" pitchFamily="34" charset="0"/>
                          </a:rPr>
                        </m:ctrlPr>
                      </m:sSubPr>
                      <m:e>
                        <m:r>
                          <a:rPr lang="en-US" sz="2400">
                            <a:latin typeface="Cambria Math" panose="02040503050406030204" pitchFamily="18" charset="0"/>
                            <a:cs typeface="Arial" panose="020B0604020202020204" pitchFamily="34" charset="0"/>
                          </a:rPr>
                          <m:t>𝐻</m:t>
                        </m:r>
                      </m:e>
                      <m:sub>
                        <m:r>
                          <a:rPr lang="en-US" sz="2400">
                            <a:latin typeface="Cambria Math" panose="02040503050406030204" pitchFamily="18" charset="0"/>
                            <a:cs typeface="Arial" panose="020B0604020202020204" pitchFamily="34" charset="0"/>
                          </a:rPr>
                          <m:t>1</m:t>
                        </m:r>
                      </m:sub>
                    </m:sSub>
                    <m:r>
                      <a:rPr lang="en-US" sz="2400">
                        <a:latin typeface="Cambria Math" panose="02040503050406030204" pitchFamily="18" charset="0"/>
                        <a:cs typeface="Arial" panose="020B0604020202020204" pitchFamily="34" charset="0"/>
                      </a:rPr>
                      <m:t>:</m:t>
                    </m:r>
                    <m:r>
                      <a:rPr lang="en-US" sz="2400">
                        <a:latin typeface="Cambria Math" panose="02040503050406030204" pitchFamily="18" charset="0"/>
                        <a:cs typeface="Arial" panose="020B0604020202020204" pitchFamily="34" charset="0"/>
                      </a:rPr>
                      <m:t>𝜇</m:t>
                    </m:r>
                    <m:r>
                      <a:rPr lang="en-US" sz="2400">
                        <a:latin typeface="Cambria Math" panose="02040503050406030204" pitchFamily="18" charset="0"/>
                        <a:cs typeface="Arial" panose="020B0604020202020204" pitchFamily="34" charset="0"/>
                      </a:rPr>
                      <m:t>&gt;500</m:t>
                    </m:r>
                  </m:oMath>
                </a14:m>
                <a:r>
                  <a:rPr lang="en-US" sz="2400" dirty="0">
                    <a:latin typeface="Arial" panose="020B0604020202020204" pitchFamily="34" charset="0"/>
                    <a:cs typeface="Arial" panose="020B0604020202020204" pitchFamily="34" charset="0"/>
                  </a:rPr>
                  <a:t> (If production manager feels a 500 mg tablet is overfilled). Or </a:t>
                </a:r>
                <a14:m>
                  <m:oMath xmlns:m="http://schemas.openxmlformats.org/officeDocument/2006/math">
                    <m:sSub>
                      <m:sSubPr>
                        <m:ctrlPr>
                          <a:rPr lang="en-US" sz="2400" i="1">
                            <a:latin typeface="Cambria Math" panose="02040503050406030204" pitchFamily="18" charset="0"/>
                            <a:cs typeface="Arial" panose="020B0604020202020204" pitchFamily="34" charset="0"/>
                          </a:rPr>
                        </m:ctrlPr>
                      </m:sSubPr>
                      <m:e>
                        <m:r>
                          <a:rPr lang="en-US" sz="2400">
                            <a:latin typeface="Cambria Math" panose="02040503050406030204" pitchFamily="18" charset="0"/>
                            <a:cs typeface="Arial" panose="020B0604020202020204" pitchFamily="34" charset="0"/>
                          </a:rPr>
                          <m:t>𝐻</m:t>
                        </m:r>
                      </m:e>
                      <m:sub>
                        <m:r>
                          <a:rPr lang="en-US" sz="2400">
                            <a:latin typeface="Cambria Math" panose="02040503050406030204" pitchFamily="18" charset="0"/>
                            <a:cs typeface="Arial" panose="020B0604020202020204" pitchFamily="34" charset="0"/>
                          </a:rPr>
                          <m:t>0</m:t>
                        </m:r>
                      </m:sub>
                    </m:sSub>
                    <m:r>
                      <a:rPr lang="en-US" sz="2400">
                        <a:latin typeface="Cambria Math" panose="02040503050406030204" pitchFamily="18" charset="0"/>
                        <a:cs typeface="Arial" panose="020B0604020202020204" pitchFamily="34" charset="0"/>
                      </a:rPr>
                      <m:t>:</m:t>
                    </m:r>
                    <m:r>
                      <a:rPr lang="en-US" sz="2400">
                        <a:latin typeface="Cambria Math" panose="02040503050406030204" pitchFamily="18" charset="0"/>
                        <a:cs typeface="Arial" panose="020B0604020202020204" pitchFamily="34" charset="0"/>
                      </a:rPr>
                      <m:t>𝜇</m:t>
                    </m:r>
                    <m:r>
                      <a:rPr lang="en-US" sz="2400">
                        <a:latin typeface="Cambria Math" panose="02040503050406030204" pitchFamily="18" charset="0"/>
                        <a:cs typeface="Arial" panose="020B0604020202020204" pitchFamily="34" charset="0"/>
                      </a:rPr>
                      <m:t>=500 </m:t>
                    </m:r>
                    <m:r>
                      <a:rPr lang="en-US" sz="2400">
                        <a:latin typeface="Cambria Math" panose="02040503050406030204" pitchFamily="18" charset="0"/>
                        <a:cs typeface="Arial" panose="020B0604020202020204" pitchFamily="34" charset="0"/>
                      </a:rPr>
                      <m:t>𝑣</m:t>
                    </m:r>
                    <m:r>
                      <m:rPr>
                        <m:sty m:val="p"/>
                      </m:rPr>
                      <a:rPr lang="en-US" sz="2400">
                        <a:latin typeface="Cambria Math" panose="02040503050406030204" pitchFamily="18" charset="0"/>
                        <a:cs typeface="Arial" panose="020B0604020202020204" pitchFamily="34" charset="0"/>
                      </a:rPr>
                      <m:t>s</m:t>
                    </m:r>
                    <m:r>
                      <a:rPr lang="en-US" sz="2400">
                        <a:latin typeface="Cambria Math" panose="02040503050406030204" pitchFamily="18" charset="0"/>
                        <a:cs typeface="Arial" panose="020B0604020202020204" pitchFamily="34" charset="0"/>
                      </a:rPr>
                      <m:t> </m:t>
                    </m:r>
                    <m:sSub>
                      <m:sSubPr>
                        <m:ctrlPr>
                          <a:rPr lang="en-US" sz="2400" i="1">
                            <a:latin typeface="Cambria Math" panose="02040503050406030204" pitchFamily="18" charset="0"/>
                            <a:cs typeface="Arial" panose="020B0604020202020204" pitchFamily="34" charset="0"/>
                          </a:rPr>
                        </m:ctrlPr>
                      </m:sSubPr>
                      <m:e>
                        <m:r>
                          <a:rPr lang="en-US" sz="2400">
                            <a:latin typeface="Cambria Math" panose="02040503050406030204" pitchFamily="18" charset="0"/>
                            <a:cs typeface="Arial" panose="020B0604020202020204" pitchFamily="34" charset="0"/>
                          </a:rPr>
                          <m:t>𝐻</m:t>
                        </m:r>
                      </m:e>
                      <m:sub>
                        <m:r>
                          <a:rPr lang="en-US" sz="2400">
                            <a:latin typeface="Cambria Math" panose="02040503050406030204" pitchFamily="18" charset="0"/>
                            <a:cs typeface="Arial" panose="020B0604020202020204" pitchFamily="34" charset="0"/>
                          </a:rPr>
                          <m:t>1</m:t>
                        </m:r>
                      </m:sub>
                    </m:sSub>
                    <m:r>
                      <a:rPr lang="en-US" sz="2400">
                        <a:latin typeface="Cambria Math" panose="02040503050406030204" pitchFamily="18" charset="0"/>
                        <a:cs typeface="Arial" panose="020B0604020202020204" pitchFamily="34" charset="0"/>
                      </a:rPr>
                      <m:t>:</m:t>
                    </m:r>
                    <m:r>
                      <a:rPr lang="en-US" sz="2400">
                        <a:latin typeface="Cambria Math" panose="02040503050406030204" pitchFamily="18" charset="0"/>
                        <a:cs typeface="Arial" panose="020B0604020202020204" pitchFamily="34" charset="0"/>
                      </a:rPr>
                      <m:t>𝜇</m:t>
                    </m:r>
                    <m:r>
                      <a:rPr lang="en-US" sz="2400">
                        <a:latin typeface="Cambria Math" panose="02040503050406030204" pitchFamily="18" charset="0"/>
                        <a:cs typeface="Arial" panose="020B0604020202020204" pitchFamily="34" charset="0"/>
                      </a:rPr>
                      <m:t>&gt;500</m:t>
                    </m:r>
                  </m:oMath>
                </a14:m>
                <a:endParaRPr lang="en-US" sz="2400" dirty="0">
                  <a:latin typeface="Arial" panose="020B0604020202020204" pitchFamily="34" charset="0"/>
                  <a:cs typeface="Arial" panose="020B0604020202020204" pitchFamily="34" charset="0"/>
                </a:endParaRPr>
              </a:p>
              <a:p>
                <a:pPr marL="1257300" lvl="2" indent="-342900" algn="just">
                  <a:buFont typeface="Wingdings" panose="05000000000000000000" pitchFamily="2" charset="2"/>
                  <a:buChar char="Ø"/>
                </a:pPr>
                <a:r>
                  <a:rPr lang="en-US" sz="2000" dirty="0">
                    <a:latin typeface="Arial" panose="020B0604020202020204" pitchFamily="34" charset="0"/>
                    <a:cs typeface="Arial" panose="020B0604020202020204" pitchFamily="34" charset="0"/>
                  </a:rPr>
                  <a:t>This type of hypothesis test is known as upper-tailed test or right-tailed test.</a:t>
                </a:r>
              </a:p>
              <a:p>
                <a:pPr marL="800100" lvl="1" indent="-342900" algn="just">
                  <a:buFont typeface="Wingdings" panose="05000000000000000000" pitchFamily="2" charset="2"/>
                  <a:buChar char="ü"/>
                </a:pPr>
                <a14:m>
                  <m:oMath xmlns:m="http://schemas.openxmlformats.org/officeDocument/2006/math">
                    <m:sSub>
                      <m:sSubPr>
                        <m:ctrlPr>
                          <a:rPr lang="en-US" sz="2400" i="1">
                            <a:latin typeface="Cambria Math" panose="02040503050406030204" pitchFamily="18" charset="0"/>
                            <a:cs typeface="Arial" panose="020B0604020202020204" pitchFamily="34" charset="0"/>
                          </a:rPr>
                        </m:ctrlPr>
                      </m:sSubPr>
                      <m:e>
                        <m:r>
                          <a:rPr lang="en-US" sz="2400">
                            <a:latin typeface="Cambria Math" panose="02040503050406030204" pitchFamily="18" charset="0"/>
                            <a:cs typeface="Arial" panose="020B0604020202020204" pitchFamily="34" charset="0"/>
                          </a:rPr>
                          <m:t>𝐻</m:t>
                        </m:r>
                      </m:e>
                      <m:sub>
                        <m:r>
                          <a:rPr lang="en-US" sz="2400">
                            <a:latin typeface="Cambria Math" panose="02040503050406030204" pitchFamily="18" charset="0"/>
                            <a:cs typeface="Arial" panose="020B0604020202020204" pitchFamily="34" charset="0"/>
                          </a:rPr>
                          <m:t>0</m:t>
                        </m:r>
                      </m:sub>
                    </m:sSub>
                    <m:r>
                      <a:rPr lang="en-US" sz="2400">
                        <a:latin typeface="Cambria Math" panose="02040503050406030204" pitchFamily="18" charset="0"/>
                        <a:cs typeface="Arial" panose="020B0604020202020204" pitchFamily="34" charset="0"/>
                      </a:rPr>
                      <m:t>:</m:t>
                    </m:r>
                    <m:r>
                      <a:rPr lang="en-US" sz="2400">
                        <a:latin typeface="Cambria Math" panose="02040503050406030204" pitchFamily="18" charset="0"/>
                        <a:cs typeface="Arial" panose="020B0604020202020204" pitchFamily="34" charset="0"/>
                      </a:rPr>
                      <m:t>𝜇</m:t>
                    </m:r>
                    <m:r>
                      <a:rPr lang="en-US" sz="2400">
                        <a:latin typeface="Cambria Math" panose="02040503050406030204" pitchFamily="18" charset="0"/>
                        <a:cs typeface="Arial" panose="020B0604020202020204" pitchFamily="34" charset="0"/>
                      </a:rPr>
                      <m:t>=500 </m:t>
                    </m:r>
                    <m:r>
                      <a:rPr lang="en-US" sz="2400">
                        <a:latin typeface="Cambria Math" panose="02040503050406030204" pitchFamily="18" charset="0"/>
                        <a:cs typeface="Arial" panose="020B0604020202020204" pitchFamily="34" charset="0"/>
                      </a:rPr>
                      <m:t>𝑣</m:t>
                    </m:r>
                    <m:r>
                      <m:rPr>
                        <m:sty m:val="p"/>
                      </m:rPr>
                      <a:rPr lang="en-US" sz="2400">
                        <a:latin typeface="Cambria Math" panose="02040503050406030204" pitchFamily="18" charset="0"/>
                        <a:cs typeface="Arial" panose="020B0604020202020204" pitchFamily="34" charset="0"/>
                      </a:rPr>
                      <m:t>s</m:t>
                    </m:r>
                    <m:r>
                      <a:rPr lang="en-US" sz="2400">
                        <a:latin typeface="Cambria Math" panose="02040503050406030204" pitchFamily="18" charset="0"/>
                        <a:cs typeface="Arial" panose="020B0604020202020204" pitchFamily="34" charset="0"/>
                      </a:rPr>
                      <m:t> </m:t>
                    </m:r>
                    <m:sSub>
                      <m:sSubPr>
                        <m:ctrlPr>
                          <a:rPr lang="en-US" sz="2400" i="1">
                            <a:latin typeface="Cambria Math" panose="02040503050406030204" pitchFamily="18" charset="0"/>
                            <a:cs typeface="Arial" panose="020B0604020202020204" pitchFamily="34" charset="0"/>
                          </a:rPr>
                        </m:ctrlPr>
                      </m:sSubPr>
                      <m:e>
                        <m:r>
                          <a:rPr lang="en-US" sz="2400">
                            <a:latin typeface="Cambria Math" panose="02040503050406030204" pitchFamily="18" charset="0"/>
                            <a:cs typeface="Arial" panose="020B0604020202020204" pitchFamily="34" charset="0"/>
                          </a:rPr>
                          <m:t>𝐻</m:t>
                        </m:r>
                      </m:e>
                      <m:sub>
                        <m:r>
                          <a:rPr lang="en-US" sz="2400">
                            <a:latin typeface="Cambria Math" panose="02040503050406030204" pitchFamily="18" charset="0"/>
                            <a:cs typeface="Arial" panose="020B0604020202020204" pitchFamily="34" charset="0"/>
                          </a:rPr>
                          <m:t>1</m:t>
                        </m:r>
                      </m:sub>
                    </m:sSub>
                    <m:r>
                      <a:rPr lang="en-US" sz="2400">
                        <a:latin typeface="Cambria Math" panose="02040503050406030204" pitchFamily="18" charset="0"/>
                        <a:cs typeface="Arial" panose="020B0604020202020204" pitchFamily="34" charset="0"/>
                      </a:rPr>
                      <m:t>:</m:t>
                    </m:r>
                    <m:r>
                      <a:rPr lang="en-US" sz="2400">
                        <a:latin typeface="Cambria Math" panose="02040503050406030204" pitchFamily="18" charset="0"/>
                        <a:cs typeface="Arial" panose="020B0604020202020204" pitchFamily="34" charset="0"/>
                      </a:rPr>
                      <m:t>𝜇</m:t>
                    </m:r>
                    <m:r>
                      <a:rPr lang="en-US" sz="2400">
                        <a:latin typeface="Cambria Math" panose="02040503050406030204" pitchFamily="18" charset="0"/>
                        <a:cs typeface="Arial" panose="020B0604020202020204" pitchFamily="34" charset="0"/>
                      </a:rPr>
                      <m:t>&lt;500</m:t>
                    </m:r>
                  </m:oMath>
                </a14:m>
                <a:r>
                  <a:rPr lang="en-US" sz="2400" dirty="0">
                    <a:latin typeface="Arial" panose="020B0604020202020204" pitchFamily="34" charset="0"/>
                    <a:cs typeface="Arial" panose="020B0604020202020204" pitchFamily="34" charset="0"/>
                  </a:rPr>
                  <a:t> (If the manager feels a 500 mg tablet is under-filled).</a:t>
                </a:r>
              </a:p>
              <a:p>
                <a:pPr marL="914400" indent="457200" algn="just">
                  <a:buFont typeface="Wingdings" panose="05000000000000000000" pitchFamily="2" charset="2"/>
                  <a:buChar char="Ø"/>
                </a:pPr>
                <a:r>
                  <a:rPr lang="en-US" sz="2000" dirty="0">
                    <a:latin typeface="Arial" panose="020B0604020202020204" pitchFamily="34" charset="0"/>
                    <a:cs typeface="Arial" panose="020B0604020202020204" pitchFamily="34" charset="0"/>
                  </a:rPr>
                  <a:t>This type of hypothesis test is known as lower-tailed test or left-tailed test. </a:t>
                </a:r>
              </a:p>
              <a:p>
                <a:pPr algn="just"/>
                <a:endParaRPr lang="en-US" sz="1200"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Two-tailed Test:</a:t>
                </a:r>
              </a:p>
              <a:p>
                <a:pPr algn="just"/>
                <a:endParaRPr lang="en-US" sz="12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A test of hypothesis is called two-tailed if the alternative hypothesis contains </a:t>
                </a:r>
                <a14:m>
                  <m:oMath xmlns:m="http://schemas.openxmlformats.org/officeDocument/2006/math">
                    <m:r>
                      <a:rPr lang="en-US" sz="2400" b="0" i="1" smtClean="0">
                        <a:latin typeface="Cambria Math" panose="02040503050406030204" pitchFamily="18" charset="0"/>
                        <a:cs typeface="Arial" panose="020B0604020202020204" pitchFamily="34" charset="0"/>
                      </a:rPr>
                      <m:t>≠</m:t>
                    </m:r>
                  </m:oMath>
                </a14:m>
                <a:r>
                  <a:rPr lang="en-US" sz="2400" dirty="0">
                    <a:latin typeface="Arial" panose="020B0604020202020204" pitchFamily="34" charset="0"/>
                    <a:cs typeface="Arial" panose="020B0604020202020204" pitchFamily="34" charset="0"/>
                  </a:rPr>
                  <a:t> sign.</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A two-tailed test is of the form</a:t>
                </a:r>
              </a:p>
              <a:p>
                <a:pPr marL="742950" lvl="1" indent="-285750">
                  <a:buFont typeface="Wingdings" panose="05000000000000000000" pitchFamily="2" charset="2"/>
                  <a:buChar char="ü"/>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a:latin typeface="Cambria Math" panose="02040503050406030204" pitchFamily="18" charset="0"/>
                          </a:rPr>
                          <m:t>0</m:t>
                        </m:r>
                      </m:sub>
                    </m:sSub>
                    <m:r>
                      <a:rPr lang="en-US" sz="2000">
                        <a:latin typeface="Cambria Math" panose="02040503050406030204" pitchFamily="18" charset="0"/>
                      </a:rPr>
                      <m:t>:</m:t>
                    </m:r>
                    <m:r>
                      <a:rPr lang="en-US" sz="2000" i="1">
                        <a:latin typeface="Cambria Math" panose="02040503050406030204" pitchFamily="18" charset="0"/>
                      </a:rPr>
                      <m:t>𝜇</m:t>
                    </m:r>
                    <m:r>
                      <a:rPr lang="en-US" sz="2000">
                        <a:latin typeface="Cambria Math" panose="02040503050406030204" pitchFamily="18" charset="0"/>
                      </a:rPr>
                      <m:t>=500 </m:t>
                    </m:r>
                    <m:r>
                      <a:rPr lang="en-US" sz="2000" i="1">
                        <a:latin typeface="Cambria Math" panose="02040503050406030204" pitchFamily="18" charset="0"/>
                      </a:rPr>
                      <m:t>𝑣</m:t>
                    </m:r>
                    <m:r>
                      <m:rPr>
                        <m:sty m:val="p"/>
                      </m:rPr>
                      <a:rPr lang="en-US" sz="2000">
                        <a:latin typeface="Cambria Math" panose="02040503050406030204" pitchFamily="18" charset="0"/>
                      </a:rPr>
                      <m:t>s</m:t>
                    </m:r>
                    <m:r>
                      <a:rPr lang="en-US" sz="2000">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1</m:t>
                        </m:r>
                      </m:sub>
                    </m:sSub>
                    <m:r>
                      <a:rPr lang="en-US" sz="2000">
                        <a:latin typeface="Cambria Math" panose="02040503050406030204" pitchFamily="18" charset="0"/>
                      </a:rPr>
                      <m:t>:</m:t>
                    </m:r>
                    <m:r>
                      <a:rPr lang="en-US" sz="2000" i="1">
                        <a:latin typeface="Cambria Math" panose="02040503050406030204" pitchFamily="18" charset="0"/>
                      </a:rPr>
                      <m:t>𝜇</m:t>
                    </m:r>
                    <m:r>
                      <a:rPr lang="en-US" sz="2000">
                        <a:latin typeface="Cambria Math" panose="02040503050406030204" pitchFamily="18" charset="0"/>
                      </a:rPr>
                      <m:t>≠500</m:t>
                    </m:r>
                  </m:oMath>
                </a14:m>
                <a:r>
                  <a:rPr lang="en-US" sz="2000" dirty="0">
                    <a:latin typeface="Arial" panose="020B0604020202020204" pitchFamily="34" charset="0"/>
                    <a:cs typeface="Arial" panose="020B0604020202020204" pitchFamily="34" charset="0"/>
                  </a:rPr>
                  <a:t> (If production manager periodically test if the machines working properly).</a:t>
                </a:r>
              </a:p>
            </p:txBody>
          </p:sp>
        </mc:Choice>
        <mc:Fallback xmlns="">
          <p:sp>
            <p:nvSpPr>
              <p:cNvPr id="2" name="Rectangle 1"/>
              <p:cNvSpPr>
                <a:spLocks noRot="1" noChangeAspect="1" noMove="1" noResize="1" noEditPoints="1" noAdjustHandles="1" noChangeArrowheads="1" noChangeShapeType="1" noTextEdit="1"/>
              </p:cNvSpPr>
              <p:nvPr/>
            </p:nvSpPr>
            <p:spPr>
              <a:xfrm>
                <a:off x="582628" y="437983"/>
                <a:ext cx="11113061" cy="6432530"/>
              </a:xfrm>
              <a:prstGeom prst="rect">
                <a:avLst/>
              </a:prstGeom>
              <a:blipFill rotWithShape="0">
                <a:blip r:embed="rId2"/>
                <a:stretch>
                  <a:fillRect l="-878" t="-664" r="-823"/>
                </a:stretch>
              </a:blipFill>
            </p:spPr>
            <p:txBody>
              <a:bodyPr/>
              <a:lstStyle/>
              <a:p>
                <a:r>
                  <a:rPr lang="en-US">
                    <a:noFill/>
                  </a:rPr>
                  <a:t> </a:t>
                </a:r>
              </a:p>
            </p:txBody>
          </p:sp>
        </mc:Fallback>
      </mc:AlternateContent>
    </p:spTree>
    <p:extLst>
      <p:ext uri="{BB962C8B-B14F-4D97-AF65-F5344CB8AC3E}">
        <p14:creationId xmlns:p14="http://schemas.microsoft.com/office/powerpoint/2010/main" val="2090724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82628" y="695167"/>
                <a:ext cx="11113061" cy="5632311"/>
              </a:xfrm>
              <a:prstGeom prst="rect">
                <a:avLst/>
              </a:prstGeom>
            </p:spPr>
            <p:txBody>
              <a:bodyPr wrap="square">
                <a:spAutoFit/>
              </a:bodyPr>
              <a:lstStyle/>
              <a:p>
                <a:pPr algn="just"/>
                <a:r>
                  <a:rPr lang="en-US" sz="2400" b="1" dirty="0">
                    <a:latin typeface="Arial" panose="020B0604020202020204" pitchFamily="34" charset="0"/>
                    <a:cs typeface="Arial" panose="020B0604020202020204" pitchFamily="34" charset="0"/>
                  </a:rPr>
                  <a:t>General formulation of hypothesis: </a:t>
                </a:r>
              </a:p>
              <a:p>
                <a:pPr algn="just"/>
                <a:endParaRPr lang="en-US" sz="24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null and alternative hypothesis has one of the following three cases depending on the research problem.</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Case-1 (right-tailed test):</a:t>
                </a:r>
              </a:p>
              <a:p>
                <a:pPr marL="800100" lvl="1" indent="-342900">
                  <a:buFont typeface="Wingdings" panose="05000000000000000000" pitchFamily="2" charset="2"/>
                  <a:buChar char="ü"/>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r>
                      <a:rPr lang="en-US" sz="2400">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&gt;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ü"/>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𝜇</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r>
                      <a:rPr lang="en-US" sz="2400">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&gt;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a:t>
                </a:r>
              </a:p>
              <a:p>
                <a:pPr marL="1257300" lvl="2" indent="-342900">
                  <a:buFont typeface="Wingdings" panose="05000000000000000000" pitchFamily="2" charset="2"/>
                  <a:buChar char="Ø"/>
                </a:pPr>
                <a:r>
                  <a:rPr lang="en-US" sz="2400" dirty="0">
                    <a:latin typeface="Arial" panose="020B0604020202020204" pitchFamily="34" charset="0"/>
                    <a:cs typeface="Arial" panose="020B0604020202020204" pitchFamily="34" charset="0"/>
                  </a:rPr>
                  <a:t>whether the population mean is greater than a specific value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Case-2 (left-tailed test): </a:t>
                </a:r>
              </a:p>
              <a:p>
                <a:pPr marL="800100" lvl="1" indent="-342900">
                  <a:buFont typeface="Wingdings" panose="05000000000000000000" pitchFamily="2" charset="2"/>
                  <a:buChar char="ü"/>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r>
                      <a:rPr lang="en-US" sz="2400">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&lt;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a:t>
                </a:r>
              </a:p>
              <a:p>
                <a:pPr marL="800100" lvl="1" indent="-342900">
                  <a:buFont typeface="Wingdings" panose="05000000000000000000" pitchFamily="2" charset="2"/>
                  <a:buChar char="ü"/>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𝜇</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r>
                      <a:rPr lang="en-US" sz="2400">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&lt;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a:t>
                </a:r>
              </a:p>
              <a:p>
                <a:pPr marL="1257300" lvl="2" indent="-342900">
                  <a:buFont typeface="Wingdings" panose="05000000000000000000" pitchFamily="2" charset="2"/>
                  <a:buChar char="Ø"/>
                </a:pPr>
                <a:r>
                  <a:rPr lang="en-US" sz="2400" dirty="0">
                    <a:latin typeface="Arial" panose="020B0604020202020204" pitchFamily="34" charset="0"/>
                    <a:cs typeface="Arial" panose="020B0604020202020204" pitchFamily="34" charset="0"/>
                  </a:rPr>
                  <a:t>whether the population mean is smaller than a specific value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Case-3 (two-tailed test): </a:t>
                </a:r>
              </a:p>
              <a:p>
                <a:pPr marL="800100" lvl="1" indent="-342900">
                  <a:buFont typeface="Wingdings" panose="05000000000000000000" pitchFamily="2" charset="2"/>
                  <a:buChar char="ü"/>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r>
                      <a:rPr lang="en-US" sz="2400">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(whether or not the population mean is equal to a specific value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a:t>
                </a:r>
              </a:p>
            </p:txBody>
          </p:sp>
        </mc:Choice>
        <mc:Fallback xmlns="">
          <p:sp>
            <p:nvSpPr>
              <p:cNvPr id="2" name="Rectangle 1"/>
              <p:cNvSpPr>
                <a:spLocks noRot="1" noChangeAspect="1" noMove="1" noResize="1" noEditPoints="1" noAdjustHandles="1" noChangeArrowheads="1" noChangeShapeType="1" noTextEdit="1"/>
              </p:cNvSpPr>
              <p:nvPr/>
            </p:nvSpPr>
            <p:spPr>
              <a:xfrm>
                <a:off x="582628" y="695167"/>
                <a:ext cx="11113061" cy="5632311"/>
              </a:xfrm>
              <a:prstGeom prst="rect">
                <a:avLst/>
              </a:prstGeom>
              <a:blipFill rotWithShape="0">
                <a:blip r:embed="rId2"/>
                <a:stretch>
                  <a:fillRect l="-878" t="-758" r="-823" b="-1623"/>
                </a:stretch>
              </a:blipFill>
            </p:spPr>
            <p:txBody>
              <a:bodyPr/>
              <a:lstStyle/>
              <a:p>
                <a:r>
                  <a:rPr lang="en-US">
                    <a:noFill/>
                  </a:rPr>
                  <a:t> </a:t>
                </a:r>
              </a:p>
            </p:txBody>
          </p:sp>
        </mc:Fallback>
      </mc:AlternateContent>
    </p:spTree>
    <p:extLst>
      <p:ext uri="{BB962C8B-B14F-4D97-AF65-F5344CB8AC3E}">
        <p14:creationId xmlns:p14="http://schemas.microsoft.com/office/powerpoint/2010/main" val="3053077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2628" y="695167"/>
            <a:ext cx="11113061" cy="1877437"/>
          </a:xfrm>
          <a:prstGeom prst="rect">
            <a:avLst/>
          </a:prstGeom>
        </p:spPr>
        <p:txBody>
          <a:bodyPr wrap="square">
            <a:spAutoFit/>
          </a:bodyPr>
          <a:lstStyle/>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In a hypothesis testing, there is always a risk of committing two types of errors. </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following table summarizes the decisions the researcher could make and the possible consequences</a:t>
            </a:r>
          </a:p>
          <a:p>
            <a:pPr algn="just"/>
            <a:endParaRPr lang="en-US" sz="2000" dirty="0">
              <a:latin typeface="Arial" panose="020B0604020202020204" pitchFamily="34" charset="0"/>
              <a:cs typeface="Arial" panose="020B0604020202020204" pitchFamily="34" charset="0"/>
            </a:endParaRPr>
          </a:p>
        </p:txBody>
      </p:sp>
      <p:sp>
        <p:nvSpPr>
          <p:cNvPr id="9"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800" b="1" dirty="0">
                <a:latin typeface="Arial" panose="020B0604020202020204" pitchFamily="34" charset="0"/>
                <a:cs typeface="Arial" panose="020B0604020202020204" pitchFamily="34" charset="0"/>
              </a:rPr>
              <a:t>Types of Error in a Hypothesis Test</a:t>
            </a:r>
            <a:endParaRPr lang="en-GB" sz="28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nvPr>
            </p:nvGraphicFramePr>
            <p:xfrm>
              <a:off x="3452885" y="2278346"/>
              <a:ext cx="5597468" cy="2021130"/>
            </p:xfrm>
            <a:graphic>
              <a:graphicData uri="http://schemas.openxmlformats.org/drawingml/2006/table">
                <a:tbl>
                  <a:tblPr firstRow="1" firstCol="1" bandRow="1">
                    <a:tableStyleId>{BC89EF96-8CEA-46FF-86C4-4CE0E7609802}</a:tableStyleId>
                  </a:tblPr>
                  <a:tblGrid>
                    <a:gridCol w="1893261">
                      <a:extLst>
                        <a:ext uri="{9D8B030D-6E8A-4147-A177-3AD203B41FA5}">
                          <a16:colId xmlns="" xmlns:a16="http://schemas.microsoft.com/office/drawing/2014/main" val="20000"/>
                        </a:ext>
                      </a:extLst>
                    </a:gridCol>
                    <a:gridCol w="1893261">
                      <a:extLst>
                        <a:ext uri="{9D8B030D-6E8A-4147-A177-3AD203B41FA5}">
                          <a16:colId xmlns="" xmlns:a16="http://schemas.microsoft.com/office/drawing/2014/main" val="20001"/>
                        </a:ext>
                      </a:extLst>
                    </a:gridCol>
                    <a:gridCol w="1810946">
                      <a:extLst>
                        <a:ext uri="{9D8B030D-6E8A-4147-A177-3AD203B41FA5}">
                          <a16:colId xmlns="" xmlns:a16="http://schemas.microsoft.com/office/drawing/2014/main" val="20002"/>
                        </a:ext>
                      </a:extLst>
                    </a:gridCol>
                  </a:tblGrid>
                  <a:tr h="762976">
                    <a:tc rowSpan="2">
                      <a:txBody>
                        <a:bodyPr/>
                        <a:lstStyle/>
                        <a:p>
                          <a:pPr marL="0" marR="0" algn="just">
                            <a:lnSpc>
                              <a:spcPct val="107000"/>
                            </a:lnSpc>
                            <a:spcBef>
                              <a:spcPts val="0"/>
                            </a:spcBef>
                            <a:spcAft>
                              <a:spcPts val="0"/>
                            </a:spcAft>
                          </a:pPr>
                          <a:r>
                            <a:rPr lang="en-US" sz="2000" dirty="0">
                              <a:effectLst/>
                            </a:rPr>
                            <a:t>True state (In Population)</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gridSpan="2">
                      <a:txBody>
                        <a:bodyPr/>
                        <a:lstStyle/>
                        <a:p>
                          <a:pPr marL="0" marR="0" algn="ctr">
                            <a:lnSpc>
                              <a:spcPct val="107000"/>
                            </a:lnSpc>
                            <a:spcBef>
                              <a:spcPts val="0"/>
                            </a:spcBef>
                            <a:spcAft>
                              <a:spcPts val="0"/>
                            </a:spcAft>
                          </a:pPr>
                          <a:r>
                            <a:rPr lang="en-US" sz="2000" dirty="0">
                              <a:effectLst/>
                            </a:rPr>
                            <a:t>Based on Sample: Researcher</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en-US"/>
                        </a:p>
                      </a:txBody>
                      <a:tcPr/>
                    </a:tc>
                    <a:extLst>
                      <a:ext uri="{0D108BD9-81ED-4DB2-BD59-A6C34878D82A}">
                        <a16:rowId xmlns="" xmlns:a16="http://schemas.microsoft.com/office/drawing/2014/main" val="10000"/>
                      </a:ext>
                    </a:extLst>
                  </a:tr>
                  <a:tr h="481810">
                    <a:tc vMerge="1">
                      <a:txBody>
                        <a:bodyPr/>
                        <a:lstStyle/>
                        <a:p>
                          <a:endParaRPr lang="en-US"/>
                        </a:p>
                      </a:txBody>
                      <a:tcPr/>
                    </a:tc>
                    <a:tc>
                      <a:txBody>
                        <a:bodyPr/>
                        <a:lstStyle/>
                        <a:p>
                          <a:pPr marL="0" marR="0" algn="just">
                            <a:lnSpc>
                              <a:spcPct val="107000"/>
                            </a:lnSpc>
                            <a:spcBef>
                              <a:spcPts val="0"/>
                            </a:spcBef>
                            <a:spcAft>
                              <a:spcPts val="0"/>
                            </a:spcAft>
                          </a:pPr>
                          <a:r>
                            <a:rPr lang="en-US" sz="2000">
                              <a:effectLst/>
                            </a:rPr>
                            <a:t>Accepts </a:t>
                          </a:r>
                          <a14:m>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𝐇</m:t>
                                  </m:r>
                                </m:e>
                                <m:sub>
                                  <m:r>
                                    <a:rPr lang="en-US" sz="2000">
                                      <a:effectLst/>
                                      <a:latin typeface="Cambria Math" panose="02040503050406030204" pitchFamily="18" charset="0"/>
                                    </a:rPr>
                                    <m:t>𝟎</m:t>
                                  </m:r>
                                </m:sub>
                              </m:sSub>
                            </m:oMath>
                          </a14:m>
                          <a:endParaRPr lang="en-US" sz="20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rPr>
                            <a:t>Rejects </a:t>
                          </a:r>
                          <a14:m>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𝑯</m:t>
                                  </m:r>
                                </m:e>
                                <m:sub>
                                  <m:r>
                                    <a:rPr lang="en-US" sz="2000">
                                      <a:effectLst/>
                                      <a:latin typeface="Cambria Math" panose="02040503050406030204" pitchFamily="18" charset="0"/>
                                    </a:rPr>
                                    <m:t>𝟎</m:t>
                                  </m:r>
                                </m:sub>
                              </m:sSub>
                            </m:oMath>
                          </a14:m>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10001"/>
                      </a:ext>
                    </a:extLst>
                  </a:tr>
                  <a:tr h="359048">
                    <a:tc>
                      <a:txBody>
                        <a:bodyPr/>
                        <a:lstStyle/>
                        <a:p>
                          <a:pPr marL="0" marR="0" algn="just">
                            <a:lnSpc>
                              <a:spcPct val="107000"/>
                            </a:lnSpc>
                            <a:spcBef>
                              <a:spcPts val="0"/>
                            </a:spcBef>
                            <a:spcAft>
                              <a:spcPts val="0"/>
                            </a:spcAft>
                          </a:pPr>
                          <a14:m>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𝑯</m:t>
                                  </m:r>
                                </m:e>
                                <m:sub>
                                  <m:r>
                                    <a:rPr lang="en-US" sz="2000">
                                      <a:effectLst/>
                                      <a:latin typeface="Cambria Math" panose="02040503050406030204" pitchFamily="18" charset="0"/>
                                    </a:rPr>
                                    <m:t>𝟎</m:t>
                                  </m:r>
                                </m:sub>
                              </m:sSub>
                            </m:oMath>
                          </a14:m>
                          <a:r>
                            <a:rPr lang="en-US" sz="2000">
                              <a:effectLst/>
                            </a:rPr>
                            <a:t> is true</a:t>
                          </a:r>
                          <a:endParaRPr lang="en-US" sz="20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rPr>
                            <a:t>Correct decision</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rPr>
                            <a:t>Type-I error</a:t>
                          </a:r>
                          <a:endParaRPr lang="en-US" sz="2000"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10002"/>
                      </a:ext>
                    </a:extLst>
                  </a:tr>
                  <a:tr h="417296">
                    <a:tc>
                      <a:txBody>
                        <a:bodyPr/>
                        <a:lstStyle/>
                        <a:p>
                          <a:pPr marL="0" marR="0" algn="just">
                            <a:lnSpc>
                              <a:spcPct val="107000"/>
                            </a:lnSpc>
                            <a:spcBef>
                              <a:spcPts val="0"/>
                            </a:spcBef>
                            <a:spcAft>
                              <a:spcPts val="0"/>
                            </a:spcAft>
                          </a:pPr>
                          <a14:m>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𝑯</m:t>
                                  </m:r>
                                </m:e>
                                <m:sub>
                                  <m:r>
                                    <a:rPr lang="en-US" sz="2000">
                                      <a:effectLst/>
                                      <a:latin typeface="Cambria Math" panose="02040503050406030204" pitchFamily="18" charset="0"/>
                                    </a:rPr>
                                    <m:t>𝟎</m:t>
                                  </m:r>
                                </m:sub>
                              </m:sSub>
                            </m:oMath>
                          </a14:m>
                          <a:r>
                            <a:rPr lang="en-US" sz="2000">
                              <a:effectLst/>
                            </a:rPr>
                            <a:t> is false</a:t>
                          </a:r>
                          <a:endParaRPr lang="en-US" sz="200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rPr>
                            <a:t>Type-II error</a:t>
                          </a:r>
                          <a:endParaRPr lang="en-US" sz="20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rPr>
                            <a:t>Correct decision</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nvPr>
            </p:nvGraphicFramePr>
            <p:xfrm>
              <a:off x="3452885" y="2278346"/>
              <a:ext cx="5597468" cy="2021130"/>
            </p:xfrm>
            <a:graphic>
              <a:graphicData uri="http://schemas.openxmlformats.org/drawingml/2006/table">
                <a:tbl>
                  <a:tblPr firstRow="1" firstCol="1" bandRow="1">
                    <a:tableStyleId>{BC89EF96-8CEA-46FF-86C4-4CE0E7609802}</a:tableStyleId>
                  </a:tblPr>
                  <a:tblGrid>
                    <a:gridCol w="1893261">
                      <a:extLst>
                        <a:ext uri="{9D8B030D-6E8A-4147-A177-3AD203B41FA5}">
                          <a16:colId xmlns:a16="http://schemas.microsoft.com/office/drawing/2014/main" xmlns="" xmlns:a14="http://schemas.microsoft.com/office/drawing/2010/main" val="20000"/>
                        </a:ext>
                      </a:extLst>
                    </a:gridCol>
                    <a:gridCol w="1893261">
                      <a:extLst>
                        <a:ext uri="{9D8B030D-6E8A-4147-A177-3AD203B41FA5}">
                          <a16:colId xmlns:a16="http://schemas.microsoft.com/office/drawing/2014/main" xmlns="" xmlns:a14="http://schemas.microsoft.com/office/drawing/2010/main" val="20001"/>
                        </a:ext>
                      </a:extLst>
                    </a:gridCol>
                    <a:gridCol w="1810946">
                      <a:extLst>
                        <a:ext uri="{9D8B030D-6E8A-4147-A177-3AD203B41FA5}">
                          <a16:colId xmlns:a16="http://schemas.microsoft.com/office/drawing/2014/main" xmlns="" xmlns:a14="http://schemas.microsoft.com/office/drawing/2010/main" val="20002"/>
                        </a:ext>
                      </a:extLst>
                    </a:gridCol>
                  </a:tblGrid>
                  <a:tr h="762976">
                    <a:tc rowSpan="2">
                      <a:txBody>
                        <a:bodyPr/>
                        <a:lstStyle/>
                        <a:p>
                          <a:pPr marL="0" marR="0" algn="just">
                            <a:lnSpc>
                              <a:spcPct val="107000"/>
                            </a:lnSpc>
                            <a:spcBef>
                              <a:spcPts val="0"/>
                            </a:spcBef>
                            <a:spcAft>
                              <a:spcPts val="0"/>
                            </a:spcAft>
                          </a:pPr>
                          <a:r>
                            <a:rPr lang="en-US" sz="2000" dirty="0">
                              <a:effectLst/>
                            </a:rPr>
                            <a:t>True state (In Population)</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gridSpan="2">
                      <a:txBody>
                        <a:bodyPr/>
                        <a:lstStyle/>
                        <a:p>
                          <a:pPr marL="0" marR="0" algn="ctr">
                            <a:lnSpc>
                              <a:spcPct val="107000"/>
                            </a:lnSpc>
                            <a:spcBef>
                              <a:spcPts val="0"/>
                            </a:spcBef>
                            <a:spcAft>
                              <a:spcPts val="0"/>
                            </a:spcAft>
                          </a:pPr>
                          <a:r>
                            <a:rPr lang="en-US" sz="2000" dirty="0">
                              <a:effectLst/>
                            </a:rPr>
                            <a:t>Based on Sample: Researcher</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en-US"/>
                        </a:p>
                      </a:txBody>
                      <a:tcPr/>
                    </a:tc>
                    <a:extLst>
                      <a:ext uri="{0D108BD9-81ED-4DB2-BD59-A6C34878D82A}">
                        <a16:rowId xmlns:a16="http://schemas.microsoft.com/office/drawing/2014/main" xmlns="" xmlns:a14="http://schemas.microsoft.com/office/drawing/2010/main" val="10000"/>
                      </a:ext>
                    </a:extLst>
                  </a:tr>
                  <a:tr h="481810">
                    <a:tc vMerge="1">
                      <a:txBody>
                        <a:bodyPr/>
                        <a:lstStyle/>
                        <a:p>
                          <a:endParaRPr lang="en-US"/>
                        </a:p>
                      </a:txBody>
                      <a:tcPr/>
                    </a:tc>
                    <a:tc>
                      <a:txBody>
                        <a:bodyPr/>
                        <a:lstStyle/>
                        <a:p>
                          <a:endParaRPr lang="en-US"/>
                        </a:p>
                      </a:txBody>
                      <a:tcPr marL="68580" marR="68580" marT="0" marB="0" anchor="ctr">
                        <a:blipFill rotWithShape="0">
                          <a:blip r:embed="rId2"/>
                          <a:stretch>
                            <a:fillRect l="-100322" t="-160759" r="-96463" b="-181013"/>
                          </a:stretch>
                        </a:blipFill>
                      </a:tcPr>
                    </a:tc>
                    <a:tc>
                      <a:txBody>
                        <a:bodyPr/>
                        <a:lstStyle/>
                        <a:p>
                          <a:endParaRPr lang="en-US"/>
                        </a:p>
                      </a:txBody>
                      <a:tcPr marL="68580" marR="68580" marT="0" marB="0" anchor="ctr">
                        <a:blipFill rotWithShape="0">
                          <a:blip r:embed="rId2"/>
                          <a:stretch>
                            <a:fillRect l="-209764" t="-160759" r="-1010" b="-181013"/>
                          </a:stretch>
                        </a:blipFill>
                      </a:tcPr>
                    </a:tc>
                    <a:extLst>
                      <a:ext uri="{0D108BD9-81ED-4DB2-BD59-A6C34878D82A}">
                        <a16:rowId xmlns:a16="http://schemas.microsoft.com/office/drawing/2014/main" xmlns="" xmlns:a14="http://schemas.microsoft.com/office/drawing/2010/main" val="10001"/>
                      </a:ext>
                    </a:extLst>
                  </a:tr>
                  <a:tr h="359048">
                    <a:tc>
                      <a:txBody>
                        <a:bodyPr/>
                        <a:lstStyle/>
                        <a:p>
                          <a:endParaRPr lang="en-US"/>
                        </a:p>
                      </a:txBody>
                      <a:tcPr marL="68580" marR="68580" marT="0" marB="0" anchor="ctr">
                        <a:blipFill rotWithShape="0">
                          <a:blip r:embed="rId2"/>
                          <a:stretch>
                            <a:fillRect l="-322" t="-349153" r="-196463" b="-142373"/>
                          </a:stretch>
                        </a:blipFill>
                      </a:tcPr>
                    </a:tc>
                    <a:tc>
                      <a:txBody>
                        <a:bodyPr/>
                        <a:lstStyle/>
                        <a:p>
                          <a:pPr marL="0" marR="0" algn="just">
                            <a:lnSpc>
                              <a:spcPct val="107000"/>
                            </a:lnSpc>
                            <a:spcBef>
                              <a:spcPts val="0"/>
                            </a:spcBef>
                            <a:spcAft>
                              <a:spcPts val="0"/>
                            </a:spcAft>
                          </a:pPr>
                          <a:r>
                            <a:rPr lang="en-US" sz="2000" dirty="0">
                              <a:effectLst/>
                            </a:rPr>
                            <a:t>Correct decision</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rPr>
                            <a:t>Type-I error</a:t>
                          </a:r>
                          <a:endParaRPr lang="en-US" sz="2000" dirty="0">
                            <a:solidFill>
                              <a:srgbClr val="FF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xmlns="" xmlns:a14="http://schemas.microsoft.com/office/drawing/2010/main" val="10002"/>
                      </a:ext>
                    </a:extLst>
                  </a:tr>
                  <a:tr h="417296">
                    <a:tc>
                      <a:txBody>
                        <a:bodyPr/>
                        <a:lstStyle/>
                        <a:p>
                          <a:endParaRPr lang="en-US"/>
                        </a:p>
                      </a:txBody>
                      <a:tcPr marL="68580" marR="68580" marT="0" marB="0" anchor="ctr">
                        <a:blipFill rotWithShape="0">
                          <a:blip r:embed="rId2"/>
                          <a:stretch>
                            <a:fillRect l="-322" t="-384058" r="-196463" b="-21739"/>
                          </a:stretch>
                        </a:blipFill>
                      </a:tcPr>
                    </a:tc>
                    <a:tc>
                      <a:txBody>
                        <a:bodyPr/>
                        <a:lstStyle/>
                        <a:p>
                          <a:pPr marL="0" marR="0" algn="just">
                            <a:lnSpc>
                              <a:spcPct val="107000"/>
                            </a:lnSpc>
                            <a:spcBef>
                              <a:spcPts val="0"/>
                            </a:spcBef>
                            <a:spcAft>
                              <a:spcPts val="0"/>
                            </a:spcAft>
                          </a:pPr>
                          <a:r>
                            <a:rPr lang="en-US" sz="2000" dirty="0">
                              <a:effectLst/>
                            </a:rPr>
                            <a:t>Type-II error</a:t>
                          </a:r>
                          <a:endParaRPr lang="en-US" sz="2000" dirty="0">
                            <a:solidFill>
                              <a:schemeClr val="accent2"/>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just">
                            <a:lnSpc>
                              <a:spcPct val="107000"/>
                            </a:lnSpc>
                            <a:spcBef>
                              <a:spcPts val="0"/>
                            </a:spcBef>
                            <a:spcAft>
                              <a:spcPts val="0"/>
                            </a:spcAft>
                          </a:pPr>
                          <a:r>
                            <a:rPr lang="en-US" sz="2000" dirty="0">
                              <a:effectLst/>
                            </a:rPr>
                            <a:t>Correct decision</a:t>
                          </a:r>
                          <a:endParaRPr lang="en-US" sz="20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xmlns="" xmlns:a14="http://schemas.microsoft.com/office/drawing/2010/main" val="10003"/>
                      </a:ext>
                    </a:extLst>
                  </a:tr>
                </a:tbl>
              </a:graphicData>
            </a:graphic>
          </p:graphicFrame>
        </mc:Fallback>
      </mc:AlternateContent>
      <mc:AlternateContent xmlns:mc="http://schemas.openxmlformats.org/markup-compatibility/2006" xmlns:a14="http://schemas.microsoft.com/office/drawing/2010/main">
        <mc:Choice Requires="a14">
          <p:sp>
            <p:nvSpPr>
              <p:cNvPr id="10" name="Rectangle 9"/>
              <p:cNvSpPr/>
              <p:nvPr/>
            </p:nvSpPr>
            <p:spPr>
              <a:xfrm>
                <a:off x="582627" y="4543985"/>
                <a:ext cx="11113061" cy="830997"/>
              </a:xfrm>
              <a:prstGeom prst="rect">
                <a:avLst/>
              </a:prstGeom>
            </p:spPr>
            <p:txBody>
              <a:bodyPr wrap="square">
                <a:spAutoFit/>
              </a:bodyPr>
              <a:lstStyle/>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error committed by rejecting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when it is true is called type-I error.</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The error committed by accepting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when it is false is called type-II error.</a:t>
                </a:r>
              </a:p>
            </p:txBody>
          </p:sp>
        </mc:Choice>
        <mc:Fallback xmlns="">
          <p:sp>
            <p:nvSpPr>
              <p:cNvPr id="10" name="Rectangle 9"/>
              <p:cNvSpPr>
                <a:spLocks noRot="1" noChangeAspect="1" noMove="1" noResize="1" noEditPoints="1" noAdjustHandles="1" noChangeArrowheads="1" noChangeShapeType="1" noTextEdit="1"/>
              </p:cNvSpPr>
              <p:nvPr/>
            </p:nvSpPr>
            <p:spPr>
              <a:xfrm>
                <a:off x="582627" y="4543985"/>
                <a:ext cx="11113061" cy="830997"/>
              </a:xfrm>
              <a:prstGeom prst="rect">
                <a:avLst/>
              </a:prstGeom>
              <a:blipFill rotWithShape="0">
                <a:blip r:embed="rId3"/>
                <a:stretch>
                  <a:fillRect l="-768" t="-5109" b="-16058"/>
                </a:stretch>
              </a:blipFill>
            </p:spPr>
            <p:txBody>
              <a:bodyPr/>
              <a:lstStyle/>
              <a:p>
                <a:r>
                  <a:rPr lang="en-US">
                    <a:noFill/>
                  </a:rPr>
                  <a:t> </a:t>
                </a:r>
              </a:p>
            </p:txBody>
          </p:sp>
        </mc:Fallback>
      </mc:AlternateContent>
    </p:spTree>
    <p:extLst>
      <p:ext uri="{BB962C8B-B14F-4D97-AF65-F5344CB8AC3E}">
        <p14:creationId xmlns:p14="http://schemas.microsoft.com/office/powerpoint/2010/main" val="18496731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68341" y="337979"/>
                <a:ext cx="11113061" cy="4785092"/>
              </a:xfrm>
              <a:prstGeom prst="rect">
                <a:avLst/>
              </a:prstGeom>
            </p:spPr>
            <p:txBody>
              <a:bodyPr wrap="square">
                <a:spAutoFit/>
              </a:bodyPr>
              <a:lstStyle/>
              <a:p>
                <a:r>
                  <a:rPr lang="en-US" sz="2400" b="1" dirty="0">
                    <a:latin typeface="Arial" panose="020B0604020202020204" pitchFamily="34" charset="0"/>
                    <a:cs typeface="Arial" panose="020B0604020202020204" pitchFamily="34" charset="0"/>
                  </a:rPr>
                  <a:t>Test statistic:</a:t>
                </a:r>
              </a:p>
              <a:p>
                <a:endParaRPr lang="en-US" sz="1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Testing hypothesis is based on a quantity (a statistic) from the sampled data (</a:t>
                </a:r>
                <a:r>
                  <a:rPr lang="en-US" sz="2400" dirty="0" err="1">
                    <a:latin typeface="Arial" panose="020B0604020202020204" pitchFamily="34" charset="0"/>
                    <a:cs typeface="Arial" panose="020B0604020202020204" pitchFamily="34" charset="0"/>
                  </a:rPr>
                  <a:t>e.g</a:t>
                </a:r>
                <a:r>
                  <a:rPr lang="en-US" sz="2400" dirty="0">
                    <a:latin typeface="Arial" panose="020B0604020202020204" pitchFamily="34" charset="0"/>
                    <a:cs typeface="Arial" panose="020B0604020202020204" pitchFamily="34" charset="0"/>
                  </a:rPr>
                  <a:t>,</a:t>
                </a:r>
                <a14:m>
                  <m:oMath xmlns:m="http://schemas.openxmlformats.org/officeDocument/2006/math">
                    <m:r>
                      <a:rPr lang="en-US" sz="2400">
                        <a:latin typeface="Cambria Math" panose="02040503050406030204" pitchFamily="18" charset="0"/>
                      </a:rPr>
                      <m:t> </m:t>
                    </m:r>
                    <m:f>
                      <m:fPr>
                        <m:ctrlPr>
                          <a:rPr lang="en-US" sz="2400" i="1">
                            <a:latin typeface="Cambria Math" panose="02040503050406030204" pitchFamily="18" charset="0"/>
                          </a:rPr>
                        </m:ctrlPr>
                      </m:fPr>
                      <m:num>
                        <m:acc>
                          <m:accPr>
                            <m:chr m:val="̅"/>
                            <m:ctrlPr>
                              <a:rPr lang="en-US" sz="2400" i="1">
                                <a:latin typeface="Cambria Math" panose="02040503050406030204" pitchFamily="18" charset="0"/>
                              </a:rPr>
                            </m:ctrlPr>
                          </m:accPr>
                          <m:e>
                            <m:r>
                              <a:rPr lang="en-US" sz="2400" i="1">
                                <a:latin typeface="Cambria Math" panose="02040503050406030204" pitchFamily="18" charset="0"/>
                              </a:rPr>
                              <m:t>𝑋</m:t>
                            </m:r>
                          </m:e>
                        </m:acc>
                        <m:r>
                          <a:rPr lang="en-US" sz="2400" i="1">
                            <a:latin typeface="Cambria Math" panose="02040503050406030204" pitchFamily="18" charset="0"/>
                          </a:rPr>
                          <m:t>−</m:t>
                        </m:r>
                        <m:r>
                          <a:rPr lang="en-US" sz="2400" i="1">
                            <a:latin typeface="Cambria Math" panose="02040503050406030204" pitchFamily="18" charset="0"/>
                          </a:rPr>
                          <m:t>𝜇</m:t>
                        </m:r>
                      </m:num>
                      <m:den>
                        <m:d>
                          <m:dPr>
                            <m:ctrlPr>
                              <a:rPr lang="en-US" sz="2400" i="1">
                                <a:latin typeface="Cambria Math" panose="02040503050406030204" pitchFamily="18" charset="0"/>
                              </a:rPr>
                            </m:ctrlPr>
                          </m:dPr>
                          <m:e>
                            <m:f>
                              <m:fPr>
                                <m:type m:val="lin"/>
                                <m:ctrlPr>
                                  <a:rPr lang="en-US" sz="2400" i="1">
                                    <a:latin typeface="Cambria Math" panose="02040503050406030204" pitchFamily="18" charset="0"/>
                                  </a:rPr>
                                </m:ctrlPr>
                              </m:fPr>
                              <m:num>
                                <m:r>
                                  <a:rPr lang="en-US" sz="2400" i="1">
                                    <a:latin typeface="Cambria Math" panose="02040503050406030204" pitchFamily="18" charset="0"/>
                                  </a:rPr>
                                  <m:t>𝑆</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𝑛</m:t>
                                    </m:r>
                                  </m:e>
                                </m:rad>
                              </m:den>
                            </m:f>
                          </m:e>
                        </m:d>
                      </m:den>
                    </m:f>
                  </m:oMath>
                </a14:m>
                <a:r>
                  <a:rPr lang="en-US" sz="2400" dirty="0">
                    <a:latin typeface="Arial" panose="020B0604020202020204" pitchFamily="34" charset="0"/>
                    <a:cs typeface="Arial" panose="020B0604020202020204" pitchFamily="34" charset="0"/>
                  </a:rPr>
                  <a:t>) that has some known distribution, if the null hypothesis is true, is known as test statistic.</a:t>
                </a:r>
              </a:p>
              <a:p>
                <a:pPr marL="342900" indent="-342900">
                  <a:buFont typeface="Arial" panose="020B0604020202020204" pitchFamily="34" charset="0"/>
                  <a:buChar char="•"/>
                </a:pPr>
                <a:endParaRPr lang="en-US" sz="1200" b="1"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Level of significance</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p>
              <a:p>
                <a:pPr algn="just"/>
                <a:endParaRPr lang="en-US" sz="12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level of significance is defined by the probability of committing a type-I error . It is denoted by </a:t>
                </a:r>
                <a14:m>
                  <m:oMath xmlns:m="http://schemas.openxmlformats.org/officeDocument/2006/math">
                    <m:r>
                      <a:rPr lang="en-US" sz="2400" i="1">
                        <a:latin typeface="Cambria Math" panose="02040503050406030204" pitchFamily="18" charset="0"/>
                      </a:rPr>
                      <m:t>𝛼</m:t>
                    </m:r>
                  </m:oMath>
                </a14:m>
                <a:r>
                  <a:rPr lang="en-US" sz="2400"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value of </a:t>
                </a:r>
                <a14:m>
                  <m:oMath xmlns:m="http://schemas.openxmlformats.org/officeDocument/2006/math">
                    <m:r>
                      <a:rPr lang="en-US" sz="2400" i="1">
                        <a:latin typeface="Cambria Math" panose="02040503050406030204" pitchFamily="18" charset="0"/>
                      </a:rPr>
                      <m:t>𝛼</m:t>
                    </m:r>
                  </m:oMath>
                </a14:m>
                <a:r>
                  <a:rPr lang="en-US" sz="2400" dirty="0">
                    <a:latin typeface="Arial" panose="020B0604020202020204" pitchFamily="34" charset="0"/>
                    <a:cs typeface="Arial" panose="020B0604020202020204" pitchFamily="34" charset="0"/>
                  </a:rPr>
                  <a:t> can be subjectively chosen by the researcher/experimenter depending on the research problem he/she dealing with. It is usually 5% but, it may be 1%, or 10% depending on the problem.</a:t>
                </a:r>
              </a:p>
              <a:p>
                <a:pPr algn="just"/>
                <a:endParaRPr lang="en-US" sz="1200" dirty="0">
                  <a:latin typeface="Arial" panose="020B060402020202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568341" y="337979"/>
                <a:ext cx="11113061" cy="4785092"/>
              </a:xfrm>
              <a:prstGeom prst="rect">
                <a:avLst/>
              </a:prstGeom>
              <a:blipFill rotWithShape="0">
                <a:blip r:embed="rId2"/>
                <a:stretch>
                  <a:fillRect l="-823" t="-892" r="-878"/>
                </a:stretch>
              </a:blipFill>
            </p:spPr>
            <p:txBody>
              <a:bodyPr/>
              <a:lstStyle/>
              <a:p>
                <a:r>
                  <a:rPr lang="en-US">
                    <a:noFill/>
                  </a:rPr>
                  <a:t> </a:t>
                </a:r>
              </a:p>
            </p:txBody>
          </p:sp>
        </mc:Fallback>
      </mc:AlternateContent>
    </p:spTree>
    <p:extLst>
      <p:ext uri="{BB962C8B-B14F-4D97-AF65-F5344CB8AC3E}">
        <p14:creationId xmlns:p14="http://schemas.microsoft.com/office/powerpoint/2010/main" val="3629895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82628" y="695167"/>
                <a:ext cx="11113061" cy="2677656"/>
              </a:xfrm>
              <a:prstGeom prst="rect">
                <a:avLst/>
              </a:prstGeom>
            </p:spPr>
            <p:txBody>
              <a:bodyPr wrap="square">
                <a:spAutoFit/>
              </a:bodyPr>
              <a:lstStyle/>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distribution of test statistic has area under the density curve is 1, and we can always find a portion in the </a:t>
                </a:r>
                <a:r>
                  <a:rPr lang="en-US" sz="2400" dirty="0" err="1">
                    <a:latin typeface="Arial" panose="020B0604020202020204" pitchFamily="34" charset="0"/>
                    <a:cs typeface="Arial" panose="020B0604020202020204" pitchFamily="34" charset="0"/>
                  </a:rPr>
                  <a:t>extrema</a:t>
                </a:r>
                <a:r>
                  <a:rPr lang="en-US" sz="2400" dirty="0">
                    <a:latin typeface="Arial" panose="020B0604020202020204" pitchFamily="34" charset="0"/>
                    <a:cs typeface="Arial" panose="020B0604020202020204" pitchFamily="34" charset="0"/>
                  </a:rPr>
                  <a:t> of </a:t>
                </a:r>
                <a14:m>
                  <m:oMath xmlns:m="http://schemas.openxmlformats.org/officeDocument/2006/math">
                    <m:sSub>
                      <m:sSubPr>
                        <m:ctrlPr>
                          <a:rPr lang="en-US" sz="2400" b="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𝐻</m:t>
                        </m:r>
                      </m:e>
                      <m:sub>
                        <m:r>
                          <a:rPr lang="en-US" sz="2400" b="0" i="1" smtClean="0">
                            <a:latin typeface="Cambria Math" panose="02040503050406030204" pitchFamily="18" charset="0"/>
                            <a:cs typeface="Arial" panose="020B0604020202020204" pitchFamily="34" charset="0"/>
                          </a:rPr>
                          <m:t>1</m:t>
                        </m:r>
                      </m:sub>
                    </m:sSub>
                  </m:oMath>
                </a14:m>
                <a:r>
                  <a:rPr lang="en-US" sz="2400" dirty="0">
                    <a:latin typeface="Arial" panose="020B0604020202020204" pitchFamily="34" charset="0"/>
                    <a:cs typeface="Arial" panose="020B0604020202020204" pitchFamily="34" charset="0"/>
                  </a:rPr>
                  <a:t> whose area is </a:t>
                </a:r>
                <a14:m>
                  <m:oMath xmlns:m="http://schemas.openxmlformats.org/officeDocument/2006/math">
                    <m:r>
                      <a:rPr lang="en-US" sz="2400" i="1">
                        <a:latin typeface="Cambria Math" panose="02040503050406030204" pitchFamily="18" charset="0"/>
                      </a:rPr>
                      <m:t>𝛼</m:t>
                    </m:r>
                  </m:oMath>
                </a14:m>
                <a:r>
                  <a:rPr lang="en-US" sz="2400" dirty="0">
                    <a:latin typeface="Arial" panose="020B0604020202020204" pitchFamily="34" charset="0"/>
                    <a:cs typeface="Arial" panose="020B0604020202020204" pitchFamily="34" charset="0"/>
                  </a:rPr>
                  <a:t>. It is the rejection region. </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remaining part, the complement of the rejection region, is called acceptance region.</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For case-1 (right-tailed test):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r>
                      <a:rPr lang="en-US" sz="2400">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a:latin typeface="Cambria Math" panose="02040503050406030204" pitchFamily="18" charset="0"/>
                      </a:rPr>
                      <m:t>:</m:t>
                    </m:r>
                    <m:r>
                      <a:rPr lang="en-US" sz="2400" i="1">
                        <a:latin typeface="Cambria Math" panose="02040503050406030204" pitchFamily="18" charset="0"/>
                      </a:rPr>
                      <m:t>𝜇</m:t>
                    </m:r>
                    <m:r>
                      <a:rPr lang="en-US" sz="2400">
                        <a:latin typeface="Cambria Math" panose="02040503050406030204" pitchFamily="18" charset="0"/>
                      </a:rPr>
                      <m:t>&gt;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the RR is represented by the shaded region in the following figure</a:t>
                </a:r>
              </a:p>
            </p:txBody>
          </p:sp>
        </mc:Choice>
        <mc:Fallback xmlns="">
          <p:sp>
            <p:nvSpPr>
              <p:cNvPr id="2" name="Rectangle 1"/>
              <p:cNvSpPr>
                <a:spLocks noRot="1" noChangeAspect="1" noMove="1" noResize="1" noEditPoints="1" noAdjustHandles="1" noChangeArrowheads="1" noChangeShapeType="1" noTextEdit="1"/>
              </p:cNvSpPr>
              <p:nvPr/>
            </p:nvSpPr>
            <p:spPr>
              <a:xfrm>
                <a:off x="582628" y="695167"/>
                <a:ext cx="11113061" cy="2677656"/>
              </a:xfrm>
              <a:prstGeom prst="rect">
                <a:avLst/>
              </a:prstGeom>
              <a:blipFill rotWithShape="0">
                <a:blip r:embed="rId2"/>
                <a:stretch>
                  <a:fillRect l="-768" t="-1595" r="-823" b="-4556"/>
                </a:stretch>
              </a:blipFill>
            </p:spPr>
            <p:txBody>
              <a:bodyPr/>
              <a:lstStyle/>
              <a:p>
                <a:r>
                  <a:rPr lang="en-US">
                    <a:noFill/>
                  </a:rPr>
                  <a:t> </a:t>
                </a:r>
              </a:p>
            </p:txBody>
          </p:sp>
        </mc:Fallback>
      </mc:AlternateContent>
      <p:sp>
        <p:nvSpPr>
          <p:cNvPr id="9"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800" b="1" dirty="0">
                <a:latin typeface="Arial" panose="020B0604020202020204" pitchFamily="34" charset="0"/>
                <a:cs typeface="Arial" panose="020B0604020202020204" pitchFamily="34" charset="0"/>
              </a:rPr>
              <a:t>Acceptance Region (AR) versus Rejection Region (RR)</a:t>
            </a:r>
            <a:endParaRPr lang="en-GB" sz="2800" b="1" dirty="0">
              <a:latin typeface="Arial" panose="020B0604020202020204" pitchFamily="34" charset="0"/>
              <a:cs typeface="Arial" panose="020B0604020202020204" pitchFamily="34" charset="0"/>
            </a:endParaRPr>
          </a:p>
        </p:txBody>
      </p:sp>
      <p:pic>
        <p:nvPicPr>
          <p:cNvPr id="10" name="Picture 9"/>
          <p:cNvPicPr/>
          <p:nvPr/>
        </p:nvPicPr>
        <p:blipFill>
          <a:blip r:embed="rId3">
            <a:extLst>
              <a:ext uri="{28A0092B-C50C-407E-A947-70E740481C1C}">
                <a14:useLocalDpi xmlns:a14="http://schemas.microsoft.com/office/drawing/2010/main" val="0"/>
              </a:ext>
            </a:extLst>
          </a:blip>
          <a:srcRect/>
          <a:stretch>
            <a:fillRect/>
          </a:stretch>
        </p:blipFill>
        <p:spPr bwMode="auto">
          <a:xfrm>
            <a:off x="2961559" y="3663319"/>
            <a:ext cx="5609230" cy="2396292"/>
          </a:xfrm>
          <a:prstGeom prst="rect">
            <a:avLst/>
          </a:prstGeom>
          <a:noFill/>
          <a:ln>
            <a:noFill/>
          </a:ln>
        </p:spPr>
      </p:pic>
    </p:spTree>
    <p:extLst>
      <p:ext uri="{BB962C8B-B14F-4D97-AF65-F5344CB8AC3E}">
        <p14:creationId xmlns:p14="http://schemas.microsoft.com/office/powerpoint/2010/main" val="594527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82628" y="695167"/>
                <a:ext cx="11113061" cy="830997"/>
              </a:xfrm>
              <a:prstGeom prst="rect">
                <a:avLst/>
              </a:prstGeom>
            </p:spPr>
            <p:txBody>
              <a:bodyPr wrap="square">
                <a:spAutoFit/>
              </a:bodyPr>
              <a:lstStyle/>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For case-2 (left-tailed test):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𝜇</m:t>
                    </m:r>
                    <m:r>
                      <a:rPr lang="en-US" sz="2400" i="1">
                        <a:latin typeface="Cambria Math" panose="02040503050406030204" pitchFamily="18" charset="0"/>
                      </a:rPr>
                      <m:t>&lt;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the RR is represented by the shaded region in the following figure</a:t>
                </a:r>
              </a:p>
            </p:txBody>
          </p:sp>
        </mc:Choice>
        <mc:Fallback xmlns="">
          <p:sp>
            <p:nvSpPr>
              <p:cNvPr id="2" name="Rectangle 1"/>
              <p:cNvSpPr>
                <a:spLocks noRot="1" noChangeAspect="1" noMove="1" noResize="1" noEditPoints="1" noAdjustHandles="1" noChangeArrowheads="1" noChangeShapeType="1" noTextEdit="1"/>
              </p:cNvSpPr>
              <p:nvPr/>
            </p:nvSpPr>
            <p:spPr>
              <a:xfrm>
                <a:off x="582628" y="695167"/>
                <a:ext cx="11113061" cy="830997"/>
              </a:xfrm>
              <a:prstGeom prst="rect">
                <a:avLst/>
              </a:prstGeom>
              <a:blipFill rotWithShape="0">
                <a:blip r:embed="rId2"/>
                <a:stretch>
                  <a:fillRect l="-768" t="-5147" r="-823" b="-16912"/>
                </a:stretch>
              </a:blipFill>
            </p:spPr>
            <p:txBody>
              <a:bodyPr/>
              <a:lstStyle/>
              <a:p>
                <a:r>
                  <a:rPr lang="en-US">
                    <a:noFill/>
                  </a:rPr>
                  <a:t> </a:t>
                </a:r>
              </a:p>
            </p:txBody>
          </p:sp>
        </mc:Fallback>
      </mc:AlternateContent>
      <p:sp>
        <p:nvSpPr>
          <p:cNvPr id="9"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800" b="1" dirty="0">
                <a:latin typeface="Arial" panose="020B0604020202020204" pitchFamily="34" charset="0"/>
                <a:cs typeface="Arial" panose="020B0604020202020204" pitchFamily="34" charset="0"/>
              </a:rPr>
              <a:t>Acceptance Region versus Rejection Region (</a:t>
            </a:r>
            <a:r>
              <a:rPr lang="en-US" sz="2800" b="1" dirty="0" err="1">
                <a:latin typeface="Arial" panose="020B0604020202020204" pitchFamily="34" charset="0"/>
                <a:cs typeface="Arial" panose="020B0604020202020204" pitchFamily="34" charset="0"/>
              </a:rPr>
              <a:t>cont</a:t>
            </a:r>
            <a:r>
              <a:rPr lang="en-US" sz="2800" b="1" dirty="0">
                <a:latin typeface="Arial" panose="020B0604020202020204" pitchFamily="34" charset="0"/>
                <a:cs typeface="Arial" panose="020B0604020202020204" pitchFamily="34" charset="0"/>
              </a:rPr>
              <a:t>…)</a:t>
            </a:r>
            <a:endParaRPr lang="en-GB" sz="2800" b="1" dirty="0">
              <a:latin typeface="Arial" panose="020B0604020202020204" pitchFamily="34" charset="0"/>
              <a:cs typeface="Arial" panose="020B0604020202020204" pitchFamily="34" charset="0"/>
            </a:endParaRPr>
          </a:p>
        </p:txBody>
      </p:sp>
      <p:pic>
        <p:nvPicPr>
          <p:cNvPr id="11" name="Picture 10"/>
          <p:cNvPicPr/>
          <p:nvPr/>
        </p:nvPicPr>
        <p:blipFill>
          <a:blip r:embed="rId3">
            <a:extLst>
              <a:ext uri="{28A0092B-C50C-407E-A947-70E740481C1C}">
                <a14:useLocalDpi xmlns:a14="http://schemas.microsoft.com/office/drawing/2010/main" val="0"/>
              </a:ext>
            </a:extLst>
          </a:blip>
          <a:srcRect/>
          <a:stretch>
            <a:fillRect/>
          </a:stretch>
        </p:blipFill>
        <p:spPr bwMode="auto">
          <a:xfrm>
            <a:off x="4421876" y="1470909"/>
            <a:ext cx="5090615" cy="2077944"/>
          </a:xfrm>
          <a:prstGeom prst="rect">
            <a:avLst/>
          </a:prstGeom>
          <a:noFill/>
          <a:ln>
            <a:noFill/>
          </a:ln>
        </p:spPr>
      </p:pic>
      <mc:AlternateContent xmlns:mc="http://schemas.openxmlformats.org/markup-compatibility/2006" xmlns:a14="http://schemas.microsoft.com/office/drawing/2010/main">
        <mc:Choice Requires="a14">
          <p:sp>
            <p:nvSpPr>
              <p:cNvPr id="13" name="Rectangle 12"/>
              <p:cNvSpPr/>
              <p:nvPr/>
            </p:nvSpPr>
            <p:spPr>
              <a:xfrm>
                <a:off x="692166" y="3457312"/>
                <a:ext cx="11113061" cy="830997"/>
              </a:xfrm>
              <a:prstGeom prst="rect">
                <a:avLst/>
              </a:prstGeom>
            </p:spPr>
            <p:txBody>
              <a:bodyPr wrap="square">
                <a:spAutoFit/>
              </a:bodyPr>
              <a:lstStyle/>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For case-3 (two-tailed test):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r>
                      <a:rPr lang="en-US" sz="2400" i="1">
                        <a:latin typeface="Cambria Math" panose="02040503050406030204" pitchFamily="18" charset="0"/>
                      </a:rPr>
                      <m:t> </m:t>
                    </m:r>
                  </m:oMath>
                </a14:m>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vs</a:t>
                </a:r>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𝜇</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𝜇</m:t>
                        </m:r>
                      </m:e>
                      <m:sub>
                        <m:r>
                          <a:rPr lang="en-US" sz="2400" i="1">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the RR is represented by the shaded region in the following figure</a:t>
                </a:r>
              </a:p>
            </p:txBody>
          </p:sp>
        </mc:Choice>
        <mc:Fallback xmlns="">
          <p:sp>
            <p:nvSpPr>
              <p:cNvPr id="13" name="Rectangle 12"/>
              <p:cNvSpPr>
                <a:spLocks noRot="1" noChangeAspect="1" noMove="1" noResize="1" noEditPoints="1" noAdjustHandles="1" noChangeArrowheads="1" noChangeShapeType="1" noTextEdit="1"/>
              </p:cNvSpPr>
              <p:nvPr/>
            </p:nvSpPr>
            <p:spPr>
              <a:xfrm>
                <a:off x="692166" y="3457312"/>
                <a:ext cx="11113061" cy="830997"/>
              </a:xfrm>
              <a:prstGeom prst="rect">
                <a:avLst/>
              </a:prstGeom>
              <a:blipFill rotWithShape="0">
                <a:blip r:embed="rId4"/>
                <a:stretch>
                  <a:fillRect l="-768" t="-5147" r="-823" b="-16912"/>
                </a:stretch>
              </a:blipFill>
            </p:spPr>
            <p:txBody>
              <a:bodyPr/>
              <a:lstStyle/>
              <a:p>
                <a:r>
                  <a:rPr lang="en-US">
                    <a:noFill/>
                  </a:rPr>
                  <a:t> </a:t>
                </a:r>
              </a:p>
            </p:txBody>
          </p:sp>
        </mc:Fallback>
      </mc:AlternateContent>
      <p:pic>
        <p:nvPicPr>
          <p:cNvPr id="14" name="Picture 13"/>
          <p:cNvPicPr/>
          <p:nvPr/>
        </p:nvPicPr>
        <p:blipFill>
          <a:blip r:embed="rId5">
            <a:extLst>
              <a:ext uri="{28A0092B-C50C-407E-A947-70E740481C1C}">
                <a14:useLocalDpi xmlns:a14="http://schemas.microsoft.com/office/drawing/2010/main" val="0"/>
              </a:ext>
            </a:extLst>
          </a:blip>
          <a:srcRect/>
          <a:stretch>
            <a:fillRect/>
          </a:stretch>
        </p:blipFill>
        <p:spPr bwMode="auto">
          <a:xfrm>
            <a:off x="4421877" y="4234809"/>
            <a:ext cx="5431808" cy="2454771"/>
          </a:xfrm>
          <a:prstGeom prst="rect">
            <a:avLst/>
          </a:prstGeom>
          <a:noFill/>
          <a:ln>
            <a:noFill/>
          </a:ln>
        </p:spPr>
      </p:pic>
    </p:spTree>
    <p:extLst>
      <p:ext uri="{BB962C8B-B14F-4D97-AF65-F5344CB8AC3E}">
        <p14:creationId xmlns:p14="http://schemas.microsoft.com/office/powerpoint/2010/main" val="14313399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82628" y="366557"/>
                <a:ext cx="11113061" cy="4154984"/>
              </a:xfrm>
              <a:prstGeom prst="rect">
                <a:avLst/>
              </a:prstGeom>
            </p:spPr>
            <p:txBody>
              <a:bodyPr wrap="square">
                <a:spAutoFit/>
              </a:bodyPr>
              <a:lstStyle/>
              <a:p>
                <a:pPr algn="just"/>
                <a:r>
                  <a:rPr lang="en-US" sz="2400" b="1" dirty="0">
                    <a:latin typeface="Arial" panose="020B0604020202020204" pitchFamily="34" charset="0"/>
                    <a:cs typeface="Arial" panose="020B0604020202020204" pitchFamily="34" charset="0"/>
                  </a:rPr>
                  <a:t>p-value</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probability of obtaining observed or more extreme evidence against the null hypothesis, assuming the null hypothesis is true, is called the p-value. </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If p-value of a test is smaller than </a:t>
                </a:r>
                <a14:m>
                  <m:oMath xmlns:m="http://schemas.openxmlformats.org/officeDocument/2006/math">
                    <m:r>
                      <a:rPr lang="en-US" sz="2400" b="1" i="1">
                        <a:latin typeface="Cambria Math" panose="02040503050406030204" pitchFamily="18" charset="0"/>
                      </a:rPr>
                      <m:t>𝜶</m:t>
                    </m:r>
                  </m:oMath>
                </a14:m>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rPr>
                          <m:t>𝑯</m:t>
                        </m:r>
                      </m:e>
                      <m:sub>
                        <m:r>
                          <a:rPr lang="en-US" sz="2400" b="1" i="1">
                            <a:latin typeface="Cambria Math" panose="02040503050406030204" pitchFamily="18" charset="0"/>
                          </a:rPr>
                          <m:t>𝟎</m:t>
                        </m:r>
                      </m:sub>
                    </m:sSub>
                  </m:oMath>
                </a14:m>
                <a:r>
                  <a:rPr lang="en-US" sz="2400" dirty="0">
                    <a:latin typeface="Arial" panose="020B0604020202020204" pitchFamily="34" charset="0"/>
                    <a:cs typeface="Arial" panose="020B0604020202020204" pitchFamily="34" charset="0"/>
                  </a:rPr>
                  <a:t> is rejected. </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If p-value is greater than </a:t>
                </a:r>
                <a14:m>
                  <m:oMath xmlns:m="http://schemas.openxmlformats.org/officeDocument/2006/math">
                    <m:r>
                      <a:rPr lang="en-US" sz="2400" b="1" i="1">
                        <a:latin typeface="Cambria Math" panose="02040503050406030204" pitchFamily="18" charset="0"/>
                      </a:rPr>
                      <m:t>𝜶</m:t>
                    </m:r>
                  </m:oMath>
                </a14:m>
                <a:r>
                  <a:rPr lang="en-US" sz="2400" dirty="0">
                    <a:latin typeface="Arial" panose="020B0604020202020204" pitchFamily="34" charset="0"/>
                    <a:cs typeface="Arial" panose="020B0604020202020204" pitchFamily="34" charset="0"/>
                  </a:rPr>
                  <a:t>, </a:t>
                </a:r>
                <a14:m>
                  <m:oMath xmlns:m="http://schemas.openxmlformats.org/officeDocument/2006/math">
                    <m:sSub>
                      <m:sSubPr>
                        <m:ctrlPr>
                          <a:rPr lang="en-US" sz="2400" i="1">
                            <a:latin typeface="Cambria Math" panose="02040503050406030204" pitchFamily="18" charset="0"/>
                          </a:rPr>
                        </m:ctrlPr>
                      </m:sSubPr>
                      <m:e>
                        <m:r>
                          <a:rPr lang="en-US" sz="2400" b="1" i="1">
                            <a:latin typeface="Cambria Math" panose="02040503050406030204" pitchFamily="18" charset="0"/>
                          </a:rPr>
                          <m:t>𝑯</m:t>
                        </m:r>
                      </m:e>
                      <m:sub>
                        <m:r>
                          <a:rPr lang="en-US" sz="2400" b="1" i="1">
                            <a:latin typeface="Cambria Math" panose="02040503050406030204" pitchFamily="18" charset="0"/>
                          </a:rPr>
                          <m:t>𝟎</m:t>
                        </m:r>
                      </m:sub>
                    </m:sSub>
                  </m:oMath>
                </a14:m>
                <a:r>
                  <a:rPr lang="en-US" sz="2400" dirty="0">
                    <a:latin typeface="Arial" panose="020B0604020202020204" pitchFamily="34" charset="0"/>
                    <a:cs typeface="Arial" panose="020B0604020202020204" pitchFamily="34" charset="0"/>
                  </a:rPr>
                  <a:t> can not be rejected.</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The p-value not only results in a decision regarding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but it gives us  additional insight into the strength of the decision. </a:t>
                </a:r>
              </a:p>
              <a:p>
                <a:pPr marL="342900" indent="-342900" algn="just">
                  <a:buFont typeface="Arial" panose="020B0604020202020204" pitchFamily="34" charset="0"/>
                  <a:buChar char="•"/>
                </a:pPr>
                <a:r>
                  <a:rPr lang="en-US" sz="2400" dirty="0">
                    <a:latin typeface="Arial" panose="020B0604020202020204" pitchFamily="34" charset="0"/>
                    <a:cs typeface="Arial" panose="020B0604020202020204" pitchFamily="34" charset="0"/>
                  </a:rPr>
                  <a:t>A very small p-value, such as 0.0001, indicates that although we are hypothesize the </a:t>
                </a:r>
                <a14:m>
                  <m:oMath xmlns:m="http://schemas.openxmlformats.org/officeDocument/2006/math">
                    <m:sSub>
                      <m:sSubPr>
                        <m:ctrlPr>
                          <a:rPr lang="en-US" sz="2400" b="0" i="1" smtClean="0">
                            <a:latin typeface="Cambria Math" panose="02040503050406030204" pitchFamily="18" charset="0"/>
                            <a:cs typeface="Arial" panose="020B0604020202020204" pitchFamily="34" charset="0"/>
                          </a:rPr>
                        </m:ctrlPr>
                      </m:sSubPr>
                      <m:e>
                        <m:r>
                          <a:rPr lang="en-US" sz="2400" b="0" i="1" smtClean="0">
                            <a:latin typeface="Cambria Math" panose="02040503050406030204" pitchFamily="18" charset="0"/>
                            <a:cs typeface="Arial" panose="020B0604020202020204" pitchFamily="34" charset="0"/>
                          </a:rPr>
                          <m:t>𝐻</m:t>
                        </m:r>
                      </m:e>
                      <m:sub>
                        <m:r>
                          <a:rPr lang="en-US" sz="2400" b="0" i="1" smtClean="0">
                            <a:latin typeface="Cambria Math" panose="02040503050406030204" pitchFamily="18" charset="0"/>
                            <a:cs typeface="Arial" panose="020B0604020202020204" pitchFamily="34" charset="0"/>
                          </a:rPr>
                          <m:t>0</m:t>
                        </m:r>
                      </m:sub>
                    </m:sSub>
                  </m:oMath>
                </a14:m>
                <a:r>
                  <a:rPr lang="en-US" sz="2400" dirty="0">
                    <a:latin typeface="Arial" panose="020B0604020202020204" pitchFamily="34" charset="0"/>
                    <a:cs typeface="Arial" panose="020B0604020202020204" pitchFamily="34" charset="0"/>
                  </a:rPr>
                  <a:t>is true, the sample evidence tells us it is very unlikely the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a:latin typeface="Cambria Math" panose="02040503050406030204" pitchFamily="18" charset="0"/>
                          </a:rPr>
                          <m:t>0</m:t>
                        </m:r>
                      </m:sub>
                    </m:sSub>
                  </m:oMath>
                </a14:m>
                <a:r>
                  <a:rPr lang="en-US" sz="2400" dirty="0">
                    <a:latin typeface="Arial" panose="020B0604020202020204" pitchFamily="34" charset="0"/>
                    <a:cs typeface="Arial" panose="020B0604020202020204" pitchFamily="34" charset="0"/>
                  </a:rPr>
                  <a:t> is true. </a:t>
                </a:r>
              </a:p>
              <a:p>
                <a:pPr marL="342900" indent="-34290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582628" y="366557"/>
                <a:ext cx="11113061" cy="4154984"/>
              </a:xfrm>
              <a:prstGeom prst="rect">
                <a:avLst/>
              </a:prstGeom>
              <a:blipFill rotWithShape="0">
                <a:blip r:embed="rId2"/>
                <a:stretch>
                  <a:fillRect l="-878" t="-1026" r="-823"/>
                </a:stretch>
              </a:blipFill>
            </p:spPr>
            <p:txBody>
              <a:bodyPr/>
              <a:lstStyle/>
              <a:p>
                <a:r>
                  <a:rPr lang="en-US">
                    <a:noFill/>
                  </a:rPr>
                  <a:t> </a:t>
                </a:r>
              </a:p>
            </p:txBody>
          </p:sp>
        </mc:Fallback>
      </mc:AlternateContent>
      <p:pic>
        <p:nvPicPr>
          <p:cNvPr id="9" name="Picture 8"/>
          <p:cNvPicPr/>
          <p:nvPr/>
        </p:nvPicPr>
        <p:blipFill>
          <a:blip r:embed="rId3">
            <a:extLst>
              <a:ext uri="{28A0092B-C50C-407E-A947-70E740481C1C}">
                <a14:useLocalDpi xmlns:a14="http://schemas.microsoft.com/office/drawing/2010/main" val="0"/>
              </a:ext>
            </a:extLst>
          </a:blip>
          <a:srcRect/>
          <a:stretch>
            <a:fillRect/>
          </a:stretch>
        </p:blipFill>
        <p:spPr bwMode="auto">
          <a:xfrm>
            <a:off x="2579428" y="3773332"/>
            <a:ext cx="6550924" cy="2815055"/>
          </a:xfrm>
          <a:prstGeom prst="rect">
            <a:avLst/>
          </a:prstGeom>
          <a:noFill/>
          <a:ln>
            <a:noFill/>
          </a:ln>
        </p:spPr>
      </p:pic>
    </p:spTree>
    <p:extLst>
      <p:ext uri="{BB962C8B-B14F-4D97-AF65-F5344CB8AC3E}">
        <p14:creationId xmlns:p14="http://schemas.microsoft.com/office/powerpoint/2010/main" val="1735835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4346" y="1000346"/>
                <a:ext cx="10515600" cy="3571654"/>
              </a:xfrm>
            </p:spPr>
            <p:txBody>
              <a:bodyPr>
                <a:noAutofit/>
              </a:bodyPr>
              <a:lstStyle/>
              <a:p>
                <a:pPr>
                  <a:lnSpc>
                    <a:spcPct val="100000"/>
                  </a:lnSpc>
                </a:pPr>
                <a:r>
                  <a:rPr lang="en-US" sz="2400" dirty="0">
                    <a:latin typeface="Arial" panose="020B0604020202020204" pitchFamily="34" charset="0"/>
                    <a:cs typeface="Arial" panose="020B0604020202020204" pitchFamily="34" charset="0"/>
                  </a:rPr>
                  <a:t>There is a five-step procedure that systematizes a hypothesis testing procedure</a:t>
                </a:r>
                <a:endParaRPr lang="en-US" sz="2400" b="1" dirty="0">
                  <a:latin typeface="Arial" panose="020B0604020202020204" pitchFamily="34" charset="0"/>
                  <a:cs typeface="Arial" panose="020B0604020202020204" pitchFamily="34" charset="0"/>
                </a:endParaRPr>
              </a:p>
              <a:p>
                <a:pPr marL="457200" lvl="1" indent="0">
                  <a:lnSpc>
                    <a:spcPct val="100000"/>
                  </a:lnSpc>
                  <a:buNone/>
                </a:pPr>
                <a:r>
                  <a:rPr lang="en-US" dirty="0">
                    <a:latin typeface="Arial" panose="020B0604020202020204" pitchFamily="34" charset="0"/>
                    <a:cs typeface="Arial" panose="020B0604020202020204" pitchFamily="34" charset="0"/>
                  </a:rPr>
                  <a:t>Step-1: Establish the H</a:t>
                </a:r>
                <a:r>
                  <a:rPr lang="en-US" baseline="-25000" dirty="0">
                    <a:latin typeface="Arial" panose="020B0604020202020204" pitchFamily="34" charset="0"/>
                    <a:cs typeface="Arial" panose="020B0604020202020204" pitchFamily="34" charset="0"/>
                  </a:rPr>
                  <a:t>0</a:t>
                </a:r>
                <a:r>
                  <a:rPr lang="en-US" dirty="0">
                    <a:latin typeface="Arial" panose="020B0604020202020204" pitchFamily="34" charset="0"/>
                    <a:cs typeface="Arial" panose="020B0604020202020204" pitchFamily="34" charset="0"/>
                  </a:rPr>
                  <a:t> and the H</a:t>
                </a:r>
                <a:r>
                  <a:rPr lang="en-US" baseline="-25000" dirty="0">
                    <a:latin typeface="Arial" panose="020B0604020202020204" pitchFamily="34" charset="0"/>
                    <a:cs typeface="Arial" panose="020B0604020202020204" pitchFamily="34" charset="0"/>
                  </a:rPr>
                  <a:t>1</a:t>
                </a:r>
              </a:p>
              <a:p>
                <a:pPr marL="457200" lvl="1" indent="0">
                  <a:lnSpc>
                    <a:spcPct val="100000"/>
                  </a:lnSpc>
                  <a:buNone/>
                </a:pPr>
                <a:r>
                  <a:rPr lang="en-US" dirty="0">
                    <a:latin typeface="Arial" panose="020B0604020202020204" pitchFamily="34" charset="0"/>
                    <a:cs typeface="Arial" panose="020B0604020202020204" pitchFamily="34" charset="0"/>
                  </a:rPr>
                  <a:t>Step-2: Select level of significance (</a:t>
                </a:r>
                <a14:m>
                  <m:oMath xmlns:m="http://schemas.openxmlformats.org/officeDocument/2006/math">
                    <m:r>
                      <a:rPr lang="en-US" b="0" i="1" smtClean="0">
                        <a:latin typeface="Cambria Math" panose="02040503050406030204" pitchFamily="18" charset="0"/>
                      </a:rPr>
                      <m:t>𝛼</m:t>
                    </m:r>
                  </m:oMath>
                </a14:m>
                <a:r>
                  <a:rPr lang="en-US" dirty="0">
                    <a:latin typeface="Arial" panose="020B0604020202020204" pitchFamily="34" charset="0"/>
                    <a:cs typeface="Arial" panose="020B0604020202020204" pitchFamily="34" charset="0"/>
                  </a:rPr>
                  <a:t>)</a:t>
                </a:r>
              </a:p>
              <a:p>
                <a:pPr marL="457200" lvl="1" indent="0">
                  <a:lnSpc>
                    <a:spcPct val="100000"/>
                  </a:lnSpc>
                  <a:buNone/>
                </a:pPr>
                <a:r>
                  <a:rPr lang="en-US" dirty="0">
                    <a:latin typeface="Arial" panose="020B0604020202020204" pitchFamily="34" charset="0"/>
                    <a:cs typeface="Arial" panose="020B0604020202020204" pitchFamily="34" charset="0"/>
                  </a:rPr>
                  <a:t>Step-3: Select an appropriate test statistic</a:t>
                </a:r>
              </a:p>
              <a:p>
                <a:pPr marL="457200" lvl="1" indent="0">
                  <a:lnSpc>
                    <a:spcPct val="100000"/>
                  </a:lnSpc>
                  <a:buNone/>
                </a:pPr>
                <a:r>
                  <a:rPr lang="en-US" dirty="0">
                    <a:latin typeface="Arial" panose="020B0604020202020204" pitchFamily="34" charset="0"/>
                    <a:cs typeface="Arial" panose="020B0604020202020204" pitchFamily="34" charset="0"/>
                  </a:rPr>
                  <a:t>Step-4: Formulate a decision rule based on steps 1, 2, and 3 above</a:t>
                </a:r>
              </a:p>
              <a:p>
                <a:pPr marL="457200" lvl="1" indent="0">
                  <a:lnSpc>
                    <a:spcPct val="100000"/>
                  </a:lnSpc>
                  <a:buNone/>
                </a:pPr>
                <a:r>
                  <a:rPr lang="en-US" dirty="0">
                    <a:latin typeface="Arial" panose="020B0604020202020204" pitchFamily="34" charset="0"/>
                    <a:cs typeface="Arial" panose="020B0604020202020204" pitchFamily="34" charset="0"/>
                  </a:rPr>
                  <a:t>Step-5: Make a decision regarding the null hypothesis based on the sample information.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4346" y="1000346"/>
                <a:ext cx="10515600" cy="3571654"/>
              </a:xfrm>
              <a:blipFill rotWithShape="0">
                <a:blip r:embed="rId2"/>
                <a:stretch>
                  <a:fillRect l="-754" t="-1195"/>
                </a:stretch>
              </a:blipFill>
            </p:spPr>
            <p:txBody>
              <a:bodyPr/>
              <a:lstStyle/>
              <a:p>
                <a:r>
                  <a:rPr lang="en-US">
                    <a:noFill/>
                  </a:rPr>
                  <a:t> </a:t>
                </a:r>
              </a:p>
            </p:txBody>
          </p:sp>
        </mc:Fallback>
      </mc:AlternateContent>
      <p:sp>
        <p:nvSpPr>
          <p:cNvPr id="4"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800" b="1" dirty="0">
                <a:latin typeface="Arial" panose="020B0604020202020204" pitchFamily="34" charset="0"/>
                <a:cs typeface="Arial" panose="020B0604020202020204" pitchFamily="34" charset="0"/>
              </a:rPr>
              <a:t>Steps to conduct a hypothesis test</a:t>
            </a:r>
            <a:endParaRPr lang="en-GB"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07569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2628" y="463151"/>
            <a:ext cx="11113061" cy="2492990"/>
          </a:xfrm>
          <a:prstGeom prst="rect">
            <a:avLst/>
          </a:prstGeom>
        </p:spPr>
        <p:txBody>
          <a:bodyPr wrap="square">
            <a:spAutoFit/>
          </a:bodyPr>
          <a:lstStyle/>
          <a:p>
            <a:pPr algn="just"/>
            <a:r>
              <a:rPr lang="en-US" sz="2400" b="1" dirty="0" smtClean="0">
                <a:latin typeface="Arial" panose="020B0604020202020204" pitchFamily="34" charset="0"/>
                <a:cs typeface="Arial" panose="020B0604020202020204" pitchFamily="34" charset="0"/>
              </a:rPr>
              <a:t>Choosing a test statistic:</a:t>
            </a:r>
          </a:p>
          <a:p>
            <a:pPr algn="just"/>
            <a:endParaRPr lang="en-US" sz="12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Various test statistic can be derived depending the nature of the hypothesis and the assumptions made about the data. </a:t>
            </a:r>
          </a:p>
          <a:p>
            <a:pPr marL="342900" indent="-342900">
              <a:buFont typeface="Arial" panose="020B0604020202020204" pitchFamily="34" charset="0"/>
              <a:buChar char="•"/>
            </a:pPr>
            <a:r>
              <a:rPr lang="en-US" sz="2400" dirty="0">
                <a:latin typeface="Arial" panose="020B0604020202020204" pitchFamily="34" charset="0"/>
                <a:cs typeface="Arial" panose="020B0604020202020204" pitchFamily="34" charset="0"/>
              </a:rPr>
              <a:t>Common test of hypothesis are as </a:t>
            </a:r>
            <a:r>
              <a:rPr lang="en-US" sz="2400" dirty="0" smtClean="0">
                <a:latin typeface="Arial" panose="020B0604020202020204" pitchFamily="34" charset="0"/>
                <a:cs typeface="Arial" panose="020B0604020202020204" pitchFamily="34" charset="0"/>
              </a:rPr>
              <a:t>follows</a:t>
            </a:r>
          </a:p>
          <a:p>
            <a:pPr lvl="1"/>
            <a:r>
              <a:rPr lang="en-US" sz="2400" dirty="0" smtClean="0">
                <a:latin typeface="Arial" panose="020B0604020202020204" pitchFamily="34" charset="0"/>
                <a:cs typeface="Arial" panose="020B0604020202020204" pitchFamily="34" charset="0"/>
              </a:rPr>
              <a:t>1</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Z-test</a:t>
            </a:r>
            <a:endParaRPr lang="en-US" sz="2400" dirty="0">
              <a:latin typeface="Arial" panose="020B0604020202020204" pitchFamily="34" charset="0"/>
              <a:cs typeface="Arial" panose="020B0604020202020204" pitchFamily="34" charset="0"/>
            </a:endParaRPr>
          </a:p>
          <a:p>
            <a:pPr lvl="1"/>
            <a:r>
              <a:rPr lang="en-US" sz="2400" dirty="0" smtClean="0">
                <a:latin typeface="Arial" panose="020B0604020202020204" pitchFamily="34" charset="0"/>
                <a:cs typeface="Arial" panose="020B0604020202020204" pitchFamily="34" charset="0"/>
              </a:rPr>
              <a:t>2</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T-test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10818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4346" y="1000345"/>
                <a:ext cx="10515600" cy="5329017"/>
              </a:xfrm>
            </p:spPr>
            <p:txBody>
              <a:bodyPr>
                <a:noAutofit/>
              </a:bodyPr>
              <a:lstStyle/>
              <a:p>
                <a:pPr algn="just">
                  <a:lnSpc>
                    <a:spcPct val="100000"/>
                  </a:lnSpc>
                </a:pPr>
                <a:r>
                  <a:rPr lang="en-US" sz="2400" dirty="0">
                    <a:latin typeface="Arial" panose="020B0604020202020204" pitchFamily="34" charset="0"/>
                    <a:cs typeface="Arial" panose="020B0604020202020204" pitchFamily="34" charset="0"/>
                  </a:rPr>
                  <a:t>It is used when data is originated from a single sample of participants.</a:t>
                </a:r>
              </a:p>
              <a:p>
                <a:pPr algn="just">
                  <a:lnSpc>
                    <a:spcPct val="100000"/>
                  </a:lnSpc>
                </a:pPr>
                <a:r>
                  <a:rPr lang="en-US" sz="2400" dirty="0">
                    <a:latin typeface="Arial" panose="020B0604020202020204" pitchFamily="34" charset="0"/>
                    <a:cs typeface="Arial" panose="020B0604020202020204" pitchFamily="34" charset="0"/>
                  </a:rPr>
                  <a:t>The interest is whether the mean of the population (from which the sample is drawn) is the same as the hypothesized mean.</a:t>
                </a:r>
              </a:p>
              <a:p>
                <a:pPr algn="just">
                  <a:lnSpc>
                    <a:spcPct val="100000"/>
                  </a:lnSpc>
                </a:pPr>
                <a:r>
                  <a:rPr lang="en-US" sz="2400" dirty="0">
                    <a:latin typeface="Arial" panose="020B0604020202020204" pitchFamily="34" charset="0"/>
                    <a:cs typeface="Arial" panose="020B0604020202020204" pitchFamily="34" charset="0"/>
                  </a:rPr>
                  <a:t>Depending on the distribution, the test statistic may be of the following three form</a:t>
                </a:r>
              </a:p>
              <a:p>
                <a:pPr lvl="1">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Case I :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b="1" i="1">
                                <a:latin typeface="Cambria Math" panose="02040503050406030204" pitchFamily="18" charset="0"/>
                              </a:rPr>
                              <m:t>𝒙</m:t>
                            </m:r>
                          </m:e>
                        </m:acc>
                        <m:r>
                          <a:rPr lang="en-US" b="1" i="1" dirty="0">
                            <a:latin typeface="Cambria Math" panose="02040503050406030204" pitchFamily="18" charset="0"/>
                          </a:rPr>
                          <m:t>−</m:t>
                        </m:r>
                        <m:sSub>
                          <m:sSubPr>
                            <m:ctrlPr>
                              <a:rPr lang="en-US" b="1" i="1" dirty="0">
                                <a:latin typeface="Cambria Math" panose="02040503050406030204" pitchFamily="18" charset="0"/>
                              </a:rPr>
                            </m:ctrlPr>
                          </m:sSubPr>
                          <m:e>
                            <m:r>
                              <a:rPr lang="en-US" b="1" i="1" dirty="0">
                                <a:latin typeface="Cambria Math" panose="02040503050406030204" pitchFamily="18" charset="0"/>
                              </a:rPr>
                              <m:t>𝝁</m:t>
                            </m:r>
                          </m:e>
                          <m:sub>
                            <m:r>
                              <a:rPr lang="en-US" b="1" i="1" dirty="0">
                                <a:latin typeface="Cambria Math" panose="02040503050406030204" pitchFamily="18" charset="0"/>
                              </a:rPr>
                              <m:t>𝟎</m:t>
                            </m:r>
                          </m:sub>
                        </m:sSub>
                      </m:num>
                      <m:den>
                        <m:f>
                          <m:fPr>
                            <m:type m:val="lin"/>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den>
                    </m:f>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(0,1)</m:t>
                    </m:r>
                  </m:oMath>
                </a14:m>
                <a:r>
                  <a:rPr lang="en-US" dirty="0">
                    <a:latin typeface="Arial" panose="020B0604020202020204" pitchFamily="34" charset="0"/>
                    <a:cs typeface="Arial" panose="020B0604020202020204" pitchFamily="34" charset="0"/>
                  </a:rPr>
                  <a:t> if </a:t>
                </a:r>
                <a14:m>
                  <m:oMath xmlns:m="http://schemas.openxmlformats.org/officeDocument/2006/math">
                    <m:r>
                      <a:rPr lang="en-US" i="1">
                        <a:latin typeface="Cambria Math" panose="02040503050406030204" pitchFamily="18" charset="0"/>
                      </a:rPr>
                      <m:t>𝜎</m:t>
                    </m:r>
                  </m:oMath>
                </a14:m>
                <a:r>
                  <a:rPr lang="en-US" dirty="0">
                    <a:latin typeface="Arial" panose="020B0604020202020204" pitchFamily="34" charset="0"/>
                    <a:cs typeface="Arial" panose="020B0604020202020204" pitchFamily="34" charset="0"/>
                  </a:rPr>
                  <a:t> is </a:t>
                </a:r>
                <a:r>
                  <a:rPr lang="en-US" dirty="0" smtClean="0">
                    <a:latin typeface="Arial" panose="020B0604020202020204" pitchFamily="34" charset="0"/>
                    <a:cs typeface="Arial" panose="020B0604020202020204" pitchFamily="34" charset="0"/>
                  </a:rPr>
                  <a:t>known and population is normal.</a:t>
                </a:r>
                <a:endParaRPr lang="en-US" dirty="0">
                  <a:latin typeface="Arial" panose="020B0604020202020204" pitchFamily="34" charset="0"/>
                  <a:cs typeface="Arial" panose="020B0604020202020204" pitchFamily="34" charset="0"/>
                </a:endParaRPr>
              </a:p>
              <a:p>
                <a:pPr lvl="1">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Case II :</a:t>
                </a:r>
                <a:r>
                  <a:rPr lang="en-US" dirty="0"/>
                  <a:t> </a:t>
                </a:r>
                <a14:m>
                  <m:oMath xmlns:m="http://schemas.openxmlformats.org/officeDocument/2006/math">
                    <m:r>
                      <a:rPr lang="en-US" i="1">
                        <a:latin typeface="Cambria Math" panose="02040503050406030204" pitchFamily="18" charset="0"/>
                      </a:rPr>
                      <m:t>𝑍</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b="1" i="1">
                                <a:latin typeface="Cambria Math" panose="02040503050406030204" pitchFamily="18" charset="0"/>
                              </a:rPr>
                              <m:t>𝒙</m:t>
                            </m:r>
                          </m:e>
                        </m:acc>
                        <m:r>
                          <a:rPr lang="en-US" b="1" i="1" dirty="0">
                            <a:latin typeface="Cambria Math" panose="02040503050406030204" pitchFamily="18" charset="0"/>
                          </a:rPr>
                          <m:t>−</m:t>
                        </m:r>
                        <m:sSub>
                          <m:sSubPr>
                            <m:ctrlPr>
                              <a:rPr lang="en-US" b="1" i="1" dirty="0">
                                <a:latin typeface="Cambria Math" panose="02040503050406030204" pitchFamily="18" charset="0"/>
                              </a:rPr>
                            </m:ctrlPr>
                          </m:sSubPr>
                          <m:e>
                            <m:r>
                              <a:rPr lang="en-US" b="1" i="1" dirty="0">
                                <a:latin typeface="Cambria Math" panose="02040503050406030204" pitchFamily="18" charset="0"/>
                              </a:rPr>
                              <m:t>𝝁</m:t>
                            </m:r>
                          </m:e>
                          <m:sub>
                            <m:r>
                              <a:rPr lang="en-US" b="1" i="1" dirty="0">
                                <a:latin typeface="Cambria Math" panose="02040503050406030204" pitchFamily="18" charset="0"/>
                              </a:rPr>
                              <m:t>𝟎</m:t>
                            </m:r>
                          </m:sub>
                        </m:sSub>
                      </m:num>
                      <m:den>
                        <m:f>
                          <m:fPr>
                            <m:type m:val="lin"/>
                            <m:ctrlPr>
                              <a:rPr lang="en-US" i="1">
                                <a:latin typeface="Cambria Math" panose="02040503050406030204" pitchFamily="18" charset="0"/>
                              </a:rPr>
                            </m:ctrlPr>
                          </m:fPr>
                          <m:num>
                            <m:r>
                              <a:rPr lang="en-US" i="1">
                                <a:latin typeface="Cambria Math" panose="02040503050406030204" pitchFamily="18" charset="0"/>
                              </a:rPr>
                              <m:t>𝑠</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den>
                    </m:f>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(0,1)</m:t>
                    </m:r>
                  </m:oMath>
                </a14:m>
                <a:r>
                  <a:rPr lang="en-US" dirty="0">
                    <a:latin typeface="Arial" panose="020B0604020202020204" pitchFamily="34" charset="0"/>
                    <a:cs typeface="Arial" panose="020B0604020202020204" pitchFamily="34" charset="0"/>
                  </a:rPr>
                  <a:t> if </a:t>
                </a:r>
                <a14:m>
                  <m:oMath xmlns:m="http://schemas.openxmlformats.org/officeDocument/2006/math">
                    <m:r>
                      <a:rPr lang="en-US" i="1">
                        <a:latin typeface="Cambria Math" panose="02040503050406030204" pitchFamily="18" charset="0"/>
                      </a:rPr>
                      <m:t>𝜎</m:t>
                    </m:r>
                  </m:oMath>
                </a14:m>
                <a:r>
                  <a:rPr lang="en-US" dirty="0">
                    <a:latin typeface="Arial" panose="020B0604020202020204" pitchFamily="34" charset="0"/>
                    <a:cs typeface="Arial" panose="020B0604020202020204" pitchFamily="34" charset="0"/>
                  </a:rPr>
                  <a:t> is unknown and sample size large (n≥30)</a:t>
                </a:r>
              </a:p>
              <a:p>
                <a:pPr lvl="1">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Case III :</a:t>
                </a:r>
                <a:r>
                  <a:rPr lang="en-US" dirty="0"/>
                  <a:t> </a:t>
                </a:r>
                <a14:m>
                  <m:oMath xmlns:m="http://schemas.openxmlformats.org/officeDocument/2006/math">
                    <m:r>
                      <m:rPr>
                        <m:sty m:val="p"/>
                      </m:rPr>
                      <a:rPr lang="en-US">
                        <a:latin typeface="Cambria Math" panose="02040503050406030204" pitchFamily="18" charset="0"/>
                      </a:rPr>
                      <m:t>t</m:t>
                    </m:r>
                    <m:r>
                      <a:rPr lang="en-US" i="1">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b="1" i="1">
                                <a:latin typeface="Cambria Math" panose="02040503050406030204" pitchFamily="18" charset="0"/>
                              </a:rPr>
                              <m:t>𝒙</m:t>
                            </m:r>
                          </m:e>
                        </m:acc>
                        <m:r>
                          <a:rPr lang="en-US" b="1" i="1" dirty="0">
                            <a:latin typeface="Cambria Math" panose="02040503050406030204" pitchFamily="18" charset="0"/>
                          </a:rPr>
                          <m:t>−</m:t>
                        </m:r>
                        <m:sSub>
                          <m:sSubPr>
                            <m:ctrlPr>
                              <a:rPr lang="en-US" b="1" i="1" dirty="0">
                                <a:latin typeface="Cambria Math" panose="02040503050406030204" pitchFamily="18" charset="0"/>
                              </a:rPr>
                            </m:ctrlPr>
                          </m:sSubPr>
                          <m:e>
                            <m:r>
                              <a:rPr lang="en-US" b="1" i="1" dirty="0">
                                <a:latin typeface="Cambria Math" panose="02040503050406030204" pitchFamily="18" charset="0"/>
                              </a:rPr>
                              <m:t>𝝁</m:t>
                            </m:r>
                          </m:e>
                          <m:sub>
                            <m:r>
                              <a:rPr lang="en-US" b="1" i="1" dirty="0">
                                <a:latin typeface="Cambria Math" panose="02040503050406030204" pitchFamily="18" charset="0"/>
                              </a:rPr>
                              <m:t>𝟎</m:t>
                            </m:r>
                          </m:sub>
                        </m:sSub>
                      </m:num>
                      <m:den>
                        <m:f>
                          <m:fPr>
                            <m:type m:val="lin"/>
                            <m:ctrlPr>
                              <a:rPr lang="en-US" i="1">
                                <a:latin typeface="Cambria Math" panose="02040503050406030204" pitchFamily="18" charset="0"/>
                              </a:rPr>
                            </m:ctrlPr>
                          </m:fPr>
                          <m:num>
                            <m:r>
                              <a:rPr lang="en-US" i="1">
                                <a:latin typeface="Cambria Math" panose="02040503050406030204" pitchFamily="18" charset="0"/>
                              </a:rPr>
                              <m:t>𝑠</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den>
                    </m:f>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𝑡</m:t>
                        </m:r>
                      </m:e>
                      <m: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sub>
                    </m:sSub>
                  </m:oMath>
                </a14:m>
                <a:r>
                  <a:rPr lang="en-US" dirty="0">
                    <a:latin typeface="Arial" panose="020B0604020202020204" pitchFamily="34" charset="0"/>
                    <a:cs typeface="Arial" panose="020B0604020202020204" pitchFamily="34" charset="0"/>
                  </a:rPr>
                  <a:t> if </a:t>
                </a:r>
                <a14:m>
                  <m:oMath xmlns:m="http://schemas.openxmlformats.org/officeDocument/2006/math">
                    <m:r>
                      <a:rPr lang="en-US" i="1">
                        <a:latin typeface="Cambria Math" panose="02040503050406030204" pitchFamily="18" charset="0"/>
                      </a:rPr>
                      <m:t>𝜎</m:t>
                    </m:r>
                  </m:oMath>
                </a14:m>
                <a:r>
                  <a:rPr lang="en-US" dirty="0">
                    <a:latin typeface="Arial" panose="020B0604020202020204" pitchFamily="34" charset="0"/>
                    <a:cs typeface="Arial" panose="020B0604020202020204" pitchFamily="34" charset="0"/>
                  </a:rPr>
                  <a:t> is </a:t>
                </a:r>
                <a:r>
                  <a:rPr lang="en-US" dirty="0" smtClean="0">
                    <a:latin typeface="Arial" panose="020B0604020202020204" pitchFamily="34" charset="0"/>
                    <a:cs typeface="Arial" panose="020B0604020202020204" pitchFamily="34" charset="0"/>
                  </a:rPr>
                  <a:t>unknown, population is normal </a:t>
                </a:r>
                <a:r>
                  <a:rPr lang="en-US" dirty="0">
                    <a:latin typeface="Arial" panose="020B0604020202020204" pitchFamily="34" charset="0"/>
                    <a:cs typeface="Arial" panose="020B0604020202020204" pitchFamily="34" charset="0"/>
                  </a:rPr>
                  <a:t>and sample size small (n&lt;30)</a:t>
                </a:r>
              </a:p>
              <a:p>
                <a:pPr lvl="1">
                  <a:lnSpc>
                    <a:spcPct val="100000"/>
                  </a:lnSpc>
                  <a:buFont typeface="Wingdings" panose="05000000000000000000" pitchFamily="2" charset="2"/>
                  <a:buChar char="v"/>
                </a:pPr>
                <a:r>
                  <a:rPr lang="en-US" dirty="0"/>
                  <a:t>Note that for large value of </a:t>
                </a:r>
                <a14:m>
                  <m:oMath xmlns:m="http://schemas.openxmlformats.org/officeDocument/2006/math">
                    <m:r>
                      <a:rPr lang="en-US" i="1" dirty="0" smtClean="0">
                        <a:latin typeface="Cambria Math" panose="02040503050406030204" pitchFamily="18" charset="0"/>
                      </a:rPr>
                      <m:t>𝑛</m:t>
                    </m:r>
                  </m:oMath>
                </a14:m>
                <a:r>
                  <a:rPr lang="en-US" dirty="0"/>
                  <a:t>, </a:t>
                </a:r>
                <a14:m>
                  <m:oMath xmlns:m="http://schemas.openxmlformats.org/officeDocument/2006/math">
                    <m:r>
                      <a:rPr lang="en-US" i="1" dirty="0" smtClean="0">
                        <a:latin typeface="Cambria Math" panose="02040503050406030204" pitchFamily="18" charset="0"/>
                      </a:rPr>
                      <m:t>𝑡</m:t>
                    </m:r>
                  </m:oMath>
                </a14:m>
                <a:r>
                  <a:rPr lang="en-US" dirty="0"/>
                  <a:t>-distribution is approximated by standard normal distribution.</a:t>
                </a:r>
                <a:endParaRPr lang="en-US" dirty="0">
                  <a:latin typeface="Arial" panose="020B0604020202020204" pitchFamily="34" charset="0"/>
                  <a:cs typeface="Arial" panose="020B0604020202020204" pitchFamily="34" charset="0"/>
                </a:endParaRPr>
              </a:p>
              <a:p>
                <a:pPr marL="0" indent="0">
                  <a:lnSpc>
                    <a:spcPct val="100000"/>
                  </a:lnSpc>
                  <a:buNone/>
                </a:pPr>
                <a:r>
                  <a:rPr lang="en-US" sz="2400" dirty="0">
                    <a:latin typeface="Arial" panose="020B0604020202020204" pitchFamily="34" charset="0"/>
                    <a:cs typeface="Arial" panose="020B0604020202020204" pitchFamily="34" charset="0"/>
                  </a:rPr>
                  <a:t>              </a:t>
                </a:r>
              </a:p>
              <a:p>
                <a:pPr algn="just">
                  <a:lnSpc>
                    <a:spcPct val="100000"/>
                  </a:lnSpc>
                </a:pPr>
                <a:endParaRPr lang="en-US" sz="24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4346" y="1000345"/>
                <a:ext cx="10515600" cy="5329017"/>
              </a:xfrm>
              <a:blipFill rotWithShape="0">
                <a:blip r:embed="rId2"/>
                <a:stretch>
                  <a:fillRect l="-754" t="-801" r="-928" b="-343"/>
                </a:stretch>
              </a:blipFill>
            </p:spPr>
            <p:txBody>
              <a:bodyPr/>
              <a:lstStyle/>
              <a:p>
                <a:r>
                  <a:rPr lang="en-US">
                    <a:noFill/>
                  </a:rPr>
                  <a:t> </a:t>
                </a:r>
              </a:p>
            </p:txBody>
          </p:sp>
        </mc:Fallback>
      </mc:AlternateContent>
      <p:sp>
        <p:nvSpPr>
          <p:cNvPr id="4"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800" b="1" dirty="0">
                <a:latin typeface="Arial" panose="020B0604020202020204" pitchFamily="34" charset="0"/>
                <a:cs typeface="Arial" panose="020B0604020202020204" pitchFamily="34" charset="0"/>
              </a:rPr>
              <a:t>One-Sample Mean Test</a:t>
            </a:r>
            <a:endParaRPr lang="en-GB"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5057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4346" y="671730"/>
                <a:ext cx="10515600" cy="6271998"/>
              </a:xfrm>
            </p:spPr>
            <p:txBody>
              <a:bodyPr>
                <a:noAutofit/>
              </a:bodyPr>
              <a:lstStyle/>
              <a:p>
                <a:pPr marL="0" indent="0">
                  <a:lnSpc>
                    <a:spcPct val="100000"/>
                  </a:lnSpc>
                  <a:buNone/>
                </a:pPr>
                <a:r>
                  <a:rPr lang="en-US" sz="2000" b="1" dirty="0" smtClean="0">
                    <a:latin typeface="Arial" panose="020B0604020202020204" pitchFamily="34" charset="0"/>
                    <a:cs typeface="Arial" panose="020B0604020202020204" pitchFamily="34" charset="0"/>
                  </a:rPr>
                  <a:t>Example:</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 bank manager has developed a new system to reduce the time customers spend waiting for teller service during peak hours. The manager claims the new system reduce mean waiting times from the current ‘6 or more minutes’ to ‘less than 6 minutes’. Given that the </a:t>
                </a:r>
                <a:r>
                  <a:rPr lang="en-US" sz="2000" dirty="0">
                    <a:solidFill>
                      <a:srgbClr val="0070C0"/>
                    </a:solidFill>
                    <a:latin typeface="Arial" panose="020B0604020202020204" pitchFamily="34" charset="0"/>
                    <a:cs typeface="Arial" panose="020B0604020202020204" pitchFamily="34" charset="0"/>
                  </a:rPr>
                  <a:t>distribution of waiting time is normal with a standard deviation of 1.2 </a:t>
                </a:r>
                <a:r>
                  <a:rPr lang="en-US" sz="2000" dirty="0">
                    <a:latin typeface="Arial" panose="020B0604020202020204" pitchFamily="34" charset="0"/>
                    <a:cs typeface="Arial" panose="020B0604020202020204" pitchFamily="34" charset="0"/>
                  </a:rPr>
                  <a:t>minutes. Suppose a random sample of 20 waiting times yields a sample mean of 5.5 minutes. At the 0.05 level of significance, can we conclude that the mean waiting time under the new system is shorter than 6 minutes?</a:t>
                </a:r>
              </a:p>
              <a:p>
                <a:pPr>
                  <a:lnSpc>
                    <a:spcPct val="100000"/>
                  </a:lnSpc>
                </a:pPr>
                <a:r>
                  <a:rPr lang="en-US" sz="2000" dirty="0">
                    <a:latin typeface="Arial" panose="020B0604020202020204" pitchFamily="34" charset="0"/>
                    <a:cs typeface="Arial" panose="020B0604020202020204" pitchFamily="34" charset="0"/>
                  </a:rPr>
                  <a:t>Step 1: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𝜇</m:t>
                    </m:r>
                    <m:r>
                      <a:rPr lang="en-US" sz="2000" i="1">
                        <a:latin typeface="Cambria Math" panose="02040503050406030204" pitchFamily="18" charset="0"/>
                      </a:rPr>
                      <m:t>≥6 </m:t>
                    </m:r>
                    <m:r>
                      <a:rPr lang="en-US" sz="2000" i="1">
                        <a:latin typeface="Cambria Math" panose="02040503050406030204" pitchFamily="18" charset="0"/>
                      </a:rPr>
                      <m:t>𝑣𝑒𝑟𝑠𝑢𝑠</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𝑎</m:t>
                        </m:r>
                      </m:sub>
                    </m:sSub>
                    <m:r>
                      <a:rPr lang="en-US" sz="2000" i="1">
                        <a:latin typeface="Cambria Math" panose="02040503050406030204" pitchFamily="18" charset="0"/>
                      </a:rPr>
                      <m:t>:</m:t>
                    </m:r>
                    <m:r>
                      <a:rPr lang="en-US" sz="2000" i="1">
                        <a:latin typeface="Cambria Math" panose="02040503050406030204" pitchFamily="18" charset="0"/>
                      </a:rPr>
                      <m:t>𝜇</m:t>
                    </m:r>
                    <m:r>
                      <a:rPr lang="en-US" sz="2000" i="1">
                        <a:latin typeface="Cambria Math" panose="02040503050406030204" pitchFamily="18" charset="0"/>
                      </a:rPr>
                      <m:t>&lt;6</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2: </a:t>
                </a:r>
                <a14:m>
                  <m:oMath xmlns:m="http://schemas.openxmlformats.org/officeDocument/2006/math">
                    <m:r>
                      <a:rPr lang="en-US" sz="2000" i="1">
                        <a:latin typeface="Cambria Math" panose="02040503050406030204" pitchFamily="18" charset="0"/>
                      </a:rPr>
                      <m:t>𝛼</m:t>
                    </m:r>
                    <m:r>
                      <a:rPr lang="en-US" sz="2000" i="1">
                        <a:latin typeface="Cambria Math" panose="02040503050406030204" pitchFamily="18" charset="0"/>
                      </a:rPr>
                      <m:t>=0.05</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3: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−6</m:t>
                        </m:r>
                      </m:num>
                      <m:den>
                        <m:f>
                          <m:fPr>
                            <m:type m:val="skw"/>
                            <m:ctrlPr>
                              <a:rPr lang="en-US" sz="2000" i="1">
                                <a:latin typeface="Cambria Math" panose="02040503050406030204" pitchFamily="18" charset="0"/>
                              </a:rPr>
                            </m:ctrlPr>
                          </m:fPr>
                          <m:num>
                            <m:r>
                              <a:rPr lang="en-US" sz="2000" i="1">
                                <a:latin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4: Critical value = -1.645.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may be rejected if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&lt;−1.645</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5: The observed sample yields,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−6</m:t>
                        </m:r>
                      </m:num>
                      <m:den>
                        <m:f>
                          <m:fPr>
                            <m:type m:val="skw"/>
                            <m:ctrlPr>
                              <a:rPr lang="en-US" sz="2000" i="1">
                                <a:latin typeface="Cambria Math" panose="02040503050406030204" pitchFamily="18" charset="0"/>
                              </a:rPr>
                            </m:ctrlPr>
                          </m:fPr>
                          <m:num>
                            <m:r>
                              <a:rPr lang="en-US" sz="2000" i="1">
                                <a:latin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r>
                      <a:rPr lang="en-US" sz="2000" i="1">
                        <a:latin typeface="Cambria Math" panose="02040503050406030204" pitchFamily="18" charset="0"/>
                      </a:rPr>
                      <m:t>=</m:t>
                    </m:r>
                    <m:f>
                      <m:fPr>
                        <m:ctrlPr>
                          <a:rPr lang="en-US" sz="2000" i="1">
                            <a:latin typeface="Cambria Math" panose="02040503050406030204" pitchFamily="18" charset="0"/>
                          </a:rPr>
                        </m:ctrlPr>
                      </m:fPr>
                      <m:num>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20</m:t>
                            </m:r>
                          </m:e>
                        </m:rad>
                        <m:r>
                          <a:rPr lang="en-US" sz="2000" i="1">
                            <a:latin typeface="Cambria Math" panose="02040503050406030204" pitchFamily="18" charset="0"/>
                          </a:rPr>
                          <m:t>(5.5−6)</m:t>
                        </m:r>
                      </m:num>
                      <m:den>
                        <m:r>
                          <a:rPr lang="en-US" sz="2000" i="1">
                            <a:latin typeface="Cambria Math" panose="02040503050406030204" pitchFamily="18" charset="0"/>
                          </a:rPr>
                          <m:t>1.</m:t>
                        </m:r>
                        <m:r>
                          <a:rPr lang="en-US" sz="2000" b="0" i="1" smtClean="0">
                            <a:latin typeface="Cambria Math" panose="02040503050406030204" pitchFamily="18" charset="0"/>
                          </a:rPr>
                          <m:t>2</m:t>
                        </m:r>
                      </m:den>
                    </m:f>
                    <m:r>
                      <a:rPr lang="en-US" sz="2000" i="1">
                        <a:latin typeface="Cambria Math" panose="02040503050406030204" pitchFamily="18" charset="0"/>
                      </a:rPr>
                      <m:t>=−1.</m:t>
                    </m:r>
                    <m:r>
                      <a:rPr lang="en-US" sz="2000" b="0" i="1" smtClean="0">
                        <a:latin typeface="Cambria Math" panose="02040503050406030204" pitchFamily="18" charset="0"/>
                      </a:rPr>
                      <m:t>86</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As the observed value falls in the rejection region, there is sufficient evidence to support the claim. Therefore we can conclude that the mean waiting time under the new system is shorter than 6 minutes.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4346" y="671730"/>
                <a:ext cx="10515600" cy="6271998"/>
              </a:xfrm>
              <a:blipFill rotWithShape="0">
                <a:blip r:embed="rId2"/>
                <a:stretch>
                  <a:fillRect l="-580" t="-389" r="-812"/>
                </a:stretch>
              </a:blipFill>
            </p:spPr>
            <p:txBody>
              <a:bodyPr/>
              <a:lstStyle/>
              <a:p>
                <a:r>
                  <a:rPr lang="en-US">
                    <a:noFill/>
                  </a:rPr>
                  <a:t> </a:t>
                </a:r>
              </a:p>
            </p:txBody>
          </p:sp>
        </mc:Fallback>
      </mc:AlternateContent>
      <p:sp>
        <p:nvSpPr>
          <p:cNvPr id="4"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400" b="1" dirty="0">
                <a:latin typeface="Arial" panose="020B0604020202020204" pitchFamily="34" charset="0"/>
                <a:cs typeface="Arial" panose="020B0604020202020204" pitchFamily="34" charset="0"/>
              </a:rPr>
              <a:t>Problems on One-Sample Mean Test</a:t>
            </a:r>
            <a:endParaRPr lang="en-GB"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77319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4346" y="671730"/>
                <a:ext cx="10515600" cy="6271998"/>
              </a:xfrm>
            </p:spPr>
            <p:txBody>
              <a:bodyPr>
                <a:noAutofit/>
              </a:bodyPr>
              <a:lstStyle/>
              <a:p>
                <a:pPr marL="0" indent="0">
                  <a:lnSpc>
                    <a:spcPct val="100000"/>
                  </a:lnSpc>
                  <a:buNone/>
                </a:pPr>
                <a:r>
                  <a:rPr lang="en-US" sz="2000" b="1" dirty="0">
                    <a:latin typeface="Arial" panose="020B0604020202020204" pitchFamily="34" charset="0"/>
                    <a:cs typeface="Arial" panose="020B0604020202020204" pitchFamily="34" charset="0"/>
                  </a:rPr>
                  <a:t>Alternative Solution of Problem-1:</a:t>
                </a:r>
              </a:p>
              <a:p>
                <a:pPr>
                  <a:lnSpc>
                    <a:spcPct val="100000"/>
                  </a:lnSpc>
                </a:pPr>
                <a:r>
                  <a:rPr lang="en-US" sz="2000" dirty="0">
                    <a:latin typeface="Arial" panose="020B0604020202020204" pitchFamily="34" charset="0"/>
                    <a:cs typeface="Arial" panose="020B0604020202020204" pitchFamily="34" charset="0"/>
                  </a:rPr>
                  <a:t>Step 1: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𝜇</m:t>
                    </m:r>
                    <m:r>
                      <a:rPr lang="en-US" sz="2000" i="1">
                        <a:latin typeface="Cambria Math" panose="02040503050406030204" pitchFamily="18" charset="0"/>
                      </a:rPr>
                      <m:t>≥6 </m:t>
                    </m:r>
                    <m:r>
                      <a:rPr lang="en-US" sz="2000" i="1">
                        <a:latin typeface="Cambria Math" panose="02040503050406030204" pitchFamily="18" charset="0"/>
                      </a:rPr>
                      <m:t>𝑣𝑒𝑟𝑠𝑢𝑠</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𝑎</m:t>
                        </m:r>
                      </m:sub>
                    </m:sSub>
                    <m:r>
                      <a:rPr lang="en-US" sz="2000" i="1">
                        <a:latin typeface="Cambria Math" panose="02040503050406030204" pitchFamily="18" charset="0"/>
                      </a:rPr>
                      <m:t>:</m:t>
                    </m:r>
                    <m:r>
                      <a:rPr lang="en-US" sz="2000" i="1">
                        <a:latin typeface="Cambria Math" panose="02040503050406030204" pitchFamily="18" charset="0"/>
                      </a:rPr>
                      <m:t>𝜇</m:t>
                    </m:r>
                    <m:r>
                      <a:rPr lang="en-US" sz="2000" i="1">
                        <a:latin typeface="Cambria Math" panose="02040503050406030204" pitchFamily="18" charset="0"/>
                      </a:rPr>
                      <m:t>&lt;6</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2: </a:t>
                </a:r>
                <a14:m>
                  <m:oMath xmlns:m="http://schemas.openxmlformats.org/officeDocument/2006/math">
                    <m:r>
                      <a:rPr lang="en-US" sz="2000" i="1">
                        <a:latin typeface="Cambria Math" panose="02040503050406030204" pitchFamily="18" charset="0"/>
                      </a:rPr>
                      <m:t>𝛼</m:t>
                    </m:r>
                    <m:r>
                      <a:rPr lang="en-US" sz="2000" i="1">
                        <a:latin typeface="Cambria Math" panose="02040503050406030204" pitchFamily="18" charset="0"/>
                      </a:rPr>
                      <m:t>=0.05</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3: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−6</m:t>
                        </m:r>
                      </m:num>
                      <m:den>
                        <m:f>
                          <m:fPr>
                            <m:type m:val="skw"/>
                            <m:ctrlPr>
                              <a:rPr lang="en-US" sz="2000" i="1">
                                <a:latin typeface="Cambria Math" panose="02040503050406030204" pitchFamily="18" charset="0"/>
                              </a:rPr>
                            </m:ctrlPr>
                          </m:fPr>
                          <m:num>
                            <m:r>
                              <a:rPr lang="en-US" sz="2000" i="1">
                                <a:latin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4: The observed sample yields,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−6</m:t>
                        </m:r>
                      </m:num>
                      <m:den>
                        <m:f>
                          <m:fPr>
                            <m:type m:val="skw"/>
                            <m:ctrlPr>
                              <a:rPr lang="en-US" sz="2000" i="1">
                                <a:latin typeface="Cambria Math" panose="02040503050406030204" pitchFamily="18" charset="0"/>
                              </a:rPr>
                            </m:ctrlPr>
                          </m:fPr>
                          <m:num>
                            <m:r>
                              <a:rPr lang="en-US" sz="2000" i="1">
                                <a:latin typeface="Cambria Math" panose="02040503050406030204" pitchFamily="18" charset="0"/>
                              </a:rPr>
                              <m:t>𝜎</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r>
                      <a:rPr lang="en-US" sz="2000" i="1">
                        <a:latin typeface="Cambria Math" panose="02040503050406030204" pitchFamily="18" charset="0"/>
                      </a:rPr>
                      <m:t>=</m:t>
                    </m:r>
                    <m:f>
                      <m:fPr>
                        <m:ctrlPr>
                          <a:rPr lang="en-US" sz="2000" i="1">
                            <a:latin typeface="Cambria Math" panose="02040503050406030204" pitchFamily="18" charset="0"/>
                          </a:rPr>
                        </m:ctrlPr>
                      </m:fPr>
                      <m:num>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20</m:t>
                            </m:r>
                          </m:e>
                        </m:rad>
                        <m:r>
                          <a:rPr lang="en-US" sz="2000" i="1">
                            <a:latin typeface="Cambria Math" panose="02040503050406030204" pitchFamily="18" charset="0"/>
                          </a:rPr>
                          <m:t>(5.5−6)</m:t>
                        </m:r>
                      </m:num>
                      <m:den>
                        <m:r>
                          <a:rPr lang="en-US" sz="2000" i="1">
                            <a:latin typeface="Cambria Math" panose="02040503050406030204" pitchFamily="18" charset="0"/>
                          </a:rPr>
                          <m:t>1.2</m:t>
                        </m:r>
                      </m:den>
                    </m:f>
                    <m:r>
                      <a:rPr lang="en-US" sz="2000" i="1">
                        <a:latin typeface="Cambria Math" panose="02040503050406030204" pitchFamily="18" charset="0"/>
                      </a:rPr>
                      <m:t>=−1.86</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5: p-value </a:t>
                </a:r>
                <a14:m>
                  <m:oMath xmlns:m="http://schemas.openxmlformats.org/officeDocument/2006/math">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𝑍</m:t>
                        </m:r>
                        <m:r>
                          <a:rPr lang="en-US" sz="2000" b="0" i="1" smtClean="0">
                            <a:latin typeface="Cambria Math" panose="02040503050406030204" pitchFamily="18" charset="0"/>
                            <a:cs typeface="Arial" panose="020B0604020202020204" pitchFamily="34" charset="0"/>
                          </a:rPr>
                          <m:t>&lt;−1.86</m:t>
                        </m:r>
                      </m:e>
                    </m:d>
                    <m:r>
                      <a:rPr lang="en-US" sz="2000" b="0" i="1" smtClean="0">
                        <a:latin typeface="Cambria Math" panose="02040503050406030204" pitchFamily="18" charset="0"/>
                        <a:cs typeface="Arial" panose="020B0604020202020204" pitchFamily="34" charset="0"/>
                      </a:rPr>
                      <m:t>=0.0314</m:t>
                    </m:r>
                  </m:oMath>
                </a14:m>
                <a:r>
                  <a:rPr lang="en-US" sz="2000" dirty="0">
                    <a:latin typeface="Arial" panose="020B0604020202020204" pitchFamily="34" charset="0"/>
                    <a:cs typeface="Arial" panose="020B0604020202020204" pitchFamily="34" charset="0"/>
                  </a:rPr>
                  <a:t>4</a:t>
                </a:r>
              </a:p>
              <a:p>
                <a:pPr>
                  <a:lnSpc>
                    <a:spcPct val="100000"/>
                  </a:lnSpc>
                </a:pPr>
                <a:r>
                  <a:rPr lang="en-US" sz="2000" dirty="0">
                    <a:latin typeface="Arial" panose="020B0604020202020204" pitchFamily="34" charset="0"/>
                    <a:cs typeface="Arial" panose="020B0604020202020204" pitchFamily="34" charset="0"/>
                  </a:rPr>
                  <a:t>As the p-value</a:t>
                </a:r>
                <a14:m>
                  <m:oMath xmlns:m="http://schemas.openxmlformats.org/officeDocument/2006/math">
                    <m:r>
                      <a:rPr lang="en-US" sz="2000" b="0" i="1" smtClean="0">
                        <a:latin typeface="Cambria Math" panose="02040503050406030204" pitchFamily="18" charset="0"/>
                        <a:cs typeface="Arial" panose="020B0604020202020204" pitchFamily="34" charset="0"/>
                      </a:rPr>
                      <m:t>&lt;0.05</m:t>
                    </m:r>
                  </m:oMath>
                </a14:m>
                <a:r>
                  <a:rPr lang="en-US" sz="2000" dirty="0">
                    <a:latin typeface="Arial" panose="020B0604020202020204" pitchFamily="34" charset="0"/>
                    <a:cs typeface="Arial" panose="020B0604020202020204" pitchFamily="34" charset="0"/>
                  </a:rPr>
                  <a:t>, the probability of falsely rejecting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is low. So we have sufficient evidence to support the claim. Therefore we can conclude that the mean waiting time under the new system is shorter than 6 minutes.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4346" y="671730"/>
                <a:ext cx="10515600" cy="6271998"/>
              </a:xfrm>
              <a:blipFill rotWithShape="0">
                <a:blip r:embed="rId2"/>
                <a:stretch>
                  <a:fillRect l="-580" t="-389"/>
                </a:stretch>
              </a:blipFill>
            </p:spPr>
            <p:txBody>
              <a:bodyPr/>
              <a:lstStyle/>
              <a:p>
                <a:r>
                  <a:rPr lang="en-US">
                    <a:noFill/>
                  </a:rPr>
                  <a:t> </a:t>
                </a:r>
              </a:p>
            </p:txBody>
          </p:sp>
        </mc:Fallback>
      </mc:AlternateContent>
      <p:sp>
        <p:nvSpPr>
          <p:cNvPr id="4"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400" b="1" dirty="0">
                <a:latin typeface="Arial" panose="020B0604020202020204" pitchFamily="34" charset="0"/>
                <a:cs typeface="Arial" panose="020B0604020202020204" pitchFamily="34" charset="0"/>
              </a:rPr>
              <a:t>Problems on One-Sample Mean Test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endParaRPr lang="en-GB"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48077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4346" y="671730"/>
                <a:ext cx="10515600" cy="6271998"/>
              </a:xfrm>
            </p:spPr>
            <p:txBody>
              <a:bodyPr>
                <a:noAutofit/>
              </a:bodyPr>
              <a:lstStyle/>
              <a:p>
                <a:pPr marL="0" lvl="0" indent="0">
                  <a:lnSpc>
                    <a:spcPct val="100000"/>
                  </a:lnSpc>
                  <a:buNone/>
                </a:pPr>
                <a:r>
                  <a:rPr lang="en-US" sz="2000" b="1" dirty="0" smtClean="0">
                    <a:latin typeface="Arial" panose="020B0604020202020204" pitchFamily="34" charset="0"/>
                    <a:cs typeface="Arial" panose="020B0604020202020204" pitchFamily="34" charset="0"/>
                  </a:rPr>
                  <a:t>Example:</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 bank manager has developed a new system to reduce the time customers spend waiting for teller service during peak hours. The manager claims the new system reduce mean waiting times from the current ‘6 or more minutes’ to ‘less than 6 minutes’. Given that the </a:t>
                </a:r>
                <a:r>
                  <a:rPr lang="en-US" sz="2000" dirty="0">
                    <a:solidFill>
                      <a:srgbClr val="0070C0"/>
                    </a:solidFill>
                    <a:latin typeface="Arial" panose="020B0604020202020204" pitchFamily="34" charset="0"/>
                    <a:cs typeface="Arial" panose="020B0604020202020204" pitchFamily="34" charset="0"/>
                  </a:rPr>
                  <a:t>waiting time does not follows normal</a:t>
                </a:r>
                <a:r>
                  <a:rPr lang="en-US" sz="2000" dirty="0">
                    <a:latin typeface="Arial" panose="020B0604020202020204" pitchFamily="34" charset="0"/>
                    <a:cs typeface="Arial" panose="020B0604020202020204" pitchFamily="34" charset="0"/>
                  </a:rPr>
                  <a:t>. Suppose a r</a:t>
                </a:r>
                <a:r>
                  <a:rPr lang="en-US" sz="2000" dirty="0">
                    <a:solidFill>
                      <a:srgbClr val="0070C0"/>
                    </a:solidFill>
                    <a:latin typeface="Arial" panose="020B0604020202020204" pitchFamily="34" charset="0"/>
                    <a:cs typeface="Arial" panose="020B0604020202020204" pitchFamily="34" charset="0"/>
                  </a:rPr>
                  <a:t>andom sample of 55</a:t>
                </a:r>
                <a:r>
                  <a:rPr lang="en-US" sz="2000" dirty="0">
                    <a:latin typeface="Arial" panose="020B0604020202020204" pitchFamily="34" charset="0"/>
                    <a:cs typeface="Arial" panose="020B0604020202020204" pitchFamily="34" charset="0"/>
                  </a:rPr>
                  <a:t> waiting times yields a sample mean of 5.5 minutes with standard deviation of 1.25 minutes. At the 0.05 level of significance, can we conclude that the mean waiting time under the new system is shorter than 6 minutes?</a:t>
                </a:r>
              </a:p>
              <a:p>
                <a:pPr>
                  <a:lnSpc>
                    <a:spcPct val="100000"/>
                  </a:lnSpc>
                </a:pPr>
                <a:r>
                  <a:rPr lang="en-US" sz="2000" dirty="0">
                    <a:latin typeface="Arial" panose="020B0604020202020204" pitchFamily="34" charset="0"/>
                    <a:cs typeface="Arial" panose="020B0604020202020204" pitchFamily="34" charset="0"/>
                  </a:rPr>
                  <a:t>Step 1: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𝜇</m:t>
                    </m:r>
                    <m:r>
                      <a:rPr lang="en-US" sz="2000" i="1">
                        <a:latin typeface="Cambria Math" panose="02040503050406030204" pitchFamily="18" charset="0"/>
                      </a:rPr>
                      <m:t>≥6 </m:t>
                    </m:r>
                    <m:r>
                      <a:rPr lang="en-US" sz="2000" i="1">
                        <a:latin typeface="Cambria Math" panose="02040503050406030204" pitchFamily="18" charset="0"/>
                      </a:rPr>
                      <m:t>𝑣𝑒𝑟𝑠𝑢𝑠</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𝑎</m:t>
                        </m:r>
                      </m:sub>
                    </m:sSub>
                    <m:r>
                      <a:rPr lang="en-US" sz="2000" i="1">
                        <a:latin typeface="Cambria Math" panose="02040503050406030204" pitchFamily="18" charset="0"/>
                      </a:rPr>
                      <m:t>:</m:t>
                    </m:r>
                    <m:r>
                      <a:rPr lang="en-US" sz="2000" i="1">
                        <a:latin typeface="Cambria Math" panose="02040503050406030204" pitchFamily="18" charset="0"/>
                      </a:rPr>
                      <m:t>𝜇</m:t>
                    </m:r>
                    <m:r>
                      <a:rPr lang="en-US" sz="2000" i="1">
                        <a:latin typeface="Cambria Math" panose="02040503050406030204" pitchFamily="18" charset="0"/>
                      </a:rPr>
                      <m:t>&lt;6</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2: </a:t>
                </a:r>
                <a14:m>
                  <m:oMath xmlns:m="http://schemas.openxmlformats.org/officeDocument/2006/math">
                    <m:r>
                      <a:rPr lang="en-US" sz="2000" i="1">
                        <a:latin typeface="Cambria Math" panose="02040503050406030204" pitchFamily="18" charset="0"/>
                      </a:rPr>
                      <m:t>𝛼</m:t>
                    </m:r>
                    <m:r>
                      <a:rPr lang="en-US" sz="2000" i="1">
                        <a:latin typeface="Cambria Math" panose="02040503050406030204" pitchFamily="18" charset="0"/>
                      </a:rPr>
                      <m:t>=0.05</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3: </a:t>
                </a:r>
                <a14:m>
                  <m:oMath xmlns:m="http://schemas.openxmlformats.org/officeDocument/2006/math">
                    <m:r>
                      <m:rPr>
                        <m:sty m:val="p"/>
                      </m:rPr>
                      <a:rPr lang="en-US" sz="2000" dirty="0">
                        <a:latin typeface="Cambria Math" panose="02040503050406030204" pitchFamily="18" charset="0"/>
                      </a:rPr>
                      <m:t>Z</m:t>
                    </m:r>
                    <m:r>
                      <a:rPr lang="en-US" sz="2000" i="1">
                        <a:latin typeface="Cambria Math" panose="02040503050406030204" pitchFamily="18" charset="0"/>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−6</m:t>
                        </m:r>
                      </m:num>
                      <m:den>
                        <m:f>
                          <m:fPr>
                            <m:type m:val="skw"/>
                            <m:ctrlPr>
                              <a:rPr lang="en-US" sz="2000" i="1">
                                <a:latin typeface="Cambria Math" panose="02040503050406030204" pitchFamily="18" charset="0"/>
                              </a:rPr>
                            </m:ctrlPr>
                          </m:fPr>
                          <m:num>
                            <m:r>
                              <a:rPr lang="en-US" sz="2000" b="0" i="1" smtClean="0">
                                <a:latin typeface="Cambria Math" panose="02040503050406030204" pitchFamily="18" charset="0"/>
                              </a:rPr>
                              <m:t>𝑆</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4: Critical value = -1.645.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may be rejected if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&lt;−1.645</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5: The observed sample yields, </a:t>
                </a:r>
                <a14:m>
                  <m:oMath xmlns:m="http://schemas.openxmlformats.org/officeDocument/2006/math">
                    <m:r>
                      <m:rPr>
                        <m:sty m:val="p"/>
                      </m:rPr>
                      <a:rPr lang="en-US" sz="2000" b="0" i="0" smtClean="0">
                        <a:latin typeface="Cambria Math" panose="02040503050406030204" pitchFamily="18" charset="0"/>
                      </a:rPr>
                      <m:t>Z</m:t>
                    </m:r>
                    <m:r>
                      <a:rPr lang="en-US" sz="2000" i="1">
                        <a:latin typeface="Cambria Math" panose="02040503050406030204" pitchFamily="18" charset="0"/>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panose="02040503050406030204" pitchFamily="18" charset="0"/>
                              </a:rPr>
                              <m:t>𝑋</m:t>
                            </m:r>
                          </m:e>
                        </m:acc>
                        <m:r>
                          <a:rPr lang="en-US" sz="2000" i="1">
                            <a:latin typeface="Cambria Math" panose="02040503050406030204" pitchFamily="18" charset="0"/>
                          </a:rPr>
                          <m:t>−6</m:t>
                        </m:r>
                      </m:num>
                      <m:den>
                        <m:f>
                          <m:fPr>
                            <m:type m:val="skw"/>
                            <m:ctrlPr>
                              <a:rPr lang="en-US" sz="2000" i="1">
                                <a:latin typeface="Cambria Math" panose="02040503050406030204" pitchFamily="18" charset="0"/>
                              </a:rPr>
                            </m:ctrlPr>
                          </m:fPr>
                          <m:num>
                            <m:r>
                              <a:rPr lang="en-US" sz="2000" b="0" i="1" smtClean="0">
                                <a:latin typeface="Cambria Math" panose="02040503050406030204" pitchFamily="18" charset="0"/>
                              </a:rPr>
                              <m:t>𝑆</m:t>
                            </m:r>
                          </m:num>
                          <m:den>
                            <m:rad>
                              <m:radPr>
                                <m:degHide m:val="on"/>
                                <m:ctrlPr>
                                  <a:rPr lang="en-US" sz="2000" i="1">
                                    <a:latin typeface="Cambria Math" panose="02040503050406030204" pitchFamily="18" charset="0"/>
                                  </a:rPr>
                                </m:ctrlPr>
                              </m:radPr>
                              <m:deg/>
                              <m:e>
                                <m:r>
                                  <a:rPr lang="en-US" sz="2000" i="1">
                                    <a:latin typeface="Cambria Math" panose="02040503050406030204" pitchFamily="18" charset="0"/>
                                  </a:rPr>
                                  <m:t>𝑛</m:t>
                                </m:r>
                              </m:e>
                            </m:rad>
                          </m:den>
                        </m:f>
                      </m:den>
                    </m:f>
                    <m:r>
                      <a:rPr lang="en-US" sz="2000" i="1">
                        <a:latin typeface="Cambria Math" panose="02040503050406030204" pitchFamily="18" charset="0"/>
                      </a:rPr>
                      <m:t>=</m:t>
                    </m:r>
                    <m:f>
                      <m:fPr>
                        <m:ctrlPr>
                          <a:rPr lang="en-US" sz="2000" i="1">
                            <a:latin typeface="Cambria Math" panose="02040503050406030204" pitchFamily="18" charset="0"/>
                          </a:rPr>
                        </m:ctrlPr>
                      </m:fPr>
                      <m:num>
                        <m:rad>
                          <m:radPr>
                            <m:degHide m:val="on"/>
                            <m:ctrlPr>
                              <a:rPr lang="en-US" sz="2000" i="1">
                                <a:latin typeface="Cambria Math" panose="02040503050406030204" pitchFamily="18" charset="0"/>
                              </a:rPr>
                            </m:ctrlPr>
                          </m:radPr>
                          <m:deg/>
                          <m:e>
                            <m:r>
                              <a:rPr lang="en-US" sz="2000" b="0" i="1" smtClean="0">
                                <a:latin typeface="Cambria Math" panose="02040503050406030204" pitchFamily="18" charset="0"/>
                              </a:rPr>
                              <m:t>55</m:t>
                            </m:r>
                          </m:e>
                        </m:rad>
                        <m:r>
                          <a:rPr lang="en-US" sz="2000" i="1">
                            <a:latin typeface="Cambria Math" panose="02040503050406030204" pitchFamily="18" charset="0"/>
                          </a:rPr>
                          <m:t>(5.5−6)</m:t>
                        </m:r>
                      </m:num>
                      <m:den>
                        <m:r>
                          <a:rPr lang="en-US" sz="2000" i="1">
                            <a:latin typeface="Cambria Math" panose="02040503050406030204" pitchFamily="18" charset="0"/>
                          </a:rPr>
                          <m:t>1.</m:t>
                        </m:r>
                        <m:r>
                          <a:rPr lang="en-US" sz="2000" b="0" i="1" smtClean="0">
                            <a:latin typeface="Cambria Math" panose="02040503050406030204" pitchFamily="18" charset="0"/>
                          </a:rPr>
                          <m:t>25</m:t>
                        </m:r>
                      </m:den>
                    </m:f>
                    <m:r>
                      <a:rPr lang="en-US" sz="2000" i="1">
                        <a:latin typeface="Cambria Math" panose="02040503050406030204" pitchFamily="18" charset="0"/>
                      </a:rPr>
                      <m:t>=−</m:t>
                    </m:r>
                    <m:r>
                      <a:rPr lang="en-US" sz="2000" b="0" i="1" smtClean="0">
                        <a:latin typeface="Cambria Math" panose="02040503050406030204" pitchFamily="18" charset="0"/>
                      </a:rPr>
                      <m:t>2.97</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As the observed value falls in the rejection region, there is sufficient evidence to support the claim. Therefore we can conclude that the mean waiting time under the new system is shorter than 6 minutes.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4346" y="671730"/>
                <a:ext cx="10515600" cy="6271998"/>
              </a:xfrm>
              <a:blipFill rotWithShape="0">
                <a:blip r:embed="rId2"/>
                <a:stretch>
                  <a:fillRect l="-580" t="-389" r="-812"/>
                </a:stretch>
              </a:blipFill>
            </p:spPr>
            <p:txBody>
              <a:bodyPr/>
              <a:lstStyle/>
              <a:p>
                <a:r>
                  <a:rPr lang="en-US">
                    <a:noFill/>
                  </a:rPr>
                  <a:t> </a:t>
                </a:r>
              </a:p>
            </p:txBody>
          </p:sp>
        </mc:Fallback>
      </mc:AlternateContent>
      <p:sp>
        <p:nvSpPr>
          <p:cNvPr id="4"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400" b="1" dirty="0">
                <a:latin typeface="Arial" panose="020B0604020202020204" pitchFamily="34" charset="0"/>
                <a:cs typeface="Arial" panose="020B0604020202020204" pitchFamily="34" charset="0"/>
              </a:rPr>
              <a:t>Problems on One-Sample Mean Test (</a:t>
            </a:r>
            <a:r>
              <a:rPr lang="en-US" sz="2400" b="1" dirty="0" err="1">
                <a:latin typeface="Arial" panose="020B0604020202020204" pitchFamily="34" charset="0"/>
                <a:cs typeface="Arial" panose="020B0604020202020204" pitchFamily="34" charset="0"/>
              </a:rPr>
              <a:t>Cont</a:t>
            </a:r>
            <a:r>
              <a:rPr lang="en-US" sz="2400" b="1" dirty="0">
                <a:latin typeface="Arial" panose="020B0604020202020204" pitchFamily="34" charset="0"/>
                <a:cs typeface="Arial" panose="020B0604020202020204" pitchFamily="34" charset="0"/>
              </a:rPr>
              <a:t>…)</a:t>
            </a:r>
            <a:endParaRPr lang="en-GB"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6639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4346" y="671730"/>
                <a:ext cx="10515600" cy="6271998"/>
              </a:xfrm>
            </p:spPr>
            <p:txBody>
              <a:bodyPr>
                <a:noAutofit/>
              </a:bodyPr>
              <a:lstStyle/>
              <a:p>
                <a:pPr marL="0" lvl="0" indent="0">
                  <a:lnSpc>
                    <a:spcPct val="100000"/>
                  </a:lnSpc>
                  <a:buNone/>
                </a:pPr>
                <a:r>
                  <a:rPr lang="en-US" sz="2000" b="1" dirty="0" smtClean="0">
                    <a:latin typeface="Arial" panose="020B0604020202020204" pitchFamily="34" charset="0"/>
                    <a:cs typeface="Arial" panose="020B0604020202020204" pitchFamily="34" charset="0"/>
                  </a:rPr>
                  <a:t>Example</a:t>
                </a:r>
                <a:r>
                  <a:rPr lang="en-US" sz="2000" dirty="0" smtClean="0">
                    <a:latin typeface="Arial" panose="020B0604020202020204" pitchFamily="34" charset="0"/>
                    <a:cs typeface="Arial" panose="020B0604020202020204" pitchFamily="34" charset="0"/>
                  </a:rPr>
                  <a:t> (</a:t>
                </a:r>
                <a:r>
                  <a:rPr lang="en-US" sz="2000" b="1" dirty="0" smtClean="0">
                    <a:latin typeface="Arial" panose="020B0604020202020204" pitchFamily="34" charset="0"/>
                    <a:cs typeface="Arial" panose="020B0604020202020204" pitchFamily="34" charset="0"/>
                  </a:rPr>
                  <a:t>Website </a:t>
                </a:r>
                <a:r>
                  <a:rPr lang="en-US" sz="2000" b="1" dirty="0">
                    <a:latin typeface="Arial" panose="020B0604020202020204" pitchFamily="34" charset="0"/>
                    <a:cs typeface="Arial" panose="020B0604020202020204" pitchFamily="34" charset="0"/>
                  </a:rPr>
                  <a:t>Conversion Rate): </a:t>
                </a:r>
                <a:r>
                  <a:rPr lang="en-US" sz="2000" dirty="0">
                    <a:latin typeface="Arial" panose="020B0604020202020204" pitchFamily="34" charset="0"/>
                    <a:cs typeface="Arial" panose="020B0604020202020204" pitchFamily="34" charset="0"/>
                  </a:rPr>
                  <a:t>A company claims their landing page has a conversion rate of 12%. After a redesign, a sample of 500 visitors shows that 65 converted.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At 5% level, test if the conversion rate has significantly changed — whether improved or declined — due to the redesign. Comment on the results.  </a:t>
                </a:r>
                <a:endParaRPr lang="en-US" sz="2000" dirty="0" smtClean="0">
                  <a:latin typeface="Arial" panose="020B0604020202020204" pitchFamily="34" charset="0"/>
                  <a:cs typeface="Arial" panose="020B0604020202020204" pitchFamily="34" charset="0"/>
                </a:endParaRPr>
              </a:p>
              <a:p>
                <a:pPr marL="0" lvl="0" indent="0">
                  <a:lnSpc>
                    <a:spcPct val="100000"/>
                  </a:lnSpc>
                  <a:buNone/>
                </a:pPr>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1: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𝜋</m:t>
                    </m:r>
                    <m:r>
                      <a:rPr lang="en-US" sz="2000" i="1">
                        <a:latin typeface="Cambria Math" panose="02040503050406030204" pitchFamily="18" charset="0"/>
                      </a:rPr>
                      <m:t>=0.12 </m:t>
                    </m:r>
                    <m:r>
                      <a:rPr lang="en-US" sz="2000" i="1">
                        <a:latin typeface="Cambria Math" panose="02040503050406030204" pitchFamily="18" charset="0"/>
                      </a:rPr>
                      <m:t>𝑣𝑒𝑟𝑠𝑢𝑠</m:t>
                    </m:r>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𝑎</m:t>
                        </m:r>
                      </m:sub>
                    </m:sSub>
                    <m:r>
                      <a:rPr lang="en-US" sz="2000" i="1">
                        <a:latin typeface="Cambria Math" panose="02040503050406030204" pitchFamily="18" charset="0"/>
                      </a:rPr>
                      <m:t>:</m:t>
                    </m:r>
                    <m:r>
                      <a:rPr lang="en-US" sz="2000" i="1">
                        <a:latin typeface="Cambria Math" panose="02040503050406030204" pitchFamily="18" charset="0"/>
                      </a:rPr>
                      <m:t>𝜋</m:t>
                    </m:r>
                    <m:r>
                      <a:rPr lang="en-US" sz="2000" i="1">
                        <a:latin typeface="Cambria Math" panose="02040503050406030204" pitchFamily="18" charset="0"/>
                      </a:rPr>
                      <m:t>≠0.12</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2: </a:t>
                </a:r>
                <a14:m>
                  <m:oMath xmlns:m="http://schemas.openxmlformats.org/officeDocument/2006/math">
                    <m:r>
                      <a:rPr lang="en-US" sz="2000" i="1">
                        <a:latin typeface="Cambria Math" panose="02040503050406030204" pitchFamily="18" charset="0"/>
                      </a:rPr>
                      <m:t>𝛼</m:t>
                    </m:r>
                    <m:r>
                      <a:rPr lang="en-US" sz="2000" i="1">
                        <a:latin typeface="Cambria Math" panose="02040503050406030204" pitchFamily="18" charset="0"/>
                      </a:rPr>
                      <m:t>=0.05</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3: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𝑝</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𝜋</m:t>
                            </m:r>
                          </m:e>
                          <m:sub>
                            <m:r>
                              <a:rPr lang="en-US" sz="2000" i="1">
                                <a:latin typeface="Cambria Math" panose="02040503050406030204" pitchFamily="18" charset="0"/>
                              </a:rPr>
                              <m:t>0</m:t>
                            </m:r>
                          </m:sub>
                        </m:sSub>
                      </m:num>
                      <m:den>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panose="02040503050406030204" pitchFamily="18" charset="0"/>
                                  </a:rPr>
                                  <m:t>𝑝</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𝑝</m:t>
                                    </m:r>
                                  </m:e>
                                </m:d>
                              </m:num>
                              <m:den>
                                <m:r>
                                  <a:rPr lang="en-US" sz="2000" i="1">
                                    <a:latin typeface="Cambria Math" panose="02040503050406030204" pitchFamily="18" charset="0"/>
                                  </a:rPr>
                                  <m:t>𝑛</m:t>
                                </m:r>
                              </m:den>
                            </m:f>
                          </m:e>
                        </m:rad>
                      </m:den>
                    </m:f>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4: Critical value = -</a:t>
                </a:r>
                <a:r>
                  <a:rPr lang="en-US" sz="2000" dirty="0" smtClean="0">
                    <a:latin typeface="Arial" panose="020B0604020202020204" pitchFamily="34" charset="0"/>
                    <a:cs typeface="Arial" panose="020B0604020202020204" pitchFamily="34" charset="0"/>
                  </a:rPr>
                  <a:t>1.96, 1.96.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may be rejected if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&lt;−1.96</m:t>
                    </m:r>
                  </m:oMath>
                </a14:m>
                <a:r>
                  <a:rPr lang="en-US" sz="2000" dirty="0">
                    <a:latin typeface="Arial" panose="020B0604020202020204" pitchFamily="34" charset="0"/>
                    <a:cs typeface="Arial" panose="020B0604020202020204" pitchFamily="34" charset="0"/>
                  </a:rPr>
                  <a:t> or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&gt;1.96</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Step 5: The observed sample yields, </a:t>
                </a:r>
                <a14:m>
                  <m:oMath xmlns:m="http://schemas.openxmlformats.org/officeDocument/2006/math">
                    <m:r>
                      <a:rPr lang="en-US" sz="2000" i="1">
                        <a:latin typeface="Cambria Math" panose="02040503050406030204" pitchFamily="18" charset="0"/>
                      </a:rPr>
                      <m:t>𝑍</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𝑝</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𝜋</m:t>
                            </m:r>
                          </m:e>
                          <m:sub>
                            <m:r>
                              <a:rPr lang="en-US" sz="2000" i="1">
                                <a:latin typeface="Cambria Math" panose="02040503050406030204" pitchFamily="18" charset="0"/>
                              </a:rPr>
                              <m:t>0</m:t>
                            </m:r>
                          </m:sub>
                        </m:sSub>
                      </m:num>
                      <m:den>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panose="02040503050406030204" pitchFamily="18" charset="0"/>
                                  </a:rPr>
                                  <m:t>𝑝</m:t>
                                </m:r>
                                <m:d>
                                  <m:dPr>
                                    <m:ctrlPr>
                                      <a:rPr lang="en-US" sz="2000" i="1">
                                        <a:latin typeface="Cambria Math" panose="02040503050406030204" pitchFamily="18" charset="0"/>
                                      </a:rPr>
                                    </m:ctrlPr>
                                  </m:dPr>
                                  <m:e>
                                    <m:r>
                                      <a:rPr lang="en-US" sz="2000" i="1">
                                        <a:latin typeface="Cambria Math" panose="02040503050406030204" pitchFamily="18" charset="0"/>
                                      </a:rPr>
                                      <m:t>1−</m:t>
                                    </m:r>
                                    <m:r>
                                      <a:rPr lang="en-US" sz="2000" i="1">
                                        <a:latin typeface="Cambria Math" panose="02040503050406030204" pitchFamily="18" charset="0"/>
                                      </a:rPr>
                                      <m:t>𝑝</m:t>
                                    </m:r>
                                  </m:e>
                                </m:d>
                              </m:num>
                              <m:den>
                                <m:r>
                                  <a:rPr lang="en-US" sz="2000" i="1">
                                    <a:latin typeface="Cambria Math" panose="02040503050406030204" pitchFamily="18" charset="0"/>
                                  </a:rPr>
                                  <m:t>𝑛</m:t>
                                </m:r>
                              </m:den>
                            </m:f>
                          </m:e>
                        </m:rad>
                      </m:den>
                    </m:f>
                    <m:r>
                      <a:rPr lang="en-US" sz="2000" i="1">
                        <a:latin typeface="Cambria Math" panose="02040503050406030204" pitchFamily="18" charset="0"/>
                      </a:rPr>
                      <m:t>=</m:t>
                    </m:r>
                    <m:r>
                      <a:rPr lang="en-US" sz="2000" b="0" i="1" smtClean="0">
                        <a:latin typeface="Cambria Math" panose="02040503050406030204" pitchFamily="18" charset="0"/>
                      </a:rPr>
                      <m:t>0.665</m:t>
                    </m:r>
                  </m:oMath>
                </a14:m>
                <a:endParaRPr lang="en-US" sz="2000" dirty="0">
                  <a:latin typeface="Arial" panose="020B0604020202020204" pitchFamily="34" charset="0"/>
                  <a:cs typeface="Arial" panose="020B0604020202020204" pitchFamily="34" charset="0"/>
                </a:endParaRPr>
              </a:p>
              <a:p>
                <a:pPr>
                  <a:lnSpc>
                    <a:spcPct val="100000"/>
                  </a:lnSpc>
                </a:pPr>
                <a:r>
                  <a:rPr lang="en-US" sz="2000" dirty="0">
                    <a:latin typeface="Arial" panose="020B0604020202020204" pitchFamily="34" charset="0"/>
                    <a:cs typeface="Arial" panose="020B0604020202020204" pitchFamily="34" charset="0"/>
                  </a:rPr>
                  <a:t>As the observed value falls in the acceptance region, the evidence is not sufficient to reject the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Therefore we may accept the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a:latin typeface="Cambria Math" panose="02040503050406030204" pitchFamily="18" charset="0"/>
                            <a:cs typeface="Arial" panose="020B0604020202020204" pitchFamily="34" charset="0"/>
                          </a:rPr>
                          <m:t>𝐻</m:t>
                        </m:r>
                      </m:e>
                      <m:sub>
                        <m:r>
                          <a:rPr lang="en-US" sz="2000">
                            <a:latin typeface="Cambria Math" panose="02040503050406030204" pitchFamily="18" charset="0"/>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and conclude that </a:t>
                </a: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conversion rate </a:t>
                </a:r>
                <a:r>
                  <a:rPr lang="en-US" sz="2000" dirty="0" smtClean="0">
                    <a:latin typeface="Arial" panose="020B0604020202020204" pitchFamily="34" charset="0"/>
                    <a:cs typeface="Arial" panose="020B0604020202020204" pitchFamily="34" charset="0"/>
                  </a:rPr>
                  <a:t>has not changed due </a:t>
                </a:r>
                <a:r>
                  <a:rPr lang="en-US" sz="2000" dirty="0">
                    <a:latin typeface="Arial" panose="020B0604020202020204" pitchFamily="34" charset="0"/>
                    <a:cs typeface="Arial" panose="020B0604020202020204" pitchFamily="34" charset="0"/>
                  </a:rPr>
                  <a:t>to the redesign.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4346" y="671730"/>
                <a:ext cx="10515600" cy="6271998"/>
              </a:xfrm>
              <a:blipFill rotWithShape="0">
                <a:blip r:embed="rId2"/>
                <a:stretch>
                  <a:fillRect l="-580" t="-389"/>
                </a:stretch>
              </a:blipFill>
            </p:spPr>
            <p:txBody>
              <a:bodyPr/>
              <a:lstStyle/>
              <a:p>
                <a:r>
                  <a:rPr lang="en-US">
                    <a:noFill/>
                  </a:rPr>
                  <a:t> </a:t>
                </a:r>
              </a:p>
            </p:txBody>
          </p:sp>
        </mc:Fallback>
      </mc:AlternateContent>
      <p:sp>
        <p:nvSpPr>
          <p:cNvPr id="4"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400" b="1" dirty="0">
                <a:latin typeface="Arial" panose="020B0604020202020204" pitchFamily="34" charset="0"/>
                <a:cs typeface="Arial" panose="020B0604020202020204" pitchFamily="34" charset="0"/>
              </a:rPr>
              <a:t>Problems on Proportion Test</a:t>
            </a:r>
            <a:endParaRPr lang="en-GB"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9622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0141" y="438083"/>
            <a:ext cx="9776012" cy="447742"/>
          </a:xfrm>
        </p:spPr>
        <p:txBody>
          <a:bodyPr>
            <a:noAutofit/>
          </a:bodyPr>
          <a:lstStyle/>
          <a:p>
            <a:r>
              <a:rPr lang="en-US" sz="2400" b="1" dirty="0">
                <a:latin typeface="Arial" panose="020B0604020202020204" pitchFamily="34" charset="0"/>
                <a:cs typeface="Arial" panose="020B0604020202020204" pitchFamily="34" charset="0"/>
              </a:rPr>
              <a:t>Hypothesis for Testing </a:t>
            </a:r>
            <a:r>
              <a:rPr lang="en-US" sz="2400" b="1" dirty="0" smtClean="0">
                <a:latin typeface="Arial" panose="020B0604020202020204" pitchFamily="34" charset="0"/>
                <a:cs typeface="Arial" panose="020B0604020202020204" pitchFamily="34" charset="0"/>
              </a:rPr>
              <a:t>Correlation </a:t>
            </a:r>
            <a:r>
              <a:rPr lang="en-US" sz="2400" b="1" dirty="0">
                <a:latin typeface="Arial" panose="020B0604020202020204" pitchFamily="34" charset="0"/>
                <a:cs typeface="Arial" panose="020B0604020202020204" pitchFamily="34" charset="0"/>
              </a:rPr>
              <a:t>Coefficient</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019624"/>
                <a:ext cx="10831132" cy="5838376"/>
              </a:xfrm>
            </p:spPr>
            <p:txBody>
              <a:bodyPr>
                <a:noAutofit/>
              </a:bodyPr>
              <a:lstStyle/>
              <a:p>
                <a:pPr marL="342900" indent="-342900" algn="just">
                  <a:lnSpc>
                    <a:spcPct val="150000"/>
                  </a:lnSpc>
                  <a:spcBef>
                    <a:spcPts val="600"/>
                  </a:spcBef>
                  <a:spcAft>
                    <a:spcPts val="600"/>
                  </a:spcAft>
                  <a:buFont typeface="Arial" panose="020B0604020202020204" pitchFamily="34" charset="0"/>
                  <a:buChar char="•"/>
                </a:pPr>
                <a:r>
                  <a:rPr lang="en-US" sz="2500" dirty="0" smtClean="0">
                    <a:latin typeface="Arial" panose="020B0604020202020204" pitchFamily="34" charset="0"/>
                    <a:cs typeface="Arial" panose="020B0604020202020204" pitchFamily="34" charset="0"/>
                  </a:rPr>
                  <a:t>Hypothesis for testing correlation coefficients: </a:t>
                </a:r>
                <a14:m>
                  <m:oMath xmlns:m="http://schemas.openxmlformats.org/officeDocument/2006/math">
                    <m:sSub>
                      <m:sSubPr>
                        <m:ctrlPr>
                          <a:rPr lang="en-US" sz="2500" b="0" i="1" smtClean="0">
                            <a:latin typeface="Cambria Math" panose="02040503050406030204" pitchFamily="18" charset="0"/>
                            <a:cs typeface="Arial" panose="020B0604020202020204" pitchFamily="34" charset="0"/>
                          </a:rPr>
                        </m:ctrlPr>
                      </m:sSubPr>
                      <m:e>
                        <m:r>
                          <a:rPr lang="en-US" sz="2500" b="0" i="1" smtClean="0">
                            <a:latin typeface="Cambria Math" panose="02040503050406030204" pitchFamily="18" charset="0"/>
                            <a:cs typeface="Arial" panose="020B0604020202020204" pitchFamily="34" charset="0"/>
                          </a:rPr>
                          <m:t>𝐻</m:t>
                        </m:r>
                      </m:e>
                      <m:sub>
                        <m:r>
                          <a:rPr lang="en-US" sz="2500" b="0" i="1" smtClean="0">
                            <a:latin typeface="Cambria Math" panose="02040503050406030204" pitchFamily="18" charset="0"/>
                            <a:cs typeface="Arial" panose="020B0604020202020204" pitchFamily="34" charset="0"/>
                          </a:rPr>
                          <m:t>0</m:t>
                        </m:r>
                      </m:sub>
                    </m:sSub>
                    <m:r>
                      <a:rPr lang="en-US" sz="2500" b="0" i="1" smtClean="0">
                        <a:latin typeface="Cambria Math" panose="02040503050406030204" pitchFamily="18" charset="0"/>
                        <a:cs typeface="Arial" panose="020B0604020202020204" pitchFamily="34" charset="0"/>
                      </a:rPr>
                      <m:t>:</m:t>
                    </m:r>
                    <m:r>
                      <a:rPr lang="en-US" sz="2500" b="0" i="1" smtClean="0">
                        <a:latin typeface="Cambria Math" panose="02040503050406030204" pitchFamily="18" charset="0"/>
                        <a:cs typeface="Arial" panose="020B0604020202020204" pitchFamily="34" charset="0"/>
                      </a:rPr>
                      <m:t>𝜌</m:t>
                    </m:r>
                    <m:r>
                      <a:rPr lang="en-US" sz="2500" b="0" i="1" smtClean="0">
                        <a:latin typeface="Cambria Math" panose="02040503050406030204" pitchFamily="18" charset="0"/>
                        <a:cs typeface="Arial" panose="020B0604020202020204" pitchFamily="34" charset="0"/>
                      </a:rPr>
                      <m:t>=0</m:t>
                    </m:r>
                  </m:oMath>
                </a14:m>
                <a:r>
                  <a:rPr lang="en-US" sz="2500" dirty="0" smtClean="0">
                    <a:latin typeface="Arial" panose="020B0604020202020204" pitchFamily="34" charset="0"/>
                    <a:cs typeface="Arial" panose="020B0604020202020204" pitchFamily="34" charset="0"/>
                  </a:rPr>
                  <a:t> versus </a:t>
                </a:r>
                <a14:m>
                  <m:oMath xmlns:m="http://schemas.openxmlformats.org/officeDocument/2006/math">
                    <m:sSub>
                      <m:sSubPr>
                        <m:ctrlPr>
                          <a:rPr lang="en-US" sz="2500" b="0" i="1" smtClean="0">
                            <a:latin typeface="Cambria Math" panose="02040503050406030204" pitchFamily="18" charset="0"/>
                            <a:cs typeface="Arial" panose="020B0604020202020204" pitchFamily="34" charset="0"/>
                          </a:rPr>
                        </m:ctrlPr>
                      </m:sSubPr>
                      <m:e>
                        <m:r>
                          <a:rPr lang="en-US" sz="2500" b="0" i="1" smtClean="0">
                            <a:latin typeface="Cambria Math" panose="02040503050406030204" pitchFamily="18" charset="0"/>
                            <a:cs typeface="Arial" panose="020B0604020202020204" pitchFamily="34" charset="0"/>
                          </a:rPr>
                          <m:t>𝐻</m:t>
                        </m:r>
                      </m:e>
                      <m:sub>
                        <m:r>
                          <a:rPr lang="en-US" sz="2500" b="0" i="1" smtClean="0">
                            <a:latin typeface="Cambria Math" panose="02040503050406030204" pitchFamily="18" charset="0"/>
                            <a:cs typeface="Arial" panose="020B0604020202020204" pitchFamily="34" charset="0"/>
                          </a:rPr>
                          <m:t>1</m:t>
                        </m:r>
                      </m:sub>
                    </m:sSub>
                    <m:r>
                      <a:rPr lang="en-US" sz="2500" b="0" i="1" smtClean="0">
                        <a:latin typeface="Cambria Math" panose="02040503050406030204" pitchFamily="18" charset="0"/>
                        <a:cs typeface="Arial" panose="020B0604020202020204" pitchFamily="34" charset="0"/>
                      </a:rPr>
                      <m:t>:</m:t>
                    </m:r>
                    <m:r>
                      <a:rPr lang="en-US" sz="2500" b="0" i="1" smtClean="0">
                        <a:latin typeface="Cambria Math" panose="02040503050406030204" pitchFamily="18" charset="0"/>
                        <a:cs typeface="Arial" panose="020B0604020202020204" pitchFamily="34" charset="0"/>
                      </a:rPr>
                      <m:t>𝜌</m:t>
                    </m:r>
                    <m:r>
                      <a:rPr lang="en-US" sz="2500" b="0" i="1" smtClean="0">
                        <a:latin typeface="Cambria Math" panose="02040503050406030204" pitchFamily="18" charset="0"/>
                        <a:cs typeface="Arial" panose="020B0604020202020204" pitchFamily="34" charset="0"/>
                      </a:rPr>
                      <m:t>≠0</m:t>
                    </m:r>
                  </m:oMath>
                </a14:m>
                <a:r>
                  <a:rPr lang="en-US" sz="2500" dirty="0" smtClean="0">
                    <a:latin typeface="Arial" panose="020B0604020202020204" pitchFamily="34" charset="0"/>
                    <a:cs typeface="Arial" panose="020B0604020202020204" pitchFamily="34" charset="0"/>
                  </a:rPr>
                  <a:t> or </a:t>
                </a:r>
                <a14:m>
                  <m:oMath xmlns:m="http://schemas.openxmlformats.org/officeDocument/2006/math">
                    <m:r>
                      <a:rPr lang="en-US" sz="2500" b="0" i="1" smtClean="0">
                        <a:latin typeface="Cambria Math" panose="02040503050406030204" pitchFamily="18" charset="0"/>
                        <a:cs typeface="Arial" panose="020B0604020202020204" pitchFamily="34" charset="0"/>
                      </a:rPr>
                      <m:t>𝜌</m:t>
                    </m:r>
                    <m:r>
                      <a:rPr lang="en-US" sz="2500" b="0" i="1" smtClean="0">
                        <a:latin typeface="Cambria Math" panose="02040503050406030204" pitchFamily="18" charset="0"/>
                        <a:cs typeface="Arial" panose="020B0604020202020204" pitchFamily="34" charset="0"/>
                      </a:rPr>
                      <m:t>&gt;0</m:t>
                    </m:r>
                  </m:oMath>
                </a14:m>
                <a:r>
                  <a:rPr lang="en-US" sz="2500" dirty="0" smtClean="0">
                    <a:latin typeface="Arial" panose="020B0604020202020204" pitchFamily="34" charset="0"/>
                    <a:cs typeface="Arial" panose="020B0604020202020204" pitchFamily="34" charset="0"/>
                  </a:rPr>
                  <a:t> or </a:t>
                </a:r>
                <a14:m>
                  <m:oMath xmlns:m="http://schemas.openxmlformats.org/officeDocument/2006/math">
                    <m:r>
                      <a:rPr lang="en-US" sz="2500" b="0" i="1" smtClean="0">
                        <a:latin typeface="Cambria Math" panose="02040503050406030204" pitchFamily="18" charset="0"/>
                        <a:cs typeface="Arial" panose="020B0604020202020204" pitchFamily="34" charset="0"/>
                      </a:rPr>
                      <m:t>𝜌</m:t>
                    </m:r>
                    <m:r>
                      <a:rPr lang="en-US" sz="2500" b="0" i="1" smtClean="0">
                        <a:latin typeface="Cambria Math" panose="02040503050406030204" pitchFamily="18" charset="0"/>
                        <a:cs typeface="Arial" panose="020B0604020202020204" pitchFamily="34" charset="0"/>
                      </a:rPr>
                      <m:t>&lt;0</m:t>
                    </m:r>
                  </m:oMath>
                </a14:m>
                <a:endParaRPr lang="en-US" sz="2500" dirty="0" smtClean="0">
                  <a:latin typeface="Arial" panose="020B0604020202020204" pitchFamily="34" charset="0"/>
                  <a:cs typeface="Arial" panose="020B0604020202020204" pitchFamily="34" charset="0"/>
                </a:endParaRPr>
              </a:p>
              <a:p>
                <a:pPr marL="342900" indent="-342900" algn="just">
                  <a:lnSpc>
                    <a:spcPct val="150000"/>
                  </a:lnSpc>
                  <a:spcBef>
                    <a:spcPts val="600"/>
                  </a:spcBef>
                  <a:spcAft>
                    <a:spcPts val="600"/>
                  </a:spcAft>
                  <a:buFont typeface="Arial" panose="020B0604020202020204" pitchFamily="34" charset="0"/>
                  <a:buChar char="•"/>
                </a:pPr>
                <a:r>
                  <a:rPr lang="en-US" sz="2500" dirty="0" smtClean="0">
                    <a:latin typeface="Arial" panose="020B0604020202020204" pitchFamily="34" charset="0"/>
                    <a:cs typeface="Arial" panose="020B0604020202020204" pitchFamily="34" charset="0"/>
                  </a:rPr>
                  <a:t>The test statistic for testing the above hypothesis is </a:t>
                </a:r>
                <a14:m>
                  <m:oMath xmlns:m="http://schemas.openxmlformats.org/officeDocument/2006/math">
                    <m:r>
                      <a:rPr lang="en-US" sz="2500" b="0" i="1" smtClean="0">
                        <a:latin typeface="Cambria Math" panose="02040503050406030204" pitchFamily="18" charset="0"/>
                        <a:cs typeface="Arial" panose="020B0604020202020204" pitchFamily="34" charset="0"/>
                      </a:rPr>
                      <m:t>𝑡</m:t>
                    </m:r>
                    <m:r>
                      <a:rPr lang="en-US" sz="2500" b="0" i="1" smtClean="0">
                        <a:latin typeface="Cambria Math" panose="02040503050406030204" pitchFamily="18" charset="0"/>
                        <a:cs typeface="Arial" panose="020B0604020202020204" pitchFamily="34" charset="0"/>
                      </a:rPr>
                      <m:t>=</m:t>
                    </m:r>
                    <m:r>
                      <a:rPr lang="en-US" sz="2500" b="0" i="1" smtClean="0">
                        <a:latin typeface="Cambria Math" panose="02040503050406030204" pitchFamily="18" charset="0"/>
                        <a:cs typeface="Arial" panose="020B0604020202020204" pitchFamily="34" charset="0"/>
                      </a:rPr>
                      <m:t>𝑟</m:t>
                    </m:r>
                    <m:rad>
                      <m:radPr>
                        <m:degHide m:val="on"/>
                        <m:ctrlPr>
                          <a:rPr lang="en-US" sz="2500" b="0" i="1" smtClean="0">
                            <a:latin typeface="Cambria Math" panose="02040503050406030204" pitchFamily="18" charset="0"/>
                            <a:cs typeface="Arial" panose="020B0604020202020204" pitchFamily="34" charset="0"/>
                          </a:rPr>
                        </m:ctrlPr>
                      </m:radPr>
                      <m:deg/>
                      <m:e>
                        <m:f>
                          <m:fPr>
                            <m:ctrlPr>
                              <a:rPr lang="en-US" sz="2500" b="0" i="1" smtClean="0">
                                <a:latin typeface="Cambria Math" panose="02040503050406030204" pitchFamily="18" charset="0"/>
                                <a:cs typeface="Arial" panose="020B0604020202020204" pitchFamily="34" charset="0"/>
                              </a:rPr>
                            </m:ctrlPr>
                          </m:fPr>
                          <m:num>
                            <m:r>
                              <a:rPr lang="en-US" sz="2500" b="0" i="1" smtClean="0">
                                <a:latin typeface="Cambria Math" panose="02040503050406030204" pitchFamily="18" charset="0"/>
                                <a:cs typeface="Arial" panose="020B0604020202020204" pitchFamily="34" charset="0"/>
                              </a:rPr>
                              <m:t>𝑛</m:t>
                            </m:r>
                            <m:r>
                              <a:rPr lang="en-US" sz="2500" b="0" i="1" smtClean="0">
                                <a:latin typeface="Cambria Math" panose="02040503050406030204" pitchFamily="18" charset="0"/>
                                <a:cs typeface="Arial" panose="020B0604020202020204" pitchFamily="34" charset="0"/>
                              </a:rPr>
                              <m:t>−2</m:t>
                            </m:r>
                          </m:num>
                          <m:den>
                            <m:r>
                              <a:rPr lang="en-US" sz="2500" b="0" i="1" smtClean="0">
                                <a:latin typeface="Cambria Math" panose="02040503050406030204" pitchFamily="18" charset="0"/>
                                <a:cs typeface="Arial" panose="020B0604020202020204" pitchFamily="34" charset="0"/>
                              </a:rPr>
                              <m:t>1−</m:t>
                            </m:r>
                            <m:sSup>
                              <m:sSupPr>
                                <m:ctrlPr>
                                  <a:rPr lang="en-US" sz="2500" b="0" i="1" smtClean="0">
                                    <a:latin typeface="Cambria Math" panose="02040503050406030204" pitchFamily="18" charset="0"/>
                                    <a:cs typeface="Arial" panose="020B0604020202020204" pitchFamily="34" charset="0"/>
                                  </a:rPr>
                                </m:ctrlPr>
                              </m:sSupPr>
                              <m:e>
                                <m:r>
                                  <a:rPr lang="en-US" sz="2500" b="0" i="1" smtClean="0">
                                    <a:latin typeface="Cambria Math" panose="02040503050406030204" pitchFamily="18" charset="0"/>
                                    <a:cs typeface="Arial" panose="020B0604020202020204" pitchFamily="34" charset="0"/>
                                  </a:rPr>
                                  <m:t>𝑟</m:t>
                                </m:r>
                              </m:e>
                              <m:sup>
                                <m:r>
                                  <a:rPr lang="en-US" sz="2500" b="0" i="1" smtClean="0">
                                    <a:latin typeface="Cambria Math" panose="02040503050406030204" pitchFamily="18" charset="0"/>
                                    <a:cs typeface="Arial" panose="020B0604020202020204" pitchFamily="34" charset="0"/>
                                  </a:rPr>
                                  <m:t>2</m:t>
                                </m:r>
                              </m:sup>
                            </m:sSup>
                          </m:den>
                        </m:f>
                      </m:e>
                    </m:rad>
                  </m:oMath>
                </a14:m>
                <a:r>
                  <a:rPr lang="en-US" sz="2500" dirty="0" smtClean="0">
                    <a:latin typeface="Arial" panose="020B0604020202020204" pitchFamily="34" charset="0"/>
                    <a:cs typeface="Arial" panose="020B0604020202020204" pitchFamily="34" charset="0"/>
                  </a:rPr>
                  <a:t>, which follows </a:t>
                </a:r>
                <a14:m>
                  <m:oMath xmlns:m="http://schemas.openxmlformats.org/officeDocument/2006/math">
                    <m:r>
                      <a:rPr lang="en-US" sz="2500" i="1" dirty="0" smtClean="0">
                        <a:latin typeface="Cambria Math" panose="02040503050406030204" pitchFamily="18" charset="0"/>
                        <a:cs typeface="Arial" panose="020B0604020202020204" pitchFamily="34" charset="0"/>
                      </a:rPr>
                      <m:t>𝑡</m:t>
                    </m:r>
                  </m:oMath>
                </a14:m>
                <a:r>
                  <a:rPr lang="en-US" sz="2500" dirty="0" smtClean="0">
                    <a:latin typeface="Arial" panose="020B0604020202020204" pitchFamily="34" charset="0"/>
                    <a:cs typeface="Arial" panose="020B0604020202020204" pitchFamily="34" charset="0"/>
                  </a:rPr>
                  <a:t>-distribution with </a:t>
                </a:r>
                <a14:m>
                  <m:oMath xmlns:m="http://schemas.openxmlformats.org/officeDocument/2006/math">
                    <m:r>
                      <a:rPr lang="en-US" sz="2500" i="1" dirty="0" smtClean="0">
                        <a:latin typeface="Cambria Math" panose="02040503050406030204" pitchFamily="18" charset="0"/>
                        <a:cs typeface="Arial" panose="020B0604020202020204" pitchFamily="34" charset="0"/>
                      </a:rPr>
                      <m:t>(</m:t>
                    </m:r>
                    <m:r>
                      <a:rPr lang="en-US" sz="2500" i="1" dirty="0" smtClean="0">
                        <a:latin typeface="Cambria Math" panose="02040503050406030204" pitchFamily="18" charset="0"/>
                        <a:cs typeface="Arial" panose="020B0604020202020204" pitchFamily="34" charset="0"/>
                      </a:rPr>
                      <m:t>𝑛</m:t>
                    </m:r>
                    <m:r>
                      <a:rPr lang="en-US" sz="2500" i="1" dirty="0" smtClean="0">
                        <a:latin typeface="Cambria Math" panose="02040503050406030204" pitchFamily="18" charset="0"/>
                        <a:cs typeface="Arial" panose="020B0604020202020204" pitchFamily="34" charset="0"/>
                      </a:rPr>
                      <m:t>−2) </m:t>
                    </m:r>
                  </m:oMath>
                </a14:m>
                <a:r>
                  <a:rPr lang="en-US" sz="2500" dirty="0" err="1" smtClean="0">
                    <a:latin typeface="Arial" panose="020B0604020202020204" pitchFamily="34" charset="0"/>
                    <a:cs typeface="Arial" panose="020B0604020202020204" pitchFamily="34" charset="0"/>
                  </a:rPr>
                  <a:t>df</a:t>
                </a:r>
                <a:r>
                  <a:rPr lang="en-US" sz="2500" dirty="0" smtClean="0">
                    <a:latin typeface="Arial" panose="020B0604020202020204" pitchFamily="34" charset="0"/>
                    <a:cs typeface="Arial" panose="020B0604020202020204" pitchFamily="34" charset="0"/>
                  </a:rPr>
                  <a:t>. </a:t>
                </a:r>
                <a:endParaRPr lang="en-US" sz="2500" dirty="0">
                  <a:latin typeface="Arial" panose="020B0604020202020204" pitchFamily="34" charset="0"/>
                  <a:cs typeface="Arial" panose="020B0604020202020204" pitchFamily="34" charset="0"/>
                </a:endParaRPr>
              </a:p>
              <a:p>
                <a:pPr marL="342900" indent="-342900" algn="just">
                  <a:lnSpc>
                    <a:spcPct val="100000"/>
                  </a:lnSpc>
                  <a:spcBef>
                    <a:spcPts val="600"/>
                  </a:spcBef>
                  <a:spcAft>
                    <a:spcPts val="600"/>
                  </a:spcAft>
                  <a:buFont typeface="Arial" panose="020B0604020202020204" pitchFamily="34" charset="0"/>
                  <a:buChar char="•"/>
                </a:pPr>
                <a:endParaRPr lang="en-US" sz="25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019624"/>
                <a:ext cx="10831132" cy="5838376"/>
              </a:xfrm>
              <a:blipFill rotWithShape="0">
                <a:blip r:embed="rId2"/>
                <a:stretch>
                  <a:fillRect l="-844" r="-900"/>
                </a:stretch>
              </a:blipFill>
            </p:spPr>
            <p:txBody>
              <a:bodyPr/>
              <a:lstStyle/>
              <a:p>
                <a:r>
                  <a:rPr lang="en-US">
                    <a:noFill/>
                  </a:rPr>
                  <a:t> </a:t>
                </a:r>
              </a:p>
            </p:txBody>
          </p:sp>
        </mc:Fallback>
      </mc:AlternateContent>
    </p:spTree>
    <p:extLst>
      <p:ext uri="{BB962C8B-B14F-4D97-AF65-F5344CB8AC3E}">
        <p14:creationId xmlns:p14="http://schemas.microsoft.com/office/powerpoint/2010/main" val="39269562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0141" y="152333"/>
            <a:ext cx="9776012" cy="447742"/>
          </a:xfrm>
        </p:spPr>
        <p:txBody>
          <a:bodyPr>
            <a:noAutofit/>
          </a:bodyPr>
          <a:lstStyle/>
          <a:p>
            <a:r>
              <a:rPr lang="en-US" sz="2400" b="1" dirty="0" smtClean="0">
                <a:latin typeface="Arial" panose="020B0604020202020204" pitchFamily="34" charset="0"/>
                <a:cs typeface="Arial" panose="020B0604020202020204" pitchFamily="34" charset="0"/>
              </a:rPr>
              <a:t>Hypothesis Testing (</a:t>
            </a:r>
            <a:r>
              <a:rPr lang="en-US" sz="2400" b="1" dirty="0" err="1">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600074"/>
                <a:ext cx="10831132" cy="6257925"/>
              </a:xfrm>
            </p:spPr>
            <p:txBody>
              <a:bodyPr>
                <a:noAutofit/>
              </a:bodyPr>
              <a:lstStyle/>
              <a:p>
                <a:pPr marL="342900" indent="-342900" algn="just">
                  <a:lnSpc>
                    <a:spcPct val="100000"/>
                  </a:lnSpc>
                  <a:spcBef>
                    <a:spcPts val="600"/>
                  </a:spcBef>
                  <a:spcAft>
                    <a:spcPts val="600"/>
                  </a:spcAft>
                  <a:buFont typeface="Arial" panose="020B0604020202020204" pitchFamily="34" charset="0"/>
                  <a:buChar char="•"/>
                </a:pPr>
                <a:r>
                  <a:rPr lang="en-US" sz="1800" b="1" dirty="0" smtClean="0">
                    <a:latin typeface="Arial" panose="020B0604020202020204" pitchFamily="34" charset="0"/>
                    <a:cs typeface="Arial" panose="020B0604020202020204" pitchFamily="34" charset="0"/>
                  </a:rPr>
                  <a:t>Example (Employee </a:t>
                </a:r>
                <a:r>
                  <a:rPr lang="en-US" sz="1800" b="1" dirty="0">
                    <a:latin typeface="Arial" panose="020B0604020202020204" pitchFamily="34" charset="0"/>
                    <a:cs typeface="Arial" panose="020B0604020202020204" pitchFamily="34" charset="0"/>
                  </a:rPr>
                  <a:t>Satisfaction vs. </a:t>
                </a:r>
                <a:r>
                  <a:rPr lang="en-US" sz="1800" b="1" dirty="0" smtClean="0">
                    <a:latin typeface="Arial" panose="020B0604020202020204" pitchFamily="34" charset="0"/>
                    <a:cs typeface="Arial" panose="020B0604020202020204" pitchFamily="34" charset="0"/>
                  </a:rPr>
                  <a:t>Productivity): </a:t>
                </a:r>
                <a:r>
                  <a:rPr lang="en-US" sz="1800" dirty="0" smtClean="0">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company collects data from 8 departments on employee satisfaction </a:t>
                </a:r>
                <a:r>
                  <a:rPr lang="en-US" sz="1800" dirty="0" smtClean="0">
                    <a:latin typeface="Arial" panose="020B0604020202020204" pitchFamily="34" charset="0"/>
                    <a:cs typeface="Arial" panose="020B0604020202020204" pitchFamily="34" charset="0"/>
                  </a:rPr>
                  <a:t>score and </a:t>
                </a:r>
                <a:r>
                  <a:rPr lang="en-US" sz="1800" dirty="0">
                    <a:latin typeface="Arial" panose="020B0604020202020204" pitchFamily="34" charset="0"/>
                    <a:cs typeface="Arial" panose="020B0604020202020204" pitchFamily="34" charset="0"/>
                  </a:rPr>
                  <a:t>average monthly output per </a:t>
                </a:r>
                <a:r>
                  <a:rPr lang="en-US" sz="1800" dirty="0" smtClean="0">
                    <a:latin typeface="Arial" panose="020B0604020202020204" pitchFamily="34" charset="0"/>
                    <a:cs typeface="Arial" panose="020B0604020202020204" pitchFamily="34" charset="0"/>
                  </a:rPr>
                  <a:t>employee.</a:t>
                </a:r>
              </a:p>
              <a:p>
                <a:pPr marL="342900" indent="-342900" algn="l">
                  <a:lnSpc>
                    <a:spcPct val="100000"/>
                  </a:lnSpc>
                  <a:spcBef>
                    <a:spcPts val="600"/>
                  </a:spcBef>
                  <a:spcAft>
                    <a:spcPts val="600"/>
                  </a:spcAft>
                  <a:buFont typeface="Arial" panose="020B0604020202020204" pitchFamily="34" charset="0"/>
                  <a:buChar char="•"/>
                </a:pPr>
                <a:r>
                  <a:rPr lang="en-US" sz="1800" b="1" dirty="0" smtClean="0">
                    <a:latin typeface="Arial" panose="020B0604020202020204" pitchFamily="34" charset="0"/>
                    <a:cs typeface="Arial" panose="020B0604020202020204" pitchFamily="34" charset="0"/>
                  </a:rPr>
                  <a:t>Data</a:t>
                </a:r>
                <a:r>
                  <a:rPr lang="en-US" sz="1800" dirty="0">
                    <a:latin typeface="Arial" panose="020B0604020202020204" pitchFamily="34" charset="0"/>
                    <a:cs typeface="Arial" panose="020B0604020202020204" pitchFamily="34" charset="0"/>
                  </a:rPr>
                  <a:t>:</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Satisfaction: </a:t>
                </a:r>
                <a:r>
                  <a:rPr lang="en-US" sz="1800" dirty="0" smtClean="0">
                    <a:latin typeface="Arial" panose="020B0604020202020204" pitchFamily="34" charset="0"/>
                    <a:cs typeface="Arial" panose="020B0604020202020204" pitchFamily="34" charset="0"/>
                  </a:rPr>
                  <a:t>			3</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4</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5</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6</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7</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8</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  9</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10</a:t>
                </a:r>
                <a:r>
                  <a:rPr lang="en-US" sz="1800" dirty="0">
                    <a:latin typeface="Arial" panose="020B0604020202020204" pitchFamily="34" charset="0"/>
                    <a:cs typeface="Arial" panose="020B0604020202020204" pitchFamily="34" charset="0"/>
                  </a:rPr>
                  <a:t/>
                </a: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Productivity (units/month): </a:t>
                </a:r>
                <a:r>
                  <a:rPr lang="en-US" sz="1800" dirty="0" smtClean="0">
                    <a:latin typeface="Arial" panose="020B0604020202020204" pitchFamily="34" charset="0"/>
                    <a:cs typeface="Arial" panose="020B0604020202020204" pitchFamily="34" charset="0"/>
                  </a:rPr>
                  <a:t>	50</a:t>
                </a:r>
                <a:r>
                  <a:rPr lang="en-US" sz="1800" dirty="0">
                    <a:latin typeface="Arial" panose="020B0604020202020204" pitchFamily="34" charset="0"/>
                    <a:cs typeface="Arial" panose="020B0604020202020204" pitchFamily="34" charset="0"/>
                  </a:rPr>
                  <a:t>, 55, 60, 65, 68, 75, 78, </a:t>
                </a:r>
                <a:r>
                  <a:rPr lang="en-US" sz="1800" dirty="0" smtClean="0">
                    <a:latin typeface="Arial" panose="020B0604020202020204" pitchFamily="34" charset="0"/>
                    <a:cs typeface="Arial" panose="020B0604020202020204" pitchFamily="34" charset="0"/>
                  </a:rPr>
                  <a:t>80</a:t>
                </a:r>
                <a:endParaRPr lang="en-US" sz="1800" dirty="0">
                  <a:latin typeface="Arial" panose="020B0604020202020204" pitchFamily="34" charset="0"/>
                  <a:cs typeface="Arial" panose="020B0604020202020204" pitchFamily="34" charset="0"/>
                </a:endParaRPr>
              </a:p>
              <a:p>
                <a:pPr marL="342900" indent="-342900" algn="l">
                  <a:lnSpc>
                    <a:spcPct val="100000"/>
                  </a:lnSpc>
                  <a:spcBef>
                    <a:spcPts val="600"/>
                  </a:spcBef>
                  <a:spcAft>
                    <a:spcPts val="600"/>
                  </a:spcAft>
                  <a:buFont typeface="Arial" panose="020B0604020202020204" pitchFamily="34" charset="0"/>
                  <a:buChar char="•"/>
                </a:pPr>
                <a:r>
                  <a:rPr lang="en-US" sz="1800" b="1" dirty="0" smtClean="0">
                    <a:latin typeface="Arial" panose="020B0604020202020204" pitchFamily="34" charset="0"/>
                    <a:cs typeface="Arial" panose="020B0604020202020204" pitchFamily="34" charset="0"/>
                  </a:rPr>
                  <a:t>Question</a:t>
                </a: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Test </a:t>
                </a:r>
                <a:r>
                  <a:rPr lang="en-US" sz="1800" dirty="0">
                    <a:latin typeface="Arial" panose="020B0604020202020204" pitchFamily="34" charset="0"/>
                    <a:cs typeface="Arial" panose="020B0604020202020204" pitchFamily="34" charset="0"/>
                  </a:rPr>
                  <a:t>whether there is a positive </a:t>
                </a:r>
                <a:r>
                  <a:rPr lang="en-US" sz="1800" dirty="0" smtClean="0">
                    <a:latin typeface="Arial" panose="020B0604020202020204" pitchFamily="34" charset="0"/>
                    <a:cs typeface="Arial" panose="020B0604020202020204" pitchFamily="34" charset="0"/>
                  </a:rPr>
                  <a:t>correlation at </a:t>
                </a:r>
                <a:r>
                  <a:rPr lang="en-US" sz="1800" dirty="0">
                    <a:latin typeface="Arial" panose="020B0604020202020204" pitchFamily="34" charset="0"/>
                    <a:cs typeface="Arial" panose="020B0604020202020204" pitchFamily="34" charset="0"/>
                  </a:rPr>
                  <a:t>5% level of </a:t>
                </a:r>
                <a:r>
                  <a:rPr lang="en-US" sz="1800" dirty="0" smtClean="0">
                    <a:latin typeface="Arial" panose="020B0604020202020204" pitchFamily="34" charset="0"/>
                    <a:cs typeface="Arial" panose="020B0604020202020204" pitchFamily="34" charset="0"/>
                  </a:rPr>
                  <a:t>significance. </a:t>
                </a:r>
              </a:p>
              <a:p>
                <a:pPr marL="342900" indent="-342900" algn="l">
                  <a:lnSpc>
                    <a:spcPct val="100000"/>
                  </a:lnSpc>
                  <a:spcBef>
                    <a:spcPts val="600"/>
                  </a:spcBef>
                  <a:spcAft>
                    <a:spcPts val="600"/>
                  </a:spcAft>
                  <a:buFont typeface="Arial" panose="020B0604020202020204" pitchFamily="34" charset="0"/>
                  <a:buChar char="•"/>
                </a:pPr>
                <a:r>
                  <a:rPr lang="en-US" sz="1800" b="1" dirty="0" smtClean="0">
                    <a:latin typeface="Arial" panose="020B0604020202020204" pitchFamily="34" charset="0"/>
                    <a:cs typeface="Arial" panose="020B0604020202020204" pitchFamily="34" charset="0"/>
                  </a:rPr>
                  <a:t>Solution</a:t>
                </a:r>
                <a:r>
                  <a:rPr lang="en-US" sz="1800" b="1" dirty="0">
                    <a:latin typeface="Arial" panose="020B0604020202020204" pitchFamily="34" charset="0"/>
                    <a:cs typeface="Arial" panose="020B0604020202020204" pitchFamily="34" charset="0"/>
                  </a:rPr>
                  <a:t>:</a:t>
                </a:r>
                <a:r>
                  <a:rPr lang="en-US" sz="1800" dirty="0" smtClean="0">
                    <a:latin typeface="Arial" panose="020B0604020202020204" pitchFamily="34" charset="0"/>
                    <a:cs typeface="Arial" panose="020B0604020202020204" pitchFamily="34" charset="0"/>
                  </a:rPr>
                  <a:t> Let </a:t>
                </a:r>
                <a:r>
                  <a:rPr lang="en-US" sz="1800" dirty="0">
                    <a:latin typeface="Arial" panose="020B0604020202020204" pitchFamily="34" charset="0"/>
                    <a:cs typeface="Arial" panose="020B0604020202020204" pitchFamily="34" charset="0"/>
                  </a:rPr>
                  <a:t>us consider </a:t>
                </a:r>
                <a:r>
                  <a:rPr lang="en-US" sz="1800" dirty="0" smtClean="0">
                    <a:latin typeface="Arial" panose="020B0604020202020204" pitchFamily="34" charset="0"/>
                    <a:cs typeface="Arial" panose="020B0604020202020204" pitchFamily="34" charset="0"/>
                  </a:rPr>
                  <a:t>satisfaction</a:t>
                </a:r>
                <a:r>
                  <a:rPr lang="en-US" sz="1800" dirty="0" smtClean="0">
                    <a:latin typeface="Arial" panose="020B0604020202020204" pitchFamily="34" charset="0"/>
                    <a:ea typeface="Calibri" panose="020F0502020204030204" pitchFamily="34" charset="0"/>
                    <a:cs typeface="Arial" panose="020B0604020202020204" pitchFamily="34" charset="0"/>
                  </a:rPr>
                  <a:t> score </a:t>
                </a:r>
                <a:r>
                  <a:rPr lang="en-US" sz="1800" dirty="0" smtClean="0">
                    <a:latin typeface="Arial" panose="020B0604020202020204" pitchFamily="34" charset="0"/>
                    <a:cs typeface="Arial" panose="020B0604020202020204" pitchFamily="34" charset="0"/>
                  </a:rPr>
                  <a:t>as </a:t>
                </a:r>
                <a:r>
                  <a:rPr lang="en-US" sz="1800" dirty="0">
                    <a:latin typeface="Arial" panose="020B0604020202020204" pitchFamily="34" charset="0"/>
                    <a:cs typeface="Arial" panose="020B0604020202020204" pitchFamily="34" charset="0"/>
                  </a:rPr>
                  <a:t>variable </a:t>
                </a:r>
                <a14:m>
                  <m:oMath xmlns:m="http://schemas.openxmlformats.org/officeDocument/2006/math">
                    <m:r>
                      <a:rPr lang="en-US" sz="1800">
                        <a:latin typeface="Cambria Math" panose="02040503050406030204" pitchFamily="18" charset="0"/>
                        <a:cs typeface="Arial" panose="020B0604020202020204" pitchFamily="34" charset="0"/>
                      </a:rPr>
                      <m:t>𝑥</m:t>
                    </m:r>
                  </m:oMath>
                </a14:m>
                <a:r>
                  <a:rPr lang="en-US" sz="1800" dirty="0">
                    <a:latin typeface="Arial" panose="020B0604020202020204" pitchFamily="34" charset="0"/>
                    <a:cs typeface="Arial" panose="020B0604020202020204" pitchFamily="34" charset="0"/>
                  </a:rPr>
                  <a:t>, and Productivity (units/month) as variable </a:t>
                </a:r>
                <a14:m>
                  <m:oMath xmlns:m="http://schemas.openxmlformats.org/officeDocument/2006/math">
                    <m:r>
                      <a:rPr lang="en-US" sz="1800">
                        <a:latin typeface="Cambria Math" panose="02040503050406030204" pitchFamily="18" charset="0"/>
                        <a:cs typeface="Arial" panose="020B0604020202020204" pitchFamily="34" charset="0"/>
                      </a:rPr>
                      <m:t>𝑦</m:t>
                    </m:r>
                  </m:oMath>
                </a14:m>
                <a:r>
                  <a:rPr lang="en-US" sz="1800" dirty="0" smtClean="0">
                    <a:latin typeface="Arial" panose="020B0604020202020204" pitchFamily="34" charset="0"/>
                    <a:cs typeface="Arial" panose="020B0604020202020204" pitchFamily="34" charset="0"/>
                  </a:rPr>
                  <a:t>. We have </a:t>
                </a:r>
                <a14:m>
                  <m:oMath xmlns:m="http://schemas.openxmlformats.org/officeDocument/2006/math">
                    <m:r>
                      <a:rPr lang="en-US" sz="1800" i="1">
                        <a:latin typeface="Cambria Math" panose="02040503050406030204" pitchFamily="18" charset="0"/>
                        <a:cs typeface="Arial" panose="020B0604020202020204" pitchFamily="34" charset="0"/>
                      </a:rPr>
                      <m:t>∑</m:t>
                    </m:r>
                    <m:r>
                      <a:rPr lang="en-US" sz="1800" i="1">
                        <a:latin typeface="Cambria Math" panose="02040503050406030204" pitchFamily="18" charset="0"/>
                        <a:cs typeface="Arial" panose="020B0604020202020204" pitchFamily="34" charset="0"/>
                      </a:rPr>
                      <m:t>𝑥𝑦</m:t>
                    </m:r>
                    <m:r>
                      <a:rPr lang="en-US" sz="1800" i="1">
                        <a:latin typeface="Cambria Math" panose="02040503050406030204" pitchFamily="18" charset="0"/>
                        <a:cs typeface="Arial" panose="020B0604020202020204" pitchFamily="34" charset="0"/>
                      </a:rPr>
                      <m:t>=3638, ∑</m:t>
                    </m:r>
                    <m:r>
                      <a:rPr lang="en-US" sz="1800" b="0" i="1" smtClean="0">
                        <a:latin typeface="Cambria Math" panose="02040503050406030204" pitchFamily="18" charset="0"/>
                        <a:cs typeface="Arial" panose="020B0604020202020204" pitchFamily="34" charset="0"/>
                      </a:rPr>
                      <m:t>𝑥</m:t>
                    </m:r>
                    <m:r>
                      <a:rPr lang="en-US" sz="1800" b="0" i="1" smtClean="0">
                        <a:latin typeface="Cambria Math" panose="02040503050406030204" pitchFamily="18" charset="0"/>
                        <a:cs typeface="Arial" panose="020B0604020202020204" pitchFamily="34" charset="0"/>
                      </a:rPr>
                      <m:t>=52, ∑</m:t>
                    </m:r>
                    <m:r>
                      <a:rPr lang="en-US" sz="1800" b="0" i="1" smtClean="0">
                        <a:latin typeface="Cambria Math" panose="02040503050406030204" pitchFamily="18" charset="0"/>
                        <a:cs typeface="Arial" panose="020B0604020202020204" pitchFamily="34" charset="0"/>
                      </a:rPr>
                      <m:t>𝑦</m:t>
                    </m:r>
                    <m:r>
                      <a:rPr lang="en-US" sz="1800" b="0" i="1" smtClean="0">
                        <a:latin typeface="Cambria Math" panose="02040503050406030204" pitchFamily="18" charset="0"/>
                        <a:cs typeface="Arial" panose="020B0604020202020204" pitchFamily="34" charset="0"/>
                      </a:rPr>
                      <m:t>=531, ∑</m:t>
                    </m:r>
                    <m:sSup>
                      <m:sSupPr>
                        <m:ctrlPr>
                          <a:rPr lang="en-US" sz="1800" b="0" i="1" smtClean="0">
                            <a:latin typeface="Cambria Math" panose="02040503050406030204" pitchFamily="18" charset="0"/>
                            <a:cs typeface="Arial" panose="020B0604020202020204" pitchFamily="34" charset="0"/>
                          </a:rPr>
                        </m:ctrlPr>
                      </m:sSupPr>
                      <m:e>
                        <m:r>
                          <a:rPr lang="en-US" sz="1800" b="0" i="1" smtClean="0">
                            <a:latin typeface="Cambria Math" panose="02040503050406030204" pitchFamily="18" charset="0"/>
                            <a:cs typeface="Arial" panose="020B0604020202020204" pitchFamily="34" charset="0"/>
                          </a:rPr>
                          <m:t>𝑥</m:t>
                        </m:r>
                      </m:e>
                      <m:sup>
                        <m:r>
                          <a:rPr lang="en-US" sz="1800" b="0" i="1" smtClean="0">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=380</m:t>
                    </m:r>
                    <m:r>
                      <a:rPr lang="en-US" sz="1800" b="0" i="1" smtClean="0">
                        <a:latin typeface="Cambria Math" panose="02040503050406030204" pitchFamily="18" charset="0"/>
                        <a:cs typeface="Arial" panose="020B0604020202020204" pitchFamily="34" charset="0"/>
                      </a:rPr>
                      <m:t>, ∑</m:t>
                    </m:r>
                    <m:sSup>
                      <m:sSupPr>
                        <m:ctrlPr>
                          <a:rPr lang="en-US" sz="1800" b="0" i="1" smtClean="0">
                            <a:latin typeface="Cambria Math" panose="02040503050406030204" pitchFamily="18" charset="0"/>
                            <a:cs typeface="Arial" panose="020B0604020202020204" pitchFamily="34" charset="0"/>
                          </a:rPr>
                        </m:ctrlPr>
                      </m:sSupPr>
                      <m:e>
                        <m:r>
                          <a:rPr lang="en-US" sz="1800" b="0" i="1" smtClean="0">
                            <a:latin typeface="Cambria Math" panose="02040503050406030204" pitchFamily="18" charset="0"/>
                            <a:cs typeface="Arial" panose="020B0604020202020204" pitchFamily="34" charset="0"/>
                          </a:rPr>
                          <m:t>𝑦</m:t>
                        </m:r>
                      </m:e>
                      <m:sup>
                        <m:r>
                          <a:rPr lang="en-US" sz="1800" b="0" i="1" smtClean="0">
                            <a:latin typeface="Cambria Math" panose="02040503050406030204" pitchFamily="18" charset="0"/>
                            <a:cs typeface="Arial" panose="020B0604020202020204" pitchFamily="34" charset="0"/>
                          </a:rPr>
                          <m:t>2</m:t>
                        </m:r>
                      </m:sup>
                    </m:sSup>
                    <m:r>
                      <a:rPr lang="en-US" sz="1800" i="1">
                        <a:latin typeface="Cambria Math" panose="02040503050406030204" pitchFamily="18" charset="0"/>
                        <a:cs typeface="Arial" panose="020B0604020202020204" pitchFamily="34" charset="0"/>
                      </a:rPr>
                      <m:t>=36083</m:t>
                    </m:r>
                    <m:r>
                      <a:rPr lang="en-US" sz="1800" b="0" i="1" smtClean="0">
                        <a:latin typeface="Cambria Math" panose="02040503050406030204" pitchFamily="18" charset="0"/>
                        <a:cs typeface="Arial" panose="020B0604020202020204" pitchFamily="34" charset="0"/>
                      </a:rPr>
                      <m:t>, </m:t>
                    </m:r>
                    <m:r>
                      <a:rPr lang="en-US" sz="1800" b="0" i="1" smtClean="0">
                        <a:latin typeface="Cambria Math" panose="02040503050406030204" pitchFamily="18" charset="0"/>
                        <a:cs typeface="Arial" panose="020B0604020202020204" pitchFamily="34" charset="0"/>
                      </a:rPr>
                      <m:t>𝑛</m:t>
                    </m:r>
                    <m:r>
                      <a:rPr lang="en-US" sz="1800" b="0" i="1" smtClean="0">
                        <a:latin typeface="Cambria Math" panose="02040503050406030204" pitchFamily="18" charset="0"/>
                        <a:cs typeface="Arial" panose="020B0604020202020204" pitchFamily="34" charset="0"/>
                      </a:rPr>
                      <m:t>=8</m:t>
                    </m:r>
                  </m:oMath>
                </a14:m>
                <a:r>
                  <a:rPr lang="en-US" sz="1800" dirty="0" smtClean="0">
                    <a:latin typeface="Arial" panose="020B0604020202020204" pitchFamily="34" charset="0"/>
                    <a:cs typeface="Arial" panose="020B0604020202020204" pitchFamily="34" charset="0"/>
                  </a:rPr>
                  <a:t>. Therefore, </a:t>
                </a:r>
              </a:p>
              <a:p>
                <a:pPr algn="l">
                  <a:lnSpc>
                    <a:spcPct val="10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𝑟</m:t>
                      </m:r>
                      <m:r>
                        <a:rPr lang="en-US" sz="1800" b="0" i="1" smtClean="0">
                          <a:latin typeface="Cambria Math" panose="02040503050406030204" pitchFamily="18" charset="0"/>
                        </a:rPr>
                        <m:t>=0.994</m:t>
                      </m:r>
                    </m:oMath>
                  </m:oMathPara>
                </a14:m>
                <a:endParaRPr lang="en-US" sz="1800" b="0" dirty="0" smtClean="0">
                  <a:latin typeface="Arial" panose="020B0604020202020204" pitchFamily="34" charset="0"/>
                </a:endParaRPr>
              </a:p>
              <a:p>
                <a:pPr algn="l">
                  <a:lnSpc>
                    <a:spcPct val="100000"/>
                  </a:lnSpc>
                  <a:spcBef>
                    <a:spcPts val="600"/>
                  </a:spcBef>
                  <a:spcAft>
                    <a:spcPts val="600"/>
                  </a:spcAft>
                </a:pPr>
                <a:r>
                  <a:rPr lang="en-US" sz="1800" dirty="0" smtClean="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There is a strong positive correlation between satisfaction and productivity (</a:t>
                </a:r>
                <a:r>
                  <a:rPr lang="en-US" sz="1800" dirty="0" smtClean="0">
                    <a:latin typeface="Arial" panose="020B0604020202020204" pitchFamily="34" charset="0"/>
                    <a:cs typeface="Arial" panose="020B0604020202020204" pitchFamily="34" charset="0"/>
                  </a:rPr>
                  <a:t>units/month)</a:t>
                </a:r>
              </a:p>
              <a:p>
                <a:pPr marL="342900" indent="-342900" algn="just">
                  <a:lnSpc>
                    <a:spcPct val="150000"/>
                  </a:lnSpc>
                  <a:spcBef>
                    <a:spcPts val="600"/>
                  </a:spcBef>
                  <a:spcAft>
                    <a:spcPts val="600"/>
                  </a:spcAft>
                  <a:buFont typeface="Arial" panose="020B0604020202020204" pitchFamily="34" charset="0"/>
                  <a:buChar char="•"/>
                </a:pPr>
                <a:r>
                  <a:rPr lang="en-US" sz="1800" dirty="0" smtClean="0">
                    <a:latin typeface="Arial" panose="020B0604020202020204" pitchFamily="34" charset="0"/>
                    <a:cs typeface="Arial" panose="020B0604020202020204" pitchFamily="34" charset="0"/>
                  </a:rPr>
                  <a:t>Test: Null </a:t>
                </a:r>
                <a:r>
                  <a:rPr lang="en-US" sz="1800" dirty="0">
                    <a:latin typeface="Arial" panose="020B0604020202020204" pitchFamily="34" charset="0"/>
                    <a:cs typeface="Arial" panose="020B0604020202020204" pitchFamily="34" charset="0"/>
                  </a:rPr>
                  <a:t>Hypothesis (H₀): </a:t>
                </a:r>
                <a:r>
                  <a:rPr lang="el-GR" sz="1800" dirty="0">
                    <a:latin typeface="Arial" panose="020B0604020202020204" pitchFamily="34" charset="0"/>
                    <a:cs typeface="Arial" panose="020B0604020202020204" pitchFamily="34" charset="0"/>
                  </a:rPr>
                  <a:t>ρ = 0 (</a:t>
                </a:r>
                <a:r>
                  <a:rPr lang="en-US" sz="1800" dirty="0">
                    <a:latin typeface="Arial" panose="020B0604020202020204" pitchFamily="34" charset="0"/>
                    <a:cs typeface="Arial" panose="020B0604020202020204" pitchFamily="34" charset="0"/>
                  </a:rPr>
                  <a:t>no </a:t>
                </a:r>
                <a:r>
                  <a:rPr lang="en-US" sz="1800" dirty="0" smtClean="0">
                    <a:latin typeface="Arial" panose="020B0604020202020204" pitchFamily="34" charset="0"/>
                    <a:cs typeface="Arial" panose="020B0604020202020204" pitchFamily="34" charset="0"/>
                  </a:rPr>
                  <a:t>correlation)</a:t>
                </a:r>
              </a:p>
              <a:p>
                <a:pPr algn="just">
                  <a:lnSpc>
                    <a:spcPct val="150000"/>
                  </a:lnSpc>
                  <a:spcBef>
                    <a:spcPts val="600"/>
                  </a:spcBef>
                  <a:spcAft>
                    <a:spcPts val="600"/>
                  </a:spcAft>
                </a:pPr>
                <a:r>
                  <a:rPr lang="en-US" sz="1800" dirty="0">
                    <a:latin typeface="Arial" panose="020B0604020202020204" pitchFamily="34" charset="0"/>
                    <a:cs typeface="Arial" panose="020B0604020202020204" pitchFamily="34" charset="0"/>
                  </a:rPr>
                  <a:t>	</a:t>
                </a:r>
                <a:r>
                  <a:rPr lang="en-US" sz="1800" dirty="0" smtClean="0">
                    <a:latin typeface="Arial" panose="020B0604020202020204" pitchFamily="34" charset="0"/>
                    <a:cs typeface="Arial" panose="020B0604020202020204" pitchFamily="34" charset="0"/>
                  </a:rPr>
                  <a:t>Alternative </a:t>
                </a:r>
                <a:r>
                  <a:rPr lang="en-US" sz="1800" dirty="0">
                    <a:latin typeface="Arial" panose="020B0604020202020204" pitchFamily="34" charset="0"/>
                    <a:cs typeface="Arial" panose="020B0604020202020204" pitchFamily="34" charset="0"/>
                  </a:rPr>
                  <a:t>Hypothesis (H₁): </a:t>
                </a:r>
                <a:r>
                  <a:rPr lang="el-GR" sz="1800" dirty="0">
                    <a:latin typeface="Arial" panose="020B0604020202020204" pitchFamily="34" charset="0"/>
                    <a:cs typeface="Arial" panose="020B0604020202020204" pitchFamily="34" charset="0"/>
                  </a:rPr>
                  <a:t>ρ </a:t>
                </a:r>
                <a:r>
                  <a:rPr lang="en-US" sz="1800" dirty="0" smtClean="0">
                    <a:latin typeface="Arial" panose="020B0604020202020204" pitchFamily="34" charset="0"/>
                    <a:cs typeface="Arial" panose="020B0604020202020204" pitchFamily="34" charset="0"/>
                  </a:rPr>
                  <a:t>&gt;</a:t>
                </a:r>
                <a:r>
                  <a:rPr lang="el-GR" sz="1800" dirty="0" smtClean="0">
                    <a:latin typeface="Arial" panose="020B0604020202020204" pitchFamily="34" charset="0"/>
                    <a:cs typeface="Arial" panose="020B0604020202020204" pitchFamily="34" charset="0"/>
                  </a:rPr>
                  <a:t> </a:t>
                </a:r>
                <a:r>
                  <a:rPr lang="el-GR" sz="1800" dirty="0">
                    <a:latin typeface="Arial" panose="020B0604020202020204" pitchFamily="34" charset="0"/>
                    <a:cs typeface="Arial" panose="020B0604020202020204" pitchFamily="34" charset="0"/>
                  </a:rPr>
                  <a:t>0 </a:t>
                </a:r>
                <a:r>
                  <a:rPr lang="el-GR" sz="1800" dirty="0" smtClean="0">
                    <a:latin typeface="Arial" panose="020B0604020202020204" pitchFamily="34" charset="0"/>
                    <a:cs typeface="Arial" panose="020B0604020202020204" pitchFamily="34" charset="0"/>
                  </a:rPr>
                  <a:t>(</a:t>
                </a:r>
                <a:r>
                  <a:rPr lang="en-US" sz="1800" dirty="0" smtClean="0">
                    <a:latin typeface="Arial" panose="020B0604020202020204" pitchFamily="34" charset="0"/>
                    <a:cs typeface="Arial" panose="020B0604020202020204" pitchFamily="34" charset="0"/>
                  </a:rPr>
                  <a:t>positive correlation </a:t>
                </a:r>
                <a:r>
                  <a:rPr lang="en-US" sz="1800" dirty="0">
                    <a:latin typeface="Arial" panose="020B0604020202020204" pitchFamily="34" charset="0"/>
                    <a:cs typeface="Arial" panose="020B0604020202020204" pitchFamily="34" charset="0"/>
                  </a:rPr>
                  <a:t>exists)</a:t>
                </a:r>
              </a:p>
              <a:p>
                <a:pPr marL="342900" indent="-342900" algn="just">
                  <a:lnSpc>
                    <a:spcPct val="150000"/>
                  </a:lnSpc>
                  <a:spcBef>
                    <a:spcPts val="600"/>
                  </a:spcBef>
                  <a:spcAft>
                    <a:spcPts val="600"/>
                  </a:spcAft>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lgn="just">
                  <a:lnSpc>
                    <a:spcPct val="150000"/>
                  </a:lnSpc>
                  <a:spcBef>
                    <a:spcPts val="600"/>
                  </a:spcBef>
                  <a:spcAft>
                    <a:spcPts val="600"/>
                  </a:spcAft>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lgn="just">
                  <a:lnSpc>
                    <a:spcPct val="150000"/>
                  </a:lnSpc>
                  <a:spcBef>
                    <a:spcPts val="600"/>
                  </a:spcBef>
                  <a:spcAft>
                    <a:spcPts val="600"/>
                  </a:spcAft>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lgn="just">
                  <a:lnSpc>
                    <a:spcPct val="150000"/>
                  </a:lnSpc>
                  <a:spcBef>
                    <a:spcPts val="600"/>
                  </a:spcBef>
                  <a:spcAft>
                    <a:spcPts val="600"/>
                  </a:spcAft>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600074"/>
                <a:ext cx="10831132" cy="6257925"/>
              </a:xfrm>
              <a:blipFill rotWithShape="0">
                <a:blip r:embed="rId2"/>
                <a:stretch>
                  <a:fillRect l="-394" t="-487" r="-450"/>
                </a:stretch>
              </a:blipFill>
            </p:spPr>
            <p:txBody>
              <a:bodyPr/>
              <a:lstStyle/>
              <a:p>
                <a:r>
                  <a:rPr lang="en-US">
                    <a:noFill/>
                  </a:rPr>
                  <a:t> </a:t>
                </a:r>
              </a:p>
            </p:txBody>
          </p:sp>
        </mc:Fallback>
      </mc:AlternateContent>
    </p:spTree>
    <p:extLst>
      <p:ext uri="{BB962C8B-B14F-4D97-AF65-F5344CB8AC3E}">
        <p14:creationId xmlns:p14="http://schemas.microsoft.com/office/powerpoint/2010/main" val="2572440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0141" y="152333"/>
            <a:ext cx="9776012" cy="447742"/>
          </a:xfrm>
        </p:spPr>
        <p:txBody>
          <a:bodyPr>
            <a:noAutofit/>
          </a:bodyPr>
          <a:lstStyle/>
          <a:p>
            <a:r>
              <a:rPr lang="en-US" sz="2400" b="1" dirty="0">
                <a:latin typeface="Arial" panose="020B0604020202020204" pitchFamily="34" charset="0"/>
                <a:cs typeface="Arial" panose="020B0604020202020204" pitchFamily="34" charset="0"/>
              </a:rPr>
              <a:t>Coefficient of </a:t>
            </a:r>
            <a:r>
              <a:rPr lang="en-US" sz="2400" b="1" dirty="0" smtClean="0">
                <a:latin typeface="Arial" panose="020B0604020202020204" pitchFamily="34" charset="0"/>
                <a:cs typeface="Arial" panose="020B0604020202020204" pitchFamily="34" charset="0"/>
              </a:rPr>
              <a:t>Correlation (</a:t>
            </a:r>
            <a:r>
              <a:rPr lang="en-US" sz="2400" b="1" dirty="0" err="1" smtClean="0">
                <a:latin typeface="Arial" panose="020B0604020202020204" pitchFamily="34" charset="0"/>
                <a:cs typeface="Arial" panose="020B0604020202020204" pitchFamily="34" charset="0"/>
              </a:rPr>
              <a:t>cont</a:t>
            </a:r>
            <a:r>
              <a:rPr lang="en-US" sz="2400" b="1" dirty="0" smtClean="0">
                <a:latin typeface="Arial" panose="020B0604020202020204" pitchFamily="34" charset="0"/>
                <a:cs typeface="Arial" panose="020B0604020202020204" pitchFamily="34" charset="0"/>
              </a:rPr>
              <a:t>…)</a:t>
            </a:r>
            <a:endParaRPr lang="en-US" sz="24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600074"/>
                <a:ext cx="10831132" cy="6257925"/>
              </a:xfrm>
            </p:spPr>
            <p:txBody>
              <a:bodyPr>
                <a:noAutofit/>
              </a:bodyPr>
              <a:lstStyle/>
              <a:p>
                <a:pPr marL="342900" indent="-342900" algn="l">
                  <a:lnSpc>
                    <a:spcPct val="100000"/>
                  </a:lnSpc>
                  <a:spcBef>
                    <a:spcPts val="600"/>
                  </a:spcBef>
                  <a:spcAft>
                    <a:spcPts val="600"/>
                  </a:spcAft>
                  <a:buFont typeface="Arial" panose="020B0604020202020204" pitchFamily="34" charset="0"/>
                  <a:buChar char="•"/>
                </a:pPr>
                <a14:m>
                  <m:oMath xmlns:m="http://schemas.openxmlformats.org/officeDocument/2006/math">
                    <m:r>
                      <a:rPr lang="en-US" sz="1800" b="1" i="1" smtClean="0">
                        <a:latin typeface="Cambria Math" panose="02040503050406030204" pitchFamily="18" charset="0"/>
                        <a:cs typeface="Arial" panose="020B0604020202020204" pitchFamily="34" charset="0"/>
                      </a:rPr>
                      <m:t>𝜶</m:t>
                    </m:r>
                    <m:r>
                      <a:rPr lang="en-US" sz="1800" b="1" i="1" smtClean="0">
                        <a:latin typeface="Cambria Math" panose="02040503050406030204" pitchFamily="18" charset="0"/>
                        <a:cs typeface="Arial" panose="020B0604020202020204" pitchFamily="34" charset="0"/>
                      </a:rPr>
                      <m:t>=</m:t>
                    </m:r>
                    <m:r>
                      <a:rPr lang="en-US" sz="1800" b="1" i="1" smtClean="0">
                        <a:latin typeface="Cambria Math" panose="02040503050406030204" pitchFamily="18" charset="0"/>
                        <a:cs typeface="Arial" panose="020B0604020202020204" pitchFamily="34" charset="0"/>
                      </a:rPr>
                      <m:t>𝟎</m:t>
                    </m:r>
                    <m:r>
                      <a:rPr lang="en-US" sz="1800" b="1" i="1" smtClean="0">
                        <a:latin typeface="Cambria Math" panose="02040503050406030204" pitchFamily="18" charset="0"/>
                        <a:cs typeface="Arial" panose="020B0604020202020204" pitchFamily="34" charset="0"/>
                      </a:rPr>
                      <m:t>.</m:t>
                    </m:r>
                    <m:r>
                      <a:rPr lang="en-US" sz="1800" b="1" i="1" smtClean="0">
                        <a:latin typeface="Cambria Math" panose="02040503050406030204" pitchFamily="18" charset="0"/>
                        <a:cs typeface="Arial" panose="020B0604020202020204" pitchFamily="34" charset="0"/>
                      </a:rPr>
                      <m:t>𝟎𝟓</m:t>
                    </m:r>
                  </m:oMath>
                </a14:m>
                <a:endParaRPr lang="en-US" sz="1800" b="1" dirty="0" smtClean="0">
                  <a:latin typeface="Arial" panose="020B0604020202020204" pitchFamily="34" charset="0"/>
                  <a:cs typeface="Arial" panose="020B0604020202020204" pitchFamily="34" charset="0"/>
                </a:endParaRPr>
              </a:p>
              <a:p>
                <a:pPr marL="342900" indent="-342900" algn="l">
                  <a:lnSpc>
                    <a:spcPct val="100000"/>
                  </a:lnSpc>
                  <a:spcBef>
                    <a:spcPts val="600"/>
                  </a:spcBef>
                  <a:spcAft>
                    <a:spcPts val="600"/>
                  </a:spcAft>
                  <a:buFont typeface="Arial" panose="020B0604020202020204" pitchFamily="34" charset="0"/>
                  <a:buChar char="•"/>
                </a:pPr>
                <a:r>
                  <a:rPr lang="en-US" sz="1800" b="1" dirty="0" smtClean="0">
                    <a:latin typeface="Arial" panose="020B0604020202020204" pitchFamily="34" charset="0"/>
                    <a:cs typeface="Arial" panose="020B0604020202020204" pitchFamily="34" charset="0"/>
                  </a:rPr>
                  <a:t>Test statistic:</a:t>
                </a:r>
                <a:r>
                  <a:rPr lang="en-US" sz="1800" dirty="0" smtClean="0">
                    <a:latin typeface="Arial" panose="020B0604020202020204" pitchFamily="34" charset="0"/>
                    <a:cs typeface="Arial" panose="020B0604020202020204" pitchFamily="34" charset="0"/>
                  </a:rPr>
                  <a:t> </a:t>
                </a:r>
                <a14:m>
                  <m:oMath xmlns:m="http://schemas.openxmlformats.org/officeDocument/2006/math">
                    <m:r>
                      <a:rPr lang="en-US" sz="1800" i="1">
                        <a:latin typeface="Cambria Math" panose="02040503050406030204" pitchFamily="18" charset="0"/>
                        <a:cs typeface="Arial" panose="020B0604020202020204" pitchFamily="34" charset="0"/>
                      </a:rPr>
                      <m:t>𝑡</m:t>
                    </m:r>
                    <m:r>
                      <a:rPr lang="en-US" sz="1800" i="1">
                        <a:latin typeface="Cambria Math" panose="02040503050406030204" pitchFamily="18" charset="0"/>
                        <a:cs typeface="Arial" panose="020B0604020202020204" pitchFamily="34" charset="0"/>
                      </a:rPr>
                      <m:t>=</m:t>
                    </m:r>
                    <m:r>
                      <a:rPr lang="en-US" sz="1800" i="1" smtClean="0">
                        <a:latin typeface="Cambria Math" panose="02040503050406030204" pitchFamily="18" charset="0"/>
                        <a:cs typeface="Arial" panose="020B0604020202020204" pitchFamily="34" charset="0"/>
                      </a:rPr>
                      <m:t>𝑟</m:t>
                    </m:r>
                    <m:rad>
                      <m:radPr>
                        <m:degHide m:val="on"/>
                        <m:ctrlPr>
                          <a:rPr lang="en-US" sz="1800" i="1">
                            <a:latin typeface="Cambria Math" panose="02040503050406030204" pitchFamily="18" charset="0"/>
                            <a:cs typeface="Arial" panose="020B0604020202020204" pitchFamily="34" charset="0"/>
                          </a:rPr>
                        </m:ctrlPr>
                      </m:radPr>
                      <m:deg/>
                      <m:e>
                        <m:f>
                          <m:fPr>
                            <m:ctrlPr>
                              <a:rPr lang="en-US" sz="1800" i="1">
                                <a:latin typeface="Cambria Math" panose="02040503050406030204" pitchFamily="18" charset="0"/>
                                <a:cs typeface="Arial" panose="020B0604020202020204" pitchFamily="34" charset="0"/>
                              </a:rPr>
                            </m:ctrlPr>
                          </m:fPr>
                          <m:num>
                            <m:r>
                              <a:rPr lang="en-US" sz="1800" i="1">
                                <a:latin typeface="Cambria Math" panose="02040503050406030204" pitchFamily="18" charset="0"/>
                                <a:cs typeface="Arial" panose="020B0604020202020204" pitchFamily="34" charset="0"/>
                              </a:rPr>
                              <m:t>𝑛</m:t>
                            </m:r>
                            <m:r>
                              <a:rPr lang="en-US" sz="1800" i="1">
                                <a:latin typeface="Cambria Math" panose="02040503050406030204" pitchFamily="18" charset="0"/>
                                <a:cs typeface="Arial" panose="020B0604020202020204" pitchFamily="34" charset="0"/>
                              </a:rPr>
                              <m:t>−2</m:t>
                            </m:r>
                          </m:num>
                          <m:den>
                            <m:r>
                              <a:rPr lang="en-US" sz="1800" i="1">
                                <a:latin typeface="Cambria Math" panose="02040503050406030204" pitchFamily="18" charset="0"/>
                                <a:cs typeface="Arial" panose="020B0604020202020204" pitchFamily="34" charset="0"/>
                              </a:rPr>
                              <m:t>1−</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𝑟</m:t>
                                </m:r>
                              </m:e>
                              <m:sup>
                                <m:r>
                                  <a:rPr lang="en-US" sz="1800" i="1">
                                    <a:latin typeface="Cambria Math" panose="02040503050406030204" pitchFamily="18" charset="0"/>
                                    <a:cs typeface="Arial" panose="020B0604020202020204" pitchFamily="34" charset="0"/>
                                  </a:rPr>
                                  <m:t>2</m:t>
                                </m:r>
                              </m:sup>
                            </m:sSup>
                          </m:den>
                        </m:f>
                      </m:e>
                    </m:rad>
                  </m:oMath>
                </a14:m>
                <a:r>
                  <a:rPr lang="en-US" sz="1800" dirty="0">
                    <a:latin typeface="Arial" panose="020B0604020202020204" pitchFamily="34" charset="0"/>
                    <a:cs typeface="Arial" panose="020B0604020202020204" pitchFamily="34" charset="0"/>
                  </a:rPr>
                  <a:t>, which follows </a:t>
                </a:r>
                <a14:m>
                  <m:oMath xmlns:m="http://schemas.openxmlformats.org/officeDocument/2006/math">
                    <m:r>
                      <a:rPr lang="en-US" sz="1800" i="1" dirty="0">
                        <a:latin typeface="Cambria Math" panose="02040503050406030204" pitchFamily="18" charset="0"/>
                        <a:cs typeface="Arial" panose="020B0604020202020204" pitchFamily="34" charset="0"/>
                      </a:rPr>
                      <m:t>𝑡</m:t>
                    </m:r>
                  </m:oMath>
                </a14:m>
                <a:r>
                  <a:rPr lang="en-US" sz="1800" dirty="0">
                    <a:latin typeface="Arial" panose="020B0604020202020204" pitchFamily="34" charset="0"/>
                    <a:cs typeface="Arial" panose="020B0604020202020204" pitchFamily="34" charset="0"/>
                  </a:rPr>
                  <a:t>-distribution with </a:t>
                </a:r>
                <a14:m>
                  <m:oMath xmlns:m="http://schemas.openxmlformats.org/officeDocument/2006/math">
                    <m:r>
                      <a:rPr lang="en-US" sz="1800" b="0" i="1" dirty="0" smtClean="0">
                        <a:latin typeface="Cambria Math" panose="02040503050406030204" pitchFamily="18" charset="0"/>
                        <a:cs typeface="Arial" panose="020B0604020202020204" pitchFamily="34" charset="0"/>
                      </a:rPr>
                      <m:t>6</m:t>
                    </m:r>
                    <m:r>
                      <a:rPr lang="en-US" sz="1800" i="1" dirty="0">
                        <a:latin typeface="Cambria Math" panose="02040503050406030204" pitchFamily="18" charset="0"/>
                        <a:cs typeface="Arial" panose="020B0604020202020204" pitchFamily="34" charset="0"/>
                      </a:rPr>
                      <m:t> </m:t>
                    </m:r>
                  </m:oMath>
                </a14:m>
                <a:r>
                  <a:rPr lang="en-US" sz="1800" dirty="0" err="1">
                    <a:latin typeface="Arial" panose="020B0604020202020204" pitchFamily="34" charset="0"/>
                    <a:cs typeface="Arial" panose="020B0604020202020204" pitchFamily="34" charset="0"/>
                  </a:rPr>
                  <a:t>df</a:t>
                </a:r>
                <a:r>
                  <a:rPr lang="en-US" sz="1800" dirty="0" smtClean="0">
                    <a:latin typeface="Arial" panose="020B0604020202020204" pitchFamily="34" charset="0"/>
                    <a:cs typeface="Arial" panose="020B0604020202020204" pitchFamily="34" charset="0"/>
                  </a:rPr>
                  <a:t>.</a:t>
                </a:r>
              </a:p>
              <a:p>
                <a:pPr marL="342900" indent="-342900" algn="l">
                  <a:lnSpc>
                    <a:spcPct val="100000"/>
                  </a:lnSpc>
                  <a:spcBef>
                    <a:spcPts val="600"/>
                  </a:spcBef>
                  <a:spcAft>
                    <a:spcPts val="600"/>
                  </a:spcAft>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lgn="l">
                  <a:lnSpc>
                    <a:spcPct val="100000"/>
                  </a:lnSpc>
                  <a:spcBef>
                    <a:spcPts val="600"/>
                  </a:spcBef>
                  <a:spcAft>
                    <a:spcPts val="600"/>
                  </a:spcAft>
                  <a:buFont typeface="Arial" panose="020B0604020202020204" pitchFamily="34" charset="0"/>
                  <a:buChar char="•"/>
                </a:pPr>
                <a:r>
                  <a:rPr lang="en-US" sz="1800" b="1" dirty="0">
                    <a:latin typeface="Arial" panose="020B0604020202020204" pitchFamily="34" charset="0"/>
                    <a:cs typeface="Arial" panose="020B0604020202020204" pitchFamily="34" charset="0"/>
                  </a:rPr>
                  <a:t>Critical value</a:t>
                </a:r>
                <a:r>
                  <a:rPr lang="en-US" sz="1800" dirty="0" smtClean="0">
                    <a:latin typeface="Arial" panose="020B0604020202020204" pitchFamily="34" charset="0"/>
                    <a:cs typeface="Arial" panose="020B0604020202020204" pitchFamily="34" charset="0"/>
                  </a:rPr>
                  <a:t>: 1.94.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𝐻</m:t>
                        </m:r>
                      </m:e>
                      <m:sub>
                        <m:r>
                          <a:rPr lang="en-US" sz="1800" i="1">
                            <a:latin typeface="Cambria Math" panose="02040503050406030204" pitchFamily="18" charset="0"/>
                          </a:rPr>
                          <m:t>0</m:t>
                        </m:r>
                      </m:sub>
                    </m:sSub>
                  </m:oMath>
                </a14:m>
                <a:r>
                  <a:rPr lang="en-US" sz="1800" dirty="0">
                    <a:latin typeface="Arial" panose="020B0604020202020204" pitchFamily="34" charset="0"/>
                    <a:cs typeface="Arial" panose="020B0604020202020204" pitchFamily="34" charset="0"/>
                  </a:rPr>
                  <a:t> may be rejected if </a:t>
                </a:r>
                <a14:m>
                  <m:oMath xmlns:m="http://schemas.openxmlformats.org/officeDocument/2006/math">
                    <m:r>
                      <a:rPr lang="en-US" sz="1800" b="0" i="1" smtClean="0">
                        <a:latin typeface="Cambria Math" panose="02040503050406030204" pitchFamily="18" charset="0"/>
                      </a:rPr>
                      <m:t>𝑡</m:t>
                    </m:r>
                    <m:r>
                      <a:rPr lang="en-US" sz="1800" i="1">
                        <a:latin typeface="Cambria Math" panose="02040503050406030204" pitchFamily="18" charset="0"/>
                      </a:rPr>
                      <m:t>&gt;1.</m:t>
                    </m:r>
                    <m:r>
                      <a:rPr lang="en-US" sz="1800" b="0" i="1" smtClean="0">
                        <a:latin typeface="Cambria Math" panose="02040503050406030204" pitchFamily="18" charset="0"/>
                      </a:rPr>
                      <m:t>94</m:t>
                    </m:r>
                  </m:oMath>
                </a14:m>
                <a:endParaRPr lang="en-US" sz="1800" dirty="0">
                  <a:latin typeface="Arial" panose="020B0604020202020204" pitchFamily="34" charset="0"/>
                  <a:cs typeface="Arial" panose="020B0604020202020204" pitchFamily="34" charset="0"/>
                </a:endParaRPr>
              </a:p>
              <a:p>
                <a:pPr marL="342900" indent="-342900" algn="l">
                  <a:lnSpc>
                    <a:spcPct val="100000"/>
                  </a:lnSpc>
                  <a:spcBef>
                    <a:spcPts val="600"/>
                  </a:spcBef>
                  <a:spcAft>
                    <a:spcPts val="600"/>
                  </a:spcAft>
                  <a:buFont typeface="Arial" panose="020B0604020202020204" pitchFamily="34" charset="0"/>
                  <a:buChar char="•"/>
                </a:pPr>
                <a:r>
                  <a:rPr lang="en-US" sz="1800" dirty="0">
                    <a:latin typeface="Arial" panose="020B0604020202020204" pitchFamily="34" charset="0"/>
                    <a:cs typeface="Arial" panose="020B0604020202020204" pitchFamily="34" charset="0"/>
                  </a:rPr>
                  <a:t>The observed sample yields,</a:t>
                </a:r>
                <a14:m>
                  <m:oMath xmlns:m="http://schemas.openxmlformats.org/officeDocument/2006/math">
                    <m:r>
                      <a:rPr lang="en-US" sz="1800" i="1">
                        <a:latin typeface="Cambria Math" panose="02040503050406030204" pitchFamily="18" charset="0"/>
                        <a:cs typeface="Arial" panose="020B0604020202020204" pitchFamily="34" charset="0"/>
                      </a:rPr>
                      <m:t>𝑡</m:t>
                    </m:r>
                    <m:r>
                      <a:rPr lang="en-US" sz="1800" i="1">
                        <a:latin typeface="Cambria Math" panose="02040503050406030204" pitchFamily="18" charset="0"/>
                        <a:cs typeface="Arial" panose="020B0604020202020204" pitchFamily="34" charset="0"/>
                      </a:rPr>
                      <m:t>=</m:t>
                    </m:r>
                    <m:r>
                      <a:rPr lang="en-US" sz="1800" i="1">
                        <a:latin typeface="Cambria Math" panose="02040503050406030204" pitchFamily="18" charset="0"/>
                        <a:cs typeface="Arial" panose="020B0604020202020204" pitchFamily="34" charset="0"/>
                      </a:rPr>
                      <m:t>𝑟</m:t>
                    </m:r>
                    <m:rad>
                      <m:radPr>
                        <m:degHide m:val="on"/>
                        <m:ctrlPr>
                          <a:rPr lang="en-US" sz="1800" i="1">
                            <a:latin typeface="Cambria Math" panose="02040503050406030204" pitchFamily="18" charset="0"/>
                            <a:cs typeface="Arial" panose="020B0604020202020204" pitchFamily="34" charset="0"/>
                          </a:rPr>
                        </m:ctrlPr>
                      </m:radPr>
                      <m:deg/>
                      <m:e>
                        <m:f>
                          <m:fPr>
                            <m:ctrlPr>
                              <a:rPr lang="en-US" sz="1800" i="1">
                                <a:latin typeface="Cambria Math" panose="02040503050406030204" pitchFamily="18" charset="0"/>
                                <a:cs typeface="Arial" panose="020B0604020202020204" pitchFamily="34" charset="0"/>
                              </a:rPr>
                            </m:ctrlPr>
                          </m:fPr>
                          <m:num>
                            <m:r>
                              <a:rPr lang="en-US" sz="1800" i="1">
                                <a:latin typeface="Cambria Math" panose="02040503050406030204" pitchFamily="18" charset="0"/>
                                <a:cs typeface="Arial" panose="020B0604020202020204" pitchFamily="34" charset="0"/>
                              </a:rPr>
                              <m:t>𝑛</m:t>
                            </m:r>
                            <m:r>
                              <a:rPr lang="en-US" sz="1800" i="1">
                                <a:latin typeface="Cambria Math" panose="02040503050406030204" pitchFamily="18" charset="0"/>
                                <a:cs typeface="Arial" panose="020B0604020202020204" pitchFamily="34" charset="0"/>
                              </a:rPr>
                              <m:t>−2</m:t>
                            </m:r>
                          </m:num>
                          <m:den>
                            <m:r>
                              <a:rPr lang="en-US" sz="1800" i="1">
                                <a:latin typeface="Cambria Math" panose="02040503050406030204" pitchFamily="18" charset="0"/>
                                <a:cs typeface="Arial" panose="020B0604020202020204" pitchFamily="34" charset="0"/>
                              </a:rPr>
                              <m:t>1−</m:t>
                            </m:r>
                            <m:sSup>
                              <m:sSupPr>
                                <m:ctrlPr>
                                  <a:rPr lang="en-US" sz="1800" i="1">
                                    <a:latin typeface="Cambria Math" panose="02040503050406030204" pitchFamily="18" charset="0"/>
                                    <a:cs typeface="Arial" panose="020B0604020202020204" pitchFamily="34" charset="0"/>
                                  </a:rPr>
                                </m:ctrlPr>
                              </m:sSupPr>
                              <m:e>
                                <m:r>
                                  <a:rPr lang="en-US" sz="1800" i="1">
                                    <a:latin typeface="Cambria Math" panose="02040503050406030204" pitchFamily="18" charset="0"/>
                                    <a:cs typeface="Arial" panose="020B0604020202020204" pitchFamily="34" charset="0"/>
                                  </a:rPr>
                                  <m:t>𝑟</m:t>
                                </m:r>
                              </m:e>
                              <m:sup>
                                <m:r>
                                  <a:rPr lang="en-US" sz="1800" i="1">
                                    <a:latin typeface="Cambria Math" panose="02040503050406030204" pitchFamily="18" charset="0"/>
                                    <a:cs typeface="Arial" panose="020B0604020202020204" pitchFamily="34" charset="0"/>
                                  </a:rPr>
                                  <m:t>2</m:t>
                                </m:r>
                              </m:sup>
                            </m:sSup>
                          </m:den>
                        </m:f>
                      </m:e>
                    </m:rad>
                    <m:r>
                      <a:rPr lang="en-US" sz="1800" b="0" i="1" smtClean="0">
                        <a:latin typeface="Cambria Math" panose="02040503050406030204" pitchFamily="18" charset="0"/>
                        <a:cs typeface="Arial" panose="020B0604020202020204" pitchFamily="34" charset="0"/>
                      </a:rPr>
                      <m:t>=22.60</m:t>
                    </m:r>
                  </m:oMath>
                </a14:m>
                <a:endParaRPr lang="en-US" sz="1800" dirty="0" smtClean="0">
                  <a:latin typeface="Arial" panose="020B0604020202020204" pitchFamily="34" charset="0"/>
                  <a:cs typeface="Arial" panose="020B0604020202020204" pitchFamily="34" charset="0"/>
                </a:endParaRPr>
              </a:p>
              <a:p>
                <a:pPr marL="342900" indent="-342900" algn="l">
                  <a:lnSpc>
                    <a:spcPct val="100000"/>
                  </a:lnSpc>
                  <a:spcBef>
                    <a:spcPts val="600"/>
                  </a:spcBef>
                  <a:spcAft>
                    <a:spcPts val="600"/>
                  </a:spcAft>
                  <a:buFont typeface="Arial" panose="020B0604020202020204" pitchFamily="34" charset="0"/>
                  <a:buChar char="•"/>
                </a:pPr>
                <a:r>
                  <a:rPr lang="en-US" sz="1800" dirty="0">
                    <a:latin typeface="Arial" panose="020B0604020202020204" pitchFamily="34" charset="0"/>
                    <a:cs typeface="Arial" panose="020B0604020202020204" pitchFamily="34" charset="0"/>
                  </a:rPr>
                  <a:t>As the observed value falls in the rejection region, there is sufficient evidence to </a:t>
                </a:r>
                <a:r>
                  <a:rPr lang="en-US" sz="1800" dirty="0" smtClean="0">
                    <a:latin typeface="Arial" panose="020B0604020202020204" pitchFamily="34" charset="0"/>
                    <a:cs typeface="Arial" panose="020B0604020202020204" pitchFamily="34" charset="0"/>
                  </a:rPr>
                  <a:t>reject the null hypothesis. </a:t>
                </a:r>
                <a:r>
                  <a:rPr lang="en-US" sz="1800" dirty="0">
                    <a:latin typeface="Arial" panose="020B0604020202020204" pitchFamily="34" charset="0"/>
                    <a:cs typeface="Arial" panose="020B0604020202020204" pitchFamily="34" charset="0"/>
                  </a:rPr>
                  <a:t>Therefore we can conclude that </a:t>
                </a:r>
                <a:r>
                  <a:rPr lang="en-US" sz="1800" dirty="0" smtClean="0">
                    <a:latin typeface="Arial" panose="020B0604020202020204" pitchFamily="34" charset="0"/>
                    <a:cs typeface="Arial" panose="020B0604020202020204" pitchFamily="34" charset="0"/>
                  </a:rPr>
                  <a:t>there </a:t>
                </a:r>
                <a:r>
                  <a:rPr lang="en-US" sz="1800" dirty="0">
                    <a:latin typeface="Arial" panose="020B0604020202020204" pitchFamily="34" charset="0"/>
                    <a:cs typeface="Arial" panose="020B0604020202020204" pitchFamily="34" charset="0"/>
                  </a:rPr>
                  <a:t>is a positive </a:t>
                </a:r>
                <a:r>
                  <a:rPr lang="en-US" sz="1800" dirty="0" smtClean="0">
                    <a:latin typeface="Arial" panose="020B0604020202020204" pitchFamily="34" charset="0"/>
                    <a:cs typeface="Arial" panose="020B0604020202020204" pitchFamily="34" charset="0"/>
                  </a:rPr>
                  <a:t>correlation </a:t>
                </a:r>
                <a:r>
                  <a:rPr lang="en-US" sz="1800" dirty="0">
                    <a:latin typeface="Arial" panose="020B0604020202020204" pitchFamily="34" charset="0"/>
                    <a:cs typeface="Arial" panose="020B0604020202020204" pitchFamily="34" charset="0"/>
                  </a:rPr>
                  <a:t>between satisfaction and productivity (units/month)</a:t>
                </a:r>
                <a:r>
                  <a:rPr lang="en-US" sz="1800" dirty="0" smtClean="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at 5% level of </a:t>
                </a:r>
                <a:r>
                  <a:rPr lang="en-US" sz="1800" dirty="0" smtClean="0">
                    <a:latin typeface="Arial" panose="020B0604020202020204" pitchFamily="34" charset="0"/>
                    <a:cs typeface="Arial" panose="020B0604020202020204" pitchFamily="34" charset="0"/>
                  </a:rPr>
                  <a:t>significance. </a:t>
                </a:r>
                <a:endParaRPr lang="en-US" sz="1800" b="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600074"/>
                <a:ext cx="10831132" cy="6257925"/>
              </a:xfrm>
              <a:blipFill rotWithShape="0">
                <a:blip r:embed="rId2"/>
                <a:stretch>
                  <a:fillRect l="-394" t="-97"/>
                </a:stretch>
              </a:blipFill>
            </p:spPr>
            <p:txBody>
              <a:bodyPr/>
              <a:lstStyle/>
              <a:p>
                <a:r>
                  <a:rPr lang="en-US">
                    <a:noFill/>
                  </a:rPr>
                  <a:t> </a:t>
                </a:r>
              </a:p>
            </p:txBody>
          </p:sp>
        </mc:Fallback>
      </mc:AlternateContent>
    </p:spTree>
    <p:extLst>
      <p:ext uri="{BB962C8B-B14F-4D97-AF65-F5344CB8AC3E}">
        <p14:creationId xmlns:p14="http://schemas.microsoft.com/office/powerpoint/2010/main" val="37376150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671730"/>
            <a:ext cx="10515600" cy="6271998"/>
          </a:xfrm>
        </p:spPr>
        <p:txBody>
          <a:bodyPr>
            <a:noAutofit/>
          </a:bodyPr>
          <a:lstStyle/>
          <a:p>
            <a:pPr marL="0" indent="0">
              <a:lnSpc>
                <a:spcPct val="100000"/>
              </a:lnSpc>
              <a:buNone/>
            </a:pPr>
            <a:endParaRPr lang="en-US" sz="2000" b="1" dirty="0">
              <a:latin typeface="Arial" panose="020B0604020202020204" pitchFamily="34" charset="0"/>
              <a:cs typeface="Arial" panose="020B0604020202020204" pitchFamily="34" charset="0"/>
            </a:endParaRPr>
          </a:p>
          <a:p>
            <a:pPr marL="0" indent="0">
              <a:lnSpc>
                <a:spcPct val="100000"/>
              </a:lnSpc>
              <a:buNone/>
            </a:pPr>
            <a:r>
              <a:rPr lang="en-US" sz="2000" b="1" dirty="0" smtClean="0">
                <a:latin typeface="Arial" panose="020B0604020202020204" pitchFamily="34" charset="0"/>
                <a:cs typeface="Arial" panose="020B0604020202020204" pitchFamily="34" charset="0"/>
              </a:rPr>
              <a:t>Problem-1: </a:t>
            </a:r>
            <a:r>
              <a:rPr lang="en-US" sz="2000" dirty="0" smtClean="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strength of steel wire made by an existing process is normally distributed with a mean of 1250 and a standard deviation of 150. A batch of wire is made by a new process, and a random sample consisting of 25 measurements gives an average strength of 1312. Assume that the standard deviation does not change. Is there evidence at the 5% level of significance that the new process gives a larger mean strength than the old</a:t>
            </a:r>
            <a:r>
              <a:rPr lang="en-US" sz="2000" dirty="0" smtClean="0">
                <a:latin typeface="Arial" panose="020B0604020202020204" pitchFamily="34" charset="0"/>
                <a:cs typeface="Arial" panose="020B0604020202020204" pitchFamily="34" charset="0"/>
              </a:rPr>
              <a:t>? What is the 95% confidence interval for the population mean strength? </a:t>
            </a:r>
          </a:p>
          <a:p>
            <a:pPr marL="0" indent="0">
              <a:lnSpc>
                <a:spcPct val="100000"/>
              </a:lnSpc>
              <a:buNone/>
            </a:pPr>
            <a:r>
              <a:rPr lang="en-US" sz="2000" b="1" dirty="0" smtClean="0">
                <a:latin typeface="Arial" panose="020B0604020202020204" pitchFamily="34" charset="0"/>
                <a:cs typeface="Arial" panose="020B0604020202020204" pitchFamily="34" charset="0"/>
              </a:rPr>
              <a:t>Problem-2: </a:t>
            </a:r>
            <a:r>
              <a:rPr lang="en-US" sz="2000" dirty="0" smtClean="0">
                <a:latin typeface="Arial" panose="020B0604020202020204" pitchFamily="34" charset="0"/>
                <a:cs typeface="Arial" panose="020B0604020202020204" pitchFamily="34" charset="0"/>
              </a:rPr>
              <a:t>An </a:t>
            </a:r>
            <a:r>
              <a:rPr lang="en-US" sz="2000" dirty="0">
                <a:latin typeface="Arial" panose="020B0604020202020204" pitchFamily="34" charset="0"/>
                <a:cs typeface="Arial" panose="020B0604020202020204" pitchFamily="34" charset="0"/>
              </a:rPr>
              <a:t>articulation test has conducted among a random sample of 184 children. The sample mean and standard deviation were 48.8 and 12.4 respectively. At the 5% significance level, do the data provide sufficient evidence to conclude that the population mean is different </a:t>
            </a:r>
            <a:r>
              <a:rPr lang="en-US" sz="2000" dirty="0" smtClean="0">
                <a:latin typeface="Arial" panose="020B0604020202020204" pitchFamily="34" charset="0"/>
                <a:cs typeface="Arial" panose="020B0604020202020204" pitchFamily="34" charset="0"/>
              </a:rPr>
              <a:t>from 50? Find the 95% confidence interval for the population mean? </a:t>
            </a:r>
            <a:endParaRPr lang="en-US" sz="2000" dirty="0">
              <a:latin typeface="Arial" panose="020B0604020202020204" pitchFamily="34" charset="0"/>
              <a:cs typeface="Arial" panose="020B0604020202020204" pitchFamily="34" charset="0"/>
            </a:endParaRPr>
          </a:p>
          <a:p>
            <a:pPr marL="0" lvl="0" indent="0">
              <a:lnSpc>
                <a:spcPct val="100000"/>
              </a:lnSpc>
              <a:buNone/>
            </a:pPr>
            <a:r>
              <a:rPr lang="en-US" sz="2000" b="1" dirty="0" smtClean="0">
                <a:latin typeface="Arial" panose="020B0604020202020204" pitchFamily="34" charset="0"/>
                <a:cs typeface="Arial" panose="020B0604020202020204" pitchFamily="34" charset="0"/>
              </a:rPr>
              <a:t>Problem-3: </a:t>
            </a:r>
            <a:r>
              <a:rPr lang="en-US" sz="2000" dirty="0" smtClean="0">
                <a:latin typeface="Arial" panose="020B0604020202020204" pitchFamily="34" charset="0"/>
                <a:cs typeface="Arial" panose="020B0604020202020204" pitchFamily="34" charset="0"/>
              </a:rPr>
              <a:t>An </a:t>
            </a:r>
            <a:r>
              <a:rPr lang="en-US" sz="2000" dirty="0">
                <a:latin typeface="Arial" panose="020B0604020202020204" pitchFamily="34" charset="0"/>
                <a:cs typeface="Arial" panose="020B0604020202020204" pitchFamily="34" charset="0"/>
              </a:rPr>
              <a:t>exciting computer game is released. Some of the players who complete all the levels will buy an advanced version of the game. </a:t>
            </a:r>
            <a:r>
              <a:rPr lang="en-US" sz="2000" dirty="0" smtClean="0">
                <a:latin typeface="Arial" panose="020B0604020202020204" pitchFamily="34" charset="0"/>
                <a:cs typeface="Arial" panose="020B0604020202020204" pitchFamily="34" charset="0"/>
              </a:rPr>
              <a:t>In a random sample of 500 players, it is observed that 120 of them buy the </a:t>
            </a:r>
            <a:r>
              <a:rPr lang="en-US" sz="2000" dirty="0">
                <a:latin typeface="Arial" panose="020B0604020202020204" pitchFamily="34" charset="0"/>
                <a:cs typeface="Arial" panose="020B0604020202020204" pitchFamily="34" charset="0"/>
              </a:rPr>
              <a:t>advanced version</a:t>
            </a:r>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At the 5% significance level, do the data provide sufficient evidence to conclude that the population </a:t>
            </a:r>
            <a:r>
              <a:rPr lang="en-US" sz="2000" dirty="0" smtClean="0">
                <a:latin typeface="Arial" panose="020B0604020202020204" pitchFamily="34" charset="0"/>
                <a:cs typeface="Arial" panose="020B0604020202020204" pitchFamily="34" charset="0"/>
              </a:rPr>
              <a:t>proportion is greater than 20%? </a:t>
            </a:r>
            <a:r>
              <a:rPr lang="en-US" sz="2000" dirty="0">
                <a:latin typeface="Arial" panose="020B0604020202020204" pitchFamily="34" charset="0"/>
                <a:cs typeface="Arial" panose="020B0604020202020204" pitchFamily="34" charset="0"/>
              </a:rPr>
              <a:t>Find the 95% confidence interval for the </a:t>
            </a:r>
            <a:r>
              <a:rPr lang="en-US" sz="2000" dirty="0" smtClean="0">
                <a:latin typeface="Arial" panose="020B0604020202020204" pitchFamily="34" charset="0"/>
                <a:cs typeface="Arial" panose="020B0604020202020204" pitchFamily="34" charset="0"/>
              </a:rPr>
              <a:t>population proportion? </a:t>
            </a:r>
          </a:p>
          <a:p>
            <a:pPr marL="0" lvl="0" indent="0">
              <a:lnSpc>
                <a:spcPct val="100000"/>
              </a:lnSpc>
              <a:buNone/>
            </a:pPr>
            <a:endParaRPr lang="en-US" sz="2000" dirty="0">
              <a:latin typeface="Arial" panose="020B0604020202020204" pitchFamily="34" charset="0"/>
              <a:cs typeface="Arial" panose="020B0604020202020204" pitchFamily="34" charset="0"/>
            </a:endParaRPr>
          </a:p>
        </p:txBody>
      </p:sp>
      <p:sp>
        <p:nvSpPr>
          <p:cNvPr id="4" name="Title 1">
            <a:extLst>
              <a:ext uri="{FF2B5EF4-FFF2-40B4-BE49-F238E27FC236}">
                <a16:creationId xmlns="" xmlns:a16="http://schemas.microsoft.com/office/drawing/2014/main" id="{F952B175-8DF2-4067-B698-B587049C8A50}"/>
              </a:ext>
            </a:extLst>
          </p:cNvPr>
          <p:cNvSpPr>
            <a:spLocks noGrp="1"/>
          </p:cNvSpPr>
          <p:nvPr>
            <p:ph type="title"/>
          </p:nvPr>
        </p:nvSpPr>
        <p:spPr>
          <a:xfrm>
            <a:off x="582627" y="152725"/>
            <a:ext cx="11113061" cy="580927"/>
          </a:xfrm>
        </p:spPr>
        <p:txBody>
          <a:bodyPr>
            <a:noAutofit/>
          </a:bodyPr>
          <a:lstStyle/>
          <a:p>
            <a:pPr algn="ctr"/>
            <a:r>
              <a:rPr lang="en-US" sz="2800" b="1" dirty="0">
                <a:latin typeface="Arial" pitchFamily="34" charset="0"/>
                <a:cs typeface="Arial" pitchFamily="34" charset="0"/>
              </a:rPr>
              <a:t>Exercise</a:t>
            </a:r>
            <a:endParaRPr lang="en-GB"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20306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2295</TotalTime>
  <Words>1807</Words>
  <Application>Microsoft Office PowerPoint</Application>
  <PresentationFormat>Widescreen</PresentationFormat>
  <Paragraphs>245</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Cambria Math</vt:lpstr>
      <vt:lpstr>Wingdings</vt:lpstr>
      <vt:lpstr>Office Theme</vt:lpstr>
      <vt:lpstr>COURSE TITLE: : Statistics and Probability COURSE CODE: STA 102 Topics: Inference: Estimation and Test of Hypothesis</vt:lpstr>
      <vt:lpstr>Sampling Distribution and Estimation</vt:lpstr>
      <vt:lpstr>Properties of normal population</vt:lpstr>
      <vt:lpstr>The Central Limit Theorem (CLT)</vt:lpstr>
      <vt:lpstr> Visualizing CLT </vt:lpstr>
      <vt:lpstr>Visualizing CLT (cont…)</vt:lpstr>
      <vt:lpstr>Probability of Observing Sample Values for a Hypothetical Population</vt:lpstr>
      <vt:lpstr>Confidence Interval </vt:lpstr>
      <vt:lpstr>Confidence Interval  (cont…)</vt:lpstr>
      <vt:lpstr>Sampling Distribution and Estimation (cont…)</vt:lpstr>
      <vt:lpstr>Sampling Distribution and Estimation (cont…)</vt:lpstr>
      <vt:lpstr>PowerPoint Presentation</vt:lpstr>
      <vt:lpstr>PowerPoint Presentation</vt:lpstr>
      <vt:lpstr>PowerPoint Presentation</vt:lpstr>
      <vt:lpstr>PowerPoint Presentation</vt:lpstr>
      <vt:lpstr>PowerPoint Presentation</vt:lpstr>
      <vt:lpstr>PowerPoint Presentation</vt:lpstr>
      <vt:lpstr>Types of Error in a Hypothesis Test</vt:lpstr>
      <vt:lpstr>PowerPoint Presentation</vt:lpstr>
      <vt:lpstr>Acceptance Region (AR) versus Rejection Region (RR)</vt:lpstr>
      <vt:lpstr>Acceptance Region versus Rejection Region (cont…)</vt:lpstr>
      <vt:lpstr>PowerPoint Presentation</vt:lpstr>
      <vt:lpstr>Steps to conduct a hypothesis test</vt:lpstr>
      <vt:lpstr>PowerPoint Presentation</vt:lpstr>
      <vt:lpstr>One-Sample Mean Test</vt:lpstr>
      <vt:lpstr>Problems on One-Sample Mean Test</vt:lpstr>
      <vt:lpstr>Problems on One-Sample Mean Test (Cont…)</vt:lpstr>
      <vt:lpstr>Problems on One-Sample Mean Test (Cont…)</vt:lpstr>
      <vt:lpstr>Problems on Proportion Test</vt:lpstr>
      <vt:lpstr>Hypothesis for Testing Correlation Coefficient</vt:lpstr>
      <vt:lpstr>Hypothesis Testing (cont…)</vt:lpstr>
      <vt:lpstr>Coefficient of Correlation (cont…)</vt:lpstr>
      <vt:lpstr>Exercise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Session-04</dc:title>
  <dc:creator>mitu</dc:creator>
  <cp:lastModifiedBy>Statistics</cp:lastModifiedBy>
  <cp:revision>297</cp:revision>
  <dcterms:created xsi:type="dcterms:W3CDTF">2018-02-23T02:59:54Z</dcterms:created>
  <dcterms:modified xsi:type="dcterms:W3CDTF">2026-04-19T04:21:55Z</dcterms:modified>
</cp:coreProperties>
</file>