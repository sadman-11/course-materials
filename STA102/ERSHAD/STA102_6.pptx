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18"/>
  </p:notesMasterIdLst>
  <p:sldIdLst>
    <p:sldId id="363" r:id="rId2"/>
    <p:sldId id="346" r:id="rId3"/>
    <p:sldId id="347" r:id="rId4"/>
    <p:sldId id="348" r:id="rId5"/>
    <p:sldId id="349" r:id="rId6"/>
    <p:sldId id="358" r:id="rId7"/>
    <p:sldId id="359" r:id="rId8"/>
    <p:sldId id="360" r:id="rId9"/>
    <p:sldId id="361" r:id="rId10"/>
    <p:sldId id="354" r:id="rId11"/>
    <p:sldId id="355" r:id="rId12"/>
    <p:sldId id="337" r:id="rId13"/>
    <p:sldId id="364" r:id="rId14"/>
    <p:sldId id="362" r:id="rId15"/>
    <p:sldId id="356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0844" autoAdjust="0"/>
  </p:normalViewPr>
  <p:slideViewPr>
    <p:cSldViewPr snapToGrid="0">
      <p:cViewPr varScale="1">
        <p:scale>
          <a:sx n="64" d="100"/>
          <a:sy n="64" d="100"/>
        </p:scale>
        <p:origin x="900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9427F-481B-49F5-88E3-24E336BA8060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D27E7-2E16-4E04-8881-C7E426B7D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62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6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48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539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31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939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9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87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9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8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99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9BE1E-5F2D-465B-B7AA-A3F35EC386BE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8553F-0502-40B5-88F7-0911625DF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2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4047" y="399246"/>
            <a:ext cx="10183906" cy="203467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COURSE TITLE: </a:t>
            </a:r>
            <a:r>
              <a:rPr lang="en-US" sz="3200" b="1" dirty="0" smtClean="0"/>
              <a:t>: Statistics </a:t>
            </a:r>
            <a:r>
              <a:rPr lang="en-US" sz="2800" b="1" dirty="0" smtClean="0"/>
              <a:t>and </a:t>
            </a:r>
            <a:r>
              <a:rPr lang="en-US" sz="2800" b="1" dirty="0"/>
              <a:t>Probability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COURSE CODE: 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STA 102</a:t>
            </a:r>
            <a:b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Topics:</a:t>
            </a:r>
            <a:r>
              <a:rPr lang="en-US" sz="3200" dirty="0">
                <a:solidFill>
                  <a:srgbClr val="000000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smtClean="0"/>
              <a:t>Random variable and Its Probability Distribution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61126"/>
            <a:ext cx="9144000" cy="1655762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Instructor: Md.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Ershadul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Haque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PhD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Professor, Department of Statistics, DU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</a:p>
          <a:p>
            <a:pPr>
              <a:lnSpc>
                <a:spcPct val="120000"/>
              </a:lnSpc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Adjunct Faculty, EWU, Bangladesh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209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63639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Random Variables and Its Probability Distributions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1297397"/>
                <a:ext cx="10831132" cy="5372344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 Variable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(Definition):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Given an experiment with sample space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a random variable (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.) is a function from the sample space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the real numbers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The random variables are usually denoted by capital letters.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Consider an experiment where we toss a fair coin twice. The sample space consists of four possible outcomes: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𝐻𝐻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𝐻𝑇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𝑇𝐻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𝑇𝑇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the number of Heads. This is a random variable with possible values 0, 1, and 2. Viewed as a function,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assigns the value 2 to the outcome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1 to the outcomes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𝐻𝑇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0 to the outcome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𝑇𝑇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That is,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𝐻𝐻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2,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𝐻𝑇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𝑇𝐻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1,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𝑇𝑇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0.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1297397"/>
                <a:ext cx="10831132" cy="5372344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76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63639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Distributions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1297397"/>
                <a:ext cx="10831132" cy="5372344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distribution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 Most commonly in applications, the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support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a discrete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is a set of integers. In contrast, a continuous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can take on any real value in an interval (possibly even the entire real line). Given a random variable, we would like to be able to describe its behavior using the language of probability by means of a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distribution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 discrete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., the most natural way to describe the behavior of that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is a function, called the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mass function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which we now define.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mass function: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probability mass function (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of a discrete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Note that this is positive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in the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support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0 otherwise.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1297397"/>
                <a:ext cx="10831132" cy="5372344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0996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63639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Distributions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1297397"/>
                <a:ext cx="10831132" cy="5372344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 In the example of tossing a fair coin twice, we can find the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the random variable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along with its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number of Heads. 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equals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𝑇𝑇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occurs,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𝐻𝑇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occurs, and 2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𝐻𝐻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occurs, the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Ppmf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given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= 0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li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= 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li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= 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type m:val="li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 = 0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all other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1297397"/>
                <a:ext cx="10831132" cy="5372344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865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814"/>
            <a:ext cx="9144000" cy="455304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Distributions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0434" y="702779"/>
                <a:ext cx="10831132" cy="6061092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Valid </a:t>
                </a:r>
                <a:r>
                  <a:rPr lang="en-US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pmfs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discrete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with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support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The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must satisfy the following two criteria: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Nonnegative: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&gt; 0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for some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 = 0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otherwise;</a:t>
                </a: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Sums to 1: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nary>
                      <m:naryPr>
                        <m:chr m:val="∑"/>
                        <m:limLoc m:val="subSup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Verify that the following function is a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0.4−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=0, 1, 2, 3</m:t>
                              </m:r>
                              <m:r>
                                <m:rPr>
                                  <m:nor/>
                                </m:rPr>
                                <a:rPr lang="en-US" sz="2000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0,  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b="1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Problem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that makes the following function a valid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Also find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=16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10≤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≤20</m:t>
                        </m:r>
                      </m:e>
                    </m:d>
                  </m:oMath>
                </a14:m>
                <a:endParaRPr lang="en-US" sz="20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0434" y="702779"/>
                <a:ext cx="10831132" cy="6061092"/>
              </a:xfrm>
              <a:blipFill rotWithShape="0">
                <a:blip r:embed="rId2"/>
                <a:stretch>
                  <a:fillRect l="-507" r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554751"/>
                  </p:ext>
                </p:extLst>
              </p:nvPr>
            </p:nvGraphicFramePr>
            <p:xfrm>
              <a:off x="4420203" y="5702305"/>
              <a:ext cx="4629006" cy="6050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71501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3025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025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1/8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1/6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𝑘</m:t>
                              </m:r>
                            </m:oMath>
                          </a14:m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1/12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554751"/>
                  </p:ext>
                </p:extLst>
              </p:nvPr>
            </p:nvGraphicFramePr>
            <p:xfrm>
              <a:off x="4420203" y="5702305"/>
              <a:ext cx="4629006" cy="6050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7150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4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5"/>
                        </a:ext>
                      </a:extLst>
                    </a:gridCol>
                  </a:tblGrid>
                  <a:tr h="302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787" t="-26000" r="-500000" b="-13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02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787" t="-126000" r="-500000" b="-3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1/8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1/6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00000" t="-126000" r="-200787" b="-3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403175" t="-126000" r="-102381" b="-3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1/12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96311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5023"/>
            <a:ext cx="9144000" cy="393615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Distributions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0434" y="688892"/>
                <a:ext cx="10831132" cy="5726898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Continuous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</a:t>
                </a: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Distribution: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continuous probability distribution shows the possible values of a continuous random variable and the densities of each of these values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</a:t>
                </a: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density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function: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function,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gives the densities is called probability density function (pdf). Using these densities we can calculate the probability (proportion) of values of that variable within a specific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range.</a:t>
                </a: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Valid pdfs: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pdf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a continuous random 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must satisfy the following two criteria: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Nonnegative:	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 0,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Integrate to 1:	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box>
                          <m:boxPr>
                            <m:diff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box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Probability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from pdf: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probability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that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X is between the points a and b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i.e.,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&lt;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&lt;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&lt;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≤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≤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&lt;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≤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≤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can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be determined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from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subarea under the curve bounded by the curve,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x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-axis, and perpendiculars erected at any two points a and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b. i.e., 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&lt;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p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  <m:box>
                            <m:boxPr>
                              <m:diff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box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𝑑𝑥</m:t>
                              </m:r>
                            </m:e>
                          </m:box>
                        </m:e>
                      </m:nary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0434" y="688892"/>
                <a:ext cx="10831132" cy="5726898"/>
              </a:xfrm>
              <a:blipFill rotWithShape="0">
                <a:blip r:embed="rId2"/>
                <a:stretch>
                  <a:fillRect l="-507" t="-426" r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645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5023"/>
            <a:ext cx="9144000" cy="393615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Distributions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554421"/>
                <a:ext cx="10831132" cy="6303580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us consider the </a:t>
                </a: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density function (pdf),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as follows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=1;0≤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The probability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between 0 and 0.25 is shown in the following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figure</a:t>
                </a:r>
              </a:p>
              <a:p>
                <a:pPr algn="just">
                  <a:lnSpc>
                    <a:spcPct val="10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Therefore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probability is nothing but the area of that region and we can write</a:t>
                </a: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0≤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≤0.25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=0.2</m:t>
                      </m:r>
                      <m:r>
                        <a:rPr lang="en-US" sz="200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</m:oMath>
                  </m:oMathPara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Note: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above distribution is known as continuous uniform distribution. A random variable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is said to have a continuous uniform distribution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just">
                  <a:lnSpc>
                    <a:spcPct val="10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554421"/>
                <a:ext cx="10831132" cy="6303580"/>
              </a:xfrm>
              <a:blipFill rotWithShape="0">
                <a:blip r:embed="rId2"/>
                <a:stretch>
                  <a:fillRect l="-619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962" y="1634238"/>
            <a:ext cx="3255546" cy="268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5023"/>
            <a:ext cx="9144000" cy="393615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Distributions (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554420"/>
                <a:ext cx="10831132" cy="6432167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us consider another pdf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as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follows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;0≤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probability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between 0 and 0.25 is shown in the following figure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Therefore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probability is nothing but the area of that region</a:t>
                </a: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0≤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≤0.25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???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554420"/>
                <a:ext cx="10831132" cy="6432167"/>
              </a:xfrm>
              <a:blipFill rotWithShape="0">
                <a:blip r:embed="rId2"/>
                <a:stretch>
                  <a:fillRect l="-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738" y="1462716"/>
            <a:ext cx="3822523" cy="29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90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6147" y="214624"/>
            <a:ext cx="9144000" cy="41042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Distributions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625044"/>
                <a:ext cx="10831132" cy="6085038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Cumulative distribution </a:t>
                </a: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functions: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Another function that describes the distribution of an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is the cumulative distribution function (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cdf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). Unlike the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which only defined for discrete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r.v.s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possess, the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cdf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defined for all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r.v.s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i.e., for discrete and for continuous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Definition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cumulative distribution function (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cdf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of an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the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US" sz="20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i.e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area under the curve at or below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pdf to </a:t>
                </a:r>
                <a:r>
                  <a:rPr lang="en-US" sz="2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cdf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Let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continuous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r.v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with pdf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Then the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cdf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given by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−∞</m:t>
                          </m:r>
                        </m:sub>
                        <m:sup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sup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𝑢</m:t>
                              </m:r>
                            </m:e>
                          </m:d>
                        </m:e>
                      </m:nary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𝑑𝑢</m:t>
                      </m:r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from </a:t>
                </a:r>
                <a:r>
                  <a:rPr lang="en-US" sz="2000" b="1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cdf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 probability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falling into an interval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 be determined as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𝑃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&lt;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&lt;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sub>
                        <m:sup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sup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  <m:box>
                            <m:boxPr>
                              <m:diff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boxPr>
                            <m:e>
                              <m:r>
                                <a:rPr lang="en-US" sz="200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𝑑𝑥</m:t>
                              </m:r>
                            </m:e>
                          </m:box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a:rPr lang="en-US" sz="200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𝐹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00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625044"/>
                <a:ext cx="10831132" cy="6085038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17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8146"/>
            <a:ext cx="9144000" cy="423867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Probability Distributions (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cont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…)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0434" y="732620"/>
                <a:ext cx="10831132" cy="6125380"/>
              </a:xfrm>
            </p:spPr>
            <p:txBody>
              <a:bodyPr>
                <a:noAutofit/>
              </a:bodyPr>
              <a:lstStyle/>
              <a:p>
                <a:pPr marL="342900" lvl="1" indent="-342900" algn="just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2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Problem</a:t>
                </a: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On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a laboratory assignment, if the equipment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is working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the density function of the observed outcome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</a:p>
              <a:p>
                <a:pPr marL="0" lvl="1" algn="just">
                  <a:lnSpc>
                    <a:spcPct val="10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;0≤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&amp;0,         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lvl="1" indent="-342900" algn="just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(a) Find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value of the constant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(b) Find the </a:t>
                </a:r>
                <a:r>
                  <a:rPr lang="en-US" sz="22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cdf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ind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P(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&lt;0.25</m:t>
                    </m:r>
                  </m:oMath>
                </a14:m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(c)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What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is the probability that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will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exceed 0.50. (d) Given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exceeds 0.50,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what is the probability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that X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will be less than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0.75</m:t>
                    </m:r>
                  </m:oMath>
                </a14:m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0" lvl="1" algn="just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	[</a:t>
                </a:r>
                <a:r>
                  <a:rPr lang="en-US" sz="2200" dirty="0" err="1" smtClean="0">
                    <a:latin typeface="Arial" panose="020B0604020202020204" pitchFamily="34" charset="0"/>
                    <a:cs typeface="Arial" panose="020B0604020202020204" pitchFamily="34" charset="0"/>
                  </a:rPr>
                  <a:t>Ans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=2;2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,0&lt;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&lt;1, 0.4375; </m:t>
                    </m:r>
                  </m:oMath>
                </a14:m>
                <a:r>
                  <a:rPr lang="en-US" sz="2200" b="0" i="0" dirty="0" smtClean="0">
                    <a:latin typeface="+mj-lt"/>
                    <a:cs typeface="Arial" panose="020B0604020202020204" pitchFamily="34" charset="0"/>
                  </a:rPr>
                  <a:t>0.25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, 0.75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</a:p>
              <a:p>
                <a:pPr marL="342900" lvl="1" indent="-342900" algn="just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Problem: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An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important factor in solid missile fuel is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particle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size distribution. Significant problems occur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if the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particle sizes are too large. From production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data in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past, it has been determined that the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particle size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(in micrometers) distribution is characterized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by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lvl="1" indent="-342900" algn="just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(a) Verify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this is a valid density function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b) Evaluate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𝐹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(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c) What is the probability that a random 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particle from 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manufactured fuel exceeds 4 micrometers</a:t>
                </a:r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0" lvl="1">
                  <a:lnSpc>
                    <a:spcPct val="100000"/>
                  </a:lnSpc>
                  <a:spcBef>
                    <a:spcPts val="1000"/>
                  </a:spcBef>
                </a:pP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[</a:t>
                </a:r>
                <a:r>
                  <a:rPr lang="en-US" sz="22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Ans</a:t>
                </a:r>
                <a:r>
                  <a:rPr lang="en-US" sz="2200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2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−3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&gt;</m:t>
                    </m:r>
                    <m:r>
                      <a:rPr lang="en-US" sz="22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;</m:t>
                    </m:r>
                    <m:r>
                      <a:rPr lang="en-US" sz="22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0.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015625</m:t>
                    </m:r>
                  </m:oMath>
                </a14:m>
                <a:r>
                  <a:rPr lang="en-US" sz="22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lvl="1" indent="-342900" algn="just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</a:pPr>
                <a:endParaRPr lang="en-US" sz="2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0434" y="732620"/>
                <a:ext cx="10831132" cy="6125380"/>
              </a:xfrm>
              <a:blipFill rotWithShape="0">
                <a:blip r:embed="rId2"/>
                <a:stretch>
                  <a:fillRect l="-676" t="-597" r="-788" b="-2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0382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8487"/>
            <a:ext cx="9144000" cy="383525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Mathematical Expectation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0434" y="726141"/>
                <a:ext cx="10831132" cy="5701553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random variable. The mean of a random variable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referred to its </a:t>
                </a: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expected value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is denoted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or simply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It is defined by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discrete with mass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i="1" dirty="0"/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box>
                          <m:boxPr>
                            <m:diff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box>
                      </m:e>
                    </m:nary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continuous with pdf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random variable, and let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𝑔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function. Then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if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discrete with mass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,…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∞</m:t>
                        </m:r>
                      </m:sup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</m:d>
                        <m:box>
                          <m:boxPr>
                            <m:diff m:val="on"/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box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𝑑𝑥</m:t>
                            </m:r>
                          </m:e>
                        </m:box>
                      </m:e>
                    </m:nary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,if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continuous with pdf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0434" y="726141"/>
                <a:ext cx="10831132" cy="5701553"/>
              </a:xfrm>
              <a:blipFill rotWithShape="0">
                <a:blip r:embed="rId2"/>
                <a:stretch>
                  <a:fillRect l="-507" r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0958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8487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Properties Mathematical Expectation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1015009"/>
                <a:ext cx="10831132" cy="5842991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random variable with finite mean. Then for any numerical constants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𝑎𝑋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𝑎𝐸</m:t>
                      </m:r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)+</m:t>
                      </m:r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expected value of the squared difference of a random variable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from its mean is called 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variance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. It is denoted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i.e.,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𝑉𝑎𝑟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is defined as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 It can be easily shown that 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𝜎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𝜇</m:t>
                        </m:r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X</m:t>
                            </m:r>
                          </m:e>
                          <m:sup>
                            <m: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E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square root of the variance is called the standard deviation (SD). The standard deviation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X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is denoted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SD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</m:e>
                    </m:d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or simply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i.e.,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σ</m:t>
                    </m:r>
                    <m:r>
                      <a:rPr lang="en-US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Var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X</m:t>
                            </m:r>
                          </m:e>
                        </m:d>
                      </m:e>
                    </m:rad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be a random variable with finite mean. Then for any numerical constants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𝑉𝑎𝑟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1015009"/>
                <a:ext cx="10831132" cy="5842991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677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814"/>
            <a:ext cx="9144000" cy="455304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Practice Problems on Mathematical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Expectation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0434" y="702779"/>
                <a:ext cx="10831132" cy="6061092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Problem</a:t>
                </a:r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By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investing in a particular stock, a person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can make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 profit in one year of $4000 with probability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0.3 or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take a loss of $1000 with probability 0.7. What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is this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person’s expected gain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Problem: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random variable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representing the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number of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errors per 100 lines of software code, has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the following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 distribution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expected value and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variance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of the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number of errors per 100 lines of software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code. Also, find the mean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variance of the discrete random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variable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𝑍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3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− 2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when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represents the number of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errors per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100 lines of code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Problem: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Impurities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 a batch of final product of a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chemical process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often reflect a serious problem. From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considerable plant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data gathered, it is known that the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proportion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of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impurities in a batch has a density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function given by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;0≤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≤1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&amp;0,        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𝑜𝑡h𝑒𝑟𝑤𝑖𝑠𝑒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Find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expected percentage of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impurities. Also, find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expected value of the proportion of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quality material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1−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>
                  <a:lnSpc>
                    <a:spcPct val="100000"/>
                  </a:lnSpc>
                </a:pPr>
                <a:endParaRPr lang="en-US" sz="2000" dirty="0" smtClean="0">
                  <a:latin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0434" y="702779"/>
                <a:ext cx="10831132" cy="6061092"/>
              </a:xfrm>
              <a:blipFill rotWithShape="0">
                <a:blip r:embed="rId2"/>
                <a:stretch>
                  <a:fillRect l="-507" t="-402" r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810901"/>
                  </p:ext>
                </p:extLst>
              </p:nvPr>
            </p:nvGraphicFramePr>
            <p:xfrm>
              <a:off x="3895547" y="2404469"/>
              <a:ext cx="4629006" cy="6050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71501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4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val="20005"/>
                        </a:ext>
                      </a:extLst>
                    </a:gridCol>
                  </a:tblGrid>
                  <a:tr h="3025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0252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0.01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0.25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0.40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0.30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0.04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810901"/>
                  </p:ext>
                </p:extLst>
              </p:nvPr>
            </p:nvGraphicFramePr>
            <p:xfrm>
              <a:off x="3895547" y="2404469"/>
              <a:ext cx="4629006" cy="6050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7150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0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1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2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3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4"/>
                        </a:ext>
                      </a:extLst>
                    </a:gridCol>
                    <a:gridCol w="771501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005"/>
                        </a:ext>
                      </a:extLst>
                    </a:gridCol>
                  </a:tblGrid>
                  <a:tr h="302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575" t="-26000" r="-500000" b="-13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3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4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5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6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0"/>
                      </a:ext>
                    </a:extLst>
                  </a:tr>
                  <a:tr h="3025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575" t="-126000" r="-500000" b="-3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0.01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0.25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0.40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0.30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 smtClean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0.04</a:t>
                          </a:r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0373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6708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Exercise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833000"/>
                <a:ext cx="10831132" cy="5554353"/>
              </a:xfrm>
            </p:spPr>
            <p:txBody>
              <a:bodyPr>
                <a:noAutofit/>
              </a:bodyPr>
              <a:lstStyle/>
              <a:p>
                <a:pPr marL="285750" lvl="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(1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Find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that makes the following function a valid </a:t>
                </a:r>
                <a:r>
                  <a:rPr lang="en-US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pmf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. Also find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&lt;3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&gt;5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1&lt;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&lt;5</m:t>
                        </m:r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𝑃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2≤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≤4</m:t>
                        </m:r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=1, 2, 3, 4, 5</m:t>
                      </m:r>
                    </m:oMath>
                  </m:oMathPara>
                </a14:m>
                <a:endParaRPr lang="en-US" sz="2000" dirty="0" smtClean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100000"/>
                  </a:lnSpc>
                </a:pP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   [Answer: k=1/20, 5/20, 0, 12/20, 12/20]</a:t>
                </a:r>
              </a:p>
              <a:p>
                <a:pPr marL="285750" lvl="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(2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) Suppose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X is a continuous random variable whose probability density function (pdf) is given by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</m:t>
                            </m:r>
                            <m:r>
                              <a:rPr lang="en-US" sz="200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(1 − 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)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;0≤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≤1</m:t>
                            </m:r>
                          </m:e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&amp;0,       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>
                  <a:latin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(a ) Find the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cdf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0≤</m:t>
                    </m:r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≤1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(b)  Find P(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&lt;0.4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 [0.5248]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(c) Find P(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&gt;0.5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 [0.3542]</a:t>
                </a:r>
              </a:p>
              <a:p>
                <a:pPr marL="800100" lvl="1" indent="-342900" algn="just">
                  <a:lnSpc>
                    <a:spcPct val="10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(d) Find P(0.3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&lt;0.8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). [0.5328]</a:t>
                </a:r>
              </a:p>
              <a:p>
                <a:pPr algn="just">
                  <a:lnSpc>
                    <a:spcPct val="150000"/>
                  </a:lnSpc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833000"/>
                <a:ext cx="10831132" cy="5554353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48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8487"/>
            <a:ext cx="9144000" cy="60530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itchFamily="34" charset="0"/>
                <a:cs typeface="Arial" pitchFamily="34" charset="0"/>
              </a:rPr>
              <a:t>Exercise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82581" y="1015009"/>
                <a:ext cx="10831132" cy="5842991"/>
              </a:xfrm>
            </p:spPr>
            <p:txBody>
              <a:bodyPr>
                <a:no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(3) 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Every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day, the number of network blackouts,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has a distribution (probability mass function) 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(a) find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[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0.4, 0.44</m:t>
                    </m:r>
                  </m:oMath>
                </a14:m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]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(b) A company estimates that each network blackout results in a $500 loss. Compute expectation and variance of this company’s daily loss due to blackouts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. [200, 110000]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(4)</a:t>
                </a:r>
                <a:r>
                  <a:rPr lang="en-US" sz="2000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installation time, in hours, for a certain software module has a probability density function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𝑓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= 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den>
                    </m:f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(1 −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p>
                    </m:sSup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 &lt; 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&lt; 1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(a) Find mean installation time 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[0.40]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(b) Find standard deviation of installation time </a:t>
                </a:r>
                <a:r>
                  <a:rPr lang="en-US" dirty="0" smtClean="0">
                    <a:latin typeface="Arial" panose="020B0604020202020204" pitchFamily="34" charset="0"/>
                    <a:cs typeface="Arial" panose="020B0604020202020204" pitchFamily="34" charset="0"/>
                  </a:rPr>
                  <a:t>[0.2494]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(c) If installation cost is computed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25</m:t>
                    </m:r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+50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, find mean and standard deviation of installation cost. </a:t>
                </a:r>
                <a:r>
                  <a:rPr lang="en-US" smtClean="0">
                    <a:latin typeface="Arial" panose="020B0604020202020204" pitchFamily="34" charset="0"/>
                    <a:cs typeface="Arial" panose="020B0604020202020204" pitchFamily="34" charset="0"/>
                  </a:rPr>
                  <a:t>[60, 6.24]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800100" lvl="1" indent="-342900" algn="just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82581" y="1015009"/>
                <a:ext cx="10831132" cy="5842991"/>
              </a:xfrm>
              <a:blipFill rotWithShape="0">
                <a:blip r:embed="rId2"/>
                <a:stretch>
                  <a:fillRect l="-506" r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/>
            </p:nvGraphicFramePr>
            <p:xfrm>
              <a:off x="4038600" y="1500296"/>
              <a:ext cx="4675096" cy="6646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68774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168774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168774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168774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3323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32340"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dirty="0">
                            <a:effectLst/>
                            <a:latin typeface="Arial" panose="020B0604020202020204" pitchFamily="34" charset="0"/>
                            <a:ea typeface="Calibri" panose="020F050202020403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4038600" y="1500296"/>
              <a:ext cx="4675096" cy="6646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16877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0"/>
                        </a:ext>
                      </a:extLst>
                    </a:gridCol>
                    <a:gridCol w="116877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1"/>
                        </a:ext>
                      </a:extLst>
                    </a:gridCol>
                    <a:gridCol w="116877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2"/>
                        </a:ext>
                      </a:extLst>
                    </a:gridCol>
                    <a:gridCol w="116877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0003"/>
                        </a:ext>
                      </a:extLst>
                    </a:gridCol>
                  </a:tblGrid>
                  <a:tr h="332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21" t="-18182" r="-301042" b="-1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0"/>
                      </a:ext>
                    </a:extLst>
                  </a:tr>
                  <a:tr h="3323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521" t="-118182" r="-301042" b="-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  <a:latin typeface="Arial" panose="020B0604020202020204" pitchFamily="34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9154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61126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43422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1744</TotalTime>
  <Words>854</Words>
  <Application>Microsoft Office PowerPoint</Application>
  <PresentationFormat>Widescreen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COURSE TITLE: : Statistics and Probability COURSE CODE: STA 102 Topics: Random variable and Its Probability Distribution</vt:lpstr>
      <vt:lpstr>Random Variables and Its Probability Distributions</vt:lpstr>
      <vt:lpstr>Probability Distributions</vt:lpstr>
      <vt:lpstr>Probability Distributions (cont…)</vt:lpstr>
      <vt:lpstr>Probability Distributions (cont…)</vt:lpstr>
      <vt:lpstr>Probability Distributions (cont…)</vt:lpstr>
      <vt:lpstr>Probability Distributions (cont…)</vt:lpstr>
      <vt:lpstr>Probability Distributions (cont…)</vt:lpstr>
      <vt:lpstr>Probability Distributions (cont…)</vt:lpstr>
      <vt:lpstr>Probability Distributions (cont…)</vt:lpstr>
      <vt:lpstr>Mathematical Expectation</vt:lpstr>
      <vt:lpstr>Properties Mathematical Expectation</vt:lpstr>
      <vt:lpstr>Practice Problems on Mathematical Expectation</vt:lpstr>
      <vt:lpstr>Exercise</vt:lpstr>
      <vt:lpstr>Exercise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TITLE:  Business Statistics COURSE CODE: BUS 7203</dc:title>
  <dc:creator>EH</dc:creator>
  <cp:lastModifiedBy>Statistics</cp:lastModifiedBy>
  <cp:revision>254</cp:revision>
  <dcterms:created xsi:type="dcterms:W3CDTF">2021-09-04T13:58:51Z</dcterms:created>
  <dcterms:modified xsi:type="dcterms:W3CDTF">2025-11-10T11:55:19Z</dcterms:modified>
</cp:coreProperties>
</file>