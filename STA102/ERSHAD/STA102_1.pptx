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32"/>
  </p:notesMasterIdLst>
  <p:sldIdLst>
    <p:sldId id="256" r:id="rId2"/>
    <p:sldId id="25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07" r:id="rId12"/>
    <p:sldId id="308" r:id="rId13"/>
    <p:sldId id="318" r:id="rId14"/>
    <p:sldId id="309" r:id="rId15"/>
    <p:sldId id="304" r:id="rId16"/>
    <p:sldId id="305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6" r:id="rId25"/>
    <p:sldId id="319" r:id="rId26"/>
    <p:sldId id="320" r:id="rId27"/>
    <p:sldId id="321" r:id="rId28"/>
    <p:sldId id="322" r:id="rId29"/>
    <p:sldId id="323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BUP\Batch-26(A)\Frequency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BUP\Batch-26(A)\Frequency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Bar Graph of Soft Drink Purchases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99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Sheet1!$C$3:$C$7</c:f>
              <c:strCache>
                <c:ptCount val="5"/>
                <c:pt idx="0">
                  <c:v>Coke Classic</c:v>
                </c:pt>
                <c:pt idx="1">
                  <c:v>Diet Coke </c:v>
                </c:pt>
                <c:pt idx="2">
                  <c:v>Dr. Pepper </c:v>
                </c:pt>
                <c:pt idx="3">
                  <c:v>Pepsi-Cola </c:v>
                </c:pt>
                <c:pt idx="4">
                  <c:v>Sprite </c:v>
                </c:pt>
              </c:strCache>
            </c:strRef>
          </c:cat>
          <c:val>
            <c:numRef>
              <c:f>Sheet1!$D$3:$D$7</c:f>
              <c:numCache>
                <c:formatCode>General</c:formatCode>
                <c:ptCount val="5"/>
                <c:pt idx="0">
                  <c:v>19</c:v>
                </c:pt>
                <c:pt idx="1">
                  <c:v>8</c:v>
                </c:pt>
                <c:pt idx="2">
                  <c:v>5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86696288"/>
        <c:axId val="286696672"/>
      </c:barChart>
      <c:catAx>
        <c:axId val="286696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Soft</a:t>
                </a:r>
                <a:r>
                  <a:rPr lang="en-US" baseline="0"/>
                  <a:t> Drink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6696672"/>
        <c:crosses val="autoZero"/>
        <c:auto val="1"/>
        <c:lblAlgn val="ctr"/>
        <c:lblOffset val="100"/>
        <c:noMultiLvlLbl val="0"/>
      </c:catAx>
      <c:valAx>
        <c:axId val="28669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6696288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Pie CHart of Soft Drink Purchases</a:t>
            </a:r>
            <a:endParaRPr lang="en-US" b="1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Sheet1!$C$3:$C$7</c:f>
              <c:strCache>
                <c:ptCount val="5"/>
                <c:pt idx="0">
                  <c:v>Coke Classic</c:v>
                </c:pt>
                <c:pt idx="1">
                  <c:v>Diet Coke </c:v>
                </c:pt>
                <c:pt idx="2">
                  <c:v>Dr. Pepper </c:v>
                </c:pt>
                <c:pt idx="3">
                  <c:v>Pepsi-Cola </c:v>
                </c:pt>
                <c:pt idx="4">
                  <c:v>Sprite </c:v>
                </c:pt>
              </c:strCache>
            </c:strRef>
          </c:cat>
          <c:val>
            <c:numRef>
              <c:f>Sheet1!$D$3:$D$7</c:f>
              <c:numCache>
                <c:formatCode>General</c:formatCode>
                <c:ptCount val="5"/>
                <c:pt idx="0">
                  <c:v>19</c:v>
                </c:pt>
                <c:pt idx="1">
                  <c:v>8</c:v>
                </c:pt>
                <c:pt idx="2">
                  <c:v>5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0B186-27FF-45C1-9A94-5D2DFEE2F58F}" type="datetimeFigureOut">
              <a:rPr lang="en-US" smtClean="0"/>
              <a:t>27/9/2025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C7E12-A643-4540-A7C7-B065AF7B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03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09B6B-0131-4776-9268-4840CEFEB7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72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09B6B-0131-4776-9268-4840CEFEB7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75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4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39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3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9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8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9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8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9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BE1E-5F2D-465B-B7AA-A3F35EC386BE}" type="datetimeFigureOut">
              <a:rPr lang="en-US" smtClean="0"/>
              <a:pPr/>
              <a:t>27/9/2025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8553F-0502-40B5-88F7-0911625DF8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Advanced_Micro_Devices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dvanced_Micro_Devices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4047" y="399246"/>
            <a:ext cx="10183906" cy="136516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COURSE TITLE: </a:t>
            </a:r>
            <a:r>
              <a:rPr lang="en-US" sz="3200" b="1" dirty="0" smtClean="0"/>
              <a:t>: Statistics </a:t>
            </a:r>
            <a:r>
              <a:rPr lang="en-US" sz="2800" b="1" dirty="0" smtClean="0"/>
              <a:t>and </a:t>
            </a:r>
            <a:r>
              <a:rPr lang="en-US" sz="2800" b="1" dirty="0"/>
              <a:t>Probability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COURSE CODE: 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STA 102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61126"/>
            <a:ext cx="9144000" cy="16557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Instructor: Md.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Ershadul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Haque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PhD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Department of Statistics, DU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Adjunct Faculty, EWU, Bangladesh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5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66671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1657330"/>
            <a:ext cx="10831132" cy="409952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difficult to define statistics in a few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dimension, scope, function, use and importance are constantly changing over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time.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science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essentially a branch of applied mathematics and may be regarded as mathematics, applied to observational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data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ccording to Fisher)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science of learning from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tatistics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a field of study concerned with (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1) 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collection, organization, summarization, and analysis of data; and (2) the drawing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of inferences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about a body of data when only a part of the data is observed.</a:t>
            </a:r>
          </a:p>
        </p:txBody>
      </p:sp>
    </p:spTree>
    <p:extLst>
      <p:ext uri="{BB962C8B-B14F-4D97-AF65-F5344CB8AC3E}">
        <p14:creationId xmlns:p14="http://schemas.microsoft.com/office/powerpoint/2010/main" val="140423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6667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Variable and its type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1348236"/>
            <a:ext cx="10831132" cy="478210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characteristic whose value varies from person to person, object to object or from phenomenon to phenomenon. For example: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Weight, Age, Family size, </a:t>
            </a:r>
            <a:r>
              <a:rPr lang="en-US" sz="2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Number of accidents in a highway,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Temperature, Yearly rainfall etc.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Qualitative Variable: </a:t>
            </a:r>
            <a:r>
              <a:rPr lang="en-US" sz="2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variable whose numerical measurement is not possible but whose characteristics can be categorized and assigned by numbers is known as a qualitative variable. Example: gender (male=1, female=2), Eye color (Brown=1, Blue=2, Gray=3, Others=4),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Crime </a:t>
            </a:r>
            <a:r>
              <a:rPr lang="en-US" sz="2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occurrence frequency in a region (Very often=1, Often=2, Not often=3, Not at all =4) etc. </a:t>
            </a:r>
          </a:p>
        </p:txBody>
      </p:sp>
    </p:spTree>
    <p:extLst>
      <p:ext uri="{BB962C8B-B14F-4D97-AF65-F5344CB8AC3E}">
        <p14:creationId xmlns:p14="http://schemas.microsoft.com/office/powerpoint/2010/main" val="50517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6667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Variable and its type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1348236"/>
            <a:ext cx="10831132" cy="478210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Quantitative </a:t>
            </a:r>
            <a:r>
              <a:rPr lang="en-US" sz="2000" b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variable: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A variable whose resulting observations are numeric and thus possesses a natural ordering. Example: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age,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blood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pressure,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longevity of lives, day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temperature,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yearly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rainfall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etc.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quantitative variable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either (a)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Discrete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 (b)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Discrete variable: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A discrete variable can assume only isolated values.  Example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: number of correct answer in a MCQ test of 10 questions, number of defective items in a lot of 50 items, n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u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mber of IC chip in a memory board, number of new customer in a bank (in a year) etc.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b)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variable: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Theoretically, a continuous variable can assume any value within its domain.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: age, height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weight,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lifetime of a cellular phone battery, and call duration (in sec) etc.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6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314813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Scale of Measurement/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Level of measurement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8627" y="870053"/>
            <a:ext cx="10827061" cy="588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Measurement is a process of assigning number to some characteristics or variables according to scientific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rules.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Data can be classified according to levels of measurement. </a:t>
            </a:r>
            <a:endParaRPr lang="en-US" sz="2000" dirty="0" smtClean="0">
              <a:latin typeface="Arial" panose="020B0604020202020204" pitchFamily="34" charset="0"/>
              <a:ea typeface="Calibri Light" panose="020F03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The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level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of measurement of the data dictates the calculations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that can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be done to summarize and present the data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It will also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determine the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statistical tests that should be performed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Variables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can be measured under four levels or scales of measurement. 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measurement scales are: </a:t>
            </a:r>
          </a:p>
          <a:p>
            <a:pPr marL="1066773" lvl="1" indent="-457189" algn="just">
              <a:lnSpc>
                <a:spcPct val="150000"/>
              </a:lnSpc>
              <a:buFont typeface="+mj-lt"/>
              <a:buAutoNum type="arabicPeriod"/>
              <a:tabLst>
                <a:tab pos="368291" algn="l"/>
              </a:tabLst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Nominal scale</a:t>
            </a:r>
          </a:p>
          <a:p>
            <a:pPr marL="1066773" lvl="1" indent="-457189" algn="just">
              <a:lnSpc>
                <a:spcPct val="150000"/>
              </a:lnSpc>
              <a:buFont typeface="+mj-lt"/>
              <a:buAutoNum type="arabicPeriod"/>
              <a:tabLst>
                <a:tab pos="368291" algn="l"/>
              </a:tabLst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Ordinal scale</a:t>
            </a:r>
          </a:p>
          <a:p>
            <a:pPr marL="1066773" lvl="1" indent="-457189" algn="just">
              <a:lnSpc>
                <a:spcPct val="150000"/>
              </a:lnSpc>
              <a:buFont typeface="+mj-lt"/>
              <a:buAutoNum type="arabicPeriod"/>
              <a:tabLst>
                <a:tab pos="368291" algn="l"/>
              </a:tabLst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Interval scale</a:t>
            </a:r>
          </a:p>
          <a:p>
            <a:pPr marL="1066773" lvl="1" indent="-457189" algn="just">
              <a:lnSpc>
                <a:spcPct val="150000"/>
              </a:lnSpc>
              <a:buFont typeface="+mj-lt"/>
              <a:buAutoNum type="arabicPeriod"/>
              <a:tabLst>
                <a:tab pos="368291" algn="l"/>
              </a:tabLst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Ratio scale</a:t>
            </a:r>
          </a:p>
        </p:txBody>
      </p:sp>
    </p:spTree>
    <p:extLst>
      <p:ext uri="{BB962C8B-B14F-4D97-AF65-F5344CB8AC3E}">
        <p14:creationId xmlns:p14="http://schemas.microsoft.com/office/powerpoint/2010/main" val="9256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0077" y="928168"/>
            <a:ext cx="11347305" cy="46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2000" b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Nominal Scale</a:t>
            </a:r>
            <a:endParaRPr lang="en-US" sz="2000" dirty="0" smtClean="0">
              <a:latin typeface="Arial" panose="020B0604020202020204" pitchFamily="34" charset="0"/>
              <a:ea typeface="Calibri Light" panose="020F03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For the </a:t>
            </a:r>
            <a:r>
              <a:rPr lang="en-US" sz="2000" i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nominal level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of measurement, observations of a qualitative variable can only be classified and counted as numbers are assigned to the variable values for identification only. 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There is no particular order to the labels. 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For example: consider the variable </a:t>
            </a:r>
            <a:r>
              <a:rPr lang="en-US" sz="2000" b="1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hair color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which can be categorized as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brown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(1),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black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(2) and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red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(3). 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However, the numbers do not permissible in doing mathematics. To explain, 1 + 2 does not equal 3; that is,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brown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+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black</a:t>
            </a:r>
            <a:r>
              <a: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does not yield </a:t>
            </a:r>
            <a:r>
              <a:rPr lang="en-US" sz="20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red</a:t>
            </a:r>
            <a:r>
              <a:rPr lang="en-US" sz="20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ea typeface="Calibri Light" panose="020F03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157550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 (</a:t>
            </a:r>
            <a:r>
              <a:rPr lang="en-GB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053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0077" y="593317"/>
            <a:ext cx="11347305" cy="553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sz="1900" b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Ordinal Scale 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The next higher level of data is the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ordinal </a:t>
            </a:r>
            <a:r>
              <a:rPr lang="en-US" sz="1900" i="1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level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 In this level,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observations of a qualitative variable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are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represented by sets of labels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that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have relative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importance. Hence, observations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can be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ranked or ordered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so that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numbers are assigned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to the variable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values for identification as well as for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ranking. Arithmetic operation cannot be done with this scale. 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Ordinal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scales are often used for measures of </a:t>
            </a:r>
            <a:r>
              <a:rPr lang="en-US" sz="1900" dirty="0" smtClean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satisfaction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, happiness, and so on. For example (1) Excellent (2) Satisfactory (3) neutral (4) Dissatisfactory (5) Very dissatisfactory.</a:t>
            </a:r>
          </a:p>
          <a:p>
            <a:pPr marL="342900" indent="-34290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Here, we don't really know what the difference is between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excellent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and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satisfactory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- or if it's the same degree of satisfaction as between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dissatisfactory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and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very dissatisfactory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 We just know that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satisfactory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is more than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neutral 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and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excellent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 is more than </a:t>
            </a:r>
            <a:r>
              <a:rPr lang="en-US" sz="1900" i="1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satisfactory</a:t>
            </a:r>
            <a:r>
              <a:rPr lang="en-US" sz="19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rPr>
              <a:t>. It's all in the order. To explain, 2 - 1 does not equal 5-4.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106034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 (</a:t>
            </a:r>
            <a:r>
              <a:rPr lang="en-GB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571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0077" y="1005440"/>
            <a:ext cx="11347305" cy="5793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Interval Scale</a:t>
            </a:r>
            <a:endParaRPr lang="en-US" sz="1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interval level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measurement is the next highest level. It includes all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characteristics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ordinal level, but in addition, the difference between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values is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constant size.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Under this level, numbers are assigned to the variable values in such a way that the measurement scale is broken down on a scale of equal units and the zero value on the scale is not absolutely zero. For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temperature (F),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IQ score,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Suppose the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temperatures on three consecutive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days in Dhaka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82, 87,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68.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temperatures can be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easily ranked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but we can also determine the difference between temperatures. 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possible because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1F represents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constant unit of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measurement. Equal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differences between two temperatures are the same,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regardless of their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position on the scale. That is, the difference between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10F and 15F is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5, the difference between 50 and 55 degrees is also 5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degrees.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also important to note that 0 is just a point on the scale. It does not represent the absence of the condition. Zero degrees does not represent the absence of heat, just that it is cold! In fact 0 degrees Fahrenheit is about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18 degrees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 the Celsius scale.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247703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 (</a:t>
            </a:r>
            <a:r>
              <a:rPr lang="en-GB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91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0077" y="1005440"/>
            <a:ext cx="1134730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Ratio Scale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Practically all quantitative data is recorded on 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ratio level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measurement.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ratio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“highest” level of measurement. It has all the characteristics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interval level, but in addition, the 0 point is meaningful and the ratio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two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numbers is meaningful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Under this level, numbers are assigned to the variable values in such a way that the measurement scale is broken down on a scale of equal units and the zero value on the scale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is absolutely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example: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age, height, weight, call duration, etc.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247703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 (</a:t>
            </a:r>
            <a:r>
              <a:rPr lang="en-GB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888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F952B175-8DF2-4067-B698-B587049C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27" y="543793"/>
            <a:ext cx="11113061" cy="580927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of variable by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of measurement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868627" y="1425746"/>
            <a:ext cx="10353647" cy="4164169"/>
            <a:chOff x="981" y="6168"/>
            <a:chExt cx="9440" cy="3240"/>
          </a:xfrm>
        </p:grpSpPr>
        <p:sp>
          <p:nvSpPr>
            <p:cNvPr id="11" name="AutoShape 74"/>
            <p:cNvSpPr>
              <a:spLocks noChangeArrowheads="1"/>
            </p:cNvSpPr>
            <p:nvPr/>
          </p:nvSpPr>
          <p:spPr bwMode="auto">
            <a:xfrm>
              <a:off x="4401" y="6168"/>
              <a:ext cx="2520" cy="72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Variables</a:t>
              </a:r>
            </a:p>
          </p:txBody>
        </p:sp>
        <p:sp>
          <p:nvSpPr>
            <p:cNvPr id="12" name="AutoShape 75"/>
            <p:cNvSpPr>
              <a:spLocks noChangeArrowheads="1"/>
            </p:cNvSpPr>
            <p:nvPr/>
          </p:nvSpPr>
          <p:spPr bwMode="auto">
            <a:xfrm>
              <a:off x="1701" y="7268"/>
              <a:ext cx="3060" cy="842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Qualitative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16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h</a:t>
              </a:r>
              <a:r>
                <a:rPr lang="en-US" sz="16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air color, </a:t>
              </a:r>
              <a:r>
                <a:rPr lang="en-US" sz="16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gender, </a:t>
              </a:r>
              <a:r>
                <a:rPr lang="en-US" sz="16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Happiness</a:t>
              </a:r>
              <a:endParaRPr lang="en-US" sz="16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3" name="AutoShape 76"/>
            <p:cNvSpPr>
              <a:spLocks noChangeArrowheads="1"/>
            </p:cNvSpPr>
            <p:nvPr/>
          </p:nvSpPr>
          <p:spPr bwMode="auto">
            <a:xfrm>
              <a:off x="6581" y="7268"/>
              <a:ext cx="3060" cy="90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Quantitative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16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family size , yearly </a:t>
              </a:r>
              <a:r>
                <a:rPr lang="en-US" sz="16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rainfall (mm), IQ score </a:t>
              </a: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  <a:p>
              <a:pPr algn="just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6" name="AutoShape 77"/>
            <p:cNvSpPr>
              <a:spLocks noChangeArrowheads="1"/>
            </p:cNvSpPr>
            <p:nvPr/>
          </p:nvSpPr>
          <p:spPr bwMode="auto">
            <a:xfrm>
              <a:off x="981" y="8508"/>
              <a:ext cx="2160" cy="90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Nominal 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hair color, </a:t>
              </a:r>
              <a:r>
                <a:rPr lang="en-US" sz="20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gender</a:t>
              </a:r>
              <a:endPara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7" name="AutoShape 78"/>
            <p:cNvSpPr>
              <a:spLocks noChangeArrowheads="1"/>
            </p:cNvSpPr>
            <p:nvPr/>
          </p:nvSpPr>
          <p:spPr bwMode="auto">
            <a:xfrm>
              <a:off x="3261" y="8508"/>
              <a:ext cx="2160" cy="90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Ordinal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Happiness</a:t>
              </a:r>
              <a:endPara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8" name="AutoShape 79"/>
            <p:cNvSpPr>
              <a:spLocks noChangeArrowheads="1"/>
            </p:cNvSpPr>
            <p:nvPr/>
          </p:nvSpPr>
          <p:spPr bwMode="auto">
            <a:xfrm>
              <a:off x="6201" y="8508"/>
              <a:ext cx="1980" cy="90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Interval 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IQ </a:t>
              </a:r>
              <a:r>
                <a:rPr lang="en-US" sz="2000" dirty="0" smtClean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score</a:t>
              </a:r>
              <a:endParaRPr lang="en-US" sz="2000" dirty="0">
                <a:latin typeface="Arial" panose="020B0604020202020204" pitchFamily="34" charset="0"/>
                <a:ea typeface="Calibri Light" panose="020F030202020403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9" name="AutoShape 80"/>
            <p:cNvSpPr>
              <a:spLocks noChangeArrowheads="1"/>
            </p:cNvSpPr>
            <p:nvPr/>
          </p:nvSpPr>
          <p:spPr bwMode="auto">
            <a:xfrm>
              <a:off x="8441" y="8508"/>
              <a:ext cx="1980" cy="900"/>
            </a:xfrm>
            <a:prstGeom prst="flowChartAlternateProcess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vert="horz" wrap="square" lIns="121920" tIns="60960" rIns="121920" bIns="6096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b="1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Ratio</a:t>
              </a:r>
            </a:p>
            <a:p>
              <a:pPr algn="ctr">
                <a:lnSpc>
                  <a:spcPct val="115000"/>
                </a:lnSpc>
                <a:spcBef>
                  <a:spcPts val="800"/>
                </a:spcBef>
              </a:pPr>
              <a:r>
                <a:rPr lang="en-US" sz="2000" dirty="0">
                  <a:latin typeface="Arial" panose="020B0604020202020204" pitchFamily="34" charset="0"/>
                  <a:ea typeface="Calibri Light" panose="020F0302020204030204" pitchFamily="34" charset="0"/>
                  <a:cs typeface="Arial" panose="020B0604020202020204" pitchFamily="34" charset="0"/>
                </a:rPr>
                <a:t>family size </a:t>
              </a:r>
            </a:p>
          </p:txBody>
        </p:sp>
        <p:cxnSp>
          <p:nvCxnSpPr>
            <p:cNvPr id="20" name="Line 81"/>
            <p:cNvCxnSpPr>
              <a:cxnSpLocks noChangeShapeType="1"/>
            </p:cNvCxnSpPr>
            <p:nvPr/>
          </p:nvCxnSpPr>
          <p:spPr bwMode="auto">
            <a:xfrm flipH="1">
              <a:off x="5641" y="688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1" name="Line 82"/>
            <p:cNvCxnSpPr>
              <a:cxnSpLocks noChangeShapeType="1"/>
            </p:cNvCxnSpPr>
            <p:nvPr/>
          </p:nvCxnSpPr>
          <p:spPr bwMode="auto">
            <a:xfrm>
              <a:off x="3141" y="7068"/>
              <a:ext cx="498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2" name="Line 83"/>
            <p:cNvCxnSpPr>
              <a:cxnSpLocks noChangeShapeType="1"/>
            </p:cNvCxnSpPr>
            <p:nvPr/>
          </p:nvCxnSpPr>
          <p:spPr bwMode="auto">
            <a:xfrm flipH="1">
              <a:off x="3141" y="706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3" name="Line 84"/>
            <p:cNvCxnSpPr>
              <a:cxnSpLocks noChangeShapeType="1"/>
            </p:cNvCxnSpPr>
            <p:nvPr/>
          </p:nvCxnSpPr>
          <p:spPr bwMode="auto">
            <a:xfrm flipH="1">
              <a:off x="8121" y="706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4" name="Line 85"/>
            <p:cNvCxnSpPr>
              <a:cxnSpLocks noChangeShapeType="1"/>
            </p:cNvCxnSpPr>
            <p:nvPr/>
          </p:nvCxnSpPr>
          <p:spPr bwMode="auto">
            <a:xfrm flipH="1">
              <a:off x="8181" y="814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5" name="Line 86"/>
            <p:cNvCxnSpPr>
              <a:cxnSpLocks noChangeShapeType="1"/>
            </p:cNvCxnSpPr>
            <p:nvPr/>
          </p:nvCxnSpPr>
          <p:spPr bwMode="auto">
            <a:xfrm flipH="1">
              <a:off x="2061" y="832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6" name="Line 87"/>
            <p:cNvCxnSpPr>
              <a:cxnSpLocks noChangeShapeType="1"/>
            </p:cNvCxnSpPr>
            <p:nvPr/>
          </p:nvCxnSpPr>
          <p:spPr bwMode="auto">
            <a:xfrm flipH="1">
              <a:off x="4201" y="832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7" name="Line 88"/>
            <p:cNvCxnSpPr>
              <a:cxnSpLocks noChangeShapeType="1"/>
            </p:cNvCxnSpPr>
            <p:nvPr/>
          </p:nvCxnSpPr>
          <p:spPr bwMode="auto">
            <a:xfrm flipH="1">
              <a:off x="3141" y="814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8" name="Line 89"/>
            <p:cNvCxnSpPr>
              <a:cxnSpLocks noChangeShapeType="1"/>
            </p:cNvCxnSpPr>
            <p:nvPr/>
          </p:nvCxnSpPr>
          <p:spPr bwMode="auto">
            <a:xfrm flipH="1">
              <a:off x="7281" y="832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9" name="Line 90"/>
            <p:cNvCxnSpPr>
              <a:cxnSpLocks noChangeShapeType="1"/>
            </p:cNvCxnSpPr>
            <p:nvPr/>
          </p:nvCxnSpPr>
          <p:spPr bwMode="auto">
            <a:xfrm flipH="1">
              <a:off x="9441" y="8328"/>
              <a:ext cx="0" cy="18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0" name="Line 91"/>
            <p:cNvCxnSpPr>
              <a:cxnSpLocks noChangeShapeType="1"/>
            </p:cNvCxnSpPr>
            <p:nvPr/>
          </p:nvCxnSpPr>
          <p:spPr bwMode="auto">
            <a:xfrm>
              <a:off x="2061" y="8328"/>
              <a:ext cx="216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1" name="Line 92"/>
            <p:cNvCxnSpPr>
              <a:cxnSpLocks noChangeShapeType="1"/>
            </p:cNvCxnSpPr>
            <p:nvPr/>
          </p:nvCxnSpPr>
          <p:spPr bwMode="auto">
            <a:xfrm>
              <a:off x="7281" y="8328"/>
              <a:ext cx="216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339214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6367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Terminologies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823803"/>
                <a:ext cx="10831132" cy="6034197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itchFamily="34" charset="0"/>
                    <a:cs typeface="Arial" pitchFamily="34" charset="0"/>
                  </a:rPr>
                  <a:t>Population:</a:t>
                </a:r>
                <a:r>
                  <a:rPr lang="en-US" sz="1800" dirty="0" smtClean="0">
                    <a:latin typeface="Arial" pitchFamily="34" charset="0"/>
                    <a:cs typeface="Arial" pitchFamily="34" charset="0"/>
                  </a:rPr>
                  <a:t> In statistics the term “population” is used to refer collection of </a:t>
                </a:r>
                <a:r>
                  <a:rPr lang="en-US" sz="1800" i="1" dirty="0" smtClean="0">
                    <a:latin typeface="Arial" pitchFamily="34" charset="0"/>
                    <a:cs typeface="Arial" pitchFamily="34" charset="0"/>
                  </a:rPr>
                  <a:t>all items/entities</a:t>
                </a:r>
                <a:r>
                  <a:rPr lang="en-US" sz="1800" dirty="0" smtClean="0">
                    <a:latin typeface="Arial" pitchFamily="34" charset="0"/>
                    <a:cs typeface="Arial" pitchFamily="34" charset="0"/>
                  </a:rPr>
                  <a:t>, of whatever kind </a:t>
                </a:r>
                <a:r>
                  <a:rPr lang="en-US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that </a:t>
                </a:r>
                <a:r>
                  <a:rPr lang="en-US" sz="18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are interested in studying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The number of individuals in the population is called population size.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It is usually denoted by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sz="1800" dirty="0">
                    <a:latin typeface="Arial" pitchFamily="34" charset="0"/>
                    <a:cs typeface="Arial" pitchFamily="34" charset="0"/>
                  </a:rPr>
                  <a:t>example,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(1)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are interested in the average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time (in hours) spend for internet browsing of the EWU students, our population consists of all the EWU students (2) If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we are interested in the average lifetime of </a:t>
                </a:r>
                <a:r>
                  <a:rPr lang="en-US" sz="1800" dirty="0">
                    <a:latin typeface="Arial" pitchFamily="34" charset="0"/>
                    <a:cs typeface="Arial" pitchFamily="34" charset="0"/>
                    <a:hlinkClick r:id="rId2"/>
                  </a:rPr>
                  <a:t>Advanced Micro Devices</a:t>
                </a:r>
                <a:r>
                  <a:rPr lang="en-US" sz="1800" dirty="0">
                    <a:latin typeface="Arial" pitchFamily="34" charset="0"/>
                    <a:cs typeface="Arial" pitchFamily="34" charset="0"/>
                  </a:rPr>
                  <a:t> (AMD) processors, our population consists of all the AMD </a:t>
                </a:r>
                <a:r>
                  <a:rPr lang="en-US" sz="1800" dirty="0" smtClean="0">
                    <a:latin typeface="Arial" pitchFamily="34" charset="0"/>
                    <a:cs typeface="Arial" pitchFamily="34" charset="0"/>
                  </a:rPr>
                  <a:t>processors.</a:t>
                </a:r>
                <a:endParaRPr lang="en-US" sz="1800" dirty="0">
                  <a:latin typeface="Arial" pitchFamily="34" charset="0"/>
                  <a:cs typeface="Arial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Hence, populations are determined or defined by our sphere of interest.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studying a population, we focus on one or more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characteristics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or properties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(education, job experience, job type, salary </a:t>
                </a:r>
                <a:r>
                  <a:rPr lang="en-US" sz="18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etc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of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units in the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population.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call such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characteristics </a:t>
                </a: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823803"/>
                <a:ext cx="10831132" cy="6034197"/>
              </a:xfrm>
              <a:blipFill rotWithShape="0">
                <a:blip r:embed="rId3"/>
                <a:stretch>
                  <a:fillRect l="-394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6424" y="16326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Terminologies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944827"/>
                <a:ext cx="10831132" cy="4608808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itchFamily="34" charset="0"/>
                    <a:cs typeface="Arial" pitchFamily="34" charset="0"/>
                  </a:rPr>
                  <a:t>Sample: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The term “sample” refers to a portion of the population that is selected from the population with the view to representing the population. The number of individuals in the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sample is called sample size. Sample size is usually denoted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𝑛</m:t>
                    </m:r>
                  </m:oMath>
                </a14:m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Suppose our population consists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of all the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EWU students.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If we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want to collect data on age, family income, daily time spend on internet browsing of these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children for analysis, we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have to select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only a part of our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population, </a:t>
                </a: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that is, we have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to select a sample of students.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itchFamily="34" charset="0"/>
                    <a:cs typeface="Arial" pitchFamily="34" charset="0"/>
                  </a:rPr>
                  <a:t>Populations are usually too large or inaccessible to measure completely, so looking at a sample of the population of interest is the only feasible way to estimate </a:t>
                </a:r>
                <a:r>
                  <a:rPr lang="en-US" sz="2000" dirty="0" smtClean="0">
                    <a:latin typeface="Arial" pitchFamily="34" charset="0"/>
                    <a:cs typeface="Arial" pitchFamily="34" charset="0"/>
                  </a:rPr>
                  <a:t>the characteristics.</a:t>
                </a:r>
                <a:endParaRPr lang="en-US" sz="20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944827"/>
                <a:ext cx="10831132" cy="4608808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64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6367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Methods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of Data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823803"/>
            <a:ext cx="10831132" cy="603419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The raw material of statistics is data. Data can be defined as the values for the variables assigned to specific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units.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Sources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of statistical data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Statistical data may be broadly categorized as primary data and secondary data. (1)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Primary data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come mainly from direct field operation.  (2)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Secondary data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usually procured from already published or unpublished documents rather than undertaking, first-hand field investigation. The main sources of secondary data in our country are BBS, ICDDR’B, BRAC, NIPORT and some other NGOs.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There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are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several methods of collecting primary data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particularly in surveys and descriptive researches. Important ones are: (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) observation method, (ii) interview method, (iii) through questionnaires, (iv) through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schedules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60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7731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Descriptive and Inferential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Statistics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434" y="1101940"/>
            <a:ext cx="10831132" cy="4782107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Two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branches of Statistics: (1) Descriptive statistics and (2) Inferential statistics.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Descriptive statistics: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The methods of statistics that help to describe, show or summarize data in a meaningful way (patterns might emerge from the data). However, they do not allow us to make conclusions beyond the data we have analyzed (cannot conclude regarding the population).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 main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of descriptive statistics is to summarize and display data.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 elements of descriptive statistics include tables, graphs and numerical summary tools.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Inferential statistics: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method uses theory of probability to make inferences about the population, based on a random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sample.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It covers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large variety of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techniques that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allow us to make actual claims about a population based on a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sampled data.</a:t>
            </a:r>
            <a:endParaRPr lang="en-GB" sz="1800" dirty="0" smtClean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28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713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Tabulation: The Frequency Distribution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2581" y="725508"/>
            <a:ext cx="10831132" cy="613249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group a set of observations we select a set of contiguous,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nonoverlapping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intervals such that each value in the set of observations can be placed in one, and only one, of the intervals. These intervals are usually referred to as class intervals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For example,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age of the employee (in years) of a company may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be classified (grouped) in some class intervals such as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35-39, 40-44, 45-49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50-54,…, 70-74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etc.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Class limits are the lower and upper values that define the class intervals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 For example, for the class intervals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35-39, 40-44, 45-49, 50-54,…,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70-74; 35 is the lower limit of 1</a:t>
            </a:r>
            <a:r>
              <a:rPr lang="en-US" sz="19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class, 40 is the lower limit of 2</a:t>
            </a:r>
            <a:r>
              <a:rPr lang="en-US" sz="19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class and so on; and 39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upper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limit of 1</a:t>
            </a:r>
            <a:r>
              <a:rPr lang="en-US" sz="19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class,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44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upper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limit of 2</a:t>
            </a:r>
            <a:r>
              <a:rPr lang="en-US" sz="19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class and so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Considering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underlying continuity of our variable, and assuming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that the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were rounded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to the nearest whole number, we find it convenient to think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of 34.5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39.5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as the true limits of this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first interval; and 39.5 and 44.5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as the true limits of this second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interval.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These true limits are called the class boundaries. 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03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713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Grouped Data: The Frequency Distribution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725508"/>
                <a:ext cx="10831132" cy="613249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Class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boundary: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true limits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obtained by first computing the Correction factor (C.F.) 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as: C.F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𝐿𝑜𝑤𝑒𝑟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𝑙𝑖𝑚𝑖𝑡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𝑜𝑓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𝑡h𝑒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2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𝑛𝑑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𝑐𝑙𝑎𝑠𝑠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𝑈𝑝𝑝𝑒𝑟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𝑙𝑖𝑚𝑖𝑡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𝑜𝑓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𝑡h𝑒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1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𝑠𝑡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𝑐𝑙𝑎𝑠𝑠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deducting the C.F. from the lower limits of all classes and adding C.F. to all the upper limits.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Class mid-value: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Mid-value of a class can be obtained by averaging the upper limit and lower limit. It is determined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as,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𝑈𝑝𝑝𝑒𝑟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𝑙𝑖𝑚𝑖𝑡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𝑐𝑙𝑎𝑠𝑠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𝐿𝑜𝑤𝑒𝑟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𝑙𝑖𝑚𝑖𝑡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𝑐𝑙𝑎𝑠𝑠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number of observations or values falling into each group or class is called frequency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725508"/>
                <a:ext cx="10831132" cy="6132492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6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713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Grouped Data: The Frequency Distribution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725508"/>
                <a:ext cx="10831132" cy="613249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 distribution (Definition)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grouping of variable values into mutually exclusive (non-overlapping) classes together with frequency in each class, presented in 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tabular form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is referred to as a frequency distribution.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Relative </a:t>
                </a: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Frequency: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may be useful at times to know the proportion, rather than the number, of values falling within a particular class interval.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relative frequency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 a class equals 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proportion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 items belonging to a class. For a data set with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observations, the relative frequency of each class can be determined as follows: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	Relative frequency of a class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𝐹𝑟𝑒𝑞𝑢𝑒𝑛𝑐𝑦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𝑜𝑓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𝑡h𝑒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𝑐𝑙𝑎𝑠𝑠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percent frequency of a class is the relative frequency multiplied by 100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725508"/>
                <a:ext cx="10831132" cy="6132492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05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How to Construct a Frequency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98490" y="746975"/>
                <a:ext cx="10713076" cy="6001555"/>
              </a:xfrm>
            </p:spPr>
            <p:txBody>
              <a:bodyPr>
                <a:no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 order to construct a frequency distribution from quantitative data, one may consider the following guidelines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rule of thumb states that there should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be no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fewer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than 5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intervals and no more than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15. To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get an idea as to the number of class intervals to use, we can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apply </a:t>
                </a:r>
                <a:r>
                  <a:rPr lang="en-US" sz="18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Sturges’s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rule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=1+3.322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number of class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intervals,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number of observations.</a:t>
                </a: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class should preferably be of equal intervals. The class interval can be decided by the relation: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𝐶𝑙𝑎𝑠𝑠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largest observations,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smallest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observation.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lower limit of 1</a:t>
                </a:r>
                <a:r>
                  <a:rPr lang="en-US" sz="1800" baseline="30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st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class may be taken as 0 or 1 or multiple of 5 for convenience (if data contains observations with decimal places, ignore these decimal places for considering multiple of 5).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example, if smallest and largest observations are 0.32 and 0.63 respectively, we can take the class interval as 0.05 then first class can be of 0.30-0.34 and 0.60-0.64 the last class.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Classes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zero frequencies should be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avoided.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98490" y="746975"/>
                <a:ext cx="10713076" cy="6001555"/>
              </a:xfrm>
              <a:blipFill rotWithShape="0">
                <a:blip r:embed="rId2"/>
                <a:stretch>
                  <a:fillRect l="-398" r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43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0454"/>
            <a:ext cx="9144000" cy="38845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Constructing a Frequency Distribution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76711" y="658906"/>
                <a:ext cx="10831132" cy="5808373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 consist of following data which specifies the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life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of 40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laptop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batteries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of a particular brand recorded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to the nearest tenth of a year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2.2, 3.4, 2.5, 3.3, 4.7, 4.1, 1.6, 4.3, 3.1, 3.8, 3.5, 3.1, 3.4, 3.7, 3.2, 4.5, 3.3, 3.6, 4.4, 2.6, 3.2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3.8, 2.9, 3.2, 3.9, 3.7, 3.1, 3.3, 4.1, 3.0, 3.0, 4.7, 3.9, 1.9, 4.2, 2.6, 3.7, 3.1, 3.4, 3.5    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Show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frequency distribution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18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Here,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=40</m:t>
                    </m:r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We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apply </a:t>
                </a:r>
                <a:r>
                  <a:rPr lang="en-US" sz="1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Sturges’s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rule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to get an idea about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class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intervals,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as follows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=1+3.322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=6.32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≈7</m:t>
                    </m:r>
                  </m:oMath>
                </a14:m>
                <a:endParaRPr lang="en-US" sz="1800" b="0" dirty="0" smtClean="0">
                  <a:latin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Table-1: Frequency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Distributions of life </a:t>
                </a:r>
                <a:r>
                  <a:rPr lang="en-US" sz="1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of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laptop batteries </a:t>
                </a:r>
                <a:endParaRPr lang="en-US" sz="1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6711" y="658906"/>
                <a:ext cx="10831132" cy="5808373"/>
              </a:xfrm>
              <a:blipFill rotWithShape="0">
                <a:blip r:embed="rId2"/>
                <a:stretch>
                  <a:fillRect l="-450" t="-525" r="-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392082"/>
              </p:ext>
            </p:extLst>
          </p:nvPr>
        </p:nvGraphicFramePr>
        <p:xfrm>
          <a:off x="2982029" y="3765769"/>
          <a:ext cx="5382042" cy="2804160"/>
        </p:xfrm>
        <a:graphic>
          <a:graphicData uri="http://schemas.openxmlformats.org/drawingml/2006/table">
            <a:tbl>
              <a:tblPr firstRow="1" firstCol="1" bandRow="1"/>
              <a:tblGrid>
                <a:gridCol w="1794014"/>
                <a:gridCol w="1794014"/>
                <a:gridCol w="1794014"/>
              </a:tblGrid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Life (in year)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Relative frequency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1.6-2.0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2/40 = 0.05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2.1-2.5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2.6-3.0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3.1-3.5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3.6-4.0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4.1-4.5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4.6-5.0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1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Graphical Presentation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746975"/>
            <a:ext cx="10713076" cy="6001555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Graphical presentation is one of the important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ways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presenting statistical data in the form of geometrical figures like points, lines, bars, rectangles, circles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importance of graphical presentation (diagrams and graphs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Diagram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graphs can present the data into simple and intelligible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form.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Diagrams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generally more attractive and impressive than the numerical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figures.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Diagrams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help in deriving the required information in less time and without any mental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strain.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graphs and diagrams facilitate comparison of two or more set of data at a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04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746975"/>
            <a:ext cx="10713076" cy="600155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graph in which the classes boundaries are placed on the horizontal axis and the class frequencies on the vertical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axis is known as Histogram.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class frequencies are represented by the heights of the bars, and the bars are drawn adjacent to each other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98" y="2339789"/>
            <a:ext cx="6825607" cy="386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Polygon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566669"/>
            <a:ext cx="10713076" cy="6291331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 mid-values are placed on the X-axis,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either 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corresponding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frequencies or the relative frequencies or the percent frequencies 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Y-axis and add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adjacent co-ordinate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points by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straight line, the resulting graph is a frequency polygon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frequency polygon should begin and end at the base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line.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frequency polygon also shows the shape of a distribution and is similar to a histogram.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histogram and the frequency polygon allow us to get a quick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picture of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main characteristics of the data (highs, lows, points of concentration, etc.).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214" y="3251021"/>
            <a:ext cx="5305078" cy="319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Cumulative Frequency Polygon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Ogive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746975"/>
            <a:ext cx="10713076" cy="600155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graph of a cumulative distribution, called an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ogive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shows 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values (class boundary)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horizontal axis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either the cumulative frequencies, the cumulative relative frequencies,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 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cumulative percent frequencies on the vertical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axis.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Consider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 the life of laptop batteries.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(a) Show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cumulative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distribution.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(b) What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proportion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laptop had life less than 3.25 years?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(c)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proportion of laptop had life more than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4.25 years?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68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Cumulative Frequency Polygon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Ogive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746975"/>
            <a:ext cx="10713076" cy="600155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Cumulative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distributions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the data on the life of laptop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batteries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228075"/>
              </p:ext>
            </p:extLst>
          </p:nvPr>
        </p:nvGraphicFramePr>
        <p:xfrm>
          <a:off x="3590365" y="1304364"/>
          <a:ext cx="4182035" cy="2243328"/>
        </p:xfrm>
        <a:graphic>
          <a:graphicData uri="http://schemas.openxmlformats.org/drawingml/2006/table">
            <a:tbl>
              <a:tblPr firstRow="1" firstCol="1" bandRow="1"/>
              <a:tblGrid>
                <a:gridCol w="1869141"/>
                <a:gridCol w="2312894"/>
              </a:tblGrid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Life (in year)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Cumulative frequency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2.05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2.55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3.05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3.55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4.05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4.55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Less than 5.05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36" y="3718795"/>
            <a:ext cx="5038363" cy="30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8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Summarizing Qualitative 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669701"/>
            <a:ext cx="10713076" cy="6001555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Example-1: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following example demonstrates the construction and interpretation of a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distribution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qualitative data.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Coke Classic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Diet Coke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Dr. Pepper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Pepsi-Cola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Sprite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are five popular soft drinks. Assume that the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following data show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soft drink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selected in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sample of 50 soft drink purchases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366854" y="1865882"/>
          <a:ext cx="8127999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Dr. Pepper 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Dr. Pepper </a:t>
                      </a:r>
                    </a:p>
                    <a:p>
                      <a:r>
                        <a:rPr lang="en-US" dirty="0" smtClean="0"/>
                        <a:t>Sprite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Sprite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Sprite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Sprite </a:t>
                      </a:r>
                    </a:p>
                    <a:p>
                      <a:r>
                        <a:rPr lang="en-US" dirty="0" smtClean="0"/>
                        <a:t>Dr. Pepper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Dr. Pepper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Diet Coke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Coke Classic</a:t>
                      </a:r>
                    </a:p>
                    <a:p>
                      <a:r>
                        <a:rPr lang="en-US" dirty="0" smtClean="0"/>
                        <a:t>Dr. Pepper </a:t>
                      </a:r>
                    </a:p>
                    <a:p>
                      <a:r>
                        <a:rPr lang="en-US" dirty="0" smtClean="0"/>
                        <a:t>Pepsi-Cola </a:t>
                      </a:r>
                    </a:p>
                    <a:p>
                      <a:r>
                        <a:rPr lang="en-US" dirty="0" smtClean="0"/>
                        <a:t>Sprite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5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Summarizing Qualitative Data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669701"/>
            <a:ext cx="10713076" cy="6001555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Table-1: Frequency Distributions of Soft Drink Purchases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frequency distribution provides a summary of how the 50 soft drink purchases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are distributed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across the five soft drinks. 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offers more insight than the original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 given in the example-1. 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Viewing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frequency distribution, we see that Coke Classic is the leader,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Pepsi-Cola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second, Diet Coke is third, and Sprite and Dr. Pepper are tied for fourth. The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frequency distribution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summarizes information about the popularity of the five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best-selling soft drinks.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percent frequency distribution, we see that 38% of the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purchases were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Coke Classic, 16% of the purchases were Diet Coke, and so on. We can also note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that 38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+26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+16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= 80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% of the purchases were the top three soft drinks.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988" y="1068945"/>
            <a:ext cx="7675529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7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Bar Chart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90" y="746975"/>
            <a:ext cx="10713076" cy="600155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most common graphic form to present a qualitative variable is a bar chart.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graph that shows qualitative classes on the horizontal axis and the class frequencies on the vertical axis. The class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frequencies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proportional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the heights of the bars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 bar chart is a graphical presentation of the frequency distribution of soft drink purchases given in Table-1.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/>
          </p:nvPr>
        </p:nvGraphicFramePr>
        <p:xfrm>
          <a:off x="4093335" y="3113469"/>
          <a:ext cx="5398395" cy="330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460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4393"/>
            <a:ext cx="9144000" cy="605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Pie Chart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98490" y="746975"/>
                <a:ext cx="10713076" cy="6001555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Another useful type of chart for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depicting qualitative information is a pie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chart. It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especially useful for illustrating nominal level data. 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chart that shows the proportion or percentage that each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class represents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total number of frequencies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draw a pie chart, total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frequency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equated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360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 find the angles corresponding to the component values of the total and finally draw a circle with these angles of 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components. The resulting circle is a Pie chart. Pie chart for the frequency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distribution of soft drink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purchases is as follows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98490" y="746975"/>
                <a:ext cx="10713076" cy="6001555"/>
              </a:xfrm>
              <a:blipFill rotWithShape="0">
                <a:blip r:embed="rId2"/>
                <a:stretch>
                  <a:fillRect l="-512" t="-1016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/>
          <p:cNvGraphicFramePr>
            <a:graphicFrameLocks/>
          </p:cNvGraphicFramePr>
          <p:nvPr>
            <p:extLst/>
          </p:nvPr>
        </p:nvGraphicFramePr>
        <p:xfrm>
          <a:off x="3477296" y="3232598"/>
          <a:ext cx="5370491" cy="3625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0823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4327"/>
            <a:ext cx="9144000" cy="392704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Exercise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0" y="557167"/>
            <a:ext cx="11466286" cy="6061347"/>
          </a:xfrm>
        </p:spPr>
        <p:txBody>
          <a:bodyPr>
            <a:no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Problem-1: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Classify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following variables (categorical / discrete / continuous) and mention their levels of measurement (nominal / ordinal / interval / ratio); ) lifetime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Advanced Micro Devices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(AMD)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processor, number of spots per square-meter of a metal sheet, Student’s ID number, Economic status (poor, middle, rich).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Problem-2: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You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are interested in the average lifetime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AMD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processors. You collected data from 50 randomly selected AMD processors. The average (mean) lifetime of these processors is 5.4 years. Identify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population (ii) sample (iii) parameter (iv) statistic in this context.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Problem-3: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recent study of home technologies reported the number of hours of personal computer usage per week for a sample of 30 persons. The data is given below</a:t>
            </a:r>
          </a:p>
          <a:p>
            <a:pPr algn="l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5.2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 5.9,  7.8,  7.9,  8.1,  8.3,  8.8,  8.9,  9.1,  9.1,  9.4,  9.6, 10.0, 10.4, 10.6, 10.7, 11.0, 11.0,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11.1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11.3, 11.5, 11.8, 12.3, 12.7, 12.7, 13.3, 13.4, 13.5, 14.3,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14.9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(a) Use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data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construct: 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frequency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(ii)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relative frequency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(iii)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cumulative frequency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(iv)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cumulative relative frequency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Draw a histogram and comment.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Draw an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ogive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hence estimate percentage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measurements are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 less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than 8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? (ii) more than 11 (iii) between 8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11?</a:t>
            </a:r>
          </a:p>
        </p:txBody>
      </p:sp>
    </p:spTree>
    <p:extLst>
      <p:ext uri="{BB962C8B-B14F-4D97-AF65-F5344CB8AC3E}">
        <p14:creationId xmlns:p14="http://schemas.microsoft.com/office/powerpoint/2010/main" val="126928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61126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42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3919</TotalTime>
  <Words>3152</Words>
  <Application>Microsoft Office PowerPoint</Application>
  <PresentationFormat>Widescreen</PresentationFormat>
  <Paragraphs>283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COURSE TITLE: : Statistics and Probability COURSE CODE: STA 102</vt:lpstr>
      <vt:lpstr>Introduction to Statistics</vt:lpstr>
      <vt:lpstr>Variable and its type</vt:lpstr>
      <vt:lpstr>Variable and its type</vt:lpstr>
      <vt:lpstr>Scale of Measurement/ Level of measurement</vt:lpstr>
      <vt:lpstr>Level of Measurement (cont…)</vt:lpstr>
      <vt:lpstr>Level of Measurement (cont…)</vt:lpstr>
      <vt:lpstr>Level of Measurement (cont…)</vt:lpstr>
      <vt:lpstr>Level of Measurement (cont…)</vt:lpstr>
      <vt:lpstr>Classification of variable by level of measurement</vt:lpstr>
      <vt:lpstr>Terminologies</vt:lpstr>
      <vt:lpstr>Terminologies (cont…)</vt:lpstr>
      <vt:lpstr>Methods of Data Collection</vt:lpstr>
      <vt:lpstr>Descriptive and Inferential Statistics</vt:lpstr>
      <vt:lpstr>Tabulation: The Frequency Distribution</vt:lpstr>
      <vt:lpstr>Grouped Data: The Frequency Distribution (cont…)</vt:lpstr>
      <vt:lpstr>Grouped Data: The Frequency Distribution (cont…)</vt:lpstr>
      <vt:lpstr>How to Construct a Frequency Distribution</vt:lpstr>
      <vt:lpstr>Constructing a Frequency Distribution </vt:lpstr>
      <vt:lpstr>Graphical Presentation</vt:lpstr>
      <vt:lpstr>Histogram</vt:lpstr>
      <vt:lpstr>Frequency Polygon</vt:lpstr>
      <vt:lpstr>Cumulative Frequency Polygon (Ogive)</vt:lpstr>
      <vt:lpstr>Cumulative Frequency Polygon (Ogive)</vt:lpstr>
      <vt:lpstr>Summarizing Qualitative Data</vt:lpstr>
      <vt:lpstr>Summarizing Qualitative Data (cont…)</vt:lpstr>
      <vt:lpstr>Bar Chart</vt:lpstr>
      <vt:lpstr>Pie Chart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TITLE:  Business Statistics COURSE CODE: BUS 7203</dc:title>
  <dc:creator>EH</dc:creator>
  <cp:lastModifiedBy>Statistics</cp:lastModifiedBy>
  <cp:revision>249</cp:revision>
  <dcterms:created xsi:type="dcterms:W3CDTF">2021-09-04T13:58:51Z</dcterms:created>
  <dcterms:modified xsi:type="dcterms:W3CDTF">2025-09-27T15:49:11Z</dcterms:modified>
</cp:coreProperties>
</file>