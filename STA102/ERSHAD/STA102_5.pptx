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30"/>
  </p:notesMasterIdLst>
  <p:sldIdLst>
    <p:sldId id="339" r:id="rId2"/>
    <p:sldId id="287" r:id="rId3"/>
    <p:sldId id="288" r:id="rId4"/>
    <p:sldId id="289" r:id="rId5"/>
    <p:sldId id="290" r:id="rId6"/>
    <p:sldId id="291" r:id="rId7"/>
    <p:sldId id="292" r:id="rId8"/>
    <p:sldId id="293" r:id="rId9"/>
    <p:sldId id="294" r:id="rId10"/>
    <p:sldId id="295" r:id="rId11"/>
    <p:sldId id="300" r:id="rId12"/>
    <p:sldId id="301" r:id="rId13"/>
    <p:sldId id="329" r:id="rId14"/>
    <p:sldId id="302" r:id="rId15"/>
    <p:sldId id="303" r:id="rId16"/>
    <p:sldId id="305" r:id="rId17"/>
    <p:sldId id="306" r:id="rId18"/>
    <p:sldId id="307" r:id="rId19"/>
    <p:sldId id="325" r:id="rId20"/>
    <p:sldId id="331" r:id="rId21"/>
    <p:sldId id="332" r:id="rId22"/>
    <p:sldId id="333" r:id="rId23"/>
    <p:sldId id="334" r:id="rId24"/>
    <p:sldId id="335" r:id="rId25"/>
    <p:sldId id="336" r:id="rId26"/>
    <p:sldId id="337" r:id="rId27"/>
    <p:sldId id="338" r:id="rId28"/>
    <p:sldId id="28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18"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44B329-F7DC-4FB8-A2F1-F34DB532794D}" type="datetimeFigureOut">
              <a:rPr lang="en-US" smtClean="0"/>
              <a:t>28/10/2025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A87247-A756-40E3-8222-D68CE184A620}" type="slidenum">
              <a:rPr lang="en-US" smtClean="0"/>
              <a:t>‹#›</a:t>
            </a:fld>
            <a:endParaRPr lang="en-US"/>
          </a:p>
        </p:txBody>
      </p:sp>
    </p:spTree>
    <p:extLst>
      <p:ext uri="{BB962C8B-B14F-4D97-AF65-F5344CB8AC3E}">
        <p14:creationId xmlns:p14="http://schemas.microsoft.com/office/powerpoint/2010/main" val="3054990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AE9BE1E-5F2D-465B-B7AA-A3F35EC386BE}" type="datetimeFigureOut">
              <a:rPr lang="en-US" smtClean="0"/>
              <a:pPr/>
              <a:t>28/10/2025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297916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E9BE1E-5F2D-465B-B7AA-A3F35EC386BE}" type="datetimeFigureOut">
              <a:rPr lang="en-US" smtClean="0"/>
              <a:pPr/>
              <a:t>28/10/2025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2786048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AE9BE1E-5F2D-465B-B7AA-A3F35EC386BE}" type="datetimeFigureOut">
              <a:rPr lang="en-US" smtClean="0"/>
              <a:pPr/>
              <a:t>28/10/2025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795539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AE9BE1E-5F2D-465B-B7AA-A3F35EC386BE}" type="datetimeFigureOut">
              <a:rPr lang="en-US" smtClean="0"/>
              <a:pPr/>
              <a:t>28/10/2025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2951317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AE9BE1E-5F2D-465B-B7AA-A3F35EC386BE}" type="datetimeFigureOut">
              <a:rPr lang="en-US" smtClean="0"/>
              <a:pPr/>
              <a:t>28/10/2025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607939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AE9BE1E-5F2D-465B-B7AA-A3F35EC386BE}" type="datetimeFigureOut">
              <a:rPr lang="en-US" smtClean="0"/>
              <a:pPr/>
              <a:t>28/10/2025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2485994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E9BE1E-5F2D-465B-B7AA-A3F35EC386BE}" type="datetimeFigureOut">
              <a:rPr lang="en-US" smtClean="0"/>
              <a:pPr/>
              <a:t>28/10/2025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2397187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E9BE1E-5F2D-465B-B7AA-A3F35EC386BE}" type="datetimeFigureOut">
              <a:rPr lang="en-US" smtClean="0"/>
              <a:pPr/>
              <a:t>28/10/2025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991195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E9BE1E-5F2D-465B-B7AA-A3F35EC386BE}" type="datetimeFigureOut">
              <a:rPr lang="en-US" smtClean="0"/>
              <a:pPr/>
              <a:t>28/10/2025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3733687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E9BE1E-5F2D-465B-B7AA-A3F35EC386BE}" type="datetimeFigureOut">
              <a:rPr lang="en-US" smtClean="0"/>
              <a:pPr/>
              <a:t>28/10/2025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865993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E9BE1E-5F2D-465B-B7AA-A3F35EC386BE}" type="datetimeFigureOut">
              <a:rPr lang="en-US" smtClean="0"/>
              <a:pPr/>
              <a:t>28/10/2025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421298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E9BE1E-5F2D-465B-B7AA-A3F35EC386BE}" type="datetimeFigureOut">
              <a:rPr lang="en-US" smtClean="0"/>
              <a:pPr/>
              <a:t>28/10/2025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18553F-0502-40B5-88F7-0911625DF834}" type="slidenum">
              <a:rPr lang="en-US" smtClean="0"/>
              <a:pPr/>
              <a:t>‹#›</a:t>
            </a:fld>
            <a:endParaRPr lang="en-US"/>
          </a:p>
        </p:txBody>
      </p:sp>
    </p:spTree>
    <p:extLst>
      <p:ext uri="{BB962C8B-B14F-4D97-AF65-F5344CB8AC3E}">
        <p14:creationId xmlns:p14="http://schemas.microsoft.com/office/powerpoint/2010/main" val="2783327291"/>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047" y="399246"/>
            <a:ext cx="10183906" cy="2034672"/>
          </a:xfrm>
        </p:spPr>
        <p:txBody>
          <a:bodyPr>
            <a:noAutofit/>
          </a:bodyPr>
          <a:lstStyle/>
          <a:p>
            <a:pPr>
              <a:lnSpc>
                <a:spcPct val="150000"/>
              </a:lnSpc>
            </a:pPr>
            <a:r>
              <a:rPr lang="en-US" sz="3000" b="1" dirty="0">
                <a:latin typeface="Arial" panose="020B0604020202020204" pitchFamily="34" charset="0"/>
                <a:cs typeface="Arial" panose="020B0604020202020204" pitchFamily="34" charset="0"/>
              </a:rPr>
              <a:t>COURSE TITLE: </a:t>
            </a:r>
            <a:r>
              <a:rPr lang="en-US" sz="3200" b="1" dirty="0" smtClean="0"/>
              <a:t>: Statistics </a:t>
            </a:r>
            <a:r>
              <a:rPr lang="en-US" sz="2800" b="1" dirty="0" smtClean="0"/>
              <a:t>and </a:t>
            </a:r>
            <a:r>
              <a:rPr lang="en-US" sz="2800" b="1" dirty="0"/>
              <a:t>Probability</a:t>
            </a:r>
            <a:r>
              <a:rPr lang="en-US" sz="3000" dirty="0">
                <a:latin typeface="Arial" panose="020B0604020202020204" pitchFamily="34" charset="0"/>
                <a:cs typeface="Arial" panose="020B0604020202020204" pitchFamily="34" charset="0"/>
              </a:rPr>
              <a:t/>
            </a:r>
            <a:br>
              <a:rPr lang="en-US" sz="3000" dirty="0">
                <a:latin typeface="Arial" panose="020B0604020202020204" pitchFamily="34" charset="0"/>
                <a:cs typeface="Arial" panose="020B0604020202020204" pitchFamily="34" charset="0"/>
              </a:rPr>
            </a:br>
            <a:r>
              <a:rPr lang="en-US" sz="3200" b="1" dirty="0">
                <a:latin typeface="Arial" panose="020B0604020202020204" pitchFamily="34" charset="0"/>
                <a:cs typeface="Arial" panose="020B0604020202020204" pitchFamily="34" charset="0"/>
              </a:rPr>
              <a:t>COURSE CODE: </a:t>
            </a:r>
            <a:r>
              <a:rPr lang="en-US" sz="3200" dirty="0" smtClean="0">
                <a:latin typeface="Arial" panose="020B0604020202020204" pitchFamily="34" charset="0"/>
                <a:cs typeface="Arial" panose="020B0604020202020204" pitchFamily="34" charset="0"/>
              </a:rPr>
              <a:t>STA 102</a:t>
            </a:r>
            <a:br>
              <a:rPr lang="en-US" sz="3200" dirty="0" smtClean="0">
                <a:latin typeface="Arial" panose="020B0604020202020204" pitchFamily="34" charset="0"/>
                <a:cs typeface="Arial" panose="020B0604020202020204" pitchFamily="34" charset="0"/>
              </a:rPr>
            </a:br>
            <a:r>
              <a:rPr lang="en-US" sz="3200" b="1" dirty="0">
                <a:latin typeface="Arial" panose="020B0604020202020204" pitchFamily="34" charset="0"/>
                <a:cs typeface="Arial" panose="020B0604020202020204" pitchFamily="34" charset="0"/>
              </a:rPr>
              <a:t>Topics:</a:t>
            </a:r>
            <a:r>
              <a:rPr lang="en-US" sz="3200" dirty="0">
                <a:solidFill>
                  <a:srgbClr val="000000"/>
                </a:solidFill>
                <a:latin typeface="Calibri" panose="020B0604020202020204" pitchFamily="34" charset="0"/>
                <a:cs typeface="Arial" panose="020B0604020202020204" pitchFamily="34" charset="0"/>
              </a:rPr>
              <a:t> </a:t>
            </a:r>
            <a:r>
              <a:rPr lang="en-US" sz="2900" b="1" dirty="0" smtClean="0"/>
              <a:t>Probability: Basic Concept, Independence, Bayes’ Theorem</a:t>
            </a:r>
            <a:endParaRPr lang="en-US" sz="29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1524000" y="3061126"/>
            <a:ext cx="9144000" cy="1655762"/>
          </a:xfrm>
        </p:spPr>
        <p:txBody>
          <a:bodyPr>
            <a:normAutofit fontScale="77500" lnSpcReduction="20000"/>
          </a:bodyPr>
          <a:lstStyle/>
          <a:p>
            <a:pPr>
              <a:lnSpc>
                <a:spcPct val="120000"/>
              </a:lnSpc>
            </a:pPr>
            <a:r>
              <a:rPr lang="en-US" dirty="0" smtClean="0">
                <a:latin typeface="Arial" panose="020B0604020202020204" pitchFamily="34" charset="0"/>
                <a:cs typeface="Arial" panose="020B0604020202020204" pitchFamily="34" charset="0"/>
              </a:rPr>
              <a:t>Instructor: Md. </a:t>
            </a:r>
            <a:r>
              <a:rPr lang="en-US" dirty="0" err="1" smtClean="0">
                <a:latin typeface="Arial" panose="020B0604020202020204" pitchFamily="34" charset="0"/>
                <a:cs typeface="Arial" panose="020B0604020202020204" pitchFamily="34" charset="0"/>
              </a:rPr>
              <a:t>Ershadul</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Haque</a:t>
            </a:r>
            <a:r>
              <a:rPr lang="en-US" dirty="0" smtClean="0">
                <a:latin typeface="Arial" panose="020B0604020202020204" pitchFamily="34" charset="0"/>
                <a:cs typeface="Arial" panose="020B0604020202020204" pitchFamily="34" charset="0"/>
              </a:rPr>
              <a:t>, PhD</a:t>
            </a:r>
          </a:p>
          <a:p>
            <a:pPr>
              <a:lnSpc>
                <a:spcPct val="120000"/>
              </a:lnSpc>
            </a:pPr>
            <a:r>
              <a:rPr lang="en-US" dirty="0" smtClean="0">
                <a:latin typeface="Arial" panose="020B0604020202020204" pitchFamily="34" charset="0"/>
                <a:cs typeface="Arial" panose="020B0604020202020204" pitchFamily="34" charset="0"/>
              </a:rPr>
              <a:t>Professor, Department of Statistics, DU</a:t>
            </a:r>
          </a:p>
          <a:p>
            <a:pPr>
              <a:lnSpc>
                <a:spcPct val="120000"/>
              </a:lnSpc>
            </a:pPr>
            <a:r>
              <a:rPr lang="en-US" dirty="0" smtClean="0">
                <a:latin typeface="Arial" panose="020B0604020202020204" pitchFamily="34" charset="0"/>
                <a:cs typeface="Arial" panose="020B0604020202020204" pitchFamily="34" charset="0"/>
              </a:rPr>
              <a:t>&amp;</a:t>
            </a:r>
          </a:p>
          <a:p>
            <a:pPr>
              <a:lnSpc>
                <a:spcPct val="120000"/>
              </a:lnSpc>
            </a:pPr>
            <a:r>
              <a:rPr lang="en-US" dirty="0" smtClean="0">
                <a:latin typeface="Arial" panose="020B0604020202020204" pitchFamily="34" charset="0"/>
                <a:cs typeface="Arial" panose="020B0604020202020204" pitchFamily="34" charset="0"/>
              </a:rPr>
              <a:t>Adjunct Faculty, EWU, Bangladesh</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687899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Probability</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Probability</a:t>
                </a:r>
                <a:r>
                  <a:rPr lang="en-US" sz="2000" dirty="0">
                    <a:latin typeface="Arial" panose="020B0604020202020204" pitchFamily="34" charset="0"/>
                    <a:cs typeface="Arial" panose="020B0604020202020204" pitchFamily="34" charset="0"/>
                  </a:rPr>
                  <a:t> is used to quantify the relative possibility (likelihood, or chance) of a statement about the occurrence of an event. A </a:t>
                </a:r>
                <a:r>
                  <a:rPr lang="en-US" sz="2000" b="1" dirty="0">
                    <a:latin typeface="Arial" panose="020B0604020202020204" pitchFamily="34" charset="0"/>
                    <a:cs typeface="Arial" panose="020B0604020202020204" pitchFamily="34" charset="0"/>
                  </a:rPr>
                  <a:t>probability</a:t>
                </a:r>
                <a:r>
                  <a:rPr lang="en-US" sz="2000" dirty="0">
                    <a:latin typeface="Arial" panose="020B0604020202020204" pitchFamily="34" charset="0"/>
                    <a:cs typeface="Arial" panose="020B0604020202020204" pitchFamily="34" charset="0"/>
                  </a:rPr>
                  <a:t> is a numerical value ranging from 0 to 1.</a:t>
                </a:r>
              </a:p>
              <a:p>
                <a:pPr marL="800100" lvl="1"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A high probability indicates that the outcome is more likely to occur.</a:t>
                </a: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A zero value (0)</a:t>
                </a:r>
                <a:r>
                  <a:rPr lang="en-US" sz="2000" dirty="0">
                    <a:latin typeface="Arial" panose="020B0604020202020204" pitchFamily="34" charset="0"/>
                    <a:cs typeface="Arial" panose="020B0604020202020204" pitchFamily="34" charset="0"/>
                  </a:rPr>
                  <a:t> indicates that the event will not occur, an </a:t>
                </a:r>
                <a:r>
                  <a:rPr lang="en-US" sz="2000" b="1" dirty="0">
                    <a:latin typeface="Arial" panose="020B0604020202020204" pitchFamily="34" charset="0"/>
                    <a:cs typeface="Arial" panose="020B0604020202020204" pitchFamily="34" charset="0"/>
                  </a:rPr>
                  <a:t>impossible event</a:t>
                </a:r>
                <a:r>
                  <a:rPr lang="en-US" sz="2000" dirty="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 A probability of 1 indicates an event will occur with certainty i.e., </a:t>
                </a:r>
                <a:r>
                  <a:rPr lang="en-US" sz="2000" b="1" dirty="0">
                    <a:latin typeface="Arial" panose="020B0604020202020204" pitchFamily="34" charset="0"/>
                    <a:cs typeface="Arial" panose="020B0604020202020204" pitchFamily="34" charset="0"/>
                  </a:rPr>
                  <a:t>certain event</a:t>
                </a:r>
                <a:r>
                  <a:rPr lang="en-US" sz="2000" dirty="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f we assign an event </a:t>
                </a:r>
                <a14:m>
                  <m:oMath xmlns:m="http://schemas.openxmlformats.org/officeDocument/2006/math">
                    <m:r>
                      <a:rPr lang="en-US" sz="2000">
                        <a:latin typeface="Cambria Math" panose="02040503050406030204" pitchFamily="18" charset="0"/>
                        <a:cs typeface="Arial" panose="020B0604020202020204" pitchFamily="34" charset="0"/>
                      </a:rPr>
                      <m:t>𝐴</m:t>
                    </m:r>
                    <m:r>
                      <a:rPr lang="en-US" sz="2000">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the items produced in a production process is defective. Then</a:t>
                </a:r>
                <a:r>
                  <a:rPr lang="en-US" dirty="0">
                    <a:latin typeface="Arial" panose="020B0604020202020204" pitchFamily="34" charset="0"/>
                    <a:cs typeface="Arial" panose="020B0604020202020204" pitchFamily="34" charset="0"/>
                  </a:rPr>
                  <a:t> </a:t>
                </a:r>
                <a14:m>
                  <m:oMath xmlns:m="http://schemas.openxmlformats.org/officeDocument/2006/math">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𝐴</m:t>
                        </m:r>
                      </m:e>
                    </m:d>
                    <m:r>
                      <a:rPr lang="en-US" sz="2000">
                        <a:latin typeface="Cambria Math" panose="02040503050406030204" pitchFamily="18" charset="0"/>
                        <a:cs typeface="Arial" panose="020B0604020202020204" pitchFamily="34" charset="0"/>
                      </a:rPr>
                      <m:t>=0.10</m:t>
                    </m:r>
                  </m:oMath>
                </a14:m>
                <a:r>
                  <a:rPr lang="en-US" sz="2000" dirty="0">
                    <a:latin typeface="Arial" panose="020B0604020202020204" pitchFamily="34" charset="0"/>
                    <a:cs typeface="Arial" panose="020B0604020202020204" pitchFamily="34" charset="0"/>
                  </a:rPr>
                  <a:t> is interpreted as “if we inspect a large number of items that have been produced by the production process, approximately 10% of them will be defective”.</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b="1" i="1"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36599405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dirty="0"/>
              <a:t/>
            </a:r>
            <a:br>
              <a:rPr lang="en-US" sz="2400" dirty="0"/>
            </a:br>
            <a:r>
              <a:rPr lang="en-US" sz="2400" b="1" dirty="0">
                <a:latin typeface="Arial" panose="020B0604020202020204" pitchFamily="34" charset="0"/>
                <a:cs typeface="Arial" panose="020B0604020202020204" pitchFamily="34" charset="0"/>
              </a:rPr>
              <a:t>Terminologies in Probability</a:t>
            </a:r>
          </a:p>
        </p:txBody>
      </p:sp>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Random Experiment:</a:t>
            </a:r>
            <a:r>
              <a:rPr lang="en-US" sz="2000" dirty="0">
                <a:latin typeface="Arial" panose="020B0604020202020204" pitchFamily="34" charset="0"/>
                <a:cs typeface="Arial" panose="020B0604020202020204" pitchFamily="34" charset="0"/>
              </a:rPr>
              <a:t> The process that can results in different outcomes, even though it is repeated in the same manner every time. The following are some examples of random experiment: </a:t>
            </a:r>
          </a:p>
          <a:p>
            <a:pPr marL="800100" lvl="1"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flipping a coin</a:t>
            </a:r>
            <a:endParaRPr lang="en-US"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rolling a </a:t>
            </a:r>
            <a:r>
              <a:rPr lang="en-US" sz="2000" dirty="0" smtClean="0">
                <a:latin typeface="Arial" panose="020B0604020202020204" pitchFamily="34" charset="0"/>
                <a:cs typeface="Arial" panose="020B0604020202020204" pitchFamily="34" charset="0"/>
              </a:rPr>
              <a:t>die</a:t>
            </a:r>
            <a:endParaRPr lang="en-US" sz="20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counting the number of accidents </a:t>
            </a:r>
            <a:r>
              <a:rPr lang="en-US" dirty="0">
                <a:latin typeface="Arial" panose="020B0604020202020204" pitchFamily="34" charset="0"/>
                <a:cs typeface="Arial" panose="020B0604020202020204" pitchFamily="34" charset="0"/>
              </a:rPr>
              <a:t>per </a:t>
            </a:r>
            <a:r>
              <a:rPr lang="en-US" sz="2000" dirty="0">
                <a:latin typeface="Arial" panose="020B0604020202020204" pitchFamily="34" charset="0"/>
                <a:cs typeface="Arial" panose="020B0604020202020204" pitchFamily="34" charset="0"/>
              </a:rPr>
              <a:t>day in a highway</a:t>
            </a:r>
          </a:p>
          <a:p>
            <a:pPr marL="800100" lvl="1" indent="-342900" algn="just">
              <a:lnSpc>
                <a:spcPct val="150000"/>
              </a:lnSpc>
              <a:buFont typeface="Wingdings" panose="05000000000000000000" pitchFamily="2" charset="2"/>
              <a:buChar char="ü"/>
            </a:pPr>
            <a:r>
              <a:rPr lang="en-US" dirty="0" smtClean="0">
                <a:latin typeface="Arial" panose="020B0604020202020204" pitchFamily="34" charset="0"/>
                <a:cs typeface="Arial" panose="020B0604020202020204" pitchFamily="34" charset="0"/>
              </a:rPr>
              <a:t>counting </a:t>
            </a:r>
            <a:r>
              <a:rPr lang="en-US" dirty="0">
                <a:latin typeface="Arial" panose="020B0604020202020204" pitchFamily="34" charset="0"/>
                <a:cs typeface="Arial" panose="020B0604020202020204" pitchFamily="34" charset="0"/>
              </a:rPr>
              <a:t>the number of defective items in the lot containing 50 items</a:t>
            </a:r>
          </a:p>
          <a:p>
            <a:pPr marL="800100" lvl="1" indent="-342900" algn="just">
              <a:lnSpc>
                <a:spcPct val="150000"/>
              </a:lnSpc>
              <a:buFont typeface="Wingdings" panose="05000000000000000000" pitchFamily="2" charset="2"/>
              <a:buChar char="ü"/>
            </a:pPr>
            <a:r>
              <a:rPr lang="en-US" dirty="0" smtClean="0">
                <a:latin typeface="Arial" panose="020B0604020202020204" pitchFamily="34" charset="0"/>
                <a:cs typeface="Arial" panose="020B0604020202020204" pitchFamily="34" charset="0"/>
              </a:rPr>
              <a:t>measuring </a:t>
            </a:r>
            <a:r>
              <a:rPr lang="en-US" dirty="0">
                <a:latin typeface="Arial" panose="020B0604020202020204" pitchFamily="34" charset="0"/>
                <a:cs typeface="Arial" panose="020B0604020202020204" pitchFamily="34" charset="0"/>
              </a:rPr>
              <a:t>the waiting time of customers wait in a queue of ATM booth</a:t>
            </a:r>
          </a:p>
        </p:txBody>
      </p:sp>
    </p:spTree>
    <p:extLst>
      <p:ext uri="{BB962C8B-B14F-4D97-AF65-F5344CB8AC3E}">
        <p14:creationId xmlns:p14="http://schemas.microsoft.com/office/powerpoint/2010/main" val="13419664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dirty="0"/>
              <a:t/>
            </a:r>
            <a:br>
              <a:rPr lang="en-US" sz="2400" dirty="0"/>
            </a:br>
            <a:r>
              <a:rPr lang="en-US" sz="2400" b="1" dirty="0">
                <a:latin typeface="Arial" panose="020B0604020202020204" pitchFamily="34" charset="0"/>
                <a:cs typeface="Arial" panose="020B0604020202020204" pitchFamily="34" charset="0"/>
              </a:rPr>
              <a:t>Terminologies in Probability (</a:t>
            </a:r>
            <a:r>
              <a:rPr lang="en-US" sz="2400" b="1" dirty="0" err="1">
                <a:latin typeface="Arial" panose="020B0604020202020204" pitchFamily="34" charset="0"/>
                <a:cs typeface="Arial" panose="020B0604020202020204" pitchFamily="34" charset="0"/>
              </a:rPr>
              <a:t>cont</a:t>
            </a:r>
            <a:r>
              <a:rPr lang="en-US" sz="2400" b="1"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Sample Space:</a:t>
                </a:r>
                <a:r>
                  <a:rPr lang="en-US" sz="2000" dirty="0">
                    <a:latin typeface="Arial" panose="020B0604020202020204" pitchFamily="34" charset="0"/>
                    <a:cs typeface="Arial" panose="020B0604020202020204" pitchFamily="34" charset="0"/>
                  </a:rPr>
                  <a:t> The set of all possible outcomes of a random experiment is called the sample space of the experiment. The sample space is denoted by </a:t>
                </a:r>
                <a14:m>
                  <m:oMath xmlns:m="http://schemas.openxmlformats.org/officeDocument/2006/math">
                    <m:r>
                      <a:rPr lang="en-US" sz="2000" i="1">
                        <a:latin typeface="Cambria Math" panose="02040503050406030204" pitchFamily="18" charset="0"/>
                      </a:rPr>
                      <m:t>𝑆</m:t>
                    </m:r>
                  </m:oMath>
                </a14:m>
                <a:r>
                  <a:rPr lang="en-US" sz="2000" dirty="0">
                    <a:latin typeface="Arial" panose="020B0604020202020204" pitchFamily="34" charset="0"/>
                    <a:cs typeface="Arial" panose="020B0604020202020204" pitchFamily="34" charset="0"/>
                  </a:rPr>
                  <a:t>. We can treat the sample space as a universal set </a:t>
                </a:r>
                <a14:m>
                  <m:oMath xmlns:m="http://schemas.openxmlformats.org/officeDocument/2006/math">
                    <m:r>
                      <a:rPr lang="en-US" sz="2000" i="1">
                        <a:latin typeface="Cambria Math" panose="02040503050406030204" pitchFamily="18" charset="0"/>
                      </a:rPr>
                      <m:t>𝑈</m:t>
                    </m:r>
                  </m:oMath>
                </a14:m>
                <a:r>
                  <a:rPr lang="en-US" sz="2000" dirty="0">
                    <a:latin typeface="Arial" panose="020B0604020202020204" pitchFamily="34" charset="0"/>
                    <a:cs typeface="Arial" panose="020B0604020202020204" pitchFamily="34" charset="0"/>
                  </a:rPr>
                  <a:t>. The sample space for</a:t>
                </a:r>
              </a:p>
              <a:p>
                <a:pPr marL="800100" lvl="1"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The sample space for rolling a single six-sided die experiment is</a:t>
                </a:r>
              </a:p>
              <a:p>
                <a:pPr lvl="1" algn="just">
                  <a:lnSpc>
                    <a:spcPct val="150000"/>
                  </a:lnSpc>
                </a:pPr>
                <a:r>
                  <a:rPr lang="en-US" sz="2000" dirty="0">
                    <a:latin typeface="Arial" panose="020B0604020202020204" pitchFamily="34" charset="0"/>
                    <a:cs typeface="Arial" panose="020B0604020202020204" pitchFamily="34" charset="0"/>
                  </a:rPr>
                  <a:t> </a:t>
                </a:r>
                <a14:m>
                  <m:oMath xmlns:m="http://schemas.openxmlformats.org/officeDocument/2006/math">
                    <m:r>
                      <a:rPr lang="en-US" sz="2000">
                        <a:latin typeface="Cambria Math" panose="02040503050406030204" pitchFamily="18" charset="0"/>
                        <a:cs typeface="Arial" panose="020B0604020202020204" pitchFamily="34" charset="0"/>
                      </a:rPr>
                      <m:t>𝑆</m:t>
                    </m:r>
                    <m:r>
                      <a:rPr lang="en-US" sz="2000">
                        <a:latin typeface="Cambria Math" panose="02040503050406030204" pitchFamily="18" charset="0"/>
                        <a:cs typeface="Arial" panose="020B0604020202020204" pitchFamily="34" charset="0"/>
                      </a:rPr>
                      <m:t>=</m:t>
                    </m:r>
                    <m:d>
                      <m:dPr>
                        <m:begChr m:val="{"/>
                        <m:endChr m:val="}"/>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1 </m:t>
                        </m:r>
                        <m:r>
                          <m:rPr>
                            <m:sty m:val="p"/>
                          </m:rPr>
                          <a:rPr lang="en-US" sz="2000">
                            <a:latin typeface="Cambria Math" panose="02040503050406030204" pitchFamily="18" charset="0"/>
                            <a:cs typeface="Arial" panose="020B0604020202020204" pitchFamily="34" charset="0"/>
                          </a:rPr>
                          <m:t>dot</m:t>
                        </m:r>
                        <m:r>
                          <a:rPr lang="en-US" sz="2000">
                            <a:latin typeface="Cambria Math" panose="02040503050406030204" pitchFamily="18" charset="0"/>
                            <a:cs typeface="Arial" panose="020B0604020202020204" pitchFamily="34" charset="0"/>
                          </a:rPr>
                          <m:t>, 2 </m:t>
                        </m:r>
                        <m:r>
                          <m:rPr>
                            <m:sty m:val="p"/>
                          </m:rPr>
                          <a:rPr lang="en-US" sz="2000">
                            <a:latin typeface="Cambria Math" panose="02040503050406030204" pitchFamily="18" charset="0"/>
                            <a:cs typeface="Arial" panose="020B0604020202020204" pitchFamily="34" charset="0"/>
                          </a:rPr>
                          <m:t>dots</m:t>
                        </m:r>
                        <m:r>
                          <a:rPr lang="en-US" sz="2000">
                            <a:latin typeface="Cambria Math" panose="02040503050406030204" pitchFamily="18" charset="0"/>
                            <a:cs typeface="Arial" panose="020B0604020202020204" pitchFamily="34" charset="0"/>
                          </a:rPr>
                          <m:t>, 3 </m:t>
                        </m:r>
                        <m:r>
                          <m:rPr>
                            <m:sty m:val="p"/>
                          </m:rPr>
                          <a:rPr lang="en-US" sz="2000">
                            <a:latin typeface="Cambria Math" panose="02040503050406030204" pitchFamily="18" charset="0"/>
                            <a:cs typeface="Arial" panose="020B0604020202020204" pitchFamily="34" charset="0"/>
                          </a:rPr>
                          <m:t>dots</m:t>
                        </m:r>
                        <m:r>
                          <a:rPr lang="en-US" sz="2000">
                            <a:latin typeface="Cambria Math" panose="02040503050406030204" pitchFamily="18" charset="0"/>
                            <a:cs typeface="Arial" panose="020B0604020202020204" pitchFamily="34" charset="0"/>
                          </a:rPr>
                          <m:t>, 4 </m:t>
                        </m:r>
                        <m:r>
                          <m:rPr>
                            <m:sty m:val="p"/>
                          </m:rPr>
                          <a:rPr lang="en-US" sz="2000">
                            <a:latin typeface="Cambria Math" panose="02040503050406030204" pitchFamily="18" charset="0"/>
                            <a:cs typeface="Arial" panose="020B0604020202020204" pitchFamily="34" charset="0"/>
                          </a:rPr>
                          <m:t>dots</m:t>
                        </m:r>
                        <m:r>
                          <a:rPr lang="en-US" sz="2000">
                            <a:latin typeface="Cambria Math" panose="02040503050406030204" pitchFamily="18" charset="0"/>
                            <a:cs typeface="Arial" panose="020B0604020202020204" pitchFamily="34" charset="0"/>
                          </a:rPr>
                          <m:t>, 5 </m:t>
                        </m:r>
                        <m:r>
                          <m:rPr>
                            <m:sty m:val="p"/>
                          </m:rPr>
                          <a:rPr lang="en-US" sz="2000">
                            <a:latin typeface="Cambria Math" panose="02040503050406030204" pitchFamily="18" charset="0"/>
                            <a:cs typeface="Arial" panose="020B0604020202020204" pitchFamily="34" charset="0"/>
                          </a:rPr>
                          <m:t>dots</m:t>
                        </m:r>
                        <m:r>
                          <a:rPr lang="en-US" sz="2000">
                            <a:latin typeface="Cambria Math" panose="02040503050406030204" pitchFamily="18" charset="0"/>
                            <a:cs typeface="Arial" panose="020B0604020202020204" pitchFamily="34" charset="0"/>
                          </a:rPr>
                          <m:t>, 6 </m:t>
                        </m:r>
                        <m:r>
                          <m:rPr>
                            <m:sty m:val="p"/>
                          </m:rPr>
                          <a:rPr lang="en-US" sz="2000">
                            <a:latin typeface="Cambria Math" panose="02040503050406030204" pitchFamily="18" charset="0"/>
                            <a:cs typeface="Arial" panose="020B0604020202020204" pitchFamily="34" charset="0"/>
                          </a:rPr>
                          <m:t>dots</m:t>
                        </m:r>
                      </m:e>
                    </m:d>
                  </m:oMath>
                </a14:m>
                <a:r>
                  <a:rPr lang="en-US" sz="2000" dirty="0">
                    <a:latin typeface="Arial" panose="020B0604020202020204" pitchFamily="34" charset="0"/>
                    <a:cs typeface="Arial" panose="020B0604020202020204" pitchFamily="34" charset="0"/>
                  </a:rPr>
                  <a:t>. </a:t>
                </a: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The sample space for </a:t>
                </a:r>
                <a:r>
                  <a:rPr lang="en-US" sz="2000" dirty="0">
                    <a:latin typeface="Arial" panose="020B0604020202020204" pitchFamily="34" charset="0"/>
                    <a:cs typeface="Arial" panose="020B0604020202020204" pitchFamily="34" charset="0"/>
                  </a:rPr>
                  <a:t>picking an answer blindly for a multiple-choice question is</a:t>
                </a:r>
              </a:p>
              <a:p>
                <a:pPr lvl="1" algn="just">
                  <a:lnSpc>
                    <a:spcPct val="150000"/>
                  </a:lnSpc>
                </a:pPr>
                <a:r>
                  <a:rPr lang="en-US" sz="2000" dirty="0">
                    <a:latin typeface="Arial" panose="020B0604020202020204" pitchFamily="34" charset="0"/>
                    <a:cs typeface="Arial" panose="020B0604020202020204" pitchFamily="34" charset="0"/>
                  </a:rPr>
                  <a:t> </a:t>
                </a:r>
                <a14:m>
                  <m:oMath xmlns:m="http://schemas.openxmlformats.org/officeDocument/2006/math">
                    <m:r>
                      <a:rPr lang="en-US" sz="2000">
                        <a:latin typeface="Cambria Math" panose="02040503050406030204" pitchFamily="18" charset="0"/>
                        <a:cs typeface="Arial" panose="020B0604020202020204" pitchFamily="34" charset="0"/>
                      </a:rPr>
                      <m:t>𝑆</m:t>
                    </m:r>
                    <m:r>
                      <a:rPr lang="en-US" sz="2000">
                        <a:latin typeface="Cambria Math" panose="02040503050406030204" pitchFamily="18" charset="0"/>
                        <a:cs typeface="Arial" panose="020B0604020202020204" pitchFamily="34" charset="0"/>
                      </a:rPr>
                      <m:t>=</m:t>
                    </m:r>
                    <m:d>
                      <m:dPr>
                        <m:begChr m:val="{"/>
                        <m:endChr m:val="}"/>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𝐴</m:t>
                        </m:r>
                        <m:r>
                          <a:rPr lang="en-US" sz="2000">
                            <a:latin typeface="Cambria Math" panose="02040503050406030204" pitchFamily="18" charset="0"/>
                            <a:cs typeface="Arial" panose="020B0604020202020204" pitchFamily="34" charset="0"/>
                          </a:rPr>
                          <m:t>, </m:t>
                        </m:r>
                        <m:r>
                          <a:rPr lang="en-US" sz="2000">
                            <a:latin typeface="Cambria Math" panose="02040503050406030204" pitchFamily="18" charset="0"/>
                            <a:cs typeface="Arial" panose="020B0604020202020204" pitchFamily="34" charset="0"/>
                          </a:rPr>
                          <m:t>𝐵</m:t>
                        </m:r>
                        <m:r>
                          <a:rPr lang="en-US" sz="2000">
                            <a:latin typeface="Cambria Math" panose="02040503050406030204" pitchFamily="18" charset="0"/>
                            <a:cs typeface="Arial" panose="020B0604020202020204" pitchFamily="34" charset="0"/>
                          </a:rPr>
                          <m:t>, </m:t>
                        </m:r>
                        <m:r>
                          <a:rPr lang="en-US" sz="2000">
                            <a:latin typeface="Cambria Math" panose="02040503050406030204" pitchFamily="18" charset="0"/>
                            <a:cs typeface="Arial" panose="020B0604020202020204" pitchFamily="34" charset="0"/>
                          </a:rPr>
                          <m:t>𝐶</m:t>
                        </m:r>
                        <m:r>
                          <a:rPr lang="en-US" sz="2000">
                            <a:latin typeface="Cambria Math" panose="02040503050406030204" pitchFamily="18" charset="0"/>
                            <a:cs typeface="Arial" panose="020B0604020202020204" pitchFamily="34" charset="0"/>
                          </a:rPr>
                          <m:t>, </m:t>
                        </m:r>
                        <m:r>
                          <a:rPr lang="en-US" sz="2000">
                            <a:latin typeface="Cambria Math" panose="02040503050406030204" pitchFamily="18" charset="0"/>
                            <a:cs typeface="Arial" panose="020B0604020202020204" pitchFamily="34" charset="0"/>
                          </a:rPr>
                          <m:t>𝐷</m:t>
                        </m:r>
                      </m:e>
                    </m:d>
                  </m:oMath>
                </a14:m>
                <a:r>
                  <a:rPr lang="en-US" sz="2000" dirty="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Outcome:</a:t>
                </a:r>
                <a:r>
                  <a:rPr lang="en-US" sz="2000" dirty="0">
                    <a:latin typeface="Arial" panose="020B0604020202020204" pitchFamily="34" charset="0"/>
                    <a:cs typeface="Arial" panose="020B0604020202020204" pitchFamily="34" charset="0"/>
                  </a:rPr>
                  <a:t> A particular result of an experiment. For example, the possible outcomes for our single-die experiment are </a:t>
                </a:r>
                <a14:m>
                  <m:oMath xmlns:m="http://schemas.openxmlformats.org/officeDocument/2006/math">
                    <m:d>
                      <m:dPr>
                        <m:begChr m:val="{"/>
                        <m:endChr m:val="}"/>
                        <m:ctrlPr>
                          <a:rPr lang="en-US" sz="2000" i="1">
                            <a:latin typeface="Cambria Math" panose="02040503050406030204" pitchFamily="18" charset="0"/>
                          </a:rPr>
                        </m:ctrlPr>
                      </m:dPr>
                      <m:e>
                        <m:r>
                          <a:rPr lang="en-US" sz="2000">
                            <a:latin typeface="Cambria Math" panose="02040503050406030204" pitchFamily="18" charset="0"/>
                          </a:rPr>
                          <m:t>1 </m:t>
                        </m:r>
                        <m:r>
                          <m:rPr>
                            <m:sty m:val="p"/>
                          </m:rPr>
                          <a:rPr lang="en-US" sz="2000">
                            <a:latin typeface="Cambria Math" panose="02040503050406030204" pitchFamily="18" charset="0"/>
                          </a:rPr>
                          <m:t>dot</m:t>
                        </m:r>
                      </m:e>
                    </m:d>
                  </m:oMath>
                </a14:m>
                <a:r>
                  <a:rPr lang="en-US" sz="2000" dirty="0">
                    <a:latin typeface="Arial" panose="020B0604020202020204" pitchFamily="34" charset="0"/>
                    <a:cs typeface="Arial" panose="020B0604020202020204" pitchFamily="34" charset="0"/>
                  </a:rPr>
                  <a:t> , </a:t>
                </a:r>
                <a14:m>
                  <m:oMath xmlns:m="http://schemas.openxmlformats.org/officeDocument/2006/math">
                    <m:d>
                      <m:dPr>
                        <m:begChr m:val="{"/>
                        <m:endChr m:val="}"/>
                        <m:ctrlPr>
                          <a:rPr lang="en-US" sz="2000" i="1">
                            <a:latin typeface="Cambria Math" panose="02040503050406030204" pitchFamily="18" charset="0"/>
                          </a:rPr>
                        </m:ctrlPr>
                      </m:dPr>
                      <m:e>
                        <m:r>
                          <a:rPr lang="en-US" sz="2000">
                            <a:latin typeface="Cambria Math" panose="02040503050406030204" pitchFamily="18" charset="0"/>
                          </a:rPr>
                          <m:t>2 </m:t>
                        </m:r>
                        <m:r>
                          <m:rPr>
                            <m:sty m:val="p"/>
                          </m:rPr>
                          <a:rPr lang="en-US" sz="2000">
                            <a:latin typeface="Cambria Math" panose="02040503050406030204" pitchFamily="18" charset="0"/>
                          </a:rPr>
                          <m:t>dots</m:t>
                        </m:r>
                      </m:e>
                    </m:d>
                  </m:oMath>
                </a14:m>
                <a:r>
                  <a:rPr lang="en-US" sz="2000" dirty="0">
                    <a:latin typeface="Arial" panose="020B0604020202020204" pitchFamily="34" charset="0"/>
                    <a:cs typeface="Arial" panose="020B0604020202020204" pitchFamily="34" charset="0"/>
                  </a:rPr>
                  <a:t>, </a:t>
                </a:r>
                <a14:m>
                  <m:oMath xmlns:m="http://schemas.openxmlformats.org/officeDocument/2006/math">
                    <m:d>
                      <m:dPr>
                        <m:begChr m:val="{"/>
                        <m:endChr m:val="}"/>
                        <m:ctrlPr>
                          <a:rPr lang="en-US" sz="2000" i="1">
                            <a:latin typeface="Cambria Math" panose="02040503050406030204" pitchFamily="18" charset="0"/>
                          </a:rPr>
                        </m:ctrlPr>
                      </m:dPr>
                      <m:e>
                        <m:r>
                          <a:rPr lang="en-US" sz="2000">
                            <a:latin typeface="Cambria Math" panose="02040503050406030204" pitchFamily="18" charset="0"/>
                          </a:rPr>
                          <m:t>3 </m:t>
                        </m:r>
                        <m:r>
                          <m:rPr>
                            <m:sty m:val="p"/>
                          </m:rPr>
                          <a:rPr lang="en-US" sz="2000">
                            <a:latin typeface="Cambria Math" panose="02040503050406030204" pitchFamily="18" charset="0"/>
                          </a:rPr>
                          <m:t>dots</m:t>
                        </m:r>
                      </m:e>
                    </m:d>
                  </m:oMath>
                </a14:m>
                <a:r>
                  <a:rPr lang="en-US" sz="2000" dirty="0">
                    <a:latin typeface="Arial" panose="020B0604020202020204" pitchFamily="34" charset="0"/>
                    <a:cs typeface="Arial" panose="020B0604020202020204" pitchFamily="34" charset="0"/>
                  </a:rPr>
                  <a:t>, </a:t>
                </a:r>
                <a14:m>
                  <m:oMath xmlns:m="http://schemas.openxmlformats.org/officeDocument/2006/math">
                    <m:d>
                      <m:dPr>
                        <m:begChr m:val="{"/>
                        <m:endChr m:val="}"/>
                        <m:ctrlPr>
                          <a:rPr lang="en-US" sz="2000" i="1">
                            <a:latin typeface="Cambria Math" panose="02040503050406030204" pitchFamily="18" charset="0"/>
                          </a:rPr>
                        </m:ctrlPr>
                      </m:dPr>
                      <m:e>
                        <m:r>
                          <a:rPr lang="en-US" sz="2000">
                            <a:latin typeface="Cambria Math" panose="02040503050406030204" pitchFamily="18" charset="0"/>
                          </a:rPr>
                          <m:t>4 </m:t>
                        </m:r>
                        <m:r>
                          <m:rPr>
                            <m:sty m:val="p"/>
                          </m:rPr>
                          <a:rPr lang="en-US" sz="2000">
                            <a:latin typeface="Cambria Math" panose="02040503050406030204" pitchFamily="18" charset="0"/>
                          </a:rPr>
                          <m:t>dots</m:t>
                        </m:r>
                      </m:e>
                    </m:d>
                  </m:oMath>
                </a14:m>
                <a:r>
                  <a:rPr lang="en-US" sz="2000" dirty="0">
                    <a:latin typeface="Arial" panose="020B0604020202020204" pitchFamily="34" charset="0"/>
                    <a:cs typeface="Arial" panose="020B0604020202020204" pitchFamily="34" charset="0"/>
                  </a:rPr>
                  <a:t>, </a:t>
                </a:r>
                <a14:m>
                  <m:oMath xmlns:m="http://schemas.openxmlformats.org/officeDocument/2006/math">
                    <m:d>
                      <m:dPr>
                        <m:begChr m:val="{"/>
                        <m:endChr m:val="}"/>
                        <m:ctrlPr>
                          <a:rPr lang="en-US" sz="2000" i="1">
                            <a:latin typeface="Cambria Math" panose="02040503050406030204" pitchFamily="18" charset="0"/>
                          </a:rPr>
                        </m:ctrlPr>
                      </m:dPr>
                      <m:e>
                        <m:r>
                          <a:rPr lang="en-US" sz="2000">
                            <a:latin typeface="Cambria Math" panose="02040503050406030204" pitchFamily="18" charset="0"/>
                          </a:rPr>
                          <m:t>5 </m:t>
                        </m:r>
                        <m:r>
                          <m:rPr>
                            <m:sty m:val="p"/>
                          </m:rPr>
                          <a:rPr lang="en-US" sz="2000">
                            <a:latin typeface="Cambria Math" panose="02040503050406030204" pitchFamily="18" charset="0"/>
                          </a:rPr>
                          <m:t>dots</m:t>
                        </m:r>
                      </m:e>
                    </m:d>
                  </m:oMath>
                </a14:m>
                <a:r>
                  <a:rPr lang="en-US" sz="2000" dirty="0">
                    <a:latin typeface="Arial" panose="020B0604020202020204" pitchFamily="34" charset="0"/>
                    <a:cs typeface="Arial" panose="020B0604020202020204" pitchFamily="34" charset="0"/>
                  </a:rPr>
                  <a:t>, </a:t>
                </a:r>
                <a14:m>
                  <m:oMath xmlns:m="http://schemas.openxmlformats.org/officeDocument/2006/math">
                    <m:d>
                      <m:dPr>
                        <m:begChr m:val="{"/>
                        <m:endChr m:val="}"/>
                        <m:ctrlPr>
                          <a:rPr lang="en-US" sz="2000" i="1">
                            <a:latin typeface="Cambria Math" panose="02040503050406030204" pitchFamily="18" charset="0"/>
                          </a:rPr>
                        </m:ctrlPr>
                      </m:dPr>
                      <m:e>
                        <m:r>
                          <a:rPr lang="en-US" sz="2000">
                            <a:latin typeface="Cambria Math" panose="02040503050406030204" pitchFamily="18" charset="0"/>
                          </a:rPr>
                          <m:t>6 </m:t>
                        </m:r>
                        <m:r>
                          <m:rPr>
                            <m:sty m:val="p"/>
                          </m:rPr>
                          <a:rPr lang="en-US" sz="2000">
                            <a:latin typeface="Cambria Math" panose="02040503050406030204" pitchFamily="18" charset="0"/>
                          </a:rPr>
                          <m:t>dots</m:t>
                        </m:r>
                      </m:e>
                    </m:d>
                  </m:oMath>
                </a14:m>
                <a:r>
                  <a:rPr lang="en-US" sz="2000" dirty="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b="1" i="1"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25157157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dirty="0"/>
              <a:t/>
            </a:r>
            <a:br>
              <a:rPr lang="en-US" sz="2400" dirty="0"/>
            </a:br>
            <a:r>
              <a:rPr lang="en-US" sz="2400" b="1" dirty="0">
                <a:latin typeface="Arial" panose="020B0604020202020204" pitchFamily="34" charset="0"/>
                <a:cs typeface="Arial" panose="020B0604020202020204" pitchFamily="34" charset="0"/>
              </a:rPr>
              <a:t>Terminologies in Probability (</a:t>
            </a:r>
            <a:r>
              <a:rPr lang="en-US" sz="2400" b="1" dirty="0" err="1">
                <a:latin typeface="Arial" panose="020B0604020202020204" pitchFamily="34" charset="0"/>
                <a:cs typeface="Arial" panose="020B0604020202020204" pitchFamily="34" charset="0"/>
              </a:rPr>
              <a:t>cont</a:t>
            </a:r>
            <a:r>
              <a:rPr lang="en-US" sz="2400" b="1"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Event:</a:t>
                </a:r>
                <a:r>
                  <a:rPr lang="en-US" sz="2000" dirty="0">
                    <a:latin typeface="Arial" panose="020B0604020202020204" pitchFamily="34" charset="0"/>
                    <a:cs typeface="Arial" panose="020B0604020202020204" pitchFamily="34" charset="0"/>
                  </a:rPr>
                  <a:t> A collection of one or more outcomes of a random experiment i.e., any subset of </a:t>
                </a:r>
                <a14:m>
                  <m:oMath xmlns:m="http://schemas.openxmlformats.org/officeDocument/2006/math">
                    <m:r>
                      <a:rPr lang="en-US" sz="2000" i="1">
                        <a:latin typeface="Cambria Math" panose="02040503050406030204" pitchFamily="18" charset="0"/>
                      </a:rPr>
                      <m:t>𝑆</m:t>
                    </m:r>
                  </m:oMath>
                </a14:m>
                <a:r>
                  <a:rPr lang="en-US" sz="2000" dirty="0">
                    <a:latin typeface="Arial" panose="020B0604020202020204" pitchFamily="34" charset="0"/>
                    <a:cs typeface="Arial" panose="020B0604020202020204" pitchFamily="34" charset="0"/>
                  </a:rPr>
                  <a:t> is called event. In our single-die rolling experiment, there are six possible outcomes, but there are many possible events. For example, some possible events for this experiment are</a:t>
                </a:r>
              </a:p>
              <a:p>
                <a:pPr marL="800100" lvl="1"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A: observe an even number of dots i.e., </a:t>
                </a:r>
                <a14:m>
                  <m:oMath xmlns:m="http://schemas.openxmlformats.org/officeDocument/2006/math">
                    <m:r>
                      <a:rPr lang="en-US" sz="2000" i="1">
                        <a:latin typeface="Cambria Math" panose="02040503050406030204" pitchFamily="18" charset="0"/>
                      </a:rPr>
                      <m:t>𝐴</m:t>
                    </m:r>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2, 4, 6</m:t>
                        </m:r>
                      </m:e>
                    </m:d>
                  </m:oMath>
                </a14:m>
                <a:endParaRPr lang="en-US" sz="2000" dirty="0">
                  <a:latin typeface="Arial" panose="020B0604020202020204" pitchFamily="34" charset="0"/>
                </a:endParaRPr>
              </a:p>
              <a:p>
                <a:pPr marL="800100" lvl="1"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B: Observe a number of dots greater than 4 i.e., </a:t>
                </a:r>
                <a14:m>
                  <m:oMath xmlns:m="http://schemas.openxmlformats.org/officeDocument/2006/math">
                    <m:r>
                      <a:rPr lang="en-US" sz="2000" i="1">
                        <a:latin typeface="Cambria Math" panose="02040503050406030204" pitchFamily="18" charset="0"/>
                      </a:rPr>
                      <m:t>𝐵</m:t>
                    </m:r>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5, 6</m:t>
                        </m:r>
                      </m:e>
                    </m:d>
                  </m:oMath>
                </a14:m>
                <a:r>
                  <a:rPr lang="en-US" sz="2000" dirty="0">
                    <a:latin typeface="Arial" panose="020B0604020202020204" pitchFamily="34" charset="0"/>
                    <a:cs typeface="Arial" panose="020B0604020202020204" pitchFamily="34" charset="0"/>
                  </a:rPr>
                  <a:t> </a:t>
                </a:r>
              </a:p>
              <a:p>
                <a:pPr marL="800100" lvl="1"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D: Observe a number of dots 3 or less i.e., </a:t>
                </a:r>
                <a14:m>
                  <m:oMath xmlns:m="http://schemas.openxmlformats.org/officeDocument/2006/math">
                    <m:r>
                      <a:rPr lang="en-US" sz="2000" i="1">
                        <a:latin typeface="Cambria Math" panose="02040503050406030204" pitchFamily="18" charset="0"/>
                      </a:rPr>
                      <m:t>𝐷</m:t>
                    </m:r>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1, 2, 3</m:t>
                        </m:r>
                      </m:e>
                    </m:d>
                  </m:oMath>
                </a14:m>
                <a:endParaRPr lang="en-US" sz="2000" b="1" i="1"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Mutually exclusive event: </a:t>
                </a:r>
                <a:r>
                  <a:rPr lang="en-US" sz="2000" dirty="0">
                    <a:latin typeface="Arial" panose="020B0604020202020204" pitchFamily="34" charset="0"/>
                    <a:cs typeface="Arial" panose="020B0604020202020204" pitchFamily="34" charset="0"/>
                  </a:rPr>
                  <a:t>The events </a:t>
                </a:r>
                <a14:m>
                  <m:oMath xmlns:m="http://schemas.openxmlformats.org/officeDocument/2006/math">
                    <m:r>
                      <a:rPr lang="en-US" sz="2000" i="1">
                        <a:latin typeface="Cambria Math" panose="02040503050406030204" pitchFamily="18" charset="0"/>
                      </a:rPr>
                      <m:t>𝐴</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a:latin typeface="Cambria Math" panose="02040503050406030204" pitchFamily="18" charset="0"/>
                      </a:rPr>
                      <m:t>𝐵</m:t>
                    </m:r>
                  </m:oMath>
                </a14:m>
                <a:r>
                  <a:rPr lang="en-US" sz="2000" dirty="0">
                    <a:latin typeface="Arial" panose="020B0604020202020204" pitchFamily="34" charset="0"/>
                    <a:cs typeface="Arial" panose="020B0604020202020204" pitchFamily="34" charset="0"/>
                  </a:rPr>
                  <a:t> are then said to be mutually exclusive if both </a:t>
                </a:r>
                <a14:m>
                  <m:oMath xmlns:m="http://schemas.openxmlformats.org/officeDocument/2006/math">
                    <m:r>
                      <a:rPr lang="en-US" sz="2000" i="1">
                        <a:latin typeface="Cambria Math" panose="02040503050406030204" pitchFamily="18" charset="0"/>
                      </a:rPr>
                      <m:t>𝐴</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a:latin typeface="Cambria Math" panose="02040503050406030204" pitchFamily="18" charset="0"/>
                      </a:rPr>
                      <m:t>𝐵</m:t>
                    </m:r>
                    <m:r>
                      <a:rPr lang="en-US" sz="2000" i="1">
                        <a:latin typeface="Cambria Math" panose="02040503050406030204" pitchFamily="18" charset="0"/>
                      </a:rPr>
                      <m:t> </m:t>
                    </m:r>
                  </m:oMath>
                </a14:m>
                <a:r>
                  <a:rPr lang="en-US" sz="2000" dirty="0">
                    <a:latin typeface="Arial" panose="020B0604020202020204" pitchFamily="34" charset="0"/>
                    <a:cs typeface="Arial" panose="020B0604020202020204" pitchFamily="34" charset="0"/>
                  </a:rPr>
                  <a:t>cannot occur simultaneously.</a:t>
                </a: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15879297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dirty="0"/>
              <a:t/>
            </a:r>
            <a:br>
              <a:rPr lang="en-US" sz="2400" dirty="0"/>
            </a:br>
            <a:r>
              <a:rPr lang="en-US" sz="2400" b="1" dirty="0">
                <a:latin typeface="Arial" panose="020B0604020202020204" pitchFamily="34" charset="0"/>
                <a:cs typeface="Arial" panose="020B0604020202020204" pitchFamily="34" charset="0"/>
              </a:rPr>
              <a:t>Terminologies in Probability (</a:t>
            </a:r>
            <a:r>
              <a:rPr lang="en-US" sz="2400" b="1" dirty="0" err="1">
                <a:latin typeface="Arial" panose="020B0604020202020204" pitchFamily="34" charset="0"/>
                <a:cs typeface="Arial" panose="020B0604020202020204" pitchFamily="34" charset="0"/>
              </a:rPr>
              <a:t>cont</a:t>
            </a:r>
            <a:r>
              <a:rPr lang="en-US" sz="2400" b="1"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Exhaustive </a:t>
                </a:r>
                <a:r>
                  <a:rPr lang="en-US" sz="2000" b="1" dirty="0">
                    <a:latin typeface="Arial" panose="020B0604020202020204" pitchFamily="34" charset="0"/>
                    <a:cs typeface="Arial" panose="020B0604020202020204" pitchFamily="34" charset="0"/>
                  </a:rPr>
                  <a:t>Events:</a:t>
                </a:r>
                <a:r>
                  <a:rPr lang="en-US" sz="2000" dirty="0">
                    <a:latin typeface="Arial" panose="020B0604020202020204" pitchFamily="34" charset="0"/>
                    <a:cs typeface="Arial" panose="020B0604020202020204" pitchFamily="34" charset="0"/>
                  </a:rPr>
                  <a:t> The total number of possible outcomes in any experiment is known as exhaustive events. For example </a:t>
                </a:r>
                <a:endParaRPr lang="en-US" dirty="0" smtClean="0">
                  <a:latin typeface="Arial" panose="020B0604020202020204" pitchFamily="34" charset="0"/>
                </a:endParaRP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I</a:t>
                </a:r>
                <a:r>
                  <a:rPr lang="en-US" sz="2000" dirty="0" smtClean="0">
                    <a:latin typeface="Arial" panose="020B0604020202020204" pitchFamily="34" charset="0"/>
                    <a:cs typeface="Arial" panose="020B0604020202020204" pitchFamily="34" charset="0"/>
                  </a:rPr>
                  <a:t>n </a:t>
                </a:r>
                <a:r>
                  <a:rPr lang="en-US" sz="2000" dirty="0">
                    <a:latin typeface="Arial" panose="020B0604020202020204" pitchFamily="34" charset="0"/>
                    <a:cs typeface="Arial" panose="020B0604020202020204" pitchFamily="34" charset="0"/>
                  </a:rPr>
                  <a:t>tossing of a coin there are two exhaustive events, viz., head and </a:t>
                </a:r>
                <a:r>
                  <a:rPr lang="en-US" sz="2000" dirty="0" smtClean="0">
                    <a:latin typeface="Arial" panose="020B0604020202020204" pitchFamily="34" charset="0"/>
                    <a:cs typeface="Arial" panose="020B0604020202020204" pitchFamily="34" charset="0"/>
                  </a:rPr>
                  <a:t>tail.</a:t>
                </a:r>
              </a:p>
              <a:p>
                <a:pPr marL="800100" lvl="1" indent="-342900" algn="just">
                  <a:lnSpc>
                    <a:spcPct val="150000"/>
                  </a:lnSpc>
                  <a:buFont typeface="Wingdings" panose="05000000000000000000" pitchFamily="2" charset="2"/>
                  <a:buChar char="ü"/>
                </a:pPr>
                <a:r>
                  <a:rPr lang="en-US" sz="2000" dirty="0" smtClean="0">
                    <a:latin typeface="Arial" panose="020B0604020202020204" pitchFamily="34" charset="0"/>
                    <a:cs typeface="Arial" panose="020B0604020202020204" pitchFamily="34" charset="0"/>
                  </a:rPr>
                  <a:t>In </a:t>
                </a:r>
                <a:r>
                  <a:rPr lang="en-US" sz="2000" dirty="0">
                    <a:latin typeface="Arial" panose="020B0604020202020204" pitchFamily="34" charset="0"/>
                    <a:cs typeface="Arial" panose="020B0604020202020204" pitchFamily="34" charset="0"/>
                  </a:rPr>
                  <a:t>throwing of a die, there are six exhaustive events since anyone of the 6 faces 1,2, ... ,6 may come </a:t>
                </a:r>
                <a:r>
                  <a:rPr lang="en-US" sz="2000" dirty="0" smtClean="0">
                    <a:latin typeface="Arial" panose="020B0604020202020204" pitchFamily="34" charset="0"/>
                    <a:cs typeface="Arial" panose="020B0604020202020204" pitchFamily="34" charset="0"/>
                  </a:rPr>
                  <a:t>uppermost.</a:t>
                </a:r>
              </a:p>
              <a:p>
                <a:pPr marL="800100" lvl="1" indent="-342900" algn="just">
                  <a:lnSpc>
                    <a:spcPct val="150000"/>
                  </a:lnSpc>
                  <a:buFont typeface="Wingdings" panose="05000000000000000000" pitchFamily="2" charset="2"/>
                  <a:buChar char="ü"/>
                </a:pPr>
                <a:r>
                  <a:rPr lang="en-US" sz="2000" dirty="0" smtClean="0">
                    <a:latin typeface="Arial" panose="020B0604020202020204" pitchFamily="34" charset="0"/>
                    <a:cs typeface="Arial" panose="020B0604020202020204" pitchFamily="34" charset="0"/>
                  </a:rPr>
                  <a:t>In </a:t>
                </a:r>
                <a:r>
                  <a:rPr lang="en-US" sz="2000" dirty="0">
                    <a:latin typeface="Arial" panose="020B0604020202020204" pitchFamily="34" charset="0"/>
                    <a:cs typeface="Arial" panose="020B0604020202020204" pitchFamily="34" charset="0"/>
                  </a:rPr>
                  <a:t>drawing two cards from a pack of cards the exhaustive number of events is  </a:t>
                </a:r>
                <a14:m>
                  <m:oMath xmlns:m="http://schemas.openxmlformats.org/officeDocument/2006/math">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i="1">
                                <a:latin typeface="Cambria Math" panose="02040503050406030204" pitchFamily="18" charset="0"/>
                              </a:rPr>
                              <m:t>52</m:t>
                            </m:r>
                          </m:num>
                          <m:den>
                            <m:r>
                              <a:rPr lang="en-US" sz="2000" i="1">
                                <a:latin typeface="Cambria Math" panose="02040503050406030204" pitchFamily="18" charset="0"/>
                              </a:rPr>
                              <m:t>2</m:t>
                            </m:r>
                          </m:den>
                        </m:f>
                      </m:e>
                    </m:d>
                  </m:oMath>
                </a14:m>
                <a:r>
                  <a:rPr lang="en-US" sz="2000" dirty="0">
                    <a:latin typeface="Arial" panose="020B0604020202020204" pitchFamily="34" charset="0"/>
                    <a:cs typeface="Arial" panose="020B0604020202020204" pitchFamily="34" charset="0"/>
                  </a:rPr>
                  <a:t>, since 2 cards can be drawn out of 52 cards in </a:t>
                </a:r>
                <a14:m>
                  <m:oMath xmlns:m="http://schemas.openxmlformats.org/officeDocument/2006/math">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i="1">
                                <a:latin typeface="Cambria Math" panose="02040503050406030204" pitchFamily="18" charset="0"/>
                              </a:rPr>
                              <m:t>52</m:t>
                            </m:r>
                          </m:num>
                          <m:den>
                            <m:r>
                              <a:rPr lang="en-US" sz="2000" i="1">
                                <a:latin typeface="Cambria Math" panose="02040503050406030204" pitchFamily="18" charset="0"/>
                              </a:rPr>
                              <m:t>2</m:t>
                            </m:r>
                          </m:den>
                        </m:f>
                      </m:e>
                    </m:d>
                  </m:oMath>
                </a14:m>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ways.</a:t>
                </a:r>
              </a:p>
              <a:p>
                <a:pPr marL="800100" lvl="1" indent="-342900" algn="just">
                  <a:lnSpc>
                    <a:spcPct val="150000"/>
                  </a:lnSpc>
                  <a:buFont typeface="Wingdings" panose="05000000000000000000" pitchFamily="2" charset="2"/>
                  <a:buChar char="ü"/>
                </a:pPr>
                <a:r>
                  <a:rPr lang="en-US" sz="2000" dirty="0" smtClean="0">
                    <a:latin typeface="Arial" panose="020B0604020202020204" pitchFamily="34" charset="0"/>
                    <a:cs typeface="Arial" panose="020B0604020202020204" pitchFamily="34" charset="0"/>
                  </a:rPr>
                  <a:t>In </a:t>
                </a:r>
                <a:r>
                  <a:rPr lang="en-US" sz="2000" dirty="0">
                    <a:latin typeface="Arial" panose="020B0604020202020204" pitchFamily="34" charset="0"/>
                    <a:cs typeface="Arial" panose="020B0604020202020204" pitchFamily="34" charset="0"/>
                  </a:rPr>
                  <a:t>throwing of two dice, the exhaustive number of events is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6</m:t>
                        </m:r>
                      </m:e>
                      <m:sup>
                        <m:r>
                          <a:rPr lang="en-US" sz="2000" i="1">
                            <a:latin typeface="Cambria Math" panose="02040503050406030204" pitchFamily="18" charset="0"/>
                          </a:rPr>
                          <m:t>2</m:t>
                        </m:r>
                      </m:sup>
                    </m:sSup>
                  </m:oMath>
                </a14:m>
                <a:r>
                  <a:rPr lang="en-US" sz="2000" dirty="0">
                    <a:latin typeface="Arial" panose="020B0604020202020204" pitchFamily="34" charset="0"/>
                    <a:cs typeface="Arial" panose="020B0604020202020204" pitchFamily="34" charset="0"/>
                  </a:rPr>
                  <a:t> = 36, since any of the 6 numbers 1 to 6 on the first die can be associated with any of six numbers on the other die</a:t>
                </a:r>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18126868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dirty="0"/>
              <a:t/>
            </a:r>
            <a:br>
              <a:rPr lang="en-US" sz="2400" dirty="0"/>
            </a:br>
            <a:r>
              <a:rPr lang="en-US" sz="2400" b="1" dirty="0">
                <a:latin typeface="Arial" panose="020B0604020202020204" pitchFamily="34" charset="0"/>
                <a:cs typeface="Arial" panose="020B0604020202020204" pitchFamily="34" charset="0"/>
              </a:rPr>
              <a:t>Terminologies in Probability (</a:t>
            </a:r>
            <a:r>
              <a:rPr lang="en-US" sz="2400" b="1" dirty="0" err="1">
                <a:latin typeface="Arial" panose="020B0604020202020204" pitchFamily="34" charset="0"/>
                <a:cs typeface="Arial" panose="020B0604020202020204" pitchFamily="34" charset="0"/>
              </a:rPr>
              <a:t>cont</a:t>
            </a:r>
            <a:r>
              <a:rPr lang="en-US" sz="2400" b="1" dirty="0">
                <a:latin typeface="Arial" panose="020B0604020202020204" pitchFamily="34" charset="0"/>
                <a:cs typeface="Arial" panose="020B0604020202020204" pitchFamily="34" charset="0"/>
              </a:rPr>
              <a:t>…)</a:t>
            </a:r>
          </a:p>
        </p:txBody>
      </p:sp>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Favorable </a:t>
            </a:r>
            <a:r>
              <a:rPr lang="en-US" sz="2000" b="1" dirty="0">
                <a:latin typeface="Arial" panose="020B0604020202020204" pitchFamily="34" charset="0"/>
                <a:cs typeface="Arial" panose="020B0604020202020204" pitchFamily="34" charset="0"/>
              </a:rPr>
              <a:t>Events:</a:t>
            </a:r>
            <a:r>
              <a:rPr lang="en-US" sz="2000" dirty="0">
                <a:latin typeface="Arial" panose="020B0604020202020204" pitchFamily="34" charset="0"/>
                <a:cs typeface="Arial" panose="020B0604020202020204" pitchFamily="34" charset="0"/>
              </a:rPr>
              <a:t> The favorable event in an experiment is the outcomes which involve the happening of the event. For </a:t>
            </a:r>
            <a:r>
              <a:rPr lang="en-US" sz="2000" dirty="0" smtClean="0">
                <a:latin typeface="Arial" panose="020B0604020202020204" pitchFamily="34" charset="0"/>
                <a:cs typeface="Arial" panose="020B0604020202020204" pitchFamily="34" charset="0"/>
              </a:rPr>
              <a:t>example</a:t>
            </a:r>
            <a:endParaRPr lang="en-US" sz="20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dirty="0" smtClean="0">
                <a:latin typeface="Arial" panose="020B0604020202020204" pitchFamily="34" charset="0"/>
                <a:cs typeface="Arial" panose="020B0604020202020204" pitchFamily="34" charset="0"/>
              </a:rPr>
              <a:t>In </a:t>
            </a:r>
            <a:r>
              <a:rPr lang="en-US" dirty="0">
                <a:latin typeface="Arial" panose="020B0604020202020204" pitchFamily="34" charset="0"/>
                <a:cs typeface="Arial" panose="020B0604020202020204" pitchFamily="34" charset="0"/>
              </a:rPr>
              <a:t>drawing a card from a pack of cards the number of outcomes favorable to drawing of an ace is 4, for drawing a spade is 13 and for drawing a red card is 26 </a:t>
            </a:r>
            <a:endParaRPr lang="en-US" dirty="0" smtClean="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I</a:t>
            </a:r>
            <a:r>
              <a:rPr lang="en-US" dirty="0" smtClean="0">
                <a:latin typeface="Arial" panose="020B0604020202020204" pitchFamily="34" charset="0"/>
                <a:cs typeface="Arial" panose="020B0604020202020204" pitchFamily="34" charset="0"/>
              </a:rPr>
              <a:t>n </a:t>
            </a:r>
            <a:r>
              <a:rPr lang="en-US" dirty="0">
                <a:latin typeface="Arial" panose="020B0604020202020204" pitchFamily="34" charset="0"/>
                <a:cs typeface="Arial" panose="020B0604020202020204" pitchFamily="34" charset="0"/>
              </a:rPr>
              <a:t>throwing of two dice, the number of outcomes favorable to getting the sum 5 is : (1,4) (4,1</a:t>
            </a:r>
            <a:r>
              <a:rPr lang="en-US"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(2,3) (3,2), i.e., 4</a:t>
            </a:r>
            <a:r>
              <a:rPr lang="en-US" dirty="0" smtClean="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Equally </a:t>
            </a:r>
            <a:r>
              <a:rPr lang="en-US" sz="2000" b="1" dirty="0">
                <a:latin typeface="Arial" panose="020B0604020202020204" pitchFamily="34" charset="0"/>
                <a:cs typeface="Arial" panose="020B0604020202020204" pitchFamily="34" charset="0"/>
              </a:rPr>
              <a:t>likely events</a:t>
            </a:r>
            <a:r>
              <a:rPr lang="en-US" sz="2000" dirty="0">
                <a:latin typeface="Arial" panose="020B0604020202020204" pitchFamily="34" charset="0"/>
                <a:cs typeface="Arial" panose="020B0604020202020204" pitchFamily="34" charset="0"/>
              </a:rPr>
              <a:t>: Outcomes of a trial are set to be equally likely if taking into consideration all the relevant evidences, there is no reason to expect one in preference to the others. For </a:t>
            </a:r>
            <a:r>
              <a:rPr lang="en-US" sz="2000" dirty="0" smtClean="0">
                <a:latin typeface="Arial" panose="020B0604020202020204" pitchFamily="34" charset="0"/>
                <a:cs typeface="Arial" panose="020B0604020202020204" pitchFamily="34" charset="0"/>
              </a:rPr>
              <a:t>example</a:t>
            </a:r>
          </a:p>
          <a:p>
            <a:pPr marL="800100" lvl="1" indent="-342900" algn="just">
              <a:lnSpc>
                <a:spcPct val="150000"/>
              </a:lnSpc>
              <a:buFont typeface="Wingdings" panose="05000000000000000000" pitchFamily="2" charset="2"/>
              <a:buChar char="ü"/>
            </a:pPr>
            <a:r>
              <a:rPr lang="en-US" dirty="0" smtClean="0">
                <a:latin typeface="Arial" panose="020B0604020202020204" pitchFamily="34" charset="0"/>
                <a:cs typeface="Arial" panose="020B0604020202020204" pitchFamily="34" charset="0"/>
              </a:rPr>
              <a:t>In </a:t>
            </a:r>
            <a:r>
              <a:rPr lang="en-US" dirty="0">
                <a:latin typeface="Arial" panose="020B0604020202020204" pitchFamily="34" charset="0"/>
                <a:cs typeface="Arial" panose="020B0604020202020204" pitchFamily="34" charset="0"/>
              </a:rPr>
              <a:t>tossing an unbiased or uniform coin, head or tail ate equally likely events </a:t>
            </a:r>
          </a:p>
          <a:p>
            <a:pPr marL="800100" lvl="1" indent="-342900" algn="just">
              <a:lnSpc>
                <a:spcPct val="150000"/>
              </a:lnSpc>
              <a:buFont typeface="Wingdings" panose="05000000000000000000" pitchFamily="2" charset="2"/>
              <a:buChar char="ü"/>
            </a:pPr>
            <a:r>
              <a:rPr lang="en-US" dirty="0" smtClean="0">
                <a:latin typeface="Arial" panose="020B0604020202020204" pitchFamily="34" charset="0"/>
                <a:cs typeface="Arial" panose="020B0604020202020204" pitchFamily="34" charset="0"/>
              </a:rPr>
              <a:t>In </a:t>
            </a:r>
            <a:r>
              <a:rPr lang="en-US" dirty="0">
                <a:latin typeface="Arial" panose="020B0604020202020204" pitchFamily="34" charset="0"/>
                <a:cs typeface="Arial" panose="020B0604020202020204" pitchFamily="34" charset="0"/>
              </a:rPr>
              <a:t>throwing an unbiased die, all the six faces are equally likely to come.</a:t>
            </a:r>
          </a:p>
          <a:p>
            <a:pPr marL="800100" lvl="1" indent="-342900" algn="just">
              <a:lnSpc>
                <a:spcPct val="150000"/>
              </a:lnSpc>
              <a:buFont typeface="Wingdings" panose="05000000000000000000" pitchFamily="2" charset="2"/>
              <a:buChar char="ü"/>
            </a:pPr>
            <a:endParaRPr 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92231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Some basic event operations</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Complement of any event: </a:t>
                </a:r>
                <a:r>
                  <a:rPr lang="en-US" sz="2000" dirty="0">
                    <a:latin typeface="Arial" panose="020B0604020202020204" pitchFamily="34" charset="0"/>
                    <a:cs typeface="Arial" panose="020B0604020202020204" pitchFamily="34" charset="0"/>
                  </a:rPr>
                  <a:t>For any set </a:t>
                </a:r>
                <a14:m>
                  <m:oMath xmlns:m="http://schemas.openxmlformats.org/officeDocument/2006/math">
                    <m:r>
                      <a:rPr lang="en-US" sz="2000" i="1">
                        <a:latin typeface="Cambria Math" panose="02040503050406030204" pitchFamily="18" charset="0"/>
                      </a:rPr>
                      <m:t>𝐴</m:t>
                    </m:r>
                  </m:oMath>
                </a14:m>
                <a:r>
                  <a:rPr lang="en-US" sz="2000" dirty="0">
                    <a:latin typeface="Arial" panose="020B0604020202020204" pitchFamily="34" charset="0"/>
                    <a:cs typeface="Arial" panose="020B0604020202020204" pitchFamily="34" charset="0"/>
                  </a:rPr>
                  <a:t>, the complement is the</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collection of objects in the universal set that are </a:t>
                </a:r>
                <a:r>
                  <a:rPr lang="en-US" sz="2000" b="1" i="1" dirty="0">
                    <a:latin typeface="Arial" panose="020B0604020202020204" pitchFamily="34" charset="0"/>
                    <a:cs typeface="Arial" panose="020B0604020202020204" pitchFamily="34" charset="0"/>
                  </a:rPr>
                  <a:t>not in </a:t>
                </a:r>
                <a14:m>
                  <m:oMath xmlns:m="http://schemas.openxmlformats.org/officeDocument/2006/math">
                    <m:r>
                      <a:rPr lang="en-US" sz="2000" b="1" i="1">
                        <a:latin typeface="Cambria Math" panose="02040503050406030204" pitchFamily="18" charset="0"/>
                      </a:rPr>
                      <m:t>𝑨</m:t>
                    </m:r>
                  </m:oMath>
                </a14:m>
                <a:r>
                  <a:rPr lang="en-US" sz="2000" dirty="0">
                    <a:latin typeface="Arial" panose="020B0604020202020204" pitchFamily="34" charset="0"/>
                    <a:cs typeface="Arial" panose="020B0604020202020204" pitchFamily="34" charset="0"/>
                  </a:rPr>
                  <a:t>. It is denoted by </a:t>
                </a:r>
                <a14:m>
                  <m:oMath xmlns:m="http://schemas.openxmlformats.org/officeDocument/2006/math">
                    <m:sSup>
                      <m:sSupPr>
                        <m:ctrlPr>
                          <a:rPr lang="en-US" sz="2000" b="1" i="1">
                            <a:latin typeface="Cambria Math" panose="02040503050406030204" pitchFamily="18" charset="0"/>
                          </a:rPr>
                        </m:ctrlPr>
                      </m:sSupPr>
                      <m:e>
                        <m:r>
                          <a:rPr lang="en-US" sz="2000" b="1" i="1">
                            <a:latin typeface="Cambria Math" panose="02040503050406030204" pitchFamily="18" charset="0"/>
                          </a:rPr>
                          <m:t>𝑨</m:t>
                        </m:r>
                      </m:e>
                      <m:sup>
                        <m:r>
                          <a:rPr lang="en-US" sz="2000" b="1" i="1">
                            <a:latin typeface="Cambria Math" panose="02040503050406030204" pitchFamily="18" charset="0"/>
                          </a:rPr>
                          <m:t>𝒄</m:t>
                        </m:r>
                      </m:sup>
                    </m:sSup>
                  </m:oMath>
                </a14:m>
                <a:r>
                  <a:rPr lang="en-US" sz="2000" dirty="0">
                    <a:latin typeface="Arial" panose="020B0604020202020204" pitchFamily="34" charset="0"/>
                    <a:cs typeface="Arial" panose="020B0604020202020204" pitchFamily="34" charset="0"/>
                  </a:rPr>
                  <a:t> or </a:t>
                </a:r>
                <a14:m>
                  <m:oMath xmlns:m="http://schemas.openxmlformats.org/officeDocument/2006/math">
                    <m:acc>
                      <m:accPr>
                        <m:chr m:val="̅"/>
                        <m:ctrlPr>
                          <a:rPr lang="en-US" sz="2000" b="1" i="1">
                            <a:latin typeface="Cambria Math" panose="02040503050406030204" pitchFamily="18" charset="0"/>
                          </a:rPr>
                        </m:ctrlPr>
                      </m:accPr>
                      <m:e>
                        <m:r>
                          <a:rPr lang="en-US" sz="2000" b="1" i="1">
                            <a:latin typeface="Cambria Math" panose="02040503050406030204" pitchFamily="18" charset="0"/>
                          </a:rPr>
                          <m:t>𝑨</m:t>
                        </m:r>
                      </m:e>
                    </m:acc>
                  </m:oMath>
                </a14:m>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and can be represented by the shaded region of the following Venn diagram: </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lvl="1" algn="just">
                  <a:lnSpc>
                    <a:spcPct val="150000"/>
                  </a:lnSpc>
                </a:pPr>
                <a:endParaRPr lang="en-US" sz="2000" dirty="0">
                  <a:latin typeface="Arial" panose="020B0604020202020204" pitchFamily="34" charset="0"/>
                </a:endParaRPr>
              </a:p>
              <a:p>
                <a:pPr lvl="1" algn="just">
                  <a:lnSpc>
                    <a:spcPct val="150000"/>
                  </a:lnSpc>
                </a:pPr>
                <a:endParaRPr lang="en-US" sz="2000" dirty="0">
                  <a:latin typeface="Arial" panose="020B0604020202020204" pitchFamily="34" charset="0"/>
                  <a:cs typeface="Arial" panose="020B0604020202020204" pitchFamily="34" charset="0"/>
                </a:endParaRPr>
              </a:p>
              <a:p>
                <a:pPr lvl="1" algn="just">
                  <a:lnSpc>
                    <a:spcPct val="150000"/>
                  </a:lnSpc>
                </a:pPr>
                <a:endParaRPr lang="en-US"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Symbolically,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𝐴</m:t>
                        </m:r>
                      </m:e>
                    </m:acc>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𝑆</m:t>
                        </m:r>
                        <m:r>
                          <a:rPr lang="en-US" i="1">
                            <a:latin typeface="Cambria Math" panose="02040503050406030204" pitchFamily="18" charset="0"/>
                          </a:rPr>
                          <m:t> </m:t>
                        </m:r>
                        <m:r>
                          <m:rPr>
                            <m:sty m:val="p"/>
                          </m:rPr>
                          <a:rPr lang="en-US">
                            <a:latin typeface="Cambria Math" panose="02040503050406030204" pitchFamily="18" charset="0"/>
                          </a:rPr>
                          <m:t>and</m:t>
                        </m:r>
                        <m:r>
                          <a:rPr lang="en-US" i="1">
                            <a:latin typeface="Cambria Math" panose="02040503050406030204" pitchFamily="18" charset="0"/>
                          </a:rPr>
                          <m:t> </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𝐴</m:t>
                        </m:r>
                      </m:e>
                    </m:d>
                  </m:oMath>
                </a14:m>
                <a:r>
                  <a:rPr lang="en-US" dirty="0">
                    <a:latin typeface="Arial" panose="020B0604020202020204" pitchFamily="34" charset="0"/>
                    <a:cs typeface="Arial" panose="020B0604020202020204" pitchFamily="34" charset="0"/>
                  </a:rPr>
                  <a:t>. Let </a:t>
                </a:r>
                <a14:m>
                  <m:oMath xmlns:m="http://schemas.openxmlformats.org/officeDocument/2006/math">
                    <m:r>
                      <a:rPr lang="en-US" i="1">
                        <a:latin typeface="Cambria Math" panose="02040503050406030204" pitchFamily="18" charset="0"/>
                      </a:rPr>
                      <m:t>𝑆</m:t>
                    </m:r>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a:latin typeface="Cambria Math" panose="02040503050406030204" pitchFamily="18" charset="0"/>
                          </a:rPr>
                          <m:t>1, 2, 3, 4, 5, 6</m:t>
                        </m:r>
                      </m:e>
                    </m:d>
                  </m:oMath>
                </a14:m>
                <a:r>
                  <a:rPr lang="en-US" dirty="0">
                    <a:latin typeface="Arial" panose="020B0604020202020204" pitchFamily="34" charset="0"/>
                    <a:cs typeface="Arial" panose="020B0604020202020204" pitchFamily="34" charset="0"/>
                  </a:rPr>
                  <a:t>, </a:t>
                </a:r>
                <a14:m>
                  <m:oMath xmlns:m="http://schemas.openxmlformats.org/officeDocument/2006/math">
                    <m:r>
                      <a:rPr lang="en-US" i="1">
                        <a:latin typeface="Cambria Math" panose="02040503050406030204" pitchFamily="18" charset="0"/>
                      </a:rPr>
                      <m:t>𝐴</m:t>
                    </m:r>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a:latin typeface="Cambria Math" panose="02040503050406030204" pitchFamily="18" charset="0"/>
                          </a:rPr>
                          <m:t>1, 3, 5</m:t>
                        </m:r>
                      </m:e>
                    </m:d>
                  </m:oMath>
                </a14:m>
                <a:r>
                  <a:rPr lang="en-US" dirty="0">
                    <a:latin typeface="Arial" panose="020B0604020202020204" pitchFamily="34" charset="0"/>
                    <a:cs typeface="Arial" panose="020B0604020202020204" pitchFamily="34" charset="0"/>
                  </a:rPr>
                  <a:t>, then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𝐴</m:t>
                        </m:r>
                      </m:e>
                    </m:acc>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a:latin typeface="Cambria Math" panose="02040503050406030204" pitchFamily="18" charset="0"/>
                          </a:rPr>
                          <m:t>2,4,6</m:t>
                        </m:r>
                      </m:e>
                    </m:d>
                  </m:oMath>
                </a14:m>
                <a:r>
                  <a:rPr lang="en-US" dirty="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endParaRPr lang="en-US" sz="20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endParaRPr lang="en-US"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b="1" i="1"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506" r="-563"/>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4925466" y="2377196"/>
            <a:ext cx="2898697" cy="1872075"/>
          </a:xfrm>
          <a:prstGeom prst="rect">
            <a:avLst/>
          </a:prstGeom>
        </p:spPr>
      </p:pic>
    </p:spTree>
    <p:extLst>
      <p:ext uri="{BB962C8B-B14F-4D97-AF65-F5344CB8AC3E}">
        <p14:creationId xmlns:p14="http://schemas.microsoft.com/office/powerpoint/2010/main" val="1716163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Some basic event </a:t>
            </a:r>
            <a:r>
              <a:rPr lang="en-US" sz="2400" b="1" dirty="0" smtClean="0">
                <a:latin typeface="Arial" panose="020B0604020202020204" pitchFamily="34" charset="0"/>
                <a:cs typeface="Arial" panose="020B0604020202020204" pitchFamily="34" charset="0"/>
              </a:rPr>
              <a:t>operations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Union </a:t>
                </a:r>
                <a:r>
                  <a:rPr lang="en-US" sz="2000" b="1" dirty="0">
                    <a:latin typeface="Arial" panose="020B0604020202020204" pitchFamily="34" charset="0"/>
                    <a:cs typeface="Arial" panose="020B0604020202020204" pitchFamily="34" charset="0"/>
                  </a:rPr>
                  <a:t>of events:  </a:t>
                </a:r>
                <a:r>
                  <a:rPr lang="en-US" sz="2000" dirty="0">
                    <a:latin typeface="Arial" panose="020B0604020202020204" pitchFamily="34" charset="0"/>
                    <a:cs typeface="Arial" panose="020B0604020202020204" pitchFamily="34" charset="0"/>
                  </a:rPr>
                  <a:t>For any two events A and B, the Union of events A and B is the set of all elements that are in A or in B or in both A and B.   </a:t>
                </a:r>
                <a:r>
                  <a:rPr lang="en-US" sz="2000" dirty="0" smtClean="0">
                    <a:latin typeface="Arial" panose="020B0604020202020204" pitchFamily="34" charset="0"/>
                    <a:cs typeface="Arial" panose="020B0604020202020204" pitchFamily="34" charset="0"/>
                  </a:rPr>
                  <a:t>It </a:t>
                </a:r>
                <a:r>
                  <a:rPr lang="en-US" sz="2000" dirty="0">
                    <a:latin typeface="Arial" panose="020B0604020202020204" pitchFamily="34" charset="0"/>
                    <a:cs typeface="Arial" panose="020B0604020202020204" pitchFamily="34" charset="0"/>
                  </a:rPr>
                  <a:t>is </a:t>
                </a:r>
                <a:r>
                  <a:rPr lang="en-US" sz="2000" b="1" i="1" dirty="0">
                    <a:latin typeface="Arial" panose="020B0604020202020204" pitchFamily="34" charset="0"/>
                    <a:cs typeface="Arial" panose="020B0604020202020204" pitchFamily="34" charset="0"/>
                  </a:rPr>
                  <a:t>denoted by </a:t>
                </a:r>
                <a14:m>
                  <m:oMath xmlns:m="http://schemas.openxmlformats.org/officeDocument/2006/math">
                    <m:r>
                      <a:rPr lang="en-US" sz="2000" b="1" i="1">
                        <a:latin typeface="Cambria Math" panose="02040503050406030204" pitchFamily="18" charset="0"/>
                      </a:rPr>
                      <m:t>𝑨</m:t>
                    </m:r>
                    <m:r>
                      <a:rPr lang="en-US" sz="2000" b="1" i="1">
                        <a:latin typeface="Cambria Math" panose="02040503050406030204" pitchFamily="18" charset="0"/>
                      </a:rPr>
                      <m:t>∪</m:t>
                    </m:r>
                    <m:r>
                      <a:rPr lang="en-US" sz="2000" b="1" i="1">
                        <a:latin typeface="Cambria Math" panose="02040503050406030204" pitchFamily="18" charset="0"/>
                      </a:rPr>
                      <m:t>𝑩</m:t>
                    </m:r>
                  </m:oMath>
                </a14:m>
                <a:r>
                  <a:rPr lang="en-US" sz="2000" dirty="0">
                    <a:latin typeface="Arial" panose="020B0604020202020204" pitchFamily="34" charset="0"/>
                    <a:cs typeface="Arial" panose="020B0604020202020204" pitchFamily="34" charset="0"/>
                  </a:rPr>
                  <a:t> and can be represented by the shaded region of the following Venn diagrams: </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lvl="1" algn="just">
                  <a:lnSpc>
                    <a:spcPct val="150000"/>
                  </a:lnSpc>
                </a:pPr>
                <a:endParaRPr lang="en-US" sz="20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dirty="0" smtClean="0">
                    <a:latin typeface="Arial" panose="020B0604020202020204" pitchFamily="34" charset="0"/>
                    <a:cs typeface="Arial" panose="020B0604020202020204" pitchFamily="34" charset="0"/>
                  </a:rPr>
                  <a:t>Symbolically</a:t>
                </a:r>
                <a:r>
                  <a:rPr lang="en-US" dirty="0">
                    <a:latin typeface="Arial" panose="020B0604020202020204" pitchFamily="34" charset="0"/>
                    <a:cs typeface="Arial" panose="020B0604020202020204" pitchFamily="34" charset="0"/>
                  </a:rPr>
                  <a:t>,  </a:t>
                </a:r>
                <a14:m>
                  <m:oMath xmlns:m="http://schemas.openxmlformats.org/officeDocument/2006/math">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𝐵</m:t>
                    </m:r>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 </m:t>
                        </m:r>
                        <m:r>
                          <m:rPr>
                            <m:sty m:val="p"/>
                          </m:rPr>
                          <a:rPr lang="en-US">
                            <a:latin typeface="Cambria Math" panose="02040503050406030204" pitchFamily="18" charset="0"/>
                          </a:rPr>
                          <m:t>or</m:t>
                        </m:r>
                        <m:r>
                          <a:rPr lang="en-US" i="1">
                            <a:latin typeface="Cambria Math" panose="02040503050406030204" pitchFamily="18" charset="0"/>
                          </a:rPr>
                          <m:t> </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𝐵</m:t>
                        </m:r>
                      </m:e>
                    </m:d>
                  </m:oMath>
                </a14:m>
                <a:r>
                  <a:rPr lang="en-US" dirty="0">
                    <a:latin typeface="Arial" panose="020B0604020202020204" pitchFamily="34" charset="0"/>
                    <a:cs typeface="Arial" panose="020B0604020202020204" pitchFamily="34" charset="0"/>
                  </a:rPr>
                  <a:t>. </a:t>
                </a:r>
                <a:endParaRPr lang="en-US" dirty="0" smtClean="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dirty="0" smtClean="0">
                    <a:latin typeface="Arial" panose="020B0604020202020204" pitchFamily="34" charset="0"/>
                    <a:cs typeface="Arial" panose="020B0604020202020204" pitchFamily="34" charset="0"/>
                  </a:rPr>
                  <a:t>Let </a:t>
                </a:r>
                <a14:m>
                  <m:oMath xmlns:m="http://schemas.openxmlformats.org/officeDocument/2006/math">
                    <m:r>
                      <a:rPr lang="en-US" i="1">
                        <a:latin typeface="Cambria Math" panose="02040503050406030204" pitchFamily="18" charset="0"/>
                      </a:rPr>
                      <m:t>𝑆</m:t>
                    </m:r>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a:latin typeface="Cambria Math" panose="02040503050406030204" pitchFamily="18" charset="0"/>
                          </a:rPr>
                          <m:t>1, 2, 3, 4, 5, 6</m:t>
                        </m:r>
                      </m:e>
                    </m:d>
                  </m:oMath>
                </a14:m>
                <a:r>
                  <a:rPr lang="en-US" dirty="0">
                    <a:latin typeface="Arial" panose="020B0604020202020204" pitchFamily="34" charset="0"/>
                    <a:cs typeface="Arial" panose="020B0604020202020204" pitchFamily="34" charset="0"/>
                  </a:rPr>
                  <a:t>, </a:t>
                </a:r>
                <a14:m>
                  <m:oMath xmlns:m="http://schemas.openxmlformats.org/officeDocument/2006/math">
                    <m:r>
                      <a:rPr lang="en-US" i="1">
                        <a:latin typeface="Cambria Math" panose="02040503050406030204" pitchFamily="18" charset="0"/>
                      </a:rPr>
                      <m:t>𝐴</m:t>
                    </m:r>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a:latin typeface="Cambria Math" panose="02040503050406030204" pitchFamily="18" charset="0"/>
                          </a:rPr>
                          <m:t>1, 3, 5</m:t>
                        </m:r>
                      </m:e>
                    </m:d>
                    <m:r>
                      <a:rPr lang="en-US">
                        <a:latin typeface="Cambria Math" panose="02040503050406030204" pitchFamily="18" charset="0"/>
                      </a:rPr>
                      <m:t>, </m:t>
                    </m:r>
                    <m:r>
                      <a:rPr lang="en-US" i="1">
                        <a:latin typeface="Cambria Math" panose="02040503050406030204" pitchFamily="18" charset="0"/>
                      </a:rPr>
                      <m:t>𝐵</m:t>
                    </m:r>
                    <m:r>
                      <a:rPr lang="en-US">
                        <a:latin typeface="Cambria Math" panose="02040503050406030204" pitchFamily="18" charset="0"/>
                      </a:rPr>
                      <m:t>=</m:t>
                    </m:r>
                    <m:d>
                      <m:dPr>
                        <m:begChr m:val="{"/>
                        <m:endChr m:val="}"/>
                        <m:ctrlPr>
                          <a:rPr lang="en-US" i="1">
                            <a:latin typeface="Cambria Math" panose="02040503050406030204" pitchFamily="18" charset="0"/>
                          </a:rPr>
                        </m:ctrlPr>
                      </m:dPr>
                      <m:e>
                        <m:r>
                          <a:rPr lang="en-US">
                            <a:latin typeface="Cambria Math" panose="02040503050406030204" pitchFamily="18" charset="0"/>
                          </a:rPr>
                          <m:t>1, 4, 6</m:t>
                        </m:r>
                      </m:e>
                    </m:d>
                  </m:oMath>
                </a14:m>
                <a:r>
                  <a:rPr lang="en-US" dirty="0">
                    <a:latin typeface="Arial" panose="020B0604020202020204" pitchFamily="34" charset="0"/>
                    <a:cs typeface="Arial" panose="020B0604020202020204" pitchFamily="34" charset="0"/>
                  </a:rPr>
                  <a:t>, then </a:t>
                </a:r>
                <a14:m>
                  <m:oMath xmlns:m="http://schemas.openxmlformats.org/officeDocument/2006/math">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𝐵</m:t>
                    </m:r>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a:latin typeface="Cambria Math" panose="02040503050406030204" pitchFamily="18" charset="0"/>
                          </a:rPr>
                          <m:t>1, 3,4, 5,6</m:t>
                        </m:r>
                      </m:e>
                    </m:d>
                  </m:oMath>
                </a14:m>
                <a:r>
                  <a:rPr lang="en-US" dirty="0" smtClean="0">
                    <a:latin typeface="Arial" panose="020B0604020202020204" pitchFamily="34" charset="0"/>
                    <a:cs typeface="Arial" panose="020B0604020202020204" pitchFamily="34" charset="0"/>
                  </a:rPr>
                  <a:t>.</a:t>
                </a:r>
                <a:endParaRPr lang="en-US" sz="2000" dirty="0" smtClean="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000" dirty="0" smtClean="0">
                    <a:latin typeface="Arial" panose="020B0604020202020204" pitchFamily="34" charset="0"/>
                    <a:cs typeface="Arial" panose="020B0604020202020204" pitchFamily="34" charset="0"/>
                  </a:rPr>
                  <a:t>Let </a:t>
                </a:r>
                <a14:m>
                  <m:oMath xmlns:m="http://schemas.openxmlformats.org/officeDocument/2006/math">
                    <m:r>
                      <a:rPr lang="en-US" sz="2000" i="1">
                        <a:latin typeface="Cambria Math" panose="02040503050406030204" pitchFamily="18" charset="0"/>
                      </a:rPr>
                      <m:t>𝑆</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1, 2, 3, 4, 5, 6</m:t>
                        </m:r>
                      </m:e>
                    </m:d>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𝐴</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1,  5</m:t>
                        </m:r>
                      </m:e>
                    </m:d>
                    <m:r>
                      <a:rPr lang="en-US" sz="2000">
                        <a:latin typeface="Cambria Math" panose="02040503050406030204" pitchFamily="18" charset="0"/>
                      </a:rPr>
                      <m:t> , </m:t>
                    </m:r>
                    <m:r>
                      <a:rPr lang="en-US" sz="2000" i="1">
                        <a:latin typeface="Cambria Math" panose="02040503050406030204" pitchFamily="18" charset="0"/>
                      </a:rPr>
                      <m:t>𝐵</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1, 4</m:t>
                        </m:r>
                      </m:e>
                    </m:d>
                  </m:oMath>
                </a14:m>
                <a:r>
                  <a:rPr lang="en-US" sz="2000" dirty="0">
                    <a:latin typeface="Arial" panose="020B0604020202020204" pitchFamily="34" charset="0"/>
                    <a:cs typeface="Arial" panose="020B0604020202020204" pitchFamily="34" charset="0"/>
                  </a:rPr>
                  <a:t>, then </a:t>
                </a:r>
                <a14:m>
                  <m:oMath xmlns:m="http://schemas.openxmlformats.org/officeDocument/2006/math">
                    <m:r>
                      <a:rPr lang="en-US" sz="2000" i="1">
                        <a:latin typeface="Cambria Math" panose="02040503050406030204" pitchFamily="18" charset="0"/>
                      </a:rPr>
                      <m:t>𝐴</m:t>
                    </m:r>
                    <m:r>
                      <a:rPr lang="en-US" sz="2000">
                        <a:latin typeface="Cambria Math" panose="02040503050406030204" pitchFamily="18" charset="0"/>
                      </a:rPr>
                      <m:t>∪</m:t>
                    </m:r>
                    <m:r>
                      <a:rPr lang="en-US" sz="2000" i="1">
                        <a:latin typeface="Cambria Math" panose="02040503050406030204" pitchFamily="18" charset="0"/>
                      </a:rPr>
                      <m:t>𝐵</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1, 4, 5</m:t>
                        </m:r>
                      </m:e>
                    </m:d>
                  </m:oMath>
                </a14:m>
                <a:endParaRPr lang="en-US" sz="20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Let </a:t>
                </a:r>
                <a14:m>
                  <m:oMath xmlns:m="http://schemas.openxmlformats.org/officeDocument/2006/math">
                    <m:r>
                      <a:rPr lang="en-US" sz="2000" i="1">
                        <a:latin typeface="Cambria Math" panose="02040503050406030204" pitchFamily="18" charset="0"/>
                      </a:rPr>
                      <m:t>𝑆</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1, 2, 3, 4, 5, 6</m:t>
                        </m:r>
                      </m:e>
                    </m:d>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𝐴</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3,  5</m:t>
                        </m:r>
                      </m:e>
                    </m:d>
                    <m:r>
                      <a:rPr lang="en-US" sz="2000">
                        <a:latin typeface="Cambria Math" panose="02040503050406030204" pitchFamily="18" charset="0"/>
                      </a:rPr>
                      <m:t> , </m:t>
                    </m:r>
                    <m:r>
                      <a:rPr lang="en-US" sz="2000" i="1">
                        <a:latin typeface="Cambria Math" panose="02040503050406030204" pitchFamily="18" charset="0"/>
                      </a:rPr>
                      <m:t>𝐵</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1, 4</m:t>
                        </m:r>
                      </m:e>
                    </m:d>
                  </m:oMath>
                </a14:m>
                <a:r>
                  <a:rPr lang="en-US" sz="2000" dirty="0">
                    <a:latin typeface="Arial" panose="020B0604020202020204" pitchFamily="34" charset="0"/>
                    <a:cs typeface="Arial" panose="020B0604020202020204" pitchFamily="34" charset="0"/>
                  </a:rPr>
                  <a:t>, then </a:t>
                </a:r>
                <a14:m>
                  <m:oMath xmlns:m="http://schemas.openxmlformats.org/officeDocument/2006/math">
                    <m:r>
                      <a:rPr lang="en-US" sz="2000" i="1">
                        <a:latin typeface="Cambria Math" panose="02040503050406030204" pitchFamily="18" charset="0"/>
                      </a:rPr>
                      <m:t>𝐴</m:t>
                    </m:r>
                    <m:r>
                      <a:rPr lang="en-US" sz="2000">
                        <a:latin typeface="Cambria Math" panose="02040503050406030204" pitchFamily="18" charset="0"/>
                      </a:rPr>
                      <m:t>∪</m:t>
                    </m:r>
                    <m:r>
                      <a:rPr lang="en-US" sz="2000" i="1">
                        <a:latin typeface="Cambria Math" panose="02040503050406030204" pitchFamily="18" charset="0"/>
                      </a:rPr>
                      <m:t>𝐵</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1, 3, 4, 5</m:t>
                        </m:r>
                      </m:e>
                    </m:d>
                  </m:oMath>
                </a14:m>
                <a:endParaRPr lang="en-US" sz="20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endParaRPr lang="en-US"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b="1" i="1"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506" r="-563"/>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3212342" y="2438508"/>
            <a:ext cx="5767316" cy="1658256"/>
          </a:xfrm>
          <a:prstGeom prst="rect">
            <a:avLst/>
          </a:prstGeom>
        </p:spPr>
      </p:pic>
    </p:spTree>
    <p:extLst>
      <p:ext uri="{BB962C8B-B14F-4D97-AF65-F5344CB8AC3E}">
        <p14:creationId xmlns:p14="http://schemas.microsoft.com/office/powerpoint/2010/main" val="2939554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Some basic event operations (</a:t>
            </a:r>
            <a:r>
              <a:rPr lang="en-US" sz="2400" b="1" dirty="0" err="1">
                <a:latin typeface="Arial" panose="020B0604020202020204" pitchFamily="34" charset="0"/>
                <a:cs typeface="Arial" panose="020B0604020202020204" pitchFamily="34" charset="0"/>
              </a:rPr>
              <a:t>cont</a:t>
            </a:r>
            <a:r>
              <a:rPr lang="en-US" sz="2400" b="1"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Intersection of events:</a:t>
                </a:r>
                <a:r>
                  <a:rPr lang="en-US" sz="2000" dirty="0" smtClean="0">
                    <a:latin typeface="Arial" panose="020B0604020202020204" pitchFamily="34" charset="0"/>
                    <a:cs typeface="Arial" panose="020B0604020202020204" pitchFamily="34" charset="0"/>
                  </a:rPr>
                  <a:t> For </a:t>
                </a:r>
                <a:r>
                  <a:rPr lang="en-US" sz="2000" dirty="0">
                    <a:latin typeface="Arial" panose="020B0604020202020204" pitchFamily="34" charset="0"/>
                    <a:cs typeface="Arial" panose="020B0604020202020204" pitchFamily="34" charset="0"/>
                  </a:rPr>
                  <a:t>any two events A and B, the intersection of events A and B is the set of elements that are both in A and B. </a:t>
                </a:r>
                <a:r>
                  <a:rPr lang="en-US" sz="2000" dirty="0" smtClean="0">
                    <a:latin typeface="Arial" panose="020B0604020202020204" pitchFamily="34" charset="0"/>
                    <a:cs typeface="Arial" panose="020B0604020202020204" pitchFamily="34" charset="0"/>
                  </a:rPr>
                  <a:t>It </a:t>
                </a:r>
                <a:r>
                  <a:rPr lang="en-US" sz="2000" dirty="0">
                    <a:latin typeface="Arial" panose="020B0604020202020204" pitchFamily="34" charset="0"/>
                    <a:cs typeface="Arial" panose="020B0604020202020204" pitchFamily="34" charset="0"/>
                  </a:rPr>
                  <a:t>is </a:t>
                </a:r>
                <a:r>
                  <a:rPr lang="en-US" sz="2000" b="1" i="1" dirty="0">
                    <a:latin typeface="Arial" panose="020B0604020202020204" pitchFamily="34" charset="0"/>
                    <a:cs typeface="Arial" panose="020B0604020202020204" pitchFamily="34" charset="0"/>
                  </a:rPr>
                  <a:t>denoted by </a:t>
                </a:r>
                <a14:m>
                  <m:oMath xmlns:m="http://schemas.openxmlformats.org/officeDocument/2006/math">
                    <m:r>
                      <a:rPr lang="en-US" sz="2000" b="1" i="1">
                        <a:latin typeface="Cambria Math" panose="02040503050406030204" pitchFamily="18" charset="0"/>
                      </a:rPr>
                      <m:t>𝑨</m:t>
                    </m:r>
                    <m:r>
                      <a:rPr lang="en-US" sz="2000" b="1" i="1">
                        <a:latin typeface="Cambria Math" panose="02040503050406030204" pitchFamily="18" charset="0"/>
                      </a:rPr>
                      <m:t>∩</m:t>
                    </m:r>
                    <m:r>
                      <a:rPr lang="en-US" sz="2000" b="1" i="1">
                        <a:latin typeface="Cambria Math" panose="02040503050406030204" pitchFamily="18" charset="0"/>
                      </a:rPr>
                      <m:t>𝑩</m:t>
                    </m:r>
                  </m:oMath>
                </a14:m>
                <a:r>
                  <a:rPr lang="en-US" sz="2000" dirty="0">
                    <a:latin typeface="Arial" panose="020B0604020202020204" pitchFamily="34" charset="0"/>
                    <a:cs typeface="Arial" panose="020B0604020202020204" pitchFamily="34" charset="0"/>
                  </a:rPr>
                  <a:t> and can be represented by the shaded region of the following Venn diagrams: </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lvl="1" algn="just">
                  <a:lnSpc>
                    <a:spcPct val="150000"/>
                  </a:lnSpc>
                </a:pPr>
                <a:endParaRPr lang="en-US" sz="2000" dirty="0">
                  <a:latin typeface="Arial" panose="020B0604020202020204" pitchFamily="34" charset="0"/>
                  <a:cs typeface="Arial" panose="020B0604020202020204" pitchFamily="34" charset="0"/>
                </a:endParaRPr>
              </a:p>
              <a:p>
                <a:pPr lvl="1" algn="just">
                  <a:lnSpc>
                    <a:spcPct val="150000"/>
                  </a:lnSpc>
                </a:pPr>
                <a:endParaRPr lang="en-US" sz="20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Let </a:t>
                </a:r>
                <a14:m>
                  <m:oMath xmlns:m="http://schemas.openxmlformats.org/officeDocument/2006/math">
                    <m:r>
                      <a:rPr lang="en-US" sz="2000" i="1">
                        <a:latin typeface="Cambria Math" panose="02040503050406030204" pitchFamily="18" charset="0"/>
                      </a:rPr>
                      <m:t>𝑆</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1, 2, 3, 4, 5, 6</m:t>
                        </m:r>
                      </m:e>
                    </m:d>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𝐴</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1,  5</m:t>
                        </m:r>
                      </m:e>
                    </m:d>
                    <m:r>
                      <a:rPr lang="en-US" sz="2000">
                        <a:latin typeface="Cambria Math" panose="02040503050406030204" pitchFamily="18" charset="0"/>
                      </a:rPr>
                      <m:t> , </m:t>
                    </m:r>
                    <m:r>
                      <a:rPr lang="en-US" sz="2000" i="1">
                        <a:latin typeface="Cambria Math" panose="02040503050406030204" pitchFamily="18" charset="0"/>
                      </a:rPr>
                      <m:t>𝐵</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1, 4</m:t>
                        </m:r>
                      </m:e>
                    </m:d>
                  </m:oMath>
                </a14:m>
                <a:r>
                  <a:rPr lang="en-US" sz="2000" dirty="0">
                    <a:latin typeface="Arial" panose="020B0604020202020204" pitchFamily="34" charset="0"/>
                    <a:cs typeface="Arial" panose="020B0604020202020204" pitchFamily="34" charset="0"/>
                  </a:rPr>
                  <a:t>, then </a:t>
                </a:r>
                <a14:m>
                  <m:oMath xmlns:m="http://schemas.openxmlformats.org/officeDocument/2006/math">
                    <m:r>
                      <a:rPr lang="en-US" sz="2000" i="1">
                        <a:latin typeface="Cambria Math" panose="02040503050406030204" pitchFamily="18" charset="0"/>
                      </a:rPr>
                      <m:t>𝐴</m:t>
                    </m:r>
                    <m:r>
                      <a:rPr lang="en-US" sz="2000">
                        <a:latin typeface="Cambria Math" panose="02040503050406030204" pitchFamily="18" charset="0"/>
                      </a:rPr>
                      <m:t>∩</m:t>
                    </m:r>
                    <m:r>
                      <a:rPr lang="en-US" sz="2000" i="1">
                        <a:latin typeface="Cambria Math" panose="02040503050406030204" pitchFamily="18" charset="0"/>
                      </a:rPr>
                      <m:t>𝐵</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1</m:t>
                        </m:r>
                      </m:e>
                    </m:d>
                  </m:oMath>
                </a14:m>
                <a:endParaRPr lang="en-US" sz="20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Let </a:t>
                </a:r>
                <a14:m>
                  <m:oMath xmlns:m="http://schemas.openxmlformats.org/officeDocument/2006/math">
                    <m:r>
                      <a:rPr lang="en-US" sz="2000" i="1">
                        <a:latin typeface="Cambria Math" panose="02040503050406030204" pitchFamily="18" charset="0"/>
                      </a:rPr>
                      <m:t>𝑆</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1, 2, 3, 4, 5, 6</m:t>
                        </m:r>
                      </m:e>
                    </m:d>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𝐴</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3,  5</m:t>
                        </m:r>
                      </m:e>
                    </m:d>
                    <m:r>
                      <a:rPr lang="en-US" sz="2000">
                        <a:latin typeface="Cambria Math" panose="02040503050406030204" pitchFamily="18" charset="0"/>
                      </a:rPr>
                      <m:t> , </m:t>
                    </m:r>
                    <m:r>
                      <a:rPr lang="en-US" sz="2000" i="1">
                        <a:latin typeface="Cambria Math" panose="02040503050406030204" pitchFamily="18" charset="0"/>
                      </a:rPr>
                      <m:t>𝐵</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1, 4</m:t>
                        </m:r>
                      </m:e>
                    </m:d>
                  </m:oMath>
                </a14:m>
                <a:r>
                  <a:rPr lang="en-US" sz="2000" dirty="0">
                    <a:latin typeface="Arial" panose="020B0604020202020204" pitchFamily="34" charset="0"/>
                    <a:cs typeface="Arial" panose="020B0604020202020204" pitchFamily="34" charset="0"/>
                  </a:rPr>
                  <a:t>, then </a:t>
                </a:r>
                <a14:m>
                  <m:oMath xmlns:m="http://schemas.openxmlformats.org/officeDocument/2006/math">
                    <m:r>
                      <a:rPr lang="en-US" sz="2000" i="1">
                        <a:latin typeface="Cambria Math" panose="02040503050406030204" pitchFamily="18" charset="0"/>
                      </a:rPr>
                      <m:t>𝐴</m:t>
                    </m:r>
                    <m:r>
                      <a:rPr lang="en-US" sz="2000">
                        <a:latin typeface="Cambria Math" panose="02040503050406030204" pitchFamily="18" charset="0"/>
                      </a:rPr>
                      <m:t>∩</m:t>
                    </m:r>
                    <m:r>
                      <a:rPr lang="en-US" sz="2000" i="1">
                        <a:latin typeface="Cambria Math" panose="02040503050406030204" pitchFamily="18" charset="0"/>
                      </a:rPr>
                      <m:t>𝐵</m:t>
                    </m:r>
                    <m:r>
                      <a:rPr lang="en-US" sz="2000">
                        <a:latin typeface="Cambria Math" panose="02040503050406030204" pitchFamily="18" charset="0"/>
                      </a:rPr>
                      <m:t>=</m:t>
                    </m:r>
                    <m:r>
                      <a:rPr lang="en-US" sz="2000" i="1">
                        <a:latin typeface="Cambria Math" panose="02040503050406030204" pitchFamily="18" charset="0"/>
                      </a:rPr>
                      <m:t>𝜙</m:t>
                    </m:r>
                  </m:oMath>
                </a14:m>
                <a:r>
                  <a:rPr lang="en-US" sz="2000" dirty="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For mutually exclusive events </a:t>
                </a:r>
                <a14:m>
                  <m:oMath xmlns:m="http://schemas.openxmlformats.org/officeDocument/2006/math">
                    <m:r>
                      <a:rPr lang="en-US" sz="2000" i="1">
                        <a:latin typeface="Cambria Math" panose="02040503050406030204" pitchFamily="18" charset="0"/>
                      </a:rPr>
                      <m:t>𝐴</m:t>
                    </m:r>
                    <m:r>
                      <a:rPr lang="en-US" sz="2000" i="1">
                        <a:latin typeface="Cambria Math" panose="02040503050406030204" pitchFamily="18" charset="0"/>
                      </a:rPr>
                      <m:t>, </m:t>
                    </m:r>
                    <m:r>
                      <a:rPr lang="en-US" sz="2000" i="1">
                        <a:latin typeface="Cambria Math" panose="02040503050406030204" pitchFamily="18" charset="0"/>
                      </a:rPr>
                      <m:t>𝐵</m:t>
                    </m:r>
                    <m:r>
                      <a:rPr lang="en-US" sz="2000" i="1">
                        <a:latin typeface="Cambria Math" panose="02040503050406030204" pitchFamily="18" charset="0"/>
                      </a:rPr>
                      <m:t>,⋯</m:t>
                    </m:r>
                  </m:oMath>
                </a14:m>
                <a:r>
                  <a:rPr lang="en-US" sz="2000" dirty="0">
                    <a:latin typeface="Arial" panose="020B0604020202020204" pitchFamily="34" charset="0"/>
                    <a:cs typeface="Arial" panose="020B0604020202020204" pitchFamily="34" charset="0"/>
                  </a:rPr>
                  <a:t>, we can write  </a:t>
                </a:r>
                <a14:m>
                  <m:oMath xmlns:m="http://schemas.openxmlformats.org/officeDocument/2006/math">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𝐵</m:t>
                    </m:r>
                    <m:r>
                      <a:rPr lang="en-US" sz="2000" i="1">
                        <a:latin typeface="Cambria Math" panose="02040503050406030204" pitchFamily="18" charset="0"/>
                      </a:rPr>
                      <m:t>∩⋯=</m:t>
                    </m:r>
                    <m:r>
                      <a:rPr lang="en-US" sz="2000" i="1">
                        <a:latin typeface="Cambria Math" panose="02040503050406030204" pitchFamily="18" charset="0"/>
                      </a:rPr>
                      <m:t>𝜙</m:t>
                    </m:r>
                  </m:oMath>
                </a14:m>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endParaRPr lang="en-US"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b="1" i="1"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506" r="-563"/>
                </a:stretch>
              </a:blipFill>
            </p:spPr>
            <p:txBody>
              <a:bodyPr/>
              <a:lstStyle/>
              <a:p>
                <a:r>
                  <a:rPr lang="en-US">
                    <a:noFill/>
                  </a:rPr>
                  <a:t> </a:t>
                </a:r>
              </a:p>
            </p:txBody>
          </p:sp>
        </mc:Fallback>
      </mc:AlternateContent>
      <p:pic>
        <p:nvPicPr>
          <p:cNvPr id="5" name="Picture 4"/>
          <p:cNvPicPr>
            <a:picLocks noChangeAspect="1"/>
          </p:cNvPicPr>
          <p:nvPr/>
        </p:nvPicPr>
        <p:blipFill>
          <a:blip r:embed="rId3"/>
          <a:stretch>
            <a:fillRect/>
          </a:stretch>
        </p:blipFill>
        <p:spPr>
          <a:xfrm>
            <a:off x="3782367" y="2480470"/>
            <a:ext cx="4627265" cy="1493649"/>
          </a:xfrm>
          <a:prstGeom prst="rect">
            <a:avLst/>
          </a:prstGeom>
        </p:spPr>
      </p:pic>
    </p:spTree>
    <p:extLst>
      <p:ext uri="{BB962C8B-B14F-4D97-AF65-F5344CB8AC3E}">
        <p14:creationId xmlns:p14="http://schemas.microsoft.com/office/powerpoint/2010/main" val="40601851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Axioms of Probability</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If </a:t>
                </a:r>
                <a14:m>
                  <m:oMath xmlns:m="http://schemas.openxmlformats.org/officeDocument/2006/math">
                    <m:r>
                      <a:rPr lang="en-US" sz="2000" i="1">
                        <a:latin typeface="Cambria Math" panose="02040503050406030204" pitchFamily="18" charset="0"/>
                      </a:rPr>
                      <m:t>𝑆</m:t>
                    </m:r>
                  </m:oMath>
                </a14:m>
                <a:r>
                  <a:rPr lang="en-US" sz="2000" dirty="0">
                    <a:latin typeface="Arial" panose="020B0604020202020204" pitchFamily="34" charset="0"/>
                    <a:cs typeface="Arial" panose="020B0604020202020204" pitchFamily="34" charset="0"/>
                  </a:rPr>
                  <a:t> is the sample space and </a:t>
                </a:r>
                <a14:m>
                  <m:oMath xmlns:m="http://schemas.openxmlformats.org/officeDocument/2006/math">
                    <m:r>
                      <a:rPr lang="en-US" sz="2000" i="1">
                        <a:latin typeface="Cambria Math" panose="02040503050406030204" pitchFamily="18" charset="0"/>
                      </a:rPr>
                      <m:t>𝐴</m:t>
                    </m:r>
                  </m:oMath>
                </a14:m>
                <a:r>
                  <a:rPr lang="en-US" sz="2000" dirty="0">
                    <a:latin typeface="Arial" panose="020B0604020202020204" pitchFamily="34" charset="0"/>
                    <a:cs typeface="Arial" panose="020B0604020202020204" pitchFamily="34" charset="0"/>
                  </a:rPr>
                  <a:t> is any event in a random experiment, then the probability of event </a:t>
                </a:r>
                <a14:m>
                  <m:oMath xmlns:m="http://schemas.openxmlformats.org/officeDocument/2006/math">
                    <m:r>
                      <a:rPr lang="en-US" sz="2000" i="1">
                        <a:latin typeface="Cambria Math" panose="02040503050406030204" pitchFamily="18" charset="0"/>
                      </a:rPr>
                      <m:t>𝐴</m:t>
                    </m:r>
                  </m:oMath>
                </a14:m>
                <a:r>
                  <a:rPr lang="en-US" sz="2000" dirty="0">
                    <a:latin typeface="Arial" panose="020B0604020202020204" pitchFamily="34" charset="0"/>
                    <a:cs typeface="Arial" panose="020B0604020202020204" pitchFamily="34" charset="0"/>
                  </a:rPr>
                  <a:t>, denoted by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e>
                    </m:d>
                  </m:oMath>
                </a14:m>
                <a:r>
                  <a:rPr lang="en-US" sz="2000" dirty="0">
                    <a:latin typeface="Arial" panose="020B0604020202020204" pitchFamily="34" charset="0"/>
                    <a:cs typeface="Arial" panose="020B0604020202020204" pitchFamily="34" charset="0"/>
                  </a:rPr>
                  <a:t>, satisfies the following properties:</a:t>
                </a:r>
              </a:p>
              <a:p>
                <a:pPr marL="800100" lvl="1" indent="-342900" algn="just">
                  <a:lnSpc>
                    <a:spcPct val="150000"/>
                  </a:lnSpc>
                  <a:buFont typeface="Wingdings" panose="05000000000000000000" pitchFamily="2" charset="2"/>
                  <a:buChar char="ü"/>
                </a:pPr>
                <a14:m>
                  <m:oMath xmlns:m="http://schemas.openxmlformats.org/officeDocument/2006/math">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𝐴</m:t>
                        </m:r>
                      </m:e>
                    </m:d>
                    <m:r>
                      <a:rPr lang="en-US" sz="2000">
                        <a:latin typeface="Cambria Math" panose="02040503050406030204" pitchFamily="18" charset="0"/>
                        <a:cs typeface="Arial" panose="020B0604020202020204" pitchFamily="34" charset="0"/>
                      </a:rPr>
                      <m:t>≥0</m:t>
                    </m:r>
                  </m:oMath>
                </a14:m>
                <a:endParaRPr lang="en-US" sz="20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14:m>
                  <m:oMath xmlns:m="http://schemas.openxmlformats.org/officeDocument/2006/math">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𝑆</m:t>
                        </m:r>
                      </m:e>
                    </m:d>
                    <m:r>
                      <a:rPr lang="en-US" sz="2000">
                        <a:latin typeface="Cambria Math" panose="02040503050406030204" pitchFamily="18" charset="0"/>
                        <a:cs typeface="Arial" panose="020B0604020202020204" pitchFamily="34" charset="0"/>
                      </a:rPr>
                      <m:t>=1</m:t>
                    </m:r>
                  </m:oMath>
                </a14:m>
                <a:r>
                  <a:rPr lang="en-US" sz="2000" dirty="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For two events </a:t>
                </a:r>
                <a14:m>
                  <m:oMath xmlns:m="http://schemas.openxmlformats.org/officeDocument/2006/math">
                    <m:r>
                      <a:rPr lang="en-US" sz="2000">
                        <a:latin typeface="Cambria Math" panose="02040503050406030204" pitchFamily="18" charset="0"/>
                        <a:cs typeface="Arial" panose="020B0604020202020204" pitchFamily="34" charset="0"/>
                      </a:rPr>
                      <m:t>𝐴</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a:latin typeface="Cambria Math" panose="02040503050406030204" pitchFamily="18" charset="0"/>
                        <a:cs typeface="Arial" panose="020B0604020202020204" pitchFamily="34" charset="0"/>
                      </a:rPr>
                      <m:t>𝐵</m:t>
                    </m:r>
                  </m:oMath>
                </a14:m>
                <a:r>
                  <a:rPr lang="en-US" sz="2000" dirty="0">
                    <a:latin typeface="Arial" panose="020B0604020202020204" pitchFamily="34" charset="0"/>
                    <a:cs typeface="Arial" panose="020B0604020202020204" pitchFamily="34" charset="0"/>
                  </a:rPr>
                  <a:t> with </a:t>
                </a:r>
                <a14:m>
                  <m:oMath xmlns:m="http://schemas.openxmlformats.org/officeDocument/2006/math">
                    <m:r>
                      <a:rPr lang="en-US" sz="2000">
                        <a:latin typeface="Cambria Math" panose="02040503050406030204" pitchFamily="18" charset="0"/>
                        <a:cs typeface="Arial" panose="020B0604020202020204" pitchFamily="34" charset="0"/>
                      </a:rPr>
                      <m:t>𝐴</m:t>
                    </m:r>
                    <m:r>
                      <a:rPr lang="en-US" sz="2000">
                        <a:latin typeface="Cambria Math" panose="02040503050406030204" pitchFamily="18" charset="0"/>
                        <a:cs typeface="Arial" panose="020B0604020202020204" pitchFamily="34" charset="0"/>
                      </a:rPr>
                      <m:t>∩</m:t>
                    </m:r>
                    <m:r>
                      <a:rPr lang="en-US" sz="2000">
                        <a:latin typeface="Cambria Math" panose="02040503050406030204" pitchFamily="18" charset="0"/>
                        <a:cs typeface="Arial" panose="020B0604020202020204" pitchFamily="34" charset="0"/>
                      </a:rPr>
                      <m:t>𝐵</m:t>
                    </m:r>
                    <m:r>
                      <a:rPr lang="en-US" sz="2000">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𝐴</m:t>
                        </m:r>
                        <m:r>
                          <a:rPr lang="en-US" sz="2000">
                            <a:latin typeface="Cambria Math" panose="02040503050406030204" pitchFamily="18" charset="0"/>
                            <a:cs typeface="Arial" panose="020B0604020202020204" pitchFamily="34" charset="0"/>
                          </a:rPr>
                          <m:t>∪</m:t>
                        </m:r>
                        <m:r>
                          <a:rPr lang="en-US" sz="2000">
                            <a:latin typeface="Cambria Math" panose="02040503050406030204" pitchFamily="18" charset="0"/>
                            <a:cs typeface="Arial" panose="020B0604020202020204" pitchFamily="34" charset="0"/>
                          </a:rPr>
                          <m:t>𝐵</m:t>
                        </m:r>
                      </m:e>
                    </m:d>
                    <m:r>
                      <a:rPr lang="en-US" sz="2000">
                        <a:latin typeface="Cambria Math" panose="02040503050406030204" pitchFamily="18" charset="0"/>
                        <a:cs typeface="Arial" panose="020B0604020202020204" pitchFamily="34" charset="0"/>
                      </a:rPr>
                      <m:t>=</m:t>
                    </m:r>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𝐴</m:t>
                        </m:r>
                      </m:e>
                    </m:d>
                    <m:r>
                      <a:rPr lang="en-US" sz="2000">
                        <a:latin typeface="Cambria Math" panose="02040503050406030204" pitchFamily="18" charset="0"/>
                        <a:cs typeface="Arial" panose="020B0604020202020204" pitchFamily="34" charset="0"/>
                      </a:rPr>
                      <m:t>+</m:t>
                    </m:r>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𝐵</m:t>
                        </m:r>
                      </m:e>
                    </m:d>
                  </m:oMath>
                </a14:m>
                <a:endParaRPr lang="en-US" sz="20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Note that (1) and (2) together gives the possible values of </a:t>
                </a:r>
                <a14:m>
                  <m:oMath xmlns:m="http://schemas.openxmlformats.org/officeDocument/2006/math">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𝐴</m:t>
                        </m:r>
                      </m:e>
                    </m:d>
                  </m:oMath>
                </a14:m>
                <a:r>
                  <a:rPr lang="en-US" sz="2000" dirty="0">
                    <a:latin typeface="Arial" panose="020B0604020202020204" pitchFamily="34" charset="0"/>
                    <a:cs typeface="Arial" panose="020B0604020202020204" pitchFamily="34" charset="0"/>
                  </a:rPr>
                  <a:t> as, </a:t>
                </a:r>
                <a14:m>
                  <m:oMath xmlns:m="http://schemas.openxmlformats.org/officeDocument/2006/math">
                    <m:r>
                      <a:rPr lang="en-US" sz="2000">
                        <a:latin typeface="Cambria Math" panose="02040503050406030204" pitchFamily="18" charset="0"/>
                        <a:cs typeface="Arial" panose="020B0604020202020204" pitchFamily="34" charset="0"/>
                      </a:rPr>
                      <m:t>0≤</m:t>
                    </m:r>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𝐴</m:t>
                        </m:r>
                      </m:e>
                    </m:d>
                    <m:r>
                      <a:rPr lang="en-US" sz="2000">
                        <a:latin typeface="Cambria Math" panose="02040503050406030204" pitchFamily="18" charset="0"/>
                        <a:cs typeface="Arial" panose="020B0604020202020204" pitchFamily="34" charset="0"/>
                      </a:rPr>
                      <m:t>≤1</m:t>
                    </m:r>
                  </m:oMath>
                </a14:m>
                <a:r>
                  <a:rPr lang="en-US" sz="2000" dirty="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Computing Probability (By Definition of Classical Probability): </a:t>
                </a:r>
                <a:r>
                  <a:rPr lang="en-US" sz="2000" dirty="0">
                    <a:latin typeface="Arial" panose="020B0604020202020204" pitchFamily="34" charset="0"/>
                    <a:cs typeface="Arial" panose="020B0604020202020204" pitchFamily="34" charset="0"/>
                  </a:rPr>
                  <a:t>If there are </a:t>
                </a:r>
                <a14:m>
                  <m:oMath xmlns:m="http://schemas.openxmlformats.org/officeDocument/2006/math">
                    <m:r>
                      <a:rPr lang="en-US" sz="2000" i="1">
                        <a:latin typeface="Cambria Math" panose="02040503050406030204" pitchFamily="18" charset="0"/>
                      </a:rPr>
                      <m:t>𝑛</m:t>
                    </m:r>
                  </m:oMath>
                </a14:m>
                <a:r>
                  <a:rPr lang="en-US" sz="2000" dirty="0">
                    <a:latin typeface="Arial" panose="020B0604020202020204" pitchFamily="34" charset="0"/>
                    <a:cs typeface="Arial" panose="020B0604020202020204" pitchFamily="34" charset="0"/>
                  </a:rPr>
                  <a:t> mutually exclusive, equally likely and exhaustive outcomes of an experiment and if </a:t>
                </a:r>
                <a14:m>
                  <m:oMath xmlns:m="http://schemas.openxmlformats.org/officeDocument/2006/math">
                    <m:r>
                      <a:rPr lang="en-US" sz="2000" i="1">
                        <a:latin typeface="Cambria Math" panose="02040503050406030204" pitchFamily="18" charset="0"/>
                      </a:rPr>
                      <m:t>𝑚</m:t>
                    </m:r>
                  </m:oMath>
                </a14:m>
                <a:r>
                  <a:rPr lang="en-US" sz="2000" dirty="0">
                    <a:latin typeface="Arial" panose="020B0604020202020204" pitchFamily="34" charset="0"/>
                    <a:cs typeface="Arial" panose="020B0604020202020204" pitchFamily="34" charset="0"/>
                  </a:rPr>
                  <a:t> of those are favorable to an event </a:t>
                </a:r>
                <a14:m>
                  <m:oMath xmlns:m="http://schemas.openxmlformats.org/officeDocument/2006/math">
                    <m:r>
                      <a:rPr lang="en-US" sz="2000" i="1">
                        <a:latin typeface="Cambria Math" panose="02040503050406030204" pitchFamily="18" charset="0"/>
                      </a:rPr>
                      <m:t>𝐴</m:t>
                    </m:r>
                  </m:oMath>
                </a14:m>
                <a:r>
                  <a:rPr lang="en-US" sz="2000" dirty="0">
                    <a:latin typeface="Arial" panose="020B0604020202020204" pitchFamily="34" charset="0"/>
                    <a:cs typeface="Arial" panose="020B0604020202020204" pitchFamily="34" charset="0"/>
                  </a:rPr>
                  <a:t>, then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rPr>
                      <m:t>)</m:t>
                    </m:r>
                  </m:oMath>
                </a14:m>
                <a:r>
                  <a:rPr lang="en-US" sz="2000" dirty="0">
                    <a:latin typeface="Arial" panose="020B0604020202020204" pitchFamily="34" charset="0"/>
                    <a:cs typeface="Arial" panose="020B0604020202020204" pitchFamily="34" charset="0"/>
                  </a:rPr>
                  <a:t> is computed as</a:t>
                </a: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𝑚</m:t>
                          </m:r>
                        </m:num>
                        <m:den>
                          <m:r>
                            <a:rPr lang="en-US" sz="2000" i="1">
                              <a:latin typeface="Cambria Math" panose="02040503050406030204" pitchFamily="18" charset="0"/>
                            </a:rPr>
                            <m:t>𝑛</m:t>
                          </m:r>
                        </m:den>
                      </m:f>
                    </m:oMath>
                  </m:oMathPara>
                </a14:m>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where </a:t>
                </a:r>
                <a14:m>
                  <m:oMath xmlns:m="http://schemas.openxmlformats.org/officeDocument/2006/math">
                    <m:r>
                      <a:rPr lang="en-US" sz="2000" i="1">
                        <a:latin typeface="Cambria Math" panose="02040503050406030204" pitchFamily="18" charset="0"/>
                      </a:rPr>
                      <m:t>𝑚</m:t>
                    </m:r>
                  </m:oMath>
                </a14:m>
                <a:r>
                  <a:rPr lang="en-US" sz="2000" dirty="0">
                    <a:latin typeface="Arial" panose="020B0604020202020204" pitchFamily="34" charset="0"/>
                    <a:cs typeface="Arial" panose="020B0604020202020204" pitchFamily="34" charset="0"/>
                  </a:rPr>
                  <a:t>: number of outcomes in </a:t>
                </a:r>
                <a14:m>
                  <m:oMath xmlns:m="http://schemas.openxmlformats.org/officeDocument/2006/math">
                    <m:r>
                      <a:rPr lang="en-US" sz="2000" i="1">
                        <a:latin typeface="Cambria Math" panose="02040503050406030204" pitchFamily="18" charset="0"/>
                      </a:rPr>
                      <m:t>𝐴</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a:latin typeface="Cambria Math" panose="02040503050406030204" pitchFamily="18" charset="0"/>
                      </a:rPr>
                      <m:t>𝑛</m:t>
                    </m:r>
                  </m:oMath>
                </a14:m>
                <a:r>
                  <a:rPr lang="en-US" sz="2000" dirty="0">
                    <a:latin typeface="Arial" panose="020B0604020202020204" pitchFamily="34" charset="0"/>
                    <a:cs typeface="Arial" panose="020B0604020202020204" pitchFamily="34" charset="0"/>
                  </a:rPr>
                  <a:t>: number of outcomes in the </a:t>
                </a:r>
                <a14:m>
                  <m:oMath xmlns:m="http://schemas.openxmlformats.org/officeDocument/2006/math">
                    <m:r>
                      <a:rPr lang="en-US" sz="2000" i="1">
                        <a:latin typeface="Cambria Math" panose="02040503050406030204" pitchFamily="18" charset="0"/>
                      </a:rPr>
                      <m:t>𝑆</m:t>
                    </m:r>
                  </m:oMath>
                </a14:m>
                <a:r>
                  <a:rPr lang="en-US" sz="2000" dirty="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2461279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Classical probability (</a:t>
            </a:r>
            <a:r>
              <a:rPr lang="en-US" sz="2400" b="1" dirty="0" err="1">
                <a:latin typeface="Arial" panose="020B0604020202020204" pitchFamily="34" charset="0"/>
                <a:cs typeface="Arial" panose="020B0604020202020204" pitchFamily="34" charset="0"/>
              </a:rPr>
              <a:t>cont</a:t>
            </a:r>
            <a:r>
              <a:rPr lang="en-US" sz="2400" b="1"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1700" b="1" dirty="0">
                    <a:latin typeface="Arial" panose="020B0604020202020204" pitchFamily="34" charset="0"/>
                    <a:cs typeface="Arial" panose="020B0604020202020204" pitchFamily="34" charset="0"/>
                  </a:rPr>
                  <a:t>Example:</a:t>
                </a:r>
                <a:r>
                  <a:rPr lang="en-US" sz="1700" dirty="0">
                    <a:latin typeface="Arial" panose="020B0604020202020204" pitchFamily="34" charset="0"/>
                    <a:cs typeface="Arial" panose="020B0604020202020204" pitchFamily="34" charset="0"/>
                  </a:rPr>
                  <a:t> An ordinary die is rolled once. Find the probability that (</a:t>
                </a:r>
                <a:r>
                  <a:rPr lang="en-US" sz="1700" dirty="0" err="1">
                    <a:latin typeface="Arial" panose="020B0604020202020204" pitchFamily="34" charset="0"/>
                    <a:cs typeface="Arial" panose="020B0604020202020204" pitchFamily="34" charset="0"/>
                  </a:rPr>
                  <a:t>i</a:t>
                </a:r>
                <a:r>
                  <a:rPr lang="en-US" sz="1700" dirty="0">
                    <a:latin typeface="Arial" panose="020B0604020202020204" pitchFamily="34" charset="0"/>
                    <a:cs typeface="Arial" panose="020B0604020202020204" pitchFamily="34" charset="0"/>
                  </a:rPr>
                  <a:t>) an even number occurs (ii) a number greater than 4 occurs (iii) multiple of 4 or a prime number occurs.</a:t>
                </a:r>
              </a:p>
              <a:p>
                <a:pPr marL="342900" indent="-342900" algn="just">
                  <a:lnSpc>
                    <a:spcPct val="150000"/>
                  </a:lnSpc>
                  <a:buFont typeface="Arial" panose="020B0604020202020204" pitchFamily="34" charset="0"/>
                  <a:buChar char="•"/>
                </a:pPr>
                <a:r>
                  <a:rPr lang="en-US" sz="1700" b="1" dirty="0">
                    <a:latin typeface="Arial" panose="020B0604020202020204" pitchFamily="34" charset="0"/>
                    <a:cs typeface="Arial" panose="020B0604020202020204" pitchFamily="34" charset="0"/>
                  </a:rPr>
                  <a:t>Solution:</a:t>
                </a:r>
                <a:r>
                  <a:rPr lang="en-US" sz="1700" dirty="0">
                    <a:latin typeface="Arial" panose="020B0604020202020204" pitchFamily="34" charset="0"/>
                    <a:cs typeface="Arial" panose="020B0604020202020204" pitchFamily="34" charset="0"/>
                  </a:rPr>
                  <a:t> Here,  S={1,2,3,4,5,6}</a:t>
                </a:r>
              </a:p>
              <a:p>
                <a:pPr marL="800100" lvl="1" indent="-342900" algn="just">
                  <a:lnSpc>
                    <a:spcPct val="150000"/>
                  </a:lnSpc>
                  <a:buFont typeface="Wingdings" panose="05000000000000000000" pitchFamily="2" charset="2"/>
                  <a:buChar char="ü"/>
                </a:pPr>
                <a:r>
                  <a:rPr lang="en-US" sz="1700" dirty="0">
                    <a:latin typeface="Arial" panose="020B0604020202020204" pitchFamily="34" charset="0"/>
                    <a:cs typeface="Arial" panose="020B0604020202020204" pitchFamily="34" charset="0"/>
                  </a:rPr>
                  <a:t>Let </a:t>
                </a:r>
                <a14:m>
                  <m:oMath xmlns:m="http://schemas.openxmlformats.org/officeDocument/2006/math">
                    <m:r>
                      <a:rPr lang="en-US" sz="1700" i="1">
                        <a:latin typeface="Cambria Math" panose="02040503050406030204" pitchFamily="18" charset="0"/>
                      </a:rPr>
                      <m:t>𝐴</m:t>
                    </m:r>
                  </m:oMath>
                </a14:m>
                <a:r>
                  <a:rPr lang="en-US" sz="1700" dirty="0">
                    <a:latin typeface="Arial" panose="020B0604020202020204" pitchFamily="34" charset="0"/>
                    <a:cs typeface="Arial" panose="020B0604020202020204" pitchFamily="34" charset="0"/>
                  </a:rPr>
                  <a:t> denote the event that the face is an even number i.e., </a:t>
                </a:r>
                <a14:m>
                  <m:oMath xmlns:m="http://schemas.openxmlformats.org/officeDocument/2006/math">
                    <m:r>
                      <a:rPr lang="en-US" sz="1700" i="1">
                        <a:latin typeface="Cambria Math" panose="02040503050406030204" pitchFamily="18" charset="0"/>
                      </a:rPr>
                      <m:t>𝐴</m:t>
                    </m:r>
                    <m:r>
                      <a:rPr lang="en-US" sz="1700" i="1">
                        <a:latin typeface="Cambria Math" panose="02040503050406030204" pitchFamily="18" charset="0"/>
                      </a:rPr>
                      <m:t>=</m:t>
                    </m:r>
                    <m:d>
                      <m:dPr>
                        <m:begChr m:val="{"/>
                        <m:endChr m:val="}"/>
                        <m:ctrlPr>
                          <a:rPr lang="en-US" sz="1700" i="1">
                            <a:latin typeface="Cambria Math" panose="02040503050406030204" pitchFamily="18" charset="0"/>
                          </a:rPr>
                        </m:ctrlPr>
                      </m:dPr>
                      <m:e>
                        <m:r>
                          <a:rPr lang="en-US" sz="1700" i="1">
                            <a:latin typeface="Cambria Math" panose="02040503050406030204" pitchFamily="18" charset="0"/>
                          </a:rPr>
                          <m:t>2,4,6</m:t>
                        </m:r>
                      </m:e>
                    </m:d>
                  </m:oMath>
                </a14:m>
                <a:endParaRPr lang="en-US" sz="1700" dirty="0">
                  <a:latin typeface="Arial" panose="020B0604020202020204" pitchFamily="34" charset="0"/>
                </a:endParaRPr>
              </a:p>
              <a:p>
                <a:pPr lvl="1" algn="just">
                  <a:lnSpc>
                    <a:spcPct val="150000"/>
                  </a:lnSpc>
                </a:pPr>
                <a:r>
                  <a:rPr lang="en-US" sz="1700" dirty="0"/>
                  <a:t>	</a:t>
                </a:r>
                <a14:m>
                  <m:oMath xmlns:m="http://schemas.openxmlformats.org/officeDocument/2006/math">
                    <m:r>
                      <a:rPr lang="en-US" sz="1700" i="1">
                        <a:latin typeface="Cambria Math" panose="02040503050406030204" pitchFamily="18" charset="0"/>
                      </a:rPr>
                      <m:t>𝑃</m:t>
                    </m:r>
                    <m:d>
                      <m:dPr>
                        <m:ctrlPr>
                          <a:rPr lang="en-US" sz="1700" i="1">
                            <a:latin typeface="Cambria Math" panose="02040503050406030204" pitchFamily="18" charset="0"/>
                          </a:rPr>
                        </m:ctrlPr>
                      </m:dPr>
                      <m:e>
                        <m:r>
                          <a:rPr lang="en-US" sz="1700" i="1">
                            <a:latin typeface="Cambria Math" panose="02040503050406030204" pitchFamily="18" charset="0"/>
                          </a:rPr>
                          <m:t>𝐴</m:t>
                        </m:r>
                      </m:e>
                    </m:d>
                    <m:r>
                      <a:rPr lang="en-US" sz="1700" i="1">
                        <a:latin typeface="Cambria Math" panose="02040503050406030204" pitchFamily="18" charset="0"/>
                      </a:rPr>
                      <m:t>=</m:t>
                    </m:r>
                    <m:f>
                      <m:fPr>
                        <m:ctrlPr>
                          <a:rPr lang="en-US" sz="1700" i="1">
                            <a:latin typeface="Cambria Math" panose="02040503050406030204" pitchFamily="18" charset="0"/>
                          </a:rPr>
                        </m:ctrlPr>
                      </m:fPr>
                      <m:num>
                        <m:r>
                          <a:rPr lang="en-US" sz="1700" i="1">
                            <a:latin typeface="Cambria Math" panose="02040503050406030204" pitchFamily="18" charset="0"/>
                          </a:rPr>
                          <m:t>3</m:t>
                        </m:r>
                      </m:num>
                      <m:den>
                        <m:r>
                          <a:rPr lang="en-US" sz="1700" i="1">
                            <a:latin typeface="Cambria Math" panose="02040503050406030204" pitchFamily="18" charset="0"/>
                          </a:rPr>
                          <m:t>6</m:t>
                        </m:r>
                      </m:den>
                    </m:f>
                    <m:r>
                      <a:rPr lang="en-US" sz="1700" i="1">
                        <a:latin typeface="Cambria Math" panose="02040503050406030204" pitchFamily="18" charset="0"/>
                      </a:rPr>
                      <m:t>=0.5</m:t>
                    </m:r>
                  </m:oMath>
                </a14:m>
                <a:r>
                  <a:rPr lang="en-US" sz="1700" dirty="0">
                    <a:latin typeface="Arial" panose="020B0604020202020204" pitchFamily="34" charset="0"/>
                    <a:cs typeface="Arial" panose="020B0604020202020204" pitchFamily="34" charset="0"/>
                  </a:rPr>
                  <a:t> (odds=1)</a:t>
                </a:r>
                <a:endParaRPr lang="en-US" sz="1700" dirty="0">
                  <a:latin typeface="Arial" panose="020B0604020202020204" pitchFamily="34" charset="0"/>
                </a:endParaRPr>
              </a:p>
              <a:p>
                <a:pPr marL="800100" lvl="1" indent="-342900" algn="just">
                  <a:lnSpc>
                    <a:spcPct val="150000"/>
                  </a:lnSpc>
                  <a:buFont typeface="Wingdings" panose="05000000000000000000" pitchFamily="2" charset="2"/>
                  <a:buChar char="ü"/>
                </a:pPr>
                <a:r>
                  <a:rPr lang="en-US" sz="1700" dirty="0">
                    <a:latin typeface="Arial" panose="020B0604020202020204" pitchFamily="34" charset="0"/>
                    <a:cs typeface="Arial" panose="020B0604020202020204" pitchFamily="34" charset="0"/>
                  </a:rPr>
                  <a:t>Let </a:t>
                </a:r>
                <a14:m>
                  <m:oMath xmlns:m="http://schemas.openxmlformats.org/officeDocument/2006/math">
                    <m:r>
                      <a:rPr lang="en-US" sz="1700" i="1">
                        <a:latin typeface="Cambria Math" panose="02040503050406030204" pitchFamily="18" charset="0"/>
                      </a:rPr>
                      <m:t>𝐵</m:t>
                    </m:r>
                  </m:oMath>
                </a14:m>
                <a:r>
                  <a:rPr lang="en-US" sz="1700" dirty="0">
                    <a:latin typeface="Arial" panose="020B0604020202020204" pitchFamily="34" charset="0"/>
                    <a:cs typeface="Arial" panose="020B0604020202020204" pitchFamily="34" charset="0"/>
                  </a:rPr>
                  <a:t> denote the event that a number greater than 4 appears in the face i.e., </a:t>
                </a:r>
                <a14:m>
                  <m:oMath xmlns:m="http://schemas.openxmlformats.org/officeDocument/2006/math">
                    <m:r>
                      <a:rPr lang="en-US" sz="1700" i="1">
                        <a:latin typeface="Cambria Math" panose="02040503050406030204" pitchFamily="18" charset="0"/>
                      </a:rPr>
                      <m:t>𝐵</m:t>
                    </m:r>
                    <m:r>
                      <a:rPr lang="en-US" sz="1700" i="1">
                        <a:latin typeface="Cambria Math" panose="02040503050406030204" pitchFamily="18" charset="0"/>
                      </a:rPr>
                      <m:t>=</m:t>
                    </m:r>
                    <m:d>
                      <m:dPr>
                        <m:begChr m:val="{"/>
                        <m:endChr m:val="}"/>
                        <m:ctrlPr>
                          <a:rPr lang="en-US" sz="1700" i="1">
                            <a:latin typeface="Cambria Math" panose="02040503050406030204" pitchFamily="18" charset="0"/>
                          </a:rPr>
                        </m:ctrlPr>
                      </m:dPr>
                      <m:e>
                        <m:r>
                          <a:rPr lang="en-US" sz="1700" i="1">
                            <a:latin typeface="Cambria Math" panose="02040503050406030204" pitchFamily="18" charset="0"/>
                          </a:rPr>
                          <m:t>5,6</m:t>
                        </m:r>
                      </m:e>
                    </m:d>
                  </m:oMath>
                </a14:m>
                <a:endParaRPr lang="en-US" sz="1700" dirty="0">
                  <a:latin typeface="Arial" panose="020B0604020202020204" pitchFamily="34" charset="0"/>
                </a:endParaRPr>
              </a:p>
              <a:p>
                <a:pPr lvl="1" algn="just">
                  <a:lnSpc>
                    <a:spcPct val="150000"/>
                  </a:lnSpc>
                </a:pPr>
                <a:r>
                  <a:rPr lang="en-US" sz="1700" dirty="0"/>
                  <a:t>	</a:t>
                </a:r>
                <a14:m>
                  <m:oMath xmlns:m="http://schemas.openxmlformats.org/officeDocument/2006/math">
                    <m:r>
                      <a:rPr lang="en-US" sz="1700" i="1">
                        <a:latin typeface="Cambria Math" panose="02040503050406030204" pitchFamily="18" charset="0"/>
                      </a:rPr>
                      <m:t>𝑃</m:t>
                    </m:r>
                    <m:d>
                      <m:dPr>
                        <m:ctrlPr>
                          <a:rPr lang="en-US" sz="1700" i="1">
                            <a:latin typeface="Cambria Math" panose="02040503050406030204" pitchFamily="18" charset="0"/>
                          </a:rPr>
                        </m:ctrlPr>
                      </m:dPr>
                      <m:e>
                        <m:r>
                          <a:rPr lang="en-US" sz="1700" i="1">
                            <a:latin typeface="Cambria Math" panose="02040503050406030204" pitchFamily="18" charset="0"/>
                          </a:rPr>
                          <m:t>𝐵</m:t>
                        </m:r>
                      </m:e>
                    </m:d>
                    <m:r>
                      <a:rPr lang="en-US" sz="1700" i="1">
                        <a:latin typeface="Cambria Math" panose="02040503050406030204" pitchFamily="18" charset="0"/>
                      </a:rPr>
                      <m:t>=</m:t>
                    </m:r>
                    <m:f>
                      <m:fPr>
                        <m:ctrlPr>
                          <a:rPr lang="en-US" sz="1700" i="1">
                            <a:latin typeface="Cambria Math" panose="02040503050406030204" pitchFamily="18" charset="0"/>
                          </a:rPr>
                        </m:ctrlPr>
                      </m:fPr>
                      <m:num>
                        <m:r>
                          <a:rPr lang="en-US" sz="1700" i="1">
                            <a:latin typeface="Cambria Math" panose="02040503050406030204" pitchFamily="18" charset="0"/>
                          </a:rPr>
                          <m:t>2</m:t>
                        </m:r>
                      </m:num>
                      <m:den>
                        <m:r>
                          <a:rPr lang="en-US" sz="1700" i="1">
                            <a:latin typeface="Cambria Math" panose="02040503050406030204" pitchFamily="18" charset="0"/>
                          </a:rPr>
                          <m:t>6</m:t>
                        </m:r>
                      </m:den>
                    </m:f>
                    <m:r>
                      <a:rPr lang="en-US" sz="1700" i="1">
                        <a:latin typeface="Cambria Math" panose="02040503050406030204" pitchFamily="18" charset="0"/>
                      </a:rPr>
                      <m:t>=0.3333</m:t>
                    </m:r>
                  </m:oMath>
                </a14:m>
                <a:r>
                  <a:rPr lang="en-US" sz="1700" dirty="0">
                    <a:latin typeface="Arial" panose="020B0604020202020204" pitchFamily="34" charset="0"/>
                    <a:cs typeface="Arial" panose="020B0604020202020204" pitchFamily="34" charset="0"/>
                  </a:rPr>
                  <a:t> (odds=0.5)</a:t>
                </a:r>
                <a:endParaRPr lang="en-US" sz="1700" dirty="0">
                  <a:latin typeface="Arial" panose="020B0604020202020204" pitchFamily="34" charset="0"/>
                </a:endParaRPr>
              </a:p>
              <a:p>
                <a:pPr marL="800100" lvl="1" indent="-342900" algn="just">
                  <a:lnSpc>
                    <a:spcPct val="150000"/>
                  </a:lnSpc>
                  <a:buFont typeface="Wingdings" panose="05000000000000000000" pitchFamily="2" charset="2"/>
                  <a:buChar char="ü"/>
                </a:pPr>
                <a:r>
                  <a:rPr lang="en-US" sz="1700" dirty="0">
                    <a:latin typeface="Arial" panose="020B0604020202020204" pitchFamily="34" charset="0"/>
                    <a:cs typeface="Arial" panose="020B0604020202020204" pitchFamily="34" charset="0"/>
                  </a:rPr>
                  <a:t>Let </a:t>
                </a:r>
                <a14:m>
                  <m:oMath xmlns:m="http://schemas.openxmlformats.org/officeDocument/2006/math">
                    <m:r>
                      <a:rPr lang="en-US" sz="1700" b="0" i="1" smtClean="0">
                        <a:latin typeface="Cambria Math" panose="02040503050406030204" pitchFamily="18" charset="0"/>
                        <a:cs typeface="Arial" panose="020B0604020202020204" pitchFamily="34" charset="0"/>
                      </a:rPr>
                      <m:t>𝐶</m:t>
                    </m:r>
                  </m:oMath>
                </a14:m>
                <a:r>
                  <a:rPr lang="en-US" sz="1700" dirty="0">
                    <a:latin typeface="Arial" panose="020B0604020202020204" pitchFamily="34" charset="0"/>
                    <a:cs typeface="Arial" panose="020B0604020202020204" pitchFamily="34" charset="0"/>
                  </a:rPr>
                  <a:t> denote the event that the face is multiple of 4 i.e., </a:t>
                </a:r>
                <a14:m>
                  <m:oMath xmlns:m="http://schemas.openxmlformats.org/officeDocument/2006/math">
                    <m:r>
                      <a:rPr lang="en-US" sz="1700">
                        <a:latin typeface="Cambria Math" panose="02040503050406030204" pitchFamily="18" charset="0"/>
                        <a:cs typeface="Arial" panose="020B0604020202020204" pitchFamily="34" charset="0"/>
                      </a:rPr>
                      <m:t>𝐶</m:t>
                    </m:r>
                    <m:r>
                      <a:rPr lang="en-US" sz="1700">
                        <a:latin typeface="Cambria Math" panose="02040503050406030204" pitchFamily="18" charset="0"/>
                        <a:cs typeface="Arial" panose="020B0604020202020204" pitchFamily="34" charset="0"/>
                      </a:rPr>
                      <m:t>={4}</m:t>
                    </m:r>
                  </m:oMath>
                </a14:m>
                <a:endParaRPr lang="en-US" sz="1700" dirty="0">
                  <a:latin typeface="Arial" panose="020B0604020202020204" pitchFamily="34" charset="0"/>
                  <a:cs typeface="Arial" panose="020B0604020202020204" pitchFamily="34" charset="0"/>
                </a:endParaRPr>
              </a:p>
              <a:p>
                <a:pPr lvl="1" algn="just">
                  <a:lnSpc>
                    <a:spcPct val="150000"/>
                  </a:lnSpc>
                </a:pPr>
                <a:r>
                  <a:rPr lang="en-US" sz="1700" dirty="0">
                    <a:cs typeface="Arial" panose="020B0604020202020204" pitchFamily="34" charset="0"/>
                  </a:rPr>
                  <a:t>	</a:t>
                </a:r>
                <a14:m>
                  <m:oMath xmlns:m="http://schemas.openxmlformats.org/officeDocument/2006/math">
                    <m:r>
                      <a:rPr lang="en-US" sz="1700" b="0" i="1" smtClean="0">
                        <a:latin typeface="Cambria Math" panose="02040503050406030204" pitchFamily="18" charset="0"/>
                        <a:cs typeface="Arial" panose="020B0604020202020204" pitchFamily="34" charset="0"/>
                      </a:rPr>
                      <m:t>𝐷</m:t>
                    </m:r>
                  </m:oMath>
                </a14:m>
                <a:r>
                  <a:rPr lang="en-US" sz="1700" dirty="0">
                    <a:latin typeface="Arial" panose="020B0604020202020204" pitchFamily="34" charset="0"/>
                    <a:cs typeface="Arial" panose="020B0604020202020204" pitchFamily="34" charset="0"/>
                  </a:rPr>
                  <a:t> denote the event that the face is a prime number i.e., D</a:t>
                </a:r>
                <a14:m>
                  <m:oMath xmlns:m="http://schemas.openxmlformats.org/officeDocument/2006/math">
                    <m:r>
                      <a:rPr lang="en-US" sz="1700">
                        <a:latin typeface="Cambria Math" panose="02040503050406030204" pitchFamily="18" charset="0"/>
                        <a:cs typeface="Arial" panose="020B0604020202020204" pitchFamily="34" charset="0"/>
                      </a:rPr>
                      <m:t>={2,3,5}</m:t>
                    </m:r>
                  </m:oMath>
                </a14:m>
                <a:endParaRPr lang="en-US" sz="1700" dirty="0">
                  <a:latin typeface="Arial" panose="020B0604020202020204" pitchFamily="34" charset="0"/>
                  <a:cs typeface="Arial" panose="020B0604020202020204" pitchFamily="34" charset="0"/>
                </a:endParaRPr>
              </a:p>
              <a:p>
                <a14:m>
                  <m:oMath xmlns:m="http://schemas.openxmlformats.org/officeDocument/2006/math">
                    <m:r>
                      <a:rPr lang="en-US" sz="1700">
                        <a:latin typeface="Cambria Math" panose="02040503050406030204" pitchFamily="18" charset="0"/>
                        <a:cs typeface="Arial" panose="020B0604020202020204" pitchFamily="34" charset="0"/>
                      </a:rPr>
                      <m:t>𝑃</m:t>
                    </m:r>
                    <m:d>
                      <m:dPr>
                        <m:ctrlPr>
                          <a:rPr lang="en-US" sz="1700" i="1">
                            <a:latin typeface="Cambria Math" panose="02040503050406030204" pitchFamily="18" charset="0"/>
                            <a:cs typeface="Arial" panose="020B0604020202020204" pitchFamily="34" charset="0"/>
                          </a:rPr>
                        </m:ctrlPr>
                      </m:dPr>
                      <m:e>
                        <m:r>
                          <a:rPr lang="en-US" sz="1700" b="0" i="1" smtClean="0">
                            <a:latin typeface="Cambria Math" panose="02040503050406030204" pitchFamily="18" charset="0"/>
                            <a:cs typeface="Arial" panose="020B0604020202020204" pitchFamily="34" charset="0"/>
                          </a:rPr>
                          <m:t>𝐶</m:t>
                        </m:r>
                      </m:e>
                    </m:d>
                    <m:r>
                      <a:rPr lang="en-US" sz="1700">
                        <a:latin typeface="Cambria Math" panose="02040503050406030204" pitchFamily="18" charset="0"/>
                        <a:cs typeface="Arial" panose="020B0604020202020204" pitchFamily="34" charset="0"/>
                      </a:rPr>
                      <m:t>=</m:t>
                    </m:r>
                    <m:f>
                      <m:fPr>
                        <m:ctrlPr>
                          <a:rPr lang="en-US" sz="1700" i="1">
                            <a:latin typeface="Cambria Math" panose="02040503050406030204" pitchFamily="18" charset="0"/>
                            <a:cs typeface="Arial" panose="020B0604020202020204" pitchFamily="34" charset="0"/>
                          </a:rPr>
                        </m:ctrlPr>
                      </m:fPr>
                      <m:num>
                        <m:r>
                          <a:rPr lang="en-US" sz="1700" b="0" i="0" smtClean="0">
                            <a:latin typeface="Cambria Math" panose="02040503050406030204" pitchFamily="18" charset="0"/>
                            <a:cs typeface="Arial" panose="020B0604020202020204" pitchFamily="34" charset="0"/>
                          </a:rPr>
                          <m:t>1</m:t>
                        </m:r>
                      </m:num>
                      <m:den>
                        <m:r>
                          <a:rPr lang="en-US" sz="1700">
                            <a:latin typeface="Cambria Math" panose="02040503050406030204" pitchFamily="18" charset="0"/>
                            <a:cs typeface="Arial" panose="020B0604020202020204" pitchFamily="34" charset="0"/>
                          </a:rPr>
                          <m:t>6</m:t>
                        </m:r>
                      </m:den>
                    </m:f>
                    <m:r>
                      <a:rPr lang="en-US" sz="1700" b="0" i="0" smtClean="0">
                        <a:latin typeface="Cambria Math" panose="02040503050406030204" pitchFamily="18" charset="0"/>
                        <a:cs typeface="Arial" panose="020B0604020202020204" pitchFamily="34" charset="0"/>
                      </a:rPr>
                      <m:t>, </m:t>
                    </m:r>
                    <m:r>
                      <a:rPr lang="en-US" sz="1700">
                        <a:latin typeface="Cambria Math" panose="02040503050406030204" pitchFamily="18" charset="0"/>
                        <a:cs typeface="Arial" panose="020B0604020202020204" pitchFamily="34" charset="0"/>
                      </a:rPr>
                      <m:t>𝑃</m:t>
                    </m:r>
                    <m:d>
                      <m:dPr>
                        <m:ctrlPr>
                          <a:rPr lang="en-US" sz="1700" i="1">
                            <a:latin typeface="Cambria Math" panose="02040503050406030204" pitchFamily="18" charset="0"/>
                            <a:cs typeface="Arial" panose="020B0604020202020204" pitchFamily="34" charset="0"/>
                          </a:rPr>
                        </m:ctrlPr>
                      </m:dPr>
                      <m:e>
                        <m:r>
                          <a:rPr lang="en-US" sz="1700" b="0" i="1" smtClean="0">
                            <a:latin typeface="Cambria Math" panose="02040503050406030204" pitchFamily="18" charset="0"/>
                            <a:cs typeface="Arial" panose="020B0604020202020204" pitchFamily="34" charset="0"/>
                          </a:rPr>
                          <m:t>𝐷</m:t>
                        </m:r>
                      </m:e>
                    </m:d>
                    <m:r>
                      <a:rPr lang="en-US" sz="1700">
                        <a:latin typeface="Cambria Math" panose="02040503050406030204" pitchFamily="18" charset="0"/>
                        <a:cs typeface="Arial" panose="020B0604020202020204" pitchFamily="34" charset="0"/>
                      </a:rPr>
                      <m:t>=</m:t>
                    </m:r>
                    <m:f>
                      <m:fPr>
                        <m:ctrlPr>
                          <a:rPr lang="en-US" sz="1700" i="1">
                            <a:latin typeface="Cambria Math" panose="02040503050406030204" pitchFamily="18" charset="0"/>
                            <a:cs typeface="Arial" panose="020B0604020202020204" pitchFamily="34" charset="0"/>
                          </a:rPr>
                        </m:ctrlPr>
                      </m:fPr>
                      <m:num>
                        <m:r>
                          <a:rPr lang="en-US" sz="1700">
                            <a:latin typeface="Cambria Math" panose="02040503050406030204" pitchFamily="18" charset="0"/>
                            <a:cs typeface="Arial" panose="020B0604020202020204" pitchFamily="34" charset="0"/>
                          </a:rPr>
                          <m:t>3</m:t>
                        </m:r>
                      </m:num>
                      <m:den>
                        <m:r>
                          <a:rPr lang="en-US" sz="1700">
                            <a:latin typeface="Cambria Math" panose="02040503050406030204" pitchFamily="18" charset="0"/>
                            <a:cs typeface="Arial" panose="020B0604020202020204" pitchFamily="34" charset="0"/>
                          </a:rPr>
                          <m:t>6</m:t>
                        </m:r>
                      </m:den>
                    </m:f>
                  </m:oMath>
                </a14:m>
                <a:r>
                  <a:rPr lang="en-US" sz="1700" dirty="0">
                    <a:latin typeface="Arial" panose="020B0604020202020204" pitchFamily="34" charset="0"/>
                    <a:cs typeface="Arial" panose="020B0604020202020204" pitchFamily="34" charset="0"/>
                  </a:rPr>
                  <a:t> </a:t>
                </a:r>
              </a:p>
              <a:p>
                <a:r>
                  <a:rPr lang="en-US" sz="1700" dirty="0">
                    <a:latin typeface="Arial" panose="020B0604020202020204" pitchFamily="34" charset="0"/>
                    <a:cs typeface="Arial" panose="020B0604020202020204" pitchFamily="34" charset="0"/>
                  </a:rPr>
                  <a:t>We have C</a:t>
                </a:r>
                <a14:m>
                  <m:oMath xmlns:m="http://schemas.openxmlformats.org/officeDocument/2006/math">
                    <m:r>
                      <a:rPr lang="en-US" sz="1700">
                        <a:latin typeface="Cambria Math" panose="02040503050406030204" pitchFamily="18" charset="0"/>
                        <a:cs typeface="Arial" panose="020B0604020202020204" pitchFamily="34" charset="0"/>
                      </a:rPr>
                      <m:t>∩</m:t>
                    </m:r>
                    <m:r>
                      <m:rPr>
                        <m:sty m:val="p"/>
                      </m:rPr>
                      <a:rPr lang="en-US" sz="1700" b="0" i="0" smtClean="0">
                        <a:latin typeface="Cambria Math" panose="02040503050406030204" pitchFamily="18" charset="0"/>
                        <a:cs typeface="Arial" panose="020B0604020202020204" pitchFamily="34" charset="0"/>
                      </a:rPr>
                      <m:t>D</m:t>
                    </m:r>
                    <m:r>
                      <a:rPr lang="en-US" sz="1700">
                        <a:latin typeface="Cambria Math" panose="02040503050406030204" pitchFamily="18" charset="0"/>
                        <a:cs typeface="Arial" panose="020B0604020202020204" pitchFamily="34" charset="0"/>
                      </a:rPr>
                      <m:t>=</m:t>
                    </m:r>
                    <m:r>
                      <a:rPr lang="en-US" sz="1700">
                        <a:latin typeface="Cambria Math" panose="02040503050406030204" pitchFamily="18" charset="0"/>
                        <a:cs typeface="Arial" panose="020B0604020202020204" pitchFamily="34" charset="0"/>
                      </a:rPr>
                      <m:t>𝜙</m:t>
                    </m:r>
                  </m:oMath>
                </a14:m>
                <a:r>
                  <a:rPr lang="en-US" sz="1700" dirty="0">
                    <a:latin typeface="Arial" panose="020B0604020202020204" pitchFamily="34" charset="0"/>
                    <a:cs typeface="Arial" panose="020B0604020202020204" pitchFamily="34" charset="0"/>
                  </a:rPr>
                  <a:t>, then </a:t>
                </a:r>
                <a14:m>
                  <m:oMath xmlns:m="http://schemas.openxmlformats.org/officeDocument/2006/math">
                    <m:r>
                      <a:rPr lang="en-US" sz="1700">
                        <a:latin typeface="Cambria Math" panose="02040503050406030204" pitchFamily="18" charset="0"/>
                        <a:cs typeface="Arial" panose="020B0604020202020204" pitchFamily="34" charset="0"/>
                      </a:rPr>
                      <m:t>𝑃</m:t>
                    </m:r>
                    <m:d>
                      <m:dPr>
                        <m:ctrlPr>
                          <a:rPr lang="en-US" sz="1700" i="1">
                            <a:latin typeface="Cambria Math" panose="02040503050406030204" pitchFamily="18" charset="0"/>
                            <a:cs typeface="Arial" panose="020B0604020202020204" pitchFamily="34" charset="0"/>
                          </a:rPr>
                        </m:ctrlPr>
                      </m:dPr>
                      <m:e>
                        <m:r>
                          <m:rPr>
                            <m:sty m:val="p"/>
                          </m:rPr>
                          <a:rPr lang="en-US" sz="1700" b="0" i="0" smtClean="0">
                            <a:latin typeface="Cambria Math" panose="02040503050406030204" pitchFamily="18" charset="0"/>
                            <a:cs typeface="Arial" panose="020B0604020202020204" pitchFamily="34" charset="0"/>
                          </a:rPr>
                          <m:t>C</m:t>
                        </m:r>
                        <m:r>
                          <a:rPr lang="en-US" sz="1700">
                            <a:latin typeface="Cambria Math" panose="02040503050406030204" pitchFamily="18" charset="0"/>
                            <a:cs typeface="Arial" panose="020B0604020202020204" pitchFamily="34" charset="0"/>
                          </a:rPr>
                          <m:t>𝑈</m:t>
                        </m:r>
                        <m:r>
                          <a:rPr lang="en-US" sz="1700" b="0" i="1" smtClean="0">
                            <a:latin typeface="Cambria Math" panose="02040503050406030204" pitchFamily="18" charset="0"/>
                            <a:cs typeface="Arial" panose="020B0604020202020204" pitchFamily="34" charset="0"/>
                          </a:rPr>
                          <m:t>𝐷</m:t>
                        </m:r>
                      </m:e>
                    </m:d>
                    <m:r>
                      <a:rPr lang="en-US" sz="1700">
                        <a:latin typeface="Cambria Math" panose="02040503050406030204" pitchFamily="18" charset="0"/>
                        <a:cs typeface="Arial" panose="020B0604020202020204" pitchFamily="34" charset="0"/>
                      </a:rPr>
                      <m:t>=</m:t>
                    </m:r>
                    <m:r>
                      <a:rPr lang="en-US" sz="1700">
                        <a:latin typeface="Cambria Math" panose="02040503050406030204" pitchFamily="18" charset="0"/>
                        <a:cs typeface="Arial" panose="020B0604020202020204" pitchFamily="34" charset="0"/>
                      </a:rPr>
                      <m:t>𝑃</m:t>
                    </m:r>
                    <m:d>
                      <m:dPr>
                        <m:ctrlPr>
                          <a:rPr lang="en-US" sz="1700" i="1">
                            <a:latin typeface="Cambria Math" panose="02040503050406030204" pitchFamily="18" charset="0"/>
                            <a:cs typeface="Arial" panose="020B0604020202020204" pitchFamily="34" charset="0"/>
                          </a:rPr>
                        </m:ctrlPr>
                      </m:dPr>
                      <m:e>
                        <m:r>
                          <a:rPr lang="en-US" sz="1700" b="0" i="1" smtClean="0">
                            <a:latin typeface="Cambria Math" panose="02040503050406030204" pitchFamily="18" charset="0"/>
                            <a:cs typeface="Arial" panose="020B0604020202020204" pitchFamily="34" charset="0"/>
                          </a:rPr>
                          <m:t>𝐶</m:t>
                        </m:r>
                      </m:e>
                    </m:d>
                    <m:r>
                      <a:rPr lang="en-US" sz="1700">
                        <a:latin typeface="Cambria Math" panose="02040503050406030204" pitchFamily="18" charset="0"/>
                        <a:cs typeface="Arial" panose="020B0604020202020204" pitchFamily="34" charset="0"/>
                      </a:rPr>
                      <m:t>+</m:t>
                    </m:r>
                    <m:r>
                      <a:rPr lang="en-US" sz="1700">
                        <a:latin typeface="Cambria Math" panose="02040503050406030204" pitchFamily="18" charset="0"/>
                        <a:cs typeface="Arial" panose="020B0604020202020204" pitchFamily="34" charset="0"/>
                      </a:rPr>
                      <m:t>𝑃</m:t>
                    </m:r>
                    <m:d>
                      <m:dPr>
                        <m:ctrlPr>
                          <a:rPr lang="en-US" sz="1700" i="1">
                            <a:latin typeface="Cambria Math" panose="02040503050406030204" pitchFamily="18" charset="0"/>
                            <a:cs typeface="Arial" panose="020B0604020202020204" pitchFamily="34" charset="0"/>
                          </a:rPr>
                        </m:ctrlPr>
                      </m:dPr>
                      <m:e>
                        <m:r>
                          <a:rPr lang="en-US" sz="1700" b="0" i="1" smtClean="0">
                            <a:latin typeface="Cambria Math" panose="02040503050406030204" pitchFamily="18" charset="0"/>
                            <a:cs typeface="Arial" panose="020B0604020202020204" pitchFamily="34" charset="0"/>
                          </a:rPr>
                          <m:t>𝐷</m:t>
                        </m:r>
                      </m:e>
                    </m:d>
                    <m:r>
                      <a:rPr lang="en-US" sz="1700">
                        <a:latin typeface="Cambria Math" panose="02040503050406030204" pitchFamily="18" charset="0"/>
                        <a:cs typeface="Arial" panose="020B0604020202020204" pitchFamily="34" charset="0"/>
                      </a:rPr>
                      <m:t>=</m:t>
                    </m:r>
                    <m:f>
                      <m:fPr>
                        <m:ctrlPr>
                          <a:rPr lang="en-US" sz="1700" i="1">
                            <a:latin typeface="Cambria Math" panose="02040503050406030204" pitchFamily="18" charset="0"/>
                            <a:cs typeface="Arial" panose="020B0604020202020204" pitchFamily="34" charset="0"/>
                          </a:rPr>
                        </m:ctrlPr>
                      </m:fPr>
                      <m:num>
                        <m:r>
                          <a:rPr lang="en-US" sz="1700">
                            <a:latin typeface="Cambria Math" panose="02040503050406030204" pitchFamily="18" charset="0"/>
                            <a:cs typeface="Arial" panose="020B0604020202020204" pitchFamily="34" charset="0"/>
                          </a:rPr>
                          <m:t>1</m:t>
                        </m:r>
                      </m:num>
                      <m:den>
                        <m:r>
                          <a:rPr lang="en-US" sz="1700">
                            <a:latin typeface="Cambria Math" panose="02040503050406030204" pitchFamily="18" charset="0"/>
                            <a:cs typeface="Arial" panose="020B0604020202020204" pitchFamily="34" charset="0"/>
                          </a:rPr>
                          <m:t>6</m:t>
                        </m:r>
                      </m:den>
                    </m:f>
                    <m:r>
                      <a:rPr lang="en-US" sz="1700" b="0" i="0" smtClean="0">
                        <a:latin typeface="Cambria Math" panose="02040503050406030204" pitchFamily="18" charset="0"/>
                        <a:cs typeface="Arial" panose="020B0604020202020204" pitchFamily="34" charset="0"/>
                      </a:rPr>
                      <m:t>+</m:t>
                    </m:r>
                    <m:f>
                      <m:fPr>
                        <m:ctrlPr>
                          <a:rPr lang="en-US" sz="1700" i="1">
                            <a:latin typeface="Cambria Math" panose="02040503050406030204" pitchFamily="18" charset="0"/>
                            <a:cs typeface="Arial" panose="020B0604020202020204" pitchFamily="34" charset="0"/>
                          </a:rPr>
                        </m:ctrlPr>
                      </m:fPr>
                      <m:num>
                        <m:r>
                          <a:rPr lang="en-US" sz="1700">
                            <a:latin typeface="Cambria Math" panose="02040503050406030204" pitchFamily="18" charset="0"/>
                            <a:cs typeface="Arial" panose="020B0604020202020204" pitchFamily="34" charset="0"/>
                          </a:rPr>
                          <m:t>3</m:t>
                        </m:r>
                      </m:num>
                      <m:den>
                        <m:r>
                          <a:rPr lang="en-US" sz="1700">
                            <a:latin typeface="Cambria Math" panose="02040503050406030204" pitchFamily="18" charset="0"/>
                            <a:cs typeface="Arial" panose="020B0604020202020204" pitchFamily="34" charset="0"/>
                          </a:rPr>
                          <m:t>6</m:t>
                        </m:r>
                      </m:den>
                    </m:f>
                  </m:oMath>
                </a14:m>
                <a:endParaRPr lang="en-US" sz="17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7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700" dirty="0">
                  <a:latin typeface="Arial" panose="020B0604020202020204" pitchFamily="34" charset="0"/>
                  <a:cs typeface="Arial" panose="020B0604020202020204" pitchFamily="34" charset="0"/>
                </a:endParaRPr>
              </a:p>
              <a:p>
                <a:pPr algn="just">
                  <a:lnSpc>
                    <a:spcPct val="150000"/>
                  </a:lnSpc>
                </a:pPr>
                <a:r>
                  <a:rPr lang="en-US" sz="1700" dirty="0">
                    <a:latin typeface="Arial" panose="020B0604020202020204" pitchFamily="34" charset="0"/>
                    <a:cs typeface="Arial" panose="020B0604020202020204" pitchFamily="34" charset="0"/>
                  </a:rPr>
                  <a:t>	</a:t>
                </a: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281" r="-338"/>
                </a:stretch>
              </a:blipFill>
            </p:spPr>
            <p:txBody>
              <a:bodyPr/>
              <a:lstStyle/>
              <a:p>
                <a:r>
                  <a:rPr lang="en-US">
                    <a:noFill/>
                  </a:rPr>
                  <a:t> </a:t>
                </a:r>
              </a:p>
            </p:txBody>
          </p:sp>
        </mc:Fallback>
      </mc:AlternateContent>
    </p:spTree>
    <p:extLst>
      <p:ext uri="{BB962C8B-B14F-4D97-AF65-F5344CB8AC3E}">
        <p14:creationId xmlns:p14="http://schemas.microsoft.com/office/powerpoint/2010/main" val="3700607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Classical probability (</a:t>
            </a:r>
            <a:r>
              <a:rPr lang="en-US" sz="2400" b="1" dirty="0" err="1">
                <a:latin typeface="Arial" panose="020B0604020202020204" pitchFamily="34" charset="0"/>
                <a:cs typeface="Arial" panose="020B0604020202020204" pitchFamily="34" charset="0"/>
              </a:rPr>
              <a:t>cont</a:t>
            </a:r>
            <a:r>
              <a:rPr lang="en-US" sz="2400" b="1"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Example-2:</a:t>
                </a:r>
                <a:r>
                  <a:rPr lang="en-US" sz="2000" dirty="0">
                    <a:latin typeface="Arial" panose="020B0604020202020204" pitchFamily="34" charset="0"/>
                    <a:cs typeface="Arial" panose="020B0604020202020204" pitchFamily="34" charset="0"/>
                  </a:rPr>
                  <a:t> A survey of 400 students at the Wall College of Business showed the following majors. If a student will be selected at random from that college, find the probability that he/she is a management major. </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lgn="just">
                  <a:lnSpc>
                    <a:spcPct val="150000"/>
                  </a:lnSpc>
                </a:pPr>
                <a:endParaRPr lang="en-US" sz="2000"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Here the experiment is </a:t>
                </a:r>
                <a:r>
                  <a:rPr lang="en-US" i="1" dirty="0">
                    <a:latin typeface="Arial" panose="020B0604020202020204" pitchFamily="34" charset="0"/>
                    <a:cs typeface="Arial" panose="020B0604020202020204" pitchFamily="34" charset="0"/>
                  </a:rPr>
                  <a:t>“selecting a student randomly from the college containing 400 students”.</a:t>
                </a:r>
                <a:endParaRPr lang="en-US"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Let </a:t>
                </a:r>
                <a14:m>
                  <m:oMath xmlns:m="http://schemas.openxmlformats.org/officeDocument/2006/math">
                    <m:r>
                      <a:rPr lang="en-US" i="1">
                        <a:latin typeface="Cambria Math" panose="02040503050406030204" pitchFamily="18" charset="0"/>
                      </a:rPr>
                      <m:t>𝐴</m:t>
                    </m:r>
                  </m:oMath>
                </a14:m>
                <a:r>
                  <a:rPr lang="en-US" dirty="0">
                    <a:latin typeface="Arial" panose="020B0604020202020204" pitchFamily="34" charset="0"/>
                    <a:cs typeface="Arial" panose="020B0604020202020204" pitchFamily="34" charset="0"/>
                  </a:rPr>
                  <a:t> be the event that the selected student is a management major, then </a:t>
                </a:r>
                <a14:m>
                  <m:oMath xmlns:m="http://schemas.openxmlformats.org/officeDocument/2006/math">
                    <m:r>
                      <a:rPr lang="en-US" i="1">
                        <a:latin typeface="Cambria Math" panose="02040503050406030204" pitchFamily="18" charset="0"/>
                      </a:rPr>
                      <m:t>𝑚</m:t>
                    </m:r>
                    <m:r>
                      <a:rPr lang="en-US" i="1">
                        <a:latin typeface="Cambria Math" panose="02040503050406030204" pitchFamily="18" charset="0"/>
                      </a:rPr>
                      <m:t>=71</m:t>
                    </m:r>
                  </m:oMath>
                </a14:m>
                <a:r>
                  <a:rPr lang="en-US" dirty="0">
                    <a:latin typeface="Arial" panose="020B0604020202020204" pitchFamily="34" charset="0"/>
                    <a:cs typeface="Arial" panose="020B0604020202020204" pitchFamily="34" charset="0"/>
                  </a:rPr>
                  <a:t> and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=400</m:t>
                    </m:r>
                  </m:oMath>
                </a14:m>
                <a:r>
                  <a:rPr lang="en-US" dirty="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r>
                  <a:rPr lang="en-US" dirty="0">
                    <a:latin typeface="Arial" panose="020B0604020202020204" pitchFamily="34" charset="0"/>
                    <a:cs typeface="Arial" panose="020B0604020202020204" pitchFamily="34" charset="0"/>
                  </a:rPr>
                  <a:t>Therefore,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𝐴</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71</m:t>
                        </m:r>
                      </m:num>
                      <m:den>
                        <m:r>
                          <a:rPr lang="en-US" i="1">
                            <a:latin typeface="Cambria Math" panose="02040503050406030204" pitchFamily="18" charset="0"/>
                          </a:rPr>
                          <m:t>400</m:t>
                        </m:r>
                      </m:den>
                    </m:f>
                    <m:r>
                      <a:rPr lang="en-US" i="1">
                        <a:latin typeface="Cambria Math" panose="02040503050406030204" pitchFamily="18" charset="0"/>
                      </a:rPr>
                      <m:t>=0.1775</m:t>
                    </m:r>
                  </m:oMath>
                </a14:m>
                <a:endParaRPr lang="en-US"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506" r="-563"/>
                </a:stretch>
              </a:blipFill>
            </p:spPr>
            <p:txBody>
              <a:bodyPr/>
              <a:lstStyle/>
              <a:p>
                <a:r>
                  <a:rPr lang="en-US">
                    <a:noFill/>
                  </a:rPr>
                  <a:t> </a:t>
                </a:r>
              </a:p>
            </p:txBody>
          </p:sp>
        </mc:Fallback>
      </mc:AlternateContent>
      <p:graphicFrame>
        <p:nvGraphicFramePr>
          <p:cNvPr id="5" name="Table 4"/>
          <p:cNvGraphicFramePr>
            <a:graphicFrameLocks noGrp="1"/>
          </p:cNvGraphicFramePr>
          <p:nvPr>
            <p:extLst/>
          </p:nvPr>
        </p:nvGraphicFramePr>
        <p:xfrm>
          <a:off x="4873620" y="2006426"/>
          <a:ext cx="2741613" cy="1577340"/>
        </p:xfrm>
        <a:graphic>
          <a:graphicData uri="http://schemas.openxmlformats.org/drawingml/2006/table">
            <a:tbl>
              <a:tblPr firstRow="1" firstCol="1" bandRow="1"/>
              <a:tblGrid>
                <a:gridCol w="1875840">
                  <a:extLst>
                    <a:ext uri="{9D8B030D-6E8A-4147-A177-3AD203B41FA5}">
                      <a16:colId xmlns="" xmlns:a16="http://schemas.microsoft.com/office/drawing/2014/main" val="20000"/>
                    </a:ext>
                  </a:extLst>
                </a:gridCol>
                <a:gridCol w="865773">
                  <a:extLst>
                    <a:ext uri="{9D8B030D-6E8A-4147-A177-3AD203B41FA5}">
                      <a16:colId xmlns="" xmlns:a16="http://schemas.microsoft.com/office/drawing/2014/main" val="20001"/>
                    </a:ext>
                  </a:extLst>
                </a:gridCol>
              </a:tblGrid>
              <a:tr h="298802">
                <a:tc>
                  <a:txBody>
                    <a:bodyPr/>
                    <a:lstStyle/>
                    <a:p>
                      <a:pPr marL="0" marR="0" algn="just">
                        <a:lnSpc>
                          <a:spcPct val="115000"/>
                        </a:lnSpc>
                        <a:spcBef>
                          <a:spcPts val="0"/>
                        </a:spcBef>
                        <a:spcAft>
                          <a:spcPts val="1000"/>
                        </a:spcAft>
                      </a:pPr>
                      <a:r>
                        <a:rPr lang="en-US" sz="1800" dirty="0">
                          <a:effectLst/>
                          <a:latin typeface="Arial" panose="020B0604020202020204" pitchFamily="34" charset="0"/>
                          <a:ea typeface="Calibri" panose="020F0502020204030204" pitchFamily="34" charset="0"/>
                          <a:cs typeface="Arial" panose="020B0604020202020204" pitchFamily="34" charset="0"/>
                        </a:rPr>
                        <a:t>Accounting</a:t>
                      </a:r>
                    </a:p>
                  </a:txBody>
                  <a:tcPr marL="68580" marR="6858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lgn="just">
                        <a:lnSpc>
                          <a:spcPct val="115000"/>
                        </a:lnSpc>
                        <a:spcBef>
                          <a:spcPts val="0"/>
                        </a:spcBef>
                        <a:spcAft>
                          <a:spcPts val="1000"/>
                        </a:spcAft>
                      </a:pPr>
                      <a:r>
                        <a:rPr lang="en-US" sz="1800">
                          <a:effectLst/>
                          <a:latin typeface="Arial" panose="020B0604020202020204" pitchFamily="34" charset="0"/>
                          <a:ea typeface="Calibri" panose="020F0502020204030204" pitchFamily="34" charset="0"/>
                          <a:cs typeface="Arial" panose="020B0604020202020204" pitchFamily="34" charset="0"/>
                        </a:rPr>
                        <a:t>118</a:t>
                      </a:r>
                    </a:p>
                  </a:txBody>
                  <a:tcPr marL="68580" marR="6858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 xmlns:a16="http://schemas.microsoft.com/office/drawing/2014/main" val="10000"/>
                  </a:ext>
                </a:extLst>
              </a:tr>
              <a:tr h="298802">
                <a:tc>
                  <a:txBody>
                    <a:bodyPr/>
                    <a:lstStyle/>
                    <a:p>
                      <a:pPr marL="0" marR="0" algn="just">
                        <a:lnSpc>
                          <a:spcPct val="115000"/>
                        </a:lnSpc>
                        <a:spcBef>
                          <a:spcPts val="0"/>
                        </a:spcBef>
                        <a:spcAft>
                          <a:spcPts val="1000"/>
                        </a:spcAft>
                      </a:pPr>
                      <a:r>
                        <a:rPr lang="en-US" sz="1800" dirty="0">
                          <a:effectLst/>
                          <a:latin typeface="Arial" panose="020B0604020202020204" pitchFamily="34" charset="0"/>
                          <a:ea typeface="Calibri" panose="020F0502020204030204" pitchFamily="34" charset="0"/>
                          <a:cs typeface="Arial" panose="020B0604020202020204" pitchFamily="34" charset="0"/>
                        </a:rPr>
                        <a:t>Finance</a:t>
                      </a:r>
                    </a:p>
                  </a:txBody>
                  <a:tcPr marL="68580" marR="68580" marT="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just">
                        <a:lnSpc>
                          <a:spcPct val="115000"/>
                        </a:lnSpc>
                        <a:spcBef>
                          <a:spcPts val="0"/>
                        </a:spcBef>
                        <a:spcAft>
                          <a:spcPts val="1000"/>
                        </a:spcAft>
                      </a:pPr>
                      <a:r>
                        <a:rPr lang="en-US" sz="1800">
                          <a:effectLst/>
                          <a:latin typeface="Arial" panose="020B0604020202020204" pitchFamily="34" charset="0"/>
                          <a:ea typeface="Calibri" panose="020F0502020204030204" pitchFamily="34" charset="0"/>
                          <a:cs typeface="Arial" panose="020B0604020202020204" pitchFamily="34" charset="0"/>
                        </a:rPr>
                        <a:t>59</a:t>
                      </a:r>
                    </a:p>
                  </a:txBody>
                  <a:tcPr marL="68580" marR="68580" marT="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1"/>
                  </a:ext>
                </a:extLst>
              </a:tr>
              <a:tr h="298802">
                <a:tc>
                  <a:txBody>
                    <a:bodyPr/>
                    <a:lstStyle/>
                    <a:p>
                      <a:pPr marL="0" marR="0" algn="just">
                        <a:lnSpc>
                          <a:spcPct val="115000"/>
                        </a:lnSpc>
                        <a:spcBef>
                          <a:spcPts val="0"/>
                        </a:spcBef>
                        <a:spcAft>
                          <a:spcPts val="1000"/>
                        </a:spcAft>
                      </a:pPr>
                      <a:r>
                        <a:rPr lang="en-US" sz="1800" dirty="0">
                          <a:effectLst/>
                          <a:latin typeface="Arial" panose="020B0604020202020204" pitchFamily="34" charset="0"/>
                          <a:ea typeface="Calibri" panose="020F0502020204030204" pitchFamily="34" charset="0"/>
                          <a:cs typeface="Arial" panose="020B0604020202020204" pitchFamily="34" charset="0"/>
                        </a:rPr>
                        <a:t>Info. Systems</a:t>
                      </a:r>
                    </a:p>
                  </a:txBody>
                  <a:tcPr marL="68580" marR="68580" marT="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just">
                        <a:lnSpc>
                          <a:spcPct val="115000"/>
                        </a:lnSpc>
                        <a:spcBef>
                          <a:spcPts val="0"/>
                        </a:spcBef>
                        <a:spcAft>
                          <a:spcPts val="1000"/>
                        </a:spcAft>
                      </a:pPr>
                      <a:r>
                        <a:rPr lang="en-US" sz="1800" dirty="0">
                          <a:effectLst/>
                          <a:latin typeface="Arial" panose="020B0604020202020204" pitchFamily="34" charset="0"/>
                          <a:ea typeface="Calibri" panose="020F0502020204030204" pitchFamily="34" charset="0"/>
                          <a:cs typeface="Arial" panose="020B0604020202020204" pitchFamily="34" charset="0"/>
                        </a:rPr>
                        <a:t>75</a:t>
                      </a:r>
                    </a:p>
                  </a:txBody>
                  <a:tcPr marL="68580" marR="68580" marT="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2"/>
                  </a:ext>
                </a:extLst>
              </a:tr>
              <a:tr h="298802">
                <a:tc>
                  <a:txBody>
                    <a:bodyPr/>
                    <a:lstStyle/>
                    <a:p>
                      <a:pPr marL="0" marR="0" algn="just">
                        <a:lnSpc>
                          <a:spcPct val="115000"/>
                        </a:lnSpc>
                        <a:spcBef>
                          <a:spcPts val="0"/>
                        </a:spcBef>
                        <a:spcAft>
                          <a:spcPts val="1000"/>
                        </a:spcAft>
                      </a:pPr>
                      <a:r>
                        <a:rPr lang="en-US" sz="1800" dirty="0">
                          <a:effectLst/>
                          <a:latin typeface="Arial" panose="020B0604020202020204" pitchFamily="34" charset="0"/>
                          <a:ea typeface="Calibri" panose="020F0502020204030204" pitchFamily="34" charset="0"/>
                          <a:cs typeface="Arial" panose="020B0604020202020204" pitchFamily="34" charset="0"/>
                        </a:rPr>
                        <a:t>Management</a:t>
                      </a:r>
                    </a:p>
                  </a:txBody>
                  <a:tcPr marL="68580" marR="68580" marT="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just">
                        <a:lnSpc>
                          <a:spcPct val="115000"/>
                        </a:lnSpc>
                        <a:spcBef>
                          <a:spcPts val="0"/>
                        </a:spcBef>
                        <a:spcAft>
                          <a:spcPts val="1000"/>
                        </a:spcAft>
                      </a:pPr>
                      <a:r>
                        <a:rPr lang="en-US" sz="1800" dirty="0">
                          <a:effectLst/>
                          <a:latin typeface="Arial" panose="020B0604020202020204" pitchFamily="34" charset="0"/>
                          <a:ea typeface="Calibri" panose="020F0502020204030204" pitchFamily="34" charset="0"/>
                          <a:cs typeface="Arial" panose="020B0604020202020204" pitchFamily="34" charset="0"/>
                        </a:rPr>
                        <a:t>71</a:t>
                      </a:r>
                    </a:p>
                  </a:txBody>
                  <a:tcPr marL="68580" marR="68580" marT="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3"/>
                  </a:ext>
                </a:extLst>
              </a:tr>
              <a:tr h="298802">
                <a:tc>
                  <a:txBody>
                    <a:bodyPr/>
                    <a:lstStyle/>
                    <a:p>
                      <a:pPr marL="0" marR="0" algn="just">
                        <a:lnSpc>
                          <a:spcPct val="115000"/>
                        </a:lnSpc>
                        <a:spcBef>
                          <a:spcPts val="0"/>
                        </a:spcBef>
                        <a:spcAft>
                          <a:spcPts val="1000"/>
                        </a:spcAft>
                      </a:pPr>
                      <a:r>
                        <a:rPr lang="en-US" sz="1800">
                          <a:effectLst/>
                          <a:latin typeface="Arial" panose="020B0604020202020204" pitchFamily="34" charset="0"/>
                          <a:ea typeface="Calibri" panose="020F0502020204030204" pitchFamily="34" charset="0"/>
                          <a:cs typeface="Arial" panose="020B0604020202020204" pitchFamily="34" charset="0"/>
                        </a:rPr>
                        <a:t>Marketing</a:t>
                      </a:r>
                    </a:p>
                  </a:txBody>
                  <a:tcPr marL="68580" marR="6858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1000"/>
                        </a:spcAft>
                      </a:pPr>
                      <a:r>
                        <a:rPr lang="en-US" sz="1800" dirty="0">
                          <a:effectLst/>
                          <a:latin typeface="Arial" panose="020B0604020202020204" pitchFamily="34" charset="0"/>
                          <a:ea typeface="Calibri" panose="020F0502020204030204" pitchFamily="34" charset="0"/>
                          <a:cs typeface="Arial" panose="020B0604020202020204" pitchFamily="34" charset="0"/>
                        </a:rPr>
                        <a:t>117</a:t>
                      </a:r>
                    </a:p>
                  </a:txBody>
                  <a:tcPr marL="68580" marR="6858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2278733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smtClean="0">
                <a:latin typeface="Arial" panose="020B0604020202020204" pitchFamily="34" charset="0"/>
                <a:cs typeface="Arial" panose="020B0604020202020204" pitchFamily="34" charset="0"/>
              </a:rPr>
              <a:t>Properties of </a:t>
            </a:r>
            <a:r>
              <a:rPr lang="en-US" sz="2400" b="1" dirty="0">
                <a:latin typeface="Arial" panose="020B0604020202020204" pitchFamily="34" charset="0"/>
                <a:cs typeface="Arial" panose="020B0604020202020204" pitchFamily="34" charset="0"/>
              </a:rPr>
              <a:t>probability</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Theorem:</a:t>
                </a:r>
                <a:r>
                  <a:rPr lang="en-US" sz="2000" dirty="0" smtClean="0">
                    <a:latin typeface="Arial" panose="020B0604020202020204" pitchFamily="34" charset="0"/>
                    <a:cs typeface="Arial" panose="020B0604020202020204" pitchFamily="34" charset="0"/>
                  </a:rPr>
                  <a:t> Probability has the following properties, for any events </a:t>
                </a:r>
                <a14:m>
                  <m:oMath xmlns:m="http://schemas.openxmlformats.org/officeDocument/2006/math">
                    <m:r>
                      <a:rPr lang="en-US" sz="2000" i="1" dirty="0" smtClean="0">
                        <a:latin typeface="Cambria Math" panose="02040503050406030204" pitchFamily="18" charset="0"/>
                        <a:cs typeface="Arial" panose="020B0604020202020204" pitchFamily="34" charset="0"/>
                      </a:rPr>
                      <m:t>𝐴</m:t>
                    </m:r>
                  </m:oMath>
                </a14:m>
                <a:r>
                  <a:rPr lang="en-US" sz="2000" dirty="0" smtClean="0">
                    <a:latin typeface="Arial" panose="020B0604020202020204" pitchFamily="34" charset="0"/>
                    <a:cs typeface="Arial" panose="020B0604020202020204" pitchFamily="34" charset="0"/>
                  </a:rPr>
                  <a:t> and </a:t>
                </a:r>
                <a14:m>
                  <m:oMath xmlns:m="http://schemas.openxmlformats.org/officeDocument/2006/math">
                    <m:r>
                      <a:rPr lang="en-US" sz="2000" i="1" dirty="0" smtClean="0">
                        <a:latin typeface="Cambria Math" panose="02040503050406030204" pitchFamily="18" charset="0"/>
                        <a:cs typeface="Arial" panose="020B0604020202020204" pitchFamily="34" charset="0"/>
                      </a:rPr>
                      <m:t>𝐵</m:t>
                    </m:r>
                  </m:oMath>
                </a14:m>
                <a:r>
                  <a:rPr lang="en-US" sz="2000" dirty="0" smtClean="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14:m>
                  <m:oMath xmlns:m="http://schemas.openxmlformats.org/officeDocument/2006/math">
                    <m:r>
                      <a:rPr lang="en-US" sz="2000" i="1" dirty="0" smtClean="0">
                        <a:latin typeface="Cambria Math" panose="02040503050406030204" pitchFamily="18" charset="0"/>
                        <a:cs typeface="Arial" panose="020B0604020202020204" pitchFamily="34" charset="0"/>
                      </a:rPr>
                      <m:t>𝑃</m:t>
                    </m:r>
                    <m:d>
                      <m:dPr>
                        <m:ctrlPr>
                          <a:rPr lang="en-US" sz="2000" i="1" dirty="0" smtClean="0">
                            <a:latin typeface="Cambria Math" panose="02040503050406030204" pitchFamily="18" charset="0"/>
                            <a:cs typeface="Arial" panose="020B0604020202020204" pitchFamily="34" charset="0"/>
                          </a:rPr>
                        </m:ctrlPr>
                      </m:dPr>
                      <m:e>
                        <m:sSup>
                          <m:sSupPr>
                            <m:ctrlPr>
                              <a:rPr lang="en-US" sz="2000" b="0" i="1" dirty="0" smtClean="0">
                                <a:latin typeface="Cambria Math" panose="02040503050406030204" pitchFamily="18" charset="0"/>
                                <a:cs typeface="Arial" panose="020B0604020202020204" pitchFamily="34" charset="0"/>
                              </a:rPr>
                            </m:ctrlPr>
                          </m:sSupPr>
                          <m:e>
                            <m:r>
                              <a:rPr lang="en-US" sz="2000" b="0" i="1" dirty="0" smtClean="0">
                                <a:latin typeface="Cambria Math" panose="02040503050406030204" pitchFamily="18" charset="0"/>
                                <a:cs typeface="Arial" panose="020B0604020202020204" pitchFamily="34" charset="0"/>
                              </a:rPr>
                              <m:t>𝐴</m:t>
                            </m:r>
                          </m:e>
                          <m:sup>
                            <m:r>
                              <a:rPr lang="en-US" sz="2000" b="0" i="1" dirty="0" smtClean="0">
                                <a:latin typeface="Cambria Math" panose="02040503050406030204" pitchFamily="18" charset="0"/>
                                <a:cs typeface="Arial" panose="020B0604020202020204" pitchFamily="34" charset="0"/>
                              </a:rPr>
                              <m:t>𝑐</m:t>
                            </m:r>
                          </m:sup>
                        </m:sSup>
                      </m:e>
                    </m:d>
                    <m:r>
                      <a:rPr lang="en-US" sz="2000" b="0" i="1" dirty="0" smtClean="0">
                        <a:latin typeface="Cambria Math" panose="02040503050406030204" pitchFamily="18" charset="0"/>
                        <a:cs typeface="Arial" panose="020B0604020202020204" pitchFamily="34" charset="0"/>
                      </a:rPr>
                      <m:t>=1−</m:t>
                    </m:r>
                    <m:r>
                      <a:rPr lang="en-US" sz="2000" b="0" i="1" dirty="0" smtClean="0">
                        <a:latin typeface="Cambria Math" panose="02040503050406030204" pitchFamily="18" charset="0"/>
                        <a:cs typeface="Arial" panose="020B0604020202020204" pitchFamily="34" charset="0"/>
                      </a:rPr>
                      <m:t>𝑃</m:t>
                    </m:r>
                    <m:d>
                      <m:dPr>
                        <m:ctrlPr>
                          <a:rPr lang="en-US" sz="2000" b="0" i="1" dirty="0" smtClean="0">
                            <a:latin typeface="Cambria Math" panose="02040503050406030204" pitchFamily="18" charset="0"/>
                            <a:cs typeface="Arial" panose="020B0604020202020204" pitchFamily="34" charset="0"/>
                          </a:rPr>
                        </m:ctrlPr>
                      </m:dPr>
                      <m:e>
                        <m:r>
                          <a:rPr lang="en-US" sz="2000" b="0" i="1" dirty="0" smtClean="0">
                            <a:latin typeface="Cambria Math" panose="02040503050406030204" pitchFamily="18" charset="0"/>
                            <a:cs typeface="Arial" panose="020B0604020202020204" pitchFamily="34" charset="0"/>
                          </a:rPr>
                          <m:t>𝐴</m:t>
                        </m:r>
                      </m:e>
                    </m:d>
                  </m:oMath>
                </a14:m>
                <a:endParaRPr lang="en-US" sz="2000" b="0" dirty="0" smtClean="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r>
                  <a:rPr lang="en-US" sz="2000" dirty="0" smtClean="0">
                    <a:latin typeface="Arial" panose="020B0604020202020204" pitchFamily="34" charset="0"/>
                    <a:cs typeface="Arial" panose="020B0604020202020204" pitchFamily="34" charset="0"/>
                  </a:rPr>
                  <a:t>If </a:t>
                </a:r>
                <a14:m>
                  <m:oMath xmlns:m="http://schemas.openxmlformats.org/officeDocument/2006/math">
                    <m:r>
                      <a:rPr lang="en-US" sz="2000" b="0" i="1" smtClean="0">
                        <a:latin typeface="Cambria Math" panose="02040503050406030204" pitchFamily="18" charset="0"/>
                        <a:cs typeface="Arial" panose="020B0604020202020204" pitchFamily="34" charset="0"/>
                      </a:rPr>
                      <m:t>𝐴</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𝐵</m:t>
                    </m:r>
                  </m:oMath>
                </a14:m>
                <a:r>
                  <a:rPr lang="en-US" sz="2000" dirty="0" smtClean="0">
                    <a:latin typeface="Arial" panose="020B0604020202020204" pitchFamily="34" charset="0"/>
                    <a:cs typeface="Arial" panose="020B0604020202020204" pitchFamily="34" charset="0"/>
                  </a:rPr>
                  <a:t>, then </a:t>
                </a:r>
                <a14:m>
                  <m:oMath xmlns:m="http://schemas.openxmlformats.org/officeDocument/2006/math">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𝐴</m:t>
                        </m:r>
                      </m:e>
                    </m:d>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𝑃</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𝐵</m:t>
                    </m:r>
                    <m:r>
                      <a:rPr lang="en-US" sz="2000" b="0" i="1" smtClean="0">
                        <a:latin typeface="Cambria Math" panose="02040503050406030204" pitchFamily="18" charset="0"/>
                        <a:cs typeface="Arial" panose="020B0604020202020204" pitchFamily="34" charset="0"/>
                      </a:rPr>
                      <m:t>)</m:t>
                    </m:r>
                  </m:oMath>
                </a14:m>
                <a:r>
                  <a:rPr lang="en-US" sz="2000" dirty="0" smtClean="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14:m>
                  <m:oMath xmlns:m="http://schemas.openxmlformats.org/officeDocument/2006/math">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𝐴</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𝐵</m:t>
                        </m:r>
                      </m:e>
                    </m:d>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𝑃</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𝐴</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𝐵</m:t>
                        </m:r>
                      </m:e>
                    </m:d>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𝑃</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𝐴</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𝐵</m:t>
                    </m:r>
                    <m:r>
                      <a:rPr lang="en-US" sz="2000" b="0" i="1" smtClean="0">
                        <a:latin typeface="Cambria Math" panose="02040503050406030204" pitchFamily="18" charset="0"/>
                        <a:cs typeface="Arial" panose="020B0604020202020204" pitchFamily="34" charset="0"/>
                      </a:rPr>
                      <m:t>)</m:t>
                    </m:r>
                  </m:oMath>
                </a14:m>
                <a:r>
                  <a:rPr lang="en-US" sz="2000" dirty="0" smtClean="0">
                    <a:latin typeface="Arial" panose="020B0604020202020204" pitchFamily="34" charset="0"/>
                    <a:cs typeface="Arial" panose="020B0604020202020204" pitchFamily="34" charset="0"/>
                  </a:rPr>
                  <a:t>, where the term </a:t>
                </a:r>
                <a14:m>
                  <m:oMath xmlns:m="http://schemas.openxmlformats.org/officeDocument/2006/math">
                    <m:r>
                      <a:rPr lang="en-US" i="1">
                        <a:latin typeface="Cambria Math" panose="02040503050406030204" pitchFamily="18" charset="0"/>
                        <a:cs typeface="Arial" panose="020B0604020202020204" pitchFamily="34" charset="0"/>
                      </a:rPr>
                      <m:t>𝑃</m:t>
                    </m:r>
                    <m:r>
                      <a:rPr lang="en-US" i="1">
                        <a:latin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𝐴</m:t>
                    </m:r>
                    <m:r>
                      <a:rPr lang="en-US" i="1">
                        <a:latin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𝐵</m:t>
                    </m:r>
                    <m:r>
                      <a:rPr lang="en-US" i="1">
                        <a:latin typeface="Cambria Math" panose="02040503050406030204" pitchFamily="18" charset="0"/>
                        <a:cs typeface="Arial" panose="020B0604020202020204" pitchFamily="34" charset="0"/>
                      </a:rPr>
                      <m:t>)</m:t>
                    </m:r>
                  </m:oMath>
                </a14:m>
                <a:r>
                  <a:rPr lang="en-US" dirty="0" smtClean="0">
                    <a:latin typeface="Arial" panose="020B0604020202020204" pitchFamily="34" charset="0"/>
                    <a:cs typeface="Arial" panose="020B0604020202020204" pitchFamily="34" charset="0"/>
                  </a:rPr>
                  <a:t> is the probability of the joint event </a:t>
                </a:r>
                <a14:m>
                  <m:oMath xmlns:m="http://schemas.openxmlformats.org/officeDocument/2006/math">
                    <m:r>
                      <a:rPr lang="en-US" b="0" i="1" smtClean="0">
                        <a:latin typeface="Cambria Math" panose="02040503050406030204" pitchFamily="18" charset="0"/>
                        <a:cs typeface="Arial" panose="020B0604020202020204" pitchFamily="34" charset="0"/>
                      </a:rPr>
                      <m:t>𝐴</m:t>
                    </m:r>
                  </m:oMath>
                </a14:m>
                <a:r>
                  <a:rPr lang="en-US" dirty="0" smtClean="0">
                    <a:latin typeface="Arial" panose="020B0604020202020204" pitchFamily="34" charset="0"/>
                    <a:cs typeface="Arial" panose="020B0604020202020204" pitchFamily="34" charset="0"/>
                  </a:rPr>
                  <a:t> and </a:t>
                </a:r>
                <a14:m>
                  <m:oMath xmlns:m="http://schemas.openxmlformats.org/officeDocument/2006/math">
                    <m:r>
                      <a:rPr lang="en-US" b="0" i="1" smtClean="0">
                        <a:latin typeface="Cambria Math" panose="02040503050406030204" pitchFamily="18" charset="0"/>
                        <a:cs typeface="Arial" panose="020B0604020202020204" pitchFamily="34" charset="0"/>
                      </a:rPr>
                      <m:t>𝐵</m:t>
                    </m:r>
                  </m:oMath>
                </a14:m>
                <a:r>
                  <a:rPr lang="en-US" dirty="0" smtClean="0">
                    <a:latin typeface="Arial" panose="020B0604020202020204" pitchFamily="34" charset="0"/>
                    <a:cs typeface="Arial" panose="020B0604020202020204" pitchFamily="34" charset="0"/>
                  </a:rPr>
                  <a:t> or simply the joint probability.</a:t>
                </a:r>
                <a:endParaRPr lang="en-US"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1264822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smtClean="0">
                <a:latin typeface="Arial" panose="020B0604020202020204" pitchFamily="34" charset="0"/>
                <a:cs typeface="Arial" panose="020B0604020202020204" pitchFamily="34" charset="0"/>
              </a:rPr>
              <a:t>Properties of probability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Example:</a:t>
                </a:r>
                <a:r>
                  <a:rPr lang="en-US" sz="2000" dirty="0" smtClean="0">
                    <a:latin typeface="Arial" panose="020B0604020202020204" pitchFamily="34" charset="0"/>
                    <a:cs typeface="Arial" panose="020B0604020202020204" pitchFamily="34" charset="0"/>
                  </a:rPr>
                  <a:t> Of </a:t>
                </a:r>
                <a:r>
                  <a:rPr lang="en-US" sz="2000" dirty="0">
                    <a:latin typeface="Arial" panose="020B0604020202020204" pitchFamily="34" charset="0"/>
                    <a:cs typeface="Arial" panose="020B0604020202020204" pitchFamily="34" charset="0"/>
                  </a:rPr>
                  <a:t>the total students of a college, </a:t>
                </a:r>
                <a14:m>
                  <m:oMath xmlns:m="http://schemas.openxmlformats.org/officeDocument/2006/math">
                    <m:r>
                      <a:rPr lang="en-US" sz="2000">
                        <a:latin typeface="Cambria Math" panose="02040503050406030204" pitchFamily="18" charset="0"/>
                        <a:cs typeface="Arial" panose="020B0604020202020204" pitchFamily="34" charset="0"/>
                      </a:rPr>
                      <m:t>40</m:t>
                    </m:r>
                  </m:oMath>
                </a14:m>
                <a:r>
                  <a:rPr lang="en-US" sz="2000" dirty="0">
                    <a:latin typeface="Arial" panose="020B0604020202020204" pitchFamily="34" charset="0"/>
                    <a:cs typeface="Arial" panose="020B0604020202020204" pitchFamily="34" charset="0"/>
                  </a:rPr>
                  <a:t> percent take neither mathematics nor statistics, </a:t>
                </a:r>
                <a14:m>
                  <m:oMath xmlns:m="http://schemas.openxmlformats.org/officeDocument/2006/math">
                    <m:r>
                      <a:rPr lang="en-US" sz="2000">
                        <a:latin typeface="Cambria Math" panose="02040503050406030204" pitchFamily="18" charset="0"/>
                        <a:cs typeface="Arial" panose="020B0604020202020204" pitchFamily="34" charset="0"/>
                      </a:rPr>
                      <m:t>42</m:t>
                    </m:r>
                  </m:oMath>
                </a14:m>
                <a:r>
                  <a:rPr lang="en-US" sz="2000" dirty="0">
                    <a:latin typeface="Arial" panose="020B0604020202020204" pitchFamily="34" charset="0"/>
                    <a:cs typeface="Arial" panose="020B0604020202020204" pitchFamily="34" charset="0"/>
                  </a:rPr>
                  <a:t> percent take mathematics and </a:t>
                </a:r>
                <a14:m>
                  <m:oMath xmlns:m="http://schemas.openxmlformats.org/officeDocument/2006/math">
                    <m:r>
                      <a:rPr lang="en-US" sz="2000">
                        <a:latin typeface="Cambria Math" panose="02040503050406030204" pitchFamily="18" charset="0"/>
                        <a:cs typeface="Arial" panose="020B0604020202020204" pitchFamily="34" charset="0"/>
                      </a:rPr>
                      <m:t>27</m:t>
                    </m:r>
                  </m:oMath>
                </a14:m>
                <a:r>
                  <a:rPr lang="en-US" sz="2000" dirty="0">
                    <a:latin typeface="Arial" panose="020B0604020202020204" pitchFamily="34" charset="0"/>
                    <a:cs typeface="Arial" panose="020B0604020202020204" pitchFamily="34" charset="0"/>
                  </a:rPr>
                  <a:t> percent take statistics. If one of the students is randomly chosen, find the probability that the student take both the subjects</a:t>
                </a:r>
                <a:r>
                  <a:rPr lang="en-US" sz="2000" dirty="0" smtClean="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r>
                  <a:rPr lang="en-US" dirty="0" smtClean="0">
                    <a:latin typeface="Arial" panose="020B0604020202020204" pitchFamily="34" charset="0"/>
                    <a:cs typeface="Arial" panose="020B0604020202020204" pitchFamily="34" charset="0"/>
                  </a:rPr>
                  <a:t>Let </a:t>
                </a:r>
                <a:r>
                  <a:rPr lang="en-US" dirty="0">
                    <a:latin typeface="Arial" panose="020B0604020202020204" pitchFamily="34" charset="0"/>
                    <a:cs typeface="Arial" panose="020B0604020202020204" pitchFamily="34" charset="0"/>
                  </a:rPr>
                  <a:t>us define the following events</a:t>
                </a:r>
              </a:p>
              <a:p>
                <a:pPr>
                  <a:lnSpc>
                    <a:spcPct val="150000"/>
                  </a:lnSpc>
                </a:pPr>
                <a14:m>
                  <m:oMath xmlns:m="http://schemas.openxmlformats.org/officeDocument/2006/math">
                    <m:r>
                      <a:rPr lang="en-US" sz="2000" i="1">
                        <a:latin typeface="Cambria Math" panose="02040503050406030204" pitchFamily="18" charset="0"/>
                      </a:rPr>
                      <m:t>𝐴</m:t>
                    </m:r>
                    <m:r>
                      <a:rPr lang="en-US" sz="2000">
                        <a:latin typeface="Cambria Math" panose="02040503050406030204" pitchFamily="18" charset="0"/>
                      </a:rPr>
                      <m:t>:</m:t>
                    </m:r>
                  </m:oMath>
                </a14:m>
                <a:r>
                  <a:rPr lang="en-US" sz="2000" dirty="0">
                    <a:latin typeface="Arial" panose="020B0604020202020204" pitchFamily="34" charset="0"/>
                    <a:cs typeface="Arial" panose="020B0604020202020204" pitchFamily="34" charset="0"/>
                  </a:rPr>
                  <a:t> the randomly chosen student  took mathematics, then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e>
                    </m:d>
                    <m:r>
                      <a:rPr lang="en-US" sz="2000" i="1">
                        <a:latin typeface="Cambria Math" panose="02040503050406030204" pitchFamily="18" charset="0"/>
                      </a:rPr>
                      <m:t>=0.42</m:t>
                    </m:r>
                  </m:oMath>
                </a14:m>
                <a:endParaRPr lang="en-US" sz="2000" dirty="0">
                  <a:latin typeface="Arial" panose="020B0604020202020204" pitchFamily="34" charset="0"/>
                  <a:cs typeface="Arial" panose="020B0604020202020204" pitchFamily="34" charset="0"/>
                </a:endParaRPr>
              </a:p>
              <a:p>
                <a:pPr>
                  <a:lnSpc>
                    <a:spcPct val="150000"/>
                  </a:lnSpc>
                </a:pPr>
                <a14:m>
                  <m:oMath xmlns:m="http://schemas.openxmlformats.org/officeDocument/2006/math">
                    <m:r>
                      <a:rPr lang="en-US" sz="2000" i="1">
                        <a:latin typeface="Cambria Math" panose="02040503050406030204" pitchFamily="18" charset="0"/>
                      </a:rPr>
                      <m:t>𝐵</m:t>
                    </m:r>
                    <m:r>
                      <a:rPr lang="en-US" sz="2000">
                        <a:latin typeface="Cambria Math" panose="02040503050406030204" pitchFamily="18" charset="0"/>
                      </a:rPr>
                      <m:t>:</m:t>
                    </m:r>
                  </m:oMath>
                </a14:m>
                <a:r>
                  <a:rPr lang="en-US" sz="2000" dirty="0">
                    <a:latin typeface="Arial" panose="020B0604020202020204" pitchFamily="34" charset="0"/>
                    <a:cs typeface="Arial" panose="020B0604020202020204" pitchFamily="34" charset="0"/>
                  </a:rPr>
                  <a:t> the randomly chosen student  took mathematics, then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𝐵</m:t>
                        </m:r>
                      </m:e>
                    </m:d>
                    <m:r>
                      <a:rPr lang="en-US" sz="2000" i="1">
                        <a:latin typeface="Cambria Math" panose="02040503050406030204" pitchFamily="18" charset="0"/>
                      </a:rPr>
                      <m:t>=0.27</m:t>
                    </m:r>
                  </m:oMath>
                </a14:m>
                <a:endParaRPr lang="en-US" sz="2000" dirty="0">
                  <a:latin typeface="Arial" panose="020B0604020202020204" pitchFamily="34" charset="0"/>
                  <a:cs typeface="Arial" panose="020B0604020202020204" pitchFamily="34" charset="0"/>
                </a:endParaRPr>
              </a:p>
              <a:p>
                <a:pPr>
                  <a:lnSpc>
                    <a:spcPct val="150000"/>
                  </a:lnSpc>
                </a:pPr>
                <a:r>
                  <a:rPr lang="en-US" sz="2000" dirty="0">
                    <a:latin typeface="Arial" panose="020B0604020202020204" pitchFamily="34" charset="0"/>
                    <a:cs typeface="Arial" panose="020B0604020202020204" pitchFamily="34" charset="0"/>
                  </a:rPr>
                  <a:t>also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𝐴</m:t>
                            </m:r>
                          </m:e>
                          <m:sup>
                            <m:r>
                              <a:rPr lang="en-US" sz="2000" i="1">
                                <a:latin typeface="Cambria Math" panose="02040503050406030204" pitchFamily="18" charset="0"/>
                              </a:rPr>
                              <m:t>𝑐</m:t>
                            </m:r>
                          </m:sup>
                        </m:sSup>
                        <m:r>
                          <a:rPr lang="en-US" sz="200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𝐵</m:t>
                            </m:r>
                          </m:e>
                          <m:sup>
                            <m:r>
                              <a:rPr lang="en-US" sz="2000" i="1">
                                <a:latin typeface="Cambria Math" panose="02040503050406030204" pitchFamily="18" charset="0"/>
                              </a:rPr>
                              <m:t>𝑐</m:t>
                            </m:r>
                          </m:sup>
                        </m:sSup>
                      </m:e>
                    </m:d>
                    <m:r>
                      <a:rPr lang="en-US" sz="2000">
                        <a:latin typeface="Cambria Math" panose="02040503050406030204" pitchFamily="18" charset="0"/>
                      </a:rPr>
                      <m:t>=0.40</m:t>
                    </m:r>
                  </m:oMath>
                </a14:m>
                <a:r>
                  <a:rPr lang="en-US" sz="2000" dirty="0" smtClean="0">
                    <a:latin typeface="Arial" panose="020B0604020202020204" pitchFamily="34" charset="0"/>
                    <a:cs typeface="Arial" panose="020B0604020202020204" pitchFamily="34" charset="0"/>
                  </a:rPr>
                  <a:t>, i.e., </a:t>
                </a:r>
                <a14:m>
                  <m:oMath xmlns:m="http://schemas.openxmlformats.org/officeDocument/2006/math">
                    <m:r>
                      <a:rPr lang="en-US" sz="2000" i="1">
                        <a:latin typeface="Cambria Math" panose="02040503050406030204" pitchFamily="18" charset="0"/>
                      </a:rPr>
                      <m:t>𝑃</m:t>
                    </m:r>
                    <m:sSup>
                      <m:sSupPr>
                        <m:ctrlPr>
                          <a:rPr lang="en-US" sz="2000" b="0" i="1" smtClean="0">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panose="02040503050406030204" pitchFamily="18" charset="0"/>
                              </a:rPr>
                              <m:t>𝐴</m:t>
                            </m:r>
                            <m:r>
                              <a:rPr lang="en-US" sz="2000">
                                <a:latin typeface="Cambria Math" panose="02040503050406030204" pitchFamily="18" charset="0"/>
                              </a:rPr>
                              <m:t>∪</m:t>
                            </m:r>
                            <m:r>
                              <a:rPr lang="en-US" sz="2000" i="1">
                                <a:latin typeface="Cambria Math" panose="02040503050406030204" pitchFamily="18" charset="0"/>
                              </a:rPr>
                              <m:t>𝐵</m:t>
                            </m:r>
                          </m:e>
                        </m:d>
                      </m:e>
                      <m:sup>
                        <m:r>
                          <a:rPr lang="en-US" sz="2000" b="0" i="1" smtClean="0">
                            <a:latin typeface="Cambria Math" panose="02040503050406030204" pitchFamily="18" charset="0"/>
                          </a:rPr>
                          <m:t>𝑐</m:t>
                        </m:r>
                      </m:sup>
                    </m:sSup>
                    <m:r>
                      <a:rPr lang="en-US" sz="2000" b="0" i="1" smtClean="0">
                        <a:latin typeface="Cambria Math" panose="02040503050406030204" pitchFamily="18" charset="0"/>
                      </a:rPr>
                      <m:t>=0.40</m:t>
                    </m:r>
                  </m:oMath>
                </a14:m>
                <a:endParaRPr lang="en-US" sz="2000" dirty="0" smtClean="0">
                  <a:latin typeface="Arial" panose="020B0604020202020204" pitchFamily="34" charset="0"/>
                  <a:cs typeface="Arial" panose="020B0604020202020204" pitchFamily="34" charset="0"/>
                </a:endParaRPr>
              </a:p>
              <a:p>
                <a:pPr>
                  <a:lnSpc>
                    <a:spcPct val="150000"/>
                  </a:lnSpc>
                </a:pP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then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r>
                          <a:rPr lang="en-US" sz="2000">
                            <a:latin typeface="Cambria Math" panose="02040503050406030204" pitchFamily="18" charset="0"/>
                          </a:rPr>
                          <m:t>∪</m:t>
                        </m:r>
                        <m:r>
                          <a:rPr lang="en-US" sz="2000" i="1">
                            <a:latin typeface="Cambria Math" panose="02040503050406030204" pitchFamily="18" charset="0"/>
                          </a:rPr>
                          <m:t>𝐵</m:t>
                        </m:r>
                      </m:e>
                    </m:d>
                    <m:r>
                      <a:rPr lang="en-US" sz="2000">
                        <a:latin typeface="Cambria Math" panose="02040503050406030204" pitchFamily="18" charset="0"/>
                      </a:rPr>
                      <m:t>=1</m:t>
                    </m:r>
                    <m:r>
                      <a:rPr lang="en-US" sz="2000" i="1">
                        <a:latin typeface="Cambria Math" panose="02040503050406030204" pitchFamily="18" charset="0"/>
                      </a:rPr>
                      <m:t>−</m:t>
                    </m:r>
                    <m:r>
                      <a:rPr lang="en-US" sz="2000">
                        <a:latin typeface="Cambria Math" panose="02040503050406030204" pitchFamily="18" charset="0"/>
                      </a:rPr>
                      <m:t>0.40=0.60</m:t>
                    </m:r>
                  </m:oMath>
                </a14:m>
                <a:endParaRPr lang="en-US" sz="2000" dirty="0">
                  <a:latin typeface="Arial" panose="020B0604020202020204" pitchFamily="34" charset="0"/>
                  <a:cs typeface="Arial" panose="020B0604020202020204" pitchFamily="34" charset="0"/>
                </a:endParaRPr>
              </a:p>
              <a:p>
                <a:pPr>
                  <a:lnSpc>
                    <a:spcPct val="150000"/>
                  </a:lnSpc>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r>
                            <a:rPr lang="en-US" sz="2000">
                              <a:latin typeface="Cambria Math" panose="02040503050406030204" pitchFamily="18" charset="0"/>
                            </a:rPr>
                            <m:t>∩</m:t>
                          </m:r>
                          <m:r>
                            <a:rPr lang="en-US" sz="2000" i="1">
                              <a:latin typeface="Cambria Math" panose="02040503050406030204" pitchFamily="18" charset="0"/>
                            </a:rPr>
                            <m:t>𝐵</m:t>
                          </m:r>
                        </m:e>
                      </m:d>
                      <m:r>
                        <a:rPr lang="en-US" sz="2000">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e>
                      </m:d>
                      <m:r>
                        <a:rPr lang="en-US" sz="2000">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𝐵</m:t>
                          </m:r>
                        </m:e>
                      </m:d>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r>
                            <a:rPr lang="en-US" sz="2000">
                              <a:latin typeface="Cambria Math" panose="02040503050406030204" pitchFamily="18" charset="0"/>
                            </a:rPr>
                            <m:t>∪</m:t>
                          </m:r>
                          <m:r>
                            <a:rPr lang="en-US" sz="2000" i="1">
                              <a:latin typeface="Cambria Math" panose="02040503050406030204" pitchFamily="18" charset="0"/>
                            </a:rPr>
                            <m:t>𝐵</m:t>
                          </m:r>
                        </m:e>
                      </m:d>
                      <m:r>
                        <a:rPr lang="en-US" sz="2000">
                          <a:latin typeface="Cambria Math" panose="02040503050406030204" pitchFamily="18" charset="0"/>
                        </a:rPr>
                        <m:t>=0.42+0.27</m:t>
                      </m:r>
                      <m:r>
                        <a:rPr lang="en-US" sz="2000" i="1">
                          <a:latin typeface="Cambria Math" panose="02040503050406030204" pitchFamily="18" charset="0"/>
                        </a:rPr>
                        <m:t>−</m:t>
                      </m:r>
                      <m:r>
                        <a:rPr lang="en-US" sz="2000">
                          <a:latin typeface="Cambria Math" panose="02040503050406030204" pitchFamily="18" charset="0"/>
                        </a:rPr>
                        <m:t>0.60=0.09</m:t>
                      </m:r>
                    </m:oMath>
                  </m:oMathPara>
                </a14:m>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2388945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791"/>
            <a:ext cx="9144000" cy="414962"/>
          </a:xfrm>
        </p:spPr>
        <p:txBody>
          <a:bodyPr>
            <a:noAutofit/>
          </a:bodyPr>
          <a:lstStyle/>
          <a:p>
            <a:r>
              <a:rPr lang="en-US" sz="2400" b="1" dirty="0">
                <a:latin typeface="Arial" panose="020B0604020202020204" pitchFamily="34" charset="0"/>
                <a:cs typeface="Arial" panose="020B0604020202020204" pitchFamily="34" charset="0"/>
              </a:rPr>
              <a:t>Conditional Probability</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366604"/>
                <a:ext cx="10831132" cy="6491395"/>
              </a:xfrm>
            </p:spPr>
            <p:txBody>
              <a:bodyPr>
                <a:noAutofit/>
              </a:bodyPr>
              <a:lstStyle/>
              <a:p>
                <a:pPr marL="342900" indent="-342900"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The conditional probability is defined as the probability of a particular event occurring, given that another event has already occurred (the events should not be mutually exclusive).</a:t>
                </a:r>
              </a:p>
              <a:p>
                <a:pPr marL="342900" indent="-342900"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The notion of conditional probability provides the capability of reevaluating the idea of probability of an event in light of additional information, that is, when it is known that another event has occurred. </a:t>
                </a:r>
              </a:p>
              <a:p>
                <a:pPr marL="342900" indent="-342900" algn="just">
                  <a:lnSpc>
                    <a:spcPct val="150000"/>
                  </a:lnSpc>
                  <a:buFont typeface="Arial" panose="020B0604020202020204" pitchFamily="34" charset="0"/>
                  <a:buChar char="•"/>
                </a:pPr>
                <a:r>
                  <a:rPr lang="en-US" sz="1900" b="1" i="1" dirty="0">
                    <a:latin typeface="Arial" panose="020B0604020202020204" pitchFamily="34" charset="0"/>
                    <a:cs typeface="Arial" panose="020B0604020202020204" pitchFamily="34" charset="0"/>
                  </a:rPr>
                  <a:t>Definition:</a:t>
                </a:r>
                <a:r>
                  <a:rPr lang="en-US" sz="1900" dirty="0">
                    <a:latin typeface="Arial" panose="020B0604020202020204" pitchFamily="34" charset="0"/>
                    <a:cs typeface="Arial" panose="020B0604020202020204" pitchFamily="34" charset="0"/>
                  </a:rPr>
                  <a:t> If </a:t>
                </a:r>
                <a14:m>
                  <m:oMath xmlns:m="http://schemas.openxmlformats.org/officeDocument/2006/math">
                    <m:r>
                      <a:rPr lang="en-US" sz="1900" i="1">
                        <a:latin typeface="Cambria Math" panose="02040503050406030204" pitchFamily="18" charset="0"/>
                      </a:rPr>
                      <m:t>𝐴</m:t>
                    </m:r>
                  </m:oMath>
                </a14:m>
                <a:r>
                  <a:rPr lang="en-US" sz="1900" dirty="0">
                    <a:latin typeface="Arial" panose="020B0604020202020204" pitchFamily="34" charset="0"/>
                    <a:cs typeface="Arial" panose="020B0604020202020204" pitchFamily="34" charset="0"/>
                  </a:rPr>
                  <a:t> and </a:t>
                </a:r>
                <a14:m>
                  <m:oMath xmlns:m="http://schemas.openxmlformats.org/officeDocument/2006/math">
                    <m:r>
                      <a:rPr lang="en-US" sz="1900" i="1">
                        <a:latin typeface="Cambria Math" panose="02040503050406030204" pitchFamily="18" charset="0"/>
                      </a:rPr>
                      <m:t>𝐵</m:t>
                    </m:r>
                  </m:oMath>
                </a14:m>
                <a:r>
                  <a:rPr lang="en-US" sz="1900" dirty="0">
                    <a:latin typeface="Arial" panose="020B0604020202020204" pitchFamily="34" charset="0"/>
                    <a:cs typeface="Arial" panose="020B0604020202020204" pitchFamily="34" charset="0"/>
                  </a:rPr>
                  <a:t> are events with </a:t>
                </a:r>
                <a14:m>
                  <m:oMath xmlns:m="http://schemas.openxmlformats.org/officeDocument/2006/math">
                    <m:r>
                      <a:rPr lang="en-US" sz="1900" i="1">
                        <a:latin typeface="Cambria Math" panose="02040503050406030204" pitchFamily="18" charset="0"/>
                      </a:rPr>
                      <m:t>𝑃</m:t>
                    </m:r>
                    <m:r>
                      <a:rPr lang="en-US" sz="1900" i="1">
                        <a:latin typeface="Cambria Math" panose="02040503050406030204" pitchFamily="18" charset="0"/>
                      </a:rPr>
                      <m:t>(</m:t>
                    </m:r>
                    <m:r>
                      <a:rPr lang="en-US" sz="1900" i="1">
                        <a:latin typeface="Cambria Math" panose="02040503050406030204" pitchFamily="18" charset="0"/>
                      </a:rPr>
                      <m:t>𝐵</m:t>
                    </m:r>
                    <m:r>
                      <a:rPr lang="en-US" sz="1900" i="1">
                        <a:latin typeface="Cambria Math" panose="02040503050406030204" pitchFamily="18" charset="0"/>
                      </a:rPr>
                      <m:t>) &gt; 0</m:t>
                    </m:r>
                  </m:oMath>
                </a14:m>
                <a:r>
                  <a:rPr lang="en-US" sz="1900" dirty="0">
                    <a:latin typeface="Arial" panose="020B0604020202020204" pitchFamily="34" charset="0"/>
                    <a:cs typeface="Arial" panose="020B0604020202020204" pitchFamily="34" charset="0"/>
                  </a:rPr>
                  <a:t>, then the conditional probability of </a:t>
                </a:r>
                <a14:m>
                  <m:oMath xmlns:m="http://schemas.openxmlformats.org/officeDocument/2006/math">
                    <m:r>
                      <a:rPr lang="en-US" sz="1900" i="1">
                        <a:latin typeface="Cambria Math" panose="02040503050406030204" pitchFamily="18" charset="0"/>
                      </a:rPr>
                      <m:t>𝐴</m:t>
                    </m:r>
                  </m:oMath>
                </a14:m>
                <a:r>
                  <a:rPr lang="en-US" sz="1900" dirty="0">
                    <a:latin typeface="Arial" panose="020B0604020202020204" pitchFamily="34" charset="0"/>
                    <a:cs typeface="Arial" panose="020B0604020202020204" pitchFamily="34" charset="0"/>
                  </a:rPr>
                  <a:t> given </a:t>
                </a:r>
                <a14:m>
                  <m:oMath xmlns:m="http://schemas.openxmlformats.org/officeDocument/2006/math">
                    <m:r>
                      <a:rPr lang="en-US" sz="1900" i="1">
                        <a:latin typeface="Cambria Math" panose="02040503050406030204" pitchFamily="18" charset="0"/>
                      </a:rPr>
                      <m:t>𝐵</m:t>
                    </m:r>
                  </m:oMath>
                </a14:m>
                <a:r>
                  <a:rPr lang="en-US" sz="1900" dirty="0">
                    <a:latin typeface="Arial" panose="020B0604020202020204" pitchFamily="34" charset="0"/>
                    <a:cs typeface="Arial" panose="020B0604020202020204" pitchFamily="34" charset="0"/>
                  </a:rPr>
                  <a:t>, denoted by </a:t>
                </a:r>
                <a14:m>
                  <m:oMath xmlns:m="http://schemas.openxmlformats.org/officeDocument/2006/math">
                    <m:r>
                      <a:rPr lang="en-US" sz="1900" i="1">
                        <a:latin typeface="Cambria Math" panose="02040503050406030204" pitchFamily="18" charset="0"/>
                      </a:rPr>
                      <m:t>𝑃</m:t>
                    </m:r>
                    <m:r>
                      <a:rPr lang="en-US" sz="1900" i="1">
                        <a:latin typeface="Cambria Math" panose="02040503050406030204" pitchFamily="18" charset="0"/>
                      </a:rPr>
                      <m:t>(</m:t>
                    </m:r>
                    <m:r>
                      <a:rPr lang="en-US" sz="1900" i="1">
                        <a:latin typeface="Cambria Math" panose="02040503050406030204" pitchFamily="18" charset="0"/>
                      </a:rPr>
                      <m:t>𝐴</m:t>
                    </m:r>
                    <m:r>
                      <a:rPr lang="en-US" sz="1900" i="1">
                        <a:latin typeface="Cambria Math" panose="02040503050406030204" pitchFamily="18" charset="0"/>
                      </a:rPr>
                      <m:t>|</m:t>
                    </m:r>
                    <m:r>
                      <a:rPr lang="en-US" sz="1900" i="1">
                        <a:latin typeface="Cambria Math" panose="02040503050406030204" pitchFamily="18" charset="0"/>
                      </a:rPr>
                      <m:t>𝐵</m:t>
                    </m:r>
                    <m:r>
                      <a:rPr lang="en-US" sz="1900" i="1">
                        <a:latin typeface="Cambria Math" panose="02040503050406030204" pitchFamily="18" charset="0"/>
                      </a:rPr>
                      <m:t>)</m:t>
                    </m:r>
                  </m:oMath>
                </a14:m>
                <a:r>
                  <a:rPr lang="en-US" sz="1900" dirty="0">
                    <a:latin typeface="Arial" panose="020B0604020202020204" pitchFamily="34" charset="0"/>
                    <a:cs typeface="Arial" panose="020B0604020202020204" pitchFamily="34" charset="0"/>
                  </a:rPr>
                  <a:t>, is defined as</a:t>
                </a:r>
              </a:p>
              <a:p>
                <a:pPr/>
                <a14:m>
                  <m:oMathPara xmlns:m="http://schemas.openxmlformats.org/officeDocument/2006/math">
                    <m:oMathParaPr>
                      <m:jc m:val="centerGroup"/>
                    </m:oMathParaPr>
                    <m:oMath xmlns:m="http://schemas.openxmlformats.org/officeDocument/2006/math">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𝐴</m:t>
                          </m:r>
                        </m:e>
                        <m:e>
                          <m:r>
                            <a:rPr lang="en-US" sz="1900" i="1">
                              <a:latin typeface="Cambria Math" panose="02040503050406030204" pitchFamily="18" charset="0"/>
                            </a:rPr>
                            <m:t>𝐵</m:t>
                          </m:r>
                        </m:e>
                      </m:d>
                      <m:r>
                        <a:rPr lang="en-US" sz="1900" i="1">
                          <a:latin typeface="Cambria Math" panose="02040503050406030204" pitchFamily="18" charset="0"/>
                        </a:rPr>
                        <m:t>=</m:t>
                      </m:r>
                      <m:f>
                        <m:fPr>
                          <m:ctrlPr>
                            <a:rPr lang="en-US" sz="1900" i="1">
                              <a:latin typeface="Cambria Math" panose="02040503050406030204" pitchFamily="18" charset="0"/>
                            </a:rPr>
                          </m:ctrlPr>
                        </m:fPr>
                        <m:num>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𝐴</m:t>
                              </m:r>
                              <m:r>
                                <a:rPr lang="en-US" sz="1900" i="1">
                                  <a:latin typeface="Cambria Math" panose="02040503050406030204" pitchFamily="18" charset="0"/>
                                </a:rPr>
                                <m:t>∩</m:t>
                              </m:r>
                              <m:r>
                                <a:rPr lang="en-US" sz="1900" i="1">
                                  <a:latin typeface="Cambria Math" panose="02040503050406030204" pitchFamily="18" charset="0"/>
                                </a:rPr>
                                <m:t>𝐵</m:t>
                              </m:r>
                            </m:e>
                          </m:d>
                        </m:num>
                        <m:den>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𝐵</m:t>
                              </m:r>
                            </m:e>
                          </m:d>
                        </m:den>
                      </m:f>
                    </m:oMath>
                  </m:oMathPara>
                </a14:m>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Here </a:t>
                </a:r>
                <a14:m>
                  <m:oMath xmlns:m="http://schemas.openxmlformats.org/officeDocument/2006/math">
                    <m:r>
                      <a:rPr lang="en-US" sz="1900" i="1">
                        <a:latin typeface="Cambria Math" panose="02040503050406030204" pitchFamily="18" charset="0"/>
                      </a:rPr>
                      <m:t>𝐴</m:t>
                    </m:r>
                  </m:oMath>
                </a14:m>
                <a:r>
                  <a:rPr lang="en-US" sz="1900" dirty="0">
                    <a:latin typeface="Arial" panose="020B0604020202020204" pitchFamily="34" charset="0"/>
                    <a:cs typeface="Arial" panose="020B0604020202020204" pitchFamily="34" charset="0"/>
                  </a:rPr>
                  <a:t> is the event whose uncertainty we want to update, and </a:t>
                </a:r>
                <a14:m>
                  <m:oMath xmlns:m="http://schemas.openxmlformats.org/officeDocument/2006/math">
                    <m:r>
                      <a:rPr lang="en-US" sz="1900" i="1">
                        <a:latin typeface="Cambria Math" panose="02040503050406030204" pitchFamily="18" charset="0"/>
                      </a:rPr>
                      <m:t>𝐵</m:t>
                    </m:r>
                  </m:oMath>
                </a14:m>
                <a:r>
                  <a:rPr lang="en-US" sz="1900" dirty="0">
                    <a:latin typeface="Arial" panose="020B0604020202020204" pitchFamily="34" charset="0"/>
                    <a:cs typeface="Arial" panose="020B0604020202020204" pitchFamily="34" charset="0"/>
                  </a:rPr>
                  <a:t> is the evidence we observe (or want to treat as given). </a:t>
                </a:r>
              </a:p>
              <a:p>
                <a:pPr marL="342900" indent="-342900"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We call </a:t>
                </a:r>
                <a14:m>
                  <m:oMath xmlns:m="http://schemas.openxmlformats.org/officeDocument/2006/math">
                    <m:r>
                      <a:rPr lang="en-US" sz="1900" i="1">
                        <a:latin typeface="Cambria Math" panose="02040503050406030204" pitchFamily="18" charset="0"/>
                      </a:rPr>
                      <m:t>𝑃</m:t>
                    </m:r>
                    <m:r>
                      <a:rPr lang="en-US" sz="1900" i="1">
                        <a:latin typeface="Cambria Math" panose="02040503050406030204" pitchFamily="18" charset="0"/>
                      </a:rPr>
                      <m:t>(</m:t>
                    </m:r>
                    <m:r>
                      <a:rPr lang="en-US" sz="1900" i="1">
                        <a:latin typeface="Cambria Math" panose="02040503050406030204" pitchFamily="18" charset="0"/>
                      </a:rPr>
                      <m:t>𝐴</m:t>
                    </m:r>
                    <m:r>
                      <a:rPr lang="en-US" sz="1900" i="1">
                        <a:latin typeface="Cambria Math" panose="02040503050406030204" pitchFamily="18" charset="0"/>
                      </a:rPr>
                      <m:t>)</m:t>
                    </m:r>
                  </m:oMath>
                </a14:m>
                <a:r>
                  <a:rPr lang="en-US" sz="1900" dirty="0">
                    <a:latin typeface="Arial" panose="020B0604020202020204" pitchFamily="34" charset="0"/>
                    <a:cs typeface="Arial" panose="020B0604020202020204" pitchFamily="34" charset="0"/>
                  </a:rPr>
                  <a:t> the </a:t>
                </a:r>
                <a:r>
                  <a:rPr lang="en-US" sz="1900" i="1" dirty="0">
                    <a:latin typeface="Arial" panose="020B0604020202020204" pitchFamily="34" charset="0"/>
                    <a:cs typeface="Arial" panose="020B0604020202020204" pitchFamily="34" charset="0"/>
                  </a:rPr>
                  <a:t>prior</a:t>
                </a:r>
                <a:r>
                  <a:rPr lang="en-US" sz="1900" dirty="0">
                    <a:latin typeface="Arial" panose="020B0604020202020204" pitchFamily="34" charset="0"/>
                    <a:cs typeface="Arial" panose="020B0604020202020204" pitchFamily="34" charset="0"/>
                  </a:rPr>
                  <a:t> probability of </a:t>
                </a:r>
                <a14:m>
                  <m:oMath xmlns:m="http://schemas.openxmlformats.org/officeDocument/2006/math">
                    <m:r>
                      <a:rPr lang="en-US" sz="1900" i="1">
                        <a:latin typeface="Cambria Math" panose="02040503050406030204" pitchFamily="18" charset="0"/>
                      </a:rPr>
                      <m:t>𝐴</m:t>
                    </m:r>
                  </m:oMath>
                </a14:m>
                <a:r>
                  <a:rPr lang="en-US" sz="1900" dirty="0">
                    <a:latin typeface="Arial" panose="020B0604020202020204" pitchFamily="34" charset="0"/>
                    <a:cs typeface="Arial" panose="020B0604020202020204" pitchFamily="34" charset="0"/>
                  </a:rPr>
                  <a:t> and </a:t>
                </a:r>
                <a14:m>
                  <m:oMath xmlns:m="http://schemas.openxmlformats.org/officeDocument/2006/math">
                    <m:r>
                      <a:rPr lang="en-US" sz="1900" i="1">
                        <a:latin typeface="Cambria Math" panose="02040503050406030204" pitchFamily="18" charset="0"/>
                      </a:rPr>
                      <m:t>𝑃</m:t>
                    </m:r>
                    <m:r>
                      <a:rPr lang="en-US" sz="1900" i="1">
                        <a:latin typeface="Cambria Math" panose="02040503050406030204" pitchFamily="18" charset="0"/>
                      </a:rPr>
                      <m:t>(</m:t>
                    </m:r>
                    <m:r>
                      <a:rPr lang="en-US" sz="1900" i="1">
                        <a:latin typeface="Cambria Math" panose="02040503050406030204" pitchFamily="18" charset="0"/>
                      </a:rPr>
                      <m:t>𝐴</m:t>
                    </m:r>
                    <m:r>
                      <a:rPr lang="en-US" sz="1900" i="1">
                        <a:latin typeface="Cambria Math" panose="02040503050406030204" pitchFamily="18" charset="0"/>
                      </a:rPr>
                      <m:t>|</m:t>
                    </m:r>
                    <m:r>
                      <a:rPr lang="en-US" sz="1900" i="1">
                        <a:latin typeface="Cambria Math" panose="02040503050406030204" pitchFamily="18" charset="0"/>
                      </a:rPr>
                      <m:t>𝐵</m:t>
                    </m:r>
                    <m:r>
                      <a:rPr lang="en-US" sz="1900" i="1">
                        <a:latin typeface="Cambria Math" panose="02040503050406030204" pitchFamily="18" charset="0"/>
                      </a:rPr>
                      <m:t>)</m:t>
                    </m:r>
                  </m:oMath>
                </a14:m>
                <a:r>
                  <a:rPr lang="en-US" sz="1900" dirty="0">
                    <a:latin typeface="Arial" panose="020B0604020202020204" pitchFamily="34" charset="0"/>
                    <a:cs typeface="Arial" panose="020B0604020202020204" pitchFamily="34" charset="0"/>
                  </a:rPr>
                  <a:t> the </a:t>
                </a:r>
                <a:r>
                  <a:rPr lang="en-US" sz="1900" i="1" dirty="0">
                    <a:latin typeface="Arial" panose="020B0604020202020204" pitchFamily="34" charset="0"/>
                    <a:cs typeface="Arial" panose="020B0604020202020204" pitchFamily="34" charset="0"/>
                  </a:rPr>
                  <a:t>posterior</a:t>
                </a:r>
                <a:r>
                  <a:rPr lang="en-US" sz="1900" dirty="0">
                    <a:latin typeface="Arial" panose="020B0604020202020204" pitchFamily="34" charset="0"/>
                    <a:cs typeface="Arial" panose="020B0604020202020204" pitchFamily="34" charset="0"/>
                  </a:rPr>
                  <a:t> probability of A (“prior” means before updating based on the evidence, and “posterior” means after updating based on the evidence). </a:t>
                </a: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366604"/>
                <a:ext cx="10831132" cy="6491395"/>
              </a:xfrm>
              <a:blipFill rotWithShape="0">
                <a:blip r:embed="rId2"/>
                <a:stretch>
                  <a:fillRect l="-450" r="-506"/>
                </a:stretch>
              </a:blipFill>
            </p:spPr>
            <p:txBody>
              <a:bodyPr/>
              <a:lstStyle/>
              <a:p>
                <a:r>
                  <a:rPr lang="en-US">
                    <a:noFill/>
                  </a:rPr>
                  <a:t> </a:t>
                </a:r>
              </a:p>
            </p:txBody>
          </p:sp>
        </mc:Fallback>
      </mc:AlternateContent>
    </p:spTree>
    <p:extLst>
      <p:ext uri="{BB962C8B-B14F-4D97-AF65-F5344CB8AC3E}">
        <p14:creationId xmlns:p14="http://schemas.microsoft.com/office/powerpoint/2010/main" val="3267551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5"/>
            <a:ext cx="9144000" cy="414962"/>
          </a:xfrm>
        </p:spPr>
        <p:txBody>
          <a:bodyPr>
            <a:noAutofit/>
          </a:bodyPr>
          <a:lstStyle/>
          <a:p>
            <a:r>
              <a:rPr lang="en-US" sz="2400" b="1" dirty="0">
                <a:latin typeface="Arial" panose="020B0604020202020204" pitchFamily="34" charset="0"/>
                <a:cs typeface="Arial" panose="020B0604020202020204" pitchFamily="34" charset="0"/>
              </a:rPr>
              <a:t>Conditional Probability (</a:t>
            </a:r>
            <a:r>
              <a:rPr lang="en-US" sz="2400" b="1" dirty="0" err="1">
                <a:latin typeface="Arial" panose="020B0604020202020204" pitchFamily="34" charset="0"/>
                <a:cs typeface="Arial" panose="020B0604020202020204" pitchFamily="34" charset="0"/>
              </a:rPr>
              <a:t>cont</a:t>
            </a:r>
            <a:r>
              <a:rPr lang="en-US" sz="2400" b="1"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675886"/>
                <a:ext cx="10831132" cy="5698021"/>
              </a:xfrm>
            </p:spPr>
            <p:txBody>
              <a:bodyPr>
                <a:noAutofit/>
              </a:bodyPr>
              <a:lstStyle/>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It is important to interpret the event appearing after the vertical conditioning bar as the evidence that we have observed or that is being conditioned on: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𝐵</m:t>
                    </m:r>
                    <m:r>
                      <a:rPr lang="en-US" sz="2000" i="1">
                        <a:latin typeface="Cambria Math" panose="02040503050406030204" pitchFamily="18" charset="0"/>
                      </a:rPr>
                      <m:t>)</m:t>
                    </m:r>
                  </m:oMath>
                </a14:m>
                <a:r>
                  <a:rPr lang="en-US" sz="2000" dirty="0">
                    <a:latin typeface="Arial" panose="020B0604020202020204" pitchFamily="34" charset="0"/>
                    <a:cs typeface="Arial" panose="020B0604020202020204" pitchFamily="34" charset="0"/>
                  </a:rPr>
                  <a:t> is the probability of </a:t>
                </a:r>
                <a14:m>
                  <m:oMath xmlns:m="http://schemas.openxmlformats.org/officeDocument/2006/math">
                    <m:r>
                      <a:rPr lang="en-US" sz="2000" i="1">
                        <a:latin typeface="Cambria Math" panose="02040503050406030204" pitchFamily="18" charset="0"/>
                      </a:rPr>
                      <m:t>𝐴</m:t>
                    </m:r>
                  </m:oMath>
                </a14:m>
                <a:r>
                  <a:rPr lang="en-US" sz="2000" dirty="0">
                    <a:latin typeface="Arial" panose="020B0604020202020204" pitchFamily="34" charset="0"/>
                    <a:cs typeface="Arial" panose="020B0604020202020204" pitchFamily="34" charset="0"/>
                  </a:rPr>
                  <a:t> given the evidence </a:t>
                </a:r>
                <a14:m>
                  <m:oMath xmlns:m="http://schemas.openxmlformats.org/officeDocument/2006/math">
                    <m:r>
                      <a:rPr lang="en-US" sz="2000" i="1">
                        <a:latin typeface="Cambria Math" panose="02040503050406030204" pitchFamily="18" charset="0"/>
                      </a:rPr>
                      <m:t>𝐵</m:t>
                    </m:r>
                  </m:oMath>
                </a14:m>
                <a:r>
                  <a:rPr lang="en-US" sz="2000" dirty="0">
                    <a:latin typeface="Arial" panose="020B0604020202020204" pitchFamily="34" charset="0"/>
                    <a:cs typeface="Arial" panose="020B0604020202020204" pitchFamily="34" charset="0"/>
                  </a:rPr>
                  <a:t>, not the probability of some entity called </a:t>
                </a:r>
                <a14:m>
                  <m:oMath xmlns:m="http://schemas.openxmlformats.org/officeDocument/2006/math">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𝐵</m:t>
                    </m:r>
                  </m:oMath>
                </a14:m>
                <a:r>
                  <a:rPr lang="en-US" sz="2000" dirty="0">
                    <a:latin typeface="Arial" panose="020B0604020202020204" pitchFamily="34" charset="0"/>
                    <a:cs typeface="Arial" panose="020B0604020202020204" pitchFamily="34" charset="0"/>
                  </a:rPr>
                  <a:t> as there is no such event. </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For any event </a:t>
                </a:r>
                <a14:m>
                  <m:oMath xmlns:m="http://schemas.openxmlformats.org/officeDocument/2006/math">
                    <m:r>
                      <a:rPr lang="en-US" sz="2000" i="1">
                        <a:latin typeface="Cambria Math" panose="02040503050406030204" pitchFamily="18" charset="0"/>
                      </a:rPr>
                      <m:t>𝐴</m:t>
                    </m:r>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rPr>
                      <m:t>) = </m:t>
                    </m:r>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𝐴</m:t>
                    </m:r>
                    <m:r>
                      <a:rPr lang="en-US" sz="2000" i="1">
                        <a:latin typeface="Cambria Math" panose="02040503050406030204" pitchFamily="18" charset="0"/>
                      </a:rPr>
                      <m:t>) = 1</m:t>
                    </m:r>
                  </m:oMath>
                </a14:m>
                <a:r>
                  <a:rPr lang="en-US" sz="2000" dirty="0">
                    <a:latin typeface="Arial" panose="020B0604020202020204" pitchFamily="34" charset="0"/>
                    <a:cs typeface="Arial" panose="020B0604020202020204" pitchFamily="34" charset="0"/>
                  </a:rPr>
                  <a:t>. Upon observing that </a:t>
                </a:r>
                <a14:m>
                  <m:oMath xmlns:m="http://schemas.openxmlformats.org/officeDocument/2006/math">
                    <m:r>
                      <a:rPr lang="en-US" sz="2000" i="1">
                        <a:latin typeface="Cambria Math" panose="02040503050406030204" pitchFamily="18" charset="0"/>
                      </a:rPr>
                      <m:t>𝐴</m:t>
                    </m:r>
                  </m:oMath>
                </a14:m>
                <a:r>
                  <a:rPr lang="en-US" sz="2000" dirty="0">
                    <a:latin typeface="Arial" panose="020B0604020202020204" pitchFamily="34" charset="0"/>
                    <a:cs typeface="Arial" panose="020B0604020202020204" pitchFamily="34" charset="0"/>
                  </a:rPr>
                  <a:t> has occurred, our updated probability for </a:t>
                </a:r>
                <a14:m>
                  <m:oMath xmlns:m="http://schemas.openxmlformats.org/officeDocument/2006/math">
                    <m:r>
                      <a:rPr lang="en-US" sz="2000" i="1">
                        <a:latin typeface="Cambria Math" panose="02040503050406030204" pitchFamily="18" charset="0"/>
                      </a:rPr>
                      <m:t>𝐴</m:t>
                    </m:r>
                  </m:oMath>
                </a14:m>
                <a:r>
                  <a:rPr lang="en-US" sz="2000" dirty="0">
                    <a:latin typeface="Arial" panose="020B0604020202020204" pitchFamily="34" charset="0"/>
                    <a:cs typeface="Arial" panose="020B0604020202020204" pitchFamily="34" charset="0"/>
                  </a:rPr>
                  <a:t> is </a:t>
                </a:r>
                <a14:m>
                  <m:oMath xmlns:m="http://schemas.openxmlformats.org/officeDocument/2006/math">
                    <m:r>
                      <a:rPr lang="en-US" sz="2000" i="1">
                        <a:latin typeface="Cambria Math" panose="02040503050406030204" pitchFamily="18" charset="0"/>
                      </a:rPr>
                      <m:t>1</m:t>
                    </m:r>
                  </m:oMath>
                </a14:m>
                <a:r>
                  <a:rPr lang="en-US" sz="2000" dirty="0">
                    <a:latin typeface="Arial" panose="020B0604020202020204" pitchFamily="34" charset="0"/>
                    <a:cs typeface="Arial" panose="020B0604020202020204" pitchFamily="34" charset="0"/>
                  </a:rPr>
                  <a:t>. If this weren’t the case, we would demand a new definition of conditional probability!</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The conditional probability is also called, probability of an event from reduced sample space.</a:t>
                </a:r>
              </a:p>
              <a:p>
                <a:pPr marL="342900" indent="-342900" algn="just">
                  <a:lnSpc>
                    <a:spcPct val="150000"/>
                  </a:lnSpc>
                  <a:buFont typeface="Arial" panose="020B0604020202020204" pitchFamily="34" charset="0"/>
                  <a:buChar char="•"/>
                </a:pPr>
                <a:endParaRPr lang="en-US" sz="2000" b="1" i="1"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675886"/>
                <a:ext cx="10831132" cy="5698021"/>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3779866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5"/>
            <a:ext cx="9144000" cy="414962"/>
          </a:xfrm>
        </p:spPr>
        <p:txBody>
          <a:bodyPr>
            <a:noAutofit/>
          </a:bodyPr>
          <a:lstStyle/>
          <a:p>
            <a:r>
              <a:rPr lang="en-US" sz="2400" b="1" dirty="0">
                <a:latin typeface="Arial" panose="020B0604020202020204" pitchFamily="34" charset="0"/>
                <a:cs typeface="Arial" panose="020B0604020202020204" pitchFamily="34" charset="0"/>
              </a:rPr>
              <a:t>Conditional Probability (</a:t>
            </a:r>
            <a:r>
              <a:rPr lang="en-US" sz="2400" b="1" dirty="0" err="1">
                <a:latin typeface="Arial" panose="020B0604020202020204" pitchFamily="34" charset="0"/>
                <a:cs typeface="Arial" panose="020B0604020202020204" pitchFamily="34" charset="0"/>
              </a:rPr>
              <a:t>cont</a:t>
            </a:r>
            <a:r>
              <a:rPr lang="en-US" sz="2400" b="1"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675886"/>
                <a:ext cx="10831132" cy="5698021"/>
              </a:xfrm>
            </p:spPr>
            <p:txBody>
              <a:bodyPr>
                <a:noAutofit/>
              </a:bodyPr>
              <a:lstStyle/>
              <a:p>
                <a:pPr marL="342900" indent="-342900" algn="just">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Consider the event B of </a:t>
                </a:r>
                <a:r>
                  <a:rPr lang="en-US" sz="2000" b="1" dirty="0">
                    <a:latin typeface="Arial" panose="020B0604020202020204" pitchFamily="34" charset="0"/>
                    <a:cs typeface="Arial" panose="020B0604020202020204" pitchFamily="34" charset="0"/>
                  </a:rPr>
                  <a:t>getting </a:t>
                </a:r>
                <a:r>
                  <a:rPr lang="en-US" sz="2000" b="1" dirty="0" smtClean="0">
                    <a:latin typeface="Arial" panose="020B0604020202020204" pitchFamily="34" charset="0"/>
                    <a:cs typeface="Arial" panose="020B0604020202020204" pitchFamily="34" charset="0"/>
                  </a:rPr>
                  <a:t>a </a:t>
                </a:r>
                <a:r>
                  <a:rPr lang="en-US" sz="2000" b="1" dirty="0">
                    <a:latin typeface="Arial" panose="020B0604020202020204" pitchFamily="34" charset="0"/>
                    <a:cs typeface="Arial" panose="020B0604020202020204" pitchFamily="34" charset="0"/>
                  </a:rPr>
                  <a:t>square when a die is tossed</a:t>
                </a:r>
                <a:r>
                  <a:rPr lang="en-US" sz="2000" dirty="0">
                    <a:latin typeface="Arial" panose="020B0604020202020204" pitchFamily="34" charset="0"/>
                    <a:cs typeface="Arial" panose="020B0604020202020204" pitchFamily="34" charset="0"/>
                  </a:rPr>
                  <a:t>. The sample space is S={1, 2, 3, 4, 5, 6} and B={1,4}. The probability of B occurring is, P(B) = 1/3. Now suppose that it is known that the toss of the die resulted in a number greater than 2, how can we calculate the probability of the event  B of getting a </a:t>
                </a:r>
                <a:r>
                  <a:rPr lang="en-US" sz="2000" dirty="0" smtClean="0">
                    <a:latin typeface="Arial" panose="020B0604020202020204" pitchFamily="34" charset="0"/>
                    <a:cs typeface="Arial" panose="020B0604020202020204" pitchFamily="34" charset="0"/>
                  </a:rPr>
                  <a:t>square number?</a:t>
                </a: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Let event A = die resulted in a number greater than 2 ={3,4,5,6}, which is a subset of S and so P(A)= 4/6=2/3. Also we have </a:t>
                </a:r>
                <a14:m>
                  <m:oMath xmlns:m="http://schemas.openxmlformats.org/officeDocument/2006/math">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𝐵</m:t>
                    </m:r>
                  </m:oMath>
                </a14:m>
                <a:r>
                  <a:rPr lang="en-US" sz="2000" dirty="0">
                    <a:latin typeface="Arial" panose="020B0604020202020204" pitchFamily="34" charset="0"/>
                    <a:cs typeface="Arial" panose="020B0604020202020204" pitchFamily="34" charset="0"/>
                  </a:rPr>
                  <a:t> ={4} so that P(</a:t>
                </a:r>
                <a14:m>
                  <m:oMath xmlns:m="http://schemas.openxmlformats.org/officeDocument/2006/math">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𝐵</m:t>
                    </m:r>
                  </m:oMath>
                </a14:m>
                <a:r>
                  <a:rPr lang="en-US" sz="2000" dirty="0">
                    <a:latin typeface="Arial" panose="020B0604020202020204" pitchFamily="34" charset="0"/>
                    <a:cs typeface="Arial" panose="020B0604020202020204" pitchFamily="34" charset="0"/>
                  </a:rPr>
                  <a:t>)=1/6. Hence P(B|A) = </a:t>
                </a:r>
                <a14:m>
                  <m:oMath xmlns:m="http://schemas.openxmlformats.org/officeDocument/2006/math">
                    <m:f>
                      <m:fPr>
                        <m:ctrlPr>
                          <a:rPr lang="en-US" sz="2000" i="1">
                            <a:latin typeface="Cambria Math" panose="02040503050406030204" pitchFamily="18" charset="0"/>
                          </a:rPr>
                        </m:ctrlPr>
                      </m:fPr>
                      <m:num>
                        <m:f>
                          <m:fPr>
                            <m:type m:val="lin"/>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6</m:t>
                            </m:r>
                          </m:den>
                        </m:f>
                      </m:num>
                      <m:den>
                        <m:f>
                          <m:fPr>
                            <m:type m:val="lin"/>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3</m:t>
                            </m:r>
                          </m:den>
                        </m:f>
                      </m:den>
                    </m:f>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4</m:t>
                        </m:r>
                      </m:den>
                    </m:f>
                  </m:oMath>
                </a14:m>
                <a:r>
                  <a:rPr lang="en-US" sz="2000" dirty="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In other words, we are now dealing with a </a:t>
                </a:r>
                <a:r>
                  <a:rPr lang="en-US" sz="2000" b="1" dirty="0">
                    <a:latin typeface="Arial" panose="020B0604020202020204" pitchFamily="34" charset="0"/>
                    <a:cs typeface="Arial" panose="020B0604020202020204" pitchFamily="34" charset="0"/>
                  </a:rPr>
                  <a:t>reduced sample space S</a:t>
                </a:r>
                <a:r>
                  <a:rPr lang="en-US" sz="2000" b="1" baseline="30000" dirty="0">
                    <a:latin typeface="Arial" panose="020B0604020202020204" pitchFamily="34" charset="0"/>
                    <a:cs typeface="Arial" panose="020B0604020202020204" pitchFamily="34" charset="0"/>
                  </a:rPr>
                  <a:t>*</a:t>
                </a:r>
                <a:r>
                  <a:rPr lang="en-US" sz="2000" b="1" dirty="0">
                    <a:latin typeface="Arial" panose="020B0604020202020204" pitchFamily="34" charset="0"/>
                    <a:cs typeface="Arial" panose="020B0604020202020204" pitchFamily="34" charset="0"/>
                  </a:rPr>
                  <a:t> = {3,4,5,6}, </a:t>
                </a:r>
                <a:r>
                  <a:rPr lang="en-US" sz="2000" dirty="0">
                    <a:latin typeface="Arial" panose="020B0604020202020204" pitchFamily="34" charset="0"/>
                    <a:cs typeface="Arial" panose="020B0604020202020204" pitchFamily="34" charset="0"/>
                  </a:rPr>
                  <a:t>because we know that the die resulted in a number greater than 2. We are interested in the probability of getting </a:t>
                </a:r>
                <a:r>
                  <a:rPr lang="en-US" sz="2000" dirty="0" smtClean="0">
                    <a:latin typeface="Arial" panose="020B0604020202020204" pitchFamily="34" charset="0"/>
                    <a:cs typeface="Arial" panose="020B0604020202020204" pitchFamily="34" charset="0"/>
                  </a:rPr>
                  <a:t>a </a:t>
                </a:r>
                <a:r>
                  <a:rPr lang="en-US" sz="2000" dirty="0">
                    <a:latin typeface="Arial" panose="020B0604020202020204" pitchFamily="34" charset="0"/>
                    <a:cs typeface="Arial" panose="020B0604020202020204" pitchFamily="34" charset="0"/>
                  </a:rPr>
                  <a:t>square, the event B. We have  B={4} in the reduced sample space. So, P(B|A) </a:t>
                </a:r>
                <a14:m>
                  <m:oMath xmlns:m="http://schemas.openxmlformats.org/officeDocument/2006/math">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4</m:t>
                        </m:r>
                      </m:den>
                    </m:f>
                  </m:oMath>
                </a14:m>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b="1" i="1"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675886"/>
                <a:ext cx="10831132" cy="5698021"/>
              </a:xfrm>
              <a:blipFill rotWithShape="0">
                <a:blip r:embed="rId2"/>
                <a:stretch>
                  <a:fillRect l="-506" r="-563" b="-2781"/>
                </a:stretch>
              </a:blipFill>
            </p:spPr>
            <p:txBody>
              <a:bodyPr/>
              <a:lstStyle/>
              <a:p>
                <a:r>
                  <a:rPr lang="en-US">
                    <a:noFill/>
                  </a:rPr>
                  <a:t> </a:t>
                </a:r>
              </a:p>
            </p:txBody>
          </p:sp>
        </mc:Fallback>
      </mc:AlternateContent>
    </p:spTree>
    <p:extLst>
      <p:ext uri="{BB962C8B-B14F-4D97-AF65-F5344CB8AC3E}">
        <p14:creationId xmlns:p14="http://schemas.microsoft.com/office/powerpoint/2010/main" val="1047464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5"/>
            <a:ext cx="9144000" cy="414962"/>
          </a:xfrm>
        </p:spPr>
        <p:txBody>
          <a:bodyPr>
            <a:noAutofit/>
          </a:bodyPr>
          <a:lstStyle/>
          <a:p>
            <a:r>
              <a:rPr lang="en-US" sz="2400" b="1" dirty="0">
                <a:latin typeface="Arial" panose="020B0604020202020204" pitchFamily="34" charset="0"/>
                <a:cs typeface="Arial" panose="020B0604020202020204" pitchFamily="34" charset="0"/>
              </a:rPr>
              <a:t>Conditional Probability (</a:t>
            </a:r>
            <a:r>
              <a:rPr lang="en-US" sz="2400" b="1" dirty="0" err="1">
                <a:latin typeface="Arial" panose="020B0604020202020204" pitchFamily="34" charset="0"/>
                <a:cs typeface="Arial" panose="020B0604020202020204" pitchFamily="34" charset="0"/>
              </a:rPr>
              <a:t>cont</a:t>
            </a:r>
            <a:r>
              <a:rPr lang="en-US" sz="2400" b="1"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675886"/>
                <a:ext cx="10831132" cy="5698021"/>
              </a:xfrm>
            </p:spPr>
            <p:txBody>
              <a:bodyPr>
                <a:noAutofit/>
              </a:bodyPr>
              <a:lstStyle/>
              <a:p>
                <a:pPr marL="342900" indent="-342900" algn="just">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The probability that a regularly scheduled flight departs on time is P(D) = 0.83; the probability that it arrives on time is P(A) = 0.82; and the probability that it departs and arrives on time is P(</a:t>
                </a:r>
                <a14:m>
                  <m:oMath xmlns:m="http://schemas.openxmlformats.org/officeDocument/2006/math">
                    <m:r>
                      <a:rPr lang="en-US" sz="2000" i="1">
                        <a:latin typeface="Cambria Math" panose="02040503050406030204" pitchFamily="18" charset="0"/>
                      </a:rPr>
                      <m:t>𝐷</m:t>
                    </m:r>
                    <m:r>
                      <a:rPr lang="en-US" sz="2000" i="1">
                        <a:latin typeface="Cambria Math" panose="02040503050406030204" pitchFamily="18" charset="0"/>
                      </a:rPr>
                      <m:t>∩</m:t>
                    </m:r>
                    <m:r>
                      <a:rPr lang="en-US" sz="2000" i="1">
                        <a:latin typeface="Cambria Math" panose="02040503050406030204" pitchFamily="18" charset="0"/>
                      </a:rPr>
                      <m:t>𝐴</m:t>
                    </m:r>
                  </m:oMath>
                </a14:m>
                <a:r>
                  <a:rPr lang="en-US" sz="2000" dirty="0">
                    <a:latin typeface="Arial" panose="020B0604020202020204" pitchFamily="34" charset="0"/>
                    <a:cs typeface="Arial" panose="020B0604020202020204" pitchFamily="34" charset="0"/>
                  </a:rPr>
                  <a:t>) = 0.78. Find the probability that a plane (a) arrives on time given that it departed on time, and (b) departed on time given that it has arrived on time.</a:t>
                </a:r>
              </a:p>
              <a:p>
                <a:pPr marL="342900" indent="-342900" algn="just">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Solution</a:t>
                </a:r>
                <a:endParaRPr lang="en-US" sz="2000" dirty="0">
                  <a:latin typeface="Arial" panose="020B0604020202020204" pitchFamily="34" charset="0"/>
                  <a:cs typeface="Arial" panose="020B0604020202020204" pitchFamily="34" charset="0"/>
                </a:endParaRPr>
              </a:p>
              <a:p>
                <a:pPr lvl="0"/>
                <a:r>
                  <a:rPr lang="en-US" sz="2000" dirty="0"/>
                  <a:t>(a)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e>
                      <m:e>
                        <m:r>
                          <a:rPr lang="en-US" sz="2000" i="1">
                            <a:latin typeface="Cambria Math" panose="02040503050406030204" pitchFamily="18" charset="0"/>
                          </a:rPr>
                          <m:t>𝐷</m:t>
                        </m:r>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𝐷</m:t>
                            </m:r>
                          </m:e>
                        </m:d>
                      </m:num>
                      <m:den>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𝐷</m:t>
                            </m:r>
                          </m:e>
                        </m:d>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0.78</m:t>
                        </m:r>
                      </m:num>
                      <m:den>
                        <m:r>
                          <a:rPr lang="en-US" sz="2000" i="1">
                            <a:latin typeface="Cambria Math" panose="02040503050406030204" pitchFamily="18" charset="0"/>
                          </a:rPr>
                          <m:t>0.83</m:t>
                        </m:r>
                      </m:den>
                    </m:f>
                    <m:r>
                      <a:rPr lang="en-US" sz="2000" i="1">
                        <a:latin typeface="Cambria Math" panose="02040503050406030204" pitchFamily="18" charset="0"/>
                      </a:rPr>
                      <m:t>=0.9398</m:t>
                    </m:r>
                  </m:oMath>
                </a14:m>
                <a:endParaRPr lang="en-US" sz="2000" dirty="0">
                  <a:latin typeface="Arial" panose="020B0604020202020204" pitchFamily="34" charset="0"/>
                  <a:cs typeface="Arial" panose="020B0604020202020204" pitchFamily="34" charset="0"/>
                </a:endParaRPr>
              </a:p>
              <a:p>
                <a:pPr lvl="0"/>
                <a:r>
                  <a:rPr lang="en-US" sz="2000" dirty="0"/>
                  <a:t>(b)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𝐷</m:t>
                        </m:r>
                      </m:e>
                      <m:e>
                        <m:r>
                          <a:rPr lang="en-US" sz="2000" i="1">
                            <a:latin typeface="Cambria Math" panose="02040503050406030204" pitchFamily="18" charset="0"/>
                          </a:rPr>
                          <m:t>𝐴</m:t>
                        </m:r>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𝐷</m:t>
                            </m:r>
                          </m:e>
                        </m:d>
                      </m:num>
                      <m:den>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e>
                        </m:d>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0.78</m:t>
                        </m:r>
                      </m:num>
                      <m:den>
                        <m:r>
                          <a:rPr lang="en-US" sz="2000" i="1">
                            <a:latin typeface="Cambria Math" panose="02040503050406030204" pitchFamily="18" charset="0"/>
                          </a:rPr>
                          <m:t>0.82</m:t>
                        </m:r>
                      </m:den>
                    </m:f>
                    <m:r>
                      <a:rPr lang="en-US" sz="2000" i="1">
                        <a:latin typeface="Cambria Math" panose="02040503050406030204" pitchFamily="18" charset="0"/>
                      </a:rPr>
                      <m:t>=0.9512</m:t>
                    </m:r>
                  </m:oMath>
                </a14:m>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b="1" i="1"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675886"/>
                <a:ext cx="10831132" cy="5698021"/>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3904489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791"/>
            <a:ext cx="9144000" cy="414962"/>
          </a:xfrm>
        </p:spPr>
        <p:txBody>
          <a:bodyPr>
            <a:noAutofit/>
          </a:bodyPr>
          <a:lstStyle/>
          <a:p>
            <a:r>
              <a:rPr lang="en-US" sz="2400" b="1" dirty="0">
                <a:latin typeface="Arial" panose="020B0604020202020204" pitchFamily="34" charset="0"/>
                <a:cs typeface="Arial" panose="020B0604020202020204" pitchFamily="34" charset="0"/>
              </a:rPr>
              <a:t>Law of total probability</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366604"/>
                <a:ext cx="10831132" cy="6491395"/>
              </a:xfrm>
            </p:spPr>
            <p:txBody>
              <a:bodyPr>
                <a:noAutofit/>
              </a:bodyPr>
              <a:lstStyle/>
              <a:p>
                <a:pPr marL="342900" indent="-342900" algn="just">
                  <a:lnSpc>
                    <a:spcPct val="150000"/>
                  </a:lnSpc>
                  <a:buFont typeface="Arial" panose="020B0604020202020204" pitchFamily="34" charset="0"/>
                  <a:buChar char="•"/>
                </a:pPr>
                <a:r>
                  <a:rPr lang="en-US" sz="1900" b="1" i="1" dirty="0">
                    <a:latin typeface="Arial" panose="020B0604020202020204" pitchFamily="34" charset="0"/>
                    <a:cs typeface="Arial" panose="020B0604020202020204" pitchFamily="34" charset="0"/>
                  </a:rPr>
                  <a:t>Theorem</a:t>
                </a:r>
                <a:r>
                  <a:rPr lang="en-US" sz="1900" b="1" dirty="0">
                    <a:latin typeface="Arial" panose="020B0604020202020204" pitchFamily="34" charset="0"/>
                    <a:cs typeface="Arial" panose="020B0604020202020204" pitchFamily="34" charset="0"/>
                  </a:rPr>
                  <a:t> (Law of total probability/LOTP): </a:t>
                </a:r>
                <a:r>
                  <a:rPr lang="en-US" sz="1900" dirty="0">
                    <a:latin typeface="Arial" panose="020B0604020202020204" pitchFamily="34" charset="0"/>
                    <a:cs typeface="Arial" panose="020B0604020202020204" pitchFamily="34" charset="0"/>
                  </a:rPr>
                  <a:t>Suppose the events </a:t>
                </a:r>
                <a14:m>
                  <m:oMath xmlns:m="http://schemas.openxmlformats.org/officeDocument/2006/math">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1</m:t>
                        </m:r>
                      </m:sub>
                    </m:sSub>
                    <m:r>
                      <a:rPr lang="en-US" sz="1900" i="1">
                        <a:latin typeface="Cambria Math" panose="02040503050406030204" pitchFamily="18" charset="0"/>
                      </a:rPr>
                      <m:t>,</m:t>
                    </m:r>
                    <m:r>
                      <a:rPr lang="en-US" sz="1900">
                        <a:latin typeface="Cambria Math" panose="02040503050406030204" pitchFamily="18" charset="0"/>
                      </a:rPr>
                      <m:t> </m:t>
                    </m:r>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2</m:t>
                        </m:r>
                      </m:sub>
                    </m:sSub>
                    <m:r>
                      <a:rPr lang="en-US" sz="1900" i="1">
                        <a:latin typeface="Cambria Math" panose="02040503050406030204" pitchFamily="18" charset="0"/>
                      </a:rPr>
                      <m:t>,…,</m:t>
                    </m:r>
                    <m:r>
                      <a:rPr lang="en-US" sz="1900">
                        <a:latin typeface="Cambria Math" panose="02040503050406030204" pitchFamily="18" charset="0"/>
                      </a:rPr>
                      <m:t> </m:t>
                    </m:r>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𝑛</m:t>
                        </m:r>
                      </m:sub>
                    </m:sSub>
                  </m:oMath>
                </a14:m>
                <a:r>
                  <a:rPr lang="en-US" sz="1900" dirty="0">
                    <a:latin typeface="Arial" panose="020B0604020202020204" pitchFamily="34" charset="0"/>
                    <a:cs typeface="Arial" panose="020B0604020202020204" pitchFamily="34" charset="0"/>
                  </a:rPr>
                  <a:t> are mutually exclusive and exhaustive. Then for an arbitrary event </a:t>
                </a:r>
                <a14:m>
                  <m:oMath xmlns:m="http://schemas.openxmlformats.org/officeDocument/2006/math">
                    <m:r>
                      <a:rPr lang="en-US" sz="1900" i="1">
                        <a:latin typeface="Cambria Math" panose="02040503050406030204" pitchFamily="18" charset="0"/>
                      </a:rPr>
                      <m:t>𝐵</m:t>
                    </m:r>
                  </m:oMath>
                </a14:m>
                <a:r>
                  <a:rPr lang="en-US" sz="1900" dirty="0">
                    <a:latin typeface="Arial" panose="020B0604020202020204" pitchFamily="34" charset="0"/>
                    <a:cs typeface="Arial" panose="020B0604020202020204" pitchFamily="34" charset="0"/>
                  </a:rPr>
                  <a:t>,</a:t>
                </a:r>
              </a:p>
              <a:p>
                <a:pPr/>
                <a14:m>
                  <m:oMathPara xmlns:m="http://schemas.openxmlformats.org/officeDocument/2006/math">
                    <m:oMathParaPr>
                      <m:jc m:val="centerGroup"/>
                    </m:oMathParaPr>
                    <m:oMath xmlns:m="http://schemas.openxmlformats.org/officeDocument/2006/math">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𝐵</m:t>
                          </m:r>
                        </m:e>
                      </m:d>
                      <m:r>
                        <a:rPr lang="en-US" sz="1900" i="1">
                          <a:latin typeface="Cambria Math" panose="02040503050406030204" pitchFamily="18" charset="0"/>
                        </a:rPr>
                        <m:t>=</m:t>
                      </m:r>
                      <m:nary>
                        <m:naryPr>
                          <m:chr m:val="∑"/>
                          <m:limLoc m:val="subSup"/>
                          <m:ctrlPr>
                            <a:rPr lang="en-US" sz="1900" i="1">
                              <a:latin typeface="Cambria Math" panose="02040503050406030204" pitchFamily="18" charset="0"/>
                            </a:rPr>
                          </m:ctrlPr>
                        </m:naryPr>
                        <m:sub>
                          <m:r>
                            <a:rPr lang="en-US" sz="1900" i="1">
                              <a:latin typeface="Cambria Math" panose="02040503050406030204" pitchFamily="18" charset="0"/>
                            </a:rPr>
                            <m:t>𝑖</m:t>
                          </m:r>
                          <m:r>
                            <a:rPr lang="en-US" sz="1900" i="1">
                              <a:latin typeface="Cambria Math" panose="02040503050406030204" pitchFamily="18" charset="0"/>
                            </a:rPr>
                            <m:t>=1</m:t>
                          </m:r>
                        </m:sub>
                        <m:sup>
                          <m:r>
                            <a:rPr lang="en-US" sz="1900" i="1">
                              <a:latin typeface="Cambria Math" panose="02040503050406030204" pitchFamily="18" charset="0"/>
                            </a:rPr>
                            <m:t>𝑛</m:t>
                          </m:r>
                        </m:sup>
                        <m:e>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𝐵</m:t>
                              </m:r>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𝑖</m:t>
                                  </m:r>
                                </m:sub>
                              </m:sSub>
                            </m:e>
                          </m:d>
                          <m:r>
                            <a:rPr lang="en-US" sz="1900" i="1">
                              <a:latin typeface="Cambria Math" panose="02040503050406030204" pitchFamily="18" charset="0"/>
                            </a:rPr>
                            <m:t>𝑃</m:t>
                          </m:r>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𝑖</m:t>
                                  </m:r>
                                </m:sub>
                              </m:sSub>
                            </m:e>
                          </m:d>
                        </m:e>
                      </m:nary>
                    </m:oMath>
                  </m:oMathPara>
                </a14:m>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900" dirty="0">
                  <a:latin typeface="Arial" panose="020B0604020202020204" pitchFamily="34" charset="0"/>
                  <a:cs typeface="Arial" panose="020B0604020202020204" pitchFamily="34" charset="0"/>
                </a:endParaRPr>
              </a:p>
              <a:p>
                <a:pPr algn="just">
                  <a:lnSpc>
                    <a:spcPct val="150000"/>
                  </a:lnSpc>
                </a:pPr>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1900" b="1" dirty="0">
                    <a:latin typeface="Arial" panose="020B0604020202020204" pitchFamily="34" charset="0"/>
                    <a:cs typeface="Arial" panose="020B0604020202020204" pitchFamily="34" charset="0"/>
                  </a:rPr>
                  <a:t>Proof: </a:t>
                </a:r>
                <a:r>
                  <a:rPr lang="en-US" sz="1900" dirty="0">
                    <a:latin typeface="Arial" panose="020B0604020202020204" pitchFamily="34" charset="0"/>
                    <a:cs typeface="Arial" panose="020B0604020202020204" pitchFamily="34" charset="0"/>
                  </a:rPr>
                  <a:t>From the above Venn diagram we can clearly write </a:t>
                </a:r>
                <a14:m>
                  <m:oMath xmlns:m="http://schemas.openxmlformats.org/officeDocument/2006/math">
                    <m:r>
                      <a:rPr lang="en-US" sz="1900" i="1">
                        <a:latin typeface="Cambria Math" panose="02040503050406030204" pitchFamily="18" charset="0"/>
                      </a:rPr>
                      <m:t>𝐵</m:t>
                    </m:r>
                  </m:oMath>
                </a14:m>
                <a:r>
                  <a:rPr lang="en-US" sz="1900" dirty="0">
                    <a:latin typeface="Arial" panose="020B0604020202020204" pitchFamily="34" charset="0"/>
                    <a:cs typeface="Arial" panose="020B0604020202020204" pitchFamily="34" charset="0"/>
                  </a:rPr>
                  <a:t> as the union of mutually exclusive events </a:t>
                </a:r>
                <a14:m>
                  <m:oMath xmlns:m="http://schemas.openxmlformats.org/officeDocument/2006/math">
                    <m:sSub>
                      <m:sSubPr>
                        <m:ctrlPr>
                          <a:rPr lang="en-US" sz="1900" i="1">
                            <a:latin typeface="Cambria Math" panose="02040503050406030204" pitchFamily="18" charset="0"/>
                          </a:rPr>
                        </m:ctrlPr>
                      </m:sSubPr>
                      <m:e>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1</m:t>
                            </m:r>
                          </m:sub>
                        </m:sSub>
                        <m:r>
                          <a:rPr lang="en-US" sz="1900" b="0" i="1" smtClean="0">
                            <a:latin typeface="Cambria Math" panose="02040503050406030204" pitchFamily="18" charset="0"/>
                          </a:rPr>
                          <m:t>∩</m:t>
                        </m:r>
                        <m:r>
                          <a:rPr lang="en-US" sz="1900" i="1">
                            <a:latin typeface="Cambria Math" panose="02040503050406030204" pitchFamily="18" charset="0"/>
                          </a:rPr>
                          <m:t>𝐵</m:t>
                        </m:r>
                        <m:r>
                          <a:rPr lang="en-US" sz="1900" b="0" i="1" smtClean="0">
                            <a:latin typeface="Cambria Math" panose="02040503050406030204" pitchFamily="18" charset="0"/>
                          </a:rPr>
                          <m:t> (</m:t>
                        </m:r>
                        <m:r>
                          <a:rPr lang="en-US" sz="1900" i="1">
                            <a:latin typeface="Cambria Math" panose="02040503050406030204" pitchFamily="18" charset="0"/>
                          </a:rPr>
                          <m:t>𝐴</m:t>
                        </m:r>
                      </m:e>
                      <m:sub>
                        <m:r>
                          <a:rPr lang="en-US" sz="1900" i="1">
                            <a:latin typeface="Cambria Math" panose="02040503050406030204" pitchFamily="18" charset="0"/>
                          </a:rPr>
                          <m:t>1</m:t>
                        </m:r>
                      </m:sub>
                    </m:sSub>
                    <m:r>
                      <a:rPr lang="en-US" sz="1900" i="1">
                        <a:latin typeface="Cambria Math" panose="02040503050406030204" pitchFamily="18" charset="0"/>
                      </a:rPr>
                      <m:t>𝐵</m:t>
                    </m:r>
                    <m:r>
                      <a:rPr lang="en-US" sz="1900" b="0" i="1" smtClean="0">
                        <a:latin typeface="Cambria Math" panose="02040503050406030204" pitchFamily="18" charset="0"/>
                      </a:rPr>
                      <m:t>) </m:t>
                    </m:r>
                    <m:r>
                      <a:rPr lang="en-US" sz="1900" i="1">
                        <a:latin typeface="Cambria Math" panose="02040503050406030204" pitchFamily="18" charset="0"/>
                      </a:rPr>
                      <m:t>, </m:t>
                    </m:r>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2</m:t>
                        </m:r>
                      </m:sub>
                    </m:sSub>
                    <m:r>
                      <a:rPr lang="en-US" sz="1900" i="1">
                        <a:latin typeface="Cambria Math" panose="02040503050406030204" pitchFamily="18" charset="0"/>
                      </a:rPr>
                      <m:t>𝐵</m:t>
                    </m:r>
                    <m:r>
                      <a:rPr lang="en-US" sz="1900" i="1">
                        <a:latin typeface="Cambria Math" panose="02040503050406030204" pitchFamily="18" charset="0"/>
                      </a:rPr>
                      <m:t>, …, </m:t>
                    </m:r>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𝑛</m:t>
                        </m:r>
                      </m:sub>
                    </m:sSub>
                    <m:r>
                      <a:rPr lang="en-US" sz="1900" i="1">
                        <a:latin typeface="Cambria Math" panose="02040503050406030204" pitchFamily="18" charset="0"/>
                      </a:rPr>
                      <m:t>𝐵</m:t>
                    </m:r>
                  </m:oMath>
                </a14:m>
                <a:r>
                  <a:rPr lang="en-US" sz="1900" dirty="0">
                    <a:latin typeface="Arial" panose="020B0604020202020204" pitchFamily="34" charset="0"/>
                    <a:cs typeface="Arial" panose="020B0604020202020204" pitchFamily="34" charset="0"/>
                  </a:rPr>
                  <a:t> i.e., we can write </a:t>
                </a:r>
                <a14:m>
                  <m:oMath xmlns:m="http://schemas.openxmlformats.org/officeDocument/2006/math">
                    <m:r>
                      <a:rPr lang="en-US" sz="1900" i="1">
                        <a:latin typeface="Cambria Math" panose="02040503050406030204" pitchFamily="18" charset="0"/>
                      </a:rPr>
                      <m:t>𝐵</m:t>
                    </m:r>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b="0" i="1" smtClean="0">
                            <a:latin typeface="Cambria Math" panose="02040503050406030204" pitchFamily="18" charset="0"/>
                          </a:rPr>
                          <m:t>(</m:t>
                        </m:r>
                        <m:r>
                          <a:rPr lang="en-US" sz="1900" i="1">
                            <a:latin typeface="Cambria Math" panose="02040503050406030204" pitchFamily="18" charset="0"/>
                          </a:rPr>
                          <m:t>𝐴</m:t>
                        </m:r>
                      </m:e>
                      <m:sub>
                        <m:r>
                          <a:rPr lang="en-US" sz="1900" i="1">
                            <a:latin typeface="Cambria Math" panose="02040503050406030204" pitchFamily="18" charset="0"/>
                          </a:rPr>
                          <m:t>1</m:t>
                        </m:r>
                      </m:sub>
                    </m:sSub>
                    <m:r>
                      <a:rPr lang="en-US" sz="1900" i="1">
                        <a:latin typeface="Cambria Math" panose="02040503050406030204" pitchFamily="18" charset="0"/>
                      </a:rPr>
                      <m:t>𝐵</m:t>
                    </m:r>
                    <m:r>
                      <a:rPr lang="en-US" sz="1900" b="0" i="1" smtClean="0">
                        <a:latin typeface="Cambria Math" panose="02040503050406030204" pitchFamily="18" charset="0"/>
                      </a:rPr>
                      <m:t>)</m:t>
                    </m:r>
                    <m:r>
                      <a:rPr lang="en-US" sz="1900" b="0" i="1" smtClean="0">
                        <a:latin typeface="Cambria Math" panose="02040503050406030204" pitchFamily="18" charset="0"/>
                      </a:rPr>
                      <m:t>𝑈</m:t>
                    </m:r>
                    <m:sSub>
                      <m:sSubPr>
                        <m:ctrlPr>
                          <a:rPr lang="en-US" sz="1900" i="1">
                            <a:latin typeface="Cambria Math" panose="02040503050406030204" pitchFamily="18" charset="0"/>
                          </a:rPr>
                        </m:ctrlPr>
                      </m:sSubPr>
                      <m:e>
                        <m:r>
                          <a:rPr lang="en-US" sz="1900" b="0" i="1" smtClean="0">
                            <a:latin typeface="Cambria Math" panose="02040503050406030204" pitchFamily="18" charset="0"/>
                          </a:rPr>
                          <m:t>(</m:t>
                        </m:r>
                        <m:r>
                          <a:rPr lang="en-US" sz="1900" i="1">
                            <a:latin typeface="Cambria Math" panose="02040503050406030204" pitchFamily="18" charset="0"/>
                          </a:rPr>
                          <m:t>𝐴</m:t>
                        </m:r>
                      </m:e>
                      <m:sub>
                        <m:r>
                          <a:rPr lang="en-US" sz="1900" i="1">
                            <a:latin typeface="Cambria Math" panose="02040503050406030204" pitchFamily="18" charset="0"/>
                          </a:rPr>
                          <m:t>2</m:t>
                        </m:r>
                      </m:sub>
                    </m:sSub>
                    <m:r>
                      <a:rPr lang="en-US" sz="1900" i="1">
                        <a:latin typeface="Cambria Math" panose="02040503050406030204" pitchFamily="18" charset="0"/>
                      </a:rPr>
                      <m:t>𝐵</m:t>
                    </m:r>
                    <m:r>
                      <a:rPr lang="en-US" sz="1900" b="0" i="1" smtClean="0">
                        <a:latin typeface="Cambria Math" panose="02040503050406030204" pitchFamily="18" charset="0"/>
                      </a:rPr>
                      <m:t>)</m:t>
                    </m:r>
                    <m:r>
                      <a:rPr lang="en-US" sz="1900" b="0" i="1" smtClean="0">
                        <a:latin typeface="Cambria Math" panose="02040503050406030204" pitchFamily="18" charset="0"/>
                      </a:rPr>
                      <m:t>𝑈</m:t>
                    </m:r>
                    <m:r>
                      <a:rPr lang="en-US" sz="1900" i="1">
                        <a:latin typeface="Cambria Math" panose="02040503050406030204" pitchFamily="18" charset="0"/>
                      </a:rPr>
                      <m:t>…</m:t>
                    </m:r>
                    <m:r>
                      <a:rPr lang="en-US" sz="1900" b="0" i="1" smtClean="0">
                        <a:latin typeface="Cambria Math" panose="02040503050406030204" pitchFamily="18" charset="0"/>
                      </a:rPr>
                      <m:t>𝑈</m:t>
                    </m:r>
                    <m:sSub>
                      <m:sSubPr>
                        <m:ctrlPr>
                          <a:rPr lang="en-US" sz="1900" i="1">
                            <a:latin typeface="Cambria Math" panose="02040503050406030204" pitchFamily="18" charset="0"/>
                          </a:rPr>
                        </m:ctrlPr>
                      </m:sSubPr>
                      <m:e>
                        <m:r>
                          <a:rPr lang="en-US" sz="1900" b="0" i="1" smtClean="0">
                            <a:latin typeface="Cambria Math" panose="02040503050406030204" pitchFamily="18" charset="0"/>
                          </a:rPr>
                          <m:t>(</m:t>
                        </m:r>
                        <m:r>
                          <a:rPr lang="en-US" sz="1900" i="1">
                            <a:latin typeface="Cambria Math" panose="02040503050406030204" pitchFamily="18" charset="0"/>
                          </a:rPr>
                          <m:t>𝐴</m:t>
                        </m:r>
                      </m:e>
                      <m:sub>
                        <m:r>
                          <a:rPr lang="en-US" sz="1900" i="1">
                            <a:latin typeface="Cambria Math" panose="02040503050406030204" pitchFamily="18" charset="0"/>
                          </a:rPr>
                          <m:t>𝑛</m:t>
                        </m:r>
                      </m:sub>
                    </m:sSub>
                    <m:r>
                      <a:rPr lang="en-US" sz="1900" i="1">
                        <a:latin typeface="Cambria Math" panose="02040503050406030204" pitchFamily="18" charset="0"/>
                      </a:rPr>
                      <m:t>𝐵</m:t>
                    </m:r>
                  </m:oMath>
                </a14:m>
                <a:r>
                  <a:rPr lang="en-US" sz="1900" dirty="0">
                    <a:latin typeface="Arial" panose="020B0604020202020204" pitchFamily="34" charset="0"/>
                    <a:cs typeface="Arial" panose="020B0604020202020204" pitchFamily="34" charset="0"/>
                  </a:rPr>
                  <a:t>).              Hence, </a:t>
                </a:r>
                <a14:m>
                  <m:oMath xmlns:m="http://schemas.openxmlformats.org/officeDocument/2006/math">
                    <m:r>
                      <a:rPr lang="en-US" sz="1900" i="1">
                        <a:latin typeface="Cambria Math" panose="02040503050406030204" pitchFamily="18" charset="0"/>
                      </a:rPr>
                      <m:t>𝑃</m:t>
                    </m:r>
                    <m:r>
                      <a:rPr lang="en-US" sz="1900" i="1">
                        <a:latin typeface="Cambria Math" panose="02040503050406030204" pitchFamily="18" charset="0"/>
                      </a:rPr>
                      <m:t>(</m:t>
                    </m:r>
                    <m:r>
                      <a:rPr lang="en-US" sz="1900" i="1">
                        <a:latin typeface="Cambria Math" panose="02040503050406030204" pitchFamily="18" charset="0"/>
                      </a:rPr>
                      <m:t>𝐵</m:t>
                    </m:r>
                    <m:r>
                      <a:rPr lang="en-US" sz="1900" i="1">
                        <a:latin typeface="Cambria Math" panose="02040503050406030204" pitchFamily="18" charset="0"/>
                      </a:rPr>
                      <m:t>)=</m:t>
                    </m:r>
                    <m:r>
                      <a:rPr lang="en-US" sz="1900" i="1">
                        <a:latin typeface="Cambria Math" panose="02040503050406030204" pitchFamily="18" charset="0"/>
                      </a:rPr>
                      <m:t>𝑃</m:t>
                    </m:r>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1</m:t>
                        </m:r>
                      </m:sub>
                    </m:sSub>
                    <m:r>
                      <a:rPr lang="en-US" sz="1900" i="1">
                        <a:latin typeface="Cambria Math" panose="02040503050406030204" pitchFamily="18" charset="0"/>
                      </a:rPr>
                      <m:t>𝐵</m:t>
                    </m:r>
                    <m:r>
                      <a:rPr lang="en-US" sz="1900" i="1">
                        <a:latin typeface="Cambria Math" panose="02040503050406030204" pitchFamily="18" charset="0"/>
                      </a:rPr>
                      <m:t>)+</m:t>
                    </m:r>
                    <m:r>
                      <a:rPr lang="en-US" sz="1900" i="1">
                        <a:latin typeface="Cambria Math" panose="02040503050406030204" pitchFamily="18" charset="0"/>
                      </a:rPr>
                      <m:t>𝑃</m:t>
                    </m:r>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2</m:t>
                        </m:r>
                      </m:sub>
                    </m:sSub>
                    <m:r>
                      <a:rPr lang="en-US" sz="1900" i="1">
                        <a:latin typeface="Cambria Math" panose="02040503050406030204" pitchFamily="18" charset="0"/>
                      </a:rPr>
                      <m:t>𝐵</m:t>
                    </m:r>
                    <m:r>
                      <a:rPr lang="en-US" sz="1900" i="1">
                        <a:latin typeface="Cambria Math" panose="02040503050406030204" pitchFamily="18" charset="0"/>
                      </a:rPr>
                      <m:t>)+…+</m:t>
                    </m:r>
                    <m:r>
                      <a:rPr lang="en-US" sz="1900" i="1">
                        <a:latin typeface="Cambria Math" panose="02040503050406030204" pitchFamily="18" charset="0"/>
                      </a:rPr>
                      <m:t>𝑃</m:t>
                    </m:r>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𝑛</m:t>
                        </m:r>
                      </m:sub>
                    </m:sSub>
                    <m:r>
                      <a:rPr lang="en-US" sz="1900" i="1">
                        <a:latin typeface="Cambria Math" panose="02040503050406030204" pitchFamily="18" charset="0"/>
                      </a:rPr>
                      <m:t>𝐵</m:t>
                    </m:r>
                    <m:r>
                      <a:rPr lang="en-US" sz="1900" i="1">
                        <a:latin typeface="Cambria Math" panose="02040503050406030204" pitchFamily="18" charset="0"/>
                      </a:rPr>
                      <m:t>)</m:t>
                    </m:r>
                  </m:oMath>
                </a14:m>
                <a:endParaRPr lang="en-US" sz="1900" dirty="0">
                  <a:latin typeface="Arial" panose="020B0604020202020204" pitchFamily="34" charset="0"/>
                  <a:cs typeface="Arial" panose="020B0604020202020204" pitchFamily="34" charset="0"/>
                </a:endParaRPr>
              </a:p>
              <a:p>
                <a:r>
                  <a:rPr lang="en-US" sz="1900" dirty="0">
                    <a:latin typeface="Arial" panose="020B0604020202020204" pitchFamily="34" charset="0"/>
                    <a:cs typeface="Arial" panose="020B0604020202020204" pitchFamily="34" charset="0"/>
                  </a:rPr>
                  <a:t>Using conditional probability we can write, </a:t>
                </a:r>
                <a14:m>
                  <m:oMath xmlns:m="http://schemas.openxmlformats.org/officeDocument/2006/math">
                    <m:r>
                      <a:rPr lang="en-US" sz="1900" i="1">
                        <a:latin typeface="Cambria Math" panose="02040503050406030204" pitchFamily="18" charset="0"/>
                      </a:rPr>
                      <m:t>𝑃</m:t>
                    </m:r>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𝑖</m:t>
                            </m:r>
                          </m:sub>
                        </m:sSub>
                        <m:r>
                          <a:rPr lang="en-US" sz="1900" i="1">
                            <a:latin typeface="Cambria Math" panose="02040503050406030204" pitchFamily="18" charset="0"/>
                          </a:rPr>
                          <m:t>𝐵</m:t>
                        </m:r>
                      </m:e>
                    </m:d>
                    <m:r>
                      <a:rPr lang="en-US" sz="1900" i="1">
                        <a:latin typeface="Cambria Math" panose="02040503050406030204" pitchFamily="18" charset="0"/>
                      </a:rPr>
                      <m:t>=</m:t>
                    </m:r>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𝐵</m:t>
                        </m:r>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𝑖</m:t>
                            </m:r>
                          </m:sub>
                        </m:sSub>
                      </m:e>
                    </m:d>
                    <m:r>
                      <a:rPr lang="en-US" sz="1900" i="1">
                        <a:latin typeface="Cambria Math" panose="02040503050406030204" pitchFamily="18" charset="0"/>
                      </a:rPr>
                      <m:t>𝑃</m:t>
                    </m:r>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𝑖</m:t>
                            </m:r>
                          </m:sub>
                        </m:sSub>
                      </m:e>
                    </m:d>
                  </m:oMath>
                </a14:m>
                <a:r>
                  <a:rPr lang="en-US" sz="1900" dirty="0">
                    <a:latin typeface="Arial" panose="020B0604020202020204" pitchFamily="34" charset="0"/>
                    <a:cs typeface="Arial" panose="020B0604020202020204" pitchFamily="34" charset="0"/>
                  </a:rPr>
                  <a:t> for </a:t>
                </a:r>
                <a14:m>
                  <m:oMath xmlns:m="http://schemas.openxmlformats.org/officeDocument/2006/math">
                    <m:r>
                      <a:rPr lang="en-US" sz="1900" i="1">
                        <a:latin typeface="Cambria Math" panose="02040503050406030204" pitchFamily="18" charset="0"/>
                      </a:rPr>
                      <m:t>𝑖</m:t>
                    </m:r>
                    <m:r>
                      <a:rPr lang="en-US" sz="1900" i="1">
                        <a:latin typeface="Cambria Math" panose="02040503050406030204" pitchFamily="18" charset="0"/>
                      </a:rPr>
                      <m:t>= 1, 2, …, </m:t>
                    </m:r>
                    <m:r>
                      <a:rPr lang="en-US" sz="1900" i="1">
                        <a:latin typeface="Cambria Math" panose="02040503050406030204" pitchFamily="18" charset="0"/>
                      </a:rPr>
                      <m:t>𝑛</m:t>
                    </m:r>
                  </m:oMath>
                </a14:m>
                <a:endParaRPr lang="en-US" sz="1900" dirty="0">
                  <a:latin typeface="Arial" panose="020B0604020202020204" pitchFamily="34" charset="0"/>
                  <a:cs typeface="Arial" panose="020B0604020202020204" pitchFamily="34" charset="0"/>
                </a:endParaRPr>
              </a:p>
              <a:p>
                <a:r>
                  <a:rPr lang="en-US" sz="1900" dirty="0">
                    <a:latin typeface="Arial" panose="020B0604020202020204" pitchFamily="34" charset="0"/>
                    <a:cs typeface="Arial" panose="020B0604020202020204" pitchFamily="34" charset="0"/>
                  </a:rPr>
                  <a:t>Hence, </a:t>
                </a:r>
                <a14:m>
                  <m:oMath xmlns:m="http://schemas.openxmlformats.org/officeDocument/2006/math">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𝐵</m:t>
                        </m:r>
                      </m:e>
                    </m:d>
                    <m:r>
                      <a:rPr lang="en-US" sz="1900" i="1">
                        <a:latin typeface="Cambria Math" panose="02040503050406030204" pitchFamily="18" charset="0"/>
                      </a:rPr>
                      <m:t>=</m:t>
                    </m:r>
                    <m:nary>
                      <m:naryPr>
                        <m:chr m:val="∑"/>
                        <m:limLoc m:val="subSup"/>
                        <m:ctrlPr>
                          <a:rPr lang="en-US" sz="1900" i="1">
                            <a:latin typeface="Cambria Math" panose="02040503050406030204" pitchFamily="18" charset="0"/>
                          </a:rPr>
                        </m:ctrlPr>
                      </m:naryPr>
                      <m:sub>
                        <m:r>
                          <a:rPr lang="en-US" sz="1900" i="1">
                            <a:latin typeface="Cambria Math" panose="02040503050406030204" pitchFamily="18" charset="0"/>
                          </a:rPr>
                          <m:t>𝑖</m:t>
                        </m:r>
                        <m:r>
                          <a:rPr lang="en-US" sz="1900" i="1">
                            <a:latin typeface="Cambria Math" panose="02040503050406030204" pitchFamily="18" charset="0"/>
                          </a:rPr>
                          <m:t>=1</m:t>
                        </m:r>
                      </m:sub>
                      <m:sup>
                        <m:r>
                          <a:rPr lang="en-US" sz="1900" i="1">
                            <a:latin typeface="Cambria Math" panose="02040503050406030204" pitchFamily="18" charset="0"/>
                          </a:rPr>
                          <m:t>𝑛</m:t>
                        </m:r>
                      </m:sup>
                      <m:e>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𝐵</m:t>
                            </m:r>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𝑖</m:t>
                                </m:r>
                              </m:sub>
                            </m:sSub>
                          </m:e>
                        </m:d>
                        <m:r>
                          <a:rPr lang="en-US" sz="1900" i="1">
                            <a:latin typeface="Cambria Math" panose="02040503050406030204" pitchFamily="18" charset="0"/>
                          </a:rPr>
                          <m:t>𝑃</m:t>
                        </m:r>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𝑖</m:t>
                                </m:r>
                              </m:sub>
                            </m:sSub>
                          </m:e>
                        </m:d>
                      </m:e>
                    </m:nary>
                  </m:oMath>
                </a14:m>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9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366604"/>
                <a:ext cx="10831132" cy="6491395"/>
              </a:xfrm>
              <a:blipFill rotWithShape="0">
                <a:blip r:embed="rId2"/>
                <a:stretch>
                  <a:fillRect l="-450" r="-506" b="-10798"/>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2756647" y="1815354"/>
            <a:ext cx="5521910" cy="3025588"/>
          </a:xfrm>
          <a:prstGeom prst="rect">
            <a:avLst/>
          </a:prstGeom>
        </p:spPr>
      </p:pic>
    </p:spTree>
    <p:extLst>
      <p:ext uri="{BB962C8B-B14F-4D97-AF65-F5344CB8AC3E}">
        <p14:creationId xmlns:p14="http://schemas.microsoft.com/office/powerpoint/2010/main" val="2417419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5"/>
            <a:ext cx="9144000" cy="414962"/>
          </a:xfrm>
        </p:spPr>
        <p:txBody>
          <a:bodyPr>
            <a:noAutofit/>
          </a:bodyPr>
          <a:lstStyle/>
          <a:p>
            <a:r>
              <a:rPr lang="en-US" sz="2400" b="1" dirty="0">
                <a:latin typeface="Arial" panose="020B0604020202020204" pitchFamily="34" charset="0"/>
                <a:cs typeface="Arial" panose="020B0604020202020204" pitchFamily="34" charset="0"/>
              </a:rPr>
              <a:t>Law of total probability (</a:t>
            </a:r>
            <a:r>
              <a:rPr lang="en-US" sz="2400" b="1" dirty="0" err="1">
                <a:latin typeface="Arial" panose="020B0604020202020204" pitchFamily="34" charset="0"/>
                <a:cs typeface="Arial" panose="020B0604020202020204" pitchFamily="34" charset="0"/>
              </a:rPr>
              <a:t>cont</a:t>
            </a:r>
            <a:r>
              <a:rPr lang="en-US" sz="2400" b="1"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675886"/>
                <a:ext cx="10831132" cy="6182114"/>
              </a:xfrm>
            </p:spPr>
            <p:txBody>
              <a:bodyPr>
                <a:noAutofit/>
              </a:bodyPr>
              <a:lstStyle/>
              <a:p>
                <a:pPr marL="342900" indent="-342900" algn="just">
                  <a:lnSpc>
                    <a:spcPct val="150000"/>
                  </a:lnSpc>
                  <a:buFont typeface="Arial" panose="020B0604020202020204" pitchFamily="34" charset="0"/>
                  <a:buChar char="•"/>
                </a:pPr>
                <a:r>
                  <a:rPr lang="en-US" sz="1900" b="1" dirty="0">
                    <a:latin typeface="Arial" panose="020B0604020202020204" pitchFamily="34" charset="0"/>
                    <a:cs typeface="Arial" panose="020B0604020202020204" pitchFamily="34" charset="0"/>
                  </a:rPr>
                  <a:t>Example:</a:t>
                </a:r>
                <a:r>
                  <a:rPr lang="en-US" sz="1900" dirty="0">
                    <a:latin typeface="Arial" panose="020B0604020202020204" pitchFamily="34" charset="0"/>
                    <a:cs typeface="Arial" panose="020B0604020202020204" pitchFamily="34" charset="0"/>
                  </a:rPr>
                  <a:t> A company produces machine components which pass through an automatic testing machine. If a component is identified as defective by the system it then be rejected. A total of 5% of the components entering the testing machine are defective. However, the automatic testing machine is not entirely reliable. In this process, 4% of the defective components will not be rejected but 7% of the non-defective components will be rejected. Suppose a randomly selected machine component passed through the testing machine, find the probability that (</a:t>
                </a:r>
                <a:r>
                  <a:rPr lang="en-US" sz="1900" dirty="0" err="1">
                    <a:latin typeface="Arial" panose="020B0604020202020204" pitchFamily="34" charset="0"/>
                    <a:cs typeface="Arial" panose="020B0604020202020204" pitchFamily="34" charset="0"/>
                  </a:rPr>
                  <a:t>i</a:t>
                </a:r>
                <a:r>
                  <a:rPr lang="en-US" sz="1900" dirty="0">
                    <a:latin typeface="Arial" panose="020B0604020202020204" pitchFamily="34" charset="0"/>
                    <a:cs typeface="Arial" panose="020B0604020202020204" pitchFamily="34" charset="0"/>
                  </a:rPr>
                  <a:t>) the component is rejected by the process and it is actually defective (ii) the component is rejected by the process but it is actually non-defective (iii) the component is rejected by the process. </a:t>
                </a:r>
              </a:p>
              <a:p>
                <a:pPr marL="342900" indent="-342900" algn="just">
                  <a:lnSpc>
                    <a:spcPct val="150000"/>
                  </a:lnSpc>
                  <a:buFont typeface="Arial" panose="020B0604020202020204" pitchFamily="34" charset="0"/>
                  <a:buChar char="•"/>
                </a:pPr>
                <a:r>
                  <a:rPr lang="en-US" sz="1900" b="1" dirty="0">
                    <a:latin typeface="Arial" panose="020B0604020202020204" pitchFamily="34" charset="0"/>
                    <a:cs typeface="Arial" panose="020B0604020202020204" pitchFamily="34" charset="0"/>
                  </a:rPr>
                  <a:t>Solution</a:t>
                </a:r>
                <a:r>
                  <a:rPr lang="en-US" sz="1900" dirty="0">
                    <a:latin typeface="Arial" panose="020B0604020202020204" pitchFamily="34" charset="0"/>
                    <a:cs typeface="Arial" panose="020B0604020202020204" pitchFamily="34" charset="0"/>
                  </a:rPr>
                  <a:t>: Let </a:t>
                </a:r>
                <a14:m>
                  <m:oMath xmlns:m="http://schemas.openxmlformats.org/officeDocument/2006/math">
                    <m:r>
                      <a:rPr lang="en-US" sz="1900">
                        <a:latin typeface="Cambria Math" panose="02040503050406030204" pitchFamily="18" charset="0"/>
                        <a:cs typeface="Arial" panose="020B0604020202020204" pitchFamily="34" charset="0"/>
                      </a:rPr>
                      <m:t>𝐵</m:t>
                    </m:r>
                  </m:oMath>
                </a14:m>
                <a:r>
                  <a:rPr lang="en-US" sz="1900" dirty="0">
                    <a:latin typeface="Arial" panose="020B0604020202020204" pitchFamily="34" charset="0"/>
                    <a:cs typeface="Arial" panose="020B0604020202020204" pitchFamily="34" charset="0"/>
                  </a:rPr>
                  <a:t>: the component identified as defective by the system and hence rejected, </a:t>
                </a:r>
                <a14:m>
                  <m:oMath xmlns:m="http://schemas.openxmlformats.org/officeDocument/2006/math">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a:latin typeface="Cambria Math" panose="02040503050406030204" pitchFamily="18" charset="0"/>
                            <a:cs typeface="Arial" panose="020B0604020202020204" pitchFamily="34" charset="0"/>
                          </a:rPr>
                          <m:t>1</m:t>
                        </m:r>
                      </m:sub>
                    </m:sSub>
                  </m:oMath>
                </a14:m>
                <a:r>
                  <a:rPr lang="en-US" sz="1900" dirty="0">
                    <a:latin typeface="Arial" panose="020B0604020202020204" pitchFamily="34" charset="0"/>
                    <a:cs typeface="Arial" panose="020B0604020202020204" pitchFamily="34" charset="0"/>
                  </a:rPr>
                  <a:t>: the component is actually defective, </a:t>
                </a:r>
                <a14:m>
                  <m:oMath xmlns:m="http://schemas.openxmlformats.org/officeDocument/2006/math">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a:latin typeface="Cambria Math" panose="02040503050406030204" pitchFamily="18" charset="0"/>
                            <a:cs typeface="Arial" panose="020B0604020202020204" pitchFamily="34" charset="0"/>
                          </a:rPr>
                          <m:t>2</m:t>
                        </m:r>
                      </m:sub>
                    </m:sSub>
                  </m:oMath>
                </a14:m>
                <a:r>
                  <a:rPr lang="en-US" sz="1900" dirty="0">
                    <a:latin typeface="Arial" panose="020B0604020202020204" pitchFamily="34" charset="0"/>
                    <a:cs typeface="Arial" panose="020B0604020202020204" pitchFamily="34" charset="0"/>
                  </a:rPr>
                  <a:t>: the component is actually non-defective.                     </a:t>
                </a:r>
                <a:r>
                  <a:rPr lang="en-US" sz="1800" dirty="0">
                    <a:latin typeface="Arial" panose="020B0604020202020204" pitchFamily="34" charset="0"/>
                    <a:cs typeface="Arial" panose="020B0604020202020204" pitchFamily="34" charset="0"/>
                  </a:rPr>
                  <a:t>We have</a:t>
                </a:r>
                <a14:m>
                  <m:oMath xmlns:m="http://schemas.openxmlformats.org/officeDocument/2006/math">
                    <m:r>
                      <a:rPr lang="en-US" sz="1800">
                        <a:latin typeface="Cambria Math" panose="02040503050406030204" pitchFamily="18" charset="0"/>
                        <a:cs typeface="Arial" panose="020B0604020202020204" pitchFamily="34" charset="0"/>
                      </a:rPr>
                      <m:t>𝑃</m:t>
                    </m:r>
                    <m:d>
                      <m:dPr>
                        <m:ctrlPr>
                          <a:rPr lang="en-US" sz="1800" i="1">
                            <a:latin typeface="Cambria Math" panose="02040503050406030204" pitchFamily="18" charset="0"/>
                            <a:cs typeface="Arial" panose="020B0604020202020204" pitchFamily="34" charset="0"/>
                          </a:rPr>
                        </m:ctrlPr>
                      </m:dPr>
                      <m:e>
                        <m:sSub>
                          <m:sSubPr>
                            <m:ctrlPr>
                              <a:rPr lang="en-US" sz="1800" i="1">
                                <a:latin typeface="Cambria Math" panose="02040503050406030204" pitchFamily="18" charset="0"/>
                                <a:cs typeface="Arial" panose="020B0604020202020204" pitchFamily="34" charset="0"/>
                              </a:rPr>
                            </m:ctrlPr>
                          </m:sSubPr>
                          <m:e>
                            <m:r>
                              <a:rPr lang="en-US" sz="1800">
                                <a:latin typeface="Cambria Math" panose="02040503050406030204" pitchFamily="18" charset="0"/>
                                <a:cs typeface="Arial" panose="020B0604020202020204" pitchFamily="34" charset="0"/>
                              </a:rPr>
                              <m:t>𝐴</m:t>
                            </m:r>
                          </m:e>
                          <m:sub>
                            <m:r>
                              <a:rPr lang="en-US" sz="1800">
                                <a:latin typeface="Cambria Math" panose="02040503050406030204" pitchFamily="18" charset="0"/>
                                <a:cs typeface="Arial" panose="020B0604020202020204" pitchFamily="34" charset="0"/>
                              </a:rPr>
                              <m:t>1</m:t>
                            </m:r>
                          </m:sub>
                        </m:sSub>
                      </m:e>
                    </m:d>
                    <m:r>
                      <a:rPr lang="en-US" sz="1800">
                        <a:latin typeface="Cambria Math" panose="02040503050406030204" pitchFamily="18" charset="0"/>
                        <a:cs typeface="Arial" panose="020B0604020202020204" pitchFamily="34" charset="0"/>
                      </a:rPr>
                      <m:t>= 0.05, </m:t>
                    </m:r>
                    <m:r>
                      <a:rPr lang="en-US" sz="1800">
                        <a:latin typeface="Cambria Math" panose="02040503050406030204" pitchFamily="18" charset="0"/>
                        <a:cs typeface="Arial" panose="020B0604020202020204" pitchFamily="34" charset="0"/>
                      </a:rPr>
                      <m:t>𝑃</m:t>
                    </m:r>
                    <m:d>
                      <m:dPr>
                        <m:ctrlPr>
                          <a:rPr lang="en-US" sz="1800" i="1">
                            <a:latin typeface="Cambria Math" panose="02040503050406030204" pitchFamily="18" charset="0"/>
                            <a:cs typeface="Arial" panose="020B0604020202020204" pitchFamily="34" charset="0"/>
                          </a:rPr>
                        </m:ctrlPr>
                      </m:dPr>
                      <m:e>
                        <m:sSub>
                          <m:sSubPr>
                            <m:ctrlPr>
                              <a:rPr lang="en-US" sz="1800" i="1">
                                <a:latin typeface="Cambria Math" panose="02040503050406030204" pitchFamily="18" charset="0"/>
                                <a:cs typeface="Arial" panose="020B0604020202020204" pitchFamily="34" charset="0"/>
                              </a:rPr>
                            </m:ctrlPr>
                          </m:sSubPr>
                          <m:e>
                            <m:r>
                              <a:rPr lang="en-US" sz="1800">
                                <a:latin typeface="Cambria Math" panose="02040503050406030204" pitchFamily="18" charset="0"/>
                                <a:cs typeface="Arial" panose="020B0604020202020204" pitchFamily="34" charset="0"/>
                              </a:rPr>
                              <m:t>𝐴</m:t>
                            </m:r>
                          </m:e>
                          <m:sub>
                            <m:r>
                              <a:rPr lang="en-US" sz="1800">
                                <a:latin typeface="Cambria Math" panose="02040503050406030204" pitchFamily="18" charset="0"/>
                                <a:cs typeface="Arial" panose="020B0604020202020204" pitchFamily="34" charset="0"/>
                              </a:rPr>
                              <m:t>2</m:t>
                            </m:r>
                          </m:sub>
                        </m:sSub>
                      </m:e>
                    </m:d>
                    <m:r>
                      <a:rPr lang="en-US" sz="1800">
                        <a:latin typeface="Cambria Math" panose="02040503050406030204" pitchFamily="18" charset="0"/>
                        <a:cs typeface="Arial" panose="020B0604020202020204" pitchFamily="34" charset="0"/>
                      </a:rPr>
                      <m:t>=</m:t>
                    </m:r>
                    <m:r>
                      <a:rPr lang="en-US" sz="1800">
                        <a:latin typeface="Cambria Math" panose="02040503050406030204" pitchFamily="18" charset="0"/>
                        <a:cs typeface="Arial" panose="020B0604020202020204" pitchFamily="34" charset="0"/>
                      </a:rPr>
                      <m:t>𝑃</m:t>
                    </m:r>
                    <m:d>
                      <m:dPr>
                        <m:ctrlPr>
                          <a:rPr lang="en-US" sz="1800" i="1">
                            <a:latin typeface="Cambria Math" panose="02040503050406030204" pitchFamily="18" charset="0"/>
                            <a:cs typeface="Arial" panose="020B0604020202020204" pitchFamily="34" charset="0"/>
                          </a:rPr>
                        </m:ctrlPr>
                      </m:dPr>
                      <m:e>
                        <m:sSubSup>
                          <m:sSubSupPr>
                            <m:ctrlPr>
                              <a:rPr lang="en-US" sz="1800" i="1">
                                <a:latin typeface="Cambria Math" panose="02040503050406030204" pitchFamily="18" charset="0"/>
                                <a:cs typeface="Arial" panose="020B0604020202020204" pitchFamily="34" charset="0"/>
                              </a:rPr>
                            </m:ctrlPr>
                          </m:sSubSupPr>
                          <m:e>
                            <m:r>
                              <a:rPr lang="en-US" sz="1800">
                                <a:latin typeface="Cambria Math" panose="02040503050406030204" pitchFamily="18" charset="0"/>
                                <a:cs typeface="Arial" panose="020B0604020202020204" pitchFamily="34" charset="0"/>
                              </a:rPr>
                              <m:t>𝐴</m:t>
                            </m:r>
                          </m:e>
                          <m:sub>
                            <m:r>
                              <a:rPr lang="en-US" sz="1800">
                                <a:latin typeface="Cambria Math" panose="02040503050406030204" pitchFamily="18" charset="0"/>
                                <a:cs typeface="Arial" panose="020B0604020202020204" pitchFamily="34" charset="0"/>
                              </a:rPr>
                              <m:t>1</m:t>
                            </m:r>
                          </m:sub>
                          <m:sup>
                            <m:r>
                              <a:rPr lang="en-US" sz="1800">
                                <a:latin typeface="Cambria Math" panose="02040503050406030204" pitchFamily="18" charset="0"/>
                                <a:cs typeface="Arial" panose="020B0604020202020204" pitchFamily="34" charset="0"/>
                              </a:rPr>
                              <m:t>𝑐</m:t>
                            </m:r>
                          </m:sup>
                        </m:sSubSup>
                      </m:e>
                    </m:d>
                    <m:r>
                      <a:rPr lang="en-US" sz="1800">
                        <a:latin typeface="Cambria Math" panose="02040503050406030204" pitchFamily="18" charset="0"/>
                        <a:cs typeface="Arial" panose="020B0604020202020204" pitchFamily="34" charset="0"/>
                      </a:rPr>
                      <m:t>=0.95, </m:t>
                    </m:r>
                    <m:r>
                      <a:rPr lang="en-US" sz="1800">
                        <a:latin typeface="Cambria Math" panose="02040503050406030204" pitchFamily="18" charset="0"/>
                        <a:cs typeface="Arial" panose="020B0604020202020204" pitchFamily="34" charset="0"/>
                      </a:rPr>
                      <m:t>𝑃</m:t>
                    </m:r>
                    <m:d>
                      <m:dPr>
                        <m:ctrlPr>
                          <a:rPr lang="en-US" sz="1800" i="1">
                            <a:latin typeface="Cambria Math" panose="02040503050406030204" pitchFamily="18" charset="0"/>
                            <a:cs typeface="Arial" panose="020B0604020202020204" pitchFamily="34" charset="0"/>
                          </a:rPr>
                        </m:ctrlPr>
                      </m:dPr>
                      <m:e>
                        <m:sSup>
                          <m:sSupPr>
                            <m:ctrlPr>
                              <a:rPr lang="en-US" sz="1800" i="1">
                                <a:latin typeface="Cambria Math" panose="02040503050406030204" pitchFamily="18" charset="0"/>
                                <a:cs typeface="Arial" panose="020B0604020202020204" pitchFamily="34" charset="0"/>
                              </a:rPr>
                            </m:ctrlPr>
                          </m:sSupPr>
                          <m:e>
                            <m:r>
                              <a:rPr lang="en-US" sz="1800">
                                <a:latin typeface="Cambria Math" panose="02040503050406030204" pitchFamily="18" charset="0"/>
                                <a:cs typeface="Arial" panose="020B0604020202020204" pitchFamily="34" charset="0"/>
                              </a:rPr>
                              <m:t>𝐵</m:t>
                            </m:r>
                          </m:e>
                          <m:sup>
                            <m:r>
                              <a:rPr lang="en-US" sz="1800">
                                <a:latin typeface="Cambria Math" panose="02040503050406030204" pitchFamily="18" charset="0"/>
                                <a:cs typeface="Arial" panose="020B0604020202020204" pitchFamily="34" charset="0"/>
                              </a:rPr>
                              <m:t>𝑐</m:t>
                            </m:r>
                          </m:sup>
                        </m:sSup>
                      </m:e>
                      <m:e>
                        <m:sSub>
                          <m:sSubPr>
                            <m:ctrlPr>
                              <a:rPr lang="en-US" sz="1800" i="1">
                                <a:latin typeface="Cambria Math" panose="02040503050406030204" pitchFamily="18" charset="0"/>
                                <a:cs typeface="Arial" panose="020B0604020202020204" pitchFamily="34" charset="0"/>
                              </a:rPr>
                            </m:ctrlPr>
                          </m:sSubPr>
                          <m:e>
                            <m:r>
                              <a:rPr lang="en-US" sz="1800">
                                <a:latin typeface="Cambria Math" panose="02040503050406030204" pitchFamily="18" charset="0"/>
                                <a:cs typeface="Arial" panose="020B0604020202020204" pitchFamily="34" charset="0"/>
                              </a:rPr>
                              <m:t>𝐴</m:t>
                            </m:r>
                          </m:e>
                          <m:sub>
                            <m:r>
                              <a:rPr lang="en-US" sz="1800">
                                <a:latin typeface="Cambria Math" panose="02040503050406030204" pitchFamily="18" charset="0"/>
                                <a:cs typeface="Arial" panose="020B0604020202020204" pitchFamily="34" charset="0"/>
                              </a:rPr>
                              <m:t>1</m:t>
                            </m:r>
                          </m:sub>
                        </m:sSub>
                      </m:e>
                    </m:d>
                    <m:r>
                      <a:rPr lang="en-US" sz="1800">
                        <a:latin typeface="Cambria Math" panose="02040503050406030204" pitchFamily="18" charset="0"/>
                        <a:cs typeface="Arial" panose="020B0604020202020204" pitchFamily="34" charset="0"/>
                      </a:rPr>
                      <m:t>= 0.04, </m:t>
                    </m:r>
                    <m:r>
                      <a:rPr lang="en-US" sz="1800">
                        <a:latin typeface="Cambria Math" panose="02040503050406030204" pitchFamily="18" charset="0"/>
                        <a:cs typeface="Arial" panose="020B0604020202020204" pitchFamily="34" charset="0"/>
                      </a:rPr>
                      <m:t>𝑃</m:t>
                    </m:r>
                    <m:d>
                      <m:dPr>
                        <m:ctrlPr>
                          <a:rPr lang="en-US" sz="1800" i="1">
                            <a:latin typeface="Cambria Math" panose="02040503050406030204" pitchFamily="18" charset="0"/>
                            <a:cs typeface="Arial" panose="020B0604020202020204" pitchFamily="34" charset="0"/>
                          </a:rPr>
                        </m:ctrlPr>
                      </m:dPr>
                      <m:e>
                        <m:r>
                          <a:rPr lang="en-US" sz="1800">
                            <a:latin typeface="Cambria Math" panose="02040503050406030204" pitchFamily="18" charset="0"/>
                            <a:cs typeface="Arial" panose="020B0604020202020204" pitchFamily="34" charset="0"/>
                          </a:rPr>
                          <m:t>𝐵</m:t>
                        </m:r>
                      </m:e>
                      <m:e>
                        <m:sSub>
                          <m:sSubPr>
                            <m:ctrlPr>
                              <a:rPr lang="en-US" sz="1800" i="1">
                                <a:latin typeface="Cambria Math" panose="02040503050406030204" pitchFamily="18" charset="0"/>
                                <a:cs typeface="Arial" panose="020B0604020202020204" pitchFamily="34" charset="0"/>
                              </a:rPr>
                            </m:ctrlPr>
                          </m:sSubPr>
                          <m:e>
                            <m:r>
                              <a:rPr lang="en-US" sz="1800">
                                <a:latin typeface="Cambria Math" panose="02040503050406030204" pitchFamily="18" charset="0"/>
                                <a:cs typeface="Arial" panose="020B0604020202020204" pitchFamily="34" charset="0"/>
                              </a:rPr>
                              <m:t>𝐴</m:t>
                            </m:r>
                          </m:e>
                          <m:sub>
                            <m:r>
                              <a:rPr lang="en-US" sz="1800">
                                <a:latin typeface="Cambria Math" panose="02040503050406030204" pitchFamily="18" charset="0"/>
                                <a:cs typeface="Arial" panose="020B0604020202020204" pitchFamily="34" charset="0"/>
                              </a:rPr>
                              <m:t>1</m:t>
                            </m:r>
                          </m:sub>
                        </m:sSub>
                      </m:e>
                    </m:d>
                    <m:r>
                      <a:rPr lang="en-US" sz="1800">
                        <a:latin typeface="Cambria Math" panose="02040503050406030204" pitchFamily="18" charset="0"/>
                        <a:cs typeface="Arial" panose="020B0604020202020204" pitchFamily="34" charset="0"/>
                      </a:rPr>
                      <m:t>= 0.96, </m:t>
                    </m:r>
                    <m:r>
                      <a:rPr lang="en-US" sz="1800">
                        <a:latin typeface="Cambria Math" panose="02040503050406030204" pitchFamily="18" charset="0"/>
                        <a:cs typeface="Arial" panose="020B0604020202020204" pitchFamily="34" charset="0"/>
                      </a:rPr>
                      <m:t>𝑃</m:t>
                    </m:r>
                    <m:d>
                      <m:dPr>
                        <m:ctrlPr>
                          <a:rPr lang="en-US" sz="1800" i="1">
                            <a:latin typeface="Cambria Math" panose="02040503050406030204" pitchFamily="18" charset="0"/>
                            <a:cs typeface="Arial" panose="020B0604020202020204" pitchFamily="34" charset="0"/>
                          </a:rPr>
                        </m:ctrlPr>
                      </m:dPr>
                      <m:e>
                        <m:r>
                          <a:rPr lang="en-US" sz="1800">
                            <a:latin typeface="Cambria Math" panose="02040503050406030204" pitchFamily="18" charset="0"/>
                            <a:cs typeface="Arial" panose="020B0604020202020204" pitchFamily="34" charset="0"/>
                          </a:rPr>
                          <m:t>𝐵</m:t>
                        </m:r>
                      </m:e>
                      <m:e>
                        <m:sSub>
                          <m:sSubPr>
                            <m:ctrlPr>
                              <a:rPr lang="en-US" sz="1800" i="1">
                                <a:latin typeface="Cambria Math" panose="02040503050406030204" pitchFamily="18" charset="0"/>
                                <a:cs typeface="Arial" panose="020B0604020202020204" pitchFamily="34" charset="0"/>
                              </a:rPr>
                            </m:ctrlPr>
                          </m:sSubPr>
                          <m:e>
                            <m:r>
                              <a:rPr lang="en-US" sz="1800">
                                <a:latin typeface="Cambria Math" panose="02040503050406030204" pitchFamily="18" charset="0"/>
                                <a:cs typeface="Arial" panose="020B0604020202020204" pitchFamily="34" charset="0"/>
                              </a:rPr>
                              <m:t>𝐴</m:t>
                            </m:r>
                          </m:e>
                          <m:sub>
                            <m:r>
                              <a:rPr lang="en-US" sz="1800">
                                <a:latin typeface="Cambria Math" panose="02040503050406030204" pitchFamily="18" charset="0"/>
                                <a:cs typeface="Arial" panose="020B0604020202020204" pitchFamily="34" charset="0"/>
                              </a:rPr>
                              <m:t>2</m:t>
                            </m:r>
                          </m:sub>
                        </m:sSub>
                      </m:e>
                    </m:d>
                    <m:r>
                      <a:rPr lang="en-US" sz="1800">
                        <a:latin typeface="Cambria Math" panose="02040503050406030204" pitchFamily="18" charset="0"/>
                        <a:cs typeface="Arial" panose="020B0604020202020204" pitchFamily="34" charset="0"/>
                      </a:rPr>
                      <m:t>= 0.07.</m:t>
                    </m:r>
                    <m:r>
                      <a:rPr lang="en-US" sz="1800" b="0" i="0" smtClean="0">
                        <a:latin typeface="Cambria Math" panose="02040503050406030204" pitchFamily="18" charset="0"/>
                        <a:cs typeface="Arial" panose="020B0604020202020204" pitchFamily="34" charset="0"/>
                      </a:rPr>
                      <m:t>  </m:t>
                    </m:r>
                  </m:oMath>
                </a14:m>
                <a:r>
                  <a:rPr lang="en-US" sz="1800" dirty="0">
                    <a:latin typeface="Arial" panose="020B0604020202020204" pitchFamily="34" charset="0"/>
                    <a:cs typeface="Arial" panose="020B0604020202020204" pitchFamily="34" charset="0"/>
                  </a:rPr>
                  <a:t>  Now, (</a:t>
                </a:r>
                <a:r>
                  <a:rPr lang="en-US" sz="1800" dirty="0" err="1">
                    <a:latin typeface="Arial" panose="020B0604020202020204" pitchFamily="34" charset="0"/>
                    <a:cs typeface="Arial" panose="020B0604020202020204" pitchFamily="34" charset="0"/>
                  </a:rPr>
                  <a:t>i</a:t>
                </a:r>
                <a:r>
                  <a:rPr lang="en-US" sz="1800" dirty="0">
                    <a:latin typeface="Arial" panose="020B0604020202020204" pitchFamily="34" charset="0"/>
                    <a:cs typeface="Arial" panose="020B0604020202020204" pitchFamily="34" charset="0"/>
                  </a:rPr>
                  <a:t>) </a:t>
                </a:r>
                <a14:m>
                  <m:oMath xmlns:m="http://schemas.openxmlformats.org/officeDocument/2006/math">
                    <m:r>
                      <a:rPr lang="en-US" sz="1800" i="1">
                        <a:latin typeface="Cambria Math" panose="02040503050406030204" pitchFamily="18" charset="0"/>
                      </a:rPr>
                      <m:t>𝑃</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1</m:t>
                            </m:r>
                          </m:sub>
                        </m:sSub>
                        <m:r>
                          <a:rPr lang="en-US" sz="1800" i="1">
                            <a:latin typeface="Cambria Math" panose="02040503050406030204" pitchFamily="18" charset="0"/>
                          </a:rPr>
                          <m:t>𝐵</m:t>
                        </m:r>
                      </m:e>
                    </m:d>
                    <m:r>
                      <a:rPr lang="en-US" sz="1800" i="1">
                        <a:latin typeface="Cambria Math" panose="02040503050406030204" pitchFamily="18" charset="0"/>
                      </a:rPr>
                      <m:t>=</m:t>
                    </m:r>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𝐵</m:t>
                        </m:r>
                        <m:r>
                          <a:rPr lang="en-US" sz="1800" i="1">
                            <a:latin typeface="Cambria Math" panose="02040503050406030204" pitchFamily="18" charset="0"/>
                          </a:rPr>
                          <m:t>|</m:t>
                        </m:r>
                        <m:sSub>
                          <m:sSubPr>
                            <m:ctrlPr>
                              <a:rPr lang="en-US" sz="1800" i="1" smtClean="0">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1</m:t>
                            </m:r>
                          </m:sub>
                        </m:sSub>
                      </m:e>
                    </m:d>
                    <m:r>
                      <a:rPr lang="en-US" sz="1800" i="1">
                        <a:latin typeface="Cambria Math" panose="02040503050406030204" pitchFamily="18" charset="0"/>
                      </a:rPr>
                      <m:t>𝑃</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1</m:t>
                            </m:r>
                          </m:sub>
                        </m:sSub>
                      </m:e>
                    </m:d>
                    <m:r>
                      <a:rPr lang="en-US" sz="1800" b="0" i="1" smtClean="0">
                        <a:latin typeface="Cambria Math" panose="02040503050406030204" pitchFamily="18" charset="0"/>
                      </a:rPr>
                      <m:t>=0.048</m:t>
                    </m:r>
                  </m:oMath>
                </a14:m>
                <a:r>
                  <a:rPr lang="en-US" sz="1800" dirty="0">
                    <a:latin typeface="Arial" panose="020B0604020202020204" pitchFamily="34" charset="0"/>
                    <a:cs typeface="Arial" panose="020B0604020202020204" pitchFamily="34" charset="0"/>
                  </a:rPr>
                  <a:t> (ii) </a:t>
                </a:r>
                <a14:m>
                  <m:oMath xmlns:m="http://schemas.openxmlformats.org/officeDocument/2006/math">
                    <m:r>
                      <a:rPr lang="en-US" sz="1800" i="1">
                        <a:latin typeface="Cambria Math" panose="02040503050406030204" pitchFamily="18" charset="0"/>
                      </a:rPr>
                      <m:t>𝑃</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2</m:t>
                            </m:r>
                          </m:sub>
                        </m:sSub>
                        <m:r>
                          <a:rPr lang="en-US" sz="1800" i="1">
                            <a:latin typeface="Cambria Math" panose="02040503050406030204" pitchFamily="18" charset="0"/>
                          </a:rPr>
                          <m:t>𝐵</m:t>
                        </m:r>
                      </m:e>
                    </m:d>
                    <m:r>
                      <a:rPr lang="en-US" sz="1800" i="1">
                        <a:latin typeface="Cambria Math" panose="02040503050406030204" pitchFamily="18" charset="0"/>
                      </a:rPr>
                      <m:t>=</m:t>
                    </m:r>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𝐵</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2</m:t>
                            </m:r>
                          </m:sub>
                        </m:sSub>
                      </m:e>
                    </m:d>
                    <m:r>
                      <a:rPr lang="en-US" sz="1800" i="1">
                        <a:latin typeface="Cambria Math" panose="02040503050406030204" pitchFamily="18" charset="0"/>
                      </a:rPr>
                      <m:t>𝑃</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2</m:t>
                            </m:r>
                          </m:sub>
                        </m:sSub>
                      </m:e>
                    </m:d>
                    <m:r>
                      <a:rPr lang="en-US" sz="1800" i="1">
                        <a:latin typeface="Cambria Math" panose="02040503050406030204" pitchFamily="18" charset="0"/>
                      </a:rPr>
                      <m:t>=0.0</m:t>
                    </m:r>
                    <m:r>
                      <a:rPr lang="en-US" sz="1800" b="0" i="1" smtClean="0">
                        <a:latin typeface="Cambria Math" panose="02040503050406030204" pitchFamily="18" charset="0"/>
                      </a:rPr>
                      <m:t>665</m:t>
                    </m:r>
                  </m:oMath>
                </a14:m>
                <a:r>
                  <a:rPr lang="en-US" sz="1800" dirty="0">
                    <a:latin typeface="Arial" panose="020B0604020202020204" pitchFamily="34" charset="0"/>
                    <a:cs typeface="Arial" panose="020B0604020202020204" pitchFamily="34" charset="0"/>
                  </a:rPr>
                  <a:t> (iii) </a:t>
                </a:r>
                <a14:m>
                  <m:oMath xmlns:m="http://schemas.openxmlformats.org/officeDocument/2006/math">
                    <m:r>
                      <a:rPr lang="en-US" sz="1800" b="0" i="1" smtClean="0">
                        <a:latin typeface="Cambria Math" panose="02040503050406030204" pitchFamily="18" charset="0"/>
                        <a:cs typeface="Arial" panose="020B0604020202020204" pitchFamily="34" charset="0"/>
                      </a:rPr>
                      <m:t>𝑃</m:t>
                    </m:r>
                    <m:d>
                      <m:dPr>
                        <m:ctrlPr>
                          <a:rPr lang="en-US" sz="1800" b="0" i="1" smtClean="0">
                            <a:latin typeface="Cambria Math" panose="02040503050406030204" pitchFamily="18" charset="0"/>
                            <a:cs typeface="Arial" panose="020B0604020202020204" pitchFamily="34" charset="0"/>
                          </a:rPr>
                        </m:ctrlPr>
                      </m:dPr>
                      <m:e>
                        <m:r>
                          <a:rPr lang="en-US" sz="1800" b="0" i="1" smtClean="0">
                            <a:latin typeface="Cambria Math" panose="02040503050406030204" pitchFamily="18" charset="0"/>
                            <a:cs typeface="Arial" panose="020B0604020202020204" pitchFamily="34" charset="0"/>
                          </a:rPr>
                          <m:t>𝐵</m:t>
                        </m:r>
                      </m:e>
                    </m:d>
                    <m:r>
                      <a:rPr lang="en-US" sz="1800" b="0" i="1" smtClean="0">
                        <a:latin typeface="Cambria Math" panose="02040503050406030204" pitchFamily="18" charset="0"/>
                        <a:cs typeface="Arial" panose="020B0604020202020204" pitchFamily="34" charset="0"/>
                      </a:rPr>
                      <m:t>=</m:t>
                    </m:r>
                    <m:r>
                      <a:rPr lang="en-US" sz="1800" i="1">
                        <a:latin typeface="Cambria Math" panose="02040503050406030204" pitchFamily="18" charset="0"/>
                      </a:rPr>
                      <m:t>𝑃</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i="1">
                                <a:latin typeface="Cambria Math" panose="02040503050406030204" pitchFamily="18" charset="0"/>
                              </a:rPr>
                              <m:t>1</m:t>
                            </m:r>
                          </m:sub>
                        </m:sSub>
                        <m:r>
                          <a:rPr lang="en-US" sz="1800" i="1">
                            <a:latin typeface="Cambria Math" panose="02040503050406030204" pitchFamily="18" charset="0"/>
                          </a:rPr>
                          <m:t>𝐵</m:t>
                        </m:r>
                      </m:e>
                    </m:d>
                    <m:r>
                      <a:rPr lang="en-US" sz="1800" b="0" i="1" smtClean="0">
                        <a:latin typeface="Cambria Math" panose="02040503050406030204" pitchFamily="18" charset="0"/>
                      </a:rPr>
                      <m:t>+</m:t>
                    </m:r>
                    <m:r>
                      <a:rPr lang="en-US" sz="1800" i="1">
                        <a:latin typeface="Cambria Math" panose="02040503050406030204" pitchFamily="18" charset="0"/>
                      </a:rPr>
                      <m:t>𝑃</m:t>
                    </m:r>
                    <m:d>
                      <m:dPr>
                        <m:ctrlPr>
                          <a:rPr lang="en-US" sz="1800" i="1">
                            <a:latin typeface="Cambria Math" panose="02040503050406030204" pitchFamily="18" charset="0"/>
                          </a:rPr>
                        </m:ctrlPr>
                      </m:dPr>
                      <m:e>
                        <m:sSub>
                          <m:sSubPr>
                            <m:ctrlPr>
                              <a:rPr lang="en-US" sz="1800" i="1" smtClean="0">
                                <a:latin typeface="Cambria Math" panose="02040503050406030204" pitchFamily="18" charset="0"/>
                              </a:rPr>
                            </m:ctrlPr>
                          </m:sSubPr>
                          <m:e>
                            <m:r>
                              <a:rPr lang="en-US" sz="1800" i="1">
                                <a:latin typeface="Cambria Math" panose="02040503050406030204" pitchFamily="18" charset="0"/>
                              </a:rPr>
                              <m:t>𝐴</m:t>
                            </m:r>
                          </m:e>
                          <m:sub>
                            <m:r>
                              <a:rPr lang="en-US" sz="1800" b="0" i="1" smtClean="0">
                                <a:latin typeface="Cambria Math" panose="02040503050406030204" pitchFamily="18" charset="0"/>
                              </a:rPr>
                              <m:t>2</m:t>
                            </m:r>
                          </m:sub>
                        </m:sSub>
                        <m:r>
                          <a:rPr lang="en-US" sz="1800" i="1">
                            <a:latin typeface="Cambria Math" panose="02040503050406030204" pitchFamily="18" charset="0"/>
                          </a:rPr>
                          <m:t>𝐵</m:t>
                        </m:r>
                      </m:e>
                    </m:d>
                    <m:r>
                      <a:rPr lang="en-US" sz="1800" i="1">
                        <a:latin typeface="Cambria Math" panose="02040503050406030204" pitchFamily="18" charset="0"/>
                      </a:rPr>
                      <m:t>=</m:t>
                    </m:r>
                    <m:r>
                      <a:rPr lang="en-US" sz="1800" b="0" i="1" smtClean="0">
                        <a:latin typeface="Cambria Math" panose="02040503050406030204" pitchFamily="18" charset="0"/>
                      </a:rPr>
                      <m:t>0.048+0.0665=0.1145</m:t>
                    </m:r>
                  </m:oMath>
                </a14:m>
                <a:endParaRPr lang="en-US" sz="18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900" b="1" i="1"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675886"/>
                <a:ext cx="10831132" cy="6182114"/>
              </a:xfrm>
              <a:blipFill rotWithShape="0">
                <a:blip r:embed="rId2"/>
                <a:stretch>
                  <a:fillRect l="-450" r="-506" b="-99"/>
                </a:stretch>
              </a:blipFill>
            </p:spPr>
            <p:txBody>
              <a:bodyPr/>
              <a:lstStyle/>
              <a:p>
                <a:r>
                  <a:rPr lang="en-US">
                    <a:noFill/>
                  </a:rPr>
                  <a:t> </a:t>
                </a:r>
              </a:p>
            </p:txBody>
          </p:sp>
        </mc:Fallback>
      </mc:AlternateContent>
    </p:spTree>
    <p:extLst>
      <p:ext uri="{BB962C8B-B14F-4D97-AF65-F5344CB8AC3E}">
        <p14:creationId xmlns:p14="http://schemas.microsoft.com/office/powerpoint/2010/main" val="1971448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791"/>
            <a:ext cx="9144000" cy="414962"/>
          </a:xfrm>
        </p:spPr>
        <p:txBody>
          <a:bodyPr>
            <a:noAutofit/>
          </a:bodyPr>
          <a:lstStyle/>
          <a:p>
            <a:r>
              <a:rPr lang="en-US" sz="2400" b="1" dirty="0">
                <a:latin typeface="Arial" panose="020B0604020202020204" pitchFamily="34" charset="0"/>
                <a:cs typeface="Arial" panose="020B0604020202020204" pitchFamily="34" charset="0"/>
              </a:rPr>
              <a:t>Bayes’ rule</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366604"/>
                <a:ext cx="10831132" cy="6491395"/>
              </a:xfrm>
            </p:spPr>
            <p:txBody>
              <a:bodyPr>
                <a:noAutofit/>
              </a:bodyPr>
              <a:lstStyle/>
              <a:p>
                <a:pPr marL="342900" indent="-342900" algn="just">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Bayes’ rule is used to compute the posterior probability of an event </a:t>
                </a:r>
                <a14:m>
                  <m:oMath xmlns:m="http://schemas.openxmlformats.org/officeDocument/2006/math">
                    <m:r>
                      <a:rPr lang="en-US" sz="1900" b="0" i="1" smtClean="0">
                        <a:latin typeface="Cambria Math" panose="02040503050406030204" pitchFamily="18" charset="0"/>
                        <a:cs typeface="Arial" panose="020B0604020202020204" pitchFamily="34" charset="0"/>
                      </a:rPr>
                      <m:t>𝐴</m:t>
                    </m:r>
                  </m:oMath>
                </a14:m>
                <a:r>
                  <a:rPr lang="en-US" sz="1900" dirty="0">
                    <a:latin typeface="Arial" panose="020B0604020202020204" pitchFamily="34" charset="0"/>
                    <a:cs typeface="Arial" panose="020B0604020202020204" pitchFamily="34" charset="0"/>
                  </a:rPr>
                  <a:t> by using </a:t>
                </a:r>
                <a:r>
                  <a:rPr lang="en-US" sz="1900">
                    <a:latin typeface="Arial" panose="020B0604020202020204" pitchFamily="34" charset="0"/>
                    <a:cs typeface="Arial" panose="020B0604020202020204" pitchFamily="34" charset="0"/>
                  </a:rPr>
                  <a:t>prior probabilities (marginal probabilities) </a:t>
                </a:r>
                <a:r>
                  <a:rPr lang="en-US" sz="1900" dirty="0">
                    <a:latin typeface="Arial" panose="020B0604020202020204" pitchFamily="34" charset="0"/>
                    <a:cs typeface="Arial" panose="020B0604020202020204" pitchFamily="34" charset="0"/>
                  </a:rPr>
                  <a:t>when conditional probability of another event </a:t>
                </a:r>
                <a14:m>
                  <m:oMath xmlns:m="http://schemas.openxmlformats.org/officeDocument/2006/math">
                    <m:r>
                      <a:rPr lang="en-US" sz="1900" b="0" i="1" smtClean="0">
                        <a:latin typeface="Cambria Math" panose="02040503050406030204" pitchFamily="18" charset="0"/>
                        <a:cs typeface="Arial" panose="020B0604020202020204" pitchFamily="34" charset="0"/>
                      </a:rPr>
                      <m:t>𝐵</m:t>
                    </m:r>
                  </m:oMath>
                </a14:m>
                <a:r>
                  <a:rPr lang="en-US" sz="1900" dirty="0">
                    <a:latin typeface="Arial" panose="020B0604020202020204" pitchFamily="34" charset="0"/>
                    <a:cs typeface="Arial" panose="020B0604020202020204" pitchFamily="34" charset="0"/>
                  </a:rPr>
                  <a:t> given </a:t>
                </a:r>
                <a14:m>
                  <m:oMath xmlns:m="http://schemas.openxmlformats.org/officeDocument/2006/math">
                    <m:r>
                      <a:rPr lang="en-US" sz="1900" b="0" i="1" smtClean="0">
                        <a:latin typeface="Cambria Math" panose="02040503050406030204" pitchFamily="18" charset="0"/>
                        <a:cs typeface="Arial" panose="020B0604020202020204" pitchFamily="34" charset="0"/>
                      </a:rPr>
                      <m:t>𝐴</m:t>
                    </m:r>
                  </m:oMath>
                </a14:m>
                <a:r>
                  <a:rPr lang="en-US" sz="1900" dirty="0">
                    <a:latin typeface="Arial" panose="020B0604020202020204" pitchFamily="34" charset="0"/>
                    <a:cs typeface="Arial" panose="020B0604020202020204" pitchFamily="34" charset="0"/>
                  </a:rPr>
                  <a:t> is known. It is given as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r>
                          <a:rPr lang="en-US" sz="2000" i="1">
                            <a:latin typeface="Cambria Math" panose="02040503050406030204" pitchFamily="18" charset="0"/>
                          </a:rPr>
                          <m:t>|</m:t>
                        </m:r>
                        <m:r>
                          <a:rPr lang="en-US" sz="2000" i="1">
                            <a:latin typeface="Cambria Math" panose="02040503050406030204" pitchFamily="18" charset="0"/>
                          </a:rPr>
                          <m:t>𝐵</m:t>
                        </m:r>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m:t>
                            </m:r>
                            <m:r>
                              <a:rPr lang="en-US" sz="2000" i="1">
                                <a:latin typeface="Cambria Math" panose="02040503050406030204" pitchFamily="18" charset="0"/>
                              </a:rPr>
                              <m:t>𝐴</m:t>
                            </m:r>
                          </m:e>
                        </m:d>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𝐴</m:t>
                            </m:r>
                          </m:e>
                        </m:d>
                      </m:num>
                      <m:den>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𝐵</m:t>
                            </m:r>
                          </m:e>
                        </m:d>
                      </m:den>
                    </m:f>
                  </m:oMath>
                </a14:m>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1900" b="1" dirty="0">
                    <a:latin typeface="Arial" panose="020B0604020202020204" pitchFamily="34" charset="0"/>
                    <a:cs typeface="Arial" panose="020B0604020202020204" pitchFamily="34" charset="0"/>
                  </a:rPr>
                  <a:t>Proof: </a:t>
                </a:r>
                <a:r>
                  <a:rPr lang="en-US" sz="1900" dirty="0">
                    <a:latin typeface="Arial" panose="020B0604020202020204" pitchFamily="34" charset="0"/>
                    <a:cs typeface="Arial" panose="020B0604020202020204" pitchFamily="34" charset="0"/>
                  </a:rPr>
                  <a:t>From the definition of conditional probability we have </a:t>
                </a:r>
                <a14:m>
                  <m:oMath xmlns:m="http://schemas.openxmlformats.org/officeDocument/2006/math">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𝐴</m:t>
                        </m:r>
                      </m:e>
                      <m:e>
                        <m:r>
                          <a:rPr lang="en-US" sz="1900" i="1">
                            <a:latin typeface="Cambria Math" panose="02040503050406030204" pitchFamily="18" charset="0"/>
                          </a:rPr>
                          <m:t>𝐵</m:t>
                        </m:r>
                      </m:e>
                    </m:d>
                    <m:r>
                      <a:rPr lang="en-US" sz="1900" i="1">
                        <a:latin typeface="Cambria Math" panose="02040503050406030204" pitchFamily="18" charset="0"/>
                      </a:rPr>
                      <m:t>=</m:t>
                    </m:r>
                    <m:f>
                      <m:fPr>
                        <m:ctrlPr>
                          <a:rPr lang="en-US" sz="1900" i="1">
                            <a:latin typeface="Cambria Math" panose="02040503050406030204" pitchFamily="18" charset="0"/>
                          </a:rPr>
                        </m:ctrlPr>
                      </m:fPr>
                      <m:num>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𝐴</m:t>
                            </m:r>
                            <m:r>
                              <a:rPr lang="en-US" sz="1900" i="1">
                                <a:latin typeface="Cambria Math" panose="02040503050406030204" pitchFamily="18" charset="0"/>
                              </a:rPr>
                              <m:t>∩</m:t>
                            </m:r>
                            <m:r>
                              <a:rPr lang="en-US" sz="1900" i="1">
                                <a:latin typeface="Cambria Math" panose="02040503050406030204" pitchFamily="18" charset="0"/>
                              </a:rPr>
                              <m:t>𝐵</m:t>
                            </m:r>
                          </m:e>
                        </m:d>
                      </m:num>
                      <m:den>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𝐵</m:t>
                            </m:r>
                          </m:e>
                        </m:d>
                      </m:den>
                    </m:f>
                    <m:r>
                      <a:rPr lang="en-US" sz="1900" b="0" i="0" smtClean="0">
                        <a:latin typeface="Cambria Math" panose="02040503050406030204" pitchFamily="18" charset="0"/>
                      </a:rPr>
                      <m:t>, </m:t>
                    </m:r>
                    <m:r>
                      <m:rPr>
                        <m:sty m:val="p"/>
                      </m:rPr>
                      <a:rPr lang="en-US" sz="1900" b="0" i="0" smtClean="0">
                        <a:latin typeface="Cambria Math" panose="02040503050406030204" pitchFamily="18" charset="0"/>
                      </a:rPr>
                      <m:t>P</m:t>
                    </m:r>
                    <m:d>
                      <m:dPr>
                        <m:ctrlPr>
                          <a:rPr lang="en-US" sz="1900" b="0" i="1" smtClean="0">
                            <a:latin typeface="Cambria Math" panose="02040503050406030204" pitchFamily="18" charset="0"/>
                          </a:rPr>
                        </m:ctrlPr>
                      </m:dPr>
                      <m:e>
                        <m:r>
                          <m:rPr>
                            <m:sty m:val="p"/>
                          </m:rPr>
                          <a:rPr lang="en-US" sz="1900" b="0" i="0" smtClean="0">
                            <a:latin typeface="Cambria Math" panose="02040503050406030204" pitchFamily="18" charset="0"/>
                          </a:rPr>
                          <m:t>B</m:t>
                        </m:r>
                      </m:e>
                    </m:d>
                    <m:r>
                      <a:rPr lang="en-US" sz="1900" b="0" i="0" smtClean="0">
                        <a:latin typeface="Cambria Math" panose="02040503050406030204" pitchFamily="18" charset="0"/>
                      </a:rPr>
                      <m:t>&gt;0</m:t>
                    </m:r>
                  </m:oMath>
                </a14:m>
                <a:r>
                  <a:rPr lang="en-US" sz="1900" dirty="0">
                    <a:latin typeface="Arial" panose="020B0604020202020204" pitchFamily="34" charset="0"/>
                    <a:cs typeface="Arial" panose="020B0604020202020204" pitchFamily="34" charset="0"/>
                  </a:rPr>
                  <a:t>. Therefore, </a:t>
                </a:r>
                <a14:m>
                  <m:oMath xmlns:m="http://schemas.openxmlformats.org/officeDocument/2006/math">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𝐴</m:t>
                        </m:r>
                      </m:e>
                      <m:e>
                        <m:r>
                          <a:rPr lang="en-US" sz="1800" i="1">
                            <a:latin typeface="Cambria Math" panose="02040503050406030204" pitchFamily="18" charset="0"/>
                          </a:rPr>
                          <m:t>𝐵</m:t>
                        </m:r>
                      </m:e>
                    </m:d>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𝐵</m:t>
                            </m:r>
                            <m:r>
                              <a:rPr lang="en-US" sz="1800" i="1">
                                <a:latin typeface="Cambria Math" panose="02040503050406030204" pitchFamily="18" charset="0"/>
                              </a:rPr>
                              <m:t>|</m:t>
                            </m:r>
                            <m:r>
                              <a:rPr lang="en-US" sz="1800" i="1">
                                <a:latin typeface="Cambria Math" panose="02040503050406030204" pitchFamily="18" charset="0"/>
                              </a:rPr>
                              <m:t>𝐴</m:t>
                            </m:r>
                          </m:e>
                        </m:d>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𝐴</m:t>
                            </m:r>
                          </m:e>
                        </m:d>
                      </m:num>
                      <m:den>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𝐵</m:t>
                            </m:r>
                          </m:e>
                        </m:d>
                      </m:den>
                    </m:f>
                  </m:oMath>
                </a14:m>
                <a:endParaRPr lang="en-US" sz="1800" dirty="0">
                  <a:latin typeface="Arial" panose="020B0604020202020204" pitchFamily="34" charset="0"/>
                </a:endParaRPr>
              </a:p>
              <a:p>
                <a:pPr marL="342900" indent="-342900" algn="just">
                  <a:lnSpc>
                    <a:spcPct val="150000"/>
                  </a:lnSpc>
                  <a:buFont typeface="Arial" panose="020B0604020202020204" pitchFamily="34" charset="0"/>
                  <a:buChar char="•"/>
                </a:pPr>
                <a:r>
                  <a:rPr lang="en-US" sz="1900" b="1" dirty="0">
                    <a:latin typeface="Arial" panose="020B0604020202020204" pitchFamily="34" charset="0"/>
                    <a:cs typeface="Arial" panose="020B0604020202020204" pitchFamily="34" charset="0"/>
                  </a:rPr>
                  <a:t>Bayes’ theorem: </a:t>
                </a:r>
                <a:r>
                  <a:rPr lang="en-US" sz="1900" dirty="0">
                    <a:latin typeface="Arial" panose="020B0604020202020204" pitchFamily="34" charset="0"/>
                    <a:cs typeface="Arial" panose="020B0604020202020204" pitchFamily="34" charset="0"/>
                  </a:rPr>
                  <a:t>Suppose the events </a:t>
                </a:r>
                <a14:m>
                  <m:oMath xmlns:m="http://schemas.openxmlformats.org/officeDocument/2006/math">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a:latin typeface="Cambria Math" panose="02040503050406030204" pitchFamily="18" charset="0"/>
                            <a:cs typeface="Arial" panose="020B0604020202020204" pitchFamily="34" charset="0"/>
                          </a:rPr>
                          <m:t>1</m:t>
                        </m:r>
                      </m:sub>
                    </m:sSub>
                    <m:r>
                      <a:rPr lang="en-US" sz="1900">
                        <a:latin typeface="Cambria Math" panose="02040503050406030204" pitchFamily="18" charset="0"/>
                        <a:cs typeface="Arial" panose="020B0604020202020204" pitchFamily="34" charset="0"/>
                      </a:rPr>
                      <m:t>, </m:t>
                    </m:r>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a:latin typeface="Cambria Math" panose="02040503050406030204" pitchFamily="18" charset="0"/>
                            <a:cs typeface="Arial" panose="020B0604020202020204" pitchFamily="34" charset="0"/>
                          </a:rPr>
                          <m:t>2</m:t>
                        </m:r>
                      </m:sub>
                    </m:sSub>
                    <m:r>
                      <a:rPr lang="en-US" sz="1900">
                        <a:latin typeface="Cambria Math" panose="02040503050406030204" pitchFamily="18" charset="0"/>
                        <a:cs typeface="Arial" panose="020B0604020202020204" pitchFamily="34" charset="0"/>
                      </a:rPr>
                      <m:t>,…, </m:t>
                    </m:r>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a:latin typeface="Cambria Math" panose="02040503050406030204" pitchFamily="18" charset="0"/>
                            <a:cs typeface="Arial" panose="020B0604020202020204" pitchFamily="34" charset="0"/>
                          </a:rPr>
                          <m:t>𝑛</m:t>
                        </m:r>
                      </m:sub>
                    </m:sSub>
                  </m:oMath>
                </a14:m>
                <a:r>
                  <a:rPr lang="en-US" sz="1900" dirty="0">
                    <a:latin typeface="Arial" panose="020B0604020202020204" pitchFamily="34" charset="0"/>
                    <a:cs typeface="Arial" panose="020B0604020202020204" pitchFamily="34" charset="0"/>
                  </a:rPr>
                  <a:t> are mutually exclusive and exhaustive and </a:t>
                </a:r>
                <a14:m>
                  <m:oMath xmlns:m="http://schemas.openxmlformats.org/officeDocument/2006/math">
                    <m:r>
                      <a:rPr lang="en-US" sz="1900">
                        <a:latin typeface="Cambria Math" panose="02040503050406030204" pitchFamily="18" charset="0"/>
                        <a:cs typeface="Arial" panose="020B0604020202020204" pitchFamily="34" charset="0"/>
                      </a:rPr>
                      <m:t>𝐵</m:t>
                    </m:r>
                  </m:oMath>
                </a14:m>
                <a:r>
                  <a:rPr lang="en-US" sz="1900" dirty="0">
                    <a:latin typeface="Arial" panose="020B0604020202020204" pitchFamily="34" charset="0"/>
                    <a:cs typeface="Arial" panose="020B0604020202020204" pitchFamily="34" charset="0"/>
                  </a:rPr>
                  <a:t> is an arbitrary event, then</a:t>
                </a:r>
              </a:p>
              <a:p>
                <a:pPr/>
                <a14:m>
                  <m:oMathPara xmlns:m="http://schemas.openxmlformats.org/officeDocument/2006/math">
                    <m:oMathParaPr>
                      <m:jc m:val="centerGroup"/>
                    </m:oMathParaPr>
                    <m:oMath xmlns:m="http://schemas.openxmlformats.org/officeDocument/2006/math">
                      <m:r>
                        <a:rPr lang="en-US" sz="1900">
                          <a:latin typeface="Cambria Math" panose="02040503050406030204" pitchFamily="18" charset="0"/>
                          <a:cs typeface="Arial" panose="020B0604020202020204" pitchFamily="34" charset="0"/>
                        </a:rPr>
                        <m:t>𝑃</m:t>
                      </m:r>
                      <m:d>
                        <m:dPr>
                          <m:ctrlPr>
                            <a:rPr lang="en-US" sz="1900" i="1">
                              <a:latin typeface="Cambria Math" panose="02040503050406030204" pitchFamily="18" charset="0"/>
                              <a:cs typeface="Arial" panose="020B0604020202020204" pitchFamily="34" charset="0"/>
                            </a:rPr>
                          </m:ctrlPr>
                        </m:dPr>
                        <m:e>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a:latin typeface="Cambria Math" panose="02040503050406030204" pitchFamily="18" charset="0"/>
                                  <a:cs typeface="Arial" panose="020B0604020202020204" pitchFamily="34" charset="0"/>
                                </a:rPr>
                                <m:t>𝑖</m:t>
                              </m:r>
                            </m:sub>
                          </m:sSub>
                        </m:e>
                        <m:e>
                          <m:r>
                            <a:rPr lang="en-US" sz="1900">
                              <a:latin typeface="Cambria Math" panose="02040503050406030204" pitchFamily="18" charset="0"/>
                              <a:cs typeface="Arial" panose="020B0604020202020204" pitchFamily="34" charset="0"/>
                            </a:rPr>
                            <m:t>𝐵</m:t>
                          </m:r>
                        </m:e>
                      </m:d>
                      <m:r>
                        <a:rPr lang="en-US" sz="1900">
                          <a:latin typeface="Cambria Math" panose="02040503050406030204" pitchFamily="18" charset="0"/>
                          <a:cs typeface="Arial" panose="020B0604020202020204" pitchFamily="34" charset="0"/>
                        </a:rPr>
                        <m:t>=</m:t>
                      </m:r>
                      <m:f>
                        <m:fPr>
                          <m:ctrlPr>
                            <a:rPr lang="en-US" sz="1900" i="1">
                              <a:latin typeface="Cambria Math" panose="02040503050406030204" pitchFamily="18" charset="0"/>
                              <a:cs typeface="Arial" panose="020B0604020202020204" pitchFamily="34" charset="0"/>
                            </a:rPr>
                          </m:ctrlPr>
                        </m:fPr>
                        <m:num>
                          <m:r>
                            <a:rPr lang="en-US" sz="1900">
                              <a:latin typeface="Cambria Math" panose="02040503050406030204" pitchFamily="18" charset="0"/>
                              <a:cs typeface="Arial" panose="020B0604020202020204" pitchFamily="34" charset="0"/>
                            </a:rPr>
                            <m:t>𝑃</m:t>
                          </m:r>
                          <m:r>
                            <a:rPr lang="en-US" sz="1900">
                              <a:latin typeface="Cambria Math" panose="02040503050406030204" pitchFamily="18" charset="0"/>
                              <a:cs typeface="Arial" panose="020B0604020202020204" pitchFamily="34" charset="0"/>
                            </a:rPr>
                            <m:t>(</m:t>
                          </m:r>
                          <m:r>
                            <a:rPr lang="en-US" sz="1900">
                              <a:latin typeface="Cambria Math" panose="02040503050406030204" pitchFamily="18" charset="0"/>
                              <a:cs typeface="Arial" panose="020B0604020202020204" pitchFamily="34" charset="0"/>
                            </a:rPr>
                            <m:t>𝐵</m:t>
                          </m:r>
                          <m:r>
                            <a:rPr lang="en-US" sz="1900">
                              <a:latin typeface="Cambria Math" panose="02040503050406030204" pitchFamily="18" charset="0"/>
                              <a:cs typeface="Arial" panose="020B0604020202020204" pitchFamily="34" charset="0"/>
                            </a:rPr>
                            <m:t>|</m:t>
                          </m:r>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a:latin typeface="Cambria Math" panose="02040503050406030204" pitchFamily="18" charset="0"/>
                                  <a:cs typeface="Arial" panose="020B0604020202020204" pitchFamily="34" charset="0"/>
                                </a:rPr>
                                <m:t>𝑖</m:t>
                              </m:r>
                            </m:sub>
                          </m:sSub>
                          <m:r>
                            <a:rPr lang="en-US" sz="1900">
                              <a:latin typeface="Cambria Math" panose="02040503050406030204" pitchFamily="18" charset="0"/>
                              <a:cs typeface="Arial" panose="020B0604020202020204" pitchFamily="34" charset="0"/>
                            </a:rPr>
                            <m:t>)</m:t>
                          </m:r>
                          <m:r>
                            <a:rPr lang="en-US" sz="1900">
                              <a:latin typeface="Cambria Math" panose="02040503050406030204" pitchFamily="18" charset="0"/>
                              <a:cs typeface="Arial" panose="020B0604020202020204" pitchFamily="34" charset="0"/>
                            </a:rPr>
                            <m:t>𝑃</m:t>
                          </m:r>
                          <m:d>
                            <m:dPr>
                              <m:ctrlPr>
                                <a:rPr lang="en-US" sz="1900" i="1">
                                  <a:latin typeface="Cambria Math" panose="02040503050406030204" pitchFamily="18" charset="0"/>
                                  <a:cs typeface="Arial" panose="020B0604020202020204" pitchFamily="34" charset="0"/>
                                </a:rPr>
                              </m:ctrlPr>
                            </m:dPr>
                            <m:e>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a:latin typeface="Cambria Math" panose="02040503050406030204" pitchFamily="18" charset="0"/>
                                      <a:cs typeface="Arial" panose="020B0604020202020204" pitchFamily="34" charset="0"/>
                                    </a:rPr>
                                    <m:t>𝑖</m:t>
                                  </m:r>
                                </m:sub>
                              </m:sSub>
                            </m:e>
                          </m:d>
                        </m:num>
                        <m:den>
                          <m:nary>
                            <m:naryPr>
                              <m:chr m:val="∑"/>
                              <m:limLoc m:val="subSup"/>
                              <m:ctrlPr>
                                <a:rPr lang="en-US" sz="1900" i="1">
                                  <a:latin typeface="Cambria Math" panose="02040503050406030204" pitchFamily="18" charset="0"/>
                                  <a:cs typeface="Arial" panose="020B0604020202020204" pitchFamily="34" charset="0"/>
                                </a:rPr>
                              </m:ctrlPr>
                            </m:naryPr>
                            <m:sub>
                              <m:r>
                                <a:rPr lang="en-US" sz="1900">
                                  <a:latin typeface="Cambria Math" panose="02040503050406030204" pitchFamily="18" charset="0"/>
                                  <a:cs typeface="Arial" panose="020B0604020202020204" pitchFamily="34" charset="0"/>
                                </a:rPr>
                                <m:t>𝑖</m:t>
                              </m:r>
                              <m:r>
                                <a:rPr lang="en-US" sz="1900">
                                  <a:latin typeface="Cambria Math" panose="02040503050406030204" pitchFamily="18" charset="0"/>
                                  <a:cs typeface="Arial" panose="020B0604020202020204" pitchFamily="34" charset="0"/>
                                </a:rPr>
                                <m:t>=1</m:t>
                              </m:r>
                            </m:sub>
                            <m:sup>
                              <m:r>
                                <a:rPr lang="en-US" sz="1900">
                                  <a:latin typeface="Cambria Math" panose="02040503050406030204" pitchFamily="18" charset="0"/>
                                  <a:cs typeface="Arial" panose="020B0604020202020204" pitchFamily="34" charset="0"/>
                                </a:rPr>
                                <m:t>𝑛</m:t>
                              </m:r>
                            </m:sup>
                            <m:e>
                              <m:r>
                                <a:rPr lang="en-US" sz="1900">
                                  <a:latin typeface="Cambria Math" panose="02040503050406030204" pitchFamily="18" charset="0"/>
                                  <a:cs typeface="Arial" panose="020B0604020202020204" pitchFamily="34" charset="0"/>
                                </a:rPr>
                                <m:t>𝑃</m:t>
                              </m:r>
                              <m:d>
                                <m:dPr>
                                  <m:ctrlPr>
                                    <a:rPr lang="en-US" sz="1900" i="1">
                                      <a:latin typeface="Cambria Math" panose="02040503050406030204" pitchFamily="18" charset="0"/>
                                      <a:cs typeface="Arial" panose="020B0604020202020204" pitchFamily="34" charset="0"/>
                                    </a:rPr>
                                  </m:ctrlPr>
                                </m:dPr>
                                <m:e>
                                  <m:r>
                                    <a:rPr lang="en-US" sz="1900">
                                      <a:latin typeface="Cambria Math" panose="02040503050406030204" pitchFamily="18" charset="0"/>
                                      <a:cs typeface="Arial" panose="020B0604020202020204" pitchFamily="34" charset="0"/>
                                    </a:rPr>
                                    <m:t>𝐵</m:t>
                                  </m:r>
                                  <m:r>
                                    <a:rPr lang="en-US" sz="1900">
                                      <a:latin typeface="Cambria Math" panose="02040503050406030204" pitchFamily="18" charset="0"/>
                                      <a:cs typeface="Arial" panose="020B0604020202020204" pitchFamily="34" charset="0"/>
                                    </a:rPr>
                                    <m:t>|</m:t>
                                  </m:r>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a:latin typeface="Cambria Math" panose="02040503050406030204" pitchFamily="18" charset="0"/>
                                          <a:cs typeface="Arial" panose="020B0604020202020204" pitchFamily="34" charset="0"/>
                                        </a:rPr>
                                        <m:t>𝑖</m:t>
                                      </m:r>
                                    </m:sub>
                                  </m:sSub>
                                </m:e>
                              </m:d>
                              <m:r>
                                <a:rPr lang="en-US" sz="1900">
                                  <a:latin typeface="Cambria Math" panose="02040503050406030204" pitchFamily="18" charset="0"/>
                                  <a:cs typeface="Arial" panose="020B0604020202020204" pitchFamily="34" charset="0"/>
                                </a:rPr>
                                <m:t>𝑃</m:t>
                              </m:r>
                              <m:d>
                                <m:dPr>
                                  <m:ctrlPr>
                                    <a:rPr lang="en-US" sz="1900" i="1">
                                      <a:latin typeface="Cambria Math" panose="02040503050406030204" pitchFamily="18" charset="0"/>
                                      <a:cs typeface="Arial" panose="020B0604020202020204" pitchFamily="34" charset="0"/>
                                    </a:rPr>
                                  </m:ctrlPr>
                                </m:dPr>
                                <m:e>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a:latin typeface="Cambria Math" panose="02040503050406030204" pitchFamily="18" charset="0"/>
                                          <a:cs typeface="Arial" panose="020B0604020202020204" pitchFamily="34" charset="0"/>
                                        </a:rPr>
                                        <m:t>𝑖</m:t>
                                      </m:r>
                                    </m:sub>
                                  </m:sSub>
                                </m:e>
                              </m:d>
                            </m:e>
                          </m:nary>
                        </m:den>
                      </m:f>
                      <m:r>
                        <a:rPr lang="en-US" sz="1900">
                          <a:latin typeface="Cambria Math" panose="02040503050406030204" pitchFamily="18" charset="0"/>
                          <a:cs typeface="Arial" panose="020B0604020202020204" pitchFamily="34" charset="0"/>
                        </a:rPr>
                        <m:t>;</m:t>
                      </m:r>
                      <m:r>
                        <a:rPr lang="en-US" sz="1900">
                          <a:latin typeface="Cambria Math" panose="02040503050406030204" pitchFamily="18" charset="0"/>
                          <a:cs typeface="Arial" panose="020B0604020202020204" pitchFamily="34" charset="0"/>
                        </a:rPr>
                        <m:t>𝑖</m:t>
                      </m:r>
                      <m:r>
                        <a:rPr lang="en-US" sz="1900">
                          <a:latin typeface="Cambria Math" panose="02040503050406030204" pitchFamily="18" charset="0"/>
                          <a:cs typeface="Arial" panose="020B0604020202020204" pitchFamily="34" charset="0"/>
                        </a:rPr>
                        <m:t>=1, 2, …,</m:t>
                      </m:r>
                      <m:r>
                        <a:rPr lang="en-US" sz="1900">
                          <a:latin typeface="Cambria Math" panose="02040503050406030204" pitchFamily="18" charset="0"/>
                          <a:cs typeface="Arial" panose="020B0604020202020204" pitchFamily="34" charset="0"/>
                        </a:rPr>
                        <m:t>𝑛</m:t>
                      </m:r>
                    </m:oMath>
                  </m:oMathPara>
                </a14:m>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1900" b="1" dirty="0">
                    <a:latin typeface="Arial" panose="020B0604020202020204" pitchFamily="34" charset="0"/>
                    <a:cs typeface="Arial" panose="020B0604020202020204" pitchFamily="34" charset="0"/>
                  </a:rPr>
                  <a:t>Proof: </a:t>
                </a:r>
                <a:r>
                  <a:rPr lang="en-US" sz="1900" dirty="0">
                    <a:latin typeface="Arial" panose="020B0604020202020204" pitchFamily="34" charset="0"/>
                    <a:cs typeface="Arial" panose="020B0604020202020204" pitchFamily="34" charset="0"/>
                  </a:rPr>
                  <a:t>From the LOTP, we have </a:t>
                </a:r>
                <a14:m>
                  <m:oMath xmlns:m="http://schemas.openxmlformats.org/officeDocument/2006/math">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𝐵</m:t>
                        </m:r>
                      </m:e>
                    </m:d>
                    <m:r>
                      <a:rPr lang="en-US" sz="1900" i="1">
                        <a:latin typeface="Cambria Math" panose="02040503050406030204" pitchFamily="18" charset="0"/>
                      </a:rPr>
                      <m:t>=</m:t>
                    </m:r>
                    <m:nary>
                      <m:naryPr>
                        <m:chr m:val="∑"/>
                        <m:limLoc m:val="subSup"/>
                        <m:ctrlPr>
                          <a:rPr lang="en-US" sz="1900" i="1">
                            <a:latin typeface="Cambria Math" panose="02040503050406030204" pitchFamily="18" charset="0"/>
                          </a:rPr>
                        </m:ctrlPr>
                      </m:naryPr>
                      <m:sub>
                        <m:r>
                          <a:rPr lang="en-US" sz="1900" i="1">
                            <a:latin typeface="Cambria Math" panose="02040503050406030204" pitchFamily="18" charset="0"/>
                          </a:rPr>
                          <m:t>𝑖</m:t>
                        </m:r>
                        <m:r>
                          <a:rPr lang="en-US" sz="1900" i="1">
                            <a:latin typeface="Cambria Math" panose="02040503050406030204" pitchFamily="18" charset="0"/>
                          </a:rPr>
                          <m:t>=1</m:t>
                        </m:r>
                      </m:sub>
                      <m:sup>
                        <m:r>
                          <a:rPr lang="en-US" sz="1900" i="1">
                            <a:latin typeface="Cambria Math" panose="02040503050406030204" pitchFamily="18" charset="0"/>
                          </a:rPr>
                          <m:t>𝑛</m:t>
                        </m:r>
                      </m:sup>
                      <m:e>
                        <m:r>
                          <a:rPr lang="en-US" sz="1900" i="1">
                            <a:latin typeface="Cambria Math" panose="02040503050406030204" pitchFamily="18" charset="0"/>
                          </a:rPr>
                          <m:t>𝑃</m:t>
                        </m:r>
                        <m:d>
                          <m:dPr>
                            <m:ctrlPr>
                              <a:rPr lang="en-US" sz="1900" i="1">
                                <a:latin typeface="Cambria Math" panose="02040503050406030204" pitchFamily="18" charset="0"/>
                              </a:rPr>
                            </m:ctrlPr>
                          </m:dPr>
                          <m:e>
                            <m:r>
                              <a:rPr lang="en-US" sz="1900" i="1">
                                <a:latin typeface="Cambria Math" panose="02040503050406030204" pitchFamily="18" charset="0"/>
                              </a:rPr>
                              <m:t>𝐵</m:t>
                            </m:r>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𝑖</m:t>
                                </m:r>
                              </m:sub>
                            </m:sSub>
                          </m:e>
                        </m:d>
                        <m:r>
                          <a:rPr lang="en-US" sz="1900" i="1">
                            <a:latin typeface="Cambria Math" panose="02040503050406030204" pitchFamily="18" charset="0"/>
                          </a:rPr>
                          <m:t>𝑃</m:t>
                        </m:r>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𝑖</m:t>
                                </m:r>
                              </m:sub>
                            </m:sSub>
                          </m:e>
                        </m:d>
                      </m:e>
                    </m:nary>
                  </m:oMath>
                </a14:m>
                <a:r>
                  <a:rPr lang="en-US" sz="1900" dirty="0">
                    <a:latin typeface="Arial" panose="020B0604020202020204" pitchFamily="34" charset="0"/>
                    <a:cs typeface="Arial" panose="020B0604020202020204" pitchFamily="34" charset="0"/>
                  </a:rPr>
                  <a:t>. Now the Bayes’ rules for the event </a:t>
                </a:r>
                <a14:m>
                  <m:oMath xmlns:m="http://schemas.openxmlformats.org/officeDocument/2006/math">
                    <m:sSub>
                      <m:sSubPr>
                        <m:ctrlPr>
                          <a:rPr lang="en-US" sz="1900" b="0" i="1" smtClean="0">
                            <a:latin typeface="Cambria Math" panose="02040503050406030204" pitchFamily="18" charset="0"/>
                            <a:cs typeface="Arial" panose="020B0604020202020204" pitchFamily="34" charset="0"/>
                          </a:rPr>
                        </m:ctrlPr>
                      </m:sSubPr>
                      <m:e>
                        <m:r>
                          <a:rPr lang="en-US" sz="1900" b="0" i="1" smtClean="0">
                            <a:latin typeface="Cambria Math" panose="02040503050406030204" pitchFamily="18" charset="0"/>
                            <a:cs typeface="Arial" panose="020B0604020202020204" pitchFamily="34" charset="0"/>
                          </a:rPr>
                          <m:t>𝐴</m:t>
                        </m:r>
                      </m:e>
                      <m:sub>
                        <m:r>
                          <a:rPr lang="en-US" sz="1900" b="0" i="1" smtClean="0">
                            <a:latin typeface="Cambria Math" panose="02040503050406030204" pitchFamily="18" charset="0"/>
                            <a:cs typeface="Arial" panose="020B0604020202020204" pitchFamily="34" charset="0"/>
                          </a:rPr>
                          <m:t>𝑖</m:t>
                        </m:r>
                      </m:sub>
                    </m:sSub>
                  </m:oMath>
                </a14:m>
                <a:r>
                  <a:rPr lang="en-US" sz="1900" dirty="0">
                    <a:latin typeface="Arial" panose="020B0604020202020204" pitchFamily="34" charset="0"/>
                    <a:cs typeface="Arial" panose="020B0604020202020204" pitchFamily="34" charset="0"/>
                  </a:rPr>
                  <a:t> can be expressed as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𝑖</m:t>
                            </m:r>
                          </m:sub>
                        </m:sSub>
                      </m:e>
                      <m:e>
                        <m:r>
                          <a:rPr lang="en-US" sz="2000" i="1">
                            <a:latin typeface="Cambria Math" panose="02040503050406030204" pitchFamily="18" charset="0"/>
                          </a:rPr>
                          <m:t>𝐵</m:t>
                        </m:r>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m:t>
                            </m:r>
                            <m:sSub>
                              <m:sSubPr>
                                <m:ctrlPr>
                                  <a:rPr lang="en-US" sz="2000" b="0" i="1" smtClean="0">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𝑖</m:t>
                                </m:r>
                              </m:sub>
                            </m:sSub>
                          </m:e>
                        </m:d>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i="1">
                                    <a:latin typeface="Cambria Math" panose="02040503050406030204" pitchFamily="18" charset="0"/>
                                  </a:rPr>
                                  <m:t>𝐴</m:t>
                                </m:r>
                              </m:e>
                              <m:sub>
                                <m:r>
                                  <a:rPr lang="en-US" sz="2000" b="0" i="1" smtClean="0">
                                    <a:latin typeface="Cambria Math" panose="02040503050406030204" pitchFamily="18" charset="0"/>
                                  </a:rPr>
                                  <m:t>𝑖</m:t>
                                </m:r>
                              </m:sub>
                            </m:sSub>
                          </m:e>
                        </m:d>
                      </m:num>
                      <m:den>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𝐵</m:t>
                            </m:r>
                          </m:e>
                        </m:d>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𝑖</m:t>
                                </m:r>
                              </m:sub>
                            </m:sSub>
                          </m:e>
                        </m:d>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𝑖</m:t>
                                </m:r>
                              </m:sub>
                            </m:sSub>
                          </m:e>
                        </m:d>
                      </m:num>
                      <m:den>
                        <m:nary>
                          <m:naryPr>
                            <m:chr m:val="∑"/>
                            <m:limLoc m:val="subSup"/>
                            <m:ctrlPr>
                              <a:rPr lang="en-US" sz="2000" i="1">
                                <a:latin typeface="Cambria Math" panose="02040503050406030204" pitchFamily="18" charset="0"/>
                              </a:rPr>
                            </m:ctrlPr>
                          </m:naryPr>
                          <m:sub>
                            <m:r>
                              <a:rPr lang="en-US" sz="2000" i="1">
                                <a:latin typeface="Cambria Math" panose="02040503050406030204" pitchFamily="18" charset="0"/>
                              </a:rPr>
                              <m:t>𝑖</m:t>
                            </m:r>
                            <m:r>
                              <a:rPr lang="en-US" sz="2000" i="1">
                                <a:latin typeface="Cambria Math" panose="02040503050406030204" pitchFamily="18" charset="0"/>
                              </a:rPr>
                              <m:t>=1</m:t>
                            </m:r>
                          </m:sub>
                          <m:sup>
                            <m:r>
                              <a:rPr lang="en-US" sz="2000" i="1">
                                <a:latin typeface="Cambria Math" panose="02040503050406030204" pitchFamily="18" charset="0"/>
                              </a:rPr>
                              <m:t>𝑛</m:t>
                            </m:r>
                          </m:sup>
                          <m:e>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𝐵</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𝑖</m:t>
                                    </m:r>
                                  </m:sub>
                                </m:sSub>
                              </m:e>
                            </m:d>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𝑖</m:t>
                                    </m:r>
                                  </m:sub>
                                </m:sSub>
                              </m:e>
                            </m:d>
                          </m:e>
                        </m:nary>
                      </m:den>
                    </m:f>
                    <m:r>
                      <a:rPr lang="en-US" sz="2000" b="0" i="1" smtClean="0">
                        <a:latin typeface="Cambria Math" panose="02040503050406030204" pitchFamily="18" charset="0"/>
                      </a:rPr>
                      <m:t>, </m:t>
                    </m:r>
                    <m:r>
                      <a:rPr lang="en-US" sz="2000" b="0" i="1" smtClean="0">
                        <a:latin typeface="Cambria Math" panose="02040503050406030204" pitchFamily="18" charset="0"/>
                      </a:rPr>
                      <m:t>𝑖</m:t>
                    </m:r>
                    <m:r>
                      <a:rPr lang="en-US" sz="2000" b="0" i="1" smtClean="0">
                        <a:latin typeface="Cambria Math" panose="02040503050406030204" pitchFamily="18" charset="0"/>
                      </a:rPr>
                      <m:t>=1,⋯, </m:t>
                    </m:r>
                    <m:r>
                      <a:rPr lang="en-US" sz="2000" b="0" i="1" smtClean="0">
                        <a:latin typeface="Cambria Math" panose="02040503050406030204" pitchFamily="18" charset="0"/>
                      </a:rPr>
                      <m:t>𝑛</m:t>
                    </m:r>
                  </m:oMath>
                </a14:m>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9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366604"/>
                <a:ext cx="10831132" cy="6491395"/>
              </a:xfrm>
              <a:blipFill rotWithShape="0">
                <a:blip r:embed="rId2"/>
                <a:stretch>
                  <a:fillRect l="-450" r="-506"/>
                </a:stretch>
              </a:blipFill>
            </p:spPr>
            <p:txBody>
              <a:bodyPr/>
              <a:lstStyle/>
              <a:p>
                <a:r>
                  <a:rPr lang="en-US">
                    <a:noFill/>
                  </a:rPr>
                  <a:t> </a:t>
                </a:r>
              </a:p>
            </p:txBody>
          </p:sp>
        </mc:Fallback>
      </mc:AlternateContent>
    </p:spTree>
    <p:extLst>
      <p:ext uri="{BB962C8B-B14F-4D97-AF65-F5344CB8AC3E}">
        <p14:creationId xmlns:p14="http://schemas.microsoft.com/office/powerpoint/2010/main" val="3944719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5"/>
            <a:ext cx="9144000" cy="414962"/>
          </a:xfrm>
        </p:spPr>
        <p:txBody>
          <a:bodyPr>
            <a:noAutofit/>
          </a:bodyPr>
          <a:lstStyle/>
          <a:p>
            <a:r>
              <a:rPr lang="en-US" sz="2400" b="1" dirty="0">
                <a:latin typeface="Arial" panose="020B0604020202020204" pitchFamily="34" charset="0"/>
                <a:cs typeface="Arial" panose="020B0604020202020204" pitchFamily="34" charset="0"/>
              </a:rPr>
              <a:t>Bayes’ theorem (</a:t>
            </a:r>
            <a:r>
              <a:rPr lang="en-US" sz="2400" b="1" dirty="0" err="1">
                <a:latin typeface="Arial" panose="020B0604020202020204" pitchFamily="34" charset="0"/>
                <a:cs typeface="Arial" panose="020B0604020202020204" pitchFamily="34" charset="0"/>
              </a:rPr>
              <a:t>cont</a:t>
            </a:r>
            <a:r>
              <a:rPr lang="en-US" sz="2400" b="1"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675886"/>
                <a:ext cx="10831132" cy="5698021"/>
              </a:xfrm>
            </p:spPr>
            <p:txBody>
              <a:bodyPr>
                <a:noAutofit/>
              </a:bodyPr>
              <a:lstStyle/>
              <a:p>
                <a:pPr marL="342900" indent="-342900" algn="just">
                  <a:lnSpc>
                    <a:spcPct val="150000"/>
                  </a:lnSpc>
                  <a:buFont typeface="Arial" panose="020B0604020202020204" pitchFamily="34" charset="0"/>
                  <a:buChar char="•"/>
                </a:pPr>
                <a:r>
                  <a:rPr lang="en-US" sz="1900" b="1" dirty="0">
                    <a:latin typeface="Arial" panose="020B0604020202020204" pitchFamily="34" charset="0"/>
                    <a:cs typeface="Arial" panose="020B0604020202020204" pitchFamily="34" charset="0"/>
                  </a:rPr>
                  <a:t>Example:</a:t>
                </a:r>
                <a:r>
                  <a:rPr lang="en-US" sz="1900" dirty="0">
                    <a:latin typeface="Arial" panose="020B0604020202020204" pitchFamily="34" charset="0"/>
                    <a:cs typeface="Arial" panose="020B0604020202020204" pitchFamily="34" charset="0"/>
                  </a:rPr>
                  <a:t> It is known that of the articles produced by a factory, 20% come from Machine-1, 30% from Machine-2, and 50% from Machine-3. The percentages of satisfactory articles among those produced are 95% </a:t>
                </a:r>
                <a:r>
                  <a:rPr lang="en-US" sz="1900">
                    <a:latin typeface="Arial" panose="020B0604020202020204" pitchFamily="34" charset="0"/>
                    <a:cs typeface="Arial" panose="020B0604020202020204" pitchFamily="34" charset="0"/>
                  </a:rPr>
                  <a:t>for Machine-1, </a:t>
                </a:r>
                <a:r>
                  <a:rPr lang="en-US" sz="1900" dirty="0">
                    <a:latin typeface="Arial" panose="020B0604020202020204" pitchFamily="34" charset="0"/>
                    <a:cs typeface="Arial" panose="020B0604020202020204" pitchFamily="34" charset="0"/>
                  </a:rPr>
                  <a:t>85% </a:t>
                </a:r>
                <a:r>
                  <a:rPr lang="en-US" sz="1900">
                    <a:latin typeface="Arial" panose="020B0604020202020204" pitchFamily="34" charset="0"/>
                    <a:cs typeface="Arial" panose="020B0604020202020204" pitchFamily="34" charset="0"/>
                  </a:rPr>
                  <a:t>for Machine-2 </a:t>
                </a:r>
                <a:r>
                  <a:rPr lang="en-US" sz="1900" dirty="0">
                    <a:latin typeface="Arial" panose="020B0604020202020204" pitchFamily="34" charset="0"/>
                    <a:cs typeface="Arial" panose="020B0604020202020204" pitchFamily="34" charset="0"/>
                  </a:rPr>
                  <a:t>and 90% </a:t>
                </a:r>
                <a:r>
                  <a:rPr lang="en-US" sz="1900">
                    <a:latin typeface="Arial" panose="020B0604020202020204" pitchFamily="34" charset="0"/>
                    <a:cs typeface="Arial" panose="020B0604020202020204" pitchFamily="34" charset="0"/>
                  </a:rPr>
                  <a:t>for Machine-3. </a:t>
                </a:r>
                <a:r>
                  <a:rPr lang="en-US" sz="1900" dirty="0">
                    <a:latin typeface="Arial" panose="020B0604020202020204" pitchFamily="34" charset="0"/>
                    <a:cs typeface="Arial" panose="020B0604020202020204" pitchFamily="34" charset="0"/>
                  </a:rPr>
                  <a:t>An article is chosen at random (</a:t>
                </a:r>
                <a:r>
                  <a:rPr lang="en-US" sz="1900" dirty="0" err="1">
                    <a:latin typeface="Arial" panose="020B0604020202020204" pitchFamily="34" charset="0"/>
                    <a:cs typeface="Arial" panose="020B0604020202020204" pitchFamily="34" charset="0"/>
                  </a:rPr>
                  <a:t>i</a:t>
                </a:r>
                <a:r>
                  <a:rPr lang="en-US" sz="1900" dirty="0">
                    <a:latin typeface="Arial" panose="020B0604020202020204" pitchFamily="34" charset="0"/>
                    <a:cs typeface="Arial" panose="020B0604020202020204" pitchFamily="34" charset="0"/>
                  </a:rPr>
                  <a:t>)	What is the probability that it is satisfactory? (ii) Assuming that the article is satisfactory, what is the probability that it was produced by Machine-1? Machine-2? Machine-3?</a:t>
                </a:r>
              </a:p>
              <a:p>
                <a:pPr marL="342900" indent="-342900" algn="just">
                  <a:lnSpc>
                    <a:spcPct val="150000"/>
                  </a:lnSpc>
                  <a:buFont typeface="Arial" panose="020B0604020202020204" pitchFamily="34" charset="0"/>
                  <a:buChar char="•"/>
                </a:pPr>
                <a:r>
                  <a:rPr lang="en-US" sz="1900" b="1" dirty="0">
                    <a:latin typeface="Arial" panose="020B0604020202020204" pitchFamily="34" charset="0"/>
                    <a:cs typeface="Arial" panose="020B0604020202020204" pitchFamily="34" charset="0"/>
                  </a:rPr>
                  <a:t>Solution</a:t>
                </a:r>
                <a:r>
                  <a:rPr lang="en-US" sz="1900" dirty="0">
                    <a:latin typeface="Arial" panose="020B0604020202020204" pitchFamily="34" charset="0"/>
                    <a:cs typeface="Arial" panose="020B0604020202020204" pitchFamily="34" charset="0"/>
                  </a:rPr>
                  <a:t>: Let </a:t>
                </a:r>
                <a14:m>
                  <m:oMath xmlns:m="http://schemas.openxmlformats.org/officeDocument/2006/math">
                    <m:r>
                      <a:rPr lang="en-US" sz="1900">
                        <a:latin typeface="Cambria Math" panose="02040503050406030204" pitchFamily="18" charset="0"/>
                        <a:cs typeface="Arial" panose="020B0604020202020204" pitchFamily="34" charset="0"/>
                      </a:rPr>
                      <m:t>𝐵</m:t>
                    </m:r>
                  </m:oMath>
                </a14:m>
                <a:r>
                  <a:rPr lang="en-US" sz="1900" dirty="0">
                    <a:latin typeface="Arial" panose="020B0604020202020204" pitchFamily="34" charset="0"/>
                    <a:cs typeface="Arial" panose="020B0604020202020204" pitchFamily="34" charset="0"/>
                  </a:rPr>
                  <a:t>: the article is satisfactory, </a:t>
                </a:r>
                <a14:m>
                  <m:oMath xmlns:m="http://schemas.openxmlformats.org/officeDocument/2006/math">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a:latin typeface="Cambria Math" panose="02040503050406030204" pitchFamily="18" charset="0"/>
                            <a:cs typeface="Arial" panose="020B0604020202020204" pitchFamily="34" charset="0"/>
                          </a:rPr>
                          <m:t>1</m:t>
                        </m:r>
                      </m:sub>
                    </m:sSub>
                  </m:oMath>
                </a14:m>
                <a:r>
                  <a:rPr lang="en-US" sz="1900" dirty="0">
                    <a:latin typeface="Arial" panose="020B0604020202020204" pitchFamily="34" charset="0"/>
                    <a:cs typeface="Arial" panose="020B0604020202020204" pitchFamily="34" charset="0"/>
                  </a:rPr>
                  <a:t>: the article is produced by Machine-1, </a:t>
                </a:r>
                <a14:m>
                  <m:oMath xmlns:m="http://schemas.openxmlformats.org/officeDocument/2006/math">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a:latin typeface="Cambria Math" panose="02040503050406030204" pitchFamily="18" charset="0"/>
                            <a:cs typeface="Arial" panose="020B0604020202020204" pitchFamily="34" charset="0"/>
                          </a:rPr>
                          <m:t>2</m:t>
                        </m:r>
                      </m:sub>
                    </m:sSub>
                  </m:oMath>
                </a14:m>
                <a:r>
                  <a:rPr lang="en-US" sz="1900" dirty="0">
                    <a:latin typeface="Arial" panose="020B0604020202020204" pitchFamily="34" charset="0"/>
                    <a:cs typeface="Arial" panose="020B0604020202020204" pitchFamily="34" charset="0"/>
                  </a:rPr>
                  <a:t>: the article is produced by Machine-2, </a:t>
                </a:r>
                <a14:m>
                  <m:oMath xmlns:m="http://schemas.openxmlformats.org/officeDocument/2006/math">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b="0" i="0" smtClean="0">
                            <a:latin typeface="Cambria Math" panose="02040503050406030204" pitchFamily="18" charset="0"/>
                            <a:cs typeface="Arial" panose="020B0604020202020204" pitchFamily="34" charset="0"/>
                          </a:rPr>
                          <m:t>3</m:t>
                        </m:r>
                      </m:sub>
                    </m:sSub>
                  </m:oMath>
                </a14:m>
                <a:r>
                  <a:rPr lang="en-US" sz="1900" dirty="0">
                    <a:latin typeface="Arial" panose="020B0604020202020204" pitchFamily="34" charset="0"/>
                    <a:cs typeface="Arial" panose="020B0604020202020204" pitchFamily="34" charset="0"/>
                  </a:rPr>
                  <a:t>: the article is produced by Machine-3.                               We have</a:t>
                </a:r>
                <a14:m>
                  <m:oMath xmlns:m="http://schemas.openxmlformats.org/officeDocument/2006/math">
                    <m:r>
                      <a:rPr lang="en-US" sz="1900">
                        <a:latin typeface="Cambria Math" panose="02040503050406030204" pitchFamily="18" charset="0"/>
                        <a:cs typeface="Arial" panose="020B0604020202020204" pitchFamily="34" charset="0"/>
                      </a:rPr>
                      <m:t>𝑃</m:t>
                    </m:r>
                    <m:d>
                      <m:dPr>
                        <m:ctrlPr>
                          <a:rPr lang="en-US" sz="1900" i="1">
                            <a:latin typeface="Cambria Math" panose="02040503050406030204" pitchFamily="18" charset="0"/>
                            <a:cs typeface="Arial" panose="020B0604020202020204" pitchFamily="34" charset="0"/>
                          </a:rPr>
                        </m:ctrlPr>
                      </m:dPr>
                      <m:e>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a:latin typeface="Cambria Math" panose="02040503050406030204" pitchFamily="18" charset="0"/>
                                <a:cs typeface="Arial" panose="020B0604020202020204" pitchFamily="34" charset="0"/>
                              </a:rPr>
                              <m:t>1</m:t>
                            </m:r>
                          </m:sub>
                        </m:sSub>
                      </m:e>
                    </m:d>
                    <m:r>
                      <a:rPr lang="en-US" sz="1900">
                        <a:latin typeface="Cambria Math" panose="02040503050406030204" pitchFamily="18" charset="0"/>
                        <a:cs typeface="Arial" panose="020B0604020202020204" pitchFamily="34" charset="0"/>
                      </a:rPr>
                      <m:t>= 0.</m:t>
                    </m:r>
                    <m:r>
                      <a:rPr lang="en-US" sz="1900" b="0" i="0" smtClean="0">
                        <a:latin typeface="Cambria Math" panose="02040503050406030204" pitchFamily="18" charset="0"/>
                        <a:cs typeface="Arial" panose="020B0604020202020204" pitchFamily="34" charset="0"/>
                      </a:rPr>
                      <m:t>20</m:t>
                    </m:r>
                    <m:r>
                      <a:rPr lang="en-US" sz="1900">
                        <a:latin typeface="Cambria Math" panose="02040503050406030204" pitchFamily="18" charset="0"/>
                        <a:cs typeface="Arial" panose="020B0604020202020204" pitchFamily="34" charset="0"/>
                      </a:rPr>
                      <m:t>, </m:t>
                    </m:r>
                    <m:r>
                      <a:rPr lang="en-US" sz="1900">
                        <a:latin typeface="Cambria Math" panose="02040503050406030204" pitchFamily="18" charset="0"/>
                        <a:cs typeface="Arial" panose="020B0604020202020204" pitchFamily="34" charset="0"/>
                      </a:rPr>
                      <m:t>𝑃</m:t>
                    </m:r>
                    <m:d>
                      <m:dPr>
                        <m:ctrlPr>
                          <a:rPr lang="en-US" sz="1900" i="1">
                            <a:latin typeface="Cambria Math" panose="02040503050406030204" pitchFamily="18" charset="0"/>
                            <a:cs typeface="Arial" panose="020B0604020202020204" pitchFamily="34" charset="0"/>
                          </a:rPr>
                        </m:ctrlPr>
                      </m:dPr>
                      <m:e>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a:latin typeface="Cambria Math" panose="02040503050406030204" pitchFamily="18" charset="0"/>
                                <a:cs typeface="Arial" panose="020B0604020202020204" pitchFamily="34" charset="0"/>
                              </a:rPr>
                              <m:t>2</m:t>
                            </m:r>
                          </m:sub>
                        </m:sSub>
                      </m:e>
                    </m:d>
                    <m:r>
                      <a:rPr lang="en-US" sz="1900">
                        <a:latin typeface="Cambria Math" panose="02040503050406030204" pitchFamily="18" charset="0"/>
                        <a:cs typeface="Arial" panose="020B0604020202020204" pitchFamily="34" charset="0"/>
                      </a:rPr>
                      <m:t>=0.</m:t>
                    </m:r>
                    <m:r>
                      <a:rPr lang="en-US" sz="1900" b="0" i="0" smtClean="0">
                        <a:latin typeface="Cambria Math" panose="02040503050406030204" pitchFamily="18" charset="0"/>
                        <a:cs typeface="Arial" panose="020B0604020202020204" pitchFamily="34" charset="0"/>
                      </a:rPr>
                      <m:t>30</m:t>
                    </m:r>
                    <m:r>
                      <a:rPr lang="en-US" sz="1900">
                        <a:latin typeface="Cambria Math" panose="02040503050406030204" pitchFamily="18" charset="0"/>
                        <a:cs typeface="Arial" panose="020B0604020202020204" pitchFamily="34" charset="0"/>
                      </a:rPr>
                      <m:t>,</m:t>
                    </m:r>
                    <m:r>
                      <a:rPr lang="en-US" sz="1900">
                        <a:latin typeface="Cambria Math" panose="02040503050406030204" pitchFamily="18" charset="0"/>
                        <a:cs typeface="Arial" panose="020B0604020202020204" pitchFamily="34" charset="0"/>
                      </a:rPr>
                      <m:t>𝑃</m:t>
                    </m:r>
                    <m:d>
                      <m:dPr>
                        <m:ctrlPr>
                          <a:rPr lang="en-US" sz="1900" i="1">
                            <a:latin typeface="Cambria Math" panose="02040503050406030204" pitchFamily="18" charset="0"/>
                            <a:cs typeface="Arial" panose="020B0604020202020204" pitchFamily="34" charset="0"/>
                          </a:rPr>
                        </m:ctrlPr>
                      </m:dPr>
                      <m:e>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b="0" i="0" smtClean="0">
                                <a:latin typeface="Cambria Math" panose="02040503050406030204" pitchFamily="18" charset="0"/>
                                <a:cs typeface="Arial" panose="020B0604020202020204" pitchFamily="34" charset="0"/>
                              </a:rPr>
                              <m:t>3</m:t>
                            </m:r>
                          </m:sub>
                        </m:sSub>
                      </m:e>
                    </m:d>
                    <m:r>
                      <a:rPr lang="en-US" sz="1900">
                        <a:latin typeface="Cambria Math" panose="02040503050406030204" pitchFamily="18" charset="0"/>
                        <a:cs typeface="Arial" panose="020B0604020202020204" pitchFamily="34" charset="0"/>
                      </a:rPr>
                      <m:t>=0.</m:t>
                    </m:r>
                    <m:r>
                      <a:rPr lang="en-US" sz="1900" b="0" i="0" smtClean="0">
                        <a:latin typeface="Cambria Math" panose="02040503050406030204" pitchFamily="18" charset="0"/>
                        <a:cs typeface="Arial" panose="020B0604020202020204" pitchFamily="34" charset="0"/>
                      </a:rPr>
                      <m:t>5</m:t>
                    </m:r>
                    <m:r>
                      <a:rPr lang="en-US" sz="1900">
                        <a:latin typeface="Cambria Math" panose="02040503050406030204" pitchFamily="18" charset="0"/>
                        <a:cs typeface="Arial" panose="020B0604020202020204" pitchFamily="34" charset="0"/>
                      </a:rPr>
                      <m:t>0</m:t>
                    </m:r>
                    <m:r>
                      <a:rPr lang="en-US" sz="1900" b="0" i="0" smtClean="0">
                        <a:latin typeface="Cambria Math" panose="02040503050406030204" pitchFamily="18" charset="0"/>
                        <a:cs typeface="Arial" panose="020B0604020202020204" pitchFamily="34" charset="0"/>
                      </a:rPr>
                      <m:t>, </m:t>
                    </m:r>
                    <m:r>
                      <a:rPr lang="en-US" sz="1900">
                        <a:latin typeface="Cambria Math" panose="02040503050406030204" pitchFamily="18" charset="0"/>
                        <a:cs typeface="Arial" panose="020B0604020202020204" pitchFamily="34" charset="0"/>
                      </a:rPr>
                      <m:t>𝑃</m:t>
                    </m:r>
                    <m:d>
                      <m:dPr>
                        <m:ctrlPr>
                          <a:rPr lang="en-US" sz="1900" i="1">
                            <a:latin typeface="Cambria Math" panose="02040503050406030204" pitchFamily="18" charset="0"/>
                            <a:cs typeface="Arial" panose="020B0604020202020204" pitchFamily="34" charset="0"/>
                          </a:rPr>
                        </m:ctrlPr>
                      </m:dPr>
                      <m:e>
                        <m:r>
                          <a:rPr lang="en-US" sz="1900" b="0" i="1" smtClean="0">
                            <a:latin typeface="Cambria Math" panose="02040503050406030204" pitchFamily="18" charset="0"/>
                            <a:cs typeface="Arial" panose="020B0604020202020204" pitchFamily="34" charset="0"/>
                          </a:rPr>
                          <m:t>𝐵</m:t>
                        </m:r>
                      </m:e>
                      <m:e>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a:latin typeface="Cambria Math" panose="02040503050406030204" pitchFamily="18" charset="0"/>
                                <a:cs typeface="Arial" panose="020B0604020202020204" pitchFamily="34" charset="0"/>
                              </a:rPr>
                              <m:t>1</m:t>
                            </m:r>
                          </m:sub>
                        </m:sSub>
                      </m:e>
                    </m:d>
                    <m:r>
                      <a:rPr lang="en-US" sz="1900">
                        <a:latin typeface="Cambria Math" panose="02040503050406030204" pitchFamily="18" charset="0"/>
                        <a:cs typeface="Arial" panose="020B0604020202020204" pitchFamily="34" charset="0"/>
                      </a:rPr>
                      <m:t>= 0.</m:t>
                    </m:r>
                    <m:r>
                      <a:rPr lang="en-US" sz="1900" b="0" i="0" smtClean="0">
                        <a:latin typeface="Cambria Math" panose="02040503050406030204" pitchFamily="18" charset="0"/>
                        <a:cs typeface="Arial" panose="020B0604020202020204" pitchFamily="34" charset="0"/>
                      </a:rPr>
                      <m:t>95</m:t>
                    </m:r>
                    <m:r>
                      <a:rPr lang="en-US" sz="1900">
                        <a:latin typeface="Cambria Math" panose="02040503050406030204" pitchFamily="18" charset="0"/>
                        <a:cs typeface="Arial" panose="020B0604020202020204" pitchFamily="34" charset="0"/>
                      </a:rPr>
                      <m:t>, </m:t>
                    </m:r>
                    <m:r>
                      <a:rPr lang="en-US" sz="1900">
                        <a:latin typeface="Cambria Math" panose="02040503050406030204" pitchFamily="18" charset="0"/>
                        <a:cs typeface="Arial" panose="020B0604020202020204" pitchFamily="34" charset="0"/>
                      </a:rPr>
                      <m:t>𝑃</m:t>
                    </m:r>
                    <m:d>
                      <m:dPr>
                        <m:ctrlPr>
                          <a:rPr lang="en-US" sz="1900" i="1">
                            <a:latin typeface="Cambria Math" panose="02040503050406030204" pitchFamily="18" charset="0"/>
                            <a:cs typeface="Arial" panose="020B0604020202020204" pitchFamily="34" charset="0"/>
                          </a:rPr>
                        </m:ctrlPr>
                      </m:dPr>
                      <m:e>
                        <m:r>
                          <a:rPr lang="en-US" sz="1900">
                            <a:latin typeface="Cambria Math" panose="02040503050406030204" pitchFamily="18" charset="0"/>
                            <a:cs typeface="Arial" panose="020B0604020202020204" pitchFamily="34" charset="0"/>
                          </a:rPr>
                          <m:t>𝐵</m:t>
                        </m:r>
                      </m:e>
                      <m:e>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b="0" i="0" smtClean="0">
                                <a:latin typeface="Cambria Math" panose="02040503050406030204" pitchFamily="18" charset="0"/>
                                <a:cs typeface="Arial" panose="020B0604020202020204" pitchFamily="34" charset="0"/>
                              </a:rPr>
                              <m:t>2</m:t>
                            </m:r>
                          </m:sub>
                        </m:sSub>
                      </m:e>
                    </m:d>
                    <m:r>
                      <a:rPr lang="en-US" sz="1900">
                        <a:latin typeface="Cambria Math" panose="02040503050406030204" pitchFamily="18" charset="0"/>
                        <a:cs typeface="Arial" panose="020B0604020202020204" pitchFamily="34" charset="0"/>
                      </a:rPr>
                      <m:t>= 0.</m:t>
                    </m:r>
                    <m:r>
                      <a:rPr lang="en-US" sz="1900" b="0" i="0" smtClean="0">
                        <a:latin typeface="Cambria Math" panose="02040503050406030204" pitchFamily="18" charset="0"/>
                        <a:cs typeface="Arial" panose="020B0604020202020204" pitchFamily="34" charset="0"/>
                      </a:rPr>
                      <m:t>85</m:t>
                    </m:r>
                    <m:r>
                      <a:rPr lang="en-US" sz="1900">
                        <a:latin typeface="Cambria Math" panose="02040503050406030204" pitchFamily="18" charset="0"/>
                        <a:cs typeface="Arial" panose="020B0604020202020204" pitchFamily="34" charset="0"/>
                      </a:rPr>
                      <m:t>, </m:t>
                    </m:r>
                    <m:r>
                      <a:rPr lang="en-US" sz="1900">
                        <a:latin typeface="Cambria Math" panose="02040503050406030204" pitchFamily="18" charset="0"/>
                        <a:cs typeface="Arial" panose="020B0604020202020204" pitchFamily="34" charset="0"/>
                      </a:rPr>
                      <m:t>𝑃</m:t>
                    </m:r>
                    <m:d>
                      <m:dPr>
                        <m:ctrlPr>
                          <a:rPr lang="en-US" sz="1900" i="1">
                            <a:latin typeface="Cambria Math" panose="02040503050406030204" pitchFamily="18" charset="0"/>
                            <a:cs typeface="Arial" panose="020B0604020202020204" pitchFamily="34" charset="0"/>
                          </a:rPr>
                        </m:ctrlPr>
                      </m:dPr>
                      <m:e>
                        <m:r>
                          <a:rPr lang="en-US" sz="1900">
                            <a:latin typeface="Cambria Math" panose="02040503050406030204" pitchFamily="18" charset="0"/>
                            <a:cs typeface="Arial" panose="020B0604020202020204" pitchFamily="34" charset="0"/>
                          </a:rPr>
                          <m:t>𝐵</m:t>
                        </m:r>
                      </m:e>
                      <m:e>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b="0" i="0" smtClean="0">
                                <a:latin typeface="Cambria Math" panose="02040503050406030204" pitchFamily="18" charset="0"/>
                                <a:cs typeface="Arial" panose="020B0604020202020204" pitchFamily="34" charset="0"/>
                              </a:rPr>
                              <m:t>3</m:t>
                            </m:r>
                          </m:sub>
                        </m:sSub>
                      </m:e>
                    </m:d>
                    <m:r>
                      <a:rPr lang="en-US" sz="1900">
                        <a:latin typeface="Cambria Math" panose="02040503050406030204" pitchFamily="18" charset="0"/>
                        <a:cs typeface="Arial" panose="020B0604020202020204" pitchFamily="34" charset="0"/>
                      </a:rPr>
                      <m:t>= 0.</m:t>
                    </m:r>
                    <m:r>
                      <a:rPr lang="en-US" sz="1900" b="0" i="0" smtClean="0">
                        <a:latin typeface="Cambria Math" panose="02040503050406030204" pitchFamily="18" charset="0"/>
                        <a:cs typeface="Arial" panose="020B0604020202020204" pitchFamily="34" charset="0"/>
                      </a:rPr>
                      <m:t>90</m:t>
                    </m:r>
                    <m:r>
                      <a:rPr lang="en-US" sz="1900">
                        <a:latin typeface="Cambria Math" panose="02040503050406030204" pitchFamily="18" charset="0"/>
                        <a:cs typeface="Arial" panose="020B0604020202020204" pitchFamily="34" charset="0"/>
                      </a:rPr>
                      <m:t>.</m:t>
                    </m:r>
                    <m:r>
                      <a:rPr lang="en-US" sz="1900" b="0" i="0" smtClean="0">
                        <a:latin typeface="Cambria Math" panose="02040503050406030204" pitchFamily="18" charset="0"/>
                        <a:cs typeface="Arial" panose="020B0604020202020204" pitchFamily="34" charset="0"/>
                      </a:rPr>
                      <m:t>  </m:t>
                    </m:r>
                  </m:oMath>
                </a14:m>
                <a:r>
                  <a:rPr lang="en-US" sz="1900" dirty="0">
                    <a:latin typeface="Arial" panose="020B0604020202020204" pitchFamily="34" charset="0"/>
                    <a:cs typeface="Arial" panose="020B0604020202020204" pitchFamily="34" charset="0"/>
                  </a:rPr>
                  <a:t>  Now, (</a:t>
                </a:r>
                <a:r>
                  <a:rPr lang="en-US" sz="1900" dirty="0" err="1">
                    <a:latin typeface="Arial" panose="020B0604020202020204" pitchFamily="34" charset="0"/>
                    <a:cs typeface="Arial" panose="020B0604020202020204" pitchFamily="34" charset="0"/>
                  </a:rPr>
                  <a:t>i</a:t>
                </a:r>
                <a:r>
                  <a:rPr lang="en-US" sz="1900" dirty="0">
                    <a:latin typeface="Arial" panose="020B0604020202020204" pitchFamily="34" charset="0"/>
                    <a:cs typeface="Arial" panose="020B0604020202020204" pitchFamily="34" charset="0"/>
                  </a:rPr>
                  <a:t>) </a:t>
                </a:r>
                <a14:m>
                  <m:oMath xmlns:m="http://schemas.openxmlformats.org/officeDocument/2006/math">
                    <m:r>
                      <a:rPr lang="en-US" sz="1900" b="0" i="1" smtClean="0">
                        <a:latin typeface="Cambria Math" panose="02040503050406030204" pitchFamily="18" charset="0"/>
                        <a:cs typeface="Arial" panose="020B0604020202020204" pitchFamily="34" charset="0"/>
                      </a:rPr>
                      <m:t>𝑃</m:t>
                    </m:r>
                    <m:d>
                      <m:dPr>
                        <m:ctrlPr>
                          <a:rPr lang="en-US" sz="1900" b="0" i="1" smtClean="0">
                            <a:latin typeface="Cambria Math" panose="02040503050406030204" pitchFamily="18" charset="0"/>
                            <a:cs typeface="Arial" panose="020B0604020202020204" pitchFamily="34" charset="0"/>
                          </a:rPr>
                        </m:ctrlPr>
                      </m:dPr>
                      <m:e>
                        <m:r>
                          <a:rPr lang="en-US" sz="1900" b="0" i="1" smtClean="0">
                            <a:latin typeface="Cambria Math" panose="02040503050406030204" pitchFamily="18" charset="0"/>
                            <a:cs typeface="Arial" panose="020B0604020202020204" pitchFamily="34" charset="0"/>
                          </a:rPr>
                          <m:t>𝐵</m:t>
                        </m:r>
                      </m:e>
                    </m:d>
                    <m:r>
                      <a:rPr lang="en-US" sz="1900" b="0" i="1" smtClean="0">
                        <a:latin typeface="Cambria Math" panose="02040503050406030204" pitchFamily="18" charset="0"/>
                        <a:cs typeface="Arial" panose="020B0604020202020204" pitchFamily="34" charset="0"/>
                      </a:rPr>
                      <m:t>=</m:t>
                    </m:r>
                    <m:r>
                      <a:rPr lang="en-US" sz="1900" i="1">
                        <a:latin typeface="Cambria Math" panose="02040503050406030204" pitchFamily="18" charset="0"/>
                      </a:rPr>
                      <m:t>𝑃</m:t>
                    </m:r>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i="1">
                                <a:latin typeface="Cambria Math" panose="02040503050406030204" pitchFamily="18" charset="0"/>
                              </a:rPr>
                              <m:t>1</m:t>
                            </m:r>
                          </m:sub>
                        </m:sSub>
                        <m:r>
                          <a:rPr lang="en-US" sz="1900" i="1">
                            <a:latin typeface="Cambria Math" panose="02040503050406030204" pitchFamily="18" charset="0"/>
                          </a:rPr>
                          <m:t>𝐵</m:t>
                        </m:r>
                      </m:e>
                    </m:d>
                    <m:r>
                      <a:rPr lang="en-US" sz="1900" b="0" i="1" smtClean="0">
                        <a:latin typeface="Cambria Math" panose="02040503050406030204" pitchFamily="18" charset="0"/>
                      </a:rPr>
                      <m:t>+</m:t>
                    </m:r>
                    <m:r>
                      <a:rPr lang="en-US" sz="1900" i="1">
                        <a:latin typeface="Cambria Math" panose="02040503050406030204" pitchFamily="18" charset="0"/>
                      </a:rPr>
                      <m:t>𝑃</m:t>
                    </m:r>
                    <m:d>
                      <m:dPr>
                        <m:ctrlPr>
                          <a:rPr lang="en-US" sz="1900" i="1">
                            <a:latin typeface="Cambria Math" panose="02040503050406030204" pitchFamily="18" charset="0"/>
                          </a:rPr>
                        </m:ctrlPr>
                      </m:dPr>
                      <m:e>
                        <m:sSub>
                          <m:sSubPr>
                            <m:ctrlPr>
                              <a:rPr lang="en-US" sz="1900" i="1" smtClean="0">
                                <a:latin typeface="Cambria Math" panose="02040503050406030204" pitchFamily="18" charset="0"/>
                              </a:rPr>
                            </m:ctrlPr>
                          </m:sSubPr>
                          <m:e>
                            <m:r>
                              <a:rPr lang="en-US" sz="1900" i="1">
                                <a:latin typeface="Cambria Math" panose="02040503050406030204" pitchFamily="18" charset="0"/>
                              </a:rPr>
                              <m:t>𝐴</m:t>
                            </m:r>
                          </m:e>
                          <m:sub>
                            <m:r>
                              <a:rPr lang="en-US" sz="1900" b="0" i="1" smtClean="0">
                                <a:latin typeface="Cambria Math" panose="02040503050406030204" pitchFamily="18" charset="0"/>
                              </a:rPr>
                              <m:t>2</m:t>
                            </m:r>
                          </m:sub>
                        </m:sSub>
                        <m:r>
                          <a:rPr lang="en-US" sz="1900" i="1">
                            <a:latin typeface="Cambria Math" panose="02040503050406030204" pitchFamily="18" charset="0"/>
                          </a:rPr>
                          <m:t>𝐵</m:t>
                        </m:r>
                      </m:e>
                    </m:d>
                    <m:r>
                      <a:rPr lang="en-US" sz="1900" b="0" i="1" smtClean="0">
                        <a:latin typeface="Cambria Math" panose="02040503050406030204" pitchFamily="18" charset="0"/>
                      </a:rPr>
                      <m:t>+</m:t>
                    </m:r>
                    <m:r>
                      <a:rPr lang="en-US" sz="1900" i="1">
                        <a:latin typeface="Cambria Math" panose="02040503050406030204" pitchFamily="18" charset="0"/>
                      </a:rPr>
                      <m:t>𝑃</m:t>
                    </m:r>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i="1">
                                <a:latin typeface="Cambria Math" panose="02040503050406030204" pitchFamily="18" charset="0"/>
                              </a:rPr>
                              <m:t>𝐴</m:t>
                            </m:r>
                          </m:e>
                          <m:sub>
                            <m:r>
                              <a:rPr lang="en-US" sz="1900" b="0" i="1" smtClean="0">
                                <a:latin typeface="Cambria Math" panose="02040503050406030204" pitchFamily="18" charset="0"/>
                              </a:rPr>
                              <m:t>3</m:t>
                            </m:r>
                          </m:sub>
                        </m:sSub>
                        <m:r>
                          <a:rPr lang="en-US" sz="1900" i="1">
                            <a:latin typeface="Cambria Math" panose="02040503050406030204" pitchFamily="18" charset="0"/>
                          </a:rPr>
                          <m:t>𝐵</m:t>
                        </m:r>
                      </m:e>
                    </m:d>
                    <m:r>
                      <a:rPr lang="en-US" sz="1900" i="1">
                        <a:latin typeface="Cambria Math" panose="02040503050406030204" pitchFamily="18" charset="0"/>
                      </a:rPr>
                      <m:t>=</m:t>
                    </m:r>
                    <m:r>
                      <a:rPr lang="en-US" sz="1900" b="0" i="1" smtClean="0">
                        <a:latin typeface="Cambria Math" panose="02040503050406030204" pitchFamily="18" charset="0"/>
                      </a:rPr>
                      <m:t>0.19+0.255+0.45=0.865</m:t>
                    </m:r>
                  </m:oMath>
                </a14:m>
                <a:r>
                  <a:rPr lang="en-US" sz="1900" dirty="0">
                    <a:latin typeface="Arial" panose="020B0604020202020204" pitchFamily="34" charset="0"/>
                    <a:cs typeface="Arial" panose="020B0604020202020204" pitchFamily="34" charset="0"/>
                  </a:rPr>
                  <a:t> (ii) </a:t>
                </a:r>
                <a14:m>
                  <m:oMath xmlns:m="http://schemas.openxmlformats.org/officeDocument/2006/math">
                    <m:r>
                      <a:rPr lang="en-US" sz="1900">
                        <a:latin typeface="Cambria Math" panose="02040503050406030204" pitchFamily="18" charset="0"/>
                        <a:cs typeface="Arial" panose="020B0604020202020204" pitchFamily="34" charset="0"/>
                      </a:rPr>
                      <m:t>𝑃</m:t>
                    </m:r>
                    <m:d>
                      <m:dPr>
                        <m:ctrlPr>
                          <a:rPr lang="en-US" sz="1900" i="1">
                            <a:latin typeface="Cambria Math" panose="02040503050406030204" pitchFamily="18" charset="0"/>
                            <a:cs typeface="Arial" panose="020B0604020202020204" pitchFamily="34" charset="0"/>
                          </a:rPr>
                        </m:ctrlPr>
                      </m:dPr>
                      <m:e>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b="0" i="1" smtClean="0">
                                <a:latin typeface="Cambria Math" panose="02040503050406030204" pitchFamily="18" charset="0"/>
                                <a:cs typeface="Arial" panose="020B0604020202020204" pitchFamily="34" charset="0"/>
                              </a:rPr>
                              <m:t>1</m:t>
                            </m:r>
                          </m:sub>
                        </m:sSub>
                      </m:e>
                      <m:e>
                        <m:r>
                          <a:rPr lang="en-US" sz="1900">
                            <a:latin typeface="Cambria Math" panose="02040503050406030204" pitchFamily="18" charset="0"/>
                            <a:cs typeface="Arial" panose="020B0604020202020204" pitchFamily="34" charset="0"/>
                          </a:rPr>
                          <m:t>𝐵</m:t>
                        </m:r>
                      </m:e>
                    </m:d>
                    <m:r>
                      <a:rPr lang="en-US" sz="1900" b="0" i="1" smtClean="0">
                        <a:latin typeface="Cambria Math" panose="02040503050406030204" pitchFamily="18" charset="0"/>
                        <a:cs typeface="Arial" panose="020B0604020202020204" pitchFamily="34" charset="0"/>
                      </a:rPr>
                      <m:t>=</m:t>
                    </m:r>
                    <m:f>
                      <m:fPr>
                        <m:ctrlPr>
                          <a:rPr lang="en-US" sz="1900" b="0" i="1" smtClean="0">
                            <a:latin typeface="Cambria Math" panose="02040503050406030204" pitchFamily="18" charset="0"/>
                            <a:cs typeface="Arial" panose="020B0604020202020204" pitchFamily="34" charset="0"/>
                          </a:rPr>
                        </m:ctrlPr>
                      </m:fPr>
                      <m:num>
                        <m:r>
                          <a:rPr lang="en-US" sz="1900" b="0" i="1" smtClean="0">
                            <a:latin typeface="Cambria Math" panose="02040503050406030204" pitchFamily="18" charset="0"/>
                            <a:cs typeface="Arial" panose="020B0604020202020204" pitchFamily="34" charset="0"/>
                          </a:rPr>
                          <m:t>0.19</m:t>
                        </m:r>
                      </m:num>
                      <m:den>
                        <m:r>
                          <a:rPr lang="en-US" sz="1900" b="0" i="1" smtClean="0">
                            <a:latin typeface="Cambria Math" panose="02040503050406030204" pitchFamily="18" charset="0"/>
                            <a:cs typeface="Arial" panose="020B0604020202020204" pitchFamily="34" charset="0"/>
                          </a:rPr>
                          <m:t>0.865</m:t>
                        </m:r>
                      </m:den>
                    </m:f>
                    <m:r>
                      <a:rPr lang="en-US" sz="1900" i="1" dirty="0" smtClean="0">
                        <a:latin typeface="Cambria Math" panose="02040503050406030204" pitchFamily="18" charset="0"/>
                        <a:cs typeface="Arial" panose="020B0604020202020204" pitchFamily="34" charset="0"/>
                      </a:rPr>
                      <m:t>=0.2196</m:t>
                    </m:r>
                  </m:oMath>
                </a14:m>
                <a:r>
                  <a:rPr lang="en-US" sz="1900" dirty="0">
                    <a:latin typeface="Arial" panose="020B0604020202020204" pitchFamily="34" charset="0"/>
                    <a:cs typeface="Arial" panose="020B0604020202020204" pitchFamily="34" charset="0"/>
                  </a:rPr>
                  <a:t>, </a:t>
                </a:r>
                <a14:m>
                  <m:oMath xmlns:m="http://schemas.openxmlformats.org/officeDocument/2006/math">
                    <m:r>
                      <a:rPr lang="en-US" sz="1900">
                        <a:latin typeface="Cambria Math" panose="02040503050406030204" pitchFamily="18" charset="0"/>
                        <a:cs typeface="Arial" panose="020B0604020202020204" pitchFamily="34" charset="0"/>
                      </a:rPr>
                      <m:t>𝑃</m:t>
                    </m:r>
                    <m:d>
                      <m:dPr>
                        <m:ctrlPr>
                          <a:rPr lang="en-US" sz="1900" i="1">
                            <a:latin typeface="Cambria Math" panose="02040503050406030204" pitchFamily="18" charset="0"/>
                            <a:cs typeface="Arial" panose="020B0604020202020204" pitchFamily="34" charset="0"/>
                          </a:rPr>
                        </m:ctrlPr>
                      </m:dPr>
                      <m:e>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b="0" i="1" smtClean="0">
                                <a:latin typeface="Cambria Math" panose="02040503050406030204" pitchFamily="18" charset="0"/>
                                <a:cs typeface="Arial" panose="020B0604020202020204" pitchFamily="34" charset="0"/>
                              </a:rPr>
                              <m:t>2</m:t>
                            </m:r>
                          </m:sub>
                        </m:sSub>
                      </m:e>
                      <m:e>
                        <m:r>
                          <a:rPr lang="en-US" sz="1900">
                            <a:latin typeface="Cambria Math" panose="02040503050406030204" pitchFamily="18" charset="0"/>
                            <a:cs typeface="Arial" panose="020B0604020202020204" pitchFamily="34" charset="0"/>
                          </a:rPr>
                          <m:t>𝐵</m:t>
                        </m:r>
                      </m:e>
                    </m:d>
                    <m:r>
                      <a:rPr lang="en-US" sz="1900" i="1">
                        <a:latin typeface="Cambria Math" panose="02040503050406030204" pitchFamily="18" charset="0"/>
                        <a:cs typeface="Arial" panose="020B0604020202020204" pitchFamily="34" charset="0"/>
                      </a:rPr>
                      <m:t>=</m:t>
                    </m:r>
                    <m:f>
                      <m:fPr>
                        <m:ctrlPr>
                          <a:rPr lang="en-US" sz="1900" i="1">
                            <a:latin typeface="Cambria Math" panose="02040503050406030204" pitchFamily="18" charset="0"/>
                            <a:cs typeface="Arial" panose="020B0604020202020204" pitchFamily="34" charset="0"/>
                          </a:rPr>
                        </m:ctrlPr>
                      </m:fPr>
                      <m:num>
                        <m:r>
                          <a:rPr lang="en-US" sz="1900" i="1">
                            <a:latin typeface="Cambria Math" panose="02040503050406030204" pitchFamily="18" charset="0"/>
                            <a:cs typeface="Arial" panose="020B0604020202020204" pitchFamily="34" charset="0"/>
                          </a:rPr>
                          <m:t>0.</m:t>
                        </m:r>
                        <m:r>
                          <a:rPr lang="en-US" sz="1900" b="0" i="1" smtClean="0">
                            <a:latin typeface="Cambria Math" panose="02040503050406030204" pitchFamily="18" charset="0"/>
                            <a:cs typeface="Arial" panose="020B0604020202020204" pitchFamily="34" charset="0"/>
                          </a:rPr>
                          <m:t>255</m:t>
                        </m:r>
                      </m:num>
                      <m:den>
                        <m:r>
                          <a:rPr lang="en-US" sz="1900" i="1">
                            <a:latin typeface="Cambria Math" panose="02040503050406030204" pitchFamily="18" charset="0"/>
                            <a:cs typeface="Arial" panose="020B0604020202020204" pitchFamily="34" charset="0"/>
                          </a:rPr>
                          <m:t>0.865</m:t>
                        </m:r>
                      </m:den>
                    </m:f>
                    <m:r>
                      <a:rPr lang="en-US" sz="1900" i="1" dirty="0">
                        <a:latin typeface="Cambria Math" panose="02040503050406030204" pitchFamily="18" charset="0"/>
                        <a:cs typeface="Arial" panose="020B0604020202020204" pitchFamily="34" charset="0"/>
                      </a:rPr>
                      <m:t>=0.2</m:t>
                    </m:r>
                    <m:r>
                      <a:rPr lang="en-US" sz="1900" b="0" i="1" dirty="0" smtClean="0">
                        <a:latin typeface="Cambria Math" panose="02040503050406030204" pitchFamily="18" charset="0"/>
                        <a:cs typeface="Arial" panose="020B0604020202020204" pitchFamily="34" charset="0"/>
                      </a:rPr>
                      <m:t>948</m:t>
                    </m:r>
                  </m:oMath>
                </a14:m>
                <a:r>
                  <a:rPr lang="en-US" sz="1900" dirty="0">
                    <a:latin typeface="Arial" panose="020B0604020202020204" pitchFamily="34" charset="0"/>
                    <a:cs typeface="Arial" panose="020B0604020202020204" pitchFamily="34" charset="0"/>
                  </a:rPr>
                  <a:t>, </a:t>
                </a:r>
                <a14:m>
                  <m:oMath xmlns:m="http://schemas.openxmlformats.org/officeDocument/2006/math">
                    <m:r>
                      <a:rPr lang="en-US" sz="1900">
                        <a:latin typeface="Cambria Math" panose="02040503050406030204" pitchFamily="18" charset="0"/>
                        <a:cs typeface="Arial" panose="020B0604020202020204" pitchFamily="34" charset="0"/>
                      </a:rPr>
                      <m:t>𝑃</m:t>
                    </m:r>
                    <m:d>
                      <m:dPr>
                        <m:ctrlPr>
                          <a:rPr lang="en-US" sz="1900" i="1">
                            <a:latin typeface="Cambria Math" panose="02040503050406030204" pitchFamily="18" charset="0"/>
                            <a:cs typeface="Arial" panose="020B0604020202020204" pitchFamily="34" charset="0"/>
                          </a:rPr>
                        </m:ctrlPr>
                      </m:dPr>
                      <m:e>
                        <m:sSub>
                          <m:sSubPr>
                            <m:ctrlPr>
                              <a:rPr lang="en-US" sz="1900" i="1">
                                <a:latin typeface="Cambria Math" panose="02040503050406030204" pitchFamily="18" charset="0"/>
                                <a:cs typeface="Arial" panose="020B0604020202020204" pitchFamily="34" charset="0"/>
                              </a:rPr>
                            </m:ctrlPr>
                          </m:sSubPr>
                          <m:e>
                            <m:r>
                              <a:rPr lang="en-US" sz="1900">
                                <a:latin typeface="Cambria Math" panose="02040503050406030204" pitchFamily="18" charset="0"/>
                                <a:cs typeface="Arial" panose="020B0604020202020204" pitchFamily="34" charset="0"/>
                              </a:rPr>
                              <m:t>𝐴</m:t>
                            </m:r>
                          </m:e>
                          <m:sub>
                            <m:r>
                              <a:rPr lang="en-US" sz="1900" b="0" i="1" smtClean="0">
                                <a:latin typeface="Cambria Math" panose="02040503050406030204" pitchFamily="18" charset="0"/>
                                <a:cs typeface="Arial" panose="020B0604020202020204" pitchFamily="34" charset="0"/>
                              </a:rPr>
                              <m:t>3</m:t>
                            </m:r>
                          </m:sub>
                        </m:sSub>
                      </m:e>
                      <m:e>
                        <m:r>
                          <a:rPr lang="en-US" sz="1900">
                            <a:latin typeface="Cambria Math" panose="02040503050406030204" pitchFamily="18" charset="0"/>
                            <a:cs typeface="Arial" panose="020B0604020202020204" pitchFamily="34" charset="0"/>
                          </a:rPr>
                          <m:t>𝐵</m:t>
                        </m:r>
                      </m:e>
                    </m:d>
                    <m:r>
                      <a:rPr lang="en-US" sz="1900" i="1">
                        <a:latin typeface="Cambria Math" panose="02040503050406030204" pitchFamily="18" charset="0"/>
                        <a:cs typeface="Arial" panose="020B0604020202020204" pitchFamily="34" charset="0"/>
                      </a:rPr>
                      <m:t>=</m:t>
                    </m:r>
                    <m:f>
                      <m:fPr>
                        <m:ctrlPr>
                          <a:rPr lang="en-US" sz="1900" i="1">
                            <a:latin typeface="Cambria Math" panose="02040503050406030204" pitchFamily="18" charset="0"/>
                            <a:cs typeface="Arial" panose="020B0604020202020204" pitchFamily="34" charset="0"/>
                          </a:rPr>
                        </m:ctrlPr>
                      </m:fPr>
                      <m:num>
                        <m:r>
                          <a:rPr lang="en-US" sz="1900" i="1">
                            <a:latin typeface="Cambria Math" panose="02040503050406030204" pitchFamily="18" charset="0"/>
                            <a:cs typeface="Arial" panose="020B0604020202020204" pitchFamily="34" charset="0"/>
                          </a:rPr>
                          <m:t>0.</m:t>
                        </m:r>
                        <m:r>
                          <a:rPr lang="en-US" sz="1900" b="0" i="1" smtClean="0">
                            <a:latin typeface="Cambria Math" panose="02040503050406030204" pitchFamily="18" charset="0"/>
                            <a:cs typeface="Arial" panose="020B0604020202020204" pitchFamily="34" charset="0"/>
                          </a:rPr>
                          <m:t>45</m:t>
                        </m:r>
                      </m:num>
                      <m:den>
                        <m:r>
                          <a:rPr lang="en-US" sz="1900" i="1">
                            <a:latin typeface="Cambria Math" panose="02040503050406030204" pitchFamily="18" charset="0"/>
                            <a:cs typeface="Arial" panose="020B0604020202020204" pitchFamily="34" charset="0"/>
                          </a:rPr>
                          <m:t>0.865</m:t>
                        </m:r>
                      </m:den>
                    </m:f>
                    <m:r>
                      <a:rPr lang="en-US" sz="1900" i="1" dirty="0">
                        <a:latin typeface="Cambria Math" panose="02040503050406030204" pitchFamily="18" charset="0"/>
                        <a:cs typeface="Arial" panose="020B0604020202020204" pitchFamily="34" charset="0"/>
                      </a:rPr>
                      <m:t>=0.</m:t>
                    </m:r>
                    <m:r>
                      <a:rPr lang="en-US" sz="1900" b="0" i="1" dirty="0" smtClean="0">
                        <a:latin typeface="Cambria Math" panose="02040503050406030204" pitchFamily="18" charset="0"/>
                        <a:cs typeface="Arial" panose="020B0604020202020204" pitchFamily="34" charset="0"/>
                      </a:rPr>
                      <m:t>5202</m:t>
                    </m:r>
                  </m:oMath>
                </a14:m>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9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1900" b="1" i="1"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675886"/>
                <a:ext cx="10831132" cy="5698021"/>
              </a:xfrm>
              <a:blipFill rotWithShape="0">
                <a:blip r:embed="rId2"/>
                <a:stretch>
                  <a:fillRect l="-450" r="-506"/>
                </a:stretch>
              </a:blipFill>
            </p:spPr>
            <p:txBody>
              <a:bodyPr/>
              <a:lstStyle/>
              <a:p>
                <a:r>
                  <a:rPr lang="en-US">
                    <a:noFill/>
                  </a:rPr>
                  <a:t> </a:t>
                </a:r>
              </a:p>
            </p:txBody>
          </p:sp>
        </mc:Fallback>
      </mc:AlternateContent>
    </p:spTree>
    <p:extLst>
      <p:ext uri="{BB962C8B-B14F-4D97-AF65-F5344CB8AC3E}">
        <p14:creationId xmlns:p14="http://schemas.microsoft.com/office/powerpoint/2010/main" val="3837942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smtClean="0">
                <a:latin typeface="Arial" panose="020B0604020202020204" pitchFamily="34" charset="0"/>
                <a:cs typeface="Arial" panose="020B0604020202020204" pitchFamily="34" charset="0"/>
              </a:rPr>
              <a:t>Independence of Events</a:t>
            </a:r>
            <a:endParaRPr 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931379"/>
                <a:ext cx="10831132" cy="5698021"/>
              </a:xfrm>
            </p:spPr>
            <p:txBody>
              <a:bodyPr>
                <a:noAutofit/>
              </a:bodyPr>
              <a:lstStyle/>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Two events (not mutually exclusive) are independent if the occurrence of one event has no effect on the probability of the occurrence of another event.</a:t>
                </a:r>
              </a:p>
              <a:p>
                <a:pPr marL="342900" indent="-342900" algn="just">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The multiplicative rules of probability</a:t>
                </a:r>
                <a:endParaRPr lang="en-US" b="1" dirty="0">
                  <a:latin typeface="Arial" panose="020B0604020202020204" pitchFamily="34" charset="0"/>
                  <a:cs typeface="Arial" panose="020B0604020202020204" pitchFamily="34" charset="0"/>
                </a:endParaRPr>
              </a:p>
              <a:p>
                <a:pPr marL="800100" lvl="1" indent="-342900" algn="just">
                  <a:lnSpc>
                    <a:spcPct val="150000"/>
                  </a:lnSpc>
                  <a:buFont typeface="Wingdings" panose="05000000000000000000" pitchFamily="2" charset="2"/>
                  <a:buChar char="ü"/>
                </a:pPr>
                <a14:m>
                  <m:oMath xmlns:m="http://schemas.openxmlformats.org/officeDocument/2006/math">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𝐴</m:t>
                        </m:r>
                        <m:r>
                          <a:rPr lang="en-US" sz="2000">
                            <a:latin typeface="Cambria Math" panose="02040503050406030204" pitchFamily="18" charset="0"/>
                            <a:cs typeface="Arial" panose="020B0604020202020204" pitchFamily="34" charset="0"/>
                          </a:rPr>
                          <m:t>∩</m:t>
                        </m:r>
                        <m:r>
                          <a:rPr lang="en-US" sz="2000">
                            <a:latin typeface="Cambria Math" panose="02040503050406030204" pitchFamily="18" charset="0"/>
                            <a:cs typeface="Arial" panose="020B0604020202020204" pitchFamily="34" charset="0"/>
                          </a:rPr>
                          <m:t>𝐵</m:t>
                        </m:r>
                      </m:e>
                    </m:d>
                    <m:r>
                      <a:rPr lang="en-US" sz="2000">
                        <a:latin typeface="Cambria Math" panose="02040503050406030204" pitchFamily="18" charset="0"/>
                        <a:cs typeface="Arial" panose="020B0604020202020204" pitchFamily="34" charset="0"/>
                      </a:rPr>
                      <m:t>=</m:t>
                    </m:r>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𝐵</m:t>
                        </m:r>
                      </m:e>
                    </m:d>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𝐴</m:t>
                        </m:r>
                      </m:e>
                      <m:e>
                        <m:r>
                          <a:rPr lang="en-US" sz="2000">
                            <a:latin typeface="Cambria Math" panose="02040503050406030204" pitchFamily="18" charset="0"/>
                            <a:cs typeface="Arial" panose="020B0604020202020204" pitchFamily="34" charset="0"/>
                          </a:rPr>
                          <m:t>𝐵</m:t>
                        </m:r>
                      </m:e>
                    </m:d>
                  </m:oMath>
                </a14:m>
                <a:r>
                  <a:rPr lang="en-US" sz="2000" dirty="0">
                    <a:latin typeface="Arial" panose="020B0604020202020204" pitchFamily="34" charset="0"/>
                    <a:cs typeface="Arial" panose="020B0604020202020204" pitchFamily="34" charset="0"/>
                  </a:rPr>
                  <a:t>, if occurrence of event  </a:t>
                </a:r>
                <a14:m>
                  <m:oMath xmlns:m="http://schemas.openxmlformats.org/officeDocument/2006/math">
                    <m:r>
                      <a:rPr lang="en-US" sz="2000">
                        <a:latin typeface="Cambria Math" panose="02040503050406030204" pitchFamily="18" charset="0"/>
                        <a:cs typeface="Arial" panose="020B0604020202020204" pitchFamily="34" charset="0"/>
                      </a:rPr>
                      <m:t>𝐴</m:t>
                    </m:r>
                  </m:oMath>
                </a14:m>
                <a:r>
                  <a:rPr lang="en-US" sz="2000" dirty="0">
                    <a:latin typeface="Arial" panose="020B0604020202020204" pitchFamily="34" charset="0"/>
                    <a:cs typeface="Arial" panose="020B0604020202020204" pitchFamily="34" charset="0"/>
                  </a:rPr>
                  <a:t> dependent on occurrence of </a:t>
                </a:r>
                <a14:m>
                  <m:oMath xmlns:m="http://schemas.openxmlformats.org/officeDocument/2006/math">
                    <m:r>
                      <a:rPr lang="en-US" sz="2000">
                        <a:latin typeface="Cambria Math" panose="02040503050406030204" pitchFamily="18" charset="0"/>
                        <a:cs typeface="Arial" panose="020B0604020202020204" pitchFamily="34" charset="0"/>
                      </a:rPr>
                      <m:t>𝐵</m:t>
                    </m:r>
                  </m:oMath>
                </a14:m>
                <a:r>
                  <a:rPr lang="en-US" sz="2000" dirty="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14:m>
                  <m:oMath xmlns:m="http://schemas.openxmlformats.org/officeDocument/2006/math">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𝐴</m:t>
                        </m:r>
                        <m:r>
                          <a:rPr lang="en-US" sz="2000">
                            <a:latin typeface="Cambria Math" panose="02040503050406030204" pitchFamily="18" charset="0"/>
                            <a:cs typeface="Arial" panose="020B0604020202020204" pitchFamily="34" charset="0"/>
                          </a:rPr>
                          <m:t>∩</m:t>
                        </m:r>
                        <m:r>
                          <a:rPr lang="en-US" sz="2000">
                            <a:latin typeface="Cambria Math" panose="02040503050406030204" pitchFamily="18" charset="0"/>
                            <a:cs typeface="Arial" panose="020B0604020202020204" pitchFamily="34" charset="0"/>
                          </a:rPr>
                          <m:t>𝐵</m:t>
                        </m:r>
                      </m:e>
                    </m:d>
                    <m:r>
                      <a:rPr lang="en-US" sz="2000">
                        <a:latin typeface="Cambria Math" panose="02040503050406030204" pitchFamily="18" charset="0"/>
                        <a:cs typeface="Arial" panose="020B0604020202020204" pitchFamily="34" charset="0"/>
                      </a:rPr>
                      <m:t>=</m:t>
                    </m:r>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𝐴</m:t>
                        </m:r>
                      </m:e>
                    </m:d>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𝐵</m:t>
                        </m:r>
                      </m:e>
                      <m:e>
                        <m:r>
                          <a:rPr lang="en-US" sz="2000">
                            <a:latin typeface="Cambria Math" panose="02040503050406030204" pitchFamily="18" charset="0"/>
                            <a:cs typeface="Arial" panose="020B0604020202020204" pitchFamily="34" charset="0"/>
                          </a:rPr>
                          <m:t>𝐴</m:t>
                        </m:r>
                      </m:e>
                    </m:d>
                  </m:oMath>
                </a14:m>
                <a:r>
                  <a:rPr lang="en-US" sz="2000" dirty="0">
                    <a:latin typeface="Arial" panose="020B0604020202020204" pitchFamily="34" charset="0"/>
                    <a:cs typeface="Arial" panose="020B0604020202020204" pitchFamily="34" charset="0"/>
                  </a:rPr>
                  <a:t>, if occurrence of event  </a:t>
                </a:r>
                <a14:m>
                  <m:oMath xmlns:m="http://schemas.openxmlformats.org/officeDocument/2006/math">
                    <m:r>
                      <a:rPr lang="en-US" sz="2000">
                        <a:latin typeface="Cambria Math" panose="02040503050406030204" pitchFamily="18" charset="0"/>
                        <a:cs typeface="Arial" panose="020B0604020202020204" pitchFamily="34" charset="0"/>
                      </a:rPr>
                      <m:t>𝐵</m:t>
                    </m:r>
                  </m:oMath>
                </a14:m>
                <a:r>
                  <a:rPr lang="en-US" sz="2000" dirty="0">
                    <a:latin typeface="Arial" panose="020B0604020202020204" pitchFamily="34" charset="0"/>
                    <a:cs typeface="Arial" panose="020B0604020202020204" pitchFamily="34" charset="0"/>
                  </a:rPr>
                  <a:t> dependent on occurrence of </a:t>
                </a:r>
                <a14:m>
                  <m:oMath xmlns:m="http://schemas.openxmlformats.org/officeDocument/2006/math">
                    <m:r>
                      <a:rPr lang="en-US" sz="2000">
                        <a:latin typeface="Cambria Math" panose="02040503050406030204" pitchFamily="18" charset="0"/>
                        <a:cs typeface="Arial" panose="020B0604020202020204" pitchFamily="34" charset="0"/>
                      </a:rPr>
                      <m:t>𝐴</m:t>
                    </m:r>
                  </m:oMath>
                </a14:m>
                <a:r>
                  <a:rPr lang="en-US" sz="2000" dirty="0">
                    <a:latin typeface="Arial" panose="020B0604020202020204" pitchFamily="34" charset="0"/>
                    <a:cs typeface="Arial" panose="020B0604020202020204" pitchFamily="34" charset="0"/>
                  </a:rPr>
                  <a:t>.</a:t>
                </a:r>
              </a:p>
              <a:p>
                <a:pPr marL="800100" lvl="1" indent="-342900" algn="just">
                  <a:lnSpc>
                    <a:spcPct val="150000"/>
                  </a:lnSpc>
                  <a:buFont typeface="Wingdings" panose="05000000000000000000" pitchFamily="2" charset="2"/>
                  <a:buChar char="ü"/>
                </a:pPr>
                <a14:m>
                  <m:oMath xmlns:m="http://schemas.openxmlformats.org/officeDocument/2006/math">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𝐴</m:t>
                        </m:r>
                        <m:r>
                          <a:rPr lang="en-US" sz="2000">
                            <a:latin typeface="Cambria Math" panose="02040503050406030204" pitchFamily="18" charset="0"/>
                            <a:cs typeface="Arial" panose="020B0604020202020204" pitchFamily="34" charset="0"/>
                          </a:rPr>
                          <m:t>∩</m:t>
                        </m:r>
                        <m:r>
                          <a:rPr lang="en-US" sz="2000">
                            <a:latin typeface="Cambria Math" panose="02040503050406030204" pitchFamily="18" charset="0"/>
                            <a:cs typeface="Arial" panose="020B0604020202020204" pitchFamily="34" charset="0"/>
                          </a:rPr>
                          <m:t>𝐵</m:t>
                        </m:r>
                      </m:e>
                    </m:d>
                    <m:r>
                      <a:rPr lang="en-US" sz="2000">
                        <a:latin typeface="Cambria Math" panose="02040503050406030204" pitchFamily="18" charset="0"/>
                        <a:cs typeface="Arial" panose="020B0604020202020204" pitchFamily="34" charset="0"/>
                      </a:rPr>
                      <m:t>=</m:t>
                    </m:r>
                    <m:r>
                      <a:rPr lang="en-US" sz="2000">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a:latin typeface="Cambria Math" panose="02040503050406030204" pitchFamily="18" charset="0"/>
                            <a:cs typeface="Arial" panose="020B0604020202020204" pitchFamily="34" charset="0"/>
                          </a:rPr>
                          <m:t>𝐴</m:t>
                        </m:r>
                      </m:e>
                    </m:d>
                    <m:r>
                      <a:rPr lang="en-US" sz="2000">
                        <a:latin typeface="Cambria Math" panose="02040503050406030204" pitchFamily="18" charset="0"/>
                        <a:cs typeface="Arial" panose="020B0604020202020204" pitchFamily="34" charset="0"/>
                      </a:rPr>
                      <m:t>𝑃</m:t>
                    </m:r>
                    <m:r>
                      <a:rPr lang="en-US" sz="2000">
                        <a:latin typeface="Cambria Math" panose="02040503050406030204" pitchFamily="18" charset="0"/>
                        <a:cs typeface="Arial" panose="020B0604020202020204" pitchFamily="34" charset="0"/>
                      </a:rPr>
                      <m:t>(</m:t>
                    </m:r>
                    <m:r>
                      <a:rPr lang="en-US" sz="2000">
                        <a:latin typeface="Cambria Math" panose="02040503050406030204" pitchFamily="18" charset="0"/>
                        <a:cs typeface="Arial" panose="020B0604020202020204" pitchFamily="34" charset="0"/>
                      </a:rPr>
                      <m:t>𝐵</m:t>
                    </m:r>
                    <m:r>
                      <a:rPr lang="en-US" sz="2000">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if </a:t>
                </a:r>
                <a14:m>
                  <m:oMath xmlns:m="http://schemas.openxmlformats.org/officeDocument/2006/math">
                    <m:r>
                      <a:rPr lang="en-US" sz="2000">
                        <a:latin typeface="Cambria Math" panose="02040503050406030204" pitchFamily="18" charset="0"/>
                        <a:cs typeface="Arial" panose="020B0604020202020204" pitchFamily="34" charset="0"/>
                      </a:rPr>
                      <m:t>𝐴</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a:latin typeface="Cambria Math" panose="02040503050406030204" pitchFamily="18" charset="0"/>
                        <a:cs typeface="Arial" panose="020B0604020202020204" pitchFamily="34" charset="0"/>
                      </a:rPr>
                      <m:t>𝐵</m:t>
                    </m:r>
                  </m:oMath>
                </a14:m>
                <a:r>
                  <a:rPr lang="en-US" sz="2000" dirty="0">
                    <a:latin typeface="Arial" panose="020B0604020202020204" pitchFamily="34" charset="0"/>
                    <a:cs typeface="Arial" panose="020B0604020202020204" pitchFamily="34" charset="0"/>
                  </a:rPr>
                  <a:t> are independent.</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5698021"/>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5553075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Independence of </a:t>
            </a:r>
            <a:r>
              <a:rPr lang="en-US" sz="2400" b="1" dirty="0" smtClean="0">
                <a:latin typeface="Arial" panose="020B0604020202020204" pitchFamily="34" charset="0"/>
                <a:cs typeface="Arial" panose="020B0604020202020204" pitchFamily="34" charset="0"/>
              </a:rPr>
              <a:t>Events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931379"/>
                <a:ext cx="10831132" cy="6212371"/>
              </a:xfrm>
            </p:spPr>
            <p:txBody>
              <a:bodyPr>
                <a:noAutofit/>
              </a:bodyPr>
              <a:lstStyle/>
              <a:p>
                <a:pPr marL="342900" indent="-342900" algn="just">
                  <a:lnSpc>
                    <a:spcPct val="150000"/>
                  </a:lnSpc>
                  <a:buFont typeface="Arial" panose="020B0604020202020204" pitchFamily="34" charset="0"/>
                  <a:buChar char="•"/>
                </a:pPr>
                <a:r>
                  <a:rPr lang="en-US" sz="1800" b="1" dirty="0" smtClean="0">
                    <a:latin typeface="Arial" panose="020B0604020202020204" pitchFamily="34" charset="0"/>
                    <a:cs typeface="Arial" panose="020B0604020202020204" pitchFamily="34" charset="0"/>
                  </a:rPr>
                  <a:t>Example:</a:t>
                </a:r>
                <a:r>
                  <a:rPr lang="en-US" sz="1800" dirty="0" smtClean="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The following table shows the number of adults (in thousands) in the United States who were employed and unemployed in 2018 along with their gender. </a:t>
                </a:r>
              </a:p>
              <a:p>
                <a:pPr marL="342900" indent="-342900" algn="just">
                  <a:lnSpc>
                    <a:spcPct val="150000"/>
                  </a:lnSpc>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algn="just">
                  <a:lnSpc>
                    <a:spcPct val="150000"/>
                  </a:lnSpc>
                </a:pPr>
                <a:endParaRPr lang="en-US" sz="18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1800" dirty="0">
                    <a:latin typeface="Arial" panose="020B0604020202020204" pitchFamily="34" charset="0"/>
                    <a:cs typeface="Arial" panose="020B0604020202020204" pitchFamily="34" charset="0"/>
                  </a:rPr>
                  <a:t>Let us consider the following events </a:t>
                </a:r>
                <a14:m>
                  <m:oMath xmlns:m="http://schemas.openxmlformats.org/officeDocument/2006/math">
                    <m:r>
                      <a:rPr lang="en-US" sz="1800" i="1">
                        <a:latin typeface="Cambria Math" panose="02040503050406030204" pitchFamily="18" charset="0"/>
                      </a:rPr>
                      <m:t>𝐴</m:t>
                    </m:r>
                  </m:oMath>
                </a14:m>
                <a:r>
                  <a:rPr lang="en-US" sz="1800" dirty="0">
                    <a:latin typeface="Arial" panose="020B0604020202020204" pitchFamily="34" charset="0"/>
                    <a:cs typeface="Arial" panose="020B0604020202020204" pitchFamily="34" charset="0"/>
                  </a:rPr>
                  <a:t>: Person is unemployed, </a:t>
                </a:r>
                <a14:m>
                  <m:oMath xmlns:m="http://schemas.openxmlformats.org/officeDocument/2006/math">
                    <m:r>
                      <a:rPr lang="en-US" sz="1800" i="1">
                        <a:latin typeface="Cambria Math" panose="02040503050406030204" pitchFamily="18" charset="0"/>
                      </a:rPr>
                      <m:t>𝐵</m:t>
                    </m:r>
                  </m:oMath>
                </a14:m>
                <a:r>
                  <a:rPr lang="en-US" sz="1800" dirty="0">
                    <a:latin typeface="Arial" panose="020B0604020202020204" pitchFamily="34" charset="0"/>
                    <a:cs typeface="Arial" panose="020B0604020202020204" pitchFamily="34" charset="0"/>
                  </a:rPr>
                  <a:t>: Person is a man and </a:t>
                </a:r>
                <a14:m>
                  <m:oMath xmlns:m="http://schemas.openxmlformats.org/officeDocument/2006/math">
                    <m:sSup>
                      <m:sSupPr>
                        <m:ctrlPr>
                          <a:rPr lang="en-US" sz="1800" i="1">
                            <a:latin typeface="Cambria Math" panose="02040503050406030204" pitchFamily="18" charset="0"/>
                          </a:rPr>
                        </m:ctrlPr>
                      </m:sSupPr>
                      <m:e>
                        <m:r>
                          <a:rPr lang="en-US" sz="1800" i="1">
                            <a:latin typeface="Cambria Math" panose="02040503050406030204" pitchFamily="18" charset="0"/>
                          </a:rPr>
                          <m:t>𝐵</m:t>
                        </m:r>
                      </m:e>
                      <m:sup>
                        <m:r>
                          <a:rPr lang="en-US" sz="1800" i="1">
                            <a:latin typeface="Cambria Math" panose="02040503050406030204" pitchFamily="18" charset="0"/>
                          </a:rPr>
                          <m:t>𝑐</m:t>
                        </m:r>
                      </m:sup>
                    </m:sSup>
                  </m:oMath>
                </a14:m>
                <a:r>
                  <a:rPr lang="en-US" sz="1800" dirty="0">
                    <a:latin typeface="Arial" panose="020B0604020202020204" pitchFamily="34" charset="0"/>
                    <a:cs typeface="Arial" panose="020B0604020202020204" pitchFamily="34" charset="0"/>
                  </a:rPr>
                  <a:t>: Person is a woman. Determine whether Events </a:t>
                </a:r>
                <a14:m>
                  <m:oMath xmlns:m="http://schemas.openxmlformats.org/officeDocument/2006/math">
                    <m:r>
                      <a:rPr lang="en-US" sz="1800" i="1">
                        <a:latin typeface="Cambria Math" panose="02040503050406030204" pitchFamily="18" charset="0"/>
                      </a:rPr>
                      <m:t>𝐴</m:t>
                    </m:r>
                    <m:r>
                      <a:rPr lang="en-US" sz="1800" i="1">
                        <a:latin typeface="Cambria Math" panose="02040503050406030204" pitchFamily="18" charset="0"/>
                      </a:rPr>
                      <m:t> </m:t>
                    </m:r>
                  </m:oMath>
                </a14:m>
                <a:r>
                  <a:rPr lang="en-US" sz="1800" dirty="0">
                    <a:latin typeface="Arial" panose="020B0604020202020204" pitchFamily="34" charset="0"/>
                    <a:cs typeface="Arial" panose="020B0604020202020204" pitchFamily="34" charset="0"/>
                  </a:rPr>
                  <a:t>and </a:t>
                </a:r>
                <a14:m>
                  <m:oMath xmlns:m="http://schemas.openxmlformats.org/officeDocument/2006/math">
                    <m:r>
                      <a:rPr lang="en-US" sz="1800" i="1">
                        <a:latin typeface="Cambria Math" panose="02040503050406030204" pitchFamily="18" charset="0"/>
                      </a:rPr>
                      <m:t>𝐵</m:t>
                    </m:r>
                  </m:oMath>
                </a14:m>
                <a:r>
                  <a:rPr lang="en-US" sz="1800" dirty="0">
                    <a:latin typeface="Arial" panose="020B0604020202020204" pitchFamily="34" charset="0"/>
                    <a:cs typeface="Arial" panose="020B0604020202020204" pitchFamily="34" charset="0"/>
                  </a:rPr>
                  <a:t> are independent or dependent. </a:t>
                </a:r>
              </a:p>
              <a:p>
                <a:pPr marL="800100" lvl="1" indent="-342900" algn="just">
                  <a:lnSpc>
                    <a:spcPct val="150000"/>
                  </a:lnSpc>
                  <a:buFont typeface="Wingdings" panose="05000000000000000000" pitchFamily="2" charset="2"/>
                  <a:buChar char="ü"/>
                </a:pPr>
                <a:r>
                  <a:rPr lang="en-US" sz="1800" dirty="0">
                    <a:latin typeface="Arial" panose="020B0604020202020204" pitchFamily="34" charset="0"/>
                    <a:cs typeface="Arial" panose="020B0604020202020204" pitchFamily="34" charset="0"/>
                  </a:rPr>
                  <a:t>We have </a:t>
                </a:r>
                <a14:m>
                  <m:oMath xmlns:m="http://schemas.openxmlformats.org/officeDocument/2006/math">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𝐴</m:t>
                        </m:r>
                      </m:e>
                    </m:d>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3863</m:t>
                        </m:r>
                      </m:num>
                      <m:den>
                        <m:r>
                          <a:rPr lang="en-US" sz="1800" i="1">
                            <a:latin typeface="Cambria Math" panose="02040503050406030204" pitchFamily="18" charset="0"/>
                          </a:rPr>
                          <m:t>120628</m:t>
                        </m:r>
                      </m:den>
                    </m:f>
                    <m:r>
                      <a:rPr lang="en-US" sz="1800" i="1">
                        <a:latin typeface="Cambria Math" panose="02040503050406030204" pitchFamily="18" charset="0"/>
                      </a:rPr>
                      <m:t>=0.0320</m:t>
                    </m:r>
                    <m:r>
                      <a:rPr lang="en-US" sz="1800" b="0" i="0" smtClean="0">
                        <a:latin typeface="Cambria Math" panose="02040503050406030204" pitchFamily="18" charset="0"/>
                      </a:rPr>
                      <m:t>, </m:t>
                    </m:r>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𝐵</m:t>
                        </m:r>
                      </m:e>
                    </m:d>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65732</m:t>
                        </m:r>
                      </m:num>
                      <m:den>
                        <m:r>
                          <a:rPr lang="en-US" sz="1800" i="1">
                            <a:latin typeface="Cambria Math" panose="02040503050406030204" pitchFamily="18" charset="0"/>
                          </a:rPr>
                          <m:t>120628</m:t>
                        </m:r>
                      </m:den>
                    </m:f>
                    <m:r>
                      <a:rPr lang="en-US" sz="1800" i="1">
                        <a:latin typeface="Cambria Math" panose="02040503050406030204" pitchFamily="18" charset="0"/>
                      </a:rPr>
                      <m:t>=0.5449</m:t>
                    </m:r>
                    <m:r>
                      <a:rPr lang="en-US" sz="1800" b="0" i="0" smtClean="0">
                        <a:latin typeface="Cambria Math" panose="02040503050406030204" pitchFamily="18" charset="0"/>
                      </a:rPr>
                      <m:t>, </m:t>
                    </m:r>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𝐴</m:t>
                        </m:r>
                        <m:r>
                          <a:rPr lang="en-US" sz="1800" i="1">
                            <a:latin typeface="Cambria Math" panose="02040503050406030204" pitchFamily="18" charset="0"/>
                          </a:rPr>
                          <m:t>∩</m:t>
                        </m:r>
                        <m:r>
                          <a:rPr lang="en-US" sz="1800" i="1">
                            <a:latin typeface="Cambria Math" panose="02040503050406030204" pitchFamily="18" charset="0"/>
                          </a:rPr>
                          <m:t>𝐵</m:t>
                        </m:r>
                      </m:e>
                    </m:d>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2</m:t>
                        </m:r>
                        <m:r>
                          <a:rPr lang="en-US" sz="1800" b="0" i="1" smtClean="0">
                            <a:latin typeface="Cambria Math" panose="02040503050406030204" pitchFamily="18" charset="0"/>
                          </a:rPr>
                          <m:t>7</m:t>
                        </m:r>
                        <m:r>
                          <a:rPr lang="en-US" sz="1800" i="1">
                            <a:latin typeface="Cambria Math" panose="02040503050406030204" pitchFamily="18" charset="0"/>
                          </a:rPr>
                          <m:t>22</m:t>
                        </m:r>
                      </m:num>
                      <m:den>
                        <m:r>
                          <a:rPr lang="en-US" sz="1800" i="1">
                            <a:latin typeface="Cambria Math" panose="02040503050406030204" pitchFamily="18" charset="0"/>
                          </a:rPr>
                          <m:t>120628</m:t>
                        </m:r>
                      </m:den>
                    </m:f>
                    <m:r>
                      <a:rPr lang="en-US" sz="1800" i="1">
                        <a:latin typeface="Cambria Math" panose="02040503050406030204" pitchFamily="18" charset="0"/>
                      </a:rPr>
                      <m:t>=0.0226</m:t>
                    </m:r>
                  </m:oMath>
                </a14:m>
                <a:endParaRPr lang="en-US" sz="1800" dirty="0">
                  <a:latin typeface="Arial" panose="020B0604020202020204" pitchFamily="34" charset="0"/>
                </a:endParaRPr>
              </a:p>
              <a:p>
                <a:pPr marL="800100" lvl="1" indent="-342900" algn="just">
                  <a:lnSpc>
                    <a:spcPct val="150000"/>
                  </a:lnSpc>
                  <a:buFont typeface="Wingdings" panose="05000000000000000000" pitchFamily="2" charset="2"/>
                  <a:buChar char="ü"/>
                </a:pPr>
                <a:r>
                  <a:rPr lang="en-US" sz="1800" dirty="0">
                    <a:latin typeface="Arial" panose="020B0604020202020204" pitchFamily="34" charset="0"/>
                    <a:cs typeface="Arial" panose="020B0604020202020204" pitchFamily="34" charset="0"/>
                  </a:rPr>
                  <a:t>Clearly, </a:t>
                </a:r>
                <a14:m>
                  <m:oMath xmlns:m="http://schemas.openxmlformats.org/officeDocument/2006/math">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𝐴</m:t>
                        </m:r>
                      </m:e>
                    </m:d>
                    <m:r>
                      <a:rPr lang="en-US" sz="1800" i="1">
                        <a:latin typeface="Cambria Math" panose="02040503050406030204" pitchFamily="18" charset="0"/>
                      </a:rPr>
                      <m:t>×</m:t>
                    </m:r>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𝐵</m:t>
                        </m:r>
                      </m:e>
                    </m:d>
                    <m:r>
                      <a:rPr lang="en-US" sz="1800" i="1">
                        <a:latin typeface="Cambria Math" panose="02040503050406030204" pitchFamily="18" charset="0"/>
                      </a:rPr>
                      <m:t>=0.0320×0.5449=0.0174≠</m:t>
                    </m:r>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𝐴</m:t>
                        </m:r>
                        <m:r>
                          <a:rPr lang="en-US" sz="1800" i="1">
                            <a:latin typeface="Cambria Math" panose="02040503050406030204" pitchFamily="18" charset="0"/>
                          </a:rPr>
                          <m:t>∩</m:t>
                        </m:r>
                        <m:r>
                          <a:rPr lang="en-US" sz="1800" i="1">
                            <a:latin typeface="Cambria Math" panose="02040503050406030204" pitchFamily="18" charset="0"/>
                          </a:rPr>
                          <m:t>𝐵</m:t>
                        </m:r>
                      </m:e>
                    </m:d>
                  </m:oMath>
                </a14:m>
                <a:endParaRPr lang="en-US" sz="1800" dirty="0">
                  <a:latin typeface="Arial" panose="020B0604020202020204" pitchFamily="34" charset="0"/>
                </a:endParaRPr>
              </a:p>
              <a:p>
                <a:pPr marL="800100" lvl="1" indent="-342900" algn="just">
                  <a:lnSpc>
                    <a:spcPct val="150000"/>
                  </a:lnSpc>
                  <a:buFont typeface="Wingdings" panose="05000000000000000000" pitchFamily="2" charset="2"/>
                  <a:buChar char="ü"/>
                </a:pPr>
                <a:r>
                  <a:rPr lang="en-US" sz="1800" dirty="0" smtClean="0">
                    <a:latin typeface="Arial" panose="020B0604020202020204" pitchFamily="34" charset="0"/>
                    <a:cs typeface="Arial" panose="020B0604020202020204" pitchFamily="34" charset="0"/>
                  </a:rPr>
                  <a:t>Therefore, events </a:t>
                </a:r>
                <a14:m>
                  <m:oMath xmlns:m="http://schemas.openxmlformats.org/officeDocument/2006/math">
                    <m:r>
                      <m:rPr>
                        <m:sty m:val="p"/>
                      </m:rPr>
                      <a:rPr lang="en-US" sz="1800">
                        <a:latin typeface="Cambria Math" panose="02040503050406030204" pitchFamily="18" charset="0"/>
                      </a:rPr>
                      <m:t>A</m:t>
                    </m:r>
                  </m:oMath>
                </a14:m>
                <a:r>
                  <a:rPr lang="en-US" sz="1800" dirty="0">
                    <a:latin typeface="Arial" panose="020B0604020202020204" pitchFamily="34" charset="0"/>
                    <a:cs typeface="Arial" panose="020B0604020202020204" pitchFamily="34" charset="0"/>
                  </a:rPr>
                  <a:t> and </a:t>
                </a:r>
                <a14:m>
                  <m:oMath xmlns:m="http://schemas.openxmlformats.org/officeDocument/2006/math">
                    <m:r>
                      <m:rPr>
                        <m:sty m:val="p"/>
                      </m:rPr>
                      <a:rPr lang="en-US" sz="1800">
                        <a:latin typeface="Cambria Math" panose="02040503050406030204" pitchFamily="18" charset="0"/>
                      </a:rPr>
                      <m:t>B</m:t>
                    </m:r>
                  </m:oMath>
                </a14:m>
                <a:r>
                  <a:rPr lang="en-US" sz="1800" dirty="0">
                    <a:latin typeface="Arial" panose="020B0604020202020204" pitchFamily="34" charset="0"/>
                    <a:cs typeface="Arial" panose="020B0604020202020204" pitchFamily="34" charset="0"/>
                  </a:rPr>
                  <a:t> are </a:t>
                </a:r>
                <a:r>
                  <a:rPr lang="en-US" sz="1800" dirty="0" smtClean="0">
                    <a:latin typeface="Arial" panose="020B0604020202020204" pitchFamily="34" charset="0"/>
                    <a:cs typeface="Arial" panose="020B0604020202020204" pitchFamily="34" charset="0"/>
                  </a:rPr>
                  <a:t>dependent.</a:t>
                </a:r>
                <a:endParaRPr lang="en-US" sz="18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6212371"/>
              </a:xfrm>
              <a:blipFill rotWithShape="0">
                <a:blip r:embed="rId2"/>
                <a:stretch>
                  <a:fillRect l="-394" r="-450"/>
                </a:stretch>
              </a:blipFill>
            </p:spPr>
            <p:txBody>
              <a:bodyPr/>
              <a:lstStyle/>
              <a:p>
                <a:r>
                  <a:rPr lang="en-US">
                    <a:noFill/>
                  </a:rPr>
                  <a:t> </a:t>
                </a:r>
              </a:p>
            </p:txBody>
          </p:sp>
        </mc:Fallback>
      </mc:AlternateContent>
      <p:graphicFrame>
        <p:nvGraphicFramePr>
          <p:cNvPr id="5" name="Table 4"/>
          <p:cNvGraphicFramePr>
            <a:graphicFrameLocks noGrp="1"/>
          </p:cNvGraphicFramePr>
          <p:nvPr>
            <p:extLst/>
          </p:nvPr>
        </p:nvGraphicFramePr>
        <p:xfrm>
          <a:off x="3590361" y="1940136"/>
          <a:ext cx="5217462" cy="1051560"/>
        </p:xfrm>
        <a:graphic>
          <a:graphicData uri="http://schemas.openxmlformats.org/drawingml/2006/table">
            <a:tbl>
              <a:tblPr firstRow="1" firstCol="1" bandRow="1"/>
              <a:tblGrid>
                <a:gridCol w="1303931">
                  <a:extLst>
                    <a:ext uri="{9D8B030D-6E8A-4147-A177-3AD203B41FA5}">
                      <a16:colId xmlns="" xmlns:a16="http://schemas.microsoft.com/office/drawing/2014/main" val="20000"/>
                    </a:ext>
                  </a:extLst>
                </a:gridCol>
                <a:gridCol w="1303931">
                  <a:extLst>
                    <a:ext uri="{9D8B030D-6E8A-4147-A177-3AD203B41FA5}">
                      <a16:colId xmlns="" xmlns:a16="http://schemas.microsoft.com/office/drawing/2014/main" val="20001"/>
                    </a:ext>
                  </a:extLst>
                </a:gridCol>
                <a:gridCol w="1304800">
                  <a:extLst>
                    <a:ext uri="{9D8B030D-6E8A-4147-A177-3AD203B41FA5}">
                      <a16:colId xmlns="" xmlns:a16="http://schemas.microsoft.com/office/drawing/2014/main" val="20002"/>
                    </a:ext>
                  </a:extLst>
                </a:gridCol>
                <a:gridCol w="1304800">
                  <a:extLst>
                    <a:ext uri="{9D8B030D-6E8A-4147-A177-3AD203B41FA5}">
                      <a16:colId xmlns="" xmlns:a16="http://schemas.microsoft.com/office/drawing/2014/main" val="20003"/>
                    </a:ext>
                  </a:extLst>
                </a:gridCol>
              </a:tblGrid>
              <a:tr h="161925">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Men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Women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Total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156210">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Unemployed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2722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1141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3863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161925">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Employed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63010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53755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116765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156210">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Total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65732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54896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120628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9866336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6708"/>
            <a:ext cx="9144000" cy="605308"/>
          </a:xfrm>
        </p:spPr>
        <p:txBody>
          <a:bodyPr>
            <a:noAutofit/>
          </a:bodyPr>
          <a:lstStyle/>
          <a:p>
            <a:r>
              <a:rPr lang="en-US" sz="2400" b="1" dirty="0">
                <a:latin typeface="Arial" pitchFamily="34" charset="0"/>
                <a:cs typeface="Arial" pitchFamily="34" charset="0"/>
              </a:rPr>
              <a:t>Exercise</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833000"/>
                <a:ext cx="10831132" cy="5554353"/>
              </a:xfrm>
            </p:spPr>
            <p:txBody>
              <a:bodyPr>
                <a:noAutofit/>
              </a:bodyPr>
              <a:lstStyle/>
              <a:p>
                <a:pPr marL="285750" lvl="0" indent="-28575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(1</a:t>
                </a:r>
                <a:r>
                  <a:rPr lang="en-US" sz="2000" dirty="0">
                    <a:latin typeface="Arial" panose="020B0604020202020204" pitchFamily="34" charset="0"/>
                    <a:cs typeface="Arial" panose="020B0604020202020204" pitchFamily="34" charset="0"/>
                  </a:rPr>
                  <a:t>)</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Thirty-five percent of the students at a certain college are females. Nine percent of the students in this college are majoring in computer science. Six percent of the students are females majoring in computer science. A student is selected at random from that college. Find the probability that (</a:t>
                </a:r>
                <a:r>
                  <a:rPr lang="en-US" sz="2000" dirty="0" err="1">
                    <a:latin typeface="Arial" panose="020B0604020202020204" pitchFamily="34" charset="0"/>
                    <a:cs typeface="Arial" panose="020B0604020202020204" pitchFamily="34" charset="0"/>
                  </a:rPr>
                  <a:t>i</a:t>
                </a:r>
                <a:r>
                  <a:rPr lang="en-US" sz="2000" dirty="0">
                    <a:latin typeface="Arial" panose="020B0604020202020204" pitchFamily="34" charset="0"/>
                    <a:cs typeface="Arial" panose="020B0604020202020204" pitchFamily="34" charset="0"/>
                  </a:rPr>
                  <a:t>) the student is female, given that the student majoring in computer science. (ii) the student is majoring in computer science, given that the student is female</a:t>
                </a:r>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(2</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 spam filter is designed by looking at commonly occurring phrases in spam. Suppose that 80% of email is spam. In 10% of the spam emails, the phrase “free money” is used, whereas this phrase is only used in 1% of non-spam emails. A new email has just arrived, which does mention “free money”. What is the probability that it is spam</a:t>
                </a:r>
                <a:r>
                  <a:rPr lang="en-US" sz="2000" dirty="0" smtClean="0">
                    <a:latin typeface="Arial" panose="020B0604020202020204" pitchFamily="34" charset="0"/>
                    <a:cs typeface="Arial" panose="020B0604020202020204" pitchFamily="34" charset="0"/>
                  </a:rPr>
                  <a:t>?</a:t>
                </a:r>
              </a:p>
              <a:p>
                <a:pPr marL="285750" lvl="0" indent="-28575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(3</a:t>
                </a:r>
                <a:r>
                  <a:rPr lang="en-US" sz="2000" dirty="0" smtClean="0">
                    <a:latin typeface="Arial" panose="020B0604020202020204" pitchFamily="34" charset="0"/>
                    <a:cs typeface="Arial" panose="020B0604020202020204" pitchFamily="34" charset="0"/>
                  </a:rPr>
                  <a:t>) Let </a:t>
                </a:r>
                <a14:m>
                  <m:oMath xmlns:m="http://schemas.openxmlformats.org/officeDocument/2006/math">
                    <m:r>
                      <m:rPr>
                        <m:sty m:val="p"/>
                      </m:rPr>
                      <a:rPr lang="en-US" sz="2000">
                        <a:latin typeface="Cambria Math" panose="02040503050406030204" pitchFamily="18" charset="0"/>
                        <a:cs typeface="Arial" panose="020B0604020202020204" pitchFamily="34" charset="0"/>
                      </a:rPr>
                      <m:t>P</m:t>
                    </m:r>
                    <m:d>
                      <m:dPr>
                        <m:ctrlPr>
                          <a:rPr lang="en-US" sz="2000" i="1">
                            <a:latin typeface="Cambria Math" panose="02040503050406030204" pitchFamily="18" charset="0"/>
                            <a:cs typeface="Arial" panose="020B0604020202020204" pitchFamily="34" charset="0"/>
                          </a:rPr>
                        </m:ctrlPr>
                      </m:dPr>
                      <m:e>
                        <m:r>
                          <m:rPr>
                            <m:sty m:val="p"/>
                          </m:rPr>
                          <a:rPr lang="en-US" sz="2000">
                            <a:latin typeface="Cambria Math" panose="02040503050406030204" pitchFamily="18" charset="0"/>
                            <a:cs typeface="Arial" panose="020B0604020202020204" pitchFamily="34" charset="0"/>
                          </a:rPr>
                          <m:t>A</m:t>
                        </m:r>
                        <m:r>
                          <a:rPr lang="en-US" sz="2000">
                            <a:latin typeface="Cambria Math" panose="02040503050406030204" pitchFamily="18" charset="0"/>
                            <a:cs typeface="Arial" panose="020B0604020202020204" pitchFamily="34" charset="0"/>
                          </a:rPr>
                          <m:t>∪</m:t>
                        </m:r>
                        <m:r>
                          <m:rPr>
                            <m:sty m:val="p"/>
                          </m:rPr>
                          <a:rPr lang="en-US" sz="2000">
                            <a:latin typeface="Cambria Math" panose="02040503050406030204" pitchFamily="18" charset="0"/>
                            <a:cs typeface="Arial" panose="020B0604020202020204" pitchFamily="34" charset="0"/>
                          </a:rPr>
                          <m:t>B</m:t>
                        </m:r>
                      </m:e>
                    </m:d>
                    <m:r>
                      <a:rPr lang="en-US" sz="2000">
                        <a:latin typeface="Cambria Math" panose="02040503050406030204" pitchFamily="18" charset="0"/>
                        <a:cs typeface="Arial" panose="020B0604020202020204" pitchFamily="34" charset="0"/>
                      </a:rPr>
                      <m:t>=0.75</m:t>
                    </m:r>
                  </m:oMath>
                </a14:m>
                <a:r>
                  <a:rPr lang="en-US" sz="2000" dirty="0">
                    <a:latin typeface="Arial" panose="020B0604020202020204" pitchFamily="34" charset="0"/>
                    <a:cs typeface="Arial" panose="020B0604020202020204" pitchFamily="34" charset="0"/>
                  </a:rPr>
                  <a:t> and </a:t>
                </a:r>
                <a14:m>
                  <m:oMath xmlns:m="http://schemas.openxmlformats.org/officeDocument/2006/math">
                    <m:r>
                      <m:rPr>
                        <m:sty m:val="p"/>
                      </m:rPr>
                      <a:rPr lang="en-US" sz="2000">
                        <a:latin typeface="Cambria Math" panose="02040503050406030204" pitchFamily="18" charset="0"/>
                        <a:cs typeface="Arial" panose="020B0604020202020204" pitchFamily="34" charset="0"/>
                      </a:rPr>
                      <m:t>P</m:t>
                    </m:r>
                    <m:d>
                      <m:dPr>
                        <m:ctrlPr>
                          <a:rPr lang="en-US" sz="2000" i="1">
                            <a:latin typeface="Cambria Math" panose="02040503050406030204" pitchFamily="18" charset="0"/>
                            <a:cs typeface="Arial" panose="020B0604020202020204" pitchFamily="34" charset="0"/>
                          </a:rPr>
                        </m:ctrlPr>
                      </m:dPr>
                      <m:e>
                        <m:r>
                          <m:rPr>
                            <m:sty m:val="p"/>
                          </m:rPr>
                          <a:rPr lang="en-US" sz="2000">
                            <a:latin typeface="Cambria Math" panose="02040503050406030204" pitchFamily="18" charset="0"/>
                            <a:cs typeface="Arial" panose="020B0604020202020204" pitchFamily="34" charset="0"/>
                          </a:rPr>
                          <m:t>A</m:t>
                        </m:r>
                        <m:r>
                          <a:rPr lang="en-US" sz="2000">
                            <a:latin typeface="Cambria Math" panose="02040503050406030204" pitchFamily="18" charset="0"/>
                            <a:cs typeface="Arial" panose="020B0604020202020204" pitchFamily="34" charset="0"/>
                          </a:rPr>
                          <m:t>∩</m:t>
                        </m:r>
                        <m:r>
                          <m:rPr>
                            <m:sty m:val="p"/>
                          </m:rPr>
                          <a:rPr lang="en-US" sz="2000">
                            <a:latin typeface="Cambria Math" panose="02040503050406030204" pitchFamily="18" charset="0"/>
                            <a:cs typeface="Arial" panose="020B0604020202020204" pitchFamily="34" charset="0"/>
                          </a:rPr>
                          <m:t>B</m:t>
                        </m:r>
                      </m:e>
                    </m:d>
                    <m:r>
                      <a:rPr lang="en-US" sz="2000">
                        <a:latin typeface="Cambria Math" panose="02040503050406030204" pitchFamily="18" charset="0"/>
                        <a:cs typeface="Arial" panose="020B0604020202020204" pitchFamily="34" charset="0"/>
                      </a:rPr>
                      <m:t>=0.25</m:t>
                    </m:r>
                  </m:oMath>
                </a14:m>
                <a:r>
                  <a:rPr lang="en-US" sz="2000" dirty="0">
                    <a:latin typeface="Arial" panose="020B0604020202020204" pitchFamily="34" charset="0"/>
                    <a:cs typeface="Arial" panose="020B0604020202020204" pitchFamily="34" charset="0"/>
                  </a:rPr>
                  <a:t>. Assuming </a:t>
                </a:r>
                <a14:m>
                  <m:oMath xmlns:m="http://schemas.openxmlformats.org/officeDocument/2006/math">
                    <m:r>
                      <m:rPr>
                        <m:sty m:val="p"/>
                      </m:rPr>
                      <a:rPr lang="en-US" sz="2000">
                        <a:latin typeface="Cambria Math" panose="02040503050406030204" pitchFamily="18" charset="0"/>
                        <a:cs typeface="Arial" panose="020B0604020202020204" pitchFamily="34" charset="0"/>
                      </a:rPr>
                      <m:t>A</m:t>
                    </m:r>
                  </m:oMath>
                </a14:m>
                <a:r>
                  <a:rPr lang="en-US" sz="2000" dirty="0">
                    <a:latin typeface="Arial" panose="020B0604020202020204" pitchFamily="34" charset="0"/>
                    <a:cs typeface="Arial" panose="020B0604020202020204" pitchFamily="34" charset="0"/>
                  </a:rPr>
                  <a:t> and </a:t>
                </a:r>
                <a14:m>
                  <m:oMath xmlns:m="http://schemas.openxmlformats.org/officeDocument/2006/math">
                    <m:r>
                      <m:rPr>
                        <m:sty m:val="p"/>
                      </m:rPr>
                      <a:rPr lang="en-US" sz="2000">
                        <a:latin typeface="Cambria Math" panose="02040503050406030204" pitchFamily="18" charset="0"/>
                        <a:cs typeface="Arial" panose="020B0604020202020204" pitchFamily="34" charset="0"/>
                      </a:rPr>
                      <m:t>B</m:t>
                    </m:r>
                  </m:oMath>
                </a14:m>
                <a:r>
                  <a:rPr lang="en-US" sz="2000" dirty="0">
                    <a:latin typeface="Arial" panose="020B0604020202020204" pitchFamily="34" charset="0"/>
                    <a:cs typeface="Arial" panose="020B0604020202020204" pitchFamily="34" charset="0"/>
                  </a:rPr>
                  <a:t> are independent, find </a:t>
                </a:r>
                <a14:m>
                  <m:oMath xmlns:m="http://schemas.openxmlformats.org/officeDocument/2006/math">
                    <m:r>
                      <m:rPr>
                        <m:sty m:val="p"/>
                      </m:rPr>
                      <a:rPr lang="en-US" sz="2000">
                        <a:latin typeface="Cambria Math" panose="02040503050406030204" pitchFamily="18" charset="0"/>
                        <a:cs typeface="Arial" panose="020B0604020202020204" pitchFamily="34" charset="0"/>
                      </a:rPr>
                      <m:t>P</m:t>
                    </m:r>
                    <m:d>
                      <m:dPr>
                        <m:ctrlPr>
                          <a:rPr lang="en-US" sz="2000" i="1">
                            <a:latin typeface="Cambria Math" panose="02040503050406030204" pitchFamily="18" charset="0"/>
                            <a:cs typeface="Arial" panose="020B0604020202020204" pitchFamily="34" charset="0"/>
                          </a:rPr>
                        </m:ctrlPr>
                      </m:dPr>
                      <m:e>
                        <m:r>
                          <m:rPr>
                            <m:sty m:val="p"/>
                          </m:rPr>
                          <a:rPr lang="en-US" sz="2000">
                            <a:latin typeface="Cambria Math" panose="02040503050406030204" pitchFamily="18" charset="0"/>
                            <a:cs typeface="Arial" panose="020B0604020202020204" pitchFamily="34" charset="0"/>
                          </a:rPr>
                          <m:t>A</m:t>
                        </m:r>
                      </m:e>
                    </m:d>
                  </m:oMath>
                </a14:m>
                <a:r>
                  <a:rPr lang="en-US" sz="2000" dirty="0">
                    <a:latin typeface="Arial" panose="020B0604020202020204" pitchFamily="34" charset="0"/>
                    <a:cs typeface="Arial" panose="020B0604020202020204" pitchFamily="34" charset="0"/>
                  </a:rPr>
                  <a:t> and </a:t>
                </a:r>
                <a14:m>
                  <m:oMath xmlns:m="http://schemas.openxmlformats.org/officeDocument/2006/math">
                    <m:r>
                      <m:rPr>
                        <m:sty m:val="p"/>
                      </m:rPr>
                      <a:rPr lang="en-US" sz="2000">
                        <a:latin typeface="Cambria Math" panose="02040503050406030204" pitchFamily="18" charset="0"/>
                        <a:cs typeface="Arial" panose="020B0604020202020204" pitchFamily="34" charset="0"/>
                      </a:rPr>
                      <m:t>P</m:t>
                    </m:r>
                    <m:d>
                      <m:dPr>
                        <m:ctrlPr>
                          <a:rPr lang="en-US" sz="2000" i="1">
                            <a:latin typeface="Cambria Math" panose="02040503050406030204" pitchFamily="18" charset="0"/>
                            <a:cs typeface="Arial" panose="020B0604020202020204" pitchFamily="34" charset="0"/>
                          </a:rPr>
                        </m:ctrlPr>
                      </m:dPr>
                      <m:e>
                        <m:r>
                          <m:rPr>
                            <m:sty m:val="p"/>
                          </m:rPr>
                          <a:rPr lang="en-US" sz="2000">
                            <a:latin typeface="Cambria Math" panose="02040503050406030204" pitchFamily="18" charset="0"/>
                            <a:cs typeface="Arial" panose="020B0604020202020204" pitchFamily="34" charset="0"/>
                          </a:rPr>
                          <m:t>B</m:t>
                        </m:r>
                      </m:e>
                    </m:d>
                  </m:oMath>
                </a14:m>
                <a:r>
                  <a:rPr lang="en-US" sz="2000" dirty="0">
                    <a:latin typeface="Arial" panose="020B0604020202020204" pitchFamily="34" charset="0"/>
                    <a:cs typeface="Arial" panose="020B0604020202020204" pitchFamily="34" charset="0"/>
                  </a:rPr>
                  <a:t>.</a:t>
                </a:r>
              </a:p>
              <a:p>
                <a:pPr marL="285750" indent="-28575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833000"/>
                <a:ext cx="10831132" cy="5554353"/>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114709743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6708"/>
            <a:ext cx="9144000" cy="605308"/>
          </a:xfrm>
        </p:spPr>
        <p:txBody>
          <a:bodyPr>
            <a:noAutofit/>
          </a:bodyPr>
          <a:lstStyle/>
          <a:p>
            <a:r>
              <a:rPr lang="en-US" sz="2400" b="1" dirty="0" smtClean="0">
                <a:latin typeface="Arial" pitchFamily="34" charset="0"/>
                <a:cs typeface="Arial" pitchFamily="34" charset="0"/>
              </a:rPr>
              <a:t>Exercise (</a:t>
            </a:r>
            <a:r>
              <a:rPr lang="en-US" sz="2400" b="1" dirty="0" err="1" smtClean="0">
                <a:latin typeface="Arial" pitchFamily="34" charset="0"/>
                <a:cs typeface="Arial" pitchFamily="34" charset="0"/>
              </a:rPr>
              <a:t>cont</a:t>
            </a:r>
            <a:r>
              <a:rPr lang="en-US" sz="2400" b="1" dirty="0" smtClean="0">
                <a:latin typeface="Arial" pitchFamily="34" charset="0"/>
                <a:cs typeface="Arial" pitchFamily="34" charset="0"/>
              </a:rPr>
              <a:t>…)</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82581" y="833000"/>
            <a:ext cx="10831132" cy="5554353"/>
          </a:xfrm>
        </p:spPr>
        <p:txBody>
          <a:bodyPr>
            <a:noAutofit/>
          </a:bodyPr>
          <a:lstStyle/>
          <a:p>
            <a:pPr marL="285750" lvl="0" indent="-28575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(4</a:t>
            </a:r>
            <a:r>
              <a:rPr lang="en-US" sz="2000" dirty="0" smtClean="0">
                <a:latin typeface="Arial" panose="020B0604020202020204" pitchFamily="34" charset="0"/>
                <a:cs typeface="Arial" panose="020B0604020202020204" pitchFamily="34" charset="0"/>
              </a:rPr>
              <a:t>) An </a:t>
            </a:r>
            <a:r>
              <a:rPr lang="en-US" sz="2000" dirty="0">
                <a:latin typeface="Arial" panose="020B0604020202020204" pitchFamily="34" charset="0"/>
                <a:cs typeface="Arial" panose="020B0604020202020204" pitchFamily="34" charset="0"/>
              </a:rPr>
              <a:t>insurance company classifies drivers as good, medium, or poor risks. Drivers who apply to for insurance fall into these three groups in the proportions: 30%, 50%, and 20%, respectively. The probabilities of a good-risk, medium-risk, and poor-risk drivers will have an accident are 0.01, 0.03, and 0.10, respectively. Suppose the company sells Mr. </a:t>
            </a:r>
            <a:r>
              <a:rPr lang="en-US" sz="2000" dirty="0" err="1">
                <a:latin typeface="Arial" panose="020B0604020202020204" pitchFamily="34" charset="0"/>
                <a:cs typeface="Arial" panose="020B0604020202020204" pitchFamily="34" charset="0"/>
              </a:rPr>
              <a:t>Brophy</a:t>
            </a:r>
            <a:r>
              <a:rPr lang="en-US" sz="2000" dirty="0">
                <a:latin typeface="Arial" panose="020B0604020202020204" pitchFamily="34" charset="0"/>
                <a:cs typeface="Arial" panose="020B0604020202020204" pitchFamily="34" charset="0"/>
              </a:rPr>
              <a:t> an insurance policy and he has an accident. What is the probability that Mr. </a:t>
            </a:r>
            <a:r>
              <a:rPr lang="en-US" sz="2000" dirty="0" err="1">
                <a:latin typeface="Arial" panose="020B0604020202020204" pitchFamily="34" charset="0"/>
                <a:cs typeface="Arial" panose="020B0604020202020204" pitchFamily="34" charset="0"/>
              </a:rPr>
              <a:t>Brophy</a:t>
            </a:r>
            <a:r>
              <a:rPr lang="en-US" sz="2000" dirty="0">
                <a:latin typeface="Arial" panose="020B0604020202020204" pitchFamily="34" charset="0"/>
                <a:cs typeface="Arial" panose="020B0604020202020204" pitchFamily="34" charset="0"/>
              </a:rPr>
              <a:t> was a good-risk </a:t>
            </a:r>
            <a:r>
              <a:rPr lang="en-US" sz="2000" dirty="0" smtClean="0">
                <a:latin typeface="Arial" panose="020B0604020202020204" pitchFamily="34" charset="0"/>
                <a:cs typeface="Arial" panose="020B0604020202020204" pitchFamily="34" charset="0"/>
              </a:rPr>
              <a:t>driver?</a:t>
            </a:r>
          </a:p>
          <a:p>
            <a:pPr marL="285750" lvl="0" indent="-285750" algn="just">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(5)</a:t>
            </a:r>
            <a:r>
              <a:rPr lang="en-US" sz="2000" dirty="0" smtClean="0">
                <a:latin typeface="Arial" panose="020B0604020202020204" pitchFamily="34" charset="0"/>
                <a:cs typeface="Arial" panose="020B0604020202020204" pitchFamily="34" charset="0"/>
              </a:rPr>
              <a:t> A </a:t>
            </a:r>
            <a:r>
              <a:rPr lang="en-US" sz="2000" dirty="0">
                <a:latin typeface="Arial" panose="020B0604020202020204" pitchFamily="34" charset="0"/>
                <a:cs typeface="Arial" panose="020B0604020202020204" pitchFamily="34" charset="0"/>
              </a:rPr>
              <a:t>town has 2</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fire </a:t>
            </a:r>
            <a:r>
              <a:rPr lang="en-US" sz="2000" dirty="0" smtClean="0">
                <a:latin typeface="Arial" panose="020B0604020202020204" pitchFamily="34" charset="0"/>
                <a:cs typeface="Arial" panose="020B0604020202020204" pitchFamily="34" charset="0"/>
              </a:rPr>
              <a:t>engines A and B. They are </a:t>
            </a:r>
            <a:r>
              <a:rPr lang="en-US" sz="2000" dirty="0">
                <a:latin typeface="Arial" panose="020B0604020202020204" pitchFamily="34" charset="0"/>
                <a:cs typeface="Arial" panose="020B0604020202020204" pitchFamily="34" charset="0"/>
              </a:rPr>
              <a:t>operating independently. The probability that a specific engine is available when needed is </a:t>
            </a:r>
            <a:r>
              <a:rPr lang="en-US" sz="2000" dirty="0" smtClean="0">
                <a:latin typeface="Arial" panose="020B0604020202020204" pitchFamily="34" charset="0"/>
                <a:cs typeface="Arial" panose="020B0604020202020204" pitchFamily="34" charset="0"/>
              </a:rPr>
              <a:t>0.96. (</a:t>
            </a:r>
            <a:r>
              <a:rPr lang="en-US" sz="2000" dirty="0">
                <a:latin typeface="Arial" panose="020B0604020202020204" pitchFamily="34" charset="0"/>
                <a:cs typeface="Arial" panose="020B0604020202020204" pitchFamily="34" charset="0"/>
              </a:rPr>
              <a:t>a</a:t>
            </a:r>
            <a:r>
              <a:rPr lang="en-US" sz="2000" dirty="0" smtClean="0">
                <a:latin typeface="Arial" panose="020B0604020202020204" pitchFamily="34" charset="0"/>
                <a:cs typeface="Arial" panose="020B0604020202020204" pitchFamily="34" charset="0"/>
              </a:rPr>
              <a:t>) What </a:t>
            </a:r>
            <a:r>
              <a:rPr lang="en-US" sz="2000" dirty="0">
                <a:latin typeface="Arial" panose="020B0604020202020204" pitchFamily="34" charset="0"/>
                <a:cs typeface="Arial" panose="020B0604020202020204" pitchFamily="34" charset="0"/>
              </a:rPr>
              <a:t>is the probability that </a:t>
            </a:r>
            <a:r>
              <a:rPr lang="en-US" sz="2000" dirty="0" smtClean="0">
                <a:latin typeface="Arial" panose="020B0604020202020204" pitchFamily="34" charset="0"/>
                <a:cs typeface="Arial" panose="020B0604020202020204" pitchFamily="34" charset="0"/>
              </a:rPr>
              <a:t>only one </a:t>
            </a:r>
            <a:r>
              <a:rPr lang="en-US" sz="2000" dirty="0">
                <a:latin typeface="Arial" panose="020B0604020202020204" pitchFamily="34" charset="0"/>
                <a:cs typeface="Arial" panose="020B0604020202020204" pitchFamily="34" charset="0"/>
              </a:rPr>
              <a:t>fire engine is available when needed</a:t>
            </a:r>
            <a:r>
              <a:rPr lang="en-US" sz="2000" dirty="0" smtClean="0">
                <a:latin typeface="Arial" panose="020B0604020202020204" pitchFamily="34" charset="0"/>
                <a:cs typeface="Arial" panose="020B0604020202020204" pitchFamily="34" charset="0"/>
              </a:rPr>
              <a:t>? (b) </a:t>
            </a:r>
            <a:r>
              <a:rPr lang="en-US" sz="2000" dirty="0">
                <a:latin typeface="Arial" panose="020B0604020202020204" pitchFamily="34" charset="0"/>
                <a:cs typeface="Arial" panose="020B0604020202020204" pitchFamily="34" charset="0"/>
              </a:rPr>
              <a:t>What is the probability </a:t>
            </a:r>
            <a:r>
              <a:rPr lang="en-US" sz="2000" dirty="0" smtClean="0">
                <a:latin typeface="Arial" panose="020B0604020202020204" pitchFamily="34" charset="0"/>
                <a:cs typeface="Arial" panose="020B0604020202020204" pitchFamily="34" charset="0"/>
              </a:rPr>
              <a:t>that at least </a:t>
            </a:r>
            <a:r>
              <a:rPr lang="en-US" sz="2000" dirty="0">
                <a:latin typeface="Arial" panose="020B0604020202020204" pitchFamily="34" charset="0"/>
                <a:cs typeface="Arial" panose="020B0604020202020204" pitchFamily="34" charset="0"/>
              </a:rPr>
              <a:t>one fire engine is available when </a:t>
            </a:r>
            <a:r>
              <a:rPr lang="en-US" sz="2000" dirty="0" smtClean="0">
                <a:latin typeface="Arial" panose="020B0604020202020204" pitchFamily="34" charset="0"/>
                <a:cs typeface="Arial" panose="020B0604020202020204" pitchFamily="34" charset="0"/>
              </a:rPr>
              <a:t>needed? (c) What </a:t>
            </a:r>
            <a:r>
              <a:rPr lang="en-US" sz="2000" dirty="0">
                <a:latin typeface="Arial" panose="020B0604020202020204" pitchFamily="34" charset="0"/>
                <a:cs typeface="Arial" panose="020B0604020202020204" pitchFamily="34" charset="0"/>
              </a:rPr>
              <a:t>is the probability that neither is available when needed</a:t>
            </a:r>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50788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061126"/>
            <a:ext cx="9144000" cy="1655762"/>
          </a:xfrm>
        </p:spPr>
        <p:txBody>
          <a:bodyPr>
            <a:normAutofit/>
          </a:bodyPr>
          <a:lstStyle/>
          <a:p>
            <a:pPr>
              <a:lnSpc>
                <a:spcPct val="150000"/>
              </a:lnSpc>
            </a:pPr>
            <a:r>
              <a:rPr lang="en-US" sz="4000" dirty="0" smtClean="0">
                <a:latin typeface="Arial" panose="020B0604020202020204" pitchFamily="34" charset="0"/>
                <a:cs typeface="Arial" panose="020B0604020202020204" pitchFamily="34" charset="0"/>
              </a:rPr>
              <a:t>Thank You</a:t>
            </a:r>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34228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6206</TotalTime>
  <Words>2307</Words>
  <Application>Microsoft Office PowerPoint</Application>
  <PresentationFormat>Widescreen</PresentationFormat>
  <Paragraphs>215</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Cambria Math</vt:lpstr>
      <vt:lpstr>Wingdings</vt:lpstr>
      <vt:lpstr>Office Theme</vt:lpstr>
      <vt:lpstr>COURSE TITLE: : Statistics and Probability COURSE CODE: STA 102 Topics: Probability: Basic Concept, Independence, Bayes’ Theorem</vt:lpstr>
      <vt:lpstr>Probability</vt:lpstr>
      <vt:lpstr> Terminologies in Probability</vt:lpstr>
      <vt:lpstr> Terminologies in Probability (cont…)</vt:lpstr>
      <vt:lpstr> Terminologies in Probability (cont…)</vt:lpstr>
      <vt:lpstr> Terminologies in Probability (cont…)</vt:lpstr>
      <vt:lpstr> Terminologies in Probability (cont…)</vt:lpstr>
      <vt:lpstr>Some basic event operations</vt:lpstr>
      <vt:lpstr>Some basic event operations (cont…)</vt:lpstr>
      <vt:lpstr>Some basic event operations (cont…)</vt:lpstr>
      <vt:lpstr>Axioms of Probability</vt:lpstr>
      <vt:lpstr>Classical probability (cont…)</vt:lpstr>
      <vt:lpstr>Classical probability (cont…)</vt:lpstr>
      <vt:lpstr>Properties of probability</vt:lpstr>
      <vt:lpstr>Properties of probability (cont…)</vt:lpstr>
      <vt:lpstr>Conditional Probability</vt:lpstr>
      <vt:lpstr>Conditional Probability (cont…)</vt:lpstr>
      <vt:lpstr>Conditional Probability (cont…)</vt:lpstr>
      <vt:lpstr>Conditional Probability (cont…)</vt:lpstr>
      <vt:lpstr>Law of total probability</vt:lpstr>
      <vt:lpstr>Law of total probability (cont…)</vt:lpstr>
      <vt:lpstr>Bayes’ rule</vt:lpstr>
      <vt:lpstr>Bayes’ theorem (cont…)</vt:lpstr>
      <vt:lpstr>Independence of Events</vt:lpstr>
      <vt:lpstr>Independence of Events (cont…)</vt:lpstr>
      <vt:lpstr>Exercise</vt:lpstr>
      <vt:lpstr>Exercise (cont…)</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  Business Statistics COURSE CODE: BUS 7203</dc:title>
  <dc:creator>EH</dc:creator>
  <cp:lastModifiedBy>Statistics</cp:lastModifiedBy>
  <cp:revision>375</cp:revision>
  <dcterms:created xsi:type="dcterms:W3CDTF">2021-09-04T13:58:51Z</dcterms:created>
  <dcterms:modified xsi:type="dcterms:W3CDTF">2025-10-28T02:35:07Z</dcterms:modified>
</cp:coreProperties>
</file>