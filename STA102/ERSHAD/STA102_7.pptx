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349" r:id="rId2"/>
    <p:sldId id="320" r:id="rId3"/>
    <p:sldId id="321" r:id="rId4"/>
    <p:sldId id="322" r:id="rId5"/>
    <p:sldId id="324" r:id="rId6"/>
    <p:sldId id="317" r:id="rId7"/>
    <p:sldId id="325" r:id="rId8"/>
    <p:sldId id="326" r:id="rId9"/>
    <p:sldId id="327" r:id="rId10"/>
    <p:sldId id="328" r:id="rId11"/>
    <p:sldId id="329" r:id="rId12"/>
    <p:sldId id="330" r:id="rId13"/>
    <p:sldId id="331" r:id="rId14"/>
    <p:sldId id="332" r:id="rId15"/>
    <p:sldId id="336" r:id="rId16"/>
    <p:sldId id="337" r:id="rId17"/>
    <p:sldId id="339" r:id="rId18"/>
    <p:sldId id="340" r:id="rId19"/>
    <p:sldId id="309" r:id="rId20"/>
    <p:sldId id="310" r:id="rId21"/>
    <p:sldId id="311" r:id="rId22"/>
    <p:sldId id="312" r:id="rId23"/>
    <p:sldId id="313" r:id="rId24"/>
    <p:sldId id="314" r:id="rId25"/>
    <p:sldId id="315" r:id="rId26"/>
    <p:sldId id="318" r:id="rId27"/>
    <p:sldId id="338" r:id="rId28"/>
    <p:sldId id="341" r:id="rId29"/>
    <p:sldId id="342" r:id="rId30"/>
    <p:sldId id="34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914CDBD-2041-4F67-960D-6CAD4D953A4C}">
          <p14:sldIdLst>
            <p14:sldId id="349"/>
            <p14:sldId id="320"/>
            <p14:sldId id="321"/>
            <p14:sldId id="322"/>
            <p14:sldId id="324"/>
            <p14:sldId id="317"/>
            <p14:sldId id="325"/>
            <p14:sldId id="326"/>
            <p14:sldId id="327"/>
            <p14:sldId id="328"/>
            <p14:sldId id="329"/>
            <p14:sldId id="330"/>
            <p14:sldId id="331"/>
            <p14:sldId id="332"/>
            <p14:sldId id="336"/>
            <p14:sldId id="337"/>
            <p14:sldId id="339"/>
            <p14:sldId id="340"/>
            <p14:sldId id="309"/>
            <p14:sldId id="310"/>
            <p14:sldId id="311"/>
            <p14:sldId id="312"/>
            <p14:sldId id="313"/>
            <p14:sldId id="314"/>
            <p14:sldId id="315"/>
            <p14:sldId id="318"/>
            <p14:sldId id="338"/>
            <p14:sldId id="341"/>
            <p14:sldId id="342"/>
            <p14:sldId id="347"/>
          </p14:sldIdLst>
        </p14:section>
        <p14:section name="Untitled Section" id="{EFB56F58-5817-4C93-9AA2-4847E5B7826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756" y="60"/>
      </p:cViewPr>
      <p:guideLst/>
    </p:cSldViewPr>
  </p:slideViewPr>
  <p:notesTextViewPr>
    <p:cViewPr>
      <p:scale>
        <a:sx n="1" d="1"/>
        <a:sy n="1" d="1"/>
      </p:scale>
      <p:origin x="0" y="0"/>
    </p:cViewPr>
  </p:notesTextViewPr>
  <p:notesViewPr>
    <p:cSldViewPr snapToGrid="0">
      <p:cViewPr varScale="1">
        <p:scale>
          <a:sx n="54" d="100"/>
          <a:sy n="54" d="100"/>
        </p:scale>
        <p:origin x="2820"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42B00CC-FD85-445F-BC74-BB2EF09B146D}" type="datetimeFigureOut">
              <a:rPr lang="en-US" smtClean="0"/>
              <a:t>15/11/2025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CF2132-6940-4B72-A481-E6579FFE0D75}" type="slidenum">
              <a:rPr lang="en-US" smtClean="0"/>
              <a:t>‹#›</a:t>
            </a:fld>
            <a:endParaRPr lang="en-US"/>
          </a:p>
        </p:txBody>
      </p:sp>
    </p:spTree>
    <p:extLst>
      <p:ext uri="{BB962C8B-B14F-4D97-AF65-F5344CB8AC3E}">
        <p14:creationId xmlns:p14="http://schemas.microsoft.com/office/powerpoint/2010/main" val="42335066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FCC82D-B58B-415D-B561-3631A61C084F}" type="datetimeFigureOut">
              <a:rPr lang="en-US" smtClean="0"/>
              <a:t>15/11/2025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480315-78CB-48C5-AAA4-C4DAF5D340C1}" type="slidenum">
              <a:rPr lang="en-US" smtClean="0"/>
              <a:t>‹#›</a:t>
            </a:fld>
            <a:endParaRPr lang="en-US"/>
          </a:p>
        </p:txBody>
      </p:sp>
    </p:spTree>
    <p:extLst>
      <p:ext uri="{BB962C8B-B14F-4D97-AF65-F5344CB8AC3E}">
        <p14:creationId xmlns:p14="http://schemas.microsoft.com/office/powerpoint/2010/main" val="3434557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67FE945-9542-4FEB-93DA-4011C445AE25}" type="datetimeFigureOut">
              <a:rPr lang="en-US" smtClean="0"/>
              <a:t>15/11/2025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3608117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7FE945-9542-4FEB-93DA-4011C445AE25}" type="datetimeFigureOut">
              <a:rPr lang="en-US" smtClean="0"/>
              <a:t>15/11/2025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3187564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7FE945-9542-4FEB-93DA-4011C445AE25}" type="datetimeFigureOut">
              <a:rPr lang="en-US" smtClean="0"/>
              <a:t>15/11/2025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2846944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67FE945-9542-4FEB-93DA-4011C445AE25}" type="datetimeFigureOut">
              <a:rPr lang="en-US" smtClean="0"/>
              <a:t>15/11/2025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178060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67FE945-9542-4FEB-93DA-4011C445AE25}" type="datetimeFigureOut">
              <a:rPr lang="en-US" smtClean="0"/>
              <a:t>15/11/2025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1646429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7FE945-9542-4FEB-93DA-4011C445AE25}" type="datetimeFigureOut">
              <a:rPr lang="en-US" smtClean="0"/>
              <a:t>15/11/2025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11419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7FE945-9542-4FEB-93DA-4011C445AE25}" type="datetimeFigureOut">
              <a:rPr lang="en-US" smtClean="0"/>
              <a:t>15/11/2025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1373983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7FE945-9542-4FEB-93DA-4011C445AE25}" type="datetimeFigureOut">
              <a:rPr lang="en-US" smtClean="0"/>
              <a:t>15/11/2025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3563338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7FE945-9542-4FEB-93DA-4011C445AE25}" type="datetimeFigureOut">
              <a:rPr lang="en-US" smtClean="0"/>
              <a:t>15/11/2025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764370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7FE945-9542-4FEB-93DA-4011C445AE25}" type="datetimeFigureOut">
              <a:rPr lang="en-US" smtClean="0"/>
              <a:t>15/11/2025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2207270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7FE945-9542-4FEB-93DA-4011C445AE25}" type="datetimeFigureOut">
              <a:rPr lang="en-US" smtClean="0"/>
              <a:t>15/11/2025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160406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7FE945-9542-4FEB-93DA-4011C445AE25}" type="datetimeFigureOut">
              <a:rPr lang="en-US" smtClean="0"/>
              <a:t>15/11/2025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C27202-94DD-4821-ACAC-189A3542366F}" type="slidenum">
              <a:rPr lang="en-US" smtClean="0"/>
              <a:t>‹#›</a:t>
            </a:fld>
            <a:endParaRPr lang="en-US"/>
          </a:p>
        </p:txBody>
      </p:sp>
    </p:spTree>
    <p:extLst>
      <p:ext uri="{BB962C8B-B14F-4D97-AF65-F5344CB8AC3E}">
        <p14:creationId xmlns:p14="http://schemas.microsoft.com/office/powerpoint/2010/main" val="3109185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047" y="399246"/>
            <a:ext cx="10183906" cy="2034672"/>
          </a:xfrm>
        </p:spPr>
        <p:txBody>
          <a:bodyPr>
            <a:noAutofit/>
          </a:bodyPr>
          <a:lstStyle/>
          <a:p>
            <a:pPr>
              <a:lnSpc>
                <a:spcPct val="150000"/>
              </a:lnSpc>
            </a:pPr>
            <a:r>
              <a:rPr lang="en-US" sz="3000" b="1" dirty="0">
                <a:latin typeface="Arial" panose="020B0604020202020204" pitchFamily="34" charset="0"/>
                <a:cs typeface="Arial" panose="020B0604020202020204" pitchFamily="34" charset="0"/>
              </a:rPr>
              <a:t>COURSE TITLE: </a:t>
            </a:r>
            <a:r>
              <a:rPr lang="en-US" sz="3200" b="1" dirty="0" smtClean="0"/>
              <a:t>: Statistics </a:t>
            </a:r>
            <a:r>
              <a:rPr lang="en-US" sz="2800" b="1" dirty="0" smtClean="0"/>
              <a:t>and </a:t>
            </a:r>
            <a:r>
              <a:rPr lang="en-US" sz="2800" b="1" dirty="0"/>
              <a:t>Probability</a:t>
            </a:r>
            <a:r>
              <a:rPr lang="en-US" sz="3000" dirty="0">
                <a:latin typeface="Arial" panose="020B0604020202020204" pitchFamily="34" charset="0"/>
                <a:cs typeface="Arial" panose="020B0604020202020204" pitchFamily="34" charset="0"/>
              </a:rPr>
              <a:t/>
            </a:r>
            <a:br>
              <a:rPr lang="en-US" sz="3000" dirty="0">
                <a:latin typeface="Arial" panose="020B0604020202020204" pitchFamily="34" charset="0"/>
                <a:cs typeface="Arial" panose="020B0604020202020204" pitchFamily="34" charset="0"/>
              </a:rPr>
            </a:br>
            <a:r>
              <a:rPr lang="en-US" sz="3200" b="1" dirty="0">
                <a:latin typeface="Arial" panose="020B0604020202020204" pitchFamily="34" charset="0"/>
                <a:cs typeface="Arial" panose="020B0604020202020204" pitchFamily="34" charset="0"/>
              </a:rPr>
              <a:t>COURSE CODE: </a:t>
            </a:r>
            <a:r>
              <a:rPr lang="en-US" sz="3200" dirty="0" smtClean="0">
                <a:latin typeface="Arial" panose="020B0604020202020204" pitchFamily="34" charset="0"/>
                <a:cs typeface="Arial" panose="020B0604020202020204" pitchFamily="34" charset="0"/>
              </a:rPr>
              <a:t>STA 102</a:t>
            </a:r>
            <a:br>
              <a:rPr lang="en-US" sz="3200" dirty="0" smtClean="0">
                <a:latin typeface="Arial" panose="020B0604020202020204" pitchFamily="34" charset="0"/>
                <a:cs typeface="Arial" panose="020B0604020202020204" pitchFamily="34" charset="0"/>
              </a:rPr>
            </a:br>
            <a:r>
              <a:rPr lang="en-US" sz="3200" b="1" dirty="0">
                <a:latin typeface="Arial" panose="020B0604020202020204" pitchFamily="34" charset="0"/>
                <a:cs typeface="Arial" panose="020B0604020202020204" pitchFamily="34" charset="0"/>
              </a:rPr>
              <a:t>Topics:</a:t>
            </a:r>
            <a:r>
              <a:rPr lang="en-US" sz="3200" dirty="0">
                <a:solidFill>
                  <a:srgbClr val="000000"/>
                </a:solidFill>
                <a:latin typeface="Calibri" panose="020B0604020202020204" pitchFamily="34" charset="0"/>
                <a:cs typeface="Arial" panose="020B0604020202020204" pitchFamily="34" charset="0"/>
              </a:rPr>
              <a:t> </a:t>
            </a:r>
            <a:r>
              <a:rPr lang="en-US" sz="2900" b="1" dirty="0" smtClean="0"/>
              <a:t>Some Special Probability Distributions</a:t>
            </a:r>
            <a:endParaRPr lang="en-US" sz="29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1524000" y="3061126"/>
            <a:ext cx="9144000" cy="1655762"/>
          </a:xfrm>
        </p:spPr>
        <p:txBody>
          <a:bodyPr>
            <a:normAutofit fontScale="77500" lnSpcReduction="20000"/>
          </a:bodyPr>
          <a:lstStyle/>
          <a:p>
            <a:pPr>
              <a:lnSpc>
                <a:spcPct val="120000"/>
              </a:lnSpc>
            </a:pPr>
            <a:r>
              <a:rPr lang="en-US" dirty="0" smtClean="0">
                <a:latin typeface="Arial" panose="020B0604020202020204" pitchFamily="34" charset="0"/>
                <a:cs typeface="Arial" panose="020B0604020202020204" pitchFamily="34" charset="0"/>
              </a:rPr>
              <a:t>Instructor: Md. </a:t>
            </a:r>
            <a:r>
              <a:rPr lang="en-US" dirty="0" err="1" smtClean="0">
                <a:latin typeface="Arial" panose="020B0604020202020204" pitchFamily="34" charset="0"/>
                <a:cs typeface="Arial" panose="020B0604020202020204" pitchFamily="34" charset="0"/>
              </a:rPr>
              <a:t>Ershadul</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Haque</a:t>
            </a:r>
            <a:r>
              <a:rPr lang="en-US" dirty="0" smtClean="0">
                <a:latin typeface="Arial" panose="020B0604020202020204" pitchFamily="34" charset="0"/>
                <a:cs typeface="Arial" panose="020B0604020202020204" pitchFamily="34" charset="0"/>
              </a:rPr>
              <a:t>, PhD</a:t>
            </a:r>
          </a:p>
          <a:p>
            <a:pPr>
              <a:lnSpc>
                <a:spcPct val="120000"/>
              </a:lnSpc>
            </a:pPr>
            <a:r>
              <a:rPr lang="en-US" dirty="0" smtClean="0">
                <a:latin typeface="Arial" panose="020B0604020202020204" pitchFamily="34" charset="0"/>
                <a:cs typeface="Arial" panose="020B0604020202020204" pitchFamily="34" charset="0"/>
              </a:rPr>
              <a:t>Professor, Department of Statistics, DU</a:t>
            </a:r>
          </a:p>
          <a:p>
            <a:pPr>
              <a:lnSpc>
                <a:spcPct val="120000"/>
              </a:lnSpc>
            </a:pPr>
            <a:r>
              <a:rPr lang="en-US" dirty="0" smtClean="0">
                <a:latin typeface="Arial" panose="020B0604020202020204" pitchFamily="34" charset="0"/>
                <a:cs typeface="Arial" panose="020B0604020202020204" pitchFamily="34" charset="0"/>
              </a:rPr>
              <a:t>&amp;</a:t>
            </a:r>
          </a:p>
          <a:p>
            <a:pPr>
              <a:lnSpc>
                <a:spcPct val="120000"/>
              </a:lnSpc>
            </a:pPr>
            <a:r>
              <a:rPr lang="en-US" dirty="0" smtClean="0">
                <a:latin typeface="Arial" panose="020B0604020202020204" pitchFamily="34" charset="0"/>
                <a:cs typeface="Arial" panose="020B0604020202020204" pitchFamily="34" charset="0"/>
              </a:rPr>
              <a:t>Adjunct Faculty, EWU, Bangladesh</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839234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63639"/>
            <a:ext cx="9144000" cy="605308"/>
          </a:xfrm>
        </p:spPr>
        <p:txBody>
          <a:bodyPr>
            <a:noAutofit/>
          </a:bodyPr>
          <a:lstStyle/>
          <a:p>
            <a:r>
              <a:rPr lang="en-US" sz="2400" b="1" dirty="0" smtClean="0">
                <a:latin typeface="Arial" panose="020B0604020202020204" pitchFamily="34" charset="0"/>
                <a:cs typeface="Arial" panose="020B0604020202020204" pitchFamily="34" charset="0"/>
              </a:rPr>
              <a:t>The Binomial Distribution</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682581" y="1297397"/>
            <a:ext cx="10831132" cy="5372344"/>
          </a:xfrm>
        </p:spPr>
        <p:txBody>
          <a:bodyPr>
            <a:noAutofit/>
          </a:bodyPr>
          <a:lstStyle/>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binomial distribution is one of the most widely </a:t>
            </a:r>
            <a:r>
              <a:rPr lang="en-US" sz="2000" dirty="0" smtClean="0">
                <a:latin typeface="Arial" panose="020B0604020202020204" pitchFamily="34" charset="0"/>
                <a:cs typeface="Arial" panose="020B0604020202020204" pitchFamily="34" charset="0"/>
              </a:rPr>
              <a:t>used </a:t>
            </a:r>
            <a:r>
              <a:rPr lang="en-US" sz="2000" dirty="0">
                <a:latin typeface="Arial" panose="020B0604020202020204" pitchFamily="34" charset="0"/>
                <a:cs typeface="Arial" panose="020B0604020202020204" pitchFamily="34" charset="0"/>
              </a:rPr>
              <a:t>probability distributions </a:t>
            </a:r>
            <a:r>
              <a:rPr lang="en-US" sz="2000" dirty="0" smtClean="0">
                <a:latin typeface="Arial" panose="020B0604020202020204" pitchFamily="34" charset="0"/>
                <a:cs typeface="Arial" panose="020B0604020202020204" pitchFamily="34" charset="0"/>
              </a:rPr>
              <a:t>in applied </a:t>
            </a:r>
            <a:r>
              <a:rPr lang="en-US" sz="2000" dirty="0">
                <a:latin typeface="Arial" panose="020B0604020202020204" pitchFamily="34" charset="0"/>
                <a:cs typeface="Arial" panose="020B0604020202020204" pitchFamily="34" charset="0"/>
              </a:rPr>
              <a:t>statistics. </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distribution is derived from a process known as a </a:t>
            </a:r>
            <a:r>
              <a:rPr lang="en-US" sz="2000" b="1" dirty="0">
                <a:latin typeface="Arial" panose="020B0604020202020204" pitchFamily="34" charset="0"/>
                <a:cs typeface="Arial" panose="020B0604020202020204" pitchFamily="34" charset="0"/>
              </a:rPr>
              <a:t>Bernoulli </a:t>
            </a:r>
            <a:r>
              <a:rPr lang="en-US" sz="2000" b="1" dirty="0" smtClean="0">
                <a:latin typeface="Arial" panose="020B0604020202020204" pitchFamily="34" charset="0"/>
                <a:cs typeface="Arial" panose="020B0604020202020204" pitchFamily="34" charset="0"/>
              </a:rPr>
              <a:t>trial</a:t>
            </a:r>
            <a:r>
              <a:rPr lang="en-US" sz="2000" dirty="0" smtClean="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When </a:t>
            </a:r>
            <a:r>
              <a:rPr lang="en-US" sz="2000" dirty="0">
                <a:latin typeface="Arial" panose="020B0604020202020204" pitchFamily="34" charset="0"/>
                <a:cs typeface="Arial" panose="020B0604020202020204" pitchFamily="34" charset="0"/>
              </a:rPr>
              <a:t>a random process or experiment, called a trial, can result in only one </a:t>
            </a:r>
            <a:r>
              <a:rPr lang="en-US" sz="2000" dirty="0" smtClean="0">
                <a:latin typeface="Arial" panose="020B0604020202020204" pitchFamily="34" charset="0"/>
                <a:cs typeface="Arial" panose="020B0604020202020204" pitchFamily="34" charset="0"/>
              </a:rPr>
              <a:t>of two </a:t>
            </a:r>
            <a:r>
              <a:rPr lang="en-US" sz="2000" dirty="0">
                <a:latin typeface="Arial" panose="020B0604020202020204" pitchFamily="34" charset="0"/>
                <a:cs typeface="Arial" panose="020B0604020202020204" pitchFamily="34" charset="0"/>
              </a:rPr>
              <a:t>mutually exclusive </a:t>
            </a:r>
            <a:r>
              <a:rPr lang="en-US" sz="2000" dirty="0" smtClean="0">
                <a:latin typeface="Arial" panose="020B0604020202020204" pitchFamily="34" charset="0"/>
                <a:cs typeface="Arial" panose="020B0604020202020204" pitchFamily="34" charset="0"/>
              </a:rPr>
              <a:t>outcomes: </a:t>
            </a:r>
            <a:r>
              <a:rPr lang="en-US" sz="2000" dirty="0">
                <a:latin typeface="Arial" panose="020B0604020202020204" pitchFamily="34" charset="0"/>
                <a:cs typeface="Arial" panose="020B0604020202020204" pitchFamily="34" charset="0"/>
              </a:rPr>
              <a:t>success or failure </a:t>
            </a:r>
            <a:r>
              <a:rPr lang="en-US" sz="2000" dirty="0" smtClean="0">
                <a:latin typeface="Arial" panose="020B0604020202020204" pitchFamily="34" charset="0"/>
                <a:cs typeface="Arial" panose="020B0604020202020204" pitchFamily="34" charset="0"/>
              </a:rPr>
              <a:t>(heads </a:t>
            </a:r>
            <a:r>
              <a:rPr lang="en-US" sz="2000" dirty="0">
                <a:latin typeface="Arial" panose="020B0604020202020204" pitchFamily="34" charset="0"/>
                <a:cs typeface="Arial" panose="020B0604020202020204" pitchFamily="34" charset="0"/>
              </a:rPr>
              <a:t>or tails, </a:t>
            </a:r>
            <a:r>
              <a:rPr lang="en-US" sz="2000" dirty="0" smtClean="0">
                <a:latin typeface="Arial" panose="020B0604020202020204" pitchFamily="34" charset="0"/>
                <a:cs typeface="Arial" panose="020B0604020202020204" pitchFamily="34" charset="0"/>
              </a:rPr>
              <a:t>defective </a:t>
            </a:r>
            <a:r>
              <a:rPr lang="en-US" sz="2000" dirty="0">
                <a:latin typeface="Arial" panose="020B0604020202020204" pitchFamily="34" charset="0"/>
                <a:cs typeface="Arial" panose="020B0604020202020204" pitchFamily="34" charset="0"/>
              </a:rPr>
              <a:t>or non-defective, dead or </a:t>
            </a:r>
            <a:r>
              <a:rPr lang="en-US" sz="2000" dirty="0" smtClean="0">
                <a:latin typeface="Arial" panose="020B0604020202020204" pitchFamily="34" charset="0"/>
                <a:cs typeface="Arial" panose="020B0604020202020204" pitchFamily="34" charset="0"/>
              </a:rPr>
              <a:t>alive, or </a:t>
            </a:r>
            <a:r>
              <a:rPr lang="en-US" sz="2000" dirty="0">
                <a:latin typeface="Arial" panose="020B0604020202020204" pitchFamily="34" charset="0"/>
                <a:cs typeface="Arial" panose="020B0604020202020204" pitchFamily="34" charset="0"/>
              </a:rPr>
              <a:t>many other possible pairs</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 trial is called a Bernoulli trial.</a:t>
            </a:r>
          </a:p>
        </p:txBody>
      </p:sp>
    </p:spTree>
    <p:extLst>
      <p:ext uri="{BB962C8B-B14F-4D97-AF65-F5344CB8AC3E}">
        <p14:creationId xmlns:p14="http://schemas.microsoft.com/office/powerpoint/2010/main" val="14225315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6147" y="0"/>
            <a:ext cx="9144000" cy="605308"/>
          </a:xfrm>
        </p:spPr>
        <p:txBody>
          <a:bodyPr>
            <a:noAutofit/>
          </a:bodyPr>
          <a:lstStyle/>
          <a:p>
            <a:r>
              <a:rPr lang="en-US" sz="2400" b="1" dirty="0" smtClean="0">
                <a:latin typeface="Arial" panose="020B0604020202020204" pitchFamily="34" charset="0"/>
                <a:cs typeface="Arial" panose="020B0604020202020204" pitchFamily="34" charset="0"/>
              </a:rPr>
              <a:t>The Binomial Distribution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813302"/>
                <a:ext cx="10831132" cy="5923673"/>
              </a:xfrm>
            </p:spPr>
            <p:txBody>
              <a:bodyPr>
                <a:noAutofit/>
              </a:bodyPr>
              <a:lstStyle/>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Binomial Random Variable and Its </a:t>
                </a:r>
                <a:r>
                  <a:rPr lang="en-US" sz="2000" b="1" dirty="0" err="1">
                    <a:latin typeface="Arial" panose="020B0604020202020204" pitchFamily="34" charset="0"/>
                    <a:cs typeface="Arial" panose="020B0604020202020204" pitchFamily="34" charset="0"/>
                  </a:rPr>
                  <a:t>pmf</a:t>
                </a:r>
                <a:r>
                  <a:rPr lang="en-US" sz="2000" b="1"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If a Bernoulli trial can result in a success with probability </a:t>
                </a:r>
                <a14:m>
                  <m:oMath xmlns:m="http://schemas.openxmlformats.org/officeDocument/2006/math">
                    <m:r>
                      <a:rPr lang="en-US" sz="2000" i="1">
                        <a:latin typeface="Cambria Math" panose="02040503050406030204" pitchFamily="18" charset="0"/>
                      </a:rPr>
                      <m:t>𝑝</m:t>
                    </m:r>
                  </m:oMath>
                </a14:m>
                <a:r>
                  <a:rPr lang="en-US" sz="2000" dirty="0">
                    <a:latin typeface="Arial" panose="020B0604020202020204" pitchFamily="34" charset="0"/>
                    <a:cs typeface="Arial" panose="020B0604020202020204" pitchFamily="34" charset="0"/>
                  </a:rPr>
                  <a:t>, then the probability distribution of the random variable </a:t>
                </a:r>
                <a14:m>
                  <m:oMath xmlns:m="http://schemas.openxmlformats.org/officeDocument/2006/math">
                    <m:r>
                      <a:rPr lang="en-US" sz="2000" i="1">
                        <a:latin typeface="Cambria Math" panose="02040503050406030204" pitchFamily="18" charset="0"/>
                      </a:rPr>
                      <m:t>𝑋</m:t>
                    </m:r>
                  </m:oMath>
                </a14:m>
                <a:r>
                  <a:rPr lang="en-US" sz="2000" dirty="0">
                    <a:latin typeface="Arial" panose="020B0604020202020204" pitchFamily="34" charset="0"/>
                    <a:cs typeface="Arial" panose="020B0604020202020204" pitchFamily="34" charset="0"/>
                  </a:rPr>
                  <a:t>, the number of successes in </a:t>
                </a:r>
                <a14:m>
                  <m:oMath xmlns:m="http://schemas.openxmlformats.org/officeDocument/2006/math">
                    <m:r>
                      <a:rPr lang="en-US" sz="2000" i="1">
                        <a:latin typeface="Cambria Math" panose="02040503050406030204" pitchFamily="18" charset="0"/>
                      </a:rPr>
                      <m:t>𝑛</m:t>
                    </m:r>
                  </m:oMath>
                </a14:m>
                <a:r>
                  <a:rPr lang="en-US" sz="2000" dirty="0">
                    <a:latin typeface="Arial" panose="020B0604020202020204" pitchFamily="34" charset="0"/>
                    <a:cs typeface="Arial" panose="020B0604020202020204" pitchFamily="34" charset="0"/>
                  </a:rPr>
                  <a:t> independent trials, is called binomial distribution with probability function </a:t>
                </a:r>
              </a:p>
              <a:p>
                <a:pPr>
                  <a:lnSpc>
                    <a:spcPct val="150000"/>
                  </a:lnSpc>
                </a:pP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𝑝</m:t>
                        </m:r>
                      </m:e>
                    </m:d>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sSub>
                          <m:sSubPr>
                            <m:ctrlPr>
                              <a:rPr lang="en-US" sz="2000" i="1">
                                <a:latin typeface="Cambria Math" panose="02040503050406030204" pitchFamily="18" charset="0"/>
                              </a:rPr>
                            </m:ctrlPr>
                          </m:sSubPr>
                          <m:e>
                            <m:r>
                              <a:rPr lang="en-US" sz="2000" i="1">
                                <a:latin typeface="Cambria Math" panose="02040503050406030204" pitchFamily="18" charset="0"/>
                              </a:rPr>
                              <m:t>𝐶</m:t>
                            </m:r>
                          </m:e>
                          <m:sub>
                            <m:r>
                              <a:rPr lang="en-US" sz="2000" i="1">
                                <a:latin typeface="Cambria Math" panose="02040503050406030204" pitchFamily="18" charset="0"/>
                              </a:rPr>
                              <m:t>𝑥</m:t>
                            </m:r>
                          </m:sub>
                        </m:sSub>
                      </m:sub>
                    </m:sSub>
                    <m:sSup>
                      <m:sSupPr>
                        <m:ctrlPr>
                          <a:rPr lang="en-US" sz="2000" i="1">
                            <a:latin typeface="Cambria Math" panose="02040503050406030204" pitchFamily="18" charset="0"/>
                          </a:rPr>
                        </m:ctrlPr>
                      </m:sSupPr>
                      <m:e>
                        <m:r>
                          <a:rPr lang="en-US" sz="2000" i="1">
                            <a:latin typeface="Cambria Math" panose="02040503050406030204" pitchFamily="18" charset="0"/>
                          </a:rPr>
                          <m:t>𝑝</m:t>
                        </m:r>
                      </m:e>
                      <m:sup>
                        <m:r>
                          <a:rPr lang="en-US" sz="2000" i="1">
                            <a:latin typeface="Cambria Math" panose="02040503050406030204" pitchFamily="18" charset="0"/>
                          </a:rPr>
                          <m:t>𝑥</m:t>
                        </m:r>
                      </m:sup>
                    </m:sSup>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panose="02040503050406030204" pitchFamily="18" charset="0"/>
                              </a:rPr>
                              <m:t>1−</m:t>
                            </m:r>
                            <m:r>
                              <a:rPr lang="en-US" sz="2000" i="1">
                                <a:latin typeface="Cambria Math" panose="02040503050406030204" pitchFamily="18" charset="0"/>
                              </a:rPr>
                              <m:t>𝑝</m:t>
                            </m:r>
                          </m:e>
                        </m:d>
                      </m:e>
                      <m:sup>
                        <m:r>
                          <a:rPr lang="en-US" sz="2000" i="1">
                            <a:latin typeface="Cambria Math" panose="02040503050406030204" pitchFamily="18" charset="0"/>
                          </a:rPr>
                          <m:t>𝑛</m:t>
                        </m:r>
                        <m:r>
                          <a:rPr lang="en-US" sz="2000" i="1">
                            <a:latin typeface="Cambria Math" panose="02040503050406030204" pitchFamily="18" charset="0"/>
                          </a:rPr>
                          <m:t>−</m:t>
                        </m:r>
                        <m:r>
                          <a:rPr lang="en-US" sz="2000" i="1">
                            <a:latin typeface="Cambria Math" panose="02040503050406030204" pitchFamily="18" charset="0"/>
                          </a:rPr>
                          <m:t>𝑥</m:t>
                        </m:r>
                      </m:sup>
                    </m:sSup>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𝑥</m:t>
                    </m:r>
                    <m:r>
                      <a:rPr lang="en-US" sz="2000" i="1">
                        <a:latin typeface="Cambria Math" panose="02040503050406030204" pitchFamily="18" charset="0"/>
                      </a:rPr>
                      <m:t>=0, 1, 2, …, </m:t>
                    </m:r>
                    <m:r>
                      <a:rPr lang="en-US" sz="2000" i="1">
                        <a:latin typeface="Cambria Math" panose="02040503050406030204" pitchFamily="18" charset="0"/>
                      </a:rPr>
                      <m:t>𝑛</m:t>
                    </m:r>
                    <m:r>
                      <a:rPr lang="en-US" sz="2000" b="0" i="1" smtClean="0">
                        <a:latin typeface="Cambria Math" panose="02040503050406030204" pitchFamily="18" charset="0"/>
                      </a:rPr>
                      <m:t>, 0&lt;</m:t>
                    </m:r>
                    <m:r>
                      <a:rPr lang="en-US" sz="2000" b="0" i="1" smtClean="0">
                        <a:latin typeface="Cambria Math" panose="02040503050406030204" pitchFamily="18" charset="0"/>
                      </a:rPr>
                      <m:t>𝑝</m:t>
                    </m:r>
                    <m:r>
                      <a:rPr lang="en-US" sz="2000" b="0" i="1" smtClean="0">
                        <a:latin typeface="Cambria Math" panose="02040503050406030204" pitchFamily="18" charset="0"/>
                      </a:rPr>
                      <m:t>&lt;1</m:t>
                    </m:r>
                  </m:oMath>
                </a14:m>
                <a:r>
                  <a:rPr lang="en-US" sz="2000" dirty="0" smtClean="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requirements for using the binomial distribution are as follows:</a:t>
                </a:r>
                <a:endParaRPr lang="en-US" sz="19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There are only two possible outcomes: success or failure in a single trial. </a:t>
                </a: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The number of trials, </a:t>
                </a:r>
                <a14:m>
                  <m:oMath xmlns:m="http://schemas.openxmlformats.org/officeDocument/2006/math">
                    <m:r>
                      <a:rPr lang="en-US" i="1" dirty="0">
                        <a:latin typeface="Cambria Math" panose="02040503050406030204" pitchFamily="18" charset="0"/>
                        <a:cs typeface="Arial" panose="020B0604020202020204" pitchFamily="34" charset="0"/>
                      </a:rPr>
                      <m:t>𝑛</m:t>
                    </m:r>
                  </m:oMath>
                </a14:m>
                <a:r>
                  <a:rPr lang="en-US" dirty="0">
                    <a:latin typeface="Arial" panose="020B0604020202020204" pitchFamily="34" charset="0"/>
                    <a:cs typeface="Arial" panose="020B0604020202020204" pitchFamily="34" charset="0"/>
                  </a:rPr>
                  <a:t>, must be fixed, regardless of the outcome of each trial.</a:t>
                </a: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The trials are independent.</a:t>
                </a: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The probability of success, </a:t>
                </a:r>
                <a14:m>
                  <m:oMath xmlns:m="http://schemas.openxmlformats.org/officeDocument/2006/math">
                    <m:r>
                      <a:rPr lang="en-US" i="1">
                        <a:latin typeface="Cambria Math" panose="02040503050406030204" pitchFamily="18" charset="0"/>
                      </a:rPr>
                      <m:t>𝑝</m:t>
                    </m:r>
                  </m:oMath>
                </a14:m>
                <a:r>
                  <a:rPr lang="en-US" dirty="0">
                    <a:latin typeface="Arial" panose="020B0604020202020204" pitchFamily="34" charset="0"/>
                    <a:cs typeface="Arial" panose="020B0604020202020204" pitchFamily="34" charset="0"/>
                  </a:rPr>
                  <a:t>, in each trial is constant.</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Suppose that </a:t>
                </a:r>
                <a14:m>
                  <m:oMath xmlns:m="http://schemas.openxmlformats.org/officeDocument/2006/math">
                    <m:r>
                      <a:rPr lang="en-US" sz="2000" i="1">
                        <a:latin typeface="Cambria Math" panose="02040503050406030204" pitchFamily="18" charset="0"/>
                        <a:cs typeface="Arial" panose="020B0604020202020204" pitchFamily="34" charset="0"/>
                      </a:rPr>
                      <m:t>𝑋</m:t>
                    </m:r>
                  </m:oMath>
                </a14:m>
                <a:r>
                  <a:rPr lang="en-US" sz="2000" dirty="0">
                    <a:latin typeface="Arial" panose="020B0604020202020204" pitchFamily="34" charset="0"/>
                    <a:cs typeface="Arial" panose="020B0604020202020204" pitchFamily="34" charset="0"/>
                  </a:rPr>
                  <a:t> follows binomial distribution with number of trials </a:t>
                </a:r>
                <a14:m>
                  <m:oMath xmlns:m="http://schemas.openxmlformats.org/officeDocument/2006/math">
                    <m:r>
                      <a:rPr lang="en-US" sz="2000" i="1">
                        <a:latin typeface="Cambria Math" panose="02040503050406030204" pitchFamily="18" charset="0"/>
                        <a:cs typeface="Arial" panose="020B0604020202020204" pitchFamily="34" charset="0"/>
                      </a:rPr>
                      <m:t>𝑛</m:t>
                    </m:r>
                  </m:oMath>
                </a14:m>
                <a:r>
                  <a:rPr lang="en-US" sz="2000" dirty="0">
                    <a:latin typeface="Arial" panose="020B0604020202020204" pitchFamily="34" charset="0"/>
                    <a:cs typeface="Arial" panose="020B0604020202020204" pitchFamily="34" charset="0"/>
                  </a:rPr>
                  <a:t> and success probability </a:t>
                </a:r>
                <a14:m>
                  <m:oMath xmlns:m="http://schemas.openxmlformats.org/officeDocument/2006/math">
                    <m:r>
                      <a:rPr lang="en-US" sz="2000" i="1">
                        <a:latin typeface="Cambria Math" panose="02040503050406030204" pitchFamily="18" charset="0"/>
                        <a:cs typeface="Arial" panose="020B0604020202020204" pitchFamily="34" charset="0"/>
                      </a:rPr>
                      <m:t>𝑝</m:t>
                    </m:r>
                    <m:r>
                      <a:rPr lang="en-US" sz="2000" b="0" i="0" smtClean="0">
                        <a:latin typeface="Cambria Math" panose="02040503050406030204" pitchFamily="18" charset="0"/>
                        <a:cs typeface="Arial" panose="020B0604020202020204" pitchFamily="34" charset="0"/>
                      </a:rPr>
                      <m:t>.</m:t>
                    </m:r>
                  </m:oMath>
                </a14:m>
                <a:r>
                  <a:rPr lang="en-US" sz="2000" dirty="0" smtClean="0">
                    <a:latin typeface="Arial" panose="020B0604020202020204" pitchFamily="34" charset="0"/>
                    <a:cs typeface="Arial" panose="020B0604020202020204" pitchFamily="34" charset="0"/>
                  </a:rPr>
                  <a:t> Notationally it is represented by </a:t>
                </a:r>
                <a14:m>
                  <m:oMath xmlns:m="http://schemas.openxmlformats.org/officeDocument/2006/math">
                    <m:r>
                      <a:rPr lang="en-US" sz="2000" i="1">
                        <a:latin typeface="Cambria Math" panose="02040503050406030204" pitchFamily="18" charset="0"/>
                        <a:cs typeface="Arial" panose="020B0604020202020204" pitchFamily="34" charset="0"/>
                      </a:rPr>
                      <m:t>𝑋</m:t>
                    </m:r>
                    <m:r>
                      <a:rPr lang="en-US" sz="2000" i="1">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Bin</a:t>
                </a:r>
                <a14:m>
                  <m:oMath xmlns:m="http://schemas.openxmlformats.org/officeDocument/2006/math">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𝑛</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𝑝</m:t>
                    </m:r>
                    <m:r>
                      <a:rPr lang="en-US" sz="2000" i="1" dirty="0">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a:t>
                </a: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813302"/>
                <a:ext cx="10831132" cy="5923673"/>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13657378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63639"/>
            <a:ext cx="9144000" cy="605308"/>
          </a:xfrm>
        </p:spPr>
        <p:txBody>
          <a:bodyPr>
            <a:noAutofit/>
          </a:bodyPr>
          <a:lstStyle/>
          <a:p>
            <a:r>
              <a:rPr lang="en-US" sz="2400" b="1" dirty="0" smtClean="0">
                <a:latin typeface="Arial" panose="020B0604020202020204" pitchFamily="34" charset="0"/>
                <a:cs typeface="Arial" panose="020B0604020202020204" pitchFamily="34" charset="0"/>
              </a:rPr>
              <a:t>The Binomial Distribution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1297397"/>
                <a:ext cx="10831132" cy="5372344"/>
              </a:xfrm>
            </p:spPr>
            <p:txBody>
              <a:bodyPr>
                <a:noAutofit/>
              </a:bodyPr>
              <a:lstStyle/>
              <a:p>
                <a:pPr marL="342900" indent="-342900" algn="just">
                  <a:lnSpc>
                    <a:spcPct val="150000"/>
                  </a:lnSpc>
                  <a:buFont typeface="Arial" panose="020B0604020202020204" pitchFamily="34" charset="0"/>
                  <a:buChar char="•"/>
                </a:pPr>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If </a:t>
                </a:r>
                <a14:m>
                  <m:oMath xmlns:m="http://schemas.openxmlformats.org/officeDocument/2006/math">
                    <m:r>
                      <a:rPr lang="en-US" sz="2000" b="0" i="1">
                        <a:latin typeface="Cambria Math" panose="02040503050406030204" pitchFamily="18" charset="0"/>
                        <a:cs typeface="Arial" panose="020B0604020202020204" pitchFamily="34" charset="0"/>
                      </a:rPr>
                      <m:t>𝑋</m:t>
                    </m:r>
                    <m:r>
                      <a:rPr lang="en-US" sz="2000" b="0" i="1">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Bin</a:t>
                </a:r>
                <a14:m>
                  <m:oMath xmlns:m="http://schemas.openxmlformats.org/officeDocument/2006/math">
                    <m:d>
                      <m:dPr>
                        <m:ctrlPr>
                          <a:rPr lang="en-US" sz="2000" i="1" dirty="0">
                            <a:latin typeface="Cambria Math" panose="02040503050406030204" pitchFamily="18" charset="0"/>
                            <a:cs typeface="Arial" panose="020B0604020202020204" pitchFamily="34" charset="0"/>
                          </a:rPr>
                        </m:ctrlPr>
                      </m:dPr>
                      <m:e>
                        <m:r>
                          <a:rPr lang="en-US" sz="2000" b="0" i="1" dirty="0">
                            <a:latin typeface="Cambria Math" panose="02040503050406030204" pitchFamily="18" charset="0"/>
                            <a:cs typeface="Arial" panose="020B0604020202020204" pitchFamily="34" charset="0"/>
                          </a:rPr>
                          <m:t>𝑛</m:t>
                        </m:r>
                        <m:r>
                          <a:rPr lang="en-US" sz="2000" b="0" i="1" dirty="0">
                            <a:latin typeface="Cambria Math" panose="02040503050406030204" pitchFamily="18" charset="0"/>
                            <a:cs typeface="Arial" panose="020B0604020202020204" pitchFamily="34" charset="0"/>
                          </a:rPr>
                          <m:t>,</m:t>
                        </m:r>
                        <m:r>
                          <a:rPr lang="en-US" sz="2000" b="0" i="1" dirty="0">
                            <a:latin typeface="Cambria Math" panose="02040503050406030204" pitchFamily="18" charset="0"/>
                            <a:cs typeface="Arial" panose="020B0604020202020204" pitchFamily="34" charset="0"/>
                          </a:rPr>
                          <m:t>𝑝</m:t>
                        </m:r>
                      </m:e>
                    </m:d>
                  </m:oMath>
                </a14:m>
                <a:r>
                  <a:rPr lang="en-US" sz="2000" dirty="0" smtClean="0">
                    <a:latin typeface="Arial" panose="020B0604020202020204" pitchFamily="34" charset="0"/>
                    <a:cs typeface="Arial" panose="020B0604020202020204" pitchFamily="34" charset="0"/>
                  </a:rPr>
                  <a:t>, it can be shown that </a:t>
                </a:r>
                <a14:m>
                  <m:oMath xmlns:m="http://schemas.openxmlformats.org/officeDocument/2006/math">
                    <m:nary>
                      <m:naryPr>
                        <m:chr m:val="∑"/>
                        <m:limLoc m:val="subSup"/>
                        <m:ctrlPr>
                          <a:rPr lang="en-US" sz="2000" i="1" smtClean="0">
                            <a:latin typeface="Cambria Math" panose="02040503050406030204" pitchFamily="18" charset="0"/>
                            <a:cs typeface="Arial" panose="020B0604020202020204" pitchFamily="34" charset="0"/>
                          </a:rPr>
                        </m:ctrlPr>
                      </m:naryPr>
                      <m:sub>
                        <m:r>
                          <m:rPr>
                            <m:brk m:alnAt="25"/>
                          </m:rPr>
                          <a:rPr lang="en-US" sz="2000" b="0" i="1" smtClean="0">
                            <a:latin typeface="Cambria Math" panose="02040503050406030204" pitchFamily="18" charset="0"/>
                            <a:cs typeface="Arial" panose="020B0604020202020204" pitchFamily="34" charset="0"/>
                          </a:rPr>
                          <m:t>𝑥</m:t>
                        </m:r>
                        <m:r>
                          <a:rPr lang="en-US" sz="2000" b="0" i="1" smtClean="0">
                            <a:latin typeface="Cambria Math" panose="02040503050406030204" pitchFamily="18" charset="0"/>
                            <a:cs typeface="Arial" panose="020B0604020202020204" pitchFamily="34" charset="0"/>
                          </a:rPr>
                          <m:t>=0</m:t>
                        </m:r>
                      </m:sub>
                      <m:sup>
                        <m:r>
                          <a:rPr lang="en-US" sz="2000" b="0" i="1" smtClean="0">
                            <a:latin typeface="Cambria Math" panose="02040503050406030204" pitchFamily="18" charset="0"/>
                            <a:cs typeface="Arial" panose="020B0604020202020204" pitchFamily="34" charset="0"/>
                          </a:rPr>
                          <m:t>𝑛</m:t>
                        </m:r>
                      </m:sup>
                      <m:e>
                        <m:r>
                          <a:rPr lang="en-US" sz="2000" b="0" i="1" smtClean="0">
                            <a:latin typeface="Cambria Math" panose="02040503050406030204" pitchFamily="18" charset="0"/>
                            <a:cs typeface="Arial" panose="020B0604020202020204" pitchFamily="34" charset="0"/>
                          </a:rPr>
                          <m:t>𝑓</m:t>
                        </m:r>
                        <m:d>
                          <m:dPr>
                            <m:ctrlPr>
                              <a:rPr lang="en-US" sz="200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𝑥</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𝑛</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𝑝</m:t>
                            </m:r>
                          </m:e>
                        </m:d>
                        <m:r>
                          <a:rPr lang="en-US" sz="2000" b="0" i="1" smtClean="0">
                            <a:latin typeface="Cambria Math" panose="02040503050406030204" pitchFamily="18" charset="0"/>
                            <a:cs typeface="Arial" panose="020B0604020202020204" pitchFamily="34" charset="0"/>
                          </a:rPr>
                          <m:t>=1</m:t>
                        </m:r>
                      </m:e>
                    </m:nary>
                  </m:oMath>
                </a14:m>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mean and variance of binomial random variable are </a:t>
                </a:r>
                <a:endParaRPr lang="en-US" sz="2000" dirty="0" smtClean="0">
                  <a:latin typeface="Arial" panose="020B0604020202020204" pitchFamily="34" charset="0"/>
                  <a:cs typeface="Arial" panose="020B0604020202020204" pitchFamily="34" charset="0"/>
                </a:endParaRPr>
              </a:p>
              <a:p>
                <a:pPr algn="just">
                  <a:lnSpc>
                    <a:spcPct val="150000"/>
                  </a:lnSpc>
                </a:pPr>
                <a:r>
                  <a:rPr lang="en-US" sz="2000" dirty="0" smtClean="0">
                    <a:latin typeface="Arial" panose="020B0604020202020204" pitchFamily="34" charset="0"/>
                    <a:cs typeface="Arial" panose="020B0604020202020204" pitchFamily="34" charset="0"/>
                  </a:rPr>
                  <a:t>	Mean</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𝜇</m:t>
                    </m:r>
                    <m:r>
                      <a:rPr lang="en-US" sz="2000" i="1">
                        <a:latin typeface="Cambria Math" panose="02040503050406030204" pitchFamily="18" charset="0"/>
                      </a:rPr>
                      <m:t>=</m:t>
                    </m:r>
                    <m:r>
                      <a:rPr lang="en-US" sz="2000" i="1">
                        <a:latin typeface="Cambria Math" panose="02040503050406030204" pitchFamily="18" charset="0"/>
                      </a:rPr>
                      <m:t>𝐸</m:t>
                    </m:r>
                    <m:d>
                      <m:dPr>
                        <m:ctrlPr>
                          <a:rPr lang="en-US" sz="2000" i="1">
                            <a:latin typeface="Cambria Math" panose="02040503050406030204" pitchFamily="18" charset="0"/>
                          </a:rPr>
                        </m:ctrlPr>
                      </m:dPr>
                      <m:e>
                        <m:r>
                          <a:rPr lang="en-US" sz="2000" i="1">
                            <a:latin typeface="Cambria Math" panose="02040503050406030204" pitchFamily="18" charset="0"/>
                          </a:rPr>
                          <m:t>𝑋</m:t>
                        </m:r>
                      </m:e>
                    </m:d>
                    <m:r>
                      <a:rPr lang="en-US" sz="2000" i="1">
                        <a:latin typeface="Cambria Math" panose="02040503050406030204" pitchFamily="18" charset="0"/>
                      </a:rPr>
                      <m:t>=</m:t>
                    </m:r>
                    <m:r>
                      <a:rPr lang="en-US" sz="2000" i="1">
                        <a:latin typeface="Cambria Math" panose="02040503050406030204" pitchFamily="18" charset="0"/>
                      </a:rPr>
                      <m:t>𝑛𝑝</m:t>
                    </m:r>
                    <m:r>
                      <a:rPr lang="en-US" sz="2000" i="1">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r>
                      <a:rPr lang="en-US" sz="2000" i="1">
                        <a:latin typeface="Cambria Math" panose="02040503050406030204" pitchFamily="18" charset="0"/>
                      </a:rPr>
                      <m:t>=</m:t>
                    </m:r>
                    <m:r>
                      <a:rPr lang="en-US" sz="2000" i="1">
                        <a:latin typeface="Cambria Math" panose="02040503050406030204" pitchFamily="18" charset="0"/>
                      </a:rPr>
                      <m:t>𝑉𝑎𝑟</m:t>
                    </m:r>
                    <m:d>
                      <m:dPr>
                        <m:ctrlPr>
                          <a:rPr lang="en-US" sz="2000" i="1">
                            <a:latin typeface="Cambria Math" panose="02040503050406030204" pitchFamily="18" charset="0"/>
                          </a:rPr>
                        </m:ctrlPr>
                      </m:dPr>
                      <m:e>
                        <m:r>
                          <a:rPr lang="en-US" sz="2000" i="1">
                            <a:latin typeface="Cambria Math" panose="02040503050406030204" pitchFamily="18" charset="0"/>
                          </a:rPr>
                          <m:t>𝑋</m:t>
                        </m:r>
                      </m:e>
                    </m:d>
                    <m:r>
                      <a:rPr lang="en-US" sz="2000" i="1">
                        <a:latin typeface="Cambria Math" panose="02040503050406030204" pitchFamily="18" charset="0"/>
                      </a:rPr>
                      <m:t>=</m:t>
                    </m:r>
                    <m:r>
                      <a:rPr lang="en-US" sz="2000" i="1">
                        <a:latin typeface="Cambria Math" panose="02040503050406030204" pitchFamily="18" charset="0"/>
                      </a:rPr>
                      <m:t>𝑛𝑝</m:t>
                    </m:r>
                    <m:d>
                      <m:dPr>
                        <m:ctrlPr>
                          <a:rPr lang="en-US" sz="2000" i="1">
                            <a:latin typeface="Cambria Math" panose="02040503050406030204" pitchFamily="18" charset="0"/>
                          </a:rPr>
                        </m:ctrlPr>
                      </m:dPr>
                      <m:e>
                        <m:r>
                          <a:rPr lang="en-US" sz="2000" i="1">
                            <a:latin typeface="Cambria Math" panose="02040503050406030204" pitchFamily="18" charset="0"/>
                          </a:rPr>
                          <m:t>1−</m:t>
                        </m:r>
                        <m:r>
                          <a:rPr lang="en-US" sz="2000" i="1">
                            <a:latin typeface="Cambria Math" panose="02040503050406030204" pitchFamily="18" charset="0"/>
                          </a:rPr>
                          <m:t>𝑝</m:t>
                        </m:r>
                      </m:e>
                    </m:d>
                  </m:oMath>
                </a14:m>
                <a:endParaRPr lang="en-US" sz="2000" dirty="0" smtClean="0">
                  <a:latin typeface="Arial" panose="020B0604020202020204" pitchFamily="34" charset="0"/>
                  <a:cs typeface="Arial" panose="020B0604020202020204" pitchFamily="34" charset="0"/>
                </a:endParaRPr>
              </a:p>
              <a:p>
                <a:pPr algn="l"/>
                <a:r>
                  <a:rPr lang="en-US" sz="2000" dirty="0" smtClean="0">
                    <a:latin typeface="Arial" panose="020B0604020202020204" pitchFamily="34" charset="0"/>
                    <a:cs typeface="Arial" panose="020B0604020202020204" pitchFamily="34" charset="0"/>
                  </a:rPr>
                  <a:t>	Note: </a:t>
                </a:r>
                <a:r>
                  <a:rPr lang="en-US" sz="2000" dirty="0">
                    <a:latin typeface="Arial" panose="020B0604020202020204" pitchFamily="34" charset="0"/>
                    <a:cs typeface="Arial" panose="020B0604020202020204" pitchFamily="34" charset="0"/>
                  </a:rPr>
                  <a:t>If </a:t>
                </a:r>
                <a14:m>
                  <m:oMath xmlns:m="http://schemas.openxmlformats.org/officeDocument/2006/math">
                    <m:r>
                      <a:rPr lang="en-US" sz="2000" i="1">
                        <a:latin typeface="Cambria Math" panose="02040503050406030204" pitchFamily="18" charset="0"/>
                        <a:cs typeface="Arial" panose="020B0604020202020204" pitchFamily="34" charset="0"/>
                      </a:rPr>
                      <m:t>𝑋</m:t>
                    </m:r>
                    <m:r>
                      <a:rPr lang="en-US" sz="2000" i="1">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Bin</a:t>
                </a:r>
                <a14:m>
                  <m:oMath xmlns:m="http://schemas.openxmlformats.org/officeDocument/2006/math">
                    <m:d>
                      <m:dPr>
                        <m:ctrlPr>
                          <a:rPr lang="en-US" sz="2000" i="1" dirty="0">
                            <a:latin typeface="Cambria Math" panose="02040503050406030204" pitchFamily="18" charset="0"/>
                            <a:cs typeface="Arial" panose="020B0604020202020204" pitchFamily="34" charset="0"/>
                          </a:rPr>
                        </m:ctrlPr>
                      </m:dPr>
                      <m:e>
                        <m:r>
                          <a:rPr lang="en-US" sz="2000" i="1" dirty="0">
                            <a:latin typeface="Cambria Math" panose="02040503050406030204" pitchFamily="18" charset="0"/>
                            <a:cs typeface="Arial" panose="020B0604020202020204" pitchFamily="34" charset="0"/>
                          </a:rPr>
                          <m:t>𝑛</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𝑝</m:t>
                        </m:r>
                      </m:e>
                    </m:d>
                  </m:oMath>
                </a14:m>
                <a:r>
                  <a:rPr lang="en-US" sz="2000" dirty="0" smtClean="0">
                    <a:latin typeface="Arial" panose="020B0604020202020204" pitchFamily="34" charset="0"/>
                    <a:cs typeface="Arial" panose="020B0604020202020204" pitchFamily="34" charset="0"/>
                  </a:rPr>
                  <a:t> then </a:t>
                </a:r>
                <a14:m>
                  <m:oMath xmlns:m="http://schemas.openxmlformats.org/officeDocument/2006/math">
                    <m:r>
                      <a:rPr lang="en-US" sz="2000" i="1">
                        <a:latin typeface="Cambria Math" panose="02040503050406030204" pitchFamily="18" charset="0"/>
                        <a:cs typeface="Arial" panose="020B0604020202020204" pitchFamily="34" charset="0"/>
                      </a:rPr>
                      <m:t>𝜇</m:t>
                    </m:r>
                    <m:r>
                      <a:rPr lang="en-US" sz="2000" i="1">
                        <a:latin typeface="Cambria Math" panose="02040503050406030204" pitchFamily="18" charset="0"/>
                        <a:cs typeface="Arial" panose="020B0604020202020204" pitchFamily="34" charset="0"/>
                      </a:rPr>
                      <m:t>&gt;</m:t>
                    </m:r>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cs typeface="Arial" panose="020B0604020202020204" pitchFamily="34" charset="0"/>
                          </a:rPr>
                          <m:t>𝜎</m:t>
                        </m:r>
                      </m:e>
                      <m:sup>
                        <m:r>
                          <a:rPr lang="en-US" sz="2000" i="1">
                            <a:latin typeface="Cambria Math" panose="02040503050406030204" pitchFamily="18" charset="0"/>
                            <a:cs typeface="Arial" panose="020B0604020202020204" pitchFamily="34" charset="0"/>
                          </a:rPr>
                          <m:t>2</m:t>
                        </m:r>
                      </m:sup>
                    </m:sSup>
                  </m:oMath>
                </a14:m>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Note: If we put  </a:t>
                </a:r>
                <a14:m>
                  <m:oMath xmlns:m="http://schemas.openxmlformats.org/officeDocument/2006/math">
                    <m:r>
                      <a:rPr lang="en-US" sz="2000" b="1" i="1">
                        <a:latin typeface="Cambria Math" panose="02040503050406030204" pitchFamily="18" charset="0"/>
                        <a:cs typeface="Arial" panose="020B0604020202020204" pitchFamily="34" charset="0"/>
                      </a:rPr>
                      <m:t>𝒏</m:t>
                    </m:r>
                    <m:r>
                      <a:rPr lang="en-US" sz="2000" b="1" i="1">
                        <a:latin typeface="Cambria Math" panose="02040503050406030204" pitchFamily="18" charset="0"/>
                        <a:cs typeface="Arial" panose="020B0604020202020204" pitchFamily="34" charset="0"/>
                      </a:rPr>
                      <m:t>=</m:t>
                    </m:r>
                    <m:r>
                      <a:rPr lang="en-US" sz="2000" b="1" i="1">
                        <a:latin typeface="Cambria Math" panose="02040503050406030204" pitchFamily="18" charset="0"/>
                        <a:cs typeface="Arial" panose="020B0604020202020204" pitchFamily="34" charset="0"/>
                      </a:rPr>
                      <m:t>𝟏</m:t>
                    </m:r>
                  </m:oMath>
                </a14:m>
                <a:r>
                  <a:rPr lang="en-US" sz="2000" dirty="0">
                    <a:latin typeface="Arial" panose="020B0604020202020204" pitchFamily="34" charset="0"/>
                    <a:cs typeface="Arial" panose="020B0604020202020204" pitchFamily="34" charset="0"/>
                  </a:rPr>
                  <a:t>, the resulting distribution is </a:t>
                </a:r>
                <a:r>
                  <a:rPr lang="en-US" sz="2000" b="1" dirty="0">
                    <a:latin typeface="Arial" panose="020B0604020202020204" pitchFamily="34" charset="0"/>
                    <a:cs typeface="Arial" panose="020B0604020202020204" pitchFamily="34" charset="0"/>
                  </a:rPr>
                  <a:t>Bernoulli distribution</a:t>
                </a:r>
                <a:r>
                  <a:rPr lang="en-US" sz="2000" dirty="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The mean and variance of Bernoulli random variable are </a:t>
                </a:r>
              </a:p>
              <a:p>
                <a:r>
                  <a:rPr lang="en-US" sz="2000" dirty="0" smtClean="0">
                    <a:latin typeface="Arial" panose="020B0604020202020204" pitchFamily="34" charset="0"/>
                    <a:cs typeface="Arial" panose="020B0604020202020204" pitchFamily="34" charset="0"/>
                  </a:rPr>
                  <a:t>Mean</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𝜇</m:t>
                    </m:r>
                    <m:r>
                      <a:rPr lang="en-US" sz="2000" i="1">
                        <a:latin typeface="Cambria Math" panose="02040503050406030204" pitchFamily="18" charset="0"/>
                      </a:rPr>
                      <m:t>=</m:t>
                    </m:r>
                    <m:r>
                      <a:rPr lang="en-US" sz="2000" i="1">
                        <a:latin typeface="Cambria Math" panose="02040503050406030204" pitchFamily="18" charset="0"/>
                      </a:rPr>
                      <m:t>𝐸</m:t>
                    </m:r>
                    <m:d>
                      <m:dPr>
                        <m:ctrlPr>
                          <a:rPr lang="en-US" sz="2000" i="1">
                            <a:latin typeface="Cambria Math" panose="02040503050406030204" pitchFamily="18" charset="0"/>
                          </a:rPr>
                        </m:ctrlPr>
                      </m:dPr>
                      <m:e>
                        <m:r>
                          <a:rPr lang="en-US" sz="2000" i="1">
                            <a:latin typeface="Cambria Math" panose="02040503050406030204" pitchFamily="18" charset="0"/>
                          </a:rPr>
                          <m:t>𝑋</m:t>
                        </m:r>
                      </m:e>
                    </m:d>
                    <m:r>
                      <a:rPr lang="en-US" sz="2000" i="1">
                        <a:latin typeface="Cambria Math" panose="02040503050406030204" pitchFamily="18" charset="0"/>
                      </a:rPr>
                      <m:t>=</m:t>
                    </m:r>
                    <m:r>
                      <a:rPr lang="en-US" sz="2000" i="1">
                        <a:latin typeface="Cambria Math" panose="02040503050406030204" pitchFamily="18" charset="0"/>
                      </a:rPr>
                      <m:t>𝑝</m:t>
                    </m:r>
                    <m:r>
                      <a:rPr lang="en-US" sz="2000" i="1">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r>
                      <a:rPr lang="en-US" sz="2000" i="1">
                        <a:latin typeface="Cambria Math" panose="02040503050406030204" pitchFamily="18" charset="0"/>
                      </a:rPr>
                      <m:t>=</m:t>
                    </m:r>
                    <m:r>
                      <a:rPr lang="en-US" sz="2000" i="1">
                        <a:latin typeface="Cambria Math" panose="02040503050406030204" pitchFamily="18" charset="0"/>
                      </a:rPr>
                      <m:t>𝑉𝑎𝑟</m:t>
                    </m:r>
                    <m:d>
                      <m:dPr>
                        <m:ctrlPr>
                          <a:rPr lang="en-US" sz="2000" i="1">
                            <a:latin typeface="Cambria Math" panose="02040503050406030204" pitchFamily="18" charset="0"/>
                          </a:rPr>
                        </m:ctrlPr>
                      </m:dPr>
                      <m:e>
                        <m:r>
                          <a:rPr lang="en-US" sz="2000" i="1">
                            <a:latin typeface="Cambria Math" panose="02040503050406030204" pitchFamily="18" charset="0"/>
                          </a:rPr>
                          <m:t>𝑋</m:t>
                        </m:r>
                      </m:e>
                    </m:d>
                    <m:r>
                      <a:rPr lang="en-US" sz="2000" i="1">
                        <a:latin typeface="Cambria Math" panose="02040503050406030204" pitchFamily="18" charset="0"/>
                      </a:rPr>
                      <m:t>=</m:t>
                    </m:r>
                    <m:r>
                      <a:rPr lang="en-US" sz="2000" i="1">
                        <a:latin typeface="Cambria Math" panose="02040503050406030204" pitchFamily="18" charset="0"/>
                      </a:rPr>
                      <m:t>𝑝</m:t>
                    </m:r>
                    <m:d>
                      <m:dPr>
                        <m:ctrlPr>
                          <a:rPr lang="en-US" sz="2000" i="1">
                            <a:latin typeface="Cambria Math" panose="02040503050406030204" pitchFamily="18" charset="0"/>
                          </a:rPr>
                        </m:ctrlPr>
                      </m:dPr>
                      <m:e>
                        <m:r>
                          <a:rPr lang="en-US" sz="2000" i="1">
                            <a:latin typeface="Cambria Math" panose="02040503050406030204" pitchFamily="18" charset="0"/>
                          </a:rPr>
                          <m:t>1−</m:t>
                        </m:r>
                        <m:r>
                          <a:rPr lang="en-US" sz="2000" i="1">
                            <a:latin typeface="Cambria Math" panose="02040503050406030204" pitchFamily="18" charset="0"/>
                          </a:rPr>
                          <m:t>𝑝</m:t>
                        </m:r>
                      </m:e>
                    </m:d>
                  </m:oMath>
                </a14:m>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1297397"/>
                <a:ext cx="10831132" cy="5372344"/>
              </a:xfrm>
              <a:blipFill rotWithShape="0">
                <a:blip r:embed="rId2"/>
                <a:stretch>
                  <a:fillRect l="-506"/>
                </a:stretch>
              </a:blipFill>
            </p:spPr>
            <p:txBody>
              <a:bodyPr/>
              <a:lstStyle/>
              <a:p>
                <a:r>
                  <a:rPr lang="en-US">
                    <a:noFill/>
                  </a:rPr>
                  <a:t> </a:t>
                </a:r>
              </a:p>
            </p:txBody>
          </p:sp>
        </mc:Fallback>
      </mc:AlternateContent>
    </p:spTree>
    <p:extLst>
      <p:ext uri="{BB962C8B-B14F-4D97-AF65-F5344CB8AC3E}">
        <p14:creationId xmlns:p14="http://schemas.microsoft.com/office/powerpoint/2010/main" val="30325656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06445"/>
            <a:ext cx="9144000" cy="393618"/>
          </a:xfrm>
        </p:spPr>
        <p:txBody>
          <a:bodyPr>
            <a:noAutofit/>
          </a:bodyPr>
          <a:lstStyle/>
          <a:p>
            <a:r>
              <a:rPr lang="en-US" sz="2400" b="1" dirty="0" smtClean="0">
                <a:latin typeface="Arial" panose="020B0604020202020204" pitchFamily="34" charset="0"/>
                <a:cs typeface="Arial" panose="020B0604020202020204" pitchFamily="34" charset="0"/>
              </a:rPr>
              <a:t>The Binomial Distribution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0434" y="657226"/>
                <a:ext cx="10831132" cy="6200774"/>
              </a:xfrm>
            </p:spPr>
            <p:txBody>
              <a:bodyPr>
                <a:noAutofit/>
              </a:bodyPr>
              <a:lstStyle/>
              <a:p>
                <a:pPr marL="342900" indent="-342900" algn="just">
                  <a:lnSpc>
                    <a:spcPct val="150000"/>
                  </a:lnSpc>
                  <a:buFont typeface="Arial" panose="020B0604020202020204" pitchFamily="34" charset="0"/>
                  <a:buChar char="•"/>
                </a:pPr>
                <a:r>
                  <a:rPr lang="en-US" sz="1900" b="1" dirty="0" smtClean="0">
                    <a:latin typeface="Arial" panose="020B0604020202020204" pitchFamily="34" charset="0"/>
                    <a:cs typeface="Arial" panose="020B0604020202020204" pitchFamily="34" charset="0"/>
                  </a:rPr>
                  <a:t>Problem</a:t>
                </a:r>
                <a:r>
                  <a:rPr lang="en-US" sz="1900" dirty="0">
                    <a:latin typeface="Arial" panose="020B0604020202020204" pitchFamily="34" charset="0"/>
                    <a:cs typeface="Arial" panose="020B0604020202020204" pitchFamily="34" charset="0"/>
                  </a:rPr>
                  <a:t>: Suppose </a:t>
                </a:r>
                <a:r>
                  <a:rPr lang="en-US" sz="1900" dirty="0" smtClean="0">
                    <a:latin typeface="Arial" panose="020B0604020202020204" pitchFamily="34" charset="0"/>
                    <a:cs typeface="Arial" panose="020B0604020202020204" pitchFamily="34" charset="0"/>
                  </a:rPr>
                  <a:t>that </a:t>
                </a:r>
                <a:r>
                  <a:rPr lang="en-US" sz="1900" dirty="0">
                    <a:latin typeface="Arial" panose="020B0604020202020204" pitchFamily="34" charset="0"/>
                    <a:cs typeface="Arial" panose="020B0604020202020204" pitchFamily="34" charset="0"/>
                  </a:rPr>
                  <a:t>10 percent of a certain population is color blind. If a random sample of 10 people is drawn from this population, find the probability that (a) Two or fewer will be color blind. (b) Two or more will be color blind. (c) Between three and five inclusive will be color blind.</a:t>
                </a:r>
              </a:p>
              <a:p>
                <a:pPr marL="342900" indent="-342900" algn="just">
                  <a:lnSpc>
                    <a:spcPct val="150000"/>
                  </a:lnSpc>
                  <a:buFont typeface="Arial" panose="020B0604020202020204" pitchFamily="34" charset="0"/>
                  <a:buChar char="•"/>
                </a:pPr>
                <a:r>
                  <a:rPr lang="en-US" sz="1900" b="1" dirty="0" smtClean="0">
                    <a:latin typeface="Arial" panose="020B0604020202020204" pitchFamily="34" charset="0"/>
                    <a:cs typeface="Arial" panose="020B0604020202020204" pitchFamily="34" charset="0"/>
                  </a:rPr>
                  <a:t>Solution</a:t>
                </a:r>
                <a:r>
                  <a:rPr lang="en-US" sz="1900" dirty="0">
                    <a:latin typeface="Arial" panose="020B0604020202020204" pitchFamily="34" charset="0"/>
                    <a:cs typeface="Arial" panose="020B0604020202020204" pitchFamily="34" charset="0"/>
                  </a:rPr>
                  <a:t>: (</a:t>
                </a:r>
                <a:r>
                  <a:rPr lang="en-US" sz="1900" dirty="0" err="1">
                    <a:latin typeface="Arial" panose="020B0604020202020204" pitchFamily="34" charset="0"/>
                    <a:cs typeface="Arial" panose="020B0604020202020204" pitchFamily="34" charset="0"/>
                  </a:rPr>
                  <a:t>i</a:t>
                </a:r>
                <a:r>
                  <a:rPr lang="en-US" sz="1900" dirty="0">
                    <a:latin typeface="Arial" panose="020B0604020202020204" pitchFamily="34" charset="0"/>
                    <a:cs typeface="Arial" panose="020B0604020202020204" pitchFamily="34" charset="0"/>
                  </a:rPr>
                  <a:t>) Total number of trials:  </a:t>
                </a:r>
                <a14:m>
                  <m:oMath xmlns:m="http://schemas.openxmlformats.org/officeDocument/2006/math">
                    <m:r>
                      <a:rPr lang="en-US" sz="1900" i="1">
                        <a:latin typeface="Cambria Math" panose="02040503050406030204" pitchFamily="18" charset="0"/>
                      </a:rPr>
                      <m:t>𝑛</m:t>
                    </m:r>
                    <m:r>
                      <a:rPr lang="en-US" sz="1900" i="1">
                        <a:latin typeface="Cambria Math" panose="02040503050406030204" pitchFamily="18" charset="0"/>
                      </a:rPr>
                      <m:t>=10</m:t>
                    </m:r>
                  </m:oMath>
                </a14:m>
                <a:r>
                  <a:rPr lang="en-US" sz="1900" i="1" dirty="0" smtClean="0">
                    <a:latin typeface="Arial" panose="020B0604020202020204" pitchFamily="34" charset="0"/>
                    <a:cs typeface="Arial" panose="020B0604020202020204" pitchFamily="34" charset="0"/>
                  </a:rPr>
                  <a:t>, </a:t>
                </a:r>
                <a:r>
                  <a:rPr lang="en-US" sz="1900" dirty="0">
                    <a:latin typeface="Arial" panose="020B0604020202020204" pitchFamily="34" charset="0"/>
                    <a:cs typeface="Arial" panose="020B0604020202020204" pitchFamily="34" charset="0"/>
                  </a:rPr>
                  <a:t>and probability of success </a:t>
                </a:r>
                <a14:m>
                  <m:oMath xmlns:m="http://schemas.openxmlformats.org/officeDocument/2006/math">
                    <m:r>
                      <a:rPr lang="en-US" sz="1900" b="0" i="1" smtClean="0">
                        <a:latin typeface="Cambria Math" panose="02040503050406030204" pitchFamily="18" charset="0"/>
                        <a:cs typeface="Arial" panose="020B0604020202020204" pitchFamily="34" charset="0"/>
                      </a:rPr>
                      <m:t>𝑝</m:t>
                    </m:r>
                    <m:r>
                      <a:rPr lang="en-US" sz="1900" b="0" i="1" smtClean="0">
                        <a:latin typeface="Cambria Math" panose="02040503050406030204" pitchFamily="18" charset="0"/>
                        <a:cs typeface="Arial" panose="020B0604020202020204" pitchFamily="34" charset="0"/>
                      </a:rPr>
                      <m:t>=0.10</m:t>
                    </m:r>
                  </m:oMath>
                </a14:m>
                <a:r>
                  <a:rPr lang="en-US" sz="1900" dirty="0" smtClean="0">
                    <a:latin typeface="Arial" panose="020B0604020202020204" pitchFamily="34" charset="0"/>
                    <a:cs typeface="Arial" panose="020B0604020202020204" pitchFamily="34" charset="0"/>
                  </a:rPr>
                  <a:t>. Let </a:t>
                </a:r>
                <a14:m>
                  <m:oMath xmlns:m="http://schemas.openxmlformats.org/officeDocument/2006/math">
                    <m:r>
                      <a:rPr lang="en-US" sz="1900" b="0" i="1" smtClean="0">
                        <a:latin typeface="Cambria Math" panose="02040503050406030204" pitchFamily="18" charset="0"/>
                        <a:cs typeface="Arial" panose="020B0604020202020204" pitchFamily="34" charset="0"/>
                      </a:rPr>
                      <m:t>𝑋</m:t>
                    </m:r>
                  </m:oMath>
                </a14:m>
                <a:r>
                  <a:rPr lang="en-US" sz="1900" dirty="0" smtClean="0">
                    <a:latin typeface="Arial" panose="020B0604020202020204" pitchFamily="34" charset="0"/>
                    <a:cs typeface="Arial" panose="020B0604020202020204" pitchFamily="34" charset="0"/>
                  </a:rPr>
                  <a:t> be the number of color blind population in the sample, then </a:t>
                </a:r>
                <a14:m>
                  <m:oMath xmlns:m="http://schemas.openxmlformats.org/officeDocument/2006/math">
                    <m:r>
                      <a:rPr lang="en-US" sz="1900" b="0" i="1" smtClean="0">
                        <a:latin typeface="Cambria Math" panose="02040503050406030204" pitchFamily="18" charset="0"/>
                        <a:cs typeface="Arial" panose="020B0604020202020204" pitchFamily="34" charset="0"/>
                      </a:rPr>
                      <m:t>𝑋</m:t>
                    </m:r>
                  </m:oMath>
                </a14:m>
                <a:r>
                  <a:rPr lang="en-US" sz="1900" dirty="0" smtClean="0">
                    <a:latin typeface="Arial" panose="020B0604020202020204" pitchFamily="34" charset="0"/>
                    <a:cs typeface="Arial" panose="020B0604020202020204" pitchFamily="34" charset="0"/>
                  </a:rPr>
                  <a:t> have binomial distribution with </a:t>
                </a:r>
                <a:r>
                  <a:rPr lang="en-US" sz="1900" dirty="0" err="1" smtClean="0">
                    <a:latin typeface="Arial" panose="020B0604020202020204" pitchFamily="34" charset="0"/>
                    <a:cs typeface="Arial" panose="020B0604020202020204" pitchFamily="34" charset="0"/>
                  </a:rPr>
                  <a:t>pmf</a:t>
                </a:r>
                <a:r>
                  <a:rPr lang="en-US" sz="1900" dirty="0" smtClean="0">
                    <a:latin typeface="Arial" panose="020B0604020202020204" pitchFamily="34" charset="0"/>
                    <a:cs typeface="Arial" panose="020B0604020202020204" pitchFamily="34" charset="0"/>
                  </a:rPr>
                  <a:t> </a:t>
                </a:r>
                <a14:m>
                  <m:oMath xmlns:m="http://schemas.openxmlformats.org/officeDocument/2006/math">
                    <m:r>
                      <a:rPr lang="en-US" sz="1600" i="1">
                        <a:latin typeface="Cambria Math" panose="02040503050406030204" pitchFamily="18" charset="0"/>
                      </a:rPr>
                      <m:t>𝑃</m:t>
                    </m:r>
                    <m:d>
                      <m:dPr>
                        <m:ctrlPr>
                          <a:rPr lang="en-US" sz="1600" i="1">
                            <a:latin typeface="Cambria Math" panose="02040503050406030204" pitchFamily="18" charset="0"/>
                          </a:rPr>
                        </m:ctrlPr>
                      </m:dPr>
                      <m:e>
                        <m:r>
                          <a:rPr lang="en-US" sz="1600" i="1">
                            <a:latin typeface="Cambria Math" panose="02040503050406030204" pitchFamily="18" charset="0"/>
                          </a:rPr>
                          <m:t>𝑋</m:t>
                        </m:r>
                        <m:r>
                          <a:rPr lang="en-US" sz="1600" i="1">
                            <a:latin typeface="Cambria Math" panose="02040503050406030204" pitchFamily="18" charset="0"/>
                          </a:rPr>
                          <m:t>=</m:t>
                        </m:r>
                        <m:r>
                          <a:rPr lang="en-US" sz="1600" i="1">
                            <a:latin typeface="Cambria Math" panose="02040503050406030204" pitchFamily="18" charset="0"/>
                          </a:rPr>
                          <m:t>𝑥</m:t>
                        </m:r>
                      </m:e>
                    </m:d>
                    <m:r>
                      <a:rPr lang="en-US" sz="16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𝑛</m:t>
                        </m:r>
                      </m:e>
                      <m:sub>
                        <m:sSub>
                          <m:sSubPr>
                            <m:ctrlPr>
                              <a:rPr lang="en-US" sz="1800" i="1">
                                <a:latin typeface="Cambria Math" panose="02040503050406030204" pitchFamily="18" charset="0"/>
                              </a:rPr>
                            </m:ctrlPr>
                          </m:sSubPr>
                          <m:e>
                            <m:r>
                              <a:rPr lang="en-US" sz="1800" i="1">
                                <a:latin typeface="Cambria Math" panose="02040503050406030204" pitchFamily="18" charset="0"/>
                              </a:rPr>
                              <m:t>𝐶</m:t>
                            </m:r>
                          </m:e>
                          <m:sub>
                            <m:r>
                              <a:rPr lang="en-US" sz="1800" i="1">
                                <a:latin typeface="Cambria Math" panose="02040503050406030204" pitchFamily="18" charset="0"/>
                              </a:rPr>
                              <m:t>𝑥</m:t>
                            </m:r>
                          </m:sub>
                        </m:sSub>
                      </m:sub>
                    </m:sSub>
                    <m:sSup>
                      <m:sSupPr>
                        <m:ctrlPr>
                          <a:rPr lang="en-US" sz="1800" i="1">
                            <a:latin typeface="Cambria Math" panose="02040503050406030204" pitchFamily="18" charset="0"/>
                          </a:rPr>
                        </m:ctrlPr>
                      </m:sSupPr>
                      <m:e>
                        <m:r>
                          <a:rPr lang="en-US" sz="1800" i="1">
                            <a:latin typeface="Cambria Math" panose="02040503050406030204" pitchFamily="18" charset="0"/>
                          </a:rPr>
                          <m:t>𝑝</m:t>
                        </m:r>
                      </m:e>
                      <m:sup>
                        <m:r>
                          <a:rPr lang="en-US" sz="1800" i="1">
                            <a:latin typeface="Cambria Math" panose="02040503050406030204" pitchFamily="18" charset="0"/>
                          </a:rPr>
                          <m:t>𝑥</m:t>
                        </m:r>
                      </m:sup>
                    </m:sSup>
                    <m:sSup>
                      <m:sSupPr>
                        <m:ctrlPr>
                          <a:rPr lang="en-US" sz="1800" i="1">
                            <a:latin typeface="Cambria Math" panose="02040503050406030204" pitchFamily="18" charset="0"/>
                          </a:rPr>
                        </m:ctrlPr>
                      </m:sSupPr>
                      <m:e>
                        <m:d>
                          <m:dPr>
                            <m:ctrlPr>
                              <a:rPr lang="en-US" sz="1800" i="1">
                                <a:latin typeface="Cambria Math" panose="02040503050406030204" pitchFamily="18" charset="0"/>
                              </a:rPr>
                            </m:ctrlPr>
                          </m:dPr>
                          <m:e>
                            <m:r>
                              <a:rPr lang="en-US" sz="1800" i="1">
                                <a:latin typeface="Cambria Math" panose="02040503050406030204" pitchFamily="18" charset="0"/>
                              </a:rPr>
                              <m:t>1−</m:t>
                            </m:r>
                            <m:r>
                              <a:rPr lang="en-US" sz="1800" i="1">
                                <a:latin typeface="Cambria Math" panose="02040503050406030204" pitchFamily="18" charset="0"/>
                              </a:rPr>
                              <m:t>𝑝</m:t>
                            </m:r>
                          </m:e>
                        </m:d>
                      </m:e>
                      <m:sup>
                        <m:r>
                          <a:rPr lang="en-US" sz="1800" i="1">
                            <a:latin typeface="Cambria Math" panose="02040503050406030204" pitchFamily="18" charset="0"/>
                          </a:rPr>
                          <m:t>𝑛</m:t>
                        </m:r>
                        <m:r>
                          <a:rPr lang="en-US" sz="1800" i="1">
                            <a:latin typeface="Cambria Math" panose="02040503050406030204" pitchFamily="18" charset="0"/>
                          </a:rPr>
                          <m:t>−</m:t>
                        </m:r>
                        <m:r>
                          <a:rPr lang="en-US" sz="1800" i="1">
                            <a:latin typeface="Cambria Math" panose="02040503050406030204" pitchFamily="18" charset="0"/>
                          </a:rPr>
                          <m:t>𝑥</m:t>
                        </m:r>
                      </m:sup>
                    </m:sSup>
                    <m:r>
                      <a:rPr lang="en-US" sz="1800" b="0" i="1" smtClean="0">
                        <a:latin typeface="Cambria Math" panose="02040503050406030204" pitchFamily="18" charset="0"/>
                      </a:rPr>
                      <m:t>=</m:t>
                    </m:r>
                    <m:sSub>
                      <m:sSubPr>
                        <m:ctrlPr>
                          <a:rPr lang="en-US" sz="1600" i="1">
                            <a:latin typeface="Cambria Math" panose="02040503050406030204" pitchFamily="18" charset="0"/>
                          </a:rPr>
                        </m:ctrlPr>
                      </m:sSubPr>
                      <m:e>
                        <m:r>
                          <a:rPr lang="en-US" sz="1600" b="0" i="1" smtClean="0">
                            <a:latin typeface="Cambria Math" panose="02040503050406030204" pitchFamily="18" charset="0"/>
                          </a:rPr>
                          <m:t>10</m:t>
                        </m:r>
                      </m:e>
                      <m:sub>
                        <m:sSub>
                          <m:sSubPr>
                            <m:ctrlPr>
                              <a:rPr lang="en-US" sz="1600" i="1">
                                <a:latin typeface="Cambria Math" panose="02040503050406030204" pitchFamily="18" charset="0"/>
                              </a:rPr>
                            </m:ctrlPr>
                          </m:sSubPr>
                          <m:e>
                            <m:r>
                              <a:rPr lang="en-US" sz="1600" i="1">
                                <a:latin typeface="Cambria Math" panose="02040503050406030204" pitchFamily="18" charset="0"/>
                              </a:rPr>
                              <m:t>𝐶</m:t>
                            </m:r>
                          </m:e>
                          <m:sub>
                            <m:r>
                              <a:rPr lang="en-US" sz="1600" i="1">
                                <a:latin typeface="Cambria Math" panose="02040503050406030204" pitchFamily="18" charset="0"/>
                              </a:rPr>
                              <m:t>𝑥</m:t>
                            </m:r>
                          </m:sub>
                        </m:sSub>
                      </m:sub>
                    </m:sSub>
                    <m:sSup>
                      <m:sSupPr>
                        <m:ctrlPr>
                          <a:rPr lang="en-US" sz="1600" i="1">
                            <a:latin typeface="Cambria Math" panose="02040503050406030204" pitchFamily="18" charset="0"/>
                          </a:rPr>
                        </m:ctrlPr>
                      </m:sSupPr>
                      <m:e>
                        <m:r>
                          <a:rPr lang="en-US" sz="1600" b="0" i="1" smtClean="0">
                            <a:latin typeface="Cambria Math" panose="02040503050406030204" pitchFamily="18" charset="0"/>
                          </a:rPr>
                          <m:t>0.1</m:t>
                        </m:r>
                      </m:e>
                      <m:sup>
                        <m:r>
                          <a:rPr lang="en-US" sz="1600" i="1">
                            <a:latin typeface="Cambria Math" panose="02040503050406030204" pitchFamily="18" charset="0"/>
                          </a:rPr>
                          <m:t>𝑥</m:t>
                        </m:r>
                      </m:sup>
                    </m:sSup>
                    <m:sSup>
                      <m:sSupPr>
                        <m:ctrlPr>
                          <a:rPr lang="en-US" sz="1600" i="1">
                            <a:latin typeface="Cambria Math" panose="02040503050406030204" pitchFamily="18" charset="0"/>
                          </a:rPr>
                        </m:ctrlPr>
                      </m:sSupPr>
                      <m:e>
                        <m:r>
                          <a:rPr lang="en-US" sz="1600" b="0" i="1" smtClean="0">
                            <a:latin typeface="Cambria Math" panose="02040503050406030204" pitchFamily="18" charset="0"/>
                          </a:rPr>
                          <m:t>0.9</m:t>
                        </m:r>
                      </m:e>
                      <m:sup>
                        <m:r>
                          <a:rPr lang="en-US" sz="1600" b="0" i="1" smtClean="0">
                            <a:latin typeface="Cambria Math" panose="02040503050406030204" pitchFamily="18" charset="0"/>
                          </a:rPr>
                          <m:t>10</m:t>
                        </m:r>
                        <m:r>
                          <a:rPr lang="en-US" sz="1600" i="1">
                            <a:latin typeface="Cambria Math" panose="02040503050406030204" pitchFamily="18" charset="0"/>
                          </a:rPr>
                          <m:t>−</m:t>
                        </m:r>
                        <m:r>
                          <a:rPr lang="en-US" sz="1600" i="1">
                            <a:latin typeface="Cambria Math" panose="02040503050406030204" pitchFamily="18" charset="0"/>
                          </a:rPr>
                          <m:t>𝑥</m:t>
                        </m:r>
                      </m:sup>
                    </m:sSup>
                  </m:oMath>
                </a14:m>
                <a:r>
                  <a:rPr lang="en-US" sz="1800" dirty="0">
                    <a:latin typeface="Arial" panose="020B0604020202020204" pitchFamily="34" charset="0"/>
                    <a:cs typeface="Arial" panose="020B0604020202020204" pitchFamily="34" charset="0"/>
                  </a:rPr>
                  <a:t>, </a:t>
                </a:r>
                <a14:m>
                  <m:oMath xmlns:m="http://schemas.openxmlformats.org/officeDocument/2006/math">
                    <m:r>
                      <a:rPr lang="en-US" sz="1800" i="1">
                        <a:latin typeface="Cambria Math" panose="02040503050406030204" pitchFamily="18" charset="0"/>
                      </a:rPr>
                      <m:t>𝑥</m:t>
                    </m:r>
                    <m:r>
                      <a:rPr lang="en-US" sz="1800" i="1">
                        <a:latin typeface="Cambria Math" panose="02040503050406030204" pitchFamily="18" charset="0"/>
                      </a:rPr>
                      <m:t>=0, 1, 2, …, 10</m:t>
                    </m:r>
                  </m:oMath>
                </a14:m>
                <a:r>
                  <a:rPr lang="en-US" sz="1800" dirty="0" smtClean="0">
                    <a:latin typeface="Arial" panose="020B0604020202020204" pitchFamily="34" charset="0"/>
                    <a:cs typeface="Arial" panose="020B0604020202020204" pitchFamily="34" charset="0"/>
                  </a:rPr>
                  <a:t>.</a:t>
                </a:r>
                <a:endParaRPr lang="en-US" sz="1800" dirty="0">
                  <a:latin typeface="Arial" panose="020B0604020202020204" pitchFamily="34" charset="0"/>
                  <a:cs typeface="Arial" panose="020B0604020202020204" pitchFamily="34" charset="0"/>
                </a:endParaRPr>
              </a:p>
              <a:p>
                <a:pPr algn="l"/>
                <a:r>
                  <a:rPr lang="en-US" sz="1900" dirty="0" smtClean="0">
                    <a:latin typeface="Arial" panose="020B0604020202020204" pitchFamily="34" charset="0"/>
                    <a:cs typeface="Arial" panose="020B0604020202020204" pitchFamily="34" charset="0"/>
                  </a:rPr>
                  <a:t>      (a) We </a:t>
                </a:r>
                <a:r>
                  <a:rPr lang="en-US" sz="1900" dirty="0">
                    <a:latin typeface="Arial" panose="020B0604020202020204" pitchFamily="34" charset="0"/>
                    <a:cs typeface="Arial" panose="020B0604020202020204" pitchFamily="34" charset="0"/>
                  </a:rPr>
                  <a:t>have to find</a:t>
                </a:r>
              </a:p>
              <a:p>
                <a:pPr/>
                <a14:m>
                  <m:oMathPara xmlns:m="http://schemas.openxmlformats.org/officeDocument/2006/math">
                    <m:oMathParaPr>
                      <m:jc m:val="centerGroup"/>
                    </m:oMathParaPr>
                    <m:oMath xmlns:m="http://schemas.openxmlformats.org/officeDocument/2006/math">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𝑋</m:t>
                          </m:r>
                          <m:r>
                            <a:rPr lang="en-US" sz="1900" b="0" i="1" smtClean="0">
                              <a:latin typeface="Cambria Math" panose="02040503050406030204" pitchFamily="18" charset="0"/>
                            </a:rPr>
                            <m:t>≤2</m:t>
                          </m:r>
                        </m:e>
                      </m:d>
                      <m:r>
                        <a:rPr lang="en-US" sz="1900" i="1">
                          <a:latin typeface="Cambria Math" panose="02040503050406030204" pitchFamily="18" charset="0"/>
                        </a:rPr>
                        <m:t>=</m:t>
                      </m:r>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𝑋</m:t>
                          </m:r>
                          <m:r>
                            <a:rPr lang="en-US" sz="1900" i="1">
                              <a:latin typeface="Cambria Math" panose="02040503050406030204" pitchFamily="18" charset="0"/>
                            </a:rPr>
                            <m:t>=0</m:t>
                          </m:r>
                        </m:e>
                      </m:d>
                      <m:r>
                        <a:rPr lang="en-US" sz="1900" b="0" i="1" smtClean="0">
                          <a:latin typeface="Cambria Math" panose="02040503050406030204" pitchFamily="18" charset="0"/>
                        </a:rPr>
                        <m:t>+</m:t>
                      </m:r>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𝑋</m:t>
                          </m:r>
                          <m:r>
                            <a:rPr lang="en-US" sz="1900" i="1">
                              <a:latin typeface="Cambria Math" panose="02040503050406030204" pitchFamily="18" charset="0"/>
                            </a:rPr>
                            <m:t>=1</m:t>
                          </m:r>
                        </m:e>
                      </m:d>
                      <m:r>
                        <a:rPr lang="en-US" sz="1900" b="0" i="1" smtClean="0">
                          <a:latin typeface="Cambria Math" panose="02040503050406030204" pitchFamily="18" charset="0"/>
                        </a:rPr>
                        <m:t>+</m:t>
                      </m:r>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𝑋</m:t>
                          </m:r>
                          <m:r>
                            <a:rPr lang="en-US" sz="1900" i="1">
                              <a:latin typeface="Cambria Math" panose="02040503050406030204" pitchFamily="18" charset="0"/>
                            </a:rPr>
                            <m:t>=2</m:t>
                          </m:r>
                        </m:e>
                      </m:d>
                    </m:oMath>
                  </m:oMathPara>
                </a14:m>
                <a:endParaRPr lang="en-US" sz="1900" i="1" dirty="0">
                  <a:latin typeface="Arial" panose="020B0604020202020204" pitchFamily="34" charset="0"/>
                  <a:cs typeface="Arial" panose="020B0604020202020204" pitchFamily="34" charset="0"/>
                </a:endParaRPr>
              </a:p>
              <a:p>
                <a:pPr algn="l"/>
                <a:r>
                  <a:rPr lang="en-US" sz="1900" dirty="0">
                    <a:latin typeface="Arial" panose="020B0604020202020204" pitchFamily="34" charset="0"/>
                    <a:cs typeface="Arial" panose="020B0604020202020204" pitchFamily="34" charset="0"/>
                  </a:rPr>
                  <a:t>	We have, </a:t>
                </a:r>
                <a14:m>
                  <m:oMath xmlns:m="http://schemas.openxmlformats.org/officeDocument/2006/math">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𝑋</m:t>
                        </m:r>
                        <m:r>
                          <a:rPr lang="en-US" sz="1900" i="1">
                            <a:latin typeface="Cambria Math" panose="02040503050406030204" pitchFamily="18" charset="0"/>
                          </a:rPr>
                          <m:t>=0</m:t>
                        </m:r>
                      </m:e>
                    </m:d>
                    <m:r>
                      <a:rPr lang="en-US" sz="1900" i="1">
                        <a:latin typeface="Cambria Math" panose="02040503050406030204" pitchFamily="18" charset="0"/>
                      </a:rPr>
                      <m:t>=0.</m:t>
                    </m:r>
                    <m:r>
                      <a:rPr lang="en-US" sz="1900" b="0" i="1" smtClean="0">
                        <a:latin typeface="Cambria Math" panose="02040503050406030204" pitchFamily="18" charset="0"/>
                      </a:rPr>
                      <m:t>349</m:t>
                    </m:r>
                  </m:oMath>
                </a14:m>
                <a:r>
                  <a:rPr lang="en-US" sz="1900" dirty="0" smtClean="0">
                    <a:latin typeface="Arial" panose="020B0604020202020204" pitchFamily="34" charset="0"/>
                    <a:cs typeface="Arial" panose="020B0604020202020204" pitchFamily="34" charset="0"/>
                  </a:rPr>
                  <a:t> (from binomial table)</a:t>
                </a:r>
                <a:endParaRPr lang="en-US" sz="1900" dirty="0">
                  <a:latin typeface="Arial" panose="020B0604020202020204" pitchFamily="34" charset="0"/>
                  <a:cs typeface="Arial" panose="020B0604020202020204" pitchFamily="34" charset="0"/>
                </a:endParaRPr>
              </a:p>
              <a:p>
                <a:pPr algn="l"/>
                <a:r>
                  <a:rPr lang="en-US" sz="1900" dirty="0">
                    <a:latin typeface="Arial" panose="020B0604020202020204" pitchFamily="34" charset="0"/>
                    <a:cs typeface="Arial" panose="020B0604020202020204" pitchFamily="34" charset="0"/>
                  </a:rPr>
                  <a:t>	Similarly </a:t>
                </a:r>
                <a14:m>
                  <m:oMath xmlns:m="http://schemas.openxmlformats.org/officeDocument/2006/math">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𝑋</m:t>
                        </m:r>
                        <m:r>
                          <a:rPr lang="en-US" sz="1900" i="1">
                            <a:latin typeface="Cambria Math" panose="02040503050406030204" pitchFamily="18" charset="0"/>
                          </a:rPr>
                          <m:t>=1</m:t>
                        </m:r>
                      </m:e>
                    </m:d>
                    <m:r>
                      <a:rPr lang="en-US" sz="1900" i="1">
                        <a:latin typeface="Cambria Math" panose="02040503050406030204" pitchFamily="18" charset="0"/>
                      </a:rPr>
                      <m:t>=0.</m:t>
                    </m:r>
                    <m:r>
                      <a:rPr lang="en-US" sz="1900" b="0" i="1" smtClean="0">
                        <a:latin typeface="Cambria Math" panose="02040503050406030204" pitchFamily="18" charset="0"/>
                      </a:rPr>
                      <m:t>387</m:t>
                    </m:r>
                  </m:oMath>
                </a14:m>
                <a:r>
                  <a:rPr lang="en-US" sz="1900" dirty="0">
                    <a:latin typeface="Arial" panose="020B0604020202020204" pitchFamily="34" charset="0"/>
                    <a:cs typeface="Arial" panose="020B0604020202020204" pitchFamily="34" charset="0"/>
                  </a:rPr>
                  <a:t> and </a:t>
                </a:r>
                <a14:m>
                  <m:oMath xmlns:m="http://schemas.openxmlformats.org/officeDocument/2006/math">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𝑋</m:t>
                        </m:r>
                        <m:r>
                          <a:rPr lang="en-US" sz="1900" i="1">
                            <a:latin typeface="Cambria Math" panose="02040503050406030204" pitchFamily="18" charset="0"/>
                          </a:rPr>
                          <m:t>=2</m:t>
                        </m:r>
                      </m:e>
                    </m:d>
                    <m:r>
                      <a:rPr lang="en-US" sz="1900" i="1">
                        <a:latin typeface="Cambria Math" panose="02040503050406030204" pitchFamily="18" charset="0"/>
                      </a:rPr>
                      <m:t>=0.</m:t>
                    </m:r>
                    <m:r>
                      <a:rPr lang="en-US" sz="1900" b="0" i="1" smtClean="0">
                        <a:latin typeface="Cambria Math" panose="02040503050406030204" pitchFamily="18" charset="0"/>
                      </a:rPr>
                      <m:t>194</m:t>
                    </m:r>
                  </m:oMath>
                </a14:m>
                <a:endParaRPr lang="en-US" sz="1900" dirty="0">
                  <a:latin typeface="Arial" panose="020B0604020202020204" pitchFamily="34" charset="0"/>
                  <a:cs typeface="Arial" panose="020B0604020202020204" pitchFamily="34" charset="0"/>
                </a:endParaRPr>
              </a:p>
              <a:p>
                <a:pPr algn="l"/>
                <a:r>
                  <a:rPr lang="en-US" sz="1900" dirty="0"/>
                  <a:t>	</a:t>
                </a:r>
                <a:r>
                  <a:rPr lang="en-US" sz="1900" dirty="0">
                    <a:latin typeface="Arial" panose="020B0604020202020204" pitchFamily="34" charset="0"/>
                    <a:cs typeface="Arial" panose="020B0604020202020204" pitchFamily="34" charset="0"/>
                  </a:rPr>
                  <a:t>Therefore,</a:t>
                </a:r>
                <a14:m>
                  <m:oMath xmlns:m="http://schemas.openxmlformats.org/officeDocument/2006/math">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𝑋</m:t>
                        </m:r>
                        <m:r>
                          <a:rPr lang="en-US" sz="1900" i="1">
                            <a:latin typeface="Cambria Math" panose="02040503050406030204" pitchFamily="18" charset="0"/>
                          </a:rPr>
                          <m:t>≤2</m:t>
                        </m:r>
                      </m:e>
                    </m:d>
                    <m:r>
                      <a:rPr lang="en-US" sz="1900" i="1">
                        <a:latin typeface="Cambria Math" panose="02040503050406030204" pitchFamily="18" charset="0"/>
                      </a:rPr>
                      <m:t>=</m:t>
                    </m:r>
                    <m:r>
                      <a:rPr lang="en-US" sz="1900" b="0" i="1" smtClean="0">
                        <a:latin typeface="Cambria Math" panose="02040503050406030204" pitchFamily="18" charset="0"/>
                      </a:rPr>
                      <m:t>0.93</m:t>
                    </m:r>
                  </m:oMath>
                </a14:m>
                <a:endParaRPr lang="en-US" sz="1900" dirty="0" smtClean="0">
                  <a:latin typeface="Arial" panose="020B0604020202020204" pitchFamily="34" charset="0"/>
                  <a:cs typeface="Arial" panose="020B0604020202020204" pitchFamily="34" charset="0"/>
                </a:endParaRPr>
              </a:p>
              <a:p>
                <a:pPr algn="l"/>
                <a:r>
                  <a:rPr lang="en-US" sz="1900" dirty="0" smtClean="0">
                    <a:latin typeface="Arial" panose="020B0604020202020204" pitchFamily="34" charset="0"/>
                    <a:cs typeface="Arial" panose="020B0604020202020204" pitchFamily="34" charset="0"/>
                  </a:rPr>
                  <a:t>      (b) </a:t>
                </a:r>
                <a:r>
                  <a:rPr lang="en-US" sz="1900" dirty="0">
                    <a:latin typeface="Arial" panose="020B0604020202020204" pitchFamily="34" charset="0"/>
                    <a:cs typeface="Arial" panose="020B0604020202020204" pitchFamily="34" charset="0"/>
                  </a:rPr>
                  <a:t>We have to find</a:t>
                </a:r>
              </a:p>
              <a:p>
                <a:pPr/>
                <a14:m>
                  <m:oMathPara xmlns:m="http://schemas.openxmlformats.org/officeDocument/2006/math">
                    <m:oMathParaPr>
                      <m:jc m:val="centerGroup"/>
                    </m:oMathParaPr>
                    <m:oMath xmlns:m="http://schemas.openxmlformats.org/officeDocument/2006/math">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𝑋</m:t>
                          </m:r>
                          <m:r>
                            <a:rPr lang="en-US" sz="1900" b="0" i="1" smtClean="0">
                              <a:latin typeface="Cambria Math" panose="02040503050406030204" pitchFamily="18" charset="0"/>
                            </a:rPr>
                            <m:t>≥</m:t>
                          </m:r>
                          <m:r>
                            <a:rPr lang="en-US" sz="1900" i="1">
                              <a:latin typeface="Cambria Math" panose="02040503050406030204" pitchFamily="18" charset="0"/>
                            </a:rPr>
                            <m:t>2</m:t>
                          </m:r>
                        </m:e>
                      </m:d>
                      <m:r>
                        <a:rPr lang="en-US" sz="1900" i="1">
                          <a:latin typeface="Cambria Math" panose="02040503050406030204" pitchFamily="18" charset="0"/>
                        </a:rPr>
                        <m:t>=</m:t>
                      </m:r>
                      <m:r>
                        <a:rPr lang="en-US" sz="1900" b="0" i="1" smtClean="0">
                          <a:latin typeface="Cambria Math" panose="02040503050406030204" pitchFamily="18" charset="0"/>
                        </a:rPr>
                        <m:t>1−</m:t>
                      </m:r>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𝑋</m:t>
                          </m:r>
                          <m:r>
                            <a:rPr lang="en-US" sz="1900" i="1">
                              <a:latin typeface="Cambria Math" panose="02040503050406030204" pitchFamily="18" charset="0"/>
                            </a:rPr>
                            <m:t>=0</m:t>
                          </m:r>
                        </m:e>
                      </m:d>
                      <m:r>
                        <a:rPr lang="en-US" sz="1900" b="0" i="1" smtClean="0">
                          <a:latin typeface="Cambria Math" panose="02040503050406030204" pitchFamily="18" charset="0"/>
                        </a:rPr>
                        <m:t>−</m:t>
                      </m:r>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𝑋</m:t>
                          </m:r>
                          <m:r>
                            <a:rPr lang="en-US" sz="1900" i="1">
                              <a:latin typeface="Cambria Math" panose="02040503050406030204" pitchFamily="18" charset="0"/>
                            </a:rPr>
                            <m:t>=1</m:t>
                          </m:r>
                        </m:e>
                      </m:d>
                      <m:r>
                        <a:rPr lang="en-US" sz="1900" b="0" i="1" smtClean="0">
                          <a:latin typeface="Cambria Math" panose="02040503050406030204" pitchFamily="18" charset="0"/>
                        </a:rPr>
                        <m:t>=0.264</m:t>
                      </m:r>
                    </m:oMath>
                  </m:oMathPara>
                </a14:m>
                <a:endParaRPr lang="en-US" sz="1900" dirty="0" smtClean="0">
                  <a:latin typeface="Arial" panose="020B0604020202020204" pitchFamily="34" charset="0"/>
                  <a:cs typeface="Arial" panose="020B0604020202020204" pitchFamily="34" charset="0"/>
                </a:endParaRPr>
              </a:p>
              <a:p>
                <a:pPr algn="l"/>
                <a:r>
                  <a:rPr lang="en-US" sz="1900" dirty="0" smtClean="0">
                    <a:latin typeface="Arial" panose="020B0604020202020204" pitchFamily="34" charset="0"/>
                    <a:cs typeface="Arial" panose="020B0604020202020204" pitchFamily="34" charset="0"/>
                  </a:rPr>
                  <a:t>     (c) </a:t>
                </a:r>
                <a:r>
                  <a:rPr lang="en-US" sz="1900" dirty="0">
                    <a:latin typeface="Arial" panose="020B0604020202020204" pitchFamily="34" charset="0"/>
                    <a:cs typeface="Arial" panose="020B0604020202020204" pitchFamily="34" charset="0"/>
                  </a:rPr>
                  <a:t>We have to find</a:t>
                </a:r>
              </a:p>
              <a:p>
                <a:pPr/>
                <a14:m>
                  <m:oMathPara xmlns:m="http://schemas.openxmlformats.org/officeDocument/2006/math">
                    <m:oMathParaPr>
                      <m:jc m:val="centerGroup"/>
                    </m:oMathParaPr>
                    <m:oMath xmlns:m="http://schemas.openxmlformats.org/officeDocument/2006/math">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b="0" i="1" smtClean="0">
                              <a:latin typeface="Cambria Math" panose="02040503050406030204" pitchFamily="18" charset="0"/>
                            </a:rPr>
                            <m:t>3≤</m:t>
                          </m:r>
                          <m:r>
                            <a:rPr lang="en-US" sz="1900" b="0" i="1" smtClean="0">
                              <a:latin typeface="Cambria Math" panose="02040503050406030204" pitchFamily="18" charset="0"/>
                            </a:rPr>
                            <m:t>𝑋</m:t>
                          </m:r>
                          <m:r>
                            <a:rPr lang="en-US" sz="1900" b="0" i="1" smtClean="0">
                              <a:latin typeface="Cambria Math" panose="02040503050406030204" pitchFamily="18" charset="0"/>
                            </a:rPr>
                            <m:t>≤5</m:t>
                          </m:r>
                        </m:e>
                      </m:d>
                      <m:r>
                        <a:rPr lang="en-US" sz="1900" i="1">
                          <a:latin typeface="Cambria Math" panose="02040503050406030204" pitchFamily="18" charset="0"/>
                        </a:rPr>
                        <m:t>=</m:t>
                      </m:r>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𝑋</m:t>
                          </m:r>
                          <m:r>
                            <a:rPr lang="en-US" sz="1900" i="1">
                              <a:latin typeface="Cambria Math" panose="02040503050406030204" pitchFamily="18" charset="0"/>
                            </a:rPr>
                            <m:t>=3</m:t>
                          </m:r>
                        </m:e>
                      </m:d>
                      <m:r>
                        <a:rPr lang="en-US" sz="1900" i="1">
                          <a:latin typeface="Cambria Math" panose="02040503050406030204" pitchFamily="18" charset="0"/>
                        </a:rPr>
                        <m:t>+</m:t>
                      </m:r>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𝑋</m:t>
                          </m:r>
                          <m:r>
                            <a:rPr lang="en-US" sz="1900" i="1">
                              <a:latin typeface="Cambria Math" panose="02040503050406030204" pitchFamily="18" charset="0"/>
                            </a:rPr>
                            <m:t>=4</m:t>
                          </m:r>
                        </m:e>
                      </m:d>
                      <m:r>
                        <a:rPr lang="en-US" sz="1900" i="1">
                          <a:latin typeface="Cambria Math" panose="02040503050406030204" pitchFamily="18" charset="0"/>
                        </a:rPr>
                        <m:t>+</m:t>
                      </m:r>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𝑋</m:t>
                          </m:r>
                          <m:r>
                            <a:rPr lang="en-US" sz="1900" i="1">
                              <a:latin typeface="Cambria Math" panose="02040503050406030204" pitchFamily="18" charset="0"/>
                            </a:rPr>
                            <m:t>=5</m:t>
                          </m:r>
                        </m:e>
                      </m:d>
                      <m:r>
                        <a:rPr lang="en-US" sz="1900" b="0" i="1" smtClean="0">
                          <a:latin typeface="Cambria Math" panose="02040503050406030204" pitchFamily="18" charset="0"/>
                        </a:rPr>
                        <m:t>=0.057+0.011+0.001=0.069</m:t>
                      </m:r>
                    </m:oMath>
                  </m:oMathPara>
                </a14:m>
                <a:endParaRPr lang="en-US" sz="1900" dirty="0">
                  <a:latin typeface="Arial" panose="020B0604020202020204" pitchFamily="34" charset="0"/>
                  <a:cs typeface="Arial" panose="020B0604020202020204" pitchFamily="34" charset="0"/>
                </a:endParaRPr>
              </a:p>
              <a:p>
                <a:pPr algn="l"/>
                <a:endParaRPr lang="en-US" sz="19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19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0434" y="657226"/>
                <a:ext cx="10831132" cy="6200774"/>
              </a:xfrm>
              <a:blipFill rotWithShape="0">
                <a:blip r:embed="rId2"/>
                <a:stretch>
                  <a:fillRect l="-450" r="-563"/>
                </a:stretch>
              </a:blipFill>
            </p:spPr>
            <p:txBody>
              <a:bodyPr/>
              <a:lstStyle/>
              <a:p>
                <a:r>
                  <a:rPr lang="en-US">
                    <a:noFill/>
                  </a:rPr>
                  <a:t> </a:t>
                </a:r>
              </a:p>
            </p:txBody>
          </p:sp>
        </mc:Fallback>
      </mc:AlternateContent>
    </p:spTree>
    <p:extLst>
      <p:ext uri="{BB962C8B-B14F-4D97-AF65-F5344CB8AC3E}">
        <p14:creationId xmlns:p14="http://schemas.microsoft.com/office/powerpoint/2010/main" val="42896751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48487"/>
            <a:ext cx="9144000" cy="605308"/>
          </a:xfrm>
        </p:spPr>
        <p:txBody>
          <a:bodyPr>
            <a:noAutofit/>
          </a:bodyPr>
          <a:lstStyle/>
          <a:p>
            <a:r>
              <a:rPr lang="en-US" sz="2400" b="1" dirty="0" smtClean="0">
                <a:latin typeface="Arial" panose="020B0604020202020204" pitchFamily="34" charset="0"/>
                <a:cs typeface="Arial" panose="020B0604020202020204" pitchFamily="34" charset="0"/>
              </a:rPr>
              <a:t>Binomial Distribution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853795"/>
                <a:ext cx="10831132" cy="5815946"/>
              </a:xfrm>
            </p:spPr>
            <p:txBody>
              <a:bodyPr>
                <a:noAutofit/>
              </a:bodyPr>
              <a:lstStyle/>
              <a:p>
                <a:pPr algn="just">
                  <a:lnSpc>
                    <a:spcPct val="150000"/>
                  </a:lnSpc>
                </a:pPr>
                <a:endParaRPr lang="en-US" sz="2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a:t>
                </a:r>
                <a:r>
                  <a:rPr lang="en-US" sz="2000" dirty="0" smtClean="0">
                    <a:latin typeface="Arial" panose="020B0604020202020204" pitchFamily="34" charset="0"/>
                    <a:cs typeface="Arial" panose="020B0604020202020204" pitchFamily="34" charset="0"/>
                  </a:rPr>
                  <a:t>: Batches </a:t>
                </a:r>
                <a:r>
                  <a:rPr lang="en-US" sz="2000" dirty="0">
                    <a:latin typeface="Arial" panose="020B0604020202020204" pitchFamily="34" charset="0"/>
                    <a:cs typeface="Arial" panose="020B0604020202020204" pitchFamily="34" charset="0"/>
                  </a:rPr>
                  <a:t>that consist of </a:t>
                </a:r>
                <a:r>
                  <a:rPr lang="en-US" sz="2000" dirty="0" smtClean="0">
                    <a:latin typeface="Arial" panose="020B0604020202020204" pitchFamily="34" charset="0"/>
                    <a:cs typeface="Arial" panose="020B0604020202020204" pitchFamily="34" charset="0"/>
                  </a:rPr>
                  <a:t>20 </a:t>
                </a:r>
                <a:r>
                  <a:rPr lang="en-US" sz="2000" dirty="0">
                    <a:latin typeface="Arial" panose="020B0604020202020204" pitchFamily="34" charset="0"/>
                    <a:cs typeface="Arial" panose="020B0604020202020204" pitchFamily="34" charset="0"/>
                  </a:rPr>
                  <a:t>manufacturing items from a production process are checked for conformance to customer requirements. </a:t>
                </a:r>
                <a:r>
                  <a:rPr lang="en-US" sz="2000" dirty="0" smtClean="0">
                    <a:latin typeface="Arial" panose="020B0604020202020204" pitchFamily="34" charset="0"/>
                    <a:cs typeface="Arial" panose="020B0604020202020204" pitchFamily="34" charset="0"/>
                  </a:rPr>
                  <a:t>The probability of getting a nonconforming item in that process is 0.05. What is </a:t>
                </a:r>
                <a:r>
                  <a:rPr lang="en-US" sz="2000" dirty="0">
                    <a:latin typeface="Arial" panose="020B0604020202020204" pitchFamily="34" charset="0"/>
                    <a:cs typeface="Arial" panose="020B0604020202020204" pitchFamily="34" charset="0"/>
                  </a:rPr>
                  <a:t>the probability </a:t>
                </a:r>
                <a:r>
                  <a:rPr lang="en-US" sz="2000" dirty="0" smtClean="0">
                    <a:latin typeface="Arial" panose="020B0604020202020204" pitchFamily="34" charset="0"/>
                    <a:cs typeface="Arial" panose="020B0604020202020204" pitchFamily="34" charset="0"/>
                  </a:rPr>
                  <a:t>of number </a:t>
                </a:r>
                <a:r>
                  <a:rPr lang="en-US" sz="2000" dirty="0">
                    <a:latin typeface="Arial" panose="020B0604020202020204" pitchFamily="34" charset="0"/>
                    <a:cs typeface="Arial" panose="020B0604020202020204" pitchFamily="34" charset="0"/>
                  </a:rPr>
                  <a:t>of nonconforming items in a </a:t>
                </a:r>
                <a:r>
                  <a:rPr lang="en-US" sz="2000" dirty="0" smtClean="0">
                    <a:latin typeface="Arial" panose="020B0604020202020204" pitchFamily="34" charset="0"/>
                    <a:cs typeface="Arial" panose="020B0604020202020204" pitchFamily="34" charset="0"/>
                  </a:rPr>
                  <a:t>batch is at least 3?</a:t>
                </a: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Solution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i</a:t>
                </a:r>
                <a:r>
                  <a:rPr lang="en-US" sz="2000" dirty="0" smtClean="0">
                    <a:latin typeface="Arial" panose="020B0604020202020204" pitchFamily="34" charset="0"/>
                    <a:cs typeface="Arial" panose="020B0604020202020204" pitchFamily="34" charset="0"/>
                  </a:rPr>
                  <a:t>) Total number </a:t>
                </a:r>
                <a:r>
                  <a:rPr lang="en-US" sz="2000" dirty="0">
                    <a:latin typeface="Arial" panose="020B0604020202020204" pitchFamily="34" charset="0"/>
                    <a:cs typeface="Arial" panose="020B0604020202020204" pitchFamily="34" charset="0"/>
                  </a:rPr>
                  <a:t>of trials:  </a:t>
                </a:r>
                <a14:m>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rPr>
                      <m:t>=20</m:t>
                    </m:r>
                  </m:oMath>
                </a14:m>
                <a:endParaRPr lang="en-US" sz="2000" b="0" i="1" dirty="0" smtClean="0">
                  <a:latin typeface="Arial" panose="020B0604020202020204" pitchFamily="34" charset="0"/>
                  <a:cs typeface="Arial" panose="020B0604020202020204" pitchFamily="34" charset="0"/>
                </a:endParaRPr>
              </a:p>
              <a:p>
                <a:pPr algn="just">
                  <a:lnSpc>
                    <a:spcPct val="150000"/>
                  </a:lnSpc>
                </a:pP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P</a:t>
                </a:r>
                <a:r>
                  <a:rPr lang="en-US" sz="2000" dirty="0" smtClean="0">
                    <a:latin typeface="Arial" panose="020B0604020202020204" pitchFamily="34" charset="0"/>
                    <a:cs typeface="Arial" panose="020B0604020202020204" pitchFamily="34" charset="0"/>
                  </a:rPr>
                  <a:t>robability </a:t>
                </a:r>
                <a:r>
                  <a:rPr lang="en-US" sz="2000" dirty="0">
                    <a:latin typeface="Arial" panose="020B0604020202020204" pitchFamily="34" charset="0"/>
                    <a:cs typeface="Arial" panose="020B0604020202020204" pitchFamily="34" charset="0"/>
                  </a:rPr>
                  <a:t>of success, </a:t>
                </a:r>
                <a14:m>
                  <m:oMath xmlns:m="http://schemas.openxmlformats.org/officeDocument/2006/math">
                    <m:r>
                      <a:rPr lang="en-US" sz="2000" i="1">
                        <a:latin typeface="Cambria Math" panose="02040503050406030204" pitchFamily="18" charset="0"/>
                      </a:rPr>
                      <m:t>𝑝</m:t>
                    </m:r>
                    <m:r>
                      <a:rPr lang="en-US" sz="2000" i="1">
                        <a:latin typeface="Cambria Math" panose="02040503050406030204" pitchFamily="18" charset="0"/>
                      </a:rPr>
                      <m:t>=0.05</m:t>
                    </m:r>
                  </m:oMath>
                </a14:m>
                <a:endParaRPr lang="en-US" sz="2000" b="0" dirty="0" smtClean="0">
                  <a:latin typeface="Arial" panose="020B0604020202020204" pitchFamily="34" charset="0"/>
                  <a:cs typeface="Arial" panose="020B0604020202020204" pitchFamily="34" charset="0"/>
                </a:endParaRPr>
              </a:p>
              <a:p>
                <a:pPr algn="l"/>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We have to find</a:t>
                </a:r>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≥3</m:t>
                          </m:r>
                        </m:e>
                      </m:d>
                      <m:r>
                        <a:rPr lang="en-US" sz="2000" i="1">
                          <a:latin typeface="Cambria Math" panose="02040503050406030204" pitchFamily="18" charset="0"/>
                        </a:rPr>
                        <m:t>=1−</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≤2</m:t>
                          </m:r>
                        </m:e>
                      </m:d>
                      <m:r>
                        <a:rPr lang="en-US" sz="2000" i="1">
                          <a:latin typeface="Cambria Math" panose="02040503050406030204" pitchFamily="18" charset="0"/>
                        </a:rPr>
                        <m:t>=1−</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=0</m:t>
                          </m:r>
                        </m:e>
                      </m:d>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=1</m:t>
                          </m:r>
                        </m:e>
                      </m:d>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=2</m:t>
                          </m:r>
                        </m:e>
                      </m:d>
                    </m:oMath>
                  </m:oMathPara>
                </a14:m>
                <a:endParaRPr lang="en-US" sz="2000" i="1" dirty="0">
                  <a:latin typeface="Arial" panose="020B0604020202020204" pitchFamily="34" charset="0"/>
                  <a:cs typeface="Arial" panose="020B0604020202020204" pitchFamily="34" charset="0"/>
                </a:endParaRPr>
              </a:p>
              <a:p>
                <a:pPr algn="l"/>
                <a:r>
                  <a:rPr lang="en-US" sz="2000" dirty="0">
                    <a:latin typeface="Arial" panose="020B0604020202020204" pitchFamily="34" charset="0"/>
                    <a:cs typeface="Arial" panose="020B0604020202020204" pitchFamily="34" charset="0"/>
                  </a:rPr>
                  <a:t>	We have,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=0</m:t>
                        </m:r>
                      </m:e>
                    </m:d>
                    <m:r>
                      <a:rPr lang="en-US" sz="2000" i="1">
                        <a:latin typeface="Cambria Math" panose="02040503050406030204" pitchFamily="18" charset="0"/>
                      </a:rPr>
                      <m:t>=0.</m:t>
                    </m:r>
                    <m:r>
                      <a:rPr lang="en-US" sz="2000" b="0" i="1" smtClean="0">
                        <a:latin typeface="Cambria Math" panose="02040503050406030204" pitchFamily="18" charset="0"/>
                      </a:rPr>
                      <m:t>358</m:t>
                    </m:r>
                  </m:oMath>
                </a14:m>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(from binomial table)</a:t>
                </a:r>
              </a:p>
              <a:p>
                <a:pPr algn="l"/>
                <a:r>
                  <a:rPr lang="en-US" sz="2000" dirty="0">
                    <a:latin typeface="Arial" panose="020B0604020202020204" pitchFamily="34" charset="0"/>
                    <a:cs typeface="Arial" panose="020B0604020202020204" pitchFamily="34" charset="0"/>
                  </a:rPr>
                  <a:t>	Similarly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=1</m:t>
                        </m:r>
                      </m:e>
                    </m:d>
                    <m:r>
                      <a:rPr lang="en-US" sz="2000" i="1">
                        <a:latin typeface="Cambria Math" panose="02040503050406030204" pitchFamily="18" charset="0"/>
                      </a:rPr>
                      <m:t>=0.</m:t>
                    </m:r>
                    <m:r>
                      <a:rPr lang="en-US" sz="2000" b="0" i="1" smtClean="0">
                        <a:latin typeface="Cambria Math" panose="02040503050406030204" pitchFamily="18" charset="0"/>
                      </a:rPr>
                      <m:t>377</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=2</m:t>
                        </m:r>
                      </m:e>
                    </m:d>
                    <m:r>
                      <a:rPr lang="en-US" sz="2000" i="1">
                        <a:latin typeface="Cambria Math" panose="02040503050406030204" pitchFamily="18" charset="0"/>
                      </a:rPr>
                      <m:t>=0.</m:t>
                    </m:r>
                    <m:r>
                      <a:rPr lang="en-US" sz="2000" b="0" i="1" smtClean="0">
                        <a:latin typeface="Cambria Math" panose="02040503050406030204" pitchFamily="18" charset="0"/>
                      </a:rPr>
                      <m:t>189</m:t>
                    </m:r>
                  </m:oMath>
                </a14:m>
                <a:endParaRPr lang="en-US" sz="2000" dirty="0">
                  <a:latin typeface="Arial" panose="020B0604020202020204" pitchFamily="34" charset="0"/>
                  <a:cs typeface="Arial" panose="020B0604020202020204" pitchFamily="34" charset="0"/>
                </a:endParaRPr>
              </a:p>
              <a:p>
                <a:pPr algn="l"/>
                <a:r>
                  <a:rPr lang="en-US" sz="2000" dirty="0"/>
                  <a:t>	</a:t>
                </a:r>
                <a:r>
                  <a:rPr lang="en-US" sz="2000" dirty="0">
                    <a:latin typeface="Arial" panose="020B0604020202020204" pitchFamily="34" charset="0"/>
                    <a:cs typeface="Arial" panose="020B0604020202020204" pitchFamily="34" charset="0"/>
                  </a:rPr>
                  <a:t>Therefore,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≥3</m:t>
                        </m:r>
                      </m:e>
                    </m:d>
                    <m:r>
                      <a:rPr lang="en-US" sz="2000" i="1">
                        <a:latin typeface="Cambria Math" panose="02040503050406030204" pitchFamily="18" charset="0"/>
                      </a:rPr>
                      <m:t>=1−0</m:t>
                    </m:r>
                    <m:r>
                      <a:rPr lang="en-US" sz="2000" b="0" i="1" smtClean="0">
                        <a:latin typeface="Cambria Math" panose="02040503050406030204" pitchFamily="18" charset="0"/>
                      </a:rPr>
                      <m:t>.924</m:t>
                    </m:r>
                    <m:r>
                      <a:rPr lang="en-US" sz="2000" i="1">
                        <a:latin typeface="Cambria Math" panose="02040503050406030204" pitchFamily="18" charset="0"/>
                      </a:rPr>
                      <m:t>=0.</m:t>
                    </m:r>
                    <m:r>
                      <a:rPr lang="en-US" sz="2000" b="0" i="1" smtClean="0">
                        <a:latin typeface="Cambria Math" panose="02040503050406030204" pitchFamily="18" charset="0"/>
                      </a:rPr>
                      <m:t>076</m:t>
                    </m:r>
                  </m:oMath>
                </a14:m>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853795"/>
                <a:ext cx="10831132" cy="5815946"/>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22417506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48487"/>
            <a:ext cx="9144000" cy="605308"/>
          </a:xfrm>
        </p:spPr>
        <p:txBody>
          <a:bodyPr>
            <a:noAutofit/>
          </a:bodyPr>
          <a:lstStyle/>
          <a:p>
            <a:r>
              <a:rPr lang="en-US" sz="2400" b="1" dirty="0" smtClean="0">
                <a:latin typeface="Arial" panose="020B0604020202020204" pitchFamily="34" charset="0"/>
                <a:cs typeface="Arial" panose="020B0604020202020204" pitchFamily="34" charset="0"/>
              </a:rPr>
              <a:t>Binomial Distribution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853795"/>
                <a:ext cx="10831132" cy="5815946"/>
              </a:xfrm>
            </p:spPr>
            <p:txBody>
              <a:bodyPr>
                <a:noAutofit/>
              </a:bodyPr>
              <a:lstStyle/>
              <a:p>
                <a:pPr algn="just">
                  <a:lnSpc>
                    <a:spcPct val="150000"/>
                  </a:lnSpc>
                </a:pPr>
                <a:endParaRPr lang="en-US" sz="2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a:t>
                </a:r>
                <a:r>
                  <a:rPr lang="en-US" sz="2000" dirty="0" smtClean="0">
                    <a:latin typeface="Arial" panose="020B0604020202020204" pitchFamily="34" charset="0"/>
                    <a:cs typeface="Arial" panose="020B0604020202020204" pitchFamily="34" charset="0"/>
                  </a:rPr>
                  <a:t>: Batches </a:t>
                </a:r>
                <a:r>
                  <a:rPr lang="en-US" sz="2000" dirty="0">
                    <a:latin typeface="Arial" panose="020B0604020202020204" pitchFamily="34" charset="0"/>
                    <a:cs typeface="Arial" panose="020B0604020202020204" pitchFamily="34" charset="0"/>
                  </a:rPr>
                  <a:t>that consist of 24 manufacturing items from a production process are checked for conformance to customer requirements. The mean number of nonconforming items in a batch is 3. Assume that the number of nonconforming items in a batch, denoted as </a:t>
                </a:r>
                <a14:m>
                  <m:oMath xmlns:m="http://schemas.openxmlformats.org/officeDocument/2006/math">
                    <m:r>
                      <a:rPr lang="en-US" sz="2000" i="1">
                        <a:latin typeface="Cambria Math" panose="02040503050406030204" pitchFamily="18" charset="0"/>
                      </a:rPr>
                      <m:t>𝑋</m:t>
                    </m:r>
                  </m:oMath>
                </a14:m>
                <a:r>
                  <a:rPr lang="en-US" sz="2000" dirty="0">
                    <a:latin typeface="Arial" panose="020B0604020202020204" pitchFamily="34" charset="0"/>
                    <a:cs typeface="Arial" panose="020B0604020202020204" pitchFamily="34" charset="0"/>
                  </a:rPr>
                  <a:t>, is a binomial random variable. (</a:t>
                </a:r>
                <a:r>
                  <a:rPr lang="en-US" sz="2000" dirty="0" err="1">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What </a:t>
                </a:r>
                <a:r>
                  <a:rPr lang="en-US" sz="2000" dirty="0" smtClean="0">
                    <a:latin typeface="Arial" panose="020B0604020202020204" pitchFamily="34" charset="0"/>
                    <a:cs typeface="Arial" panose="020B0604020202020204" pitchFamily="34" charset="0"/>
                  </a:rPr>
                  <a:t>are </a:t>
                </a:r>
                <a14:m>
                  <m:oMath xmlns:m="http://schemas.openxmlformats.org/officeDocument/2006/math">
                    <m:r>
                      <a:rPr lang="en-US" sz="2000" i="1">
                        <a:latin typeface="Cambria Math" panose="02040503050406030204" pitchFamily="18" charset="0"/>
                      </a:rPr>
                      <m:t>𝑛</m:t>
                    </m:r>
                  </m:oMath>
                </a14:m>
                <a:r>
                  <a:rPr lang="en-US" sz="2000" dirty="0">
                    <a:latin typeface="Arial" panose="020B0604020202020204" pitchFamily="34" charset="0"/>
                    <a:cs typeface="Arial" panose="020B0604020202020204" pitchFamily="34" charset="0"/>
                  </a:rPr>
                  <a:t> and</a:t>
                </a:r>
                <a14:m>
                  <m:oMath xmlns:m="http://schemas.openxmlformats.org/officeDocument/2006/math">
                    <m:r>
                      <a:rPr lang="en-US" sz="2000" i="1">
                        <a:latin typeface="Cambria Math" panose="02040503050406030204" pitchFamily="18" charset="0"/>
                      </a:rPr>
                      <m:t> </m:t>
                    </m:r>
                    <m:r>
                      <a:rPr lang="en-US" sz="2000" i="1">
                        <a:latin typeface="Cambria Math" panose="02040503050406030204" pitchFamily="18" charset="0"/>
                      </a:rPr>
                      <m:t>𝑝</m:t>
                    </m:r>
                  </m:oMath>
                </a14:m>
                <a:r>
                  <a:rPr lang="en-US" sz="2000" dirty="0">
                    <a:latin typeface="Arial" panose="020B0604020202020204" pitchFamily="34" charset="0"/>
                    <a:cs typeface="Arial" panose="020B0604020202020204" pitchFamily="34" charset="0"/>
                  </a:rPr>
                  <a:t>? (ii) What is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≥3</m:t>
                        </m:r>
                      </m:e>
                    </m:d>
                  </m:oMath>
                </a14:m>
                <a:r>
                  <a:rPr lang="en-US" sz="2000" dirty="0" smtClean="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Solution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i</a:t>
                </a:r>
                <a:r>
                  <a:rPr lang="en-US" sz="2000" dirty="0" smtClean="0">
                    <a:latin typeface="Arial" panose="020B0604020202020204" pitchFamily="34" charset="0"/>
                    <a:cs typeface="Arial" panose="020B0604020202020204" pitchFamily="34" charset="0"/>
                  </a:rPr>
                  <a:t>) Total number </a:t>
                </a:r>
                <a:r>
                  <a:rPr lang="en-US" sz="2000" dirty="0">
                    <a:latin typeface="Arial" panose="020B0604020202020204" pitchFamily="34" charset="0"/>
                    <a:cs typeface="Arial" panose="020B0604020202020204" pitchFamily="34" charset="0"/>
                  </a:rPr>
                  <a:t>of trials:  </a:t>
                </a:r>
                <a14:m>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rPr>
                      <m:t>=24</m:t>
                    </m:r>
                  </m:oMath>
                </a14:m>
                <a:endParaRPr lang="en-US" sz="2000" b="0" i="1" dirty="0" smtClean="0">
                  <a:latin typeface="Arial" panose="020B0604020202020204" pitchFamily="34" charset="0"/>
                  <a:cs typeface="Arial" panose="020B0604020202020204" pitchFamily="34" charset="0"/>
                </a:endParaRPr>
              </a:p>
              <a:p>
                <a:pPr algn="just">
                  <a:lnSpc>
                    <a:spcPct val="150000"/>
                  </a:lnSpc>
                </a:pPr>
                <a:r>
                  <a:rPr lang="en-US" sz="2000" dirty="0" smtClean="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𝜇</m:t>
                    </m:r>
                    <m:r>
                      <a:rPr lang="en-US" sz="2000" i="1">
                        <a:latin typeface="Cambria Math" panose="02040503050406030204" pitchFamily="18" charset="0"/>
                      </a:rPr>
                      <m:t>=</m:t>
                    </m:r>
                    <m:r>
                      <a:rPr lang="en-US" sz="2000" i="1">
                        <a:latin typeface="Cambria Math" panose="02040503050406030204" pitchFamily="18" charset="0"/>
                      </a:rPr>
                      <m:t>𝑛𝑝</m:t>
                    </m:r>
                    <m:r>
                      <a:rPr lang="en-US" sz="2000" i="1">
                        <a:latin typeface="Cambria Math" panose="02040503050406030204" pitchFamily="18" charset="0"/>
                      </a:rPr>
                      <m:t>=24×</m:t>
                    </m:r>
                    <m:r>
                      <a:rPr lang="en-US" sz="2000" i="1">
                        <a:latin typeface="Cambria Math" panose="02040503050406030204" pitchFamily="18" charset="0"/>
                      </a:rPr>
                      <m:t>𝑝</m:t>
                    </m:r>
                    <m:r>
                      <a:rPr lang="en-US" sz="2000" i="1">
                        <a:latin typeface="Cambria Math" panose="02040503050406030204" pitchFamily="18" charset="0"/>
                      </a:rPr>
                      <m:t>=3</m:t>
                    </m:r>
                  </m:oMath>
                </a14:m>
                <a:endParaRPr lang="en-US" sz="2000" b="0" dirty="0" smtClean="0">
                  <a:latin typeface="Arial" panose="020B0604020202020204" pitchFamily="34" charset="0"/>
                  <a:cs typeface="Arial" panose="020B0604020202020204" pitchFamily="34" charset="0"/>
                </a:endParaRPr>
              </a:p>
              <a:p>
                <a:pPr algn="l"/>
                <a:r>
                  <a:rPr lang="en-US" sz="2000" dirty="0" smtClean="0">
                    <a:latin typeface="Arial" panose="020B0604020202020204" pitchFamily="34" charset="0"/>
                    <a:cs typeface="Arial" panose="020B0604020202020204" pitchFamily="34" charset="0"/>
                  </a:rPr>
                  <a:t>	So</a:t>
                </a:r>
                <a:r>
                  <a:rPr lang="en-US" sz="2000" dirty="0">
                    <a:latin typeface="Arial" panose="020B0604020202020204" pitchFamily="34" charset="0"/>
                    <a:cs typeface="Arial" panose="020B0604020202020204" pitchFamily="34" charset="0"/>
                  </a:rPr>
                  <a:t>, probability of success, </a:t>
                </a:r>
                <a14:m>
                  <m:oMath xmlns:m="http://schemas.openxmlformats.org/officeDocument/2006/math">
                    <m:r>
                      <a:rPr lang="en-US" sz="2000" i="1">
                        <a:latin typeface="Cambria Math" panose="02040503050406030204" pitchFamily="18" charset="0"/>
                      </a:rPr>
                      <m:t>𝑝</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b="0" i="1" smtClean="0">
                            <a:latin typeface="Cambria Math" panose="02040503050406030204" pitchFamily="18" charset="0"/>
                          </a:rPr>
                          <m:t>3</m:t>
                        </m:r>
                      </m:num>
                      <m:den>
                        <m:r>
                          <a:rPr lang="en-US" sz="2000" b="0" i="1" smtClean="0">
                            <a:latin typeface="Cambria Math" panose="02040503050406030204" pitchFamily="18" charset="0"/>
                          </a:rPr>
                          <m:t>24</m:t>
                        </m:r>
                      </m:den>
                    </m:f>
                    <m:r>
                      <a:rPr lang="en-US" sz="2000" i="1">
                        <a:latin typeface="Cambria Math" panose="02040503050406030204" pitchFamily="18" charset="0"/>
                      </a:rPr>
                      <m:t>=0.1</m:t>
                    </m:r>
                    <m:r>
                      <a:rPr lang="en-US" sz="2000" b="0" i="1" smtClean="0">
                        <a:latin typeface="Cambria Math" panose="02040503050406030204" pitchFamily="18" charset="0"/>
                      </a:rPr>
                      <m:t>25</m:t>
                    </m:r>
                  </m:oMath>
                </a14:m>
                <a:endParaRPr lang="en-US" sz="2000" b="0" dirty="0" smtClean="0">
                  <a:latin typeface="Arial" panose="020B0604020202020204" pitchFamily="34" charset="0"/>
                  <a:cs typeface="Arial" panose="020B0604020202020204" pitchFamily="34" charset="0"/>
                </a:endParaRPr>
              </a:p>
              <a:p>
                <a:pPr algn="l"/>
                <a:r>
                  <a:rPr lang="en-US" sz="2000" dirty="0" smtClean="0">
                    <a:latin typeface="Arial" panose="020B0604020202020204" pitchFamily="34" charset="0"/>
                    <a:cs typeface="Arial" panose="020B0604020202020204" pitchFamily="34" charset="0"/>
                  </a:rPr>
                  <a:t>	We </a:t>
                </a:r>
                <a:r>
                  <a:rPr lang="en-US" sz="2000" dirty="0">
                    <a:latin typeface="Arial" panose="020B0604020202020204" pitchFamily="34" charset="0"/>
                    <a:cs typeface="Arial" panose="020B0604020202020204" pitchFamily="34" charset="0"/>
                  </a:rPr>
                  <a:t>have to find</a:t>
                </a:r>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b="0" i="1" smtClean="0">
                              <a:latin typeface="Cambria Math" panose="02040503050406030204" pitchFamily="18" charset="0"/>
                            </a:rPr>
                            <m:t>≥3</m:t>
                          </m:r>
                        </m:e>
                      </m:d>
                      <m:r>
                        <a:rPr lang="en-US" sz="2000" i="1">
                          <a:latin typeface="Cambria Math" panose="02040503050406030204" pitchFamily="18" charset="0"/>
                        </a:rPr>
                        <m:t>=</m:t>
                      </m:r>
                      <m:r>
                        <a:rPr lang="en-US" sz="2000" b="0" i="1" smtClean="0">
                          <a:latin typeface="Cambria Math" panose="02040503050406030204" pitchFamily="18" charset="0"/>
                        </a:rPr>
                        <m:t>1−</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r>
                            <a:rPr lang="en-US" sz="2000" b="0" i="1" smtClean="0">
                              <a:latin typeface="Cambria Math" panose="02040503050406030204" pitchFamily="18" charset="0"/>
                            </a:rPr>
                            <m:t>≤2</m:t>
                          </m:r>
                        </m:e>
                      </m:d>
                      <m:r>
                        <a:rPr lang="en-US" sz="2000" b="0" i="1" smtClean="0">
                          <a:latin typeface="Cambria Math" panose="02040503050406030204" pitchFamily="18" charset="0"/>
                        </a:rPr>
                        <m:t>=1−</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=0</m:t>
                          </m:r>
                        </m:e>
                      </m:d>
                      <m:r>
                        <a:rPr lang="en-US" sz="2000" b="0" i="1" smtClean="0">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=1</m:t>
                          </m:r>
                        </m:e>
                      </m:d>
                      <m:r>
                        <a:rPr lang="en-US" sz="2000" b="0" i="1" smtClean="0">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=2</m:t>
                          </m:r>
                        </m:e>
                      </m:d>
                    </m:oMath>
                  </m:oMathPara>
                </a14:m>
                <a:endParaRPr lang="en-US" sz="2000" i="1" dirty="0" smtClean="0">
                  <a:latin typeface="Arial" panose="020B0604020202020204" pitchFamily="34" charset="0"/>
                  <a:cs typeface="Arial" panose="020B0604020202020204" pitchFamily="34" charset="0"/>
                </a:endParaRPr>
              </a:p>
              <a:p>
                <a:pPr algn="l"/>
                <a:r>
                  <a:rPr lang="en-US" sz="2000" dirty="0" smtClean="0">
                    <a:latin typeface="Arial" panose="020B0604020202020204" pitchFamily="34" charset="0"/>
                    <a:cs typeface="Arial" panose="020B0604020202020204" pitchFamily="34" charset="0"/>
                  </a:rPr>
                  <a:t>	We have,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=0</m:t>
                        </m:r>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24</m:t>
                        </m:r>
                      </m:e>
                      <m:sub>
                        <m:sSub>
                          <m:sSubPr>
                            <m:ctrlPr>
                              <a:rPr lang="en-US" sz="2000" i="1">
                                <a:latin typeface="Cambria Math" panose="02040503050406030204" pitchFamily="18" charset="0"/>
                              </a:rPr>
                            </m:ctrlPr>
                          </m:sSubPr>
                          <m:e>
                            <m:r>
                              <a:rPr lang="en-US" sz="2000" i="1">
                                <a:latin typeface="Cambria Math" panose="02040503050406030204" pitchFamily="18" charset="0"/>
                              </a:rPr>
                              <m:t>𝐶</m:t>
                            </m:r>
                          </m:e>
                          <m:sub>
                            <m:r>
                              <a:rPr lang="en-US" sz="2000" i="1">
                                <a:latin typeface="Cambria Math" panose="02040503050406030204" pitchFamily="18" charset="0"/>
                              </a:rPr>
                              <m:t>0</m:t>
                            </m:r>
                          </m:sub>
                        </m:sSub>
                      </m:sub>
                    </m:sSub>
                    <m:sSup>
                      <m:sSupPr>
                        <m:ctrlPr>
                          <a:rPr lang="en-US" sz="2000" i="1">
                            <a:latin typeface="Cambria Math" panose="02040503050406030204" pitchFamily="18" charset="0"/>
                          </a:rPr>
                        </m:ctrlPr>
                      </m:sSupPr>
                      <m:e>
                        <m:r>
                          <a:rPr lang="en-US" sz="2000" i="1">
                            <a:latin typeface="Cambria Math" panose="02040503050406030204" pitchFamily="18" charset="0"/>
                          </a:rPr>
                          <m:t>0.1</m:t>
                        </m:r>
                        <m:r>
                          <a:rPr lang="en-US" sz="2000" b="0" i="1" smtClean="0">
                            <a:latin typeface="Cambria Math" panose="02040503050406030204" pitchFamily="18" charset="0"/>
                          </a:rPr>
                          <m:t>25</m:t>
                        </m:r>
                      </m:e>
                      <m:sup>
                        <m:r>
                          <a:rPr lang="en-US" sz="2000" i="1">
                            <a:latin typeface="Cambria Math" panose="02040503050406030204" pitchFamily="18" charset="0"/>
                          </a:rPr>
                          <m:t>0</m:t>
                        </m:r>
                      </m:sup>
                    </m:sSup>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panose="02040503050406030204" pitchFamily="18" charset="0"/>
                              </a:rPr>
                              <m:t>1−0.1</m:t>
                            </m:r>
                            <m:r>
                              <a:rPr lang="en-US" sz="2000" b="0" i="1" smtClean="0">
                                <a:latin typeface="Cambria Math" panose="02040503050406030204" pitchFamily="18" charset="0"/>
                              </a:rPr>
                              <m:t>25</m:t>
                            </m:r>
                          </m:e>
                        </m:d>
                      </m:e>
                      <m:sup>
                        <m:r>
                          <a:rPr lang="en-US" sz="2000" b="0" i="1" smtClean="0">
                            <a:latin typeface="Cambria Math" panose="02040503050406030204" pitchFamily="18" charset="0"/>
                          </a:rPr>
                          <m:t>24</m:t>
                        </m:r>
                        <m:r>
                          <a:rPr lang="en-US" sz="2000" i="1">
                            <a:latin typeface="Cambria Math" panose="02040503050406030204" pitchFamily="18" charset="0"/>
                          </a:rPr>
                          <m:t>−0</m:t>
                        </m:r>
                      </m:sup>
                    </m:sSup>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24</m:t>
                        </m:r>
                      </m:e>
                      <m:sub>
                        <m:sSub>
                          <m:sSubPr>
                            <m:ctrlPr>
                              <a:rPr lang="en-US" sz="2000" i="1">
                                <a:latin typeface="Cambria Math" panose="02040503050406030204" pitchFamily="18" charset="0"/>
                              </a:rPr>
                            </m:ctrlPr>
                          </m:sSubPr>
                          <m:e>
                            <m:r>
                              <a:rPr lang="en-US" sz="2000" i="1">
                                <a:latin typeface="Cambria Math" panose="02040503050406030204" pitchFamily="18" charset="0"/>
                              </a:rPr>
                              <m:t>𝐶</m:t>
                            </m:r>
                          </m:e>
                          <m:sub>
                            <m:r>
                              <a:rPr lang="en-US" sz="2000" i="1">
                                <a:latin typeface="Cambria Math" panose="02040503050406030204" pitchFamily="18" charset="0"/>
                              </a:rPr>
                              <m:t>0</m:t>
                            </m:r>
                          </m:sub>
                        </m:sSub>
                      </m:sub>
                    </m:sSub>
                    <m:sSup>
                      <m:sSupPr>
                        <m:ctrlPr>
                          <a:rPr lang="en-US" sz="2000" i="1">
                            <a:latin typeface="Cambria Math" panose="02040503050406030204" pitchFamily="18" charset="0"/>
                          </a:rPr>
                        </m:ctrlPr>
                      </m:sSupPr>
                      <m:e>
                        <m:r>
                          <a:rPr lang="en-US" sz="2000" i="1">
                            <a:latin typeface="Cambria Math" panose="02040503050406030204" pitchFamily="18" charset="0"/>
                          </a:rPr>
                          <m:t>0.1</m:t>
                        </m:r>
                        <m:r>
                          <a:rPr lang="en-US" sz="2000" b="0" i="1" smtClean="0">
                            <a:latin typeface="Cambria Math" panose="02040503050406030204" pitchFamily="18" charset="0"/>
                          </a:rPr>
                          <m:t>25</m:t>
                        </m:r>
                      </m:e>
                      <m:sup>
                        <m:r>
                          <a:rPr lang="en-US" sz="2000" i="1">
                            <a:latin typeface="Cambria Math" panose="02040503050406030204" pitchFamily="18" charset="0"/>
                          </a:rPr>
                          <m:t>0</m:t>
                        </m:r>
                      </m:sup>
                    </m:sSup>
                    <m:sSup>
                      <m:sSupPr>
                        <m:ctrlPr>
                          <a:rPr lang="en-US" sz="2000" i="1">
                            <a:latin typeface="Cambria Math" panose="02040503050406030204" pitchFamily="18" charset="0"/>
                          </a:rPr>
                        </m:ctrlPr>
                      </m:sSupPr>
                      <m:e>
                        <m:r>
                          <a:rPr lang="en-US" sz="2000" i="1">
                            <a:latin typeface="Cambria Math" panose="02040503050406030204" pitchFamily="18" charset="0"/>
                          </a:rPr>
                          <m:t>0.</m:t>
                        </m:r>
                        <m:r>
                          <a:rPr lang="en-US" sz="2000" b="0" i="1" smtClean="0">
                            <a:latin typeface="Cambria Math" panose="02040503050406030204" pitchFamily="18" charset="0"/>
                          </a:rPr>
                          <m:t>875</m:t>
                        </m:r>
                      </m:e>
                      <m:sup>
                        <m:r>
                          <a:rPr lang="en-US" sz="2000" b="0" i="1" smtClean="0">
                            <a:latin typeface="Cambria Math" panose="02040503050406030204" pitchFamily="18" charset="0"/>
                          </a:rPr>
                          <m:t>24</m:t>
                        </m:r>
                      </m:sup>
                    </m:sSup>
                    <m:r>
                      <a:rPr lang="en-US" sz="2000" i="1">
                        <a:latin typeface="Cambria Math" panose="02040503050406030204" pitchFamily="18" charset="0"/>
                      </a:rPr>
                      <m:t>=0.0</m:t>
                    </m:r>
                    <m:r>
                      <a:rPr lang="en-US" sz="2000" b="0" i="1" smtClean="0">
                        <a:latin typeface="Cambria Math" panose="02040503050406030204" pitchFamily="18" charset="0"/>
                      </a:rPr>
                      <m:t>4057</m:t>
                    </m:r>
                  </m:oMath>
                </a14:m>
                <a:endParaRPr lang="en-US" sz="2000" b="0" dirty="0" smtClean="0">
                  <a:latin typeface="Arial" panose="020B0604020202020204" pitchFamily="34" charset="0"/>
                  <a:cs typeface="Arial" panose="020B0604020202020204" pitchFamily="34" charset="0"/>
                </a:endParaRPr>
              </a:p>
              <a:p>
                <a:pPr algn="l"/>
                <a:r>
                  <a:rPr lang="en-US" sz="2000" dirty="0" smtClean="0">
                    <a:latin typeface="Arial" panose="020B0604020202020204" pitchFamily="34" charset="0"/>
                    <a:cs typeface="Arial" panose="020B0604020202020204" pitchFamily="34" charset="0"/>
                  </a:rPr>
                  <a:t>	Similarly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=1</m:t>
                        </m:r>
                      </m:e>
                    </m:d>
                    <m:r>
                      <a:rPr lang="en-US" sz="2000" i="1">
                        <a:latin typeface="Cambria Math" panose="02040503050406030204" pitchFamily="18" charset="0"/>
                      </a:rPr>
                      <m:t>=0.</m:t>
                    </m:r>
                    <m:r>
                      <a:rPr lang="en-US" sz="2000" b="0" i="1" smtClean="0">
                        <a:latin typeface="Cambria Math" panose="02040503050406030204" pitchFamily="18" charset="0"/>
                      </a:rPr>
                      <m:t>13909</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=2</m:t>
                        </m:r>
                      </m:e>
                    </m:d>
                    <m:r>
                      <a:rPr lang="en-US" sz="2000" i="1">
                        <a:latin typeface="Cambria Math" panose="02040503050406030204" pitchFamily="18" charset="0"/>
                      </a:rPr>
                      <m:t>=0.</m:t>
                    </m:r>
                    <m:r>
                      <a:rPr lang="en-US" sz="2000" b="0" i="1" smtClean="0">
                        <a:latin typeface="Cambria Math" panose="02040503050406030204" pitchFamily="18" charset="0"/>
                      </a:rPr>
                      <m:t>22851</m:t>
                    </m:r>
                  </m:oMath>
                </a14:m>
                <a:endParaRPr lang="en-US" sz="2000" dirty="0" smtClean="0">
                  <a:latin typeface="Arial" panose="020B0604020202020204" pitchFamily="34" charset="0"/>
                  <a:cs typeface="Arial" panose="020B0604020202020204" pitchFamily="34" charset="0"/>
                </a:endParaRPr>
              </a:p>
              <a:p>
                <a:pPr algn="l"/>
                <a:r>
                  <a:rPr lang="en-US" sz="2000" dirty="0" smtClean="0"/>
                  <a:t>	</a:t>
                </a:r>
                <a:r>
                  <a:rPr lang="en-US" sz="2000" dirty="0" smtClean="0">
                    <a:latin typeface="Arial" panose="020B0604020202020204" pitchFamily="34" charset="0"/>
                    <a:cs typeface="Arial" panose="020B0604020202020204" pitchFamily="34" charset="0"/>
                  </a:rPr>
                  <a:t>Therefore,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≥3</m:t>
                        </m:r>
                      </m:e>
                    </m:d>
                    <m:r>
                      <a:rPr lang="en-US" sz="2000" b="0" i="1" smtClean="0">
                        <a:latin typeface="Cambria Math" panose="02040503050406030204" pitchFamily="18" charset="0"/>
                      </a:rPr>
                      <m:t>=1−0.40417=0.59183</m:t>
                    </m:r>
                  </m:oMath>
                </a14:m>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853795"/>
                <a:ext cx="10831132" cy="5815946"/>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42317814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63639"/>
            <a:ext cx="9144000" cy="605308"/>
          </a:xfrm>
        </p:spPr>
        <p:txBody>
          <a:bodyPr>
            <a:noAutofit/>
          </a:bodyPr>
          <a:lstStyle/>
          <a:p>
            <a:r>
              <a:rPr lang="en-US" sz="2400" b="1" dirty="0" smtClean="0">
                <a:latin typeface="Arial" panose="020B0604020202020204" pitchFamily="34" charset="0"/>
                <a:cs typeface="Arial" panose="020B0604020202020204" pitchFamily="34" charset="0"/>
              </a:rPr>
              <a:t>Poisson Distribution</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682581" y="1297397"/>
            <a:ext cx="10831132" cy="5372344"/>
          </a:xfrm>
        </p:spPr>
        <p:txBody>
          <a:bodyPr>
            <a:noAutofit/>
          </a:bodyPr>
          <a:lstStyle/>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Poisson Distribution:</a:t>
            </a:r>
            <a:r>
              <a:rPr lang="en-US" sz="2000" dirty="0" smtClean="0">
                <a:latin typeface="Arial" panose="020B0604020202020204" pitchFamily="34" charset="0"/>
                <a:cs typeface="Arial" panose="020B0604020202020204" pitchFamily="34" charset="0"/>
              </a:rPr>
              <a:t> Situations </a:t>
            </a:r>
            <a:r>
              <a:rPr lang="en-US" sz="2000" dirty="0">
                <a:latin typeface="Arial" panose="020B0604020202020204" pitchFamily="34" charset="0"/>
                <a:cs typeface="Arial" panose="020B0604020202020204" pitchFamily="34" charset="0"/>
              </a:rPr>
              <a:t>often arise where the variable of interest is the number of occurrences of a particular event in a given interval of space or time. </a:t>
            </a:r>
            <a:r>
              <a:rPr lang="en-US" sz="2000" dirty="0" smtClean="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events are often defects, accidents or unusual natural happenings, such as earthquakes, where in theory there is no upper limit on the number of </a:t>
            </a:r>
            <a:r>
              <a:rPr lang="en-US" sz="2000" dirty="0" smtClean="0">
                <a:latin typeface="Arial" panose="020B0604020202020204" pitchFamily="34" charset="0"/>
                <a:cs typeface="Arial" panose="020B0604020202020204" pitchFamily="34" charset="0"/>
              </a:rPr>
              <a:t>events. Some examples </a:t>
            </a:r>
            <a:r>
              <a:rPr lang="en-US" sz="2000" dirty="0">
                <a:latin typeface="Arial" panose="020B0604020202020204" pitchFamily="34" charset="0"/>
                <a:cs typeface="Arial" panose="020B0604020202020204" pitchFamily="34" charset="0"/>
              </a:rPr>
              <a:t>are</a:t>
            </a:r>
          </a:p>
          <a:p>
            <a:pPr marL="800100" lvl="1" indent="-342900" algn="just">
              <a:lnSpc>
                <a:spcPct val="150000"/>
              </a:lnSpc>
              <a:buFont typeface="Wingdings" panose="05000000000000000000" pitchFamily="2" charset="2"/>
              <a:buChar char="ü"/>
            </a:pPr>
            <a:r>
              <a:rPr lang="en-US" dirty="0" smtClean="0">
                <a:latin typeface="Arial" panose="020B0604020202020204" pitchFamily="34" charset="0"/>
                <a:cs typeface="Arial" panose="020B0604020202020204" pitchFamily="34" charset="0"/>
              </a:rPr>
              <a:t>the </a:t>
            </a:r>
            <a:r>
              <a:rPr lang="en-US" dirty="0">
                <a:latin typeface="Arial" panose="020B0604020202020204" pitchFamily="34" charset="0"/>
                <a:cs typeface="Arial" panose="020B0604020202020204" pitchFamily="34" charset="0"/>
              </a:rPr>
              <a:t>number of cars passing a point on a road in a time interval of 1 </a:t>
            </a:r>
            <a:r>
              <a:rPr lang="en-US" dirty="0" smtClean="0">
                <a:latin typeface="Arial" panose="020B0604020202020204" pitchFamily="34" charset="0"/>
                <a:cs typeface="Arial" panose="020B0604020202020204" pitchFamily="34" charset="0"/>
              </a:rPr>
              <a:t>minute</a:t>
            </a: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the number of </a:t>
            </a:r>
            <a:r>
              <a:rPr lang="en-US" dirty="0" smtClean="0">
                <a:latin typeface="Arial" panose="020B0604020202020204" pitchFamily="34" charset="0"/>
                <a:cs typeface="Arial" panose="020B0604020202020204" pitchFamily="34" charset="0"/>
              </a:rPr>
              <a:t>telephone calls received at a switchboard per minute</a:t>
            </a: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the number of misprints on each page of a book</a:t>
            </a:r>
            <a:r>
              <a:rPr lang="en-US" dirty="0" smtClean="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ü"/>
            </a:pPr>
            <a:r>
              <a:rPr lang="en-US" dirty="0" smtClean="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the number of radioactive particles emitted by a radioactive source in a time interval of 1 second</a:t>
            </a:r>
            <a:r>
              <a:rPr lang="en-US" dirty="0" smtClean="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The number of plants infected with a particular disease in a plot of field</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00090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63639"/>
            <a:ext cx="9144000" cy="605308"/>
          </a:xfrm>
        </p:spPr>
        <p:txBody>
          <a:bodyPr>
            <a:noAutofit/>
          </a:bodyPr>
          <a:lstStyle/>
          <a:p>
            <a:r>
              <a:rPr lang="en-US" sz="2400" b="1" dirty="0" smtClean="0">
                <a:latin typeface="Arial" panose="020B0604020202020204" pitchFamily="34" charset="0"/>
                <a:cs typeface="Arial" panose="020B0604020202020204" pitchFamily="34" charset="0"/>
              </a:rPr>
              <a:t>Poisson Distribution</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682581" y="1297397"/>
            <a:ext cx="10831132" cy="5372344"/>
          </a:xfrm>
        </p:spPr>
        <p:txBody>
          <a:bodyPr>
            <a:noAutofit/>
          </a:bodyPr>
          <a:lstStyle/>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The</a:t>
            </a:r>
            <a:r>
              <a:rPr lang="en-US" sz="2000" b="1" dirty="0" smtClean="0">
                <a:latin typeface="Arial" panose="020B0604020202020204" pitchFamily="34" charset="0"/>
                <a:cs typeface="Arial" panose="020B0604020202020204" pitchFamily="34" charset="0"/>
              </a:rPr>
              <a:t> Poisson distribution </a:t>
            </a:r>
            <a:r>
              <a:rPr lang="en-US" sz="2000" dirty="0" smtClean="0">
                <a:latin typeface="Arial" panose="020B0604020202020204" pitchFamily="34" charset="0"/>
                <a:cs typeface="Arial" panose="020B0604020202020204" pitchFamily="34" charset="0"/>
              </a:rPr>
              <a:t>is </a:t>
            </a:r>
            <a:r>
              <a:rPr lang="en-US" sz="2000" dirty="0">
                <a:latin typeface="Arial" panose="020B0604020202020204" pitchFamily="34" charset="0"/>
                <a:cs typeface="Arial" panose="020B0604020202020204" pitchFamily="34" charset="0"/>
              </a:rPr>
              <a:t>often known as the distribution of rare events. </a:t>
            </a:r>
            <a:r>
              <a:rPr lang="en-US" sz="2000" dirty="0" smtClean="0">
                <a:latin typeface="Arial" panose="020B0604020202020204" pitchFamily="34" charset="0"/>
                <a:cs typeface="Arial" panose="020B0604020202020204" pitchFamily="34" charset="0"/>
              </a:rPr>
              <a:t>Given </a:t>
            </a:r>
            <a:r>
              <a:rPr lang="en-US" sz="2000" dirty="0">
                <a:latin typeface="Arial" panose="020B0604020202020204" pitchFamily="34" charset="0"/>
                <a:cs typeface="Arial" panose="020B0604020202020204" pitchFamily="34" charset="0"/>
              </a:rPr>
              <a:t>an interval of real numbers, assume counts occur at random throughout the </a:t>
            </a:r>
            <a:r>
              <a:rPr lang="en-US" sz="2000" dirty="0" smtClean="0">
                <a:latin typeface="Arial" panose="020B0604020202020204" pitchFamily="34" charset="0"/>
                <a:cs typeface="Arial" panose="020B0604020202020204" pitchFamily="34" charset="0"/>
              </a:rPr>
              <a:t>interval. If </a:t>
            </a:r>
            <a:r>
              <a:rPr lang="en-US" sz="2000" dirty="0">
                <a:latin typeface="Arial" panose="020B0604020202020204" pitchFamily="34" charset="0"/>
                <a:cs typeface="Arial" panose="020B0604020202020204" pitchFamily="34" charset="0"/>
              </a:rPr>
              <a:t>the interval can be partitioned into subintervals of small enough length such that</a:t>
            </a: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For a small interval the probability of the event occurring is proportional to the size of the interval. </a:t>
            </a: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The probability of more than one occurrence in the small interval is negligible (i.e. they are rare events).   Events must not occur simultaneously </a:t>
            </a: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Each occurrence must be independent of others and must be at random.</a:t>
            </a: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The random </a:t>
            </a:r>
            <a:r>
              <a:rPr lang="en-US" sz="2000" dirty="0">
                <a:latin typeface="Arial" panose="020B0604020202020204" pitchFamily="34" charset="0"/>
                <a:cs typeface="Arial" panose="020B0604020202020204" pitchFamily="34" charset="0"/>
              </a:rPr>
              <a:t>experiment is called a Poisson process</a:t>
            </a:r>
            <a:r>
              <a:rPr lang="en-US" sz="2000" dirty="0" smtClean="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47831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63639"/>
            <a:ext cx="9144000" cy="605308"/>
          </a:xfrm>
        </p:spPr>
        <p:txBody>
          <a:bodyPr>
            <a:noAutofit/>
          </a:bodyPr>
          <a:lstStyle/>
          <a:p>
            <a:r>
              <a:rPr lang="en-US" sz="2400" b="1" dirty="0" smtClean="0">
                <a:latin typeface="Arial" panose="020B0604020202020204" pitchFamily="34" charset="0"/>
                <a:cs typeface="Arial" panose="020B0604020202020204" pitchFamily="34" charset="0"/>
              </a:rPr>
              <a:t>The Poisson Distribution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1297397"/>
                <a:ext cx="10831132" cy="5372344"/>
              </a:xfrm>
            </p:spPr>
            <p:txBody>
              <a:bodyPr>
                <a:noAutofit/>
              </a:bodyPr>
              <a:lstStyle/>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Poisson distribution (definition):</a:t>
                </a:r>
                <a:r>
                  <a:rPr lang="en-US" sz="2000" dirty="0" smtClean="0">
                    <a:latin typeface="Arial" panose="020B0604020202020204" pitchFamily="34" charset="0"/>
                    <a:cs typeface="Arial" panose="020B0604020202020204" pitchFamily="34" charset="0"/>
                  </a:rPr>
                  <a:t> A random variable is said to have a Poisson distribution with parameter </a:t>
                </a:r>
                <a14:m>
                  <m:oMath xmlns:m="http://schemas.openxmlformats.org/officeDocument/2006/math">
                    <m:r>
                      <a:rPr lang="en-US" sz="2000" i="1">
                        <a:latin typeface="Cambria Math" panose="02040503050406030204" pitchFamily="18" charset="0"/>
                      </a:rPr>
                      <m:t>𝜆</m:t>
                    </m:r>
                    <m:r>
                      <a:rPr lang="en-US" sz="2000" b="0" i="1" smtClean="0">
                        <a:latin typeface="Cambria Math" panose="02040503050406030204" pitchFamily="18" charset="0"/>
                      </a:rPr>
                      <m:t>&gt;0</m:t>
                    </m:r>
                  </m:oMath>
                </a14:m>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if its </a:t>
                </a:r>
                <a:r>
                  <a:rPr lang="en-US" sz="2000" dirty="0" err="1" smtClean="0">
                    <a:latin typeface="Arial" panose="020B0604020202020204" pitchFamily="34" charset="0"/>
                    <a:cs typeface="Arial" panose="020B0604020202020204" pitchFamily="34" charset="0"/>
                  </a:rPr>
                  <a:t>pmf</a:t>
                </a:r>
                <a:r>
                  <a:rPr lang="en-US" sz="2000" dirty="0" smtClean="0">
                    <a:latin typeface="Arial" panose="020B0604020202020204" pitchFamily="34" charset="0"/>
                    <a:cs typeface="Arial" panose="020B0604020202020204" pitchFamily="34" charset="0"/>
                  </a:rPr>
                  <a:t> is given by</a:t>
                </a:r>
              </a:p>
              <a:p>
                <a:pPr algn="just">
                  <a:lnSpc>
                    <a:spcPct val="150000"/>
                  </a:lnSpc>
                </a:pPr>
                <a:r>
                  <a:rPr lang="en-US" sz="2000" dirty="0">
                    <a:latin typeface="Arial" panose="020B0604020202020204" pitchFamily="34" charset="0"/>
                    <a:cs typeface="Arial" panose="020B0604020202020204" pitchFamily="34" charset="0"/>
                  </a:rPr>
                  <a:t>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𝜆</m:t>
                        </m:r>
                      </m:e>
                    </m:d>
                    <m:r>
                      <a:rPr lang="en-US" sz="2000" b="0" i="1" smtClean="0">
                        <a:latin typeface="Cambria Math" panose="02040503050406030204" pitchFamily="18" charset="0"/>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m:t>
                            </m:r>
                            <m:r>
                              <a:rPr lang="en-US" sz="2000" i="1">
                                <a:latin typeface="Cambria Math" panose="02040503050406030204" pitchFamily="18" charset="0"/>
                              </a:rPr>
                              <m:t>𝜆</m:t>
                            </m:r>
                          </m:sup>
                        </m:sSup>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𝜆</m:t>
                            </m:r>
                          </m:e>
                          <m:sup>
                            <m:r>
                              <a:rPr lang="en-US" sz="2000" b="0" i="1" smtClean="0">
                                <a:latin typeface="Cambria Math" panose="02040503050406030204" pitchFamily="18" charset="0"/>
                              </a:rPr>
                              <m:t>𝑥</m:t>
                            </m:r>
                          </m:sup>
                        </m:sSup>
                      </m:num>
                      <m:den>
                        <m:r>
                          <a:rPr lang="en-US" sz="2000" i="1">
                            <a:latin typeface="Cambria Math" panose="02040503050406030204" pitchFamily="18" charset="0"/>
                          </a:rPr>
                          <m:t>𝑥</m:t>
                        </m:r>
                        <m:r>
                          <a:rPr lang="en-US" sz="2000" i="1">
                            <a:latin typeface="Cambria Math" panose="02040503050406030204" pitchFamily="18" charset="0"/>
                          </a:rPr>
                          <m:t>!</m:t>
                        </m:r>
                      </m:den>
                    </m:f>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𝑥</m:t>
                    </m:r>
                    <m:r>
                      <a:rPr lang="en-US" sz="2000" i="1">
                        <a:latin typeface="Cambria Math" panose="02040503050406030204" pitchFamily="18" charset="0"/>
                      </a:rPr>
                      <m:t>=0, 1, 2, …</m:t>
                    </m:r>
                  </m:oMath>
                </a14:m>
                <a:endParaRPr lang="en-US" sz="2000" dirty="0" smtClean="0">
                  <a:latin typeface="Arial" panose="020B0604020202020204" pitchFamily="34" charset="0"/>
                  <a:cs typeface="Arial" panose="020B0604020202020204" pitchFamily="34" charset="0"/>
                </a:endParaRPr>
              </a:p>
              <a:p>
                <a:pPr algn="just">
                  <a:lnSpc>
                    <a:spcPct val="150000"/>
                  </a:lnSpc>
                </a:pPr>
                <a:r>
                  <a:rPr lang="en-US" sz="2000" dirty="0" smtClean="0">
                    <a:latin typeface="Arial" panose="020B0604020202020204" pitchFamily="34" charset="0"/>
                    <a:cs typeface="Arial" panose="020B0604020202020204" pitchFamily="34" charset="0"/>
                  </a:rPr>
                  <a:t>The Poisson distribution was first derived in 1837 by the </a:t>
                </a:r>
                <a:r>
                  <a:rPr lang="en-US" sz="2000" dirty="0">
                    <a:latin typeface="Arial" panose="020B0604020202020204" pitchFamily="34" charset="0"/>
                    <a:cs typeface="Arial" panose="020B0604020202020204" pitchFamily="34" charset="0"/>
                  </a:rPr>
                  <a:t>French mathematician and physicist </a:t>
                </a:r>
                <a:r>
                  <a:rPr lang="en-US" sz="2000" dirty="0" err="1">
                    <a:latin typeface="Arial" panose="020B0604020202020204" pitchFamily="34" charset="0"/>
                    <a:cs typeface="Arial" panose="020B0604020202020204" pitchFamily="34" charset="0"/>
                  </a:rPr>
                  <a:t>Siméon</a:t>
                </a:r>
                <a:r>
                  <a:rPr lang="en-US" sz="2000" dirty="0">
                    <a:latin typeface="Arial" panose="020B0604020202020204" pitchFamily="34" charset="0"/>
                    <a:cs typeface="Arial" panose="020B0604020202020204" pitchFamily="34" charset="0"/>
                  </a:rPr>
                  <a:t>-Denis Poisson (1781–1840</a:t>
                </a:r>
                <a:r>
                  <a:rPr lang="en-US" sz="2000" dirty="0" smtClean="0">
                    <a:latin typeface="Arial" panose="020B0604020202020204" pitchFamily="34" charset="0"/>
                    <a:cs typeface="Arial" panose="020B0604020202020204" pitchFamily="34" charset="0"/>
                  </a:rPr>
                  <a:t>).</a:t>
                </a:r>
                <a:endParaRPr lang="en-US" sz="2000" b="1"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Suppose that </a:t>
                </a:r>
                <a14:m>
                  <m:oMath xmlns:m="http://schemas.openxmlformats.org/officeDocument/2006/math">
                    <m:r>
                      <a:rPr lang="en-US" sz="2000" i="1">
                        <a:latin typeface="Cambria Math" panose="02040503050406030204" pitchFamily="18" charset="0"/>
                        <a:cs typeface="Arial" panose="020B0604020202020204" pitchFamily="34" charset="0"/>
                      </a:rPr>
                      <m:t>𝑋</m:t>
                    </m:r>
                  </m:oMath>
                </a14:m>
                <a:r>
                  <a:rPr lang="en-US" sz="2000" dirty="0">
                    <a:latin typeface="Arial" panose="020B0604020202020204" pitchFamily="34" charset="0"/>
                    <a:cs typeface="Arial" panose="020B0604020202020204" pitchFamily="34" charset="0"/>
                  </a:rPr>
                  <a:t> follows </a:t>
                </a:r>
                <a:r>
                  <a:rPr lang="en-US" sz="2000" dirty="0" smtClean="0">
                    <a:latin typeface="Arial" panose="020B0604020202020204" pitchFamily="34" charset="0"/>
                    <a:cs typeface="Arial" panose="020B0604020202020204" pitchFamily="34" charset="0"/>
                  </a:rPr>
                  <a:t>Poisson </a:t>
                </a:r>
                <a:r>
                  <a:rPr lang="en-US" sz="2000" dirty="0">
                    <a:latin typeface="Arial" panose="020B0604020202020204" pitchFamily="34" charset="0"/>
                    <a:cs typeface="Arial" panose="020B0604020202020204" pitchFamily="34" charset="0"/>
                  </a:rPr>
                  <a:t>distribution with </a:t>
                </a:r>
                <a:r>
                  <a:rPr lang="en-US" sz="2000" dirty="0" smtClean="0">
                    <a:latin typeface="Arial" panose="020B0604020202020204" pitchFamily="34" charset="0"/>
                    <a:cs typeface="Arial" panose="020B0604020202020204" pitchFamily="34" charset="0"/>
                  </a:rPr>
                  <a:t>average number of occurrence (mean) </a:t>
                </a:r>
                <a14:m>
                  <m:oMath xmlns:m="http://schemas.openxmlformats.org/officeDocument/2006/math">
                    <m:r>
                      <a:rPr lang="en-US" sz="2000" b="0" i="1" smtClean="0">
                        <a:latin typeface="Cambria Math" panose="02040503050406030204" pitchFamily="18" charset="0"/>
                        <a:cs typeface="Arial" panose="020B0604020202020204" pitchFamily="34" charset="0"/>
                      </a:rPr>
                      <m:t>𝜆</m:t>
                    </m:r>
                    <m:r>
                      <a:rPr lang="en-US" sz="2000">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Notationally </a:t>
                </a:r>
                <a:r>
                  <a:rPr lang="en-US" sz="2000" dirty="0">
                    <a:latin typeface="Arial" panose="020B0604020202020204" pitchFamily="34" charset="0"/>
                    <a:cs typeface="Arial" panose="020B0604020202020204" pitchFamily="34" charset="0"/>
                  </a:rPr>
                  <a:t>it is represented by </a:t>
                </a:r>
                <a14:m>
                  <m:oMath xmlns:m="http://schemas.openxmlformats.org/officeDocument/2006/math">
                    <m:r>
                      <a:rPr lang="en-US" sz="2000" i="1">
                        <a:latin typeface="Cambria Math" panose="02040503050406030204" pitchFamily="18" charset="0"/>
                        <a:cs typeface="Arial" panose="020B0604020202020204" pitchFamily="34" charset="0"/>
                      </a:rPr>
                      <m:t>𝑋</m:t>
                    </m:r>
                    <m:r>
                      <a:rPr lang="en-US" sz="2000" i="1">
                        <a:latin typeface="Cambria Math" panose="02040503050406030204" pitchFamily="18" charset="0"/>
                        <a:cs typeface="Arial" panose="020B0604020202020204" pitchFamily="34" charset="0"/>
                      </a:rPr>
                      <m:t>∼</m:t>
                    </m:r>
                  </m:oMath>
                </a14:m>
                <a:r>
                  <a:rPr lang="en-US" sz="2000" dirty="0" smtClean="0">
                    <a:latin typeface="Arial" panose="020B0604020202020204" pitchFamily="34" charset="0"/>
                    <a:cs typeface="Arial" panose="020B0604020202020204" pitchFamily="34" charset="0"/>
                  </a:rPr>
                  <a:t>Poi</a:t>
                </a:r>
                <a14:m>
                  <m:oMath xmlns:m="http://schemas.openxmlformats.org/officeDocument/2006/math">
                    <m:r>
                      <a:rPr lang="en-US" sz="2000" i="1" dirty="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𝜆</m:t>
                    </m:r>
                    <m:r>
                      <a:rPr lang="en-US" sz="2000" i="1" dirty="0">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a:t>
                </a: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1297397"/>
                <a:ext cx="10831132" cy="5372344"/>
              </a:xfrm>
              <a:blipFill rotWithShape="0">
                <a:blip r:embed="rId2"/>
                <a:stretch>
                  <a:fillRect l="-619" r="-563"/>
                </a:stretch>
              </a:blipFill>
            </p:spPr>
            <p:txBody>
              <a:bodyPr/>
              <a:lstStyle/>
              <a:p>
                <a:r>
                  <a:rPr lang="en-US">
                    <a:noFill/>
                  </a:rPr>
                  <a:t> </a:t>
                </a:r>
              </a:p>
            </p:txBody>
          </p:sp>
        </mc:Fallback>
      </mc:AlternateContent>
    </p:spTree>
    <p:extLst>
      <p:ext uri="{BB962C8B-B14F-4D97-AF65-F5344CB8AC3E}">
        <p14:creationId xmlns:p14="http://schemas.microsoft.com/office/powerpoint/2010/main" val="9011401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63639"/>
            <a:ext cx="9144000" cy="605308"/>
          </a:xfrm>
        </p:spPr>
        <p:txBody>
          <a:bodyPr>
            <a:noAutofit/>
          </a:bodyPr>
          <a:lstStyle/>
          <a:p>
            <a:r>
              <a:rPr lang="en-US" sz="2400" b="1" dirty="0" smtClean="0">
                <a:latin typeface="Arial" panose="020B0604020202020204" pitchFamily="34" charset="0"/>
                <a:cs typeface="Arial" panose="020B0604020202020204" pitchFamily="34" charset="0"/>
              </a:rPr>
              <a:t>The Poisson Distribution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1297397"/>
                <a:ext cx="10831132" cy="5372344"/>
              </a:xfrm>
            </p:spPr>
            <p:txBody>
              <a:bodyPr>
                <a:noAutofit/>
              </a:bodyPr>
              <a:lstStyle/>
              <a:p>
                <a:pPr marL="342900" indent="-342900" algn="just">
                  <a:lnSpc>
                    <a:spcPct val="150000"/>
                  </a:lnSpc>
                  <a:buFont typeface="Arial" panose="020B0604020202020204" pitchFamily="34" charset="0"/>
                  <a:buChar char="•"/>
                </a:pPr>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If </a:t>
                </a:r>
                <a14:m>
                  <m:oMath xmlns:m="http://schemas.openxmlformats.org/officeDocument/2006/math">
                    <m:r>
                      <a:rPr lang="en-US" sz="2000" i="1">
                        <a:latin typeface="Cambria Math" panose="02040503050406030204" pitchFamily="18" charset="0"/>
                        <a:cs typeface="Arial" panose="020B0604020202020204" pitchFamily="34" charset="0"/>
                      </a:rPr>
                      <m:t>𝑋</m:t>
                    </m:r>
                    <m:r>
                      <a:rPr lang="en-US" sz="2000" i="1">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Poi</a:t>
                </a:r>
                <a14:m>
                  <m:oMath xmlns:m="http://schemas.openxmlformats.org/officeDocument/2006/math">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𝜆</m:t>
                    </m:r>
                    <m:r>
                      <a:rPr lang="en-US" sz="2000" i="1" dirty="0">
                        <a:latin typeface="Cambria Math" panose="02040503050406030204" pitchFamily="18" charset="0"/>
                        <a:cs typeface="Arial" panose="020B0604020202020204" pitchFamily="34" charset="0"/>
                      </a:rPr>
                      <m:t>)</m:t>
                    </m:r>
                  </m:oMath>
                </a14:m>
                <a:r>
                  <a:rPr lang="en-US" sz="2000" dirty="0" smtClean="0">
                    <a:latin typeface="Arial" panose="020B0604020202020204" pitchFamily="34" charset="0"/>
                    <a:cs typeface="Arial" panose="020B0604020202020204" pitchFamily="34" charset="0"/>
                  </a:rPr>
                  <a:t>, it can be shown that </a:t>
                </a:r>
                <a14:m>
                  <m:oMath xmlns:m="http://schemas.openxmlformats.org/officeDocument/2006/math">
                    <m:nary>
                      <m:naryPr>
                        <m:chr m:val="∑"/>
                        <m:limLoc m:val="subSup"/>
                        <m:ctrlPr>
                          <a:rPr lang="en-US" sz="2000" i="1" smtClean="0">
                            <a:latin typeface="Cambria Math" panose="02040503050406030204" pitchFamily="18" charset="0"/>
                            <a:cs typeface="Arial" panose="020B0604020202020204" pitchFamily="34" charset="0"/>
                          </a:rPr>
                        </m:ctrlPr>
                      </m:naryPr>
                      <m:sub>
                        <m:r>
                          <m:rPr>
                            <m:brk m:alnAt="25"/>
                          </m:rPr>
                          <a:rPr lang="en-US" sz="2000" b="0" i="1" smtClean="0">
                            <a:latin typeface="Cambria Math" panose="02040503050406030204" pitchFamily="18" charset="0"/>
                            <a:cs typeface="Arial" panose="020B0604020202020204" pitchFamily="34" charset="0"/>
                          </a:rPr>
                          <m:t>𝑥</m:t>
                        </m:r>
                        <m:r>
                          <a:rPr lang="en-US" sz="2000" b="0" i="1" smtClean="0">
                            <a:latin typeface="Cambria Math" panose="02040503050406030204" pitchFamily="18" charset="0"/>
                            <a:cs typeface="Arial" panose="020B0604020202020204" pitchFamily="34" charset="0"/>
                          </a:rPr>
                          <m:t>=0</m:t>
                        </m:r>
                      </m:sub>
                      <m:sup>
                        <m:r>
                          <a:rPr lang="en-US" sz="2000" b="0" i="1" smtClean="0">
                            <a:latin typeface="Cambria Math" panose="02040503050406030204" pitchFamily="18" charset="0"/>
                            <a:cs typeface="Arial" panose="020B0604020202020204" pitchFamily="34" charset="0"/>
                          </a:rPr>
                          <m:t>𝑛</m:t>
                        </m:r>
                      </m:sup>
                      <m:e>
                        <m:r>
                          <a:rPr lang="en-US" sz="2000" b="0" i="1" smtClean="0">
                            <a:latin typeface="Cambria Math" panose="02040503050406030204" pitchFamily="18" charset="0"/>
                            <a:cs typeface="Arial" panose="020B0604020202020204" pitchFamily="34" charset="0"/>
                          </a:rPr>
                          <m:t>𝑓</m:t>
                        </m:r>
                        <m:d>
                          <m:dPr>
                            <m:ctrlPr>
                              <a:rPr lang="en-US" sz="200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𝑥</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𝜆</m:t>
                            </m:r>
                          </m:e>
                        </m:d>
                        <m:r>
                          <a:rPr lang="en-US" sz="2000" b="0" i="1" smtClean="0">
                            <a:latin typeface="Cambria Math" panose="02040503050406030204" pitchFamily="18" charset="0"/>
                            <a:cs typeface="Arial" panose="020B0604020202020204" pitchFamily="34" charset="0"/>
                          </a:rPr>
                          <m:t>=1</m:t>
                        </m:r>
                      </m:e>
                    </m:nary>
                  </m:oMath>
                </a14:m>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mean and variance of </a:t>
                </a:r>
                <a:r>
                  <a:rPr lang="en-US" sz="2000" dirty="0" smtClean="0">
                    <a:latin typeface="Arial" panose="020B0604020202020204" pitchFamily="34" charset="0"/>
                    <a:cs typeface="Arial" panose="020B0604020202020204" pitchFamily="34" charset="0"/>
                  </a:rPr>
                  <a:t>Poisson </a:t>
                </a:r>
                <a:r>
                  <a:rPr lang="en-US" sz="2000" dirty="0">
                    <a:latin typeface="Arial" panose="020B0604020202020204" pitchFamily="34" charset="0"/>
                    <a:cs typeface="Arial" panose="020B0604020202020204" pitchFamily="34" charset="0"/>
                  </a:rPr>
                  <a:t>random variable are </a:t>
                </a:r>
                <a:endParaRPr lang="en-US" sz="2000" dirty="0" smtClean="0">
                  <a:latin typeface="Arial" panose="020B0604020202020204" pitchFamily="34" charset="0"/>
                  <a:cs typeface="Arial" panose="020B0604020202020204" pitchFamily="34" charset="0"/>
                </a:endParaRPr>
              </a:p>
              <a:p>
                <a:pPr>
                  <a:lnSpc>
                    <a:spcPct val="150000"/>
                  </a:lnSpc>
                </a:pPr>
                <a:r>
                  <a:rPr lang="en-US" sz="2000" dirty="0">
                    <a:latin typeface="Arial" panose="020B0604020202020204" pitchFamily="34" charset="0"/>
                    <a:cs typeface="Arial" panose="020B0604020202020204" pitchFamily="34" charset="0"/>
                  </a:rPr>
                  <a:t>Mean: </a:t>
                </a:r>
                <a14:m>
                  <m:oMath xmlns:m="http://schemas.openxmlformats.org/officeDocument/2006/math">
                    <m:r>
                      <a:rPr lang="en-US" sz="2000" i="1">
                        <a:latin typeface="Cambria Math" panose="02040503050406030204" pitchFamily="18" charset="0"/>
                      </a:rPr>
                      <m:t>𝜇</m:t>
                    </m:r>
                    <m:r>
                      <a:rPr lang="en-US" sz="2000" i="1">
                        <a:latin typeface="Cambria Math" panose="02040503050406030204" pitchFamily="18" charset="0"/>
                      </a:rPr>
                      <m:t>=</m:t>
                    </m:r>
                    <m:r>
                      <a:rPr lang="en-US" sz="2000" i="1">
                        <a:latin typeface="Cambria Math" panose="02040503050406030204" pitchFamily="18" charset="0"/>
                      </a:rPr>
                      <m:t>𝐸</m:t>
                    </m:r>
                    <m:d>
                      <m:dPr>
                        <m:ctrlPr>
                          <a:rPr lang="en-US" sz="2000" i="1">
                            <a:latin typeface="Cambria Math" panose="02040503050406030204" pitchFamily="18" charset="0"/>
                          </a:rPr>
                        </m:ctrlPr>
                      </m:dPr>
                      <m:e>
                        <m:r>
                          <a:rPr lang="en-US" sz="2000" i="1">
                            <a:latin typeface="Cambria Math" panose="02040503050406030204" pitchFamily="18" charset="0"/>
                          </a:rPr>
                          <m:t>𝑋</m:t>
                        </m:r>
                      </m:e>
                    </m:d>
                    <m:r>
                      <a:rPr lang="en-US" sz="2000" i="1">
                        <a:latin typeface="Cambria Math" panose="02040503050406030204" pitchFamily="18" charset="0"/>
                      </a:rPr>
                      <m:t>=</m:t>
                    </m:r>
                    <m:r>
                      <a:rPr lang="en-US" sz="2000" i="1" dirty="0">
                        <a:latin typeface="Cambria Math" panose="02040503050406030204" pitchFamily="18" charset="0"/>
                        <a:cs typeface="Arial" panose="020B0604020202020204" pitchFamily="34" charset="0"/>
                      </a:rPr>
                      <m:t>𝜆</m:t>
                    </m:r>
                    <m:r>
                      <a:rPr lang="en-US" sz="2000" i="1">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r>
                      <a:rPr lang="en-US" sz="2000" i="1">
                        <a:latin typeface="Cambria Math" panose="02040503050406030204" pitchFamily="18" charset="0"/>
                      </a:rPr>
                      <m:t>=</m:t>
                    </m:r>
                    <m:r>
                      <a:rPr lang="en-US" sz="2000" i="1">
                        <a:latin typeface="Cambria Math" panose="02040503050406030204" pitchFamily="18" charset="0"/>
                      </a:rPr>
                      <m:t>𝑉𝑎𝑟</m:t>
                    </m:r>
                    <m:d>
                      <m:dPr>
                        <m:ctrlPr>
                          <a:rPr lang="en-US" sz="2000" i="1">
                            <a:latin typeface="Cambria Math" panose="02040503050406030204" pitchFamily="18" charset="0"/>
                          </a:rPr>
                        </m:ctrlPr>
                      </m:dPr>
                      <m:e>
                        <m:r>
                          <a:rPr lang="en-US" sz="2000" i="1">
                            <a:latin typeface="Cambria Math" panose="02040503050406030204" pitchFamily="18" charset="0"/>
                          </a:rPr>
                          <m:t>𝑋</m:t>
                        </m:r>
                      </m:e>
                    </m:d>
                    <m:r>
                      <a:rPr lang="en-US" sz="2000" i="1">
                        <a:latin typeface="Cambria Math" panose="02040503050406030204" pitchFamily="18" charset="0"/>
                      </a:rPr>
                      <m:t>=</m:t>
                    </m:r>
                    <m:r>
                      <a:rPr lang="en-US" sz="2000" i="1" dirty="0">
                        <a:latin typeface="Cambria Math" panose="02040503050406030204" pitchFamily="18" charset="0"/>
                        <a:cs typeface="Arial" panose="020B0604020202020204" pitchFamily="34" charset="0"/>
                      </a:rPr>
                      <m:t>𝜆</m:t>
                    </m:r>
                  </m:oMath>
                </a14:m>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Poisson approximation to Binomial distribution:</a:t>
                </a:r>
                <a:r>
                  <a:rPr lang="en-US" sz="2000" dirty="0" smtClean="0">
                    <a:latin typeface="Arial" panose="020B0604020202020204" pitchFamily="34" charset="0"/>
                    <a:cs typeface="Arial" panose="020B0604020202020204" pitchFamily="34" charset="0"/>
                  </a:rPr>
                  <a:t> If </a:t>
                </a:r>
                <a14:m>
                  <m:oMath xmlns:m="http://schemas.openxmlformats.org/officeDocument/2006/math">
                    <m:r>
                      <a:rPr lang="en-US" sz="2000" i="1">
                        <a:latin typeface="Cambria Math" panose="02040503050406030204" pitchFamily="18" charset="0"/>
                        <a:cs typeface="Arial" panose="020B0604020202020204" pitchFamily="34" charset="0"/>
                      </a:rPr>
                      <m:t>𝑋</m:t>
                    </m:r>
                    <m:r>
                      <a:rPr lang="en-US" sz="2000" i="1">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Bin</a:t>
                </a:r>
                <a14:m>
                  <m:oMath xmlns:m="http://schemas.openxmlformats.org/officeDocument/2006/math">
                    <m:d>
                      <m:dPr>
                        <m:ctrlPr>
                          <a:rPr lang="en-US" sz="2000" i="1" dirty="0">
                            <a:latin typeface="Cambria Math" panose="02040503050406030204" pitchFamily="18" charset="0"/>
                            <a:cs typeface="Arial" panose="020B0604020202020204" pitchFamily="34" charset="0"/>
                          </a:rPr>
                        </m:ctrlPr>
                      </m:dPr>
                      <m:e>
                        <m:r>
                          <a:rPr lang="en-US" sz="2000" i="1" dirty="0">
                            <a:latin typeface="Cambria Math" panose="02040503050406030204" pitchFamily="18" charset="0"/>
                            <a:cs typeface="Arial" panose="020B0604020202020204" pitchFamily="34" charset="0"/>
                          </a:rPr>
                          <m:t>𝑛</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𝑝</m:t>
                        </m:r>
                      </m:e>
                    </m:d>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i="1">
                        <a:latin typeface="Cambria Math" panose="02040503050406030204" pitchFamily="18" charset="0"/>
                        <a:cs typeface="Arial" panose="020B0604020202020204" pitchFamily="34" charset="0"/>
                      </a:rPr>
                      <m:t>𝑛</m:t>
                    </m:r>
                    <m:r>
                      <a:rPr lang="en-US" sz="2000" i="1">
                        <a:latin typeface="Cambria Math" panose="02040503050406030204" pitchFamily="18" charset="0"/>
                        <a:ea typeface="Cambria Math" panose="02040503050406030204" pitchFamily="18" charset="0"/>
                        <a:cs typeface="Arial" panose="020B0604020202020204" pitchFamily="34" charset="0"/>
                      </a:rPr>
                      <m:t>→∞, </m:t>
                    </m:r>
                    <m:r>
                      <a:rPr lang="en-US" sz="2000" i="1">
                        <a:latin typeface="Cambria Math" panose="02040503050406030204" pitchFamily="18" charset="0"/>
                        <a:ea typeface="Cambria Math" panose="02040503050406030204" pitchFamily="18" charset="0"/>
                        <a:cs typeface="Arial" panose="020B0604020202020204" pitchFamily="34" charset="0"/>
                      </a:rPr>
                      <m:t>𝑝</m:t>
                    </m:r>
                    <m:r>
                      <a:rPr lang="en-US" sz="2000" i="1">
                        <a:latin typeface="Cambria Math" panose="02040503050406030204" pitchFamily="18" charset="0"/>
                        <a:ea typeface="Cambria Math" panose="02040503050406030204" pitchFamily="18" charset="0"/>
                        <a:cs typeface="Arial" panose="020B0604020202020204" pitchFamily="34" charset="0"/>
                      </a:rPr>
                      <m:t>→0</m:t>
                    </m:r>
                  </m:oMath>
                </a14:m>
                <a:r>
                  <a:rPr lang="en-US" sz="2000" dirty="0">
                    <a:latin typeface="Arial" panose="020B0604020202020204" pitchFamily="34" charset="0"/>
                    <a:cs typeface="Arial" panose="020B0604020202020204" pitchFamily="34" charset="0"/>
                  </a:rPr>
                  <a:t> such that </a:t>
                </a:r>
                <a14:m>
                  <m:oMath xmlns:m="http://schemas.openxmlformats.org/officeDocument/2006/math">
                    <m:r>
                      <a:rPr lang="en-US" sz="2000" i="1">
                        <a:latin typeface="Cambria Math" panose="02040503050406030204" pitchFamily="18" charset="0"/>
                        <a:cs typeface="Arial" panose="020B0604020202020204" pitchFamily="34" charset="0"/>
                      </a:rPr>
                      <m:t>𝑛𝑝</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𝜆</m:t>
                    </m:r>
                  </m:oMath>
                </a14:m>
                <a:r>
                  <a:rPr lang="en-US" sz="2000" dirty="0">
                    <a:latin typeface="Arial" panose="020B0604020202020204" pitchFamily="34" charset="0"/>
                    <a:cs typeface="Arial" panose="020B0604020202020204" pitchFamily="34" charset="0"/>
                  </a:rPr>
                  <a:t> (a constant) then it can be shown that </a:t>
                </a:r>
                <a14:m>
                  <m:oMath xmlns:m="http://schemas.openxmlformats.org/officeDocument/2006/math">
                    <m:r>
                      <a:rPr lang="en-US" sz="2000" i="1">
                        <a:latin typeface="Cambria Math" panose="02040503050406030204" pitchFamily="18" charset="0"/>
                        <a:cs typeface="Arial" panose="020B0604020202020204" pitchFamily="34" charset="0"/>
                      </a:rPr>
                      <m:t>𝑓</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𝑥</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𝑛</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𝑝</m:t>
                        </m:r>
                      </m:e>
                    </m:d>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𝑓</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𝑥</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𝜆</m:t>
                        </m:r>
                      </m:e>
                    </m:d>
                  </m:oMath>
                </a14:m>
                <a:r>
                  <a:rPr lang="en-US" sz="2000" dirty="0">
                    <a:latin typeface="Arial" panose="020B0604020202020204" pitchFamily="34" charset="0"/>
                    <a:cs typeface="Arial" panose="020B0604020202020204" pitchFamily="34" charset="0"/>
                  </a:rPr>
                  <a:t> i.e., </a:t>
                </a:r>
                <a14:m>
                  <m:oMath xmlns:m="http://schemas.openxmlformats.org/officeDocument/2006/math">
                    <m:r>
                      <a:rPr lang="en-US" sz="2000" i="1">
                        <a:latin typeface="Cambria Math" panose="02040503050406030204" pitchFamily="18" charset="0"/>
                        <a:cs typeface="Arial" panose="020B0604020202020204" pitchFamily="34" charset="0"/>
                      </a:rPr>
                      <m:t>𝑋</m:t>
                    </m:r>
                    <m:r>
                      <a:rPr lang="en-US" sz="2000" i="1">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Poi</a:t>
                </a:r>
                <a14:m>
                  <m:oMath xmlns:m="http://schemas.openxmlformats.org/officeDocument/2006/math">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𝜆</m:t>
                    </m:r>
                    <m:r>
                      <a:rPr lang="en-US" sz="2000" i="1" dirty="0">
                        <a:latin typeface="Cambria Math" panose="02040503050406030204" pitchFamily="18" charset="0"/>
                        <a:cs typeface="Arial" panose="020B0604020202020204" pitchFamily="34" charset="0"/>
                      </a:rPr>
                      <m:t>)</m:t>
                    </m:r>
                  </m:oMath>
                </a14:m>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1297397"/>
                <a:ext cx="10831132" cy="5372344"/>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31506257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0794"/>
            <a:ext cx="9144000" cy="605308"/>
          </a:xfrm>
        </p:spPr>
        <p:txBody>
          <a:bodyPr>
            <a:noAutofit/>
          </a:bodyPr>
          <a:lstStyle/>
          <a:p>
            <a:r>
              <a:rPr lang="en-US" sz="2400" b="1" dirty="0" smtClean="0">
                <a:latin typeface="Arial" panose="020B0604020202020204" pitchFamily="34" charset="0"/>
                <a:cs typeface="Arial" panose="020B0604020202020204" pitchFamily="34" charset="0"/>
              </a:rPr>
              <a:t>Poisson Distribution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548111" y="658906"/>
                <a:ext cx="10831132" cy="5849470"/>
              </a:xfrm>
            </p:spPr>
            <p:txBody>
              <a:bodyPr>
                <a:noAutofit/>
              </a:bodyPr>
              <a:lstStyle/>
              <a:p>
                <a:pPr algn="just">
                  <a:lnSpc>
                    <a:spcPct val="150000"/>
                  </a:lnSpc>
                </a:pPr>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a:t>
                </a:r>
                <a:r>
                  <a:rPr lang="en-US" sz="2000" dirty="0" smtClean="0">
                    <a:latin typeface="Arial" panose="020B0604020202020204" pitchFamily="34" charset="0"/>
                    <a:cs typeface="Arial" panose="020B0604020202020204" pitchFamily="34" charset="0"/>
                  </a:rPr>
                  <a:t>: The average number </a:t>
                </a:r>
                <a:r>
                  <a:rPr lang="en-US" sz="2000" dirty="0">
                    <a:latin typeface="Arial" panose="020B0604020202020204" pitchFamily="34" charset="0"/>
                    <a:cs typeface="Arial" panose="020B0604020202020204" pitchFamily="34" charset="0"/>
                  </a:rPr>
                  <a:t>of </a:t>
                </a:r>
                <a:r>
                  <a:rPr lang="en-US" sz="2000" dirty="0" smtClean="0">
                    <a:latin typeface="Arial" panose="020B0604020202020204" pitchFamily="34" charset="0"/>
                    <a:cs typeface="Arial" panose="020B0604020202020204" pitchFamily="34" charset="0"/>
                  </a:rPr>
                  <a:t>spots in 1 square meter of metal sheet is 3.4. What is the probability that there will </a:t>
                </a:r>
                <a:r>
                  <a:rPr lang="en-US" sz="2000" dirty="0">
                    <a:latin typeface="Arial" panose="020B0604020202020204" pitchFamily="34" charset="0"/>
                    <a:cs typeface="Arial" panose="020B0604020202020204" pitchFamily="34" charset="0"/>
                  </a:rPr>
                  <a:t>be (a) 2 </a:t>
                </a:r>
                <a:r>
                  <a:rPr lang="en-US" sz="2000" dirty="0" smtClean="0">
                    <a:latin typeface="Arial" panose="020B0604020202020204" pitchFamily="34" charset="0"/>
                    <a:cs typeface="Arial" panose="020B0604020202020204" pitchFamily="34" charset="0"/>
                  </a:rPr>
                  <a:t>spots in the next square meter</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(b) at most 2 </a:t>
                </a:r>
                <a:r>
                  <a:rPr lang="en-US" sz="2000" dirty="0">
                    <a:latin typeface="Arial" panose="020B0604020202020204" pitchFamily="34" charset="0"/>
                    <a:cs typeface="Arial" panose="020B0604020202020204" pitchFamily="34" charset="0"/>
                  </a:rPr>
                  <a:t>spots in the next square meter</a:t>
                </a:r>
                <a:r>
                  <a:rPr lang="en-US" sz="2000" dirty="0" smtClean="0">
                    <a:latin typeface="Arial" panose="020B0604020202020204" pitchFamily="34" charset="0"/>
                    <a:cs typeface="Arial" panose="020B0604020202020204" pitchFamily="34" charset="0"/>
                  </a:rPr>
                  <a:t>? (c) at least 3 </a:t>
                </a:r>
                <a:r>
                  <a:rPr lang="en-US" sz="2000" dirty="0">
                    <a:latin typeface="Arial" panose="020B0604020202020204" pitchFamily="34" charset="0"/>
                    <a:cs typeface="Arial" panose="020B0604020202020204" pitchFamily="34" charset="0"/>
                  </a:rPr>
                  <a:t>spots in the next square meter?</a:t>
                </a:r>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Solution</a:t>
                </a:r>
                <a:r>
                  <a:rPr lang="en-US" sz="2000" dirty="0" smtClean="0">
                    <a:latin typeface="Arial" panose="020B0604020202020204" pitchFamily="34" charset="0"/>
                    <a:cs typeface="Arial" panose="020B0604020202020204" pitchFamily="34" charset="0"/>
                  </a:rPr>
                  <a:t>: Given </a:t>
                </a:r>
                <a:r>
                  <a:rPr lang="en-US" sz="2000" dirty="0">
                    <a:latin typeface="Arial" panose="020B0604020202020204" pitchFamily="34" charset="0"/>
                    <a:cs typeface="Arial" panose="020B0604020202020204" pitchFamily="34" charset="0"/>
                  </a:rPr>
                  <a:t>that </a:t>
                </a:r>
                <a14:m>
                  <m:oMath xmlns:m="http://schemas.openxmlformats.org/officeDocument/2006/math">
                    <m:r>
                      <a:rPr lang="en-US" sz="2000" i="1">
                        <a:latin typeface="Cambria Math" panose="02040503050406030204" pitchFamily="18" charset="0"/>
                      </a:rPr>
                      <m:t>𝜆</m:t>
                    </m:r>
                    <m:r>
                      <a:rPr lang="en-US" sz="2000" i="1">
                        <a:latin typeface="Cambria Math" panose="02040503050406030204" pitchFamily="18" charset="0"/>
                      </a:rPr>
                      <m:t>=3.</m:t>
                    </m:r>
                    <m:r>
                      <a:rPr lang="en-US" sz="2000" b="0" i="0" smtClean="0">
                        <a:latin typeface="Cambria Math" panose="02040503050406030204" pitchFamily="18" charset="0"/>
                      </a:rPr>
                      <m:t>4</m:t>
                    </m:r>
                  </m:oMath>
                </a14:m>
                <a:r>
                  <a:rPr lang="en-US" sz="2000" dirty="0" smtClean="0">
                    <a:latin typeface="Arial" panose="020B0604020202020204" pitchFamily="34" charset="0"/>
                    <a:cs typeface="Arial" panose="020B0604020202020204" pitchFamily="34" charset="0"/>
                  </a:rPr>
                  <a:t>, we have </a:t>
                </a:r>
                <a14:m>
                  <m:oMath xmlns:m="http://schemas.openxmlformats.org/officeDocument/2006/math">
                    <m:r>
                      <a:rPr lang="en-US" sz="2000" i="1">
                        <a:latin typeface="Cambria Math" panose="02040503050406030204" pitchFamily="18" charset="0"/>
                      </a:rPr>
                      <m:t>𝑓</m:t>
                    </m:r>
                    <m:d>
                      <m:dPr>
                        <m:ctrlPr>
                          <a:rPr lang="en-US" sz="2000" i="1">
                            <a:latin typeface="Cambria Math" panose="02040503050406030204" pitchFamily="18" charset="0"/>
                          </a:rPr>
                        </m:ctrlPr>
                      </m:dPr>
                      <m:e>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𝜆</m:t>
                        </m:r>
                      </m:e>
                    </m:d>
                    <m:r>
                      <a:rPr lang="en-US" sz="2000" i="1">
                        <a:latin typeface="Cambria Math" panose="02040503050406030204" pitchFamily="18" charset="0"/>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m:t>
                            </m:r>
                            <m:r>
                              <a:rPr lang="en-US" sz="2000" i="1">
                                <a:latin typeface="Cambria Math" panose="02040503050406030204" pitchFamily="18" charset="0"/>
                              </a:rPr>
                              <m:t>𝜆</m:t>
                            </m:r>
                          </m:sup>
                        </m:sSup>
                        <m:sSup>
                          <m:sSupPr>
                            <m:ctrlPr>
                              <a:rPr lang="en-US" sz="2000" i="1">
                                <a:latin typeface="Cambria Math" panose="02040503050406030204" pitchFamily="18" charset="0"/>
                              </a:rPr>
                            </m:ctrlPr>
                          </m:sSupPr>
                          <m:e>
                            <m:r>
                              <a:rPr lang="en-US" sz="2000" i="1">
                                <a:latin typeface="Cambria Math" panose="02040503050406030204" pitchFamily="18" charset="0"/>
                              </a:rPr>
                              <m:t>𝜆</m:t>
                            </m:r>
                          </m:e>
                          <m:sup>
                            <m:r>
                              <a:rPr lang="en-US" sz="2000" i="1">
                                <a:latin typeface="Cambria Math" panose="02040503050406030204" pitchFamily="18" charset="0"/>
                              </a:rPr>
                              <m:t>𝑥</m:t>
                            </m:r>
                          </m:sup>
                        </m:sSup>
                      </m:num>
                      <m:den>
                        <m:r>
                          <a:rPr lang="en-US" sz="2000" i="1">
                            <a:latin typeface="Cambria Math" panose="02040503050406030204" pitchFamily="18" charset="0"/>
                          </a:rPr>
                          <m:t>𝑥</m:t>
                        </m:r>
                        <m:r>
                          <a:rPr lang="en-US" sz="2000" i="1">
                            <a:latin typeface="Cambria Math" panose="02040503050406030204" pitchFamily="18" charset="0"/>
                          </a:rPr>
                          <m:t>!</m:t>
                        </m:r>
                      </m:den>
                    </m:f>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𝑥</m:t>
                    </m:r>
                    <m:r>
                      <a:rPr lang="en-US" sz="2000" i="1">
                        <a:latin typeface="Cambria Math" panose="02040503050406030204" pitchFamily="18" charset="0"/>
                      </a:rPr>
                      <m:t>=0, 1, 2, …</m:t>
                    </m:r>
                  </m:oMath>
                </a14:m>
                <a:endParaRPr lang="en-US" sz="2000" dirty="0" smtClean="0">
                  <a:latin typeface="Arial" panose="020B0604020202020204" pitchFamily="34" charset="0"/>
                  <a:cs typeface="Arial" panose="020B0604020202020204" pitchFamily="34" charset="0"/>
                </a:endParaRPr>
              </a:p>
              <a:p>
                <a:pPr algn="just">
                  <a:lnSpc>
                    <a:spcPct val="150000"/>
                  </a:lnSpc>
                </a:pPr>
                <a:r>
                  <a:rPr lang="en-US" sz="2000" dirty="0" smtClean="0">
                    <a:latin typeface="Arial" panose="020B0604020202020204" pitchFamily="34" charset="0"/>
                    <a:cs typeface="Arial" panose="020B0604020202020204" pitchFamily="34" charset="0"/>
                  </a:rPr>
                  <a:t>	(a)</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=2</m:t>
                        </m:r>
                      </m:e>
                    </m:d>
                    <m:r>
                      <a:rPr lang="en-US" sz="2000" i="1">
                        <a:latin typeface="Cambria Math" panose="02040503050406030204" pitchFamily="18" charset="0"/>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b="0" i="1" smtClean="0">
                                <a:latin typeface="Cambria Math" panose="02040503050406030204" pitchFamily="18" charset="0"/>
                              </a:rPr>
                              <m:t>𝑒</m:t>
                            </m:r>
                          </m:e>
                          <m:sup>
                            <m:r>
                              <a:rPr lang="en-US" sz="2000" i="1">
                                <a:latin typeface="Cambria Math" panose="02040503050406030204" pitchFamily="18" charset="0"/>
                              </a:rPr>
                              <m:t>−</m:t>
                            </m:r>
                            <m:r>
                              <a:rPr lang="en-US" sz="2000" b="0" i="1" smtClean="0">
                                <a:latin typeface="Cambria Math" panose="02040503050406030204" pitchFamily="18" charset="0"/>
                              </a:rPr>
                              <m:t>3.4</m:t>
                            </m:r>
                          </m:sup>
                        </m:sSup>
                        <m:sSup>
                          <m:sSupPr>
                            <m:ctrlPr>
                              <a:rPr lang="en-US" sz="2000" i="1">
                                <a:latin typeface="Cambria Math" panose="02040503050406030204" pitchFamily="18" charset="0"/>
                              </a:rPr>
                            </m:ctrlPr>
                          </m:sSupPr>
                          <m:e>
                            <m:r>
                              <a:rPr lang="en-US" sz="2000" b="0" i="1" smtClean="0">
                                <a:latin typeface="Cambria Math" panose="02040503050406030204" pitchFamily="18" charset="0"/>
                              </a:rPr>
                              <m:t>3.4</m:t>
                            </m:r>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2</m:t>
                        </m:r>
                        <m:r>
                          <a:rPr lang="en-US" sz="2000" i="1">
                            <a:latin typeface="Cambria Math" panose="02040503050406030204" pitchFamily="18" charset="0"/>
                          </a:rPr>
                          <m:t>!</m:t>
                        </m:r>
                      </m:den>
                    </m:f>
                    <m:r>
                      <a:rPr lang="en-US" sz="2000" i="1">
                        <a:latin typeface="Cambria Math" panose="02040503050406030204" pitchFamily="18" charset="0"/>
                      </a:rPr>
                      <m:t>=0.1</m:t>
                    </m:r>
                    <m:r>
                      <a:rPr lang="en-US" sz="2000" b="0" i="1" smtClean="0">
                        <a:latin typeface="Cambria Math" panose="02040503050406030204" pitchFamily="18" charset="0"/>
                      </a:rPr>
                      <m:t>929</m:t>
                    </m:r>
                  </m:oMath>
                </a14:m>
                <a:r>
                  <a:rPr lang="en-US" sz="2000" dirty="0">
                    <a:latin typeface="Arial" panose="020B0604020202020204" pitchFamily="34" charset="0"/>
                    <a:cs typeface="Arial" panose="020B0604020202020204" pitchFamily="34" charset="0"/>
                  </a:rPr>
                  <a:t> </a:t>
                </a:r>
                <a:endParaRPr lang="en-US" sz="2000" dirty="0" smtClean="0">
                  <a:latin typeface="Arial" panose="020B0604020202020204" pitchFamily="34" charset="0"/>
                  <a:cs typeface="Arial" panose="020B0604020202020204" pitchFamily="34" charset="0"/>
                </a:endParaRPr>
              </a:p>
              <a:p>
                <a:pPr algn="just">
                  <a:lnSpc>
                    <a:spcPct val="150000"/>
                  </a:lnSpc>
                </a:pPr>
                <a:r>
                  <a:rPr lang="en-US" sz="2000" dirty="0" smtClean="0">
                    <a:latin typeface="Arial" panose="020B0604020202020204" pitchFamily="34" charset="0"/>
                    <a:cs typeface="Arial" panose="020B0604020202020204" pitchFamily="34" charset="0"/>
                  </a:rPr>
                  <a:t>	(b)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b="0" i="1" smtClean="0">
                            <a:latin typeface="Cambria Math" panose="02040503050406030204" pitchFamily="18" charset="0"/>
                          </a:rPr>
                          <m:t>≤</m:t>
                        </m:r>
                        <m:r>
                          <a:rPr lang="en-US" sz="2000" i="1">
                            <a:latin typeface="Cambria Math" panose="02040503050406030204" pitchFamily="18" charset="0"/>
                          </a:rPr>
                          <m:t>2</m:t>
                        </m:r>
                      </m:e>
                    </m:d>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=0</m:t>
                        </m:r>
                      </m:e>
                    </m:d>
                    <m:r>
                      <a:rPr lang="en-US" sz="2000" b="0" i="1" smtClean="0">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=1</m:t>
                        </m:r>
                      </m:e>
                    </m:d>
                    <m:r>
                      <a:rPr lang="en-US" sz="2000" b="0" i="1" smtClean="0">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=2</m:t>
                        </m:r>
                      </m:e>
                    </m:d>
                    <m:r>
                      <a:rPr lang="en-US" sz="2000" b="0" i="1" smtClean="0">
                        <a:latin typeface="Cambria Math" panose="02040503050406030204" pitchFamily="18" charset="0"/>
                      </a:rPr>
                      <m:t>=0.0334+0.1135+</m:t>
                    </m:r>
                    <m:r>
                      <a:rPr lang="en-US" sz="2000" i="1">
                        <a:latin typeface="Cambria Math" panose="02040503050406030204" pitchFamily="18" charset="0"/>
                      </a:rPr>
                      <m:t>0.1929</m:t>
                    </m:r>
                    <m:r>
                      <a:rPr lang="en-US" sz="2000" b="0" i="1" smtClean="0">
                        <a:latin typeface="Cambria Math" panose="02040503050406030204" pitchFamily="18" charset="0"/>
                      </a:rPr>
                      <m:t>=0.3398</m:t>
                    </m:r>
                  </m:oMath>
                </a14:m>
                <a:endParaRPr lang="en-US" sz="2000" dirty="0" smtClean="0">
                  <a:latin typeface="Arial" panose="020B0604020202020204" pitchFamily="34" charset="0"/>
                  <a:cs typeface="Arial" panose="020B0604020202020204" pitchFamily="34" charset="0"/>
                </a:endParaRPr>
              </a:p>
              <a:p>
                <a:pPr algn="just">
                  <a:lnSpc>
                    <a:spcPct val="150000"/>
                  </a:lnSpc>
                </a:pPr>
                <a:r>
                  <a:rPr lang="en-US" sz="2000" dirty="0" smtClean="0">
                    <a:latin typeface="Arial" panose="020B0604020202020204" pitchFamily="34" charset="0"/>
                    <a:cs typeface="Arial" panose="020B0604020202020204" pitchFamily="34" charset="0"/>
                  </a:rPr>
                  <a:t>	(c)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b="0" i="1" smtClean="0">
                            <a:latin typeface="Cambria Math" panose="02040503050406030204" pitchFamily="18" charset="0"/>
                          </a:rPr>
                          <m:t>≥3</m:t>
                        </m:r>
                      </m:e>
                    </m:d>
                    <m:r>
                      <a:rPr lang="en-US" sz="2000" i="1">
                        <a:latin typeface="Cambria Math" panose="02040503050406030204" pitchFamily="18" charset="0"/>
                      </a:rPr>
                      <m:t>=</m:t>
                    </m:r>
                    <m:r>
                      <a:rPr lang="en-US" sz="2000" b="0" i="1" smtClean="0">
                        <a:latin typeface="Cambria Math" panose="02040503050406030204" pitchFamily="18" charset="0"/>
                      </a:rPr>
                      <m:t>1−</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≤2</m:t>
                        </m:r>
                      </m:e>
                    </m:d>
                    <m:r>
                      <a:rPr lang="en-US" sz="2000" b="0" i="1" smtClean="0">
                        <a:latin typeface="Cambria Math" panose="02040503050406030204" pitchFamily="18" charset="0"/>
                      </a:rPr>
                      <m:t>=1−0.3398=0.6602</m:t>
                    </m:r>
                  </m:oMath>
                </a14:m>
                <a:endParaRPr lang="en-US" sz="2000" dirty="0" smtClean="0">
                  <a:latin typeface="Arial" panose="020B0604020202020204" pitchFamily="34" charset="0"/>
                  <a:cs typeface="Arial" panose="020B0604020202020204" pitchFamily="34" charset="0"/>
                </a:endParaRPr>
              </a:p>
              <a:p>
                <a:pPr algn="l"/>
                <a:r>
                  <a:rPr lang="en-US" sz="2000" dirty="0">
                    <a:latin typeface="Arial" panose="020B0604020202020204" pitchFamily="34" charset="0"/>
                    <a:cs typeface="Arial" panose="020B0604020202020204" pitchFamily="34" charset="0"/>
                  </a:rPr>
                  <a:t>	</a:t>
                </a:r>
                <a:endParaRPr lang="en-US" sz="2000" b="0" i="1" dirty="0" smtClean="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548111" y="658906"/>
                <a:ext cx="10831132" cy="5849470"/>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10678469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0794"/>
            <a:ext cx="9144000" cy="605308"/>
          </a:xfrm>
        </p:spPr>
        <p:txBody>
          <a:bodyPr>
            <a:noAutofit/>
          </a:bodyPr>
          <a:lstStyle/>
          <a:p>
            <a:r>
              <a:rPr lang="en-US" sz="2400" b="1" dirty="0" smtClean="0">
                <a:latin typeface="Arial" panose="020B0604020202020204" pitchFamily="34" charset="0"/>
                <a:cs typeface="Arial" panose="020B0604020202020204" pitchFamily="34" charset="0"/>
              </a:rPr>
              <a:t>Poisson Distribution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559410" y="645459"/>
                <a:ext cx="10831132" cy="6212541"/>
              </a:xfrm>
            </p:spPr>
            <p:txBody>
              <a:bodyPr>
                <a:noAutofit/>
              </a:bodyPr>
              <a:lstStyle/>
              <a:p>
                <a:pPr algn="just">
                  <a:lnSpc>
                    <a:spcPct val="150000"/>
                  </a:lnSpc>
                </a:pPr>
                <a:endParaRPr lang="en-US" sz="2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Problem</a:t>
                </a:r>
                <a:r>
                  <a:rPr lang="en-US" sz="2000" dirty="0">
                    <a:latin typeface="Arial" panose="020B0604020202020204" pitchFamily="34" charset="0"/>
                    <a:cs typeface="Arial" panose="020B0604020202020204" pitchFamily="34" charset="0"/>
                  </a:rPr>
                  <a:t>: The average number of meteors found by a radar system in any one-minute interval under specified conditions is 3.62. Assume the meteors appear randomly and independently. (a) What is the probability that no meteors are found in a 30-second interval? (b) What is the probability of observing at least four but not more than six meteors in two minutes of observation? (c</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Find the mean and standard deviation of meteors found in three minutes interval.</a:t>
                </a:r>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Solution</a:t>
                </a:r>
                <a:r>
                  <a:rPr lang="en-US" sz="2000" dirty="0" smtClean="0">
                    <a:latin typeface="Arial" panose="020B0604020202020204" pitchFamily="34" charset="0"/>
                    <a:cs typeface="Arial" panose="020B0604020202020204" pitchFamily="34" charset="0"/>
                  </a:rPr>
                  <a:t>: Given </a:t>
                </a:r>
                <a:r>
                  <a:rPr lang="en-US" sz="2000" dirty="0">
                    <a:latin typeface="Arial" panose="020B0604020202020204" pitchFamily="34" charset="0"/>
                    <a:cs typeface="Arial" panose="020B0604020202020204" pitchFamily="34" charset="0"/>
                  </a:rPr>
                  <a:t>that </a:t>
                </a:r>
                <a14:m>
                  <m:oMath xmlns:m="http://schemas.openxmlformats.org/officeDocument/2006/math">
                    <m:r>
                      <a:rPr lang="en-US" sz="2000" i="1">
                        <a:latin typeface="Cambria Math" panose="02040503050406030204" pitchFamily="18" charset="0"/>
                      </a:rPr>
                      <m:t>𝜆</m:t>
                    </m:r>
                    <m:r>
                      <a:rPr lang="en-US" sz="2000" i="1">
                        <a:latin typeface="Cambria Math" panose="02040503050406030204" pitchFamily="18" charset="0"/>
                      </a:rPr>
                      <m:t>=3.62</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min</m:t>
                    </m:r>
                    <m:r>
                      <a:rPr lang="en-US" sz="2000" b="0" i="0" smtClean="0">
                        <a:latin typeface="Cambria Math" panose="02040503050406030204" pitchFamily="18" charset="0"/>
                      </a:rPr>
                      <m:t>, </m:t>
                    </m:r>
                  </m:oMath>
                </a14:m>
                <a:endParaRPr lang="en-US" sz="2000" dirty="0" smtClean="0">
                  <a:latin typeface="Arial" panose="020B0604020202020204" pitchFamily="34" charset="0"/>
                  <a:cs typeface="Arial" panose="020B0604020202020204" pitchFamily="34" charset="0"/>
                </a:endParaRPr>
              </a:p>
              <a:p>
                <a:pPr algn="just">
                  <a:lnSpc>
                    <a:spcPct val="150000"/>
                  </a:lnSpc>
                </a:pP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(a) we have </a:t>
                </a:r>
                <a14:m>
                  <m:oMath xmlns:m="http://schemas.openxmlformats.org/officeDocument/2006/math">
                    <m:r>
                      <a:rPr lang="en-US" sz="2000" i="1">
                        <a:latin typeface="Cambria Math" panose="02040503050406030204" pitchFamily="18" charset="0"/>
                      </a:rPr>
                      <m:t>𝜆</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3.62</m:t>
                        </m:r>
                      </m:num>
                      <m:den>
                        <m:r>
                          <a:rPr lang="en-US" sz="2000" i="1">
                            <a:latin typeface="Cambria Math" panose="02040503050406030204" pitchFamily="18" charset="0"/>
                          </a:rPr>
                          <m:t>2</m:t>
                        </m:r>
                      </m:den>
                    </m:f>
                    <m:r>
                      <a:rPr lang="en-US" sz="2000" i="1">
                        <a:latin typeface="Cambria Math" panose="02040503050406030204" pitchFamily="18" charset="0"/>
                      </a:rPr>
                      <m:t>=1.81</m:t>
                    </m:r>
                  </m:oMath>
                </a14:m>
                <a:r>
                  <a:rPr lang="en-US" sz="2000" dirty="0" smtClean="0">
                    <a:latin typeface="Arial" panose="020B0604020202020204" pitchFamily="34" charset="0"/>
                    <a:cs typeface="Arial" panose="020B0604020202020204" pitchFamily="34" charset="0"/>
                  </a:rPr>
                  <a:t> and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=0</m:t>
                        </m:r>
                      </m:e>
                    </m:d>
                    <m:r>
                      <a:rPr lang="en-US" sz="2000" i="1">
                        <a:latin typeface="Cambria Math" panose="02040503050406030204" pitchFamily="18" charset="0"/>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b="0" i="1" smtClean="0">
                                <a:latin typeface="Cambria Math" panose="02040503050406030204" pitchFamily="18" charset="0"/>
                              </a:rPr>
                              <m:t>𝑒</m:t>
                            </m:r>
                          </m:e>
                          <m:sup>
                            <m:r>
                              <a:rPr lang="en-US" sz="2000" i="1">
                                <a:latin typeface="Cambria Math" panose="02040503050406030204" pitchFamily="18" charset="0"/>
                              </a:rPr>
                              <m:t>−1.81</m:t>
                            </m:r>
                          </m:sup>
                        </m:sSup>
                        <m:sSup>
                          <m:sSupPr>
                            <m:ctrlPr>
                              <a:rPr lang="en-US" sz="2000" i="1">
                                <a:latin typeface="Cambria Math" panose="02040503050406030204" pitchFamily="18" charset="0"/>
                              </a:rPr>
                            </m:ctrlPr>
                          </m:sSupPr>
                          <m:e>
                            <m:r>
                              <a:rPr lang="en-US" sz="2000" i="1">
                                <a:latin typeface="Cambria Math" panose="02040503050406030204" pitchFamily="18" charset="0"/>
                              </a:rPr>
                              <m:t>1.81</m:t>
                            </m:r>
                          </m:e>
                          <m:sup>
                            <m:r>
                              <a:rPr lang="en-US" sz="2000" i="1">
                                <a:latin typeface="Cambria Math" panose="02040503050406030204" pitchFamily="18" charset="0"/>
                              </a:rPr>
                              <m:t>0</m:t>
                            </m:r>
                          </m:sup>
                        </m:sSup>
                      </m:num>
                      <m:den>
                        <m:r>
                          <a:rPr lang="en-US" sz="2000" i="1">
                            <a:latin typeface="Cambria Math" panose="02040503050406030204" pitchFamily="18" charset="0"/>
                          </a:rPr>
                          <m:t>0!</m:t>
                        </m:r>
                      </m:den>
                    </m:f>
                    <m:r>
                      <a:rPr lang="en-US" sz="2000" i="1">
                        <a:latin typeface="Cambria Math" panose="02040503050406030204" pitchFamily="18" charset="0"/>
                      </a:rPr>
                      <m:t>=0.164</m:t>
                    </m:r>
                  </m:oMath>
                </a14:m>
                <a:r>
                  <a:rPr lang="en-US" sz="2000" dirty="0">
                    <a:latin typeface="Arial" panose="020B0604020202020204" pitchFamily="34" charset="0"/>
                    <a:cs typeface="Arial" panose="020B0604020202020204" pitchFamily="34" charset="0"/>
                  </a:rPr>
                  <a:t> </a:t>
                </a:r>
                <a:endParaRPr lang="en-US" sz="2000" dirty="0" smtClean="0">
                  <a:latin typeface="Arial" panose="020B0604020202020204" pitchFamily="34" charset="0"/>
                  <a:cs typeface="Arial" panose="020B0604020202020204" pitchFamily="34" charset="0"/>
                </a:endParaRPr>
              </a:p>
              <a:p>
                <a:pPr algn="l"/>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(b) Here </a:t>
                </a:r>
                <a14:m>
                  <m:oMath xmlns:m="http://schemas.openxmlformats.org/officeDocument/2006/math">
                    <m:r>
                      <a:rPr lang="en-US" sz="2000" i="1">
                        <a:latin typeface="Cambria Math" panose="02040503050406030204" pitchFamily="18" charset="0"/>
                      </a:rPr>
                      <m:t>𝜆</m:t>
                    </m:r>
                    <m:r>
                      <a:rPr lang="en-US" sz="2000" i="1">
                        <a:latin typeface="Cambria Math" panose="02040503050406030204" pitchFamily="18" charset="0"/>
                      </a:rPr>
                      <m:t>=3.62×2=7.24</m:t>
                    </m:r>
                  </m:oMath>
                </a14:m>
                <a:endParaRPr lang="en-US" sz="2000" dirty="0">
                  <a:latin typeface="Arial" panose="020B0604020202020204" pitchFamily="34" charset="0"/>
                  <a:cs typeface="Arial" panose="020B0604020202020204" pitchFamily="34" charset="0"/>
                </a:endParaRPr>
              </a:p>
              <a:p>
                <a:r>
                  <a:rPr lang="en-US" sz="2000" dirty="0" smtClean="0"/>
                  <a:t>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4≤</m:t>
                        </m:r>
                        <m:r>
                          <a:rPr lang="en-US" sz="2000" i="1">
                            <a:latin typeface="Cambria Math" panose="02040503050406030204" pitchFamily="18" charset="0"/>
                          </a:rPr>
                          <m:t>𝑋</m:t>
                        </m:r>
                        <m:r>
                          <a:rPr lang="en-US" sz="2000" i="1">
                            <a:latin typeface="Cambria Math" panose="02040503050406030204" pitchFamily="18" charset="0"/>
                          </a:rPr>
                          <m:t>≤6</m:t>
                        </m:r>
                      </m:e>
                    </m:d>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=4</m:t>
                        </m:r>
                      </m:e>
                    </m:d>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=5</m:t>
                        </m:r>
                      </m:e>
                    </m:d>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=6</m:t>
                        </m:r>
                      </m:e>
                    </m:d>
                    <m:r>
                      <a:rPr lang="en-US" sz="2000" i="1">
                        <a:latin typeface="Cambria Math" panose="02040503050406030204" pitchFamily="18" charset="0"/>
                      </a:rPr>
                      <m:t>=0.082+0.119+0.143=0.344</m:t>
                    </m:r>
                  </m:oMath>
                </a14:m>
                <a:r>
                  <a:rPr lang="en-US" sz="2000" dirty="0">
                    <a:latin typeface="Arial" panose="020B0604020202020204" pitchFamily="34" charset="0"/>
                    <a:cs typeface="Arial" panose="020B0604020202020204" pitchFamily="34" charset="0"/>
                  </a:rPr>
                  <a:t> </a:t>
                </a:r>
                <a:endParaRPr lang="en-US" sz="2000" dirty="0" smtClean="0">
                  <a:latin typeface="Arial" panose="020B0604020202020204" pitchFamily="34" charset="0"/>
                  <a:cs typeface="Arial" panose="020B0604020202020204" pitchFamily="34" charset="0"/>
                </a:endParaRPr>
              </a:p>
              <a:p>
                <a:pPr algn="l"/>
                <a:r>
                  <a:rPr lang="en-US" sz="2000" dirty="0" smtClean="0">
                    <a:latin typeface="Arial" panose="020B0604020202020204" pitchFamily="34" charset="0"/>
                    <a:cs typeface="Arial" panose="020B0604020202020204" pitchFamily="34" charset="0"/>
                  </a:rPr>
                  <a:t>	(c) Here </a:t>
                </a:r>
                <a14:m>
                  <m:oMath xmlns:m="http://schemas.openxmlformats.org/officeDocument/2006/math">
                    <m:r>
                      <a:rPr lang="en-US" sz="2000" i="1" smtClean="0">
                        <a:latin typeface="Cambria Math" panose="02040503050406030204" pitchFamily="18" charset="0"/>
                      </a:rPr>
                      <m:t>𝜆</m:t>
                    </m:r>
                    <m:r>
                      <a:rPr lang="en-US" sz="2000" i="1">
                        <a:latin typeface="Cambria Math" panose="02040503050406030204" pitchFamily="18" charset="0"/>
                      </a:rPr>
                      <m:t>=3.62×3=10.86</m:t>
                    </m:r>
                  </m:oMath>
                </a14:m>
                <a:endParaRPr lang="en-US" sz="2000" i="1" dirty="0" smtClean="0">
                  <a:latin typeface="Cambria Math" panose="02040503050406030204" pitchFamily="18" charset="0"/>
                </a:endParaRPr>
              </a:p>
              <a:p>
                <a:pPr algn="l"/>
                <a:r>
                  <a:rPr lang="en-US" sz="2000" dirty="0" smtClean="0"/>
                  <a:t>	     </a:t>
                </a:r>
                <a14:m>
                  <m:oMath xmlns:m="http://schemas.openxmlformats.org/officeDocument/2006/math">
                    <m:r>
                      <a:rPr lang="en-US" sz="2000" i="1">
                        <a:latin typeface="Cambria Math" panose="02040503050406030204" pitchFamily="18" charset="0"/>
                      </a:rPr>
                      <m:t>𝜇</m:t>
                    </m:r>
                    <m:r>
                      <a:rPr lang="en-US" sz="2000" i="1">
                        <a:latin typeface="Cambria Math" panose="02040503050406030204" pitchFamily="18" charset="0"/>
                      </a:rPr>
                      <m:t>=</m:t>
                    </m:r>
                    <m:r>
                      <a:rPr lang="en-US" sz="2000" i="1">
                        <a:latin typeface="Cambria Math" panose="02040503050406030204" pitchFamily="18" charset="0"/>
                      </a:rPr>
                      <m:t>𝜆</m:t>
                    </m:r>
                    <m:r>
                      <a:rPr lang="en-US" sz="2000" i="1">
                        <a:latin typeface="Cambria Math" panose="02040503050406030204" pitchFamily="18" charset="0"/>
                      </a:rPr>
                      <m:t>=10.86</m:t>
                    </m:r>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𝜎</m:t>
                    </m:r>
                    <m:r>
                      <a:rPr lang="en-US" sz="2000" i="1">
                        <a:latin typeface="Cambria Math" panose="02040503050406030204" pitchFamily="18" charset="0"/>
                      </a:rPr>
                      <m:t>=</m:t>
                    </m:r>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𝜆</m:t>
                        </m:r>
                      </m:e>
                    </m:rad>
                    <m:r>
                      <a:rPr lang="en-US" sz="2000" i="1">
                        <a:latin typeface="Cambria Math" panose="02040503050406030204" pitchFamily="18" charset="0"/>
                      </a:rPr>
                      <m:t>=</m:t>
                    </m:r>
                    <m:rad>
                      <m:radPr>
                        <m:degHide m:val="on"/>
                        <m:ctrlPr>
                          <a:rPr lang="en-US" sz="2000" i="1">
                            <a:latin typeface="Cambria Math" panose="02040503050406030204" pitchFamily="18" charset="0"/>
                          </a:rPr>
                        </m:ctrlPr>
                      </m:radPr>
                      <m:deg/>
                      <m:e>
                        <m:r>
                          <a:rPr lang="en-US" sz="2000" i="1">
                            <a:latin typeface="Cambria Math" panose="02040503050406030204" pitchFamily="18" charset="0"/>
                          </a:rPr>
                          <m:t>10.86</m:t>
                        </m:r>
                      </m:e>
                    </m:rad>
                    <m:r>
                      <a:rPr lang="en-US" sz="2000" i="1">
                        <a:latin typeface="Cambria Math" panose="02040503050406030204" pitchFamily="18" charset="0"/>
                      </a:rPr>
                      <m:t>=3.3</m:t>
                    </m:r>
                  </m:oMath>
                </a14:m>
                <a:r>
                  <a:rPr lang="en-US" sz="2000" dirty="0">
                    <a:latin typeface="Arial" panose="020B0604020202020204" pitchFamily="34" charset="0"/>
                    <a:cs typeface="Arial" panose="020B0604020202020204" pitchFamily="34" charset="0"/>
                  </a:rPr>
                  <a:t> </a:t>
                </a:r>
              </a:p>
              <a:p>
                <a:pPr marL="342900" indent="-342900" algn="just">
                  <a:lnSpc>
                    <a:spcPct val="150000"/>
                  </a:lnSpc>
                  <a:buFont typeface="Arial" panose="020B0604020202020204" pitchFamily="34" charset="0"/>
                  <a:buChar char="•"/>
                </a:pPr>
                <a:endParaRPr lang="en-US" sz="2000" b="0" i="1" dirty="0" smtClean="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559410" y="645459"/>
                <a:ext cx="10831132" cy="6212541"/>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7855350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0794"/>
            <a:ext cx="9144000" cy="605308"/>
          </a:xfrm>
        </p:spPr>
        <p:txBody>
          <a:bodyPr>
            <a:noAutofit/>
          </a:bodyPr>
          <a:lstStyle/>
          <a:p>
            <a:r>
              <a:rPr lang="en-US" sz="2400" b="1" dirty="0" smtClean="0">
                <a:latin typeface="Arial" panose="020B0604020202020204" pitchFamily="34" charset="0"/>
                <a:cs typeface="Arial" panose="020B0604020202020204" pitchFamily="34" charset="0"/>
              </a:rPr>
              <a:t>Poisson Distribution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548111" y="658906"/>
                <a:ext cx="10831132" cy="5849470"/>
              </a:xfrm>
            </p:spPr>
            <p:txBody>
              <a:bodyPr>
                <a:noAutofit/>
              </a:bodyPr>
              <a:lstStyle/>
              <a:p>
                <a:pPr algn="just">
                  <a:lnSpc>
                    <a:spcPct val="150000"/>
                  </a:lnSpc>
                </a:pPr>
                <a:endParaRPr lang="en-US" sz="2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a:t>
                </a:r>
                <a:r>
                  <a:rPr lang="en-US" sz="2000" dirty="0" smtClean="0">
                    <a:latin typeface="Arial" panose="020B0604020202020204" pitchFamily="34" charset="0"/>
                    <a:cs typeface="Arial" panose="020B0604020202020204" pitchFamily="34" charset="0"/>
                  </a:rPr>
                  <a:t>: Automobile battery of a particular brand malfunctions with probability 0.001. Use two different distributions to calculate the probability that at least one out of 1000 batteries will malfunction. </a:t>
                </a: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Binomial distribution</a:t>
                </a:r>
                <a:r>
                  <a:rPr lang="en-US" sz="2000" dirty="0" smtClean="0">
                    <a:latin typeface="Arial" panose="020B0604020202020204" pitchFamily="34" charset="0"/>
                    <a:cs typeface="Arial" panose="020B0604020202020204" pitchFamily="34" charset="0"/>
                  </a:rPr>
                  <a:t>: Given that success probability , </a:t>
                </a:r>
                <a14:m>
                  <m:oMath xmlns:m="http://schemas.openxmlformats.org/officeDocument/2006/math">
                    <m:r>
                      <a:rPr lang="en-US" sz="2000" b="0" i="1" smtClean="0">
                        <a:latin typeface="Cambria Math" panose="02040503050406030204" pitchFamily="18" charset="0"/>
                        <a:cs typeface="Arial" panose="020B0604020202020204" pitchFamily="34" charset="0"/>
                      </a:rPr>
                      <m:t>𝑝</m:t>
                    </m:r>
                    <m:r>
                      <a:rPr lang="en-US" sz="2000" b="0" i="1" smtClean="0">
                        <a:latin typeface="Cambria Math" panose="02040503050406030204" pitchFamily="18" charset="0"/>
                        <a:cs typeface="Arial" panose="020B0604020202020204" pitchFamily="34" charset="0"/>
                      </a:rPr>
                      <m:t>=0.001</m:t>
                    </m:r>
                  </m:oMath>
                </a14:m>
                <a:r>
                  <a:rPr lang="en-US" sz="2000" dirty="0" smtClean="0">
                    <a:latin typeface="Arial" panose="020B0604020202020204" pitchFamily="34" charset="0"/>
                    <a:cs typeface="Arial" panose="020B0604020202020204" pitchFamily="34" charset="0"/>
                  </a:rPr>
                  <a:t>, let </a:t>
                </a:r>
                <a14:m>
                  <m:oMath xmlns:m="http://schemas.openxmlformats.org/officeDocument/2006/math">
                    <m:r>
                      <a:rPr lang="en-US" sz="2000" b="0" i="1" smtClean="0">
                        <a:latin typeface="Cambria Math" panose="02040503050406030204" pitchFamily="18" charset="0"/>
                        <a:cs typeface="Arial" panose="020B0604020202020204" pitchFamily="34" charset="0"/>
                      </a:rPr>
                      <m:t>𝑋</m:t>
                    </m:r>
                    <m:r>
                      <a:rPr lang="en-US" sz="2000" b="0" i="1" smtClean="0">
                        <a:latin typeface="Cambria Math" panose="02040503050406030204" pitchFamily="18" charset="0"/>
                        <a:cs typeface="Arial" panose="020B0604020202020204" pitchFamily="34" charset="0"/>
                      </a:rPr>
                      <m:t>:</m:t>
                    </m:r>
                  </m:oMath>
                </a14:m>
                <a:r>
                  <a:rPr lang="en-US" sz="2000" dirty="0" smtClean="0">
                    <a:latin typeface="Arial" panose="020B0604020202020204" pitchFamily="34" charset="0"/>
                    <a:cs typeface="Arial" panose="020B0604020202020204" pitchFamily="34" charset="0"/>
                  </a:rPr>
                  <a:t> number of batteries out of 1000 that will malfunction. Then </a:t>
                </a:r>
                <a14:m>
                  <m:oMath xmlns:m="http://schemas.openxmlformats.org/officeDocument/2006/math">
                    <m:r>
                      <a:rPr lang="en-US" sz="2000" i="1">
                        <a:latin typeface="Cambria Math" panose="02040503050406030204" pitchFamily="18" charset="0"/>
                        <a:cs typeface="Arial" panose="020B0604020202020204" pitchFamily="34" charset="0"/>
                      </a:rPr>
                      <m:t>𝑋</m:t>
                    </m:r>
                    <m:r>
                      <a:rPr lang="en-US" sz="2000" i="1">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Bin</a:t>
                </a:r>
                <a14:m>
                  <m:oMath xmlns:m="http://schemas.openxmlformats.org/officeDocument/2006/math">
                    <m:d>
                      <m:dPr>
                        <m:ctrlPr>
                          <a:rPr lang="en-US" sz="2000" i="1" dirty="0">
                            <a:latin typeface="Cambria Math" panose="02040503050406030204" pitchFamily="18" charset="0"/>
                            <a:cs typeface="Arial" panose="020B0604020202020204" pitchFamily="34" charset="0"/>
                          </a:rPr>
                        </m:ctrlPr>
                      </m:dPr>
                      <m:e>
                        <m:r>
                          <a:rPr lang="en-US" sz="2000" b="0" i="1" dirty="0" smtClean="0">
                            <a:latin typeface="Cambria Math" panose="02040503050406030204" pitchFamily="18" charset="0"/>
                            <a:cs typeface="Arial" panose="020B0604020202020204" pitchFamily="34" charset="0"/>
                          </a:rPr>
                          <m:t>1000</m:t>
                        </m:r>
                        <m:r>
                          <a:rPr lang="en-US" sz="2000" i="1" dirty="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0.001</m:t>
                        </m:r>
                      </m:e>
                    </m:d>
                  </m:oMath>
                </a14:m>
                <a:r>
                  <a:rPr lang="en-US" sz="2000" dirty="0" smtClean="0">
                    <a:latin typeface="Arial" panose="020B0604020202020204" pitchFamily="34" charset="0"/>
                    <a:cs typeface="Arial" panose="020B0604020202020204" pitchFamily="34" charset="0"/>
                  </a:rPr>
                  <a:t>. Now we have</a:t>
                </a:r>
                <a:r>
                  <a:rPr lang="en-US" sz="2000" dirty="0"/>
                  <a:t>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≥1</m:t>
                        </m:r>
                      </m:e>
                    </m:d>
                    <m:r>
                      <a:rPr lang="en-US" sz="2000" i="1">
                        <a:latin typeface="Cambria Math" panose="02040503050406030204" pitchFamily="18" charset="0"/>
                      </a:rPr>
                      <m:t>=1−</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=0</m:t>
                        </m:r>
                      </m:e>
                    </m:d>
                    <m:r>
                      <a:rPr lang="en-US" sz="2000" i="1">
                        <a:latin typeface="Cambria Math" panose="02040503050406030204" pitchFamily="18" charset="0"/>
                      </a:rPr>
                      <m:t>=1−0.3</m:t>
                    </m:r>
                    <m:r>
                      <a:rPr lang="en-US" sz="2000" b="0" i="1" smtClean="0">
                        <a:latin typeface="Cambria Math" panose="02040503050406030204" pitchFamily="18" charset="0"/>
                      </a:rPr>
                      <m:t>677</m:t>
                    </m:r>
                    <m:r>
                      <a:rPr lang="en-US" sz="2000" i="1">
                        <a:latin typeface="Cambria Math" panose="02040503050406030204" pitchFamily="18" charset="0"/>
                      </a:rPr>
                      <m:t>=</m:t>
                    </m:r>
                    <m:r>
                      <a:rPr lang="en-US" sz="2000" b="0" i="1" smtClean="0">
                        <a:latin typeface="Cambria Math" panose="02040503050406030204" pitchFamily="18" charset="0"/>
                      </a:rPr>
                      <m:t>0.6323</m:t>
                    </m:r>
                  </m:oMath>
                </a14:m>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Poisson </a:t>
                </a:r>
                <a:r>
                  <a:rPr lang="en-US" sz="2000" b="1" dirty="0">
                    <a:latin typeface="Arial" panose="020B0604020202020204" pitchFamily="34" charset="0"/>
                    <a:cs typeface="Arial" panose="020B0604020202020204" pitchFamily="34" charset="0"/>
                  </a:rPr>
                  <a:t>distribution</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As </a:t>
                </a:r>
                <a14:m>
                  <m:oMath xmlns:m="http://schemas.openxmlformats.org/officeDocument/2006/math">
                    <m:r>
                      <a:rPr lang="en-US" sz="2000" i="1">
                        <a:latin typeface="Cambria Math" panose="02040503050406030204" pitchFamily="18" charset="0"/>
                        <a:cs typeface="Arial" panose="020B0604020202020204" pitchFamily="34" charset="0"/>
                      </a:rPr>
                      <m:t>𝑛</m:t>
                    </m:r>
                    <m:r>
                      <a:rPr lang="en-US" sz="2000" i="1">
                        <a:latin typeface="Cambria Math" panose="02040503050406030204" pitchFamily="18" charset="0"/>
                        <a:ea typeface="Cambria Math" panose="02040503050406030204" pitchFamily="18" charset="0"/>
                        <a:cs typeface="Arial" panose="020B0604020202020204" pitchFamily="34" charset="0"/>
                      </a:rPr>
                      <m:t>→∞, </m:t>
                    </m:r>
                    <m:r>
                      <a:rPr lang="en-US" sz="2000" i="1">
                        <a:latin typeface="Cambria Math" panose="02040503050406030204" pitchFamily="18" charset="0"/>
                        <a:ea typeface="Cambria Math" panose="02040503050406030204" pitchFamily="18" charset="0"/>
                        <a:cs typeface="Arial" panose="020B0604020202020204" pitchFamily="34" charset="0"/>
                      </a:rPr>
                      <m:t>𝑝</m:t>
                    </m:r>
                    <m:r>
                      <a:rPr lang="en-US" sz="2000" i="1">
                        <a:latin typeface="Cambria Math" panose="02040503050406030204" pitchFamily="18" charset="0"/>
                        <a:ea typeface="Cambria Math" panose="02040503050406030204" pitchFamily="18" charset="0"/>
                        <a:cs typeface="Arial" panose="020B0604020202020204" pitchFamily="34" charset="0"/>
                      </a:rPr>
                      <m:t>→0</m:t>
                    </m:r>
                  </m:oMath>
                </a14:m>
                <a:r>
                  <a:rPr lang="en-US" sz="2000" dirty="0">
                    <a:latin typeface="Arial" panose="020B0604020202020204" pitchFamily="34" charset="0"/>
                    <a:cs typeface="Arial" panose="020B0604020202020204" pitchFamily="34" charset="0"/>
                  </a:rPr>
                  <a:t> such that </a:t>
                </a:r>
                <a14:m>
                  <m:oMath xmlns:m="http://schemas.openxmlformats.org/officeDocument/2006/math">
                    <m:r>
                      <a:rPr lang="en-US" sz="2000" i="1">
                        <a:latin typeface="Cambria Math" panose="02040503050406030204" pitchFamily="18" charset="0"/>
                        <a:cs typeface="Arial" panose="020B0604020202020204" pitchFamily="34" charset="0"/>
                      </a:rPr>
                      <m:t>𝑛𝑝</m:t>
                    </m:r>
                    <m:r>
                      <a:rPr lang="en-US" sz="2000" b="0" i="1" smtClean="0">
                        <a:latin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𝜆</m:t>
                    </m:r>
                    <m:r>
                      <a:rPr lang="en-US" sz="2000" b="0" i="1" smtClean="0">
                        <a:latin typeface="Cambria Math" panose="02040503050406030204" pitchFamily="18" charset="0"/>
                        <a:ea typeface="Cambria Math" panose="02040503050406030204" pitchFamily="18" charset="0"/>
                        <a:cs typeface="Arial" panose="020B0604020202020204" pitchFamily="34" charset="0"/>
                      </a:rPr>
                      <m:t>=1</m:t>
                    </m:r>
                  </m:oMath>
                </a14:m>
                <a:r>
                  <a:rPr lang="en-US" sz="2000" dirty="0" smtClean="0">
                    <a:latin typeface="Arial" panose="020B0604020202020204" pitchFamily="34" charset="0"/>
                    <a:cs typeface="Arial" panose="020B0604020202020204" pitchFamily="34" charset="0"/>
                  </a:rPr>
                  <a:t>, then </a:t>
                </a:r>
                <a14:m>
                  <m:oMath xmlns:m="http://schemas.openxmlformats.org/officeDocument/2006/math">
                    <m:r>
                      <a:rPr lang="en-US" sz="2000" i="1">
                        <a:latin typeface="Cambria Math" panose="02040503050406030204" pitchFamily="18" charset="0"/>
                        <a:cs typeface="Arial" panose="020B0604020202020204" pitchFamily="34" charset="0"/>
                      </a:rPr>
                      <m:t>𝑋</m:t>
                    </m:r>
                    <m:r>
                      <a:rPr lang="en-US" sz="2000" i="1">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Bin</a:t>
                </a:r>
                <a14:m>
                  <m:oMath xmlns:m="http://schemas.openxmlformats.org/officeDocument/2006/math">
                    <m:d>
                      <m:dPr>
                        <m:ctrlPr>
                          <a:rPr lang="en-US" sz="2000" i="1" dirty="0">
                            <a:latin typeface="Cambria Math" panose="02040503050406030204" pitchFamily="18" charset="0"/>
                            <a:cs typeface="Arial" panose="020B0604020202020204" pitchFamily="34" charset="0"/>
                          </a:rPr>
                        </m:ctrlPr>
                      </m:dPr>
                      <m:e>
                        <m:r>
                          <a:rPr lang="en-US" sz="2000" i="1" dirty="0">
                            <a:latin typeface="Cambria Math" panose="02040503050406030204" pitchFamily="18" charset="0"/>
                            <a:cs typeface="Arial" panose="020B0604020202020204" pitchFamily="34" charset="0"/>
                          </a:rPr>
                          <m:t>𝑛</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𝑝</m:t>
                        </m:r>
                      </m:e>
                    </m:d>
                  </m:oMath>
                </a14:m>
                <a:r>
                  <a:rPr lang="en-US" sz="2000" dirty="0" smtClean="0">
                    <a:latin typeface="Arial" panose="020B0604020202020204" pitchFamily="34" charset="0"/>
                    <a:cs typeface="Arial" panose="020B0604020202020204" pitchFamily="34" charset="0"/>
                  </a:rPr>
                  <a:t> can be approximated by </a:t>
                </a:r>
                <a14:m>
                  <m:oMath xmlns:m="http://schemas.openxmlformats.org/officeDocument/2006/math">
                    <m:r>
                      <a:rPr lang="en-US" sz="2000" i="1">
                        <a:latin typeface="Cambria Math" panose="02040503050406030204" pitchFamily="18" charset="0"/>
                        <a:cs typeface="Arial" panose="020B0604020202020204" pitchFamily="34" charset="0"/>
                      </a:rPr>
                      <m:t>𝑋</m:t>
                    </m:r>
                    <m:r>
                      <a:rPr lang="en-US" sz="2000" i="1">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Poi</a:t>
                </a:r>
                <a14:m>
                  <m:oMath xmlns:m="http://schemas.openxmlformats.org/officeDocument/2006/math">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𝜆</m:t>
                    </m:r>
                    <m:r>
                      <a:rPr lang="en-US" sz="2000" i="1" dirty="0">
                        <a:latin typeface="Cambria Math" panose="02040503050406030204" pitchFamily="18" charset="0"/>
                        <a:cs typeface="Arial" panose="020B0604020202020204" pitchFamily="34" charset="0"/>
                      </a:rPr>
                      <m:t>)</m:t>
                    </m:r>
                  </m:oMath>
                </a14:m>
                <a:endParaRPr lang="en-US" sz="2000" dirty="0" smtClean="0">
                  <a:latin typeface="Arial" panose="020B0604020202020204" pitchFamily="34" charset="0"/>
                  <a:cs typeface="Arial" panose="020B0604020202020204" pitchFamily="34" charset="0"/>
                </a:endParaRPr>
              </a:p>
              <a:p>
                <a:pPr algn="just">
                  <a:lnSpc>
                    <a:spcPct val="150000"/>
                  </a:lnSpc>
                </a:pPr>
                <a:r>
                  <a:rPr lang="en-US" sz="2000" dirty="0" smtClean="0">
                    <a:latin typeface="Arial" panose="020B0604020202020204" pitchFamily="34" charset="0"/>
                    <a:cs typeface="Arial" panose="020B0604020202020204" pitchFamily="34" charset="0"/>
                  </a:rPr>
                  <a:t>	Now </a:t>
                </a:r>
                <a:r>
                  <a:rPr lang="en-US" sz="2000" dirty="0">
                    <a:latin typeface="Arial" panose="020B0604020202020204" pitchFamily="34" charset="0"/>
                    <a:cs typeface="Arial" panose="020B0604020202020204" pitchFamily="34" charset="0"/>
                  </a:rPr>
                  <a:t>we have</a:t>
                </a:r>
                <a:r>
                  <a:rPr lang="en-US" sz="2000" dirty="0"/>
                  <a:t>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≥1</m:t>
                        </m:r>
                      </m:e>
                    </m:d>
                    <m:r>
                      <a:rPr lang="en-US" sz="2000" i="1">
                        <a:latin typeface="Cambria Math" panose="02040503050406030204" pitchFamily="18" charset="0"/>
                      </a:rPr>
                      <m:t>=1−</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=0</m:t>
                        </m:r>
                      </m:e>
                    </m:d>
                    <m:r>
                      <a:rPr lang="en-US" sz="2000" i="1">
                        <a:latin typeface="Cambria Math" panose="02040503050406030204" pitchFamily="18" charset="0"/>
                      </a:rPr>
                      <m:t>=1−0.367</m:t>
                    </m:r>
                    <m:r>
                      <a:rPr lang="en-US" sz="2000" b="0" i="1" smtClean="0">
                        <a:latin typeface="Cambria Math" panose="02040503050406030204" pitchFamily="18" charset="0"/>
                      </a:rPr>
                      <m:t>9</m:t>
                    </m:r>
                    <m:r>
                      <a:rPr lang="en-US" sz="2000" i="1">
                        <a:latin typeface="Cambria Math" panose="02040503050406030204" pitchFamily="18" charset="0"/>
                      </a:rPr>
                      <m:t>=0.632</m:t>
                    </m:r>
                    <m:r>
                      <a:rPr lang="en-US" sz="2000" b="0" i="1" smtClean="0">
                        <a:latin typeface="Cambria Math" panose="02040503050406030204" pitchFamily="18" charset="0"/>
                      </a:rPr>
                      <m:t>1</m:t>
                    </m:r>
                  </m:oMath>
                </a14:m>
                <a:endParaRPr lang="en-US" sz="2000" dirty="0">
                  <a:latin typeface="Arial" panose="020B0604020202020204" pitchFamily="34" charset="0"/>
                  <a:cs typeface="Arial" panose="020B0604020202020204" pitchFamily="34" charset="0"/>
                </a:endParaRPr>
              </a:p>
              <a:p>
                <a:pPr algn="just">
                  <a:lnSpc>
                    <a:spcPct val="150000"/>
                  </a:lnSpc>
                </a:pPr>
                <a:endParaRPr lang="en-US" sz="2000" dirty="0" smtClean="0">
                  <a:latin typeface="Arial" panose="020B0604020202020204" pitchFamily="34" charset="0"/>
                  <a:cs typeface="Arial" panose="020B0604020202020204" pitchFamily="34" charset="0"/>
                </a:endParaRPr>
              </a:p>
              <a:p>
                <a:pPr algn="l"/>
                <a:r>
                  <a:rPr lang="en-US" sz="2000" dirty="0">
                    <a:latin typeface="Arial" panose="020B0604020202020204" pitchFamily="34" charset="0"/>
                    <a:cs typeface="Arial" panose="020B0604020202020204" pitchFamily="34" charset="0"/>
                  </a:rPr>
                  <a:t>	</a:t>
                </a:r>
                <a:endParaRPr lang="en-US" sz="2000" b="0" i="1" dirty="0" smtClean="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548111" y="658906"/>
                <a:ext cx="10831132" cy="5849470"/>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7201931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63639"/>
            <a:ext cx="9144000" cy="605308"/>
          </a:xfrm>
        </p:spPr>
        <p:txBody>
          <a:bodyPr>
            <a:noAutofit/>
          </a:bodyPr>
          <a:lstStyle/>
          <a:p>
            <a:r>
              <a:rPr lang="en-US" sz="2400" b="1" dirty="0">
                <a:latin typeface="Arial" panose="020B0604020202020204" pitchFamily="34" charset="0"/>
                <a:cs typeface="Arial" panose="020B0604020202020204" pitchFamily="34" charset="0"/>
              </a:rPr>
              <a:t>Continuous Uniform Distribution</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1297397"/>
                <a:ext cx="10831132" cy="5372344"/>
              </a:xfrm>
            </p:spPr>
            <p:txBody>
              <a:bodyPr>
                <a:noAutofit/>
              </a:bodyPr>
              <a:lstStyle/>
              <a:p>
                <a:pPr marL="342900" indent="-342900" algn="just">
                  <a:lnSpc>
                    <a:spcPct val="150000"/>
                  </a:lnSpc>
                  <a:buFont typeface="Arial" panose="020B0604020202020204" pitchFamily="34" charset="0"/>
                  <a:buChar char="•"/>
                </a:pPr>
                <a:endParaRPr lang="en-US" sz="2000" dirty="0" smtClean="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A continuous random variable </a:t>
                </a:r>
                <a14:m>
                  <m:oMath xmlns:m="http://schemas.openxmlformats.org/officeDocument/2006/math">
                    <m:r>
                      <a:rPr lang="en-US" sz="2000" i="1">
                        <a:latin typeface="Cambria Math" panose="02040503050406030204" pitchFamily="18" charset="0"/>
                      </a:rPr>
                      <m:t>𝑋</m:t>
                    </m:r>
                  </m:oMath>
                </a14:m>
                <a:r>
                  <a:rPr lang="en-US" sz="2000" dirty="0">
                    <a:latin typeface="Arial" panose="020B0604020202020204" pitchFamily="34" charset="0"/>
                    <a:cs typeface="Arial" panose="020B0604020202020204" pitchFamily="34" charset="0"/>
                  </a:rPr>
                  <a:t> is said to have a continuous uniform distribution if</a:t>
                </a:r>
              </a:p>
              <a:p>
                <a:pPr algn="just">
                  <a:lnSpc>
                    <a:spcPct val="100000"/>
                  </a:lnSpc>
                </a:pP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cs typeface="Arial" panose="020B0604020202020204" pitchFamily="34" charset="0"/>
                      </a:rPr>
                      <m:t>𝑓</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𝑥</m:t>
                        </m:r>
                      </m:e>
                    </m:d>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1</m:t>
                        </m:r>
                      </m:num>
                      <m:den>
                        <m:r>
                          <a:rPr lang="en-US" sz="2000" i="1">
                            <a:latin typeface="Cambria Math" panose="02040503050406030204" pitchFamily="18" charset="0"/>
                            <a:cs typeface="Arial" panose="020B0604020202020204" pitchFamily="34" charset="0"/>
                          </a:rPr>
                          <m:t>𝑏</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𝑎</m:t>
                        </m:r>
                      </m:den>
                    </m:f>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𝑎</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𝑥</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𝑏</m:t>
                    </m:r>
                  </m:oMath>
                </a14:m>
                <a:r>
                  <a:rPr lang="en-US" sz="2000" dirty="0">
                    <a:latin typeface="Arial" panose="020B0604020202020204" pitchFamily="34" charset="0"/>
                    <a:cs typeface="Arial" panose="020B0604020202020204" pitchFamily="34" charset="0"/>
                  </a:rPr>
                  <a:t>. </a:t>
                </a:r>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Suppose that </a:t>
                </a:r>
                <a14:m>
                  <m:oMath xmlns:m="http://schemas.openxmlformats.org/officeDocument/2006/math">
                    <m:r>
                      <a:rPr lang="en-US" sz="2000" i="1">
                        <a:latin typeface="Cambria Math" panose="02040503050406030204" pitchFamily="18" charset="0"/>
                        <a:cs typeface="Arial" panose="020B0604020202020204" pitchFamily="34" charset="0"/>
                      </a:rPr>
                      <m:t>𝑋</m:t>
                    </m:r>
                  </m:oMath>
                </a14:m>
                <a:r>
                  <a:rPr lang="en-US" sz="2000" dirty="0">
                    <a:latin typeface="Arial" panose="020B0604020202020204" pitchFamily="34" charset="0"/>
                    <a:cs typeface="Arial" panose="020B0604020202020204" pitchFamily="34" charset="0"/>
                  </a:rPr>
                  <a:t> follows continuous uniform distribution in the interval </a:t>
                </a:r>
                <a14:m>
                  <m:oMath xmlns:m="http://schemas.openxmlformats.org/officeDocument/2006/math">
                    <m:r>
                      <a:rPr lang="en-US" sz="2000" b="0" i="1" smtClean="0">
                        <a:latin typeface="Cambria Math" panose="02040503050406030204" pitchFamily="18" charset="0"/>
                        <a:cs typeface="Arial" panose="020B0604020202020204" pitchFamily="34" charset="0"/>
                      </a:rPr>
                      <m:t>𝑎</m:t>
                    </m:r>
                  </m:oMath>
                </a14:m>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abd</a:t>
                </a:r>
                <a:r>
                  <a:rPr lang="en-US" sz="2000" dirty="0" smtClean="0">
                    <a:latin typeface="Arial" panose="020B0604020202020204" pitchFamily="34" charset="0"/>
                    <a:cs typeface="Arial" panose="020B0604020202020204" pitchFamily="34" charset="0"/>
                  </a:rPr>
                  <a:t> </a:t>
                </a:r>
                <a14:m>
                  <m:oMath xmlns:m="http://schemas.openxmlformats.org/officeDocument/2006/math">
                    <m:r>
                      <a:rPr lang="en-US" sz="2000" b="0" i="1" smtClean="0">
                        <a:latin typeface="Cambria Math" panose="02040503050406030204" pitchFamily="18" charset="0"/>
                        <a:cs typeface="Arial" panose="020B0604020202020204" pitchFamily="34" charset="0"/>
                      </a:rPr>
                      <m:t>𝑏</m:t>
                    </m:r>
                  </m:oMath>
                </a14:m>
                <a:r>
                  <a:rPr lang="en-US" sz="2000" dirty="0" smtClean="0">
                    <a:latin typeface="Arial" panose="020B0604020202020204" pitchFamily="34" charset="0"/>
                    <a:cs typeface="Arial" panose="020B0604020202020204" pitchFamily="34" charset="0"/>
                  </a:rPr>
                  <a:t>, it </a:t>
                </a:r>
                <a:r>
                  <a:rPr lang="en-US" sz="2000" dirty="0">
                    <a:latin typeface="Arial" panose="020B0604020202020204" pitchFamily="34" charset="0"/>
                    <a:cs typeface="Arial" panose="020B0604020202020204" pitchFamily="34" charset="0"/>
                  </a:rPr>
                  <a:t>is represented by </a:t>
                </a:r>
                <a14:m>
                  <m:oMath xmlns:m="http://schemas.openxmlformats.org/officeDocument/2006/math">
                    <m:r>
                      <a:rPr lang="en-US" sz="2000" i="1">
                        <a:latin typeface="Cambria Math" panose="02040503050406030204" pitchFamily="18" charset="0"/>
                        <a:cs typeface="Arial" panose="020B0604020202020204" pitchFamily="34" charset="0"/>
                      </a:rPr>
                      <m:t>𝑋</m:t>
                    </m:r>
                    <m:r>
                      <a:rPr lang="en-US" sz="2000" i="1">
                        <a:latin typeface="Cambria Math" panose="02040503050406030204" pitchFamily="18" charset="0"/>
                        <a:cs typeface="Arial" panose="020B0604020202020204" pitchFamily="34" charset="0"/>
                      </a:rPr>
                      <m:t>∼</m:t>
                    </m:r>
                    <m:r>
                      <m:rPr>
                        <m:sty m:val="p"/>
                      </m:rPr>
                      <a:rPr lang="en-US" sz="2000" b="0" i="0" smtClean="0">
                        <a:latin typeface="Cambria Math" panose="02040503050406030204" pitchFamily="18" charset="0"/>
                        <a:cs typeface="Arial" panose="020B0604020202020204" pitchFamily="34" charset="0"/>
                      </a:rPr>
                      <m:t>Unif</m:t>
                    </m:r>
                    <m:r>
                      <a:rPr lang="en-US" sz="2000" i="1" dirty="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𝑎</m:t>
                    </m:r>
                    <m:r>
                      <a:rPr lang="en-US" sz="2000" b="0" i="1" dirty="0" smtClean="0">
                        <a:latin typeface="Cambria Math" panose="02040503050406030204" pitchFamily="18" charset="0"/>
                        <a:cs typeface="Arial" panose="020B0604020202020204" pitchFamily="34" charset="0"/>
                      </a:rPr>
                      <m:t>, </m:t>
                    </m:r>
                    <m:r>
                      <a:rPr lang="en-US" sz="2000" b="0" i="1" dirty="0" smtClean="0">
                        <a:latin typeface="Cambria Math" panose="02040503050406030204" pitchFamily="18" charset="0"/>
                        <a:cs typeface="Arial" panose="020B0604020202020204" pitchFamily="34" charset="0"/>
                      </a:rPr>
                      <m:t>𝑏</m:t>
                    </m:r>
                    <m:r>
                      <a:rPr lang="en-US" sz="2000" i="1" dirty="0">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a:t>
                </a:r>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The </a:t>
                </a:r>
                <a:r>
                  <a:rPr lang="en-US" sz="2000" dirty="0" err="1" smtClean="0">
                    <a:latin typeface="Arial" panose="020B0604020202020204" pitchFamily="34" charset="0"/>
                    <a:cs typeface="Arial" panose="020B0604020202020204" pitchFamily="34" charset="0"/>
                  </a:rPr>
                  <a:t>cdf</a:t>
                </a:r>
                <a:r>
                  <a:rPr lang="en-US" sz="2000" dirty="0" smtClean="0">
                    <a:latin typeface="Arial" panose="020B0604020202020204" pitchFamily="34" charset="0"/>
                    <a:cs typeface="Arial" panose="020B0604020202020204" pitchFamily="34" charset="0"/>
                  </a:rPr>
                  <a:t> of </a:t>
                </a:r>
                <a14:m>
                  <m:oMath xmlns:m="http://schemas.openxmlformats.org/officeDocument/2006/math">
                    <m:r>
                      <a:rPr lang="en-US" sz="2000" i="1">
                        <a:latin typeface="Cambria Math" panose="02040503050406030204" pitchFamily="18" charset="0"/>
                        <a:cs typeface="Arial" panose="020B0604020202020204" pitchFamily="34" charset="0"/>
                      </a:rPr>
                      <m:t>𝑋</m:t>
                    </m:r>
                    <m:r>
                      <a:rPr lang="en-US" sz="2000" i="1">
                        <a:latin typeface="Cambria Math" panose="02040503050406030204" pitchFamily="18" charset="0"/>
                        <a:cs typeface="Arial" panose="020B0604020202020204" pitchFamily="34" charset="0"/>
                      </a:rPr>
                      <m:t>∼</m:t>
                    </m:r>
                    <m:r>
                      <m:rPr>
                        <m:sty m:val="p"/>
                      </m:rPr>
                      <a:rPr lang="en-US" sz="2000">
                        <a:latin typeface="Cambria Math" panose="02040503050406030204" pitchFamily="18" charset="0"/>
                        <a:cs typeface="Arial" panose="020B0604020202020204" pitchFamily="34" charset="0"/>
                      </a:rPr>
                      <m:t>Unif</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𝑎</m:t>
                    </m:r>
                    <m:r>
                      <a:rPr lang="en-US" sz="2000" i="1" dirty="0">
                        <a:latin typeface="Cambria Math" panose="02040503050406030204" pitchFamily="18" charset="0"/>
                        <a:cs typeface="Arial" panose="020B0604020202020204" pitchFamily="34" charset="0"/>
                      </a:rPr>
                      <m:t>, </m:t>
                    </m:r>
                    <m:r>
                      <a:rPr lang="en-US" sz="2000" i="1" dirty="0">
                        <a:latin typeface="Cambria Math" panose="02040503050406030204" pitchFamily="18" charset="0"/>
                        <a:cs typeface="Arial" panose="020B0604020202020204" pitchFamily="34" charset="0"/>
                      </a:rPr>
                      <m:t>𝑏</m:t>
                    </m:r>
                    <m:r>
                      <a:rPr lang="en-US" sz="2000" i="1" dirty="0">
                        <a:latin typeface="Cambria Math" panose="02040503050406030204" pitchFamily="18" charset="0"/>
                        <a:cs typeface="Arial" panose="020B0604020202020204" pitchFamily="34" charset="0"/>
                      </a:rPr>
                      <m:t>)</m:t>
                    </m:r>
                  </m:oMath>
                </a14:m>
                <a:r>
                  <a:rPr lang="en-US" sz="2000" dirty="0" smtClean="0">
                    <a:latin typeface="Arial" panose="020B0604020202020204" pitchFamily="34" charset="0"/>
                    <a:cs typeface="Arial" panose="020B0604020202020204" pitchFamily="34" charset="0"/>
                  </a:rPr>
                  <a:t> is </a:t>
                </a:r>
                <a14:m>
                  <m:oMath xmlns:m="http://schemas.openxmlformats.org/officeDocument/2006/math">
                    <m:r>
                      <a:rPr lang="en-US" sz="2000" b="0" i="1" smtClean="0">
                        <a:latin typeface="Cambria Math" panose="02040503050406030204" pitchFamily="18" charset="0"/>
                        <a:cs typeface="Arial" panose="020B0604020202020204" pitchFamily="34" charset="0"/>
                      </a:rPr>
                      <m:t>𝐹</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𝑥</m:t>
                        </m:r>
                      </m:e>
                    </m:d>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𝑥</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𝑎</m:t>
                        </m:r>
                      </m:num>
                      <m:den>
                        <m:r>
                          <a:rPr lang="en-US" sz="2000" b="0" i="1" smtClean="0">
                            <a:latin typeface="Cambria Math" panose="02040503050406030204" pitchFamily="18" charset="0"/>
                            <a:cs typeface="Arial" panose="020B0604020202020204" pitchFamily="34" charset="0"/>
                          </a:rPr>
                          <m:t>𝑏</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𝑎</m:t>
                        </m:r>
                      </m:den>
                    </m:f>
                    <m:r>
                      <a:rPr lang="en-US" sz="2000" b="0" i="1" smtClean="0">
                        <a:latin typeface="Cambria Math" panose="02040503050406030204" pitchFamily="18" charset="0"/>
                        <a:cs typeface="Arial" panose="020B0604020202020204" pitchFamily="34" charset="0"/>
                      </a:rPr>
                      <m:t>, </m:t>
                    </m:r>
                    <m:r>
                      <a:rPr lang="en-US" sz="2000" b="0" i="1" smtClean="0">
                        <a:latin typeface="Cambria Math" panose="02040503050406030204" pitchFamily="18" charset="0"/>
                        <a:cs typeface="Arial" panose="020B0604020202020204" pitchFamily="34" charset="0"/>
                      </a:rPr>
                      <m:t>𝑎</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𝑥</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𝑏</m:t>
                    </m:r>
                  </m:oMath>
                </a14:m>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If </a:t>
                </a:r>
                <a14:m>
                  <m:oMath xmlns:m="http://schemas.openxmlformats.org/officeDocument/2006/math">
                    <m:r>
                      <a:rPr lang="en-US" sz="2000" b="0" i="1">
                        <a:latin typeface="Cambria Math" panose="02040503050406030204" pitchFamily="18" charset="0"/>
                        <a:cs typeface="Arial" panose="020B0604020202020204" pitchFamily="34" charset="0"/>
                      </a:rPr>
                      <m:t>𝑋</m:t>
                    </m:r>
                    <m:r>
                      <a:rPr lang="en-US" sz="2000" b="0" i="1">
                        <a:latin typeface="Cambria Math" panose="02040503050406030204" pitchFamily="18" charset="0"/>
                        <a:cs typeface="Arial" panose="020B0604020202020204" pitchFamily="34" charset="0"/>
                      </a:rPr>
                      <m:t>∼</m:t>
                    </m:r>
                  </m:oMath>
                </a14:m>
                <a:r>
                  <a:rPr lang="en-US" sz="2000" dirty="0" smtClean="0">
                    <a:latin typeface="Arial" panose="020B0604020202020204" pitchFamily="34" charset="0"/>
                    <a:cs typeface="Arial" panose="020B0604020202020204" pitchFamily="34" charset="0"/>
                  </a:rPr>
                  <a:t>U</a:t>
                </a:r>
                <a14:m>
                  <m:oMath xmlns:m="http://schemas.openxmlformats.org/officeDocument/2006/math">
                    <m:r>
                      <m:rPr>
                        <m:sty m:val="p"/>
                      </m:rPr>
                      <a:rPr lang="en-US" sz="2000" b="0" i="0" dirty="0" smtClean="0">
                        <a:latin typeface="Cambria Math" panose="02040503050406030204" pitchFamily="18" charset="0"/>
                        <a:cs typeface="Arial" panose="020B0604020202020204" pitchFamily="34" charset="0"/>
                      </a:rPr>
                      <m:t>nif</m:t>
                    </m:r>
                    <m:d>
                      <m:dPr>
                        <m:ctrlPr>
                          <a:rPr lang="en-US" sz="2000" i="1" dirty="0">
                            <a:latin typeface="Cambria Math" panose="02040503050406030204" pitchFamily="18" charset="0"/>
                            <a:cs typeface="Arial" panose="020B0604020202020204" pitchFamily="34" charset="0"/>
                          </a:rPr>
                        </m:ctrlPr>
                      </m:dPr>
                      <m:e>
                        <m:r>
                          <a:rPr lang="en-US" sz="2000" b="0" i="1" dirty="0" smtClean="0">
                            <a:latin typeface="Cambria Math" panose="02040503050406030204" pitchFamily="18" charset="0"/>
                            <a:cs typeface="Arial" panose="020B0604020202020204" pitchFamily="34" charset="0"/>
                          </a:rPr>
                          <m:t>𝑎</m:t>
                        </m:r>
                        <m:r>
                          <a:rPr lang="en-US" sz="2000" b="0" i="1" dirty="0" smtClean="0">
                            <a:latin typeface="Cambria Math" panose="02040503050406030204" pitchFamily="18" charset="0"/>
                            <a:cs typeface="Arial" panose="020B0604020202020204" pitchFamily="34" charset="0"/>
                          </a:rPr>
                          <m:t>, </m:t>
                        </m:r>
                        <m:r>
                          <a:rPr lang="en-US" sz="2000" b="0" i="1" dirty="0" smtClean="0">
                            <a:latin typeface="Cambria Math" panose="02040503050406030204" pitchFamily="18" charset="0"/>
                            <a:cs typeface="Arial" panose="020B0604020202020204" pitchFamily="34" charset="0"/>
                          </a:rPr>
                          <m:t>𝑏</m:t>
                        </m:r>
                      </m:e>
                    </m:d>
                  </m:oMath>
                </a14:m>
                <a:r>
                  <a:rPr lang="en-US" sz="2000" dirty="0" smtClean="0">
                    <a:latin typeface="Arial" panose="020B0604020202020204" pitchFamily="34" charset="0"/>
                    <a:cs typeface="Arial" panose="020B0604020202020204" pitchFamily="34" charset="0"/>
                  </a:rPr>
                  <a:t>, it can be shown that the </a:t>
                </a:r>
                <a:r>
                  <a:rPr lang="en-US" sz="2000" dirty="0">
                    <a:latin typeface="Arial" panose="020B0604020202020204" pitchFamily="34" charset="0"/>
                    <a:cs typeface="Arial" panose="020B0604020202020204" pitchFamily="34" charset="0"/>
                  </a:rPr>
                  <a:t>mean and variance </a:t>
                </a:r>
                <a:r>
                  <a:rPr lang="en-US" sz="2000" dirty="0" smtClean="0">
                    <a:latin typeface="Arial" panose="020B0604020202020204" pitchFamily="34" charset="0"/>
                    <a:cs typeface="Arial" panose="020B0604020202020204" pitchFamily="34" charset="0"/>
                  </a:rPr>
                  <a:t>are </a:t>
                </a:r>
              </a:p>
              <a:p>
                <a:pPr algn="just">
                  <a:lnSpc>
                    <a:spcPct val="150000"/>
                  </a:lnSpc>
                </a:pP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Mean: </a:t>
                </a:r>
                <a14:m>
                  <m:oMath xmlns:m="http://schemas.openxmlformats.org/officeDocument/2006/math">
                    <m:r>
                      <a:rPr lang="en-US" sz="2000" i="1">
                        <a:latin typeface="Cambria Math" panose="02040503050406030204" pitchFamily="18" charset="0"/>
                      </a:rPr>
                      <m:t>𝜇</m:t>
                    </m:r>
                    <m:r>
                      <a:rPr lang="en-US" sz="2000" i="1">
                        <a:latin typeface="Cambria Math" panose="02040503050406030204" pitchFamily="18" charset="0"/>
                      </a:rPr>
                      <m:t>=</m:t>
                    </m:r>
                    <m:r>
                      <a:rPr lang="en-US" sz="2000" i="1">
                        <a:latin typeface="Cambria Math" panose="02040503050406030204" pitchFamily="18" charset="0"/>
                      </a:rPr>
                      <m:t>𝐸</m:t>
                    </m:r>
                    <m:d>
                      <m:dPr>
                        <m:ctrlPr>
                          <a:rPr lang="en-US" sz="2000" i="1">
                            <a:latin typeface="Cambria Math" panose="02040503050406030204" pitchFamily="18" charset="0"/>
                          </a:rPr>
                        </m:ctrlPr>
                      </m:dPr>
                      <m:e>
                        <m:r>
                          <a:rPr lang="en-US" sz="2000" i="1">
                            <a:latin typeface="Cambria Math" panose="02040503050406030204" pitchFamily="18" charset="0"/>
                          </a:rPr>
                          <m:t>𝑋</m:t>
                        </m:r>
                      </m:e>
                    </m:d>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𝑎</m:t>
                        </m:r>
                        <m:r>
                          <a:rPr lang="en-US" sz="2000" i="1">
                            <a:latin typeface="Cambria Math" panose="02040503050406030204" pitchFamily="18" charset="0"/>
                          </a:rPr>
                          <m:t>+</m:t>
                        </m:r>
                        <m:r>
                          <a:rPr lang="en-US" sz="2000" i="1">
                            <a:latin typeface="Cambria Math" panose="02040503050406030204" pitchFamily="18" charset="0"/>
                          </a:rPr>
                          <m:t>𝑏</m:t>
                        </m:r>
                      </m:num>
                      <m:den>
                        <m:r>
                          <a:rPr lang="en-US" sz="2000" i="1">
                            <a:latin typeface="Cambria Math" panose="02040503050406030204" pitchFamily="18" charset="0"/>
                          </a:rPr>
                          <m:t>2</m:t>
                        </m:r>
                      </m:den>
                    </m:f>
                    <m:r>
                      <a:rPr lang="en-US" sz="2000" i="1">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r>
                      <a:rPr lang="en-US" sz="2000" i="1">
                        <a:latin typeface="Cambria Math" panose="02040503050406030204" pitchFamily="18" charset="0"/>
                      </a:rPr>
                      <m:t>=</m:t>
                    </m:r>
                    <m:r>
                      <a:rPr lang="en-US" sz="2000" i="1">
                        <a:latin typeface="Cambria Math" panose="02040503050406030204" pitchFamily="18" charset="0"/>
                      </a:rPr>
                      <m:t>𝑉</m:t>
                    </m:r>
                    <m:d>
                      <m:dPr>
                        <m:ctrlPr>
                          <a:rPr lang="en-US" sz="2000" i="1">
                            <a:latin typeface="Cambria Math" panose="02040503050406030204" pitchFamily="18" charset="0"/>
                          </a:rPr>
                        </m:ctrlPr>
                      </m:dPr>
                      <m:e>
                        <m:r>
                          <a:rPr lang="en-US" sz="2000" i="1">
                            <a:latin typeface="Cambria Math" panose="02040503050406030204" pitchFamily="18" charset="0"/>
                          </a:rPr>
                          <m:t>𝑋</m:t>
                        </m:r>
                      </m:e>
                    </m:d>
                    <m:r>
                      <a:rPr lang="en-US" sz="2000" i="1">
                        <a:latin typeface="Cambria Math" panose="02040503050406030204" pitchFamily="18" charset="0"/>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m:t>
                            </m:r>
                            <m:r>
                              <a:rPr lang="en-US" sz="2000" i="1">
                                <a:latin typeface="Cambria Math" panose="02040503050406030204" pitchFamily="18" charset="0"/>
                              </a:rPr>
                              <m:t>𝑏</m:t>
                            </m:r>
                            <m:r>
                              <a:rPr lang="en-US" sz="2000" i="1">
                                <a:latin typeface="Cambria Math" panose="02040503050406030204" pitchFamily="18" charset="0"/>
                              </a:rPr>
                              <m:t>−</m:t>
                            </m:r>
                            <m:r>
                              <a:rPr lang="en-US" sz="2000" i="1">
                                <a:latin typeface="Cambria Math" panose="02040503050406030204" pitchFamily="18" charset="0"/>
                              </a:rPr>
                              <m:t>𝑎</m:t>
                            </m:r>
                            <m:r>
                              <a:rPr lang="en-US" sz="2000" i="1">
                                <a:latin typeface="Cambria Math" panose="02040503050406030204" pitchFamily="18" charset="0"/>
                              </a:rPr>
                              <m:t>)</m:t>
                            </m:r>
                          </m:e>
                          <m:sup>
                            <m:r>
                              <a:rPr lang="en-US" sz="2000" i="1">
                                <a:latin typeface="Cambria Math" panose="02040503050406030204" pitchFamily="18" charset="0"/>
                              </a:rPr>
                              <m:t>2</m:t>
                            </m:r>
                          </m:sup>
                        </m:sSup>
                      </m:num>
                      <m:den>
                        <m:r>
                          <a:rPr lang="en-US" sz="2000" i="1">
                            <a:latin typeface="Cambria Math" panose="02040503050406030204" pitchFamily="18" charset="0"/>
                          </a:rPr>
                          <m:t>12</m:t>
                        </m:r>
                      </m:den>
                    </m:f>
                  </m:oMath>
                </a14:m>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1297397"/>
                <a:ext cx="10831132" cy="5372344"/>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20264977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0794"/>
            <a:ext cx="9144000" cy="605308"/>
          </a:xfrm>
        </p:spPr>
        <p:txBody>
          <a:bodyPr>
            <a:noAutofit/>
          </a:bodyPr>
          <a:lstStyle/>
          <a:p>
            <a:r>
              <a:rPr lang="en-US" sz="2400" b="1" dirty="0">
                <a:latin typeface="Arial" panose="020B0604020202020204" pitchFamily="34" charset="0"/>
                <a:cs typeface="Arial" panose="020B0604020202020204" pitchFamily="34" charset="0"/>
              </a:rPr>
              <a:t>Continuous Uniform Distribution </a:t>
            </a:r>
            <a:r>
              <a:rPr lang="en-US" sz="2400" b="1" dirty="0" smtClean="0">
                <a:latin typeface="Arial" panose="020B0604020202020204" pitchFamily="34" charset="0"/>
                <a:cs typeface="Arial" panose="020B0604020202020204" pitchFamily="34" charset="0"/>
              </a:rPr>
              <a:t>(</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559410" y="645459"/>
                <a:ext cx="10831132" cy="6212541"/>
              </a:xfrm>
            </p:spPr>
            <p:txBody>
              <a:bodyPr>
                <a:noAutofit/>
              </a:bodyPr>
              <a:lstStyle/>
              <a:p>
                <a:pPr algn="just">
                  <a:lnSpc>
                    <a:spcPct val="150000"/>
                  </a:lnSpc>
                </a:pPr>
                <a:endParaRPr lang="en-US" sz="2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a:t>
                </a:r>
                <a:r>
                  <a:rPr lang="en-US" sz="2000" dirty="0" smtClean="0">
                    <a:latin typeface="Arial" panose="020B0604020202020204" pitchFamily="34" charset="0"/>
                    <a:cs typeface="Arial" panose="020B0604020202020204" pitchFamily="34" charset="0"/>
                  </a:rPr>
                  <a:t>: According </a:t>
                </a:r>
                <a:r>
                  <a:rPr lang="en-US" sz="2000" dirty="0">
                    <a:latin typeface="Arial" panose="020B0604020202020204" pitchFamily="34" charset="0"/>
                    <a:cs typeface="Arial" panose="020B0604020202020204" pitchFamily="34" charset="0"/>
                  </a:rPr>
                  <a:t>to the Insurance Institute of America, a family of four spends between $</a:t>
                </a:r>
                <a:r>
                  <a:rPr lang="en-US" sz="2000" dirty="0" smtClean="0">
                    <a:latin typeface="Arial" panose="020B0604020202020204" pitchFamily="34" charset="0"/>
                    <a:cs typeface="Arial" panose="020B0604020202020204" pitchFamily="34" charset="0"/>
                  </a:rPr>
                  <a:t>400 and </a:t>
                </a:r>
                <a:r>
                  <a:rPr lang="en-US" sz="2000" dirty="0">
                    <a:latin typeface="Arial" panose="020B0604020202020204" pitchFamily="34" charset="0"/>
                    <a:cs typeface="Arial" panose="020B0604020202020204" pitchFamily="34" charset="0"/>
                  </a:rPr>
                  <a:t>$3,800 per year on all types of insurance. Suppose the money spent is </a:t>
                </a:r>
                <a:r>
                  <a:rPr lang="en-US" sz="2000" dirty="0" smtClean="0">
                    <a:latin typeface="Arial" panose="020B0604020202020204" pitchFamily="34" charset="0"/>
                    <a:cs typeface="Arial" panose="020B0604020202020204" pitchFamily="34" charset="0"/>
                  </a:rPr>
                  <a:t>uniformly distributed </a:t>
                </a:r>
                <a:r>
                  <a:rPr lang="en-US" sz="2000" dirty="0">
                    <a:latin typeface="Arial" panose="020B0604020202020204" pitchFamily="34" charset="0"/>
                    <a:cs typeface="Arial" panose="020B0604020202020204" pitchFamily="34" charset="0"/>
                  </a:rPr>
                  <a:t>between these amounts</a:t>
                </a:r>
                <a:r>
                  <a:rPr lang="en-US" sz="2000" dirty="0" smtClean="0">
                    <a:latin typeface="Arial" panose="020B0604020202020204" pitchFamily="34" charset="0"/>
                    <a:cs typeface="Arial" panose="020B0604020202020204" pitchFamily="34" charset="0"/>
                  </a:rPr>
                  <a:t>. (a) What </a:t>
                </a:r>
                <a:r>
                  <a:rPr lang="en-US" sz="2000" dirty="0">
                    <a:latin typeface="Arial" panose="020B0604020202020204" pitchFamily="34" charset="0"/>
                    <a:cs typeface="Arial" panose="020B0604020202020204" pitchFamily="34" charset="0"/>
                  </a:rPr>
                  <a:t>is the mean amount spent on insurance</a:t>
                </a:r>
                <a:r>
                  <a:rPr lang="en-US" sz="2000" dirty="0" smtClean="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(b) What </a:t>
                </a:r>
                <a:r>
                  <a:rPr lang="en-US" sz="2000" dirty="0">
                    <a:latin typeface="Arial" panose="020B0604020202020204" pitchFamily="34" charset="0"/>
                    <a:cs typeface="Arial" panose="020B0604020202020204" pitchFamily="34" charset="0"/>
                  </a:rPr>
                  <a:t>is the standard deviation of the amount spent</a:t>
                </a:r>
                <a:r>
                  <a:rPr lang="en-US" sz="2000" dirty="0" smtClean="0">
                    <a:latin typeface="Arial" panose="020B0604020202020204" pitchFamily="34" charset="0"/>
                    <a:cs typeface="Arial" panose="020B0604020202020204" pitchFamily="34" charset="0"/>
                  </a:rPr>
                  <a:t>? (c)</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If </a:t>
                </a:r>
                <a:r>
                  <a:rPr lang="en-US" sz="2000" dirty="0">
                    <a:latin typeface="Arial" panose="020B0604020202020204" pitchFamily="34" charset="0"/>
                    <a:cs typeface="Arial" panose="020B0604020202020204" pitchFamily="34" charset="0"/>
                  </a:rPr>
                  <a:t>we select a family at random, what is the probability they spend less than $</a:t>
                </a:r>
                <a:r>
                  <a:rPr lang="en-US" sz="2000" dirty="0" smtClean="0">
                    <a:latin typeface="Arial" panose="020B0604020202020204" pitchFamily="34" charset="0"/>
                    <a:cs typeface="Arial" panose="020B0604020202020204" pitchFamily="34" charset="0"/>
                  </a:rPr>
                  <a:t>2,000 per </a:t>
                </a:r>
                <a:r>
                  <a:rPr lang="en-US" sz="2000" dirty="0">
                    <a:latin typeface="Arial" panose="020B0604020202020204" pitchFamily="34" charset="0"/>
                    <a:cs typeface="Arial" panose="020B0604020202020204" pitchFamily="34" charset="0"/>
                  </a:rPr>
                  <a:t>year on insurance per </a:t>
                </a:r>
                <a:r>
                  <a:rPr lang="en-US" sz="2000" dirty="0" smtClean="0">
                    <a:latin typeface="Arial" panose="020B0604020202020204" pitchFamily="34" charset="0"/>
                    <a:cs typeface="Arial" panose="020B0604020202020204" pitchFamily="34" charset="0"/>
                  </a:rPr>
                  <a:t>year? (d) What </a:t>
                </a:r>
                <a:r>
                  <a:rPr lang="en-US" sz="2000" dirty="0">
                    <a:latin typeface="Arial" panose="020B0604020202020204" pitchFamily="34" charset="0"/>
                    <a:cs typeface="Arial" panose="020B0604020202020204" pitchFamily="34" charset="0"/>
                  </a:rPr>
                  <a:t>is the probability a family spends more than $3,000 per year?</a:t>
                </a: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Solution</a:t>
                </a:r>
                <a:r>
                  <a:rPr lang="en-US" sz="2000" dirty="0" smtClean="0">
                    <a:latin typeface="Arial" panose="020B0604020202020204" pitchFamily="34" charset="0"/>
                    <a:cs typeface="Arial" panose="020B0604020202020204" pitchFamily="34" charset="0"/>
                  </a:rPr>
                  <a:t>: Given </a:t>
                </a:r>
                <a:r>
                  <a:rPr lang="en-US" sz="2000" dirty="0">
                    <a:latin typeface="Arial" panose="020B0604020202020204" pitchFamily="34" charset="0"/>
                    <a:cs typeface="Arial" panose="020B0604020202020204" pitchFamily="34" charset="0"/>
                  </a:rPr>
                  <a:t>that </a:t>
                </a:r>
                <a14:m>
                  <m:oMath xmlns:m="http://schemas.openxmlformats.org/officeDocument/2006/math">
                    <m:r>
                      <m:rPr>
                        <m:sty m:val="p"/>
                      </m:rPr>
                      <a:rPr lang="en-US" sz="2000" b="0" i="0" smtClean="0">
                        <a:latin typeface="Cambria Math" panose="02040503050406030204" pitchFamily="18" charset="0"/>
                      </a:rPr>
                      <m:t>X</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unif</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𝑎</m:t>
                        </m:r>
                        <m:r>
                          <a:rPr lang="en-US" sz="2000" b="0" i="1" smtClean="0">
                            <a:latin typeface="Cambria Math" panose="02040503050406030204" pitchFamily="18" charset="0"/>
                          </a:rPr>
                          <m:t>,</m:t>
                        </m:r>
                        <m:r>
                          <a:rPr lang="en-US" sz="2000" b="0" i="1" smtClean="0">
                            <a:latin typeface="Cambria Math" panose="02040503050406030204" pitchFamily="18" charset="0"/>
                          </a:rPr>
                          <m:t>𝑏</m:t>
                        </m:r>
                      </m:e>
                    </m:d>
                    <m:r>
                      <a:rPr lang="en-US" sz="2000" b="0" i="0" smtClean="0">
                        <a:latin typeface="Cambria Math" panose="02040503050406030204" pitchFamily="18" charset="0"/>
                      </a:rPr>
                      <m:t>, </m:t>
                    </m:r>
                  </m:oMath>
                </a14:m>
                <a:r>
                  <a:rPr lang="en-US" sz="2000" dirty="0" smtClean="0">
                    <a:latin typeface="Arial" panose="020B0604020202020204" pitchFamily="34" charset="0"/>
                    <a:cs typeface="Arial" panose="020B0604020202020204" pitchFamily="34" charset="0"/>
                  </a:rPr>
                  <a:t>where </a:t>
                </a:r>
                <a14:m>
                  <m:oMath xmlns:m="http://schemas.openxmlformats.org/officeDocument/2006/math">
                    <m:r>
                      <a:rPr lang="en-US" sz="2000" b="0" i="1" smtClean="0">
                        <a:latin typeface="Cambria Math" panose="02040503050406030204" pitchFamily="18" charset="0"/>
                        <a:cs typeface="Arial" panose="020B0604020202020204" pitchFamily="34" charset="0"/>
                      </a:rPr>
                      <m:t>𝑎</m:t>
                    </m:r>
                    <m:r>
                      <a:rPr lang="en-US" sz="2000" b="0" i="1" smtClean="0">
                        <a:latin typeface="Cambria Math" panose="02040503050406030204" pitchFamily="18" charset="0"/>
                        <a:cs typeface="Arial" panose="020B0604020202020204" pitchFamily="34" charset="0"/>
                      </a:rPr>
                      <m:t>=400</m:t>
                    </m:r>
                  </m:oMath>
                </a14:m>
                <a:r>
                  <a:rPr lang="en-US" sz="2000" dirty="0" smtClean="0">
                    <a:latin typeface="Arial" panose="020B0604020202020204" pitchFamily="34" charset="0"/>
                    <a:cs typeface="Arial" panose="020B0604020202020204" pitchFamily="34" charset="0"/>
                  </a:rPr>
                  <a:t> and </a:t>
                </a:r>
                <a14:m>
                  <m:oMath xmlns:m="http://schemas.openxmlformats.org/officeDocument/2006/math">
                    <m:r>
                      <a:rPr lang="en-US" sz="2000" b="0" i="1" smtClean="0">
                        <a:latin typeface="Cambria Math" panose="02040503050406030204" pitchFamily="18" charset="0"/>
                        <a:cs typeface="Arial" panose="020B0604020202020204" pitchFamily="34" charset="0"/>
                      </a:rPr>
                      <m:t>𝑏</m:t>
                    </m:r>
                    <m:r>
                      <a:rPr lang="en-US" sz="2000" b="0" i="1" smtClean="0">
                        <a:latin typeface="Cambria Math" panose="02040503050406030204" pitchFamily="18" charset="0"/>
                        <a:cs typeface="Arial" panose="020B0604020202020204" pitchFamily="34" charset="0"/>
                      </a:rPr>
                      <m:t>=3800</m:t>
                    </m:r>
                  </m:oMath>
                </a14:m>
                <a:endParaRPr lang="en-US" sz="2000" b="0" dirty="0" smtClean="0">
                  <a:latin typeface="Arial" panose="020B0604020202020204" pitchFamily="34" charset="0"/>
                  <a:cs typeface="Arial" panose="020B0604020202020204" pitchFamily="34" charset="0"/>
                </a:endParaRPr>
              </a:p>
              <a:p>
                <a:pPr algn="just">
                  <a:lnSpc>
                    <a:spcPct val="150000"/>
                  </a:lnSpc>
                </a:pPr>
                <a:r>
                  <a:rPr lang="en-US" sz="2000" dirty="0" smtClean="0">
                    <a:latin typeface="Arial" panose="020B0604020202020204" pitchFamily="34" charset="0"/>
                    <a:cs typeface="Arial" panose="020B0604020202020204" pitchFamily="34" charset="0"/>
                  </a:rPr>
                  <a:t>	(a) we have </a:t>
                </a:r>
                <a14:m>
                  <m:oMath xmlns:m="http://schemas.openxmlformats.org/officeDocument/2006/math">
                    <m:r>
                      <a:rPr lang="en-US" sz="2000" b="0" i="1" smtClean="0">
                        <a:latin typeface="Cambria Math" panose="02040503050406030204" pitchFamily="18" charset="0"/>
                      </a:rPr>
                      <m:t>𝜇</m:t>
                    </m:r>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𝑎</m:t>
                        </m:r>
                        <m:r>
                          <a:rPr lang="en-US" sz="2000" i="1">
                            <a:latin typeface="Cambria Math" panose="02040503050406030204" pitchFamily="18" charset="0"/>
                          </a:rPr>
                          <m:t>+</m:t>
                        </m:r>
                        <m:r>
                          <a:rPr lang="en-US" sz="2000" i="1">
                            <a:latin typeface="Cambria Math" panose="02040503050406030204" pitchFamily="18" charset="0"/>
                          </a:rPr>
                          <m:t>𝑏</m:t>
                        </m:r>
                      </m:num>
                      <m:den>
                        <m:r>
                          <a:rPr lang="en-US" sz="2000" i="1">
                            <a:latin typeface="Cambria Math" panose="02040503050406030204" pitchFamily="18" charset="0"/>
                          </a:rPr>
                          <m:t>2</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b="0" i="1" smtClean="0">
                            <a:latin typeface="Cambria Math" panose="02040503050406030204" pitchFamily="18" charset="0"/>
                          </a:rPr>
                          <m:t>400+3800</m:t>
                        </m:r>
                      </m:num>
                      <m:den>
                        <m:r>
                          <a:rPr lang="en-US" sz="2000" i="1">
                            <a:latin typeface="Cambria Math" panose="02040503050406030204" pitchFamily="18" charset="0"/>
                          </a:rPr>
                          <m:t>2</m:t>
                        </m:r>
                      </m:den>
                    </m:f>
                    <m:r>
                      <a:rPr lang="en-US" sz="2000" i="1">
                        <a:latin typeface="Cambria Math" panose="02040503050406030204" pitchFamily="18" charset="0"/>
                      </a:rPr>
                      <m:t>=</m:t>
                    </m:r>
                    <m:r>
                      <a:rPr lang="en-US" sz="2000" b="0" i="1" smtClean="0">
                        <a:latin typeface="Cambria Math" panose="02040503050406030204" pitchFamily="18" charset="0"/>
                      </a:rPr>
                      <m:t>2100</m:t>
                    </m:r>
                  </m:oMath>
                </a14:m>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(b) </a:t>
                </a:r>
                <a14:m>
                  <m:oMath xmlns:m="http://schemas.openxmlformats.org/officeDocument/2006/math">
                    <m:r>
                      <a:rPr lang="en-US" sz="2000" b="0" i="1" smtClean="0">
                        <a:latin typeface="Cambria Math" panose="02040503050406030204" pitchFamily="18" charset="0"/>
                      </a:rPr>
                      <m:t>𝜎</m:t>
                    </m:r>
                    <m:r>
                      <a:rPr lang="en-US" sz="2000" i="1">
                        <a:latin typeface="Cambria Math" panose="02040503050406030204" pitchFamily="18" charset="0"/>
                      </a:rPr>
                      <m:t>=</m:t>
                    </m:r>
                    <m:rad>
                      <m:radPr>
                        <m:degHide m:val="on"/>
                        <m:ctrlPr>
                          <a:rPr lang="en-US" sz="2000" b="0" i="1" smtClean="0">
                            <a:latin typeface="Cambria Math" panose="02040503050406030204" pitchFamily="18" charset="0"/>
                          </a:rPr>
                        </m:ctrlPr>
                      </m:radPr>
                      <m:deg/>
                      <m:e>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m:t>
                                </m:r>
                                <m:r>
                                  <a:rPr lang="en-US" sz="2000" i="1">
                                    <a:latin typeface="Cambria Math" panose="02040503050406030204" pitchFamily="18" charset="0"/>
                                  </a:rPr>
                                  <m:t>𝑏</m:t>
                                </m:r>
                                <m:r>
                                  <a:rPr lang="en-US" sz="2000" i="1">
                                    <a:latin typeface="Cambria Math" panose="02040503050406030204" pitchFamily="18" charset="0"/>
                                  </a:rPr>
                                  <m:t>−</m:t>
                                </m:r>
                                <m:r>
                                  <a:rPr lang="en-US" sz="2000" i="1">
                                    <a:latin typeface="Cambria Math" panose="02040503050406030204" pitchFamily="18" charset="0"/>
                                  </a:rPr>
                                  <m:t>𝑎</m:t>
                                </m:r>
                                <m:r>
                                  <a:rPr lang="en-US" sz="2000" i="1">
                                    <a:latin typeface="Cambria Math" panose="02040503050406030204" pitchFamily="18" charset="0"/>
                                  </a:rPr>
                                  <m:t>)</m:t>
                                </m:r>
                              </m:e>
                              <m:sup>
                                <m:r>
                                  <a:rPr lang="en-US" sz="2000" i="1">
                                    <a:latin typeface="Cambria Math" panose="02040503050406030204" pitchFamily="18" charset="0"/>
                                  </a:rPr>
                                  <m:t>2</m:t>
                                </m:r>
                              </m:sup>
                            </m:sSup>
                          </m:num>
                          <m:den>
                            <m:r>
                              <a:rPr lang="en-US" sz="2000" i="1">
                                <a:latin typeface="Cambria Math" panose="02040503050406030204" pitchFamily="18" charset="0"/>
                              </a:rPr>
                              <m:t>12</m:t>
                            </m:r>
                          </m:den>
                        </m:f>
                      </m:e>
                    </m:rad>
                    <m:r>
                      <a:rPr lang="en-US" sz="2000" b="0" i="1" smtClean="0">
                        <a:latin typeface="Cambria Math" panose="02040503050406030204" pitchFamily="18" charset="0"/>
                      </a:rPr>
                      <m:t>=</m:t>
                    </m:r>
                    <m:rad>
                      <m:radPr>
                        <m:degHide m:val="on"/>
                        <m:ctrlPr>
                          <a:rPr lang="en-US" sz="2000" b="0" i="1" smtClean="0">
                            <a:latin typeface="Cambria Math" panose="02040503050406030204" pitchFamily="18" charset="0"/>
                          </a:rPr>
                        </m:ctrlPr>
                      </m:radPr>
                      <m:deg/>
                      <m:e>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3400</m:t>
                                </m:r>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12</m:t>
                            </m:r>
                          </m:den>
                        </m:f>
                      </m:e>
                    </m:rad>
                    <m:r>
                      <a:rPr lang="en-US" sz="2000" b="0" i="1" smtClean="0">
                        <a:latin typeface="Cambria Math" panose="02040503050406030204" pitchFamily="18" charset="0"/>
                      </a:rPr>
                      <m:t>=981.5</m:t>
                    </m:r>
                  </m:oMath>
                </a14:m>
                <a:endParaRPr lang="en-US" sz="2000" b="0" dirty="0" smtClean="0">
                  <a:latin typeface="Arial" panose="020B0604020202020204" pitchFamily="34" charset="0"/>
                </a:endParaRPr>
              </a:p>
              <a:p>
                <a:pPr algn="just">
                  <a:lnSpc>
                    <a:spcPct val="150000"/>
                  </a:lnSpc>
                </a:pPr>
                <a:r>
                  <a:rPr lang="en-US" sz="2000" dirty="0" smtClean="0">
                    <a:latin typeface="Arial" panose="020B0604020202020204" pitchFamily="34" charset="0"/>
                    <a:cs typeface="Arial" panose="020B0604020202020204" pitchFamily="34" charset="0"/>
                  </a:rPr>
                  <a:t>	(c)</a:t>
                </a:r>
                <a:r>
                  <a:rPr lang="en-US" sz="2000" dirty="0" smtClean="0"/>
                  <a:t>  We have, </a:t>
                </a:r>
                <a14:m>
                  <m:oMath xmlns:m="http://schemas.openxmlformats.org/officeDocument/2006/math">
                    <m:r>
                      <a:rPr lang="en-US" sz="2000" b="0" i="1" smtClean="0">
                        <a:latin typeface="Cambria Math" panose="02040503050406030204" pitchFamily="18" charset="0"/>
                      </a:rPr>
                      <m:t>𝐹</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𝑥</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𝑎</m:t>
                        </m:r>
                      </m:num>
                      <m:den>
                        <m:r>
                          <a:rPr lang="en-US" sz="2000" i="1">
                            <a:latin typeface="Cambria Math" panose="02040503050406030204" pitchFamily="18" charset="0"/>
                            <a:cs typeface="Arial" panose="020B0604020202020204" pitchFamily="34" charset="0"/>
                          </a:rPr>
                          <m:t>𝑏</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𝑎</m:t>
                        </m:r>
                      </m:den>
                    </m:f>
                    <m:r>
                      <a:rPr lang="en-US" sz="2000" i="1">
                        <a:latin typeface="Cambria Math" panose="02040503050406030204" pitchFamily="18" charset="0"/>
                        <a:cs typeface="Arial" panose="020B0604020202020204" pitchFamily="34" charset="0"/>
                      </a:rPr>
                      <m:t>, </m:t>
                    </m:r>
                    <m:r>
                      <a:rPr lang="en-US" sz="2000" i="1">
                        <a:latin typeface="Cambria Math" panose="02040503050406030204" pitchFamily="18" charset="0"/>
                        <a:cs typeface="Arial" panose="020B0604020202020204" pitchFamily="34" charset="0"/>
                      </a:rPr>
                      <m:t>𝑎</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𝑥</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𝑏</m:t>
                    </m:r>
                  </m:oMath>
                </a14:m>
                <a:r>
                  <a:rPr lang="en-US" sz="2000" dirty="0" smtClean="0">
                    <a:latin typeface="Arial" panose="020B0604020202020204" pitchFamily="34" charset="0"/>
                    <a:cs typeface="Arial" panose="020B0604020202020204" pitchFamily="34" charset="0"/>
                  </a:rPr>
                  <a:t>, so</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r>
                          <a:rPr lang="en-US" sz="2000" b="0" i="1" smtClean="0">
                            <a:latin typeface="Cambria Math" panose="02040503050406030204" pitchFamily="18" charset="0"/>
                          </a:rPr>
                          <m:t>&lt;2000</m:t>
                        </m:r>
                      </m:e>
                    </m:d>
                    <m:r>
                      <a:rPr lang="en-US" sz="2000" b="0" i="1" smtClean="0">
                        <a:latin typeface="Cambria Math" panose="02040503050406030204" pitchFamily="18" charset="0"/>
                      </a:rPr>
                      <m:t>=</m:t>
                    </m:r>
                    <m:r>
                      <a:rPr lang="en-US" sz="2000" b="0" i="1" smtClean="0">
                        <a:latin typeface="Cambria Math" panose="02040503050406030204" pitchFamily="18" charset="0"/>
                      </a:rPr>
                      <m:t>𝐹</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2000</m:t>
                        </m:r>
                      </m:e>
                    </m:d>
                    <m:r>
                      <a:rPr lang="en-US" sz="2000" b="0" i="1" smtClean="0">
                        <a:latin typeface="Cambria Math" panose="02040503050406030204" pitchFamily="18" charset="0"/>
                      </a:rPr>
                      <m:t>=</m:t>
                    </m:r>
                    <m:f>
                      <m:fPr>
                        <m:ctrlPr>
                          <a:rPr lang="en-US" sz="2000" i="1">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2000−400</m:t>
                        </m:r>
                      </m:num>
                      <m:den>
                        <m:r>
                          <a:rPr lang="en-US" sz="2000" b="0" i="1" smtClean="0">
                            <a:latin typeface="Cambria Math" panose="02040503050406030204" pitchFamily="18" charset="0"/>
                            <a:cs typeface="Arial" panose="020B0604020202020204" pitchFamily="34" charset="0"/>
                          </a:rPr>
                          <m:t>3800</m:t>
                        </m:r>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400</m:t>
                        </m:r>
                      </m:den>
                    </m:f>
                    <m:r>
                      <a:rPr lang="en-US" sz="2000" b="0" i="1" smtClean="0">
                        <a:latin typeface="Cambria Math" panose="02040503050406030204" pitchFamily="18" charset="0"/>
                        <a:cs typeface="Arial" panose="020B0604020202020204" pitchFamily="34" charset="0"/>
                      </a:rPr>
                      <m:t>=0.4706</m:t>
                    </m:r>
                  </m:oMath>
                </a14:m>
                <a:r>
                  <a:rPr lang="en-US" sz="2000" b="0" i="1" dirty="0" smtClean="0">
                    <a:latin typeface="Arial" panose="020B0604020202020204" pitchFamily="34" charset="0"/>
                    <a:cs typeface="Arial" panose="020B0604020202020204" pitchFamily="34" charset="0"/>
                  </a:rPr>
                  <a:t> </a:t>
                </a:r>
              </a:p>
              <a:p>
                <a:pPr algn="just">
                  <a:lnSpc>
                    <a:spcPct val="150000"/>
                  </a:lnSpc>
                </a:pPr>
                <a:r>
                  <a:rPr lang="en-US" sz="2000" dirty="0" smtClean="0">
                    <a:latin typeface="Arial" panose="020B0604020202020204" pitchFamily="34" charset="0"/>
                    <a:cs typeface="Arial" panose="020B0604020202020204" pitchFamily="34" charset="0"/>
                  </a:rPr>
                  <a:t>	(d)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b="0" i="1" smtClean="0">
                            <a:latin typeface="Cambria Math" panose="02040503050406030204" pitchFamily="18" charset="0"/>
                          </a:rPr>
                          <m:t>&gt;3</m:t>
                        </m:r>
                        <m:r>
                          <a:rPr lang="en-US" sz="2000" i="1">
                            <a:latin typeface="Cambria Math" panose="02040503050406030204" pitchFamily="18" charset="0"/>
                          </a:rPr>
                          <m:t>000</m:t>
                        </m:r>
                      </m:e>
                    </m:d>
                    <m:r>
                      <a:rPr lang="en-US" sz="2000" i="1">
                        <a:latin typeface="Cambria Math" panose="02040503050406030204" pitchFamily="18" charset="0"/>
                      </a:rPr>
                      <m:t>=</m:t>
                    </m:r>
                    <m:r>
                      <a:rPr lang="en-US" sz="2000" b="0" i="1" smtClean="0">
                        <a:latin typeface="Cambria Math" panose="02040503050406030204" pitchFamily="18" charset="0"/>
                      </a:rPr>
                      <m:t>1−</m:t>
                    </m:r>
                    <m:r>
                      <a:rPr lang="en-US" sz="2000" i="1">
                        <a:latin typeface="Cambria Math" panose="02040503050406030204" pitchFamily="18" charset="0"/>
                      </a:rPr>
                      <m:t>𝐹</m:t>
                    </m:r>
                    <m:d>
                      <m:dPr>
                        <m:ctrlPr>
                          <a:rPr lang="en-US" sz="2000" i="1">
                            <a:latin typeface="Cambria Math" panose="02040503050406030204" pitchFamily="18" charset="0"/>
                          </a:rPr>
                        </m:ctrlPr>
                      </m:dPr>
                      <m:e>
                        <m:r>
                          <a:rPr lang="en-US" sz="2000" b="0" i="1" smtClean="0">
                            <a:latin typeface="Cambria Math" panose="02040503050406030204" pitchFamily="18" charset="0"/>
                          </a:rPr>
                          <m:t>3</m:t>
                        </m:r>
                        <m:r>
                          <a:rPr lang="en-US" sz="2000" i="1">
                            <a:latin typeface="Cambria Math" panose="02040503050406030204" pitchFamily="18" charset="0"/>
                          </a:rPr>
                          <m:t>000</m:t>
                        </m:r>
                      </m:e>
                    </m:d>
                    <m:r>
                      <a:rPr lang="en-US" sz="2000" i="1">
                        <a:latin typeface="Cambria Math" panose="02040503050406030204" pitchFamily="18" charset="0"/>
                      </a:rPr>
                      <m:t>=</m:t>
                    </m:r>
                    <m:r>
                      <a:rPr lang="en-US" sz="2000" b="0" i="1" smtClean="0">
                        <a:latin typeface="Cambria Math" panose="02040503050406030204" pitchFamily="18" charset="0"/>
                      </a:rPr>
                      <m:t>1−</m:t>
                    </m:r>
                    <m:f>
                      <m:fPr>
                        <m:ctrlPr>
                          <a:rPr lang="en-US" sz="2000" i="1">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3</m:t>
                        </m:r>
                        <m:r>
                          <a:rPr lang="en-US" sz="2000" i="1">
                            <a:latin typeface="Cambria Math" panose="02040503050406030204" pitchFamily="18" charset="0"/>
                            <a:cs typeface="Arial" panose="020B0604020202020204" pitchFamily="34" charset="0"/>
                          </a:rPr>
                          <m:t>000−400</m:t>
                        </m:r>
                      </m:num>
                      <m:den>
                        <m:r>
                          <a:rPr lang="en-US" sz="2000" i="1">
                            <a:latin typeface="Cambria Math" panose="02040503050406030204" pitchFamily="18" charset="0"/>
                            <a:cs typeface="Arial" panose="020B0604020202020204" pitchFamily="34" charset="0"/>
                          </a:rPr>
                          <m:t>3800−400</m:t>
                        </m:r>
                      </m:den>
                    </m:f>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1−</m:t>
                    </m:r>
                    <m:r>
                      <a:rPr lang="en-US" sz="2000" i="1">
                        <a:latin typeface="Cambria Math" panose="02040503050406030204" pitchFamily="18" charset="0"/>
                        <a:cs typeface="Arial" panose="020B0604020202020204" pitchFamily="34" charset="0"/>
                      </a:rPr>
                      <m:t>0.</m:t>
                    </m:r>
                    <m:r>
                      <a:rPr lang="en-US" sz="2000" b="0" i="1" smtClean="0">
                        <a:latin typeface="Cambria Math" panose="02040503050406030204" pitchFamily="18" charset="0"/>
                        <a:cs typeface="Arial" panose="020B0604020202020204" pitchFamily="34" charset="0"/>
                      </a:rPr>
                      <m:t>765=0.235</m:t>
                    </m:r>
                  </m:oMath>
                </a14:m>
                <a:r>
                  <a:rPr lang="en-US" sz="2000" i="1" dirty="0">
                    <a:latin typeface="Arial" panose="020B0604020202020204" pitchFamily="34" charset="0"/>
                    <a:cs typeface="Arial" panose="020B0604020202020204" pitchFamily="34" charset="0"/>
                  </a:rPr>
                  <a:t> </a:t>
                </a:r>
                <a:endParaRPr lang="en-US" sz="2000" b="0" dirty="0" smtClean="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559410" y="645459"/>
                <a:ext cx="10831132" cy="6212541"/>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38693285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63639"/>
            <a:ext cx="9144000" cy="605308"/>
          </a:xfrm>
        </p:spPr>
        <p:txBody>
          <a:bodyPr>
            <a:noAutofit/>
          </a:bodyPr>
          <a:lstStyle/>
          <a:p>
            <a:r>
              <a:rPr lang="en-US" sz="2400" b="1" dirty="0" smtClean="0">
                <a:latin typeface="Arial" panose="020B0604020202020204" pitchFamily="34" charset="0"/>
                <a:cs typeface="Arial" panose="020B0604020202020204" pitchFamily="34" charset="0"/>
              </a:rPr>
              <a:t>Exponential Distribution</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1297397"/>
                <a:ext cx="10831132" cy="5372344"/>
              </a:xfrm>
            </p:spPr>
            <p:txBody>
              <a:bodyPr>
                <a:noAutofit/>
              </a:bodyPr>
              <a:lstStyle/>
              <a:p>
                <a:pPr marL="342900" indent="-342900" algn="just">
                  <a:lnSpc>
                    <a:spcPct val="150000"/>
                  </a:lnSpc>
                  <a:buFont typeface="Arial" panose="020B0604020202020204" pitchFamily="34" charset="0"/>
                  <a:buChar char="•"/>
                </a:pPr>
                <a:endParaRPr lang="en-US" sz="2000" dirty="0" smtClean="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A continuous random variable </a:t>
                </a:r>
                <a14:m>
                  <m:oMath xmlns:m="http://schemas.openxmlformats.org/officeDocument/2006/math">
                    <m:r>
                      <a:rPr lang="en-US" sz="2000" i="1">
                        <a:latin typeface="Cambria Math" panose="02040503050406030204" pitchFamily="18" charset="0"/>
                      </a:rPr>
                      <m:t>𝑋</m:t>
                    </m:r>
                  </m:oMath>
                </a14:m>
                <a:r>
                  <a:rPr lang="en-US" sz="2000" dirty="0">
                    <a:latin typeface="Arial" panose="020B0604020202020204" pitchFamily="34" charset="0"/>
                    <a:cs typeface="Arial" panose="020B0604020202020204" pitchFamily="34" charset="0"/>
                  </a:rPr>
                  <a:t> is said to have a continuous uniform distribution if</a:t>
                </a:r>
              </a:p>
              <a:p>
                <a:pPr algn="just">
                  <a:lnSpc>
                    <a:spcPct val="100000"/>
                  </a:lnSpc>
                </a:pP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cs typeface="Arial" panose="020B0604020202020204" pitchFamily="34" charset="0"/>
                      </a:rPr>
                      <m:t>𝑓</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𝑥</m:t>
                        </m:r>
                      </m:e>
                    </m:d>
                    <m:r>
                      <a:rPr lang="en-US" sz="2000" i="1">
                        <a:latin typeface="Cambria Math" panose="02040503050406030204" pitchFamily="18" charset="0"/>
                        <a:cs typeface="Arial" panose="020B0604020202020204" pitchFamily="34" charset="0"/>
                      </a:rPr>
                      <m:t>=</m:t>
                    </m:r>
                    <m:f>
                      <m:fPr>
                        <m:ctrlPr>
                          <a:rPr lang="en-US" sz="2000" i="1" smtClean="0">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1</m:t>
                        </m:r>
                      </m:num>
                      <m:den>
                        <m:r>
                          <a:rPr lang="en-US" sz="2000" b="0" i="1" smtClean="0">
                            <a:latin typeface="Cambria Math" panose="02040503050406030204" pitchFamily="18" charset="0"/>
                            <a:cs typeface="Arial" panose="020B0604020202020204" pitchFamily="34" charset="0"/>
                          </a:rPr>
                          <m:t>𝜆</m:t>
                        </m:r>
                      </m:den>
                    </m:f>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𝑒</m:t>
                        </m:r>
                      </m:e>
                      <m:sup>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𝑥</m:t>
                            </m:r>
                          </m:num>
                          <m:den>
                            <m:r>
                              <a:rPr lang="en-US" sz="2000" i="1">
                                <a:latin typeface="Cambria Math" panose="02040503050406030204" pitchFamily="18" charset="0"/>
                                <a:cs typeface="Arial" panose="020B0604020202020204" pitchFamily="34" charset="0"/>
                              </a:rPr>
                              <m:t>𝜆</m:t>
                            </m:r>
                          </m:den>
                        </m:f>
                      </m:sup>
                    </m:sSup>
                    <m:r>
                      <a:rPr lang="en-US" sz="2000" i="1">
                        <a:latin typeface="Cambria Math" panose="02040503050406030204" pitchFamily="18" charset="0"/>
                        <a:cs typeface="Arial" panose="020B0604020202020204" pitchFamily="34" charset="0"/>
                      </a:rPr>
                      <m:t>, </m:t>
                    </m:r>
                    <m:r>
                      <a:rPr lang="en-US" sz="2000" i="1">
                        <a:latin typeface="Cambria Math" panose="02040503050406030204" pitchFamily="18" charset="0"/>
                        <a:cs typeface="Arial" panose="020B0604020202020204" pitchFamily="34" charset="0"/>
                      </a:rPr>
                      <m:t>𝑥</m:t>
                    </m:r>
                    <m:r>
                      <a:rPr lang="en-US" sz="2000" i="1">
                        <a:latin typeface="Cambria Math" panose="02040503050406030204" pitchFamily="18" charset="0"/>
                        <a:cs typeface="Arial" panose="020B0604020202020204" pitchFamily="34" charset="0"/>
                      </a:rPr>
                      <m:t>≥0,</m:t>
                    </m:r>
                    <m:r>
                      <a:rPr lang="en-US" sz="2000" i="1">
                        <a:latin typeface="Cambria Math" panose="02040503050406030204" pitchFamily="18" charset="0"/>
                        <a:cs typeface="Arial" panose="020B0604020202020204" pitchFamily="34" charset="0"/>
                      </a:rPr>
                      <m:t>𝜆</m:t>
                    </m:r>
                    <m:r>
                      <a:rPr lang="en-US" sz="2000" b="0" i="1" smtClean="0">
                        <a:latin typeface="Cambria Math" panose="02040503050406030204" pitchFamily="18" charset="0"/>
                        <a:cs typeface="Arial" panose="020B0604020202020204" pitchFamily="34" charset="0"/>
                      </a:rPr>
                      <m:t>&gt;0</m:t>
                    </m:r>
                  </m:oMath>
                </a14:m>
                <a:r>
                  <a:rPr lang="en-US" sz="2000" dirty="0">
                    <a:latin typeface="Arial" panose="020B0604020202020204" pitchFamily="34" charset="0"/>
                    <a:cs typeface="Arial" panose="020B0604020202020204" pitchFamily="34" charset="0"/>
                  </a:rPr>
                  <a:t>. </a:t>
                </a:r>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Suppose </a:t>
                </a:r>
                <a:r>
                  <a:rPr lang="en-US" sz="2000" dirty="0">
                    <a:latin typeface="Arial" panose="020B0604020202020204" pitchFamily="34" charset="0"/>
                    <a:cs typeface="Arial" panose="020B0604020202020204" pitchFamily="34" charset="0"/>
                  </a:rPr>
                  <a:t>that </a:t>
                </a:r>
                <a14:m>
                  <m:oMath xmlns:m="http://schemas.openxmlformats.org/officeDocument/2006/math">
                    <m:r>
                      <a:rPr lang="en-US" sz="2000" i="1">
                        <a:latin typeface="Cambria Math" panose="02040503050406030204" pitchFamily="18" charset="0"/>
                        <a:cs typeface="Arial" panose="020B0604020202020204" pitchFamily="34" charset="0"/>
                      </a:rPr>
                      <m:t>𝑋</m:t>
                    </m:r>
                  </m:oMath>
                </a14:m>
                <a:r>
                  <a:rPr lang="en-US" sz="2000" dirty="0">
                    <a:latin typeface="Arial" panose="020B0604020202020204" pitchFamily="34" charset="0"/>
                    <a:cs typeface="Arial" panose="020B0604020202020204" pitchFamily="34" charset="0"/>
                  </a:rPr>
                  <a:t> follows </a:t>
                </a:r>
                <a:r>
                  <a:rPr lang="en-US" sz="2000" dirty="0" smtClean="0">
                    <a:latin typeface="Arial" panose="020B0604020202020204" pitchFamily="34" charset="0"/>
                    <a:cs typeface="Arial" panose="020B0604020202020204" pitchFamily="34" charset="0"/>
                  </a:rPr>
                  <a:t>exponential distribution, it </a:t>
                </a:r>
                <a:r>
                  <a:rPr lang="en-US" sz="2000" dirty="0">
                    <a:latin typeface="Arial" panose="020B0604020202020204" pitchFamily="34" charset="0"/>
                    <a:cs typeface="Arial" panose="020B0604020202020204" pitchFamily="34" charset="0"/>
                  </a:rPr>
                  <a:t>is represented by </a:t>
                </a:r>
                <a14:m>
                  <m:oMath xmlns:m="http://schemas.openxmlformats.org/officeDocument/2006/math">
                    <m:r>
                      <a:rPr lang="en-US" sz="2000" i="1">
                        <a:latin typeface="Cambria Math" panose="02040503050406030204" pitchFamily="18" charset="0"/>
                        <a:cs typeface="Arial" panose="020B0604020202020204" pitchFamily="34" charset="0"/>
                      </a:rPr>
                      <m:t>𝑋</m:t>
                    </m:r>
                    <m:r>
                      <a:rPr lang="en-US" sz="2000" i="1">
                        <a:latin typeface="Cambria Math" panose="02040503050406030204" pitchFamily="18" charset="0"/>
                        <a:cs typeface="Arial" panose="020B0604020202020204" pitchFamily="34" charset="0"/>
                      </a:rPr>
                      <m:t>∼</m:t>
                    </m:r>
                    <m:r>
                      <m:rPr>
                        <m:sty m:val="p"/>
                      </m:rPr>
                      <a:rPr lang="en-US" sz="2000" b="0" i="0" smtClean="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𝜆</m:t>
                    </m:r>
                    <m:r>
                      <a:rPr lang="en-US" sz="2000" i="1" dirty="0">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a:t>
                </a:r>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The </a:t>
                </a:r>
                <a:r>
                  <a:rPr lang="en-US" sz="2000" dirty="0" err="1" smtClean="0">
                    <a:latin typeface="Arial" panose="020B0604020202020204" pitchFamily="34" charset="0"/>
                    <a:cs typeface="Arial" panose="020B0604020202020204" pitchFamily="34" charset="0"/>
                  </a:rPr>
                  <a:t>cdf</a:t>
                </a:r>
                <a:r>
                  <a:rPr lang="en-US" sz="2000" dirty="0" smtClean="0">
                    <a:latin typeface="Arial" panose="020B0604020202020204" pitchFamily="34" charset="0"/>
                    <a:cs typeface="Arial" panose="020B0604020202020204" pitchFamily="34" charset="0"/>
                  </a:rPr>
                  <a:t> of</a:t>
                </a:r>
                <a14:m>
                  <m:oMath xmlns:m="http://schemas.openxmlformats.org/officeDocument/2006/math">
                    <m:r>
                      <a:rPr lang="en-US" sz="2000" b="0" i="0" smtClean="0">
                        <a:latin typeface="Cambria Math" panose="02040503050406030204" pitchFamily="18" charset="0"/>
                        <a:cs typeface="Arial" panose="020B0604020202020204" pitchFamily="34" charset="0"/>
                      </a:rPr>
                      <m:t> </m:t>
                    </m:r>
                    <m:r>
                      <a:rPr lang="en-US" sz="2000" i="1">
                        <a:latin typeface="Cambria Math" panose="02040503050406030204" pitchFamily="18" charset="0"/>
                        <a:cs typeface="Arial" panose="020B0604020202020204" pitchFamily="34" charset="0"/>
                      </a:rPr>
                      <m:t>𝑋</m:t>
                    </m:r>
                    <m:r>
                      <a:rPr lang="en-US" sz="2000" i="1">
                        <a:latin typeface="Cambria Math" panose="02040503050406030204" pitchFamily="18" charset="0"/>
                        <a:cs typeface="Arial" panose="020B0604020202020204" pitchFamily="34" charset="0"/>
                      </a:rPr>
                      <m:t>∼</m:t>
                    </m:r>
                    <m:r>
                      <m:rPr>
                        <m:sty m:val="p"/>
                      </m:rPr>
                      <a:rPr lang="en-US" sz="200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𝜆</m:t>
                    </m:r>
                    <m:r>
                      <a:rPr lang="en-US" sz="2000" i="1" dirty="0">
                        <a:latin typeface="Cambria Math" panose="02040503050406030204" pitchFamily="18" charset="0"/>
                        <a:cs typeface="Arial" panose="020B0604020202020204" pitchFamily="34" charset="0"/>
                      </a:rPr>
                      <m:t>)</m:t>
                    </m:r>
                  </m:oMath>
                </a14:m>
                <a:r>
                  <a:rPr lang="en-US" sz="2000" dirty="0" smtClean="0">
                    <a:latin typeface="Arial" panose="020B0604020202020204" pitchFamily="34" charset="0"/>
                    <a:cs typeface="Arial" panose="020B0604020202020204" pitchFamily="34" charset="0"/>
                  </a:rPr>
                  <a:t> is </a:t>
                </a:r>
                <a14:m>
                  <m:oMath xmlns:m="http://schemas.openxmlformats.org/officeDocument/2006/math">
                    <m:r>
                      <a:rPr lang="en-US" sz="2000" b="0" i="1" smtClean="0">
                        <a:latin typeface="Cambria Math" panose="02040503050406030204" pitchFamily="18" charset="0"/>
                        <a:cs typeface="Arial" panose="020B0604020202020204" pitchFamily="34" charset="0"/>
                      </a:rPr>
                      <m:t>𝐹</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𝑥</m:t>
                        </m:r>
                      </m:e>
                    </m:d>
                    <m:r>
                      <a:rPr lang="en-US" sz="2000" b="0" i="1" smtClean="0">
                        <a:latin typeface="Cambria Math" panose="02040503050406030204" pitchFamily="18" charset="0"/>
                        <a:cs typeface="Arial" panose="020B0604020202020204" pitchFamily="34" charset="0"/>
                      </a:rPr>
                      <m:t>=1−</m:t>
                    </m:r>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cs typeface="Arial" panose="020B0604020202020204" pitchFamily="34" charset="0"/>
                          </a:rPr>
                          <m:t>𝑒</m:t>
                        </m:r>
                      </m:e>
                      <m:sup>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𝑥</m:t>
                            </m:r>
                          </m:num>
                          <m:den>
                            <m:r>
                              <a:rPr lang="en-US" sz="2000" i="1">
                                <a:latin typeface="Cambria Math" panose="02040503050406030204" pitchFamily="18" charset="0"/>
                                <a:cs typeface="Arial" panose="020B0604020202020204" pitchFamily="34" charset="0"/>
                              </a:rPr>
                              <m:t>𝜆</m:t>
                            </m:r>
                          </m:den>
                        </m:f>
                      </m:sup>
                    </m:sSup>
                    <m:r>
                      <a:rPr lang="en-US" sz="2000" b="0" i="1" smtClean="0">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𝑥</m:t>
                    </m:r>
                    <m:r>
                      <a:rPr lang="en-US" sz="2000" i="1">
                        <a:latin typeface="Cambria Math" panose="02040503050406030204" pitchFamily="18" charset="0"/>
                        <a:cs typeface="Arial" panose="020B0604020202020204" pitchFamily="34" charset="0"/>
                      </a:rPr>
                      <m:t>≥0</m:t>
                    </m:r>
                  </m:oMath>
                </a14:m>
                <a:endParaRPr lang="en-US" sz="2000" b="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If </a:t>
                </a:r>
                <a14:m>
                  <m:oMath xmlns:m="http://schemas.openxmlformats.org/officeDocument/2006/math">
                    <m:r>
                      <a:rPr lang="en-US" sz="2000" i="1">
                        <a:latin typeface="Cambria Math" panose="02040503050406030204" pitchFamily="18" charset="0"/>
                        <a:cs typeface="Arial" panose="020B0604020202020204" pitchFamily="34" charset="0"/>
                      </a:rPr>
                      <m:t>𝑋</m:t>
                    </m:r>
                    <m:r>
                      <a:rPr lang="en-US" sz="2000" i="1">
                        <a:latin typeface="Cambria Math" panose="02040503050406030204" pitchFamily="18" charset="0"/>
                        <a:cs typeface="Arial" panose="020B0604020202020204" pitchFamily="34" charset="0"/>
                      </a:rPr>
                      <m:t>∼</m:t>
                    </m:r>
                    <m:r>
                      <m:rPr>
                        <m:sty m:val="p"/>
                      </m:rPr>
                      <a:rPr lang="en-US" sz="200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𝜆</m:t>
                    </m:r>
                    <m:r>
                      <a:rPr lang="en-US" sz="2000" i="1" dirty="0">
                        <a:latin typeface="Cambria Math" panose="02040503050406030204" pitchFamily="18" charset="0"/>
                        <a:cs typeface="Arial" panose="020B0604020202020204" pitchFamily="34" charset="0"/>
                      </a:rPr>
                      <m:t>)</m:t>
                    </m:r>
                  </m:oMath>
                </a14:m>
                <a:r>
                  <a:rPr lang="en-US" sz="2000" dirty="0" smtClean="0">
                    <a:latin typeface="Arial" panose="020B0604020202020204" pitchFamily="34" charset="0"/>
                    <a:cs typeface="Arial" panose="020B0604020202020204" pitchFamily="34" charset="0"/>
                  </a:rPr>
                  <a:t>, it can be shown that the </a:t>
                </a:r>
                <a:r>
                  <a:rPr lang="en-US" sz="2000" dirty="0">
                    <a:latin typeface="Arial" panose="020B0604020202020204" pitchFamily="34" charset="0"/>
                    <a:cs typeface="Arial" panose="020B0604020202020204" pitchFamily="34" charset="0"/>
                  </a:rPr>
                  <a:t>mean and variance </a:t>
                </a:r>
                <a:r>
                  <a:rPr lang="en-US" sz="2000" dirty="0" smtClean="0">
                    <a:latin typeface="Arial" panose="020B0604020202020204" pitchFamily="34" charset="0"/>
                    <a:cs typeface="Arial" panose="020B0604020202020204" pitchFamily="34" charset="0"/>
                  </a:rPr>
                  <a:t>are </a:t>
                </a:r>
              </a:p>
              <a:p>
                <a:pPr algn="just">
                  <a:lnSpc>
                    <a:spcPct val="150000"/>
                  </a:lnSpc>
                </a:pP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Mean: </a:t>
                </a:r>
                <a14:m>
                  <m:oMath xmlns:m="http://schemas.openxmlformats.org/officeDocument/2006/math">
                    <m:r>
                      <a:rPr lang="en-US" sz="2000" i="1">
                        <a:latin typeface="Cambria Math" panose="02040503050406030204" pitchFamily="18" charset="0"/>
                      </a:rPr>
                      <m:t>𝜇</m:t>
                    </m:r>
                    <m:r>
                      <a:rPr lang="en-US" sz="2000" i="1">
                        <a:latin typeface="Cambria Math" panose="02040503050406030204" pitchFamily="18" charset="0"/>
                      </a:rPr>
                      <m:t>=</m:t>
                    </m:r>
                    <m:r>
                      <a:rPr lang="en-US" sz="2000" i="1">
                        <a:latin typeface="Cambria Math" panose="02040503050406030204" pitchFamily="18" charset="0"/>
                      </a:rPr>
                      <m:t>𝐸</m:t>
                    </m:r>
                    <m:d>
                      <m:dPr>
                        <m:ctrlPr>
                          <a:rPr lang="en-US" sz="2000" i="1">
                            <a:latin typeface="Cambria Math" panose="02040503050406030204" pitchFamily="18" charset="0"/>
                          </a:rPr>
                        </m:ctrlPr>
                      </m:dPr>
                      <m:e>
                        <m:r>
                          <a:rPr lang="en-US" sz="2000" i="1">
                            <a:latin typeface="Cambria Math" panose="02040503050406030204" pitchFamily="18" charset="0"/>
                          </a:rPr>
                          <m:t>𝑋</m:t>
                        </m:r>
                      </m:e>
                    </m:d>
                    <m:r>
                      <a:rPr lang="en-US" sz="2000" i="1">
                        <a:latin typeface="Cambria Math" panose="02040503050406030204" pitchFamily="18" charset="0"/>
                      </a:rPr>
                      <m:t>=</m:t>
                    </m:r>
                    <m:r>
                      <a:rPr lang="en-US" sz="2000" i="1">
                        <a:latin typeface="Cambria Math" panose="02040503050406030204" pitchFamily="18" charset="0"/>
                        <a:cs typeface="Arial" panose="020B0604020202020204" pitchFamily="34" charset="0"/>
                      </a:rPr>
                      <m:t>𝜆</m:t>
                    </m:r>
                    <m:r>
                      <a:rPr lang="en-US" sz="2000" i="1">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r>
                      <a:rPr lang="en-US" sz="2000" i="1">
                        <a:latin typeface="Cambria Math" panose="02040503050406030204" pitchFamily="18" charset="0"/>
                      </a:rPr>
                      <m:t>=</m:t>
                    </m:r>
                    <m:r>
                      <a:rPr lang="en-US" sz="2000" i="1">
                        <a:latin typeface="Cambria Math" panose="02040503050406030204" pitchFamily="18" charset="0"/>
                      </a:rPr>
                      <m:t>𝑉</m:t>
                    </m:r>
                    <m:d>
                      <m:dPr>
                        <m:ctrlPr>
                          <a:rPr lang="en-US" sz="2000" i="1">
                            <a:latin typeface="Cambria Math" panose="02040503050406030204" pitchFamily="18" charset="0"/>
                          </a:rPr>
                        </m:ctrlPr>
                      </m:dPr>
                      <m:e>
                        <m:r>
                          <a:rPr lang="en-US" sz="2000" i="1">
                            <a:latin typeface="Cambria Math" panose="02040503050406030204" pitchFamily="18" charset="0"/>
                          </a:rPr>
                          <m:t>𝑋</m:t>
                        </m:r>
                      </m:e>
                    </m:d>
                    <m:r>
                      <a:rPr lang="en-US" sz="2000" i="1">
                        <a:latin typeface="Cambria Math" panose="02040503050406030204" pitchFamily="18" charset="0"/>
                      </a:rPr>
                      <m:t>=</m:t>
                    </m:r>
                    <m:sSup>
                      <m:sSupPr>
                        <m:ctrlPr>
                          <a:rPr lang="en-US" sz="2000" b="0" i="1" smtClean="0">
                            <a:latin typeface="Cambria Math" panose="02040503050406030204" pitchFamily="18" charset="0"/>
                            <a:cs typeface="Arial" panose="020B0604020202020204" pitchFamily="34" charset="0"/>
                          </a:rPr>
                        </m:ctrlPr>
                      </m:sSupPr>
                      <m:e>
                        <m:r>
                          <a:rPr lang="en-US" sz="2000" i="1">
                            <a:latin typeface="Cambria Math" panose="02040503050406030204" pitchFamily="18" charset="0"/>
                            <a:cs typeface="Arial" panose="020B0604020202020204" pitchFamily="34" charset="0"/>
                          </a:rPr>
                          <m:t>𝜆</m:t>
                        </m:r>
                      </m:e>
                      <m:sup>
                        <m:r>
                          <a:rPr lang="en-US" sz="2000" b="0" i="1" smtClean="0">
                            <a:latin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cs typeface="Arial" panose="020B0604020202020204" pitchFamily="34" charset="0"/>
                      </a:rPr>
                      <m:t> </m:t>
                    </m:r>
                  </m:oMath>
                </a14:m>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1297397"/>
                <a:ext cx="10831132" cy="5372344"/>
              </a:xfrm>
              <a:blipFill rotWithShape="0">
                <a:blip r:embed="rId2"/>
                <a:stretch>
                  <a:fillRect l="-506"/>
                </a:stretch>
              </a:blipFill>
            </p:spPr>
            <p:txBody>
              <a:bodyPr/>
              <a:lstStyle/>
              <a:p>
                <a:r>
                  <a:rPr lang="en-US">
                    <a:noFill/>
                  </a:rPr>
                  <a:t> </a:t>
                </a:r>
              </a:p>
            </p:txBody>
          </p:sp>
        </mc:Fallback>
      </mc:AlternateContent>
    </p:spTree>
    <p:extLst>
      <p:ext uri="{BB962C8B-B14F-4D97-AF65-F5344CB8AC3E}">
        <p14:creationId xmlns:p14="http://schemas.microsoft.com/office/powerpoint/2010/main" val="14511446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0794"/>
            <a:ext cx="9144000" cy="605308"/>
          </a:xfrm>
        </p:spPr>
        <p:txBody>
          <a:bodyPr>
            <a:noAutofit/>
          </a:bodyPr>
          <a:lstStyle/>
          <a:p>
            <a:r>
              <a:rPr lang="en-US" sz="2400" b="1" dirty="0">
                <a:latin typeface="Arial" panose="020B0604020202020204" pitchFamily="34" charset="0"/>
                <a:cs typeface="Arial" panose="020B0604020202020204" pitchFamily="34" charset="0"/>
              </a:rPr>
              <a:t>Continuous Uniform Distribution </a:t>
            </a:r>
            <a:r>
              <a:rPr lang="en-US" sz="2400" b="1" dirty="0" smtClean="0">
                <a:latin typeface="Arial" panose="020B0604020202020204" pitchFamily="34" charset="0"/>
                <a:cs typeface="Arial" panose="020B0604020202020204" pitchFamily="34" charset="0"/>
              </a:rPr>
              <a:t>(</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559410" y="645459"/>
            <a:ext cx="10831132" cy="6212541"/>
          </a:xfrm>
        </p:spPr>
        <p:txBody>
          <a:bodyPr>
            <a:noAutofit/>
          </a:bodyPr>
          <a:lstStyle/>
          <a:p>
            <a:pPr algn="just">
              <a:lnSpc>
                <a:spcPct val="150000"/>
              </a:lnSpc>
            </a:pPr>
            <a:endParaRPr lang="en-US" sz="2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a:t>
            </a:r>
            <a:r>
              <a:rPr lang="en-US" sz="2000" dirty="0" smtClean="0">
                <a:latin typeface="Arial" panose="020B0604020202020204" pitchFamily="34" charset="0"/>
                <a:cs typeface="Arial" panose="020B0604020202020204" pitchFamily="34" charset="0"/>
              </a:rPr>
              <a:t>: Waiting </a:t>
            </a:r>
            <a:r>
              <a:rPr lang="en-US" sz="2000" dirty="0">
                <a:latin typeface="Arial" panose="020B0604020202020204" pitchFamily="34" charset="0"/>
                <a:cs typeface="Arial" panose="020B0604020202020204" pitchFamily="34" charset="0"/>
              </a:rPr>
              <a:t>times to receive food after placing an order at a</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local </a:t>
            </a:r>
            <a:r>
              <a:rPr lang="en-US" sz="2000" dirty="0" smtClean="0">
                <a:latin typeface="Arial" panose="020B0604020202020204" pitchFamily="34" charset="0"/>
                <a:cs typeface="Arial" panose="020B0604020202020204" pitchFamily="34" charset="0"/>
              </a:rPr>
              <a:t>sandwich shop follow </a:t>
            </a:r>
            <a:r>
              <a:rPr lang="en-US" sz="2000" dirty="0">
                <a:latin typeface="Arial" panose="020B0604020202020204" pitchFamily="34" charset="0"/>
                <a:cs typeface="Arial" panose="020B0604020202020204" pitchFamily="34" charset="0"/>
              </a:rPr>
              <a:t>an exponential distribution with a mean of 60 seconds. Calculate the probability </a:t>
            </a:r>
            <a:r>
              <a:rPr lang="en-US" sz="2000" dirty="0" smtClean="0">
                <a:latin typeface="Arial" panose="020B0604020202020204" pitchFamily="34" charset="0"/>
                <a:cs typeface="Arial" panose="020B0604020202020204" pitchFamily="34" charset="0"/>
              </a:rPr>
              <a:t>a customer waits: </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a</a:t>
            </a:r>
            <a:r>
              <a:rPr lang="en-US" sz="2000" dirty="0">
                <a:latin typeface="Arial" panose="020B0604020202020204" pitchFamily="34" charset="0"/>
                <a:cs typeface="Arial" panose="020B0604020202020204" pitchFamily="34" charset="0"/>
              </a:rPr>
              <a:t>. Less than 30 </a:t>
            </a:r>
            <a:r>
              <a:rPr lang="en-US" sz="2000" dirty="0" smtClean="0">
                <a:latin typeface="Arial" panose="020B0604020202020204" pitchFamily="34" charset="0"/>
                <a:cs typeface="Arial" panose="020B0604020202020204" pitchFamily="34" charset="0"/>
              </a:rPr>
              <a:t>seconds.</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b</a:t>
            </a:r>
            <a:r>
              <a:rPr lang="en-US" sz="2000" dirty="0">
                <a:latin typeface="Arial" panose="020B0604020202020204" pitchFamily="34" charset="0"/>
                <a:cs typeface="Arial" panose="020B0604020202020204" pitchFamily="34" charset="0"/>
              </a:rPr>
              <a:t>. More than 120 </a:t>
            </a:r>
            <a:r>
              <a:rPr lang="en-US" sz="2000" dirty="0" smtClean="0">
                <a:latin typeface="Arial" panose="020B0604020202020204" pitchFamily="34" charset="0"/>
                <a:cs typeface="Arial" panose="020B0604020202020204" pitchFamily="34" charset="0"/>
              </a:rPr>
              <a:t>seconds.</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c</a:t>
            </a:r>
            <a:r>
              <a:rPr lang="en-US" sz="2000" dirty="0">
                <a:latin typeface="Arial" panose="020B0604020202020204" pitchFamily="34" charset="0"/>
                <a:cs typeface="Arial" panose="020B0604020202020204" pitchFamily="34" charset="0"/>
              </a:rPr>
              <a:t>. Between 45 and 75 </a:t>
            </a:r>
            <a:r>
              <a:rPr lang="en-US" sz="2000" dirty="0" smtClean="0">
                <a:latin typeface="Arial" panose="020B0604020202020204" pitchFamily="34" charset="0"/>
                <a:cs typeface="Arial" panose="020B0604020202020204" pitchFamily="34" charset="0"/>
              </a:rPr>
              <a:t>seconds.</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d</a:t>
            </a:r>
            <a:r>
              <a:rPr lang="en-US" sz="2000" dirty="0">
                <a:latin typeface="Arial" panose="020B0604020202020204" pitchFamily="34" charset="0"/>
                <a:cs typeface="Arial" panose="020B0604020202020204" pitchFamily="34" charset="0"/>
              </a:rPr>
              <a:t>. Fifty percent of the patrons wait less than how many seconds? What is the median?</a:t>
            </a:r>
          </a:p>
        </p:txBody>
      </p:sp>
    </p:spTree>
    <p:extLst>
      <p:ext uri="{BB962C8B-B14F-4D97-AF65-F5344CB8AC3E}">
        <p14:creationId xmlns:p14="http://schemas.microsoft.com/office/powerpoint/2010/main" val="1349304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63639"/>
            <a:ext cx="9144000" cy="605308"/>
          </a:xfrm>
        </p:spPr>
        <p:txBody>
          <a:bodyPr>
            <a:noAutofit/>
          </a:bodyPr>
          <a:lstStyle/>
          <a:p>
            <a:r>
              <a:rPr lang="en-US" sz="2400" b="1" dirty="0" smtClean="0">
                <a:latin typeface="Arial" panose="020B0604020202020204" pitchFamily="34" charset="0"/>
                <a:cs typeface="Arial" panose="020B0604020202020204" pitchFamily="34" charset="0"/>
              </a:rPr>
              <a:t>Normal Distribution</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1297397"/>
                <a:ext cx="10831132" cy="5372344"/>
              </a:xfrm>
            </p:spPr>
            <p:txBody>
              <a:bodyPr>
                <a:noAutofit/>
              </a:bodyPr>
              <a:lstStyle/>
              <a:p>
                <a:pPr marL="342900" indent="-342900" algn="just">
                  <a:lnSpc>
                    <a:spcPct val="10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A </a:t>
                </a:r>
                <a:r>
                  <a:rPr lang="en-US" sz="2000" dirty="0">
                    <a:latin typeface="Arial" panose="020B0604020202020204" pitchFamily="34" charset="0"/>
                    <a:cs typeface="Arial" panose="020B0604020202020204" pitchFamily="34" charset="0"/>
                  </a:rPr>
                  <a:t>continuous random variable </a:t>
                </a:r>
                <a14:m>
                  <m:oMath xmlns:m="http://schemas.openxmlformats.org/officeDocument/2006/math">
                    <m:r>
                      <a:rPr lang="en-US" sz="2000" i="1">
                        <a:latin typeface="Cambria Math" panose="02040503050406030204" pitchFamily="18" charset="0"/>
                      </a:rPr>
                      <m:t>𝑋</m:t>
                    </m:r>
                  </m:oMath>
                </a14:m>
                <a:r>
                  <a:rPr lang="en-US" sz="2000" dirty="0">
                    <a:latin typeface="Arial" panose="020B0604020202020204" pitchFamily="34" charset="0"/>
                    <a:cs typeface="Arial" panose="020B0604020202020204" pitchFamily="34" charset="0"/>
                  </a:rPr>
                  <a:t> is said to have a </a:t>
                </a:r>
                <a:r>
                  <a:rPr lang="en-US" sz="2000" dirty="0" smtClean="0">
                    <a:latin typeface="Arial" panose="020B0604020202020204" pitchFamily="34" charset="0"/>
                    <a:cs typeface="Arial" panose="020B0604020202020204" pitchFamily="34" charset="0"/>
                  </a:rPr>
                  <a:t>normal distribution </a:t>
                </a:r>
                <a:r>
                  <a:rPr lang="en-US" sz="2000" dirty="0">
                    <a:latin typeface="Arial" panose="020B0604020202020204" pitchFamily="34" charset="0"/>
                    <a:cs typeface="Arial" panose="020B0604020202020204" pitchFamily="34" charset="0"/>
                  </a:rPr>
                  <a:t>if </a:t>
                </a:r>
                <a:r>
                  <a:rPr lang="en-US" sz="2000" dirty="0" smtClean="0">
                    <a:latin typeface="Arial" panose="020B0604020202020204" pitchFamily="34" charset="0"/>
                    <a:cs typeface="Arial" panose="020B0604020202020204" pitchFamily="34" charset="0"/>
                  </a:rPr>
                  <a:t>its pdf is</a:t>
                </a:r>
              </a:p>
              <a:p>
                <a:pPr>
                  <a:lnSpc>
                    <a:spcPct val="100000"/>
                  </a:lnSpc>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𝑓</m:t>
                      </m:r>
                      <m:d>
                        <m:dPr>
                          <m:ctrlPr>
                            <a:rPr lang="en-US" sz="2000" i="1">
                              <a:latin typeface="Cambria Math" panose="02040503050406030204" pitchFamily="18" charset="0"/>
                            </a:rPr>
                          </m:ctrlPr>
                        </m:dPr>
                        <m:e>
                          <m:r>
                            <a:rPr lang="en-US" sz="2000" i="1">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𝜇</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𝜎</m:t>
                              </m:r>
                            </m:e>
                            <m:sup>
                              <m:r>
                                <a:rPr lang="en-US" sz="2000" b="0" i="1" smtClean="0">
                                  <a:latin typeface="Cambria Math" panose="02040503050406030204" pitchFamily="18" charset="0"/>
                                </a:rPr>
                                <m:t>2</m:t>
                              </m:r>
                            </m:sup>
                          </m:sSup>
                        </m:e>
                      </m:d>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𝜎</m:t>
                          </m:r>
                          <m:rad>
                            <m:radPr>
                              <m:degHide m:val="on"/>
                              <m:ctrlPr>
                                <a:rPr lang="en-US" sz="2000" i="1">
                                  <a:latin typeface="Cambria Math" panose="02040503050406030204" pitchFamily="18" charset="0"/>
                                </a:rPr>
                              </m:ctrlPr>
                            </m:radPr>
                            <m:deg/>
                            <m:e>
                              <m:r>
                                <a:rPr lang="en-US" sz="2000" i="1">
                                  <a:latin typeface="Cambria Math" panose="02040503050406030204" pitchFamily="18" charset="0"/>
                                </a:rPr>
                                <m:t>2</m:t>
                              </m:r>
                              <m:r>
                                <a:rPr lang="en-US" sz="2000" i="1">
                                  <a:latin typeface="Cambria Math" panose="02040503050406030204" pitchFamily="18" charset="0"/>
                                </a:rPr>
                                <m:t>𝜋</m:t>
                              </m:r>
                            </m:e>
                          </m:rad>
                        </m:den>
                      </m:f>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𝜇</m:t>
                                      </m:r>
                                    </m:num>
                                    <m:den>
                                      <m:r>
                                        <a:rPr lang="en-US" sz="2000" i="1">
                                          <a:latin typeface="Cambria Math" panose="02040503050406030204" pitchFamily="18" charset="0"/>
                                        </a:rPr>
                                        <m:t>𝜎</m:t>
                                      </m:r>
                                    </m:den>
                                  </m:f>
                                </m:e>
                              </m:d>
                            </m:e>
                            <m:sup>
                              <m:r>
                                <a:rPr lang="en-US" sz="2000" i="1">
                                  <a:latin typeface="Cambria Math" panose="02040503050406030204" pitchFamily="18" charset="0"/>
                                </a:rPr>
                                <m:t>2</m:t>
                              </m:r>
                            </m:sup>
                          </m:sSup>
                        </m:sup>
                      </m:sSup>
                      <m:r>
                        <a:rPr lang="en-US" sz="2000" i="1">
                          <a:latin typeface="Cambria Math" panose="02040503050406030204" pitchFamily="18" charset="0"/>
                        </a:rPr>
                        <m:t>,−∞&lt;</m:t>
                      </m:r>
                      <m:r>
                        <a:rPr lang="en-US" sz="2000" i="1">
                          <a:latin typeface="Cambria Math" panose="02040503050406030204" pitchFamily="18" charset="0"/>
                        </a:rPr>
                        <m:t>𝑥</m:t>
                      </m:r>
                      <m:r>
                        <a:rPr lang="en-US" sz="2000" i="1">
                          <a:latin typeface="Cambria Math" panose="02040503050406030204" pitchFamily="18" charset="0"/>
                        </a:rPr>
                        <m:t>&lt;∞</m:t>
                      </m:r>
                      <m:r>
                        <a:rPr lang="en-US" sz="2000">
                          <a:latin typeface="Cambria Math" panose="02040503050406030204" pitchFamily="18" charset="0"/>
                        </a:rPr>
                        <m:t>, </m:t>
                      </m:r>
                    </m:oMath>
                  </m:oMathPara>
                </a14:m>
                <a:endParaRPr lang="en-US" sz="2000" dirty="0" smtClean="0">
                  <a:latin typeface="Arial" panose="020B0604020202020204" pitchFamily="34" charset="0"/>
                  <a:cs typeface="Arial" panose="020B0604020202020204" pitchFamily="34" charset="0"/>
                </a:endParaRPr>
              </a:p>
              <a:p>
                <a:pPr algn="l">
                  <a:lnSpc>
                    <a:spcPct val="100000"/>
                  </a:lnSpc>
                </a:pPr>
                <a:r>
                  <a:rPr lang="en-US" sz="2000" dirty="0" smtClean="0">
                    <a:latin typeface="Arial" panose="020B0604020202020204" pitchFamily="34" charset="0"/>
                    <a:cs typeface="Arial" panose="020B0604020202020204" pitchFamily="34" charset="0"/>
                  </a:rPr>
                  <a:t>      where </a:t>
                </a:r>
                <a14:m>
                  <m:oMath xmlns:m="http://schemas.openxmlformats.org/officeDocument/2006/math">
                    <m:r>
                      <a:rPr lang="en-US" sz="2000" b="1" i="1">
                        <a:latin typeface="Cambria Math" panose="02040503050406030204" pitchFamily="18" charset="0"/>
                      </a:rPr>
                      <m:t>𝝁</m:t>
                    </m:r>
                  </m:oMath>
                </a14:m>
                <a:r>
                  <a:rPr lang="en-US" sz="2000" b="1" dirty="0">
                    <a:latin typeface="Arial" panose="020B0604020202020204" pitchFamily="34" charset="0"/>
                    <a:cs typeface="Arial" panose="020B0604020202020204" pitchFamily="34" charset="0"/>
                  </a:rPr>
                  <a:t> is the mean </a:t>
                </a:r>
                <a:r>
                  <a:rPr lang="en-US" sz="2000" dirty="0">
                    <a:latin typeface="Arial" panose="020B0604020202020204" pitchFamily="34" charset="0"/>
                    <a:cs typeface="Arial" panose="020B0604020202020204" pitchFamily="34" charset="0"/>
                  </a:rPr>
                  <a:t>of the distribution and </a:t>
                </a:r>
                <a14:m>
                  <m:oMath xmlns:m="http://schemas.openxmlformats.org/officeDocument/2006/math">
                    <m:sSup>
                      <m:sSupPr>
                        <m:ctrlPr>
                          <a:rPr lang="en-US" sz="2000" b="1" i="1">
                            <a:latin typeface="Cambria Math" panose="02040503050406030204" pitchFamily="18" charset="0"/>
                          </a:rPr>
                        </m:ctrlPr>
                      </m:sSupPr>
                      <m:e>
                        <m:r>
                          <a:rPr lang="en-US" sz="2000" b="1" i="1">
                            <a:latin typeface="Cambria Math" panose="02040503050406030204" pitchFamily="18" charset="0"/>
                          </a:rPr>
                          <m:t>𝝈</m:t>
                        </m:r>
                      </m:e>
                      <m:sup>
                        <m:r>
                          <a:rPr lang="en-US" sz="2000" b="1" i="1">
                            <a:latin typeface="Cambria Math" panose="02040503050406030204" pitchFamily="18" charset="0"/>
                          </a:rPr>
                          <m:t>𝟐</m:t>
                        </m:r>
                      </m:sup>
                    </m:sSup>
                  </m:oMath>
                </a14:m>
                <a:r>
                  <a:rPr lang="en-US" sz="2000" b="1" dirty="0">
                    <a:latin typeface="Arial" panose="020B0604020202020204" pitchFamily="34" charset="0"/>
                    <a:cs typeface="Arial" panose="020B0604020202020204" pitchFamily="34" charset="0"/>
                  </a:rPr>
                  <a:t> is the </a:t>
                </a:r>
                <a:r>
                  <a:rPr lang="en-US" sz="2000" b="1" dirty="0" smtClean="0">
                    <a:latin typeface="Arial" panose="020B0604020202020204" pitchFamily="34" charset="0"/>
                    <a:cs typeface="Arial" panose="020B0604020202020204" pitchFamily="34" charset="0"/>
                  </a:rPr>
                  <a:t>variance</a:t>
                </a:r>
                <a:r>
                  <a:rPr lang="en-US" sz="2000" dirty="0" smtClean="0">
                    <a:latin typeface="Arial" panose="020B0604020202020204" pitchFamily="34" charset="0"/>
                    <a:cs typeface="Arial" panose="020B0604020202020204" pitchFamily="34" charset="0"/>
                  </a:rPr>
                  <a:t> of </a:t>
                </a:r>
                <a14:m>
                  <m:oMath xmlns:m="http://schemas.openxmlformats.org/officeDocument/2006/math">
                    <m:r>
                      <a:rPr lang="en-US" sz="2000" i="1" dirty="0" smtClean="0">
                        <a:latin typeface="Cambria Math" panose="02040503050406030204" pitchFamily="18" charset="0"/>
                        <a:cs typeface="Arial" panose="020B0604020202020204" pitchFamily="34" charset="0"/>
                      </a:rPr>
                      <m:t>𝑋</m:t>
                    </m:r>
                  </m:oMath>
                </a14:m>
                <a:r>
                  <a:rPr lang="en-US" sz="2000" dirty="0" smtClean="0">
                    <a:latin typeface="Arial" panose="020B0604020202020204" pitchFamily="34" charset="0"/>
                    <a:cs typeface="Arial" panose="020B0604020202020204" pitchFamily="34" charset="0"/>
                  </a:rPr>
                  <a:t>. </a:t>
                </a:r>
              </a:p>
              <a:p>
                <a:pPr marL="342900" indent="-342900" algn="just">
                  <a:lnSpc>
                    <a:spcPct val="1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Suppose that </a:t>
                </a:r>
                <a14:m>
                  <m:oMath xmlns:m="http://schemas.openxmlformats.org/officeDocument/2006/math">
                    <m:r>
                      <a:rPr lang="en-US" sz="2000" i="1">
                        <a:latin typeface="Cambria Math" panose="02040503050406030204" pitchFamily="18" charset="0"/>
                        <a:cs typeface="Arial" panose="020B0604020202020204" pitchFamily="34" charset="0"/>
                      </a:rPr>
                      <m:t>𝑋</m:t>
                    </m:r>
                  </m:oMath>
                </a14:m>
                <a:r>
                  <a:rPr lang="en-US" sz="2000" dirty="0">
                    <a:latin typeface="Arial" panose="020B0604020202020204" pitchFamily="34" charset="0"/>
                    <a:cs typeface="Arial" panose="020B0604020202020204" pitchFamily="34" charset="0"/>
                  </a:rPr>
                  <a:t> follows </a:t>
                </a:r>
                <a:r>
                  <a:rPr lang="en-US" sz="2000" dirty="0" smtClean="0">
                    <a:latin typeface="Arial" panose="020B0604020202020204" pitchFamily="34" charset="0"/>
                    <a:cs typeface="Arial" panose="020B0604020202020204" pitchFamily="34" charset="0"/>
                  </a:rPr>
                  <a:t>normal distribution with mean </a:t>
                </a:r>
                <a14:m>
                  <m:oMath xmlns:m="http://schemas.openxmlformats.org/officeDocument/2006/math">
                    <m:r>
                      <a:rPr lang="en-US" sz="2000" i="1">
                        <a:latin typeface="Cambria Math" panose="02040503050406030204" pitchFamily="18" charset="0"/>
                      </a:rPr>
                      <m:t>𝜇</m:t>
                    </m:r>
                    <m:r>
                      <a:rPr lang="en-US" sz="2000" i="1" smtClean="0">
                        <a:latin typeface="Cambria Math" panose="02040503050406030204" pitchFamily="18" charset="0"/>
                      </a:rPr>
                      <m:t> </m:t>
                    </m:r>
                  </m:oMath>
                </a14:m>
                <a:r>
                  <a:rPr lang="en-US" sz="2000" dirty="0" smtClean="0">
                    <a:latin typeface="Arial" panose="020B0604020202020204" pitchFamily="34" charset="0"/>
                    <a:cs typeface="Arial" panose="020B0604020202020204" pitchFamily="34" charset="0"/>
                  </a:rPr>
                  <a:t>and variance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oMath>
                </a14:m>
                <a:r>
                  <a:rPr lang="en-US" sz="2000" dirty="0" smtClean="0">
                    <a:latin typeface="Arial" panose="020B0604020202020204" pitchFamily="34" charset="0"/>
                    <a:cs typeface="Arial" panose="020B0604020202020204" pitchFamily="34" charset="0"/>
                  </a:rPr>
                  <a:t>, it </a:t>
                </a:r>
                <a:r>
                  <a:rPr lang="en-US" sz="2000" dirty="0">
                    <a:latin typeface="Arial" panose="020B0604020202020204" pitchFamily="34" charset="0"/>
                    <a:cs typeface="Arial" panose="020B0604020202020204" pitchFamily="34" charset="0"/>
                  </a:rPr>
                  <a:t>is represented by </a:t>
                </a:r>
                <a14:m>
                  <m:oMath xmlns:m="http://schemas.openxmlformats.org/officeDocument/2006/math">
                    <m:r>
                      <a:rPr lang="en-US" sz="2000" i="1">
                        <a:latin typeface="Cambria Math" panose="02040503050406030204" pitchFamily="18" charset="0"/>
                        <a:cs typeface="Arial" panose="020B0604020202020204" pitchFamily="34" charset="0"/>
                      </a:rPr>
                      <m:t>𝑋</m:t>
                    </m:r>
                    <m:r>
                      <a:rPr lang="en-US" sz="2000" i="1">
                        <a:latin typeface="Cambria Math" panose="02040503050406030204" pitchFamily="18" charset="0"/>
                        <a:cs typeface="Arial" panose="020B0604020202020204" pitchFamily="34" charset="0"/>
                      </a:rPr>
                      <m:t>∼</m:t>
                    </m:r>
                    <m:r>
                      <m:rPr>
                        <m:sty m:val="p"/>
                      </m:rPr>
                      <a:rPr lang="en-US" sz="2000" b="0" i="0" smtClean="0">
                        <a:latin typeface="Cambria Math" panose="02040503050406030204" pitchFamily="18" charset="0"/>
                        <a:cs typeface="Arial" panose="020B0604020202020204" pitchFamily="34" charset="0"/>
                      </a:rPr>
                      <m:t>N</m:t>
                    </m:r>
                    <m:r>
                      <a:rPr lang="en-US" sz="2000" i="1" dirty="0">
                        <a:latin typeface="Cambria Math" panose="02040503050406030204" pitchFamily="18" charset="0"/>
                        <a:cs typeface="Arial" panose="020B0604020202020204" pitchFamily="34" charset="0"/>
                      </a:rPr>
                      <m:t>(</m:t>
                    </m:r>
                    <m:r>
                      <a:rPr lang="en-US" sz="2000" i="1">
                        <a:latin typeface="Cambria Math" panose="02040503050406030204" pitchFamily="18" charset="0"/>
                      </a:rPr>
                      <m:t>𝜇</m:t>
                    </m:r>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r>
                      <a:rPr lang="en-US" sz="2000" i="1" dirty="0">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a:t>
                </a:r>
                <a:endParaRPr lang="en-US" sz="2000" dirty="0" smtClean="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Normal </a:t>
                </a:r>
                <a:r>
                  <a:rPr lang="en-US" sz="2000" dirty="0">
                    <a:latin typeface="Arial" panose="020B0604020202020204" pitchFamily="34" charset="0"/>
                    <a:cs typeface="Arial" panose="020B0604020202020204" pitchFamily="34" charset="0"/>
                  </a:rPr>
                  <a:t>distribution is a symmetrical distribution (symmetrical about the point </a:t>
                </a:r>
                <a14:m>
                  <m:oMath xmlns:m="http://schemas.openxmlformats.org/officeDocument/2006/math">
                    <m:r>
                      <a:rPr lang="en-US" sz="2000" i="1">
                        <a:latin typeface="Cambria Math" panose="02040503050406030204" pitchFamily="18" charset="0"/>
                      </a:rPr>
                      <m:t>𝜇</m:t>
                    </m:r>
                  </m:oMath>
                </a14:m>
                <a:r>
                  <a:rPr lang="en-US" sz="2000" dirty="0">
                    <a:latin typeface="Arial" panose="020B0604020202020204" pitchFamily="34" charset="0"/>
                    <a:cs typeface="Arial" panose="020B0604020202020204" pitchFamily="34" charset="0"/>
                  </a:rPr>
                  <a:t>). The normal distribution with mean 100 and variance 4 is shown in the following figure</a:t>
                </a:r>
              </a:p>
              <a:p>
                <a:pPr algn="just">
                  <a:lnSpc>
                    <a:spcPct val="150000"/>
                  </a:lnSpc>
                </a:pP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1297397"/>
                <a:ext cx="10831132" cy="5372344"/>
              </a:xfrm>
              <a:blipFill rotWithShape="0">
                <a:blip r:embed="rId2"/>
                <a:stretch>
                  <a:fillRect l="-506" t="-568" r="-563"/>
                </a:stretch>
              </a:blipFill>
            </p:spPr>
            <p:txBody>
              <a:bodyPr/>
              <a:lstStyle/>
              <a:p>
                <a:r>
                  <a:rPr lang="en-US">
                    <a:noFill/>
                  </a:rPr>
                  <a:t> </a:t>
                </a:r>
              </a:p>
            </p:txBody>
          </p:sp>
        </mc:Fallback>
      </mc:AlternateContent>
      <p:pic>
        <p:nvPicPr>
          <p:cNvPr id="4" name="Picture 3"/>
          <p:cNvPicPr/>
          <p:nvPr/>
        </p:nvPicPr>
        <p:blipFill>
          <a:blip r:embed="rId3"/>
          <a:srcRect/>
          <a:stretch>
            <a:fillRect/>
          </a:stretch>
        </p:blipFill>
        <p:spPr bwMode="auto">
          <a:xfrm>
            <a:off x="2364441" y="3862380"/>
            <a:ext cx="7722534" cy="2652720"/>
          </a:xfrm>
          <a:prstGeom prst="rect">
            <a:avLst/>
          </a:prstGeom>
          <a:noFill/>
          <a:ln w="9525">
            <a:noFill/>
            <a:miter lim="800000"/>
            <a:headEnd/>
            <a:tailEnd/>
          </a:ln>
        </p:spPr>
      </p:pic>
    </p:spTree>
    <p:extLst>
      <p:ext uri="{BB962C8B-B14F-4D97-AF65-F5344CB8AC3E}">
        <p14:creationId xmlns:p14="http://schemas.microsoft.com/office/powerpoint/2010/main" val="38435513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63639"/>
            <a:ext cx="9144000" cy="605308"/>
          </a:xfrm>
        </p:spPr>
        <p:txBody>
          <a:bodyPr>
            <a:noAutofit/>
          </a:bodyPr>
          <a:lstStyle/>
          <a:p>
            <a:r>
              <a:rPr lang="en-US" sz="2400" b="1" dirty="0" smtClean="0">
                <a:latin typeface="Arial" panose="020B0604020202020204" pitchFamily="34" charset="0"/>
                <a:cs typeface="Arial" panose="020B0604020202020204" pitchFamily="34" charset="0"/>
              </a:rPr>
              <a:t>Normal Distribution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1297396"/>
                <a:ext cx="10831132" cy="5560603"/>
              </a:xfrm>
            </p:spPr>
            <p:txBody>
              <a:bodyPr>
                <a:noAutofit/>
              </a:bodyPr>
              <a:lstStyle/>
              <a:p>
                <a:pPr>
                  <a:lnSpc>
                    <a:spcPct val="150000"/>
                  </a:lnSpc>
                </a:pPr>
                <a:r>
                  <a:rPr lang="en-US" sz="1800" b="1" dirty="0" smtClean="0">
                    <a:latin typeface="Arial" panose="020B0604020202020204" pitchFamily="34" charset="0"/>
                    <a:cs typeface="Arial" panose="020B0604020202020204" pitchFamily="34" charset="0"/>
                  </a:rPr>
                  <a:t>Difficulties in calculating probabilities: </a:t>
                </a:r>
              </a:p>
              <a:p>
                <a:pPr marL="342900" indent="-342900" algn="just">
                  <a:lnSpc>
                    <a:spcPct val="150000"/>
                  </a:lnSpc>
                  <a:buFont typeface="Arial" panose="020B0604020202020204" pitchFamily="34" charset="0"/>
                  <a:buChar char="•"/>
                </a:pPr>
                <a:r>
                  <a:rPr lang="en-US" sz="1800" dirty="0" smtClean="0">
                    <a:latin typeface="Arial" panose="020B0604020202020204" pitchFamily="34" charset="0"/>
                    <a:cs typeface="Arial" panose="020B0604020202020204" pitchFamily="34" charset="0"/>
                  </a:rPr>
                  <a:t>The probability from normal distribution requires numerical methods. </a:t>
                </a:r>
              </a:p>
              <a:p>
                <a:pPr marL="342900" indent="-342900" algn="just">
                  <a:lnSpc>
                    <a:spcPct val="150000"/>
                  </a:lnSpc>
                  <a:buFont typeface="Arial" panose="020B0604020202020204" pitchFamily="34" charset="0"/>
                  <a:buChar char="•"/>
                </a:pPr>
                <a:r>
                  <a:rPr lang="en-US" sz="1800" dirty="0">
                    <a:latin typeface="Arial" panose="020B0604020202020204" pitchFamily="34" charset="0"/>
                    <a:cs typeface="Arial" panose="020B0604020202020204" pitchFamily="34" charset="0"/>
                  </a:rPr>
                  <a:t>A table for calculating probabilities </a:t>
                </a:r>
                <a:r>
                  <a:rPr lang="en-US" sz="1800" dirty="0" smtClean="0">
                    <a:latin typeface="Arial" panose="020B0604020202020204" pitchFamily="34" charset="0"/>
                    <a:cs typeface="Arial" panose="020B0604020202020204" pitchFamily="34" charset="0"/>
                  </a:rPr>
                  <a:t>can be constructed.</a:t>
                </a:r>
              </a:p>
              <a:p>
                <a:pPr marL="342900" indent="-342900" algn="just">
                  <a:lnSpc>
                    <a:spcPct val="150000"/>
                  </a:lnSpc>
                  <a:buFont typeface="Arial" panose="020B0604020202020204" pitchFamily="34" charset="0"/>
                  <a:buChar char="•"/>
                </a:pPr>
                <a:r>
                  <a:rPr lang="en-US" sz="1800" dirty="0">
                    <a:latin typeface="Arial" panose="020B0604020202020204" pitchFamily="34" charset="0"/>
                    <a:cs typeface="Arial" panose="020B0604020202020204" pitchFamily="34" charset="0"/>
                  </a:rPr>
                  <a:t>The number of normal distributions is unlimited in a normal family, each having a different mean </a:t>
                </a:r>
                <a14:m>
                  <m:oMath xmlns:m="http://schemas.openxmlformats.org/officeDocument/2006/math">
                    <m:r>
                      <a:rPr lang="en-US" sz="1800">
                        <a:latin typeface="Cambria Math" panose="02040503050406030204" pitchFamily="18" charset="0"/>
                        <a:cs typeface="Arial" panose="020B0604020202020204" pitchFamily="34" charset="0"/>
                      </a:rPr>
                      <m:t>(</m:t>
                    </m:r>
                    <m:r>
                      <a:rPr lang="en-US" sz="1800">
                        <a:latin typeface="Cambria Math" panose="02040503050406030204" pitchFamily="18" charset="0"/>
                        <a:cs typeface="Arial" panose="020B0604020202020204" pitchFamily="34" charset="0"/>
                      </a:rPr>
                      <m:t>𝜇</m:t>
                    </m:r>
                    <m:r>
                      <a:rPr lang="en-US" sz="1800">
                        <a:latin typeface="Cambria Math" panose="02040503050406030204" pitchFamily="18" charset="0"/>
                        <a:cs typeface="Arial" panose="020B0604020202020204" pitchFamily="34" charset="0"/>
                      </a:rPr>
                      <m:t>)</m:t>
                    </m:r>
                  </m:oMath>
                </a14:m>
                <a:r>
                  <a:rPr lang="en-US" sz="1800" dirty="0">
                    <a:latin typeface="Arial" panose="020B0604020202020204" pitchFamily="34" charset="0"/>
                    <a:cs typeface="Arial" panose="020B0604020202020204" pitchFamily="34" charset="0"/>
                  </a:rPr>
                  <a:t>, variance </a:t>
                </a:r>
                <a14:m>
                  <m:oMath xmlns:m="http://schemas.openxmlformats.org/officeDocument/2006/math">
                    <m:d>
                      <m:dPr>
                        <m:ctrlPr>
                          <a:rPr lang="en-US" sz="1800" i="1">
                            <a:latin typeface="Cambria Math" panose="02040503050406030204" pitchFamily="18" charset="0"/>
                            <a:cs typeface="Arial" panose="020B0604020202020204" pitchFamily="34" charset="0"/>
                          </a:rPr>
                        </m:ctrlPr>
                      </m:dPr>
                      <m:e>
                        <m:sSup>
                          <m:sSupPr>
                            <m:ctrlPr>
                              <a:rPr lang="en-US" sz="1800" i="1">
                                <a:latin typeface="Cambria Math" panose="02040503050406030204" pitchFamily="18" charset="0"/>
                                <a:cs typeface="Arial" panose="020B0604020202020204" pitchFamily="34" charset="0"/>
                              </a:rPr>
                            </m:ctrlPr>
                          </m:sSupPr>
                          <m:e>
                            <m:r>
                              <a:rPr lang="en-US" sz="1800">
                                <a:latin typeface="Cambria Math" panose="02040503050406030204" pitchFamily="18" charset="0"/>
                                <a:cs typeface="Arial" panose="020B0604020202020204" pitchFamily="34" charset="0"/>
                              </a:rPr>
                              <m:t>𝜎</m:t>
                            </m:r>
                          </m:e>
                          <m:sup>
                            <m:r>
                              <a:rPr lang="en-US" sz="1800">
                                <a:latin typeface="Cambria Math" panose="02040503050406030204" pitchFamily="18" charset="0"/>
                                <a:cs typeface="Arial" panose="020B0604020202020204" pitchFamily="34" charset="0"/>
                              </a:rPr>
                              <m:t>2</m:t>
                            </m:r>
                          </m:sup>
                        </m:sSup>
                      </m:e>
                    </m:d>
                  </m:oMath>
                </a14:m>
                <a:r>
                  <a:rPr lang="en-US" sz="1800" dirty="0">
                    <a:latin typeface="Arial" panose="020B0604020202020204" pitchFamily="34" charset="0"/>
                    <a:cs typeface="Arial" panose="020B0604020202020204" pitchFamily="34" charset="0"/>
                  </a:rPr>
                  <a:t>, or both</a:t>
                </a:r>
                <a:r>
                  <a:rPr lang="en-US" sz="1800" dirty="0" smtClean="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1800" dirty="0">
                    <a:latin typeface="Arial" panose="020B0604020202020204" pitchFamily="34" charset="0"/>
                    <a:cs typeface="Arial" panose="020B0604020202020204" pitchFamily="34" charset="0"/>
                  </a:rPr>
                  <a:t>Thus providing tables for calculating probabilities for these infinite numbers of normal distribution is impossible</a:t>
                </a:r>
                <a:r>
                  <a:rPr lang="en-US" sz="1800" dirty="0" smtClean="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1800" dirty="0">
                    <a:latin typeface="Arial" panose="020B0604020202020204" pitchFamily="34" charset="0"/>
                    <a:cs typeface="Arial" panose="020B0604020202020204" pitchFamily="34" charset="0"/>
                  </a:rPr>
                  <a:t>Fortunately, one member of the normal family can be used to determine the probabilities for all normal distributions. It is called the </a:t>
                </a:r>
                <a:r>
                  <a:rPr lang="en-US" sz="1800" b="1" dirty="0">
                    <a:latin typeface="Arial" panose="020B0604020202020204" pitchFamily="34" charset="0"/>
                    <a:cs typeface="Arial" panose="020B0604020202020204" pitchFamily="34" charset="0"/>
                  </a:rPr>
                  <a:t>standard normal distribution</a:t>
                </a:r>
                <a:r>
                  <a:rPr lang="en-US" sz="1800" dirty="0">
                    <a:latin typeface="Arial" panose="020B0604020202020204" pitchFamily="34" charset="0"/>
                    <a:cs typeface="Arial" panose="020B0604020202020204" pitchFamily="34" charset="0"/>
                  </a:rPr>
                  <a:t>.</a:t>
                </a: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1297396"/>
                <a:ext cx="10831132" cy="5560603"/>
              </a:xfrm>
              <a:blipFill rotWithShape="0">
                <a:blip r:embed="rId2"/>
                <a:stretch>
                  <a:fillRect l="-394" r="-450"/>
                </a:stretch>
              </a:blipFill>
            </p:spPr>
            <p:txBody>
              <a:bodyPr/>
              <a:lstStyle/>
              <a:p>
                <a:r>
                  <a:rPr lang="en-US">
                    <a:noFill/>
                  </a:rPr>
                  <a:t> </a:t>
                </a:r>
              </a:p>
            </p:txBody>
          </p:sp>
        </mc:Fallback>
      </mc:AlternateContent>
    </p:spTree>
    <p:extLst>
      <p:ext uri="{BB962C8B-B14F-4D97-AF65-F5344CB8AC3E}">
        <p14:creationId xmlns:p14="http://schemas.microsoft.com/office/powerpoint/2010/main" val="5781261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63639"/>
            <a:ext cx="9144000" cy="605308"/>
          </a:xfrm>
        </p:spPr>
        <p:txBody>
          <a:bodyPr>
            <a:noAutofit/>
          </a:bodyPr>
          <a:lstStyle/>
          <a:p>
            <a:r>
              <a:rPr lang="en-US" sz="2400" b="1" dirty="0" smtClean="0">
                <a:latin typeface="Arial" panose="020B0604020202020204" pitchFamily="34" charset="0"/>
                <a:cs typeface="Arial" panose="020B0604020202020204" pitchFamily="34" charset="0"/>
              </a:rPr>
              <a:t>Standard Normal Distribution</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1297397"/>
                <a:ext cx="10831132" cy="5372344"/>
              </a:xfrm>
            </p:spPr>
            <p:txBody>
              <a:bodyPr>
                <a:noAutofit/>
              </a:bodyPr>
              <a:lstStyle/>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If </a:t>
                </a:r>
                <a14:m>
                  <m:oMath xmlns:m="http://schemas.openxmlformats.org/officeDocument/2006/math">
                    <m:r>
                      <a:rPr lang="en-US" sz="2000" i="1">
                        <a:latin typeface="Cambria Math" panose="02040503050406030204" pitchFamily="18" charset="0"/>
                      </a:rPr>
                      <m:t>𝑋</m:t>
                    </m:r>
                  </m:oMath>
                </a14:m>
                <a:r>
                  <a:rPr lang="en-US" sz="2000" dirty="0">
                    <a:latin typeface="Arial" panose="020B0604020202020204" pitchFamily="34" charset="0"/>
                    <a:cs typeface="Arial" panose="020B0604020202020204" pitchFamily="34" charset="0"/>
                  </a:rPr>
                  <a:t> is a normal random variable with mean </a:t>
                </a:r>
                <a14:m>
                  <m:oMath xmlns:m="http://schemas.openxmlformats.org/officeDocument/2006/math">
                    <m:r>
                      <a:rPr lang="en-US" sz="2000" i="1">
                        <a:latin typeface="Cambria Math" panose="02040503050406030204" pitchFamily="18" charset="0"/>
                      </a:rPr>
                      <m:t>𝜇</m:t>
                    </m:r>
                  </m:oMath>
                </a14:m>
                <a:r>
                  <a:rPr lang="en-US" sz="2000" dirty="0">
                    <a:latin typeface="Arial" panose="020B0604020202020204" pitchFamily="34" charset="0"/>
                    <a:cs typeface="Arial" panose="020B0604020202020204" pitchFamily="34" charset="0"/>
                  </a:rPr>
                  <a:t> and standard deviation </a:t>
                </a:r>
                <a14:m>
                  <m:oMath xmlns:m="http://schemas.openxmlformats.org/officeDocument/2006/math">
                    <m:r>
                      <a:rPr lang="en-US" sz="2000" i="1">
                        <a:latin typeface="Cambria Math" panose="02040503050406030204" pitchFamily="18" charset="0"/>
                      </a:rPr>
                      <m:t>𝜎</m:t>
                    </m:r>
                  </m:oMath>
                </a14:m>
                <a:r>
                  <a:rPr lang="en-US" sz="2000" dirty="0">
                    <a:latin typeface="Arial" panose="020B0604020202020204" pitchFamily="34" charset="0"/>
                    <a:cs typeface="Arial" panose="020B0604020202020204" pitchFamily="34" charset="0"/>
                  </a:rPr>
                  <a:t>, then the random variable </a:t>
                </a:r>
                <a14:m>
                  <m:oMath xmlns:m="http://schemas.openxmlformats.org/officeDocument/2006/math">
                    <m:r>
                      <a:rPr lang="en-US" sz="2000" i="1">
                        <a:latin typeface="Cambria Math" panose="02040503050406030204" pitchFamily="18" charset="0"/>
                      </a:rPr>
                      <m:t>𝑍</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𝑋</m:t>
                        </m:r>
                        <m:r>
                          <a:rPr lang="en-US" sz="2000" i="1">
                            <a:latin typeface="Cambria Math" panose="02040503050406030204" pitchFamily="18" charset="0"/>
                          </a:rPr>
                          <m:t>−</m:t>
                        </m:r>
                        <m:r>
                          <a:rPr lang="en-US" sz="2000" i="1">
                            <a:latin typeface="Cambria Math" panose="02040503050406030204" pitchFamily="18" charset="0"/>
                          </a:rPr>
                          <m:t>𝜇</m:t>
                        </m:r>
                      </m:num>
                      <m:den>
                        <m:r>
                          <a:rPr lang="en-US" sz="2000" i="1">
                            <a:latin typeface="Cambria Math" panose="02040503050406030204" pitchFamily="18" charset="0"/>
                          </a:rPr>
                          <m:t>𝜎</m:t>
                        </m:r>
                      </m:den>
                    </m:f>
                  </m:oMath>
                </a14:m>
                <a:r>
                  <a:rPr lang="en-US" sz="2000" dirty="0">
                    <a:latin typeface="Arial" panose="020B0604020202020204" pitchFamily="34" charset="0"/>
                    <a:cs typeface="Arial" panose="020B0604020202020204" pitchFamily="34" charset="0"/>
                  </a:rPr>
                  <a:t> is called the </a:t>
                </a:r>
                <a:r>
                  <a:rPr lang="en-US" sz="2000" b="1" dirty="0">
                    <a:latin typeface="Arial" panose="020B0604020202020204" pitchFamily="34" charset="0"/>
                    <a:cs typeface="Arial" panose="020B0604020202020204" pitchFamily="34" charset="0"/>
                  </a:rPr>
                  <a:t>standard normal variable</a:t>
                </a:r>
                <a:r>
                  <a:rPr lang="en-US" sz="2000" dirty="0">
                    <a:latin typeface="Arial" panose="020B0604020202020204" pitchFamily="34" charset="0"/>
                    <a:cs typeface="Arial" panose="020B0604020202020204" pitchFamily="34" charset="0"/>
                  </a:rPr>
                  <a:t> and its probability distribution is called the </a:t>
                </a:r>
                <a:r>
                  <a:rPr lang="en-US" sz="2000" b="1" dirty="0">
                    <a:latin typeface="Arial" panose="020B0604020202020204" pitchFamily="34" charset="0"/>
                    <a:cs typeface="Arial" panose="020B0604020202020204" pitchFamily="34" charset="0"/>
                  </a:rPr>
                  <a:t>standard normal </a:t>
                </a:r>
                <a:r>
                  <a:rPr lang="en-US" sz="2000" b="1" dirty="0" smtClean="0">
                    <a:latin typeface="Arial" panose="020B0604020202020204" pitchFamily="34" charset="0"/>
                    <a:cs typeface="Arial" panose="020B0604020202020204" pitchFamily="34" charset="0"/>
                  </a:rPr>
                  <a:t>distribution.</a:t>
                </a: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mean and variance of </a:t>
                </a:r>
                <a14:m>
                  <m:oMath xmlns:m="http://schemas.openxmlformats.org/officeDocument/2006/math">
                    <m:r>
                      <a:rPr lang="en-US" sz="2000" i="1">
                        <a:latin typeface="Cambria Math" panose="02040503050406030204" pitchFamily="18" charset="0"/>
                      </a:rPr>
                      <m:t>𝑍</m:t>
                    </m:r>
                  </m:oMath>
                </a14:m>
                <a:r>
                  <a:rPr lang="en-US" sz="2000" dirty="0">
                    <a:latin typeface="Arial" panose="020B0604020202020204" pitchFamily="34" charset="0"/>
                    <a:cs typeface="Arial" panose="020B0604020202020204" pitchFamily="34" charset="0"/>
                  </a:rPr>
                  <a:t> is 0 and 1 respectively</a:t>
                </a:r>
                <a:r>
                  <a:rPr lang="en-US" sz="2000" dirty="0" smtClean="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a:t>
                </a:r>
                <a:r>
                  <a:rPr lang="en-US" sz="2000" dirty="0" smtClean="0">
                    <a:latin typeface="Arial" panose="020B0604020202020204" pitchFamily="34" charset="0"/>
                    <a:cs typeface="Arial" panose="020B0604020202020204" pitchFamily="34" charset="0"/>
                  </a:rPr>
                  <a:t>he probability density function, </a:t>
                </a:r>
                <a14:m>
                  <m:oMath xmlns:m="http://schemas.openxmlformats.org/officeDocument/2006/math">
                    <m:r>
                      <a:rPr lang="en-US" sz="2000" i="1">
                        <a:latin typeface="Cambria Math" panose="02040503050406030204" pitchFamily="18" charset="0"/>
                      </a:rPr>
                      <m:t>𝑓</m:t>
                    </m:r>
                    <m:r>
                      <a:rPr lang="en-US" sz="2000" i="1">
                        <a:latin typeface="Cambria Math" panose="02040503050406030204" pitchFamily="18" charset="0"/>
                      </a:rPr>
                      <m:t>(</m:t>
                    </m:r>
                    <m:r>
                      <a:rPr lang="en-US" sz="2000" b="0" i="1" smtClean="0">
                        <a:latin typeface="Cambria Math" panose="02040503050406030204" pitchFamily="18" charset="0"/>
                      </a:rPr>
                      <m:t>𝑧</m:t>
                    </m:r>
                    <m:r>
                      <a:rPr lang="en-US" sz="2000" i="1">
                        <a:latin typeface="Cambria Math" panose="02040503050406030204" pitchFamily="18" charset="0"/>
                      </a:rPr>
                      <m:t>)</m:t>
                    </m:r>
                  </m:oMath>
                </a14:m>
                <a:r>
                  <a:rPr lang="en-US" sz="2000" dirty="0">
                    <a:latin typeface="Arial" panose="020B0604020202020204" pitchFamily="34" charset="0"/>
                    <a:cs typeface="Arial" panose="020B0604020202020204" pitchFamily="34" charset="0"/>
                  </a:rPr>
                  <a:t>, for all values of </a:t>
                </a:r>
                <a14:m>
                  <m:oMath xmlns:m="http://schemas.openxmlformats.org/officeDocument/2006/math">
                    <m:r>
                      <a:rPr lang="en-US" sz="2000" b="0" i="1" smtClean="0">
                        <a:latin typeface="Cambria Math" panose="02040503050406030204" pitchFamily="18" charset="0"/>
                        <a:cs typeface="Arial" panose="020B0604020202020204" pitchFamily="34" charset="0"/>
                      </a:rPr>
                      <m:t>𝑍</m:t>
                    </m:r>
                  </m:oMath>
                </a14:m>
                <a:r>
                  <a:rPr lang="en-US" sz="2000" dirty="0" smtClean="0">
                    <a:latin typeface="Arial" panose="020B0604020202020204" pitchFamily="34" charset="0"/>
                    <a:cs typeface="Arial" panose="020B0604020202020204" pitchFamily="34" charset="0"/>
                  </a:rPr>
                  <a:t> is </a:t>
                </a:r>
                <a:r>
                  <a:rPr lang="en-US" sz="2000" dirty="0">
                    <a:latin typeface="Arial" panose="020B0604020202020204" pitchFamily="34" charset="0"/>
                    <a:cs typeface="Arial" panose="020B0604020202020204" pitchFamily="34" charset="0"/>
                  </a:rPr>
                  <a:t>computed as</a:t>
                </a:r>
              </a:p>
              <a:p>
                <a:pPr>
                  <a:lnSpc>
                    <a:spcPct val="150000"/>
                  </a:lnSpc>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𝑓</m:t>
                      </m:r>
                      <m:d>
                        <m:dPr>
                          <m:ctrlPr>
                            <a:rPr lang="en-US" sz="1800" i="1">
                              <a:latin typeface="Cambria Math" panose="02040503050406030204" pitchFamily="18" charset="0"/>
                            </a:rPr>
                          </m:ctrlPr>
                        </m:dPr>
                        <m:e>
                          <m:r>
                            <a:rPr lang="en-US" sz="1800" b="0" i="1" smtClean="0">
                              <a:latin typeface="Cambria Math" panose="02040503050406030204" pitchFamily="18" charset="0"/>
                            </a:rPr>
                            <m:t>𝑧</m:t>
                          </m:r>
                        </m:e>
                      </m:d>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rad>
                            <m:radPr>
                              <m:degHide m:val="on"/>
                              <m:ctrlPr>
                                <a:rPr lang="en-US" sz="1800" i="1">
                                  <a:latin typeface="Cambria Math" panose="02040503050406030204" pitchFamily="18" charset="0"/>
                                </a:rPr>
                              </m:ctrlPr>
                            </m:radPr>
                            <m:deg/>
                            <m:e>
                              <m:r>
                                <a:rPr lang="en-US" sz="1800" i="1">
                                  <a:latin typeface="Cambria Math" panose="02040503050406030204" pitchFamily="18" charset="0"/>
                                </a:rPr>
                                <m:t>2</m:t>
                              </m:r>
                              <m:r>
                                <a:rPr lang="en-US" sz="1800" i="1">
                                  <a:latin typeface="Cambria Math" panose="02040503050406030204" pitchFamily="18" charset="0"/>
                                </a:rPr>
                                <m:t>𝜋</m:t>
                              </m:r>
                            </m:e>
                          </m:rad>
                        </m:den>
                      </m:f>
                      <m:sSup>
                        <m:sSupPr>
                          <m:ctrlPr>
                            <a:rPr lang="en-US" sz="1800" i="1">
                              <a:latin typeface="Cambria Math" panose="02040503050406030204" pitchFamily="18" charset="0"/>
                            </a:rPr>
                          </m:ctrlPr>
                        </m:sSupPr>
                        <m:e>
                          <m:r>
                            <a:rPr lang="en-US" sz="1800" i="1">
                              <a:latin typeface="Cambria Math" panose="02040503050406030204" pitchFamily="18" charset="0"/>
                            </a:rPr>
                            <m:t>𝑒</m:t>
                          </m:r>
                        </m:e>
                        <m:sup>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2</m:t>
                              </m:r>
                            </m:den>
                          </m:f>
                          <m:sSup>
                            <m:sSupPr>
                              <m:ctrlPr>
                                <a:rPr lang="en-US" sz="1800" i="1">
                                  <a:latin typeface="Cambria Math" panose="02040503050406030204" pitchFamily="18" charset="0"/>
                                </a:rPr>
                              </m:ctrlPr>
                            </m:sSupPr>
                            <m:e>
                              <m:r>
                                <a:rPr lang="en-US" sz="1800" b="0" i="1" smtClean="0">
                                  <a:latin typeface="Cambria Math" panose="02040503050406030204" pitchFamily="18" charset="0"/>
                                </a:rPr>
                                <m:t>𝑧</m:t>
                              </m:r>
                            </m:e>
                            <m:sup>
                              <m:r>
                                <a:rPr lang="en-US" sz="1800" i="1">
                                  <a:latin typeface="Cambria Math" panose="02040503050406030204" pitchFamily="18" charset="0"/>
                                </a:rPr>
                                <m:t>2</m:t>
                              </m:r>
                            </m:sup>
                          </m:sSup>
                        </m:sup>
                      </m:sSup>
                      <m:r>
                        <a:rPr lang="en-US" sz="1800" i="1">
                          <a:latin typeface="Cambria Math" panose="02040503050406030204" pitchFamily="18" charset="0"/>
                        </a:rPr>
                        <m:t>,−∞&lt;</m:t>
                      </m:r>
                      <m:r>
                        <a:rPr lang="en-US" sz="1800" b="0" i="1" smtClean="0">
                          <a:latin typeface="Cambria Math" panose="02040503050406030204" pitchFamily="18" charset="0"/>
                        </a:rPr>
                        <m:t>𝑧</m:t>
                      </m:r>
                      <m:r>
                        <a:rPr lang="en-US" sz="1800" i="1">
                          <a:latin typeface="Cambria Math" panose="02040503050406030204" pitchFamily="18" charset="0"/>
                        </a:rPr>
                        <m:t>&lt;∞</m:t>
                      </m:r>
                      <m:r>
                        <a:rPr lang="en-US" sz="1800" b="0" i="0" smtClean="0">
                          <a:latin typeface="Cambria Math" panose="02040503050406030204" pitchFamily="18" charset="0"/>
                        </a:rPr>
                        <m:t>.</m:t>
                      </m:r>
                    </m:oMath>
                  </m:oMathPara>
                </a14:m>
                <a:endParaRPr lang="en-US" sz="2000" dirty="0">
                  <a:latin typeface="Arial" panose="020B0604020202020204" pitchFamily="34" charset="0"/>
                  <a:cs typeface="Arial" panose="020B0604020202020204" pitchFamily="34" charset="0"/>
                </a:endParaRPr>
              </a:p>
              <a:p>
                <a:pPr algn="just">
                  <a:lnSpc>
                    <a:spcPct val="150000"/>
                  </a:lnSpc>
                </a:pP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1297397"/>
                <a:ext cx="10831132" cy="5372344"/>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19858154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63639"/>
            <a:ext cx="9144000" cy="605308"/>
          </a:xfrm>
        </p:spPr>
        <p:txBody>
          <a:bodyPr>
            <a:noAutofit/>
          </a:bodyPr>
          <a:lstStyle/>
          <a:p>
            <a:r>
              <a:rPr lang="en-US" sz="2400" b="1" dirty="0">
                <a:latin typeface="Arial" panose="020B0604020202020204" pitchFamily="34" charset="0"/>
                <a:cs typeface="Arial" panose="020B0604020202020204" pitchFamily="34" charset="0"/>
              </a:rPr>
              <a:t>Computing Probability </a:t>
            </a:r>
            <a:r>
              <a:rPr lang="en-US" sz="2400" b="1" dirty="0" smtClean="0">
                <a:latin typeface="Arial" panose="020B0604020202020204" pitchFamily="34" charset="0"/>
                <a:cs typeface="Arial" panose="020B0604020202020204" pitchFamily="34" charset="0"/>
              </a:rPr>
              <a:t>from </a:t>
            </a:r>
            <a:r>
              <a:rPr lang="en-US" sz="2400" b="1" dirty="0">
                <a:latin typeface="Arial" panose="020B0604020202020204" pitchFamily="34" charset="0"/>
                <a:cs typeface="Arial" panose="020B0604020202020204" pitchFamily="34" charset="0"/>
              </a:rPr>
              <a:t>Normal Distribution</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1297397"/>
                <a:ext cx="10831132" cy="5372344"/>
              </a:xfrm>
            </p:spPr>
            <p:txBody>
              <a:bodyPr>
                <a:noAutofit/>
              </a:bodyPr>
              <a:lstStyle/>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Step-1</a:t>
                </a:r>
                <a:r>
                  <a:rPr lang="en-US" sz="2000" dirty="0">
                    <a:latin typeface="Arial" panose="020B0604020202020204" pitchFamily="34" charset="0"/>
                    <a:cs typeface="Arial" panose="020B0604020202020204" pitchFamily="34" charset="0"/>
                  </a:rPr>
                  <a:t>: Express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sub>
                        </m:sSub>
                        <m:r>
                          <a:rPr lang="en-US" sz="2000" i="1">
                            <a:latin typeface="Cambria Math" panose="02040503050406030204" pitchFamily="18" charset="0"/>
                          </a:rPr>
                          <m:t>&lt;</m:t>
                        </m:r>
                        <m:r>
                          <a:rPr lang="en-US" sz="2000" i="1">
                            <a:latin typeface="Cambria Math" panose="02040503050406030204" pitchFamily="18" charset="0"/>
                          </a:rPr>
                          <m:t>𝑋</m:t>
                        </m:r>
                        <m:r>
                          <a:rPr lang="en-US" sz="2000" i="1">
                            <a:latin typeface="Cambria Math" panose="02040503050406030204" pitchFamily="18" charset="0"/>
                          </a:rPr>
                          <m:t>&lt;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2</m:t>
                            </m:r>
                          </m:sub>
                        </m:sSub>
                      </m:e>
                    </m:d>
                  </m:oMath>
                </a14:m>
                <a:r>
                  <a:rPr lang="en-US" sz="2000" dirty="0">
                    <a:latin typeface="Arial" panose="020B0604020202020204" pitchFamily="34" charset="0"/>
                    <a:cs typeface="Arial" panose="020B0604020202020204" pitchFamily="34" charset="0"/>
                  </a:rPr>
                  <a:t> as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𝑧</m:t>
                            </m:r>
                          </m:e>
                          <m:sub>
                            <m:r>
                              <a:rPr lang="en-US" sz="2000" i="1">
                                <a:latin typeface="Cambria Math" panose="02040503050406030204" pitchFamily="18" charset="0"/>
                              </a:rPr>
                              <m:t>1</m:t>
                            </m:r>
                          </m:sub>
                        </m:sSub>
                        <m:r>
                          <a:rPr lang="en-US" sz="2000" i="1">
                            <a:latin typeface="Cambria Math" panose="02040503050406030204" pitchFamily="18" charset="0"/>
                          </a:rPr>
                          <m:t>&lt;</m:t>
                        </m:r>
                        <m:r>
                          <a:rPr lang="en-US" sz="2000" i="1">
                            <a:latin typeface="Cambria Math" panose="02040503050406030204" pitchFamily="18" charset="0"/>
                          </a:rPr>
                          <m:t>𝑍</m:t>
                        </m:r>
                        <m:r>
                          <a:rPr lang="en-US" sz="2000" i="1">
                            <a:latin typeface="Cambria Math" panose="02040503050406030204" pitchFamily="18" charset="0"/>
                          </a:rPr>
                          <m:t>&lt;</m:t>
                        </m:r>
                        <m:sSub>
                          <m:sSubPr>
                            <m:ctrlPr>
                              <a:rPr lang="en-US" sz="2000" i="1">
                                <a:latin typeface="Cambria Math" panose="02040503050406030204" pitchFamily="18" charset="0"/>
                              </a:rPr>
                            </m:ctrlPr>
                          </m:sSubPr>
                          <m:e>
                            <m:r>
                              <a:rPr lang="en-US" sz="2000" i="1">
                                <a:latin typeface="Cambria Math" panose="02040503050406030204" pitchFamily="18" charset="0"/>
                              </a:rPr>
                              <m:t>𝑧</m:t>
                            </m:r>
                          </m:e>
                          <m:sub>
                            <m:r>
                              <a:rPr lang="en-US" sz="2000" i="1">
                                <a:latin typeface="Cambria Math" panose="02040503050406030204" pitchFamily="18" charset="0"/>
                              </a:rPr>
                              <m:t>2</m:t>
                            </m:r>
                          </m:sub>
                        </m:sSub>
                      </m:e>
                    </m:d>
                  </m:oMath>
                </a14:m>
                <a:endParaRPr lang="en-US" sz="2000" dirty="0" smtClean="0">
                  <a:latin typeface="Arial" panose="020B0604020202020204" pitchFamily="34" charset="0"/>
                </a:endParaRP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Step-2</a:t>
                </a:r>
                <a:r>
                  <a:rPr lang="en-US" sz="2000" dirty="0">
                    <a:latin typeface="Arial" panose="020B0604020202020204" pitchFamily="34" charset="0"/>
                    <a:cs typeface="Arial" panose="020B0604020202020204" pitchFamily="34" charset="0"/>
                  </a:rPr>
                  <a:t>: These probabilities for different intervals of a standard random variable (Z) can be calculated by </a:t>
                </a:r>
                <a:r>
                  <a:rPr lang="en-US" sz="2000" dirty="0" smtClean="0">
                    <a:latin typeface="Arial" panose="020B0604020202020204" pitchFamily="34" charset="0"/>
                    <a:cs typeface="Arial" panose="020B0604020202020204" pitchFamily="34" charset="0"/>
                  </a:rPr>
                  <a:t>using a standard normal table. </a:t>
                </a:r>
                <a:endParaRPr lang="en-US" sz="2000" dirty="0">
                  <a:latin typeface="Arial" panose="020B0604020202020204" pitchFamily="34" charset="0"/>
                  <a:cs typeface="Arial" panose="020B0604020202020204" pitchFamily="34" charset="0"/>
                </a:endParaRPr>
              </a:p>
              <a:p>
                <a:pPr algn="just">
                  <a:lnSpc>
                    <a:spcPct val="150000"/>
                  </a:lnSpc>
                </a:pP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1297397"/>
                <a:ext cx="10831132" cy="5372344"/>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3368581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0794"/>
            <a:ext cx="9144000" cy="605308"/>
          </a:xfrm>
        </p:spPr>
        <p:txBody>
          <a:bodyPr>
            <a:noAutofit/>
          </a:bodyPr>
          <a:lstStyle/>
          <a:p>
            <a:r>
              <a:rPr lang="en-US" sz="2400" b="1" dirty="0" smtClean="0">
                <a:latin typeface="Arial" panose="020B0604020202020204" pitchFamily="34" charset="0"/>
                <a:cs typeface="Arial" panose="020B0604020202020204" pitchFamily="34" charset="0"/>
              </a:rPr>
              <a:t>Problem on Normal Distribution</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450384"/>
                <a:ext cx="10831132" cy="6528639"/>
              </a:xfrm>
            </p:spPr>
            <p:txBody>
              <a:bodyPr>
                <a:noAutofit/>
              </a:bodyPr>
              <a:lstStyle/>
              <a:p>
                <a:pPr algn="just">
                  <a:lnSpc>
                    <a:spcPct val="150000"/>
                  </a:lnSpc>
                </a:pPr>
                <a:endParaRPr lang="en-US" sz="2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1800" b="1" dirty="0" smtClean="0">
                    <a:latin typeface="Arial" panose="020B0604020202020204" pitchFamily="34" charset="0"/>
                    <a:cs typeface="Arial" panose="020B0604020202020204" pitchFamily="34" charset="0"/>
                  </a:rPr>
                  <a:t>Example</a:t>
                </a:r>
                <a:r>
                  <a:rPr lang="en-US" sz="1800" dirty="0" smtClean="0">
                    <a:latin typeface="Arial" panose="020B0604020202020204" pitchFamily="34" charset="0"/>
                    <a:cs typeface="Arial" panose="020B0604020202020204" pitchFamily="34" charset="0"/>
                  </a:rPr>
                  <a:t>: Suppose </a:t>
                </a:r>
                <a:r>
                  <a:rPr lang="en-US" sz="1800" dirty="0">
                    <a:latin typeface="Arial" panose="020B0604020202020204" pitchFamily="34" charset="0"/>
                    <a:cs typeface="Arial" panose="020B0604020202020204" pitchFamily="34" charset="0"/>
                  </a:rPr>
                  <a:t>a random variable have a normal distribution with mean 283 and standard deviation 1.65. Then </a:t>
                </a:r>
                <a14:m>
                  <m:oMath xmlns:m="http://schemas.openxmlformats.org/officeDocument/2006/math">
                    <m:r>
                      <a:rPr lang="en-US" sz="1800">
                        <a:latin typeface="Cambria Math" panose="02040503050406030204" pitchFamily="18" charset="0"/>
                        <a:cs typeface="Arial" panose="020B0604020202020204" pitchFamily="34" charset="0"/>
                      </a:rPr>
                      <m:t>𝑃</m:t>
                    </m:r>
                    <m:r>
                      <a:rPr lang="en-US" sz="1800">
                        <a:latin typeface="Cambria Math" panose="02040503050406030204" pitchFamily="18" charset="0"/>
                        <a:cs typeface="Arial" panose="020B0604020202020204" pitchFamily="34" charset="0"/>
                      </a:rPr>
                      <m:t>(</m:t>
                    </m:r>
                    <m:r>
                      <a:rPr lang="en-US" sz="1800">
                        <a:latin typeface="Cambria Math" panose="02040503050406030204" pitchFamily="18" charset="0"/>
                        <a:cs typeface="Arial" panose="020B0604020202020204" pitchFamily="34" charset="0"/>
                      </a:rPr>
                      <m:t>𝑋</m:t>
                    </m:r>
                    <m:r>
                      <a:rPr lang="en-US" sz="1800">
                        <a:latin typeface="Cambria Math" panose="02040503050406030204" pitchFamily="18" charset="0"/>
                        <a:cs typeface="Arial" panose="020B0604020202020204" pitchFamily="34" charset="0"/>
                      </a:rPr>
                      <m:t>&lt;286)</m:t>
                    </m:r>
                  </m:oMath>
                </a14:m>
                <a:r>
                  <a:rPr lang="en-US" sz="1800" dirty="0">
                    <a:latin typeface="Arial" panose="020B0604020202020204" pitchFamily="34" charset="0"/>
                    <a:cs typeface="Arial" panose="020B0604020202020204" pitchFamily="34" charset="0"/>
                  </a:rPr>
                  <a:t> is equivalent to </a:t>
                </a:r>
                <a14:m>
                  <m:oMath xmlns:m="http://schemas.openxmlformats.org/officeDocument/2006/math">
                    <m:r>
                      <a:rPr lang="en-US" sz="1800">
                        <a:latin typeface="Cambria Math" panose="02040503050406030204" pitchFamily="18" charset="0"/>
                        <a:cs typeface="Arial" panose="020B0604020202020204" pitchFamily="34" charset="0"/>
                      </a:rPr>
                      <m:t>𝑃</m:t>
                    </m:r>
                    <m:d>
                      <m:dPr>
                        <m:ctrlPr>
                          <a:rPr lang="en-US" sz="1800" i="1">
                            <a:latin typeface="Cambria Math" panose="02040503050406030204" pitchFamily="18" charset="0"/>
                            <a:cs typeface="Arial" panose="020B0604020202020204" pitchFamily="34" charset="0"/>
                          </a:rPr>
                        </m:ctrlPr>
                      </m:dPr>
                      <m:e>
                        <m:r>
                          <a:rPr lang="en-US" sz="1800">
                            <a:latin typeface="Cambria Math" panose="02040503050406030204" pitchFamily="18" charset="0"/>
                            <a:cs typeface="Arial" panose="020B0604020202020204" pitchFamily="34" charset="0"/>
                          </a:rPr>
                          <m:t>𝑍</m:t>
                        </m:r>
                        <m:r>
                          <a:rPr lang="en-US" sz="1800">
                            <a:latin typeface="Cambria Math" panose="02040503050406030204" pitchFamily="18" charset="0"/>
                            <a:cs typeface="Arial" panose="020B0604020202020204" pitchFamily="34" charset="0"/>
                          </a:rPr>
                          <m:t>&lt;1.82</m:t>
                        </m:r>
                      </m:e>
                    </m:d>
                  </m:oMath>
                </a14:m>
                <a:r>
                  <a:rPr lang="en-US" sz="1800" dirty="0">
                    <a:latin typeface="Arial" panose="020B0604020202020204" pitchFamily="34" charset="0"/>
                    <a:cs typeface="Arial" panose="020B0604020202020204" pitchFamily="34" charset="0"/>
                  </a:rPr>
                  <a:t>, and </a:t>
                </a:r>
                <a14:m>
                  <m:oMath xmlns:m="http://schemas.openxmlformats.org/officeDocument/2006/math">
                    <m:r>
                      <a:rPr lang="en-US" sz="1800">
                        <a:latin typeface="Cambria Math" panose="02040503050406030204" pitchFamily="18" charset="0"/>
                        <a:cs typeface="Arial" panose="020B0604020202020204" pitchFamily="34" charset="0"/>
                      </a:rPr>
                      <m:t>𝑃</m:t>
                    </m:r>
                    <m:r>
                      <a:rPr lang="en-US" sz="1800">
                        <a:latin typeface="Cambria Math" panose="02040503050406030204" pitchFamily="18" charset="0"/>
                        <a:cs typeface="Arial" panose="020B0604020202020204" pitchFamily="34" charset="0"/>
                      </a:rPr>
                      <m:t>(</m:t>
                    </m:r>
                    <m:r>
                      <a:rPr lang="en-US" sz="1800">
                        <a:latin typeface="Cambria Math" panose="02040503050406030204" pitchFamily="18" charset="0"/>
                        <a:cs typeface="Arial" panose="020B0604020202020204" pitchFamily="34" charset="0"/>
                      </a:rPr>
                      <m:t>𝑋</m:t>
                    </m:r>
                    <m:r>
                      <a:rPr lang="en-US" sz="1800">
                        <a:latin typeface="Cambria Math" panose="02040503050406030204" pitchFamily="18" charset="0"/>
                        <a:cs typeface="Arial" panose="020B0604020202020204" pitchFamily="34" charset="0"/>
                      </a:rPr>
                      <m:t>&lt;281)</m:t>
                    </m:r>
                  </m:oMath>
                </a14:m>
                <a:r>
                  <a:rPr lang="en-US" sz="1800" dirty="0">
                    <a:latin typeface="Arial" panose="020B0604020202020204" pitchFamily="34" charset="0"/>
                    <a:cs typeface="Arial" panose="020B0604020202020204" pitchFamily="34" charset="0"/>
                  </a:rPr>
                  <a:t> is equivalent to </a:t>
                </a:r>
                <a14:m>
                  <m:oMath xmlns:m="http://schemas.openxmlformats.org/officeDocument/2006/math">
                    <m:r>
                      <a:rPr lang="en-US" sz="1800">
                        <a:latin typeface="Cambria Math" panose="02040503050406030204" pitchFamily="18" charset="0"/>
                        <a:cs typeface="Arial" panose="020B0604020202020204" pitchFamily="34" charset="0"/>
                      </a:rPr>
                      <m:t>𝑃</m:t>
                    </m:r>
                    <m:d>
                      <m:dPr>
                        <m:ctrlPr>
                          <a:rPr lang="en-US" sz="1800" i="1">
                            <a:latin typeface="Cambria Math" panose="02040503050406030204" pitchFamily="18" charset="0"/>
                            <a:cs typeface="Arial" panose="020B0604020202020204" pitchFamily="34" charset="0"/>
                          </a:rPr>
                        </m:ctrlPr>
                      </m:dPr>
                      <m:e>
                        <m:r>
                          <a:rPr lang="en-US" sz="1800">
                            <a:latin typeface="Cambria Math" panose="02040503050406030204" pitchFamily="18" charset="0"/>
                            <a:cs typeface="Arial" panose="020B0604020202020204" pitchFamily="34" charset="0"/>
                          </a:rPr>
                          <m:t>𝑍</m:t>
                        </m:r>
                        <m:r>
                          <a:rPr lang="en-US" sz="1800">
                            <a:latin typeface="Cambria Math" panose="02040503050406030204" pitchFamily="18" charset="0"/>
                            <a:cs typeface="Arial" panose="020B0604020202020204" pitchFamily="34" charset="0"/>
                          </a:rPr>
                          <m:t>&lt;−1.21</m:t>
                        </m:r>
                      </m:e>
                    </m:d>
                  </m:oMath>
                </a14:m>
                <a:r>
                  <a:rPr lang="en-US" sz="1800" dirty="0">
                    <a:latin typeface="Arial" panose="020B0604020202020204" pitchFamily="34" charset="0"/>
                    <a:cs typeface="Arial" panose="020B0604020202020204" pitchFamily="34" charset="0"/>
                  </a:rPr>
                  <a:t> as shown below</a:t>
                </a:r>
              </a:p>
              <a:p>
                <a:r>
                  <a:rPr lang="en-US" sz="1800" dirty="0">
                    <a:latin typeface="Arial" panose="020B0604020202020204" pitchFamily="34" charset="0"/>
                    <a:cs typeface="Arial" panose="020B0604020202020204" pitchFamily="34" charset="0"/>
                  </a:rPr>
                  <a:t>        </a:t>
                </a:r>
                <a14:m>
                  <m:oMath xmlns:m="http://schemas.openxmlformats.org/officeDocument/2006/math">
                    <m:r>
                      <a:rPr lang="en-US" sz="1800">
                        <a:latin typeface="Cambria Math" panose="02040503050406030204" pitchFamily="18" charset="0"/>
                        <a:cs typeface="Arial" panose="020B0604020202020204" pitchFamily="34" charset="0"/>
                      </a:rPr>
                      <m:t>𝑃</m:t>
                    </m:r>
                    <m:d>
                      <m:dPr>
                        <m:ctrlPr>
                          <a:rPr lang="en-US" sz="1800" i="1">
                            <a:latin typeface="Cambria Math" panose="02040503050406030204" pitchFamily="18" charset="0"/>
                            <a:cs typeface="Arial" panose="020B0604020202020204" pitchFamily="34" charset="0"/>
                          </a:rPr>
                        </m:ctrlPr>
                      </m:dPr>
                      <m:e>
                        <m:r>
                          <a:rPr lang="en-US" sz="1800">
                            <a:latin typeface="Cambria Math" panose="02040503050406030204" pitchFamily="18" charset="0"/>
                            <a:cs typeface="Arial" panose="020B0604020202020204" pitchFamily="34" charset="0"/>
                          </a:rPr>
                          <m:t>𝑋</m:t>
                        </m:r>
                        <m:r>
                          <a:rPr lang="en-US" sz="1800">
                            <a:latin typeface="Cambria Math" panose="02040503050406030204" pitchFamily="18" charset="0"/>
                            <a:cs typeface="Arial" panose="020B0604020202020204" pitchFamily="34" charset="0"/>
                          </a:rPr>
                          <m:t>&lt;286</m:t>
                        </m:r>
                      </m:e>
                    </m:d>
                    <m:r>
                      <a:rPr lang="en-US" sz="1800">
                        <a:latin typeface="Cambria Math" panose="02040503050406030204" pitchFamily="18" charset="0"/>
                        <a:cs typeface="Arial" panose="020B0604020202020204" pitchFamily="34" charset="0"/>
                      </a:rPr>
                      <m:t>=</m:t>
                    </m:r>
                    <m:r>
                      <a:rPr lang="en-US" sz="1800">
                        <a:latin typeface="Cambria Math" panose="02040503050406030204" pitchFamily="18" charset="0"/>
                        <a:cs typeface="Arial" panose="020B0604020202020204" pitchFamily="34" charset="0"/>
                      </a:rPr>
                      <m:t>𝑃</m:t>
                    </m:r>
                    <m:d>
                      <m:dPr>
                        <m:ctrlPr>
                          <a:rPr lang="en-US" sz="1800" i="1">
                            <a:latin typeface="Cambria Math" panose="02040503050406030204" pitchFamily="18" charset="0"/>
                            <a:cs typeface="Arial" panose="020B0604020202020204" pitchFamily="34" charset="0"/>
                          </a:rPr>
                        </m:ctrlPr>
                      </m:dPr>
                      <m:e>
                        <m:f>
                          <m:fPr>
                            <m:ctrlPr>
                              <a:rPr lang="en-US" sz="1800" i="1">
                                <a:latin typeface="Cambria Math" panose="02040503050406030204" pitchFamily="18" charset="0"/>
                                <a:cs typeface="Arial" panose="020B0604020202020204" pitchFamily="34" charset="0"/>
                              </a:rPr>
                            </m:ctrlPr>
                          </m:fPr>
                          <m:num>
                            <m:r>
                              <a:rPr lang="en-US" sz="1800">
                                <a:latin typeface="Cambria Math" panose="02040503050406030204" pitchFamily="18" charset="0"/>
                                <a:cs typeface="Arial" panose="020B0604020202020204" pitchFamily="34" charset="0"/>
                              </a:rPr>
                              <m:t>𝑋</m:t>
                            </m:r>
                            <m:r>
                              <a:rPr lang="en-US" sz="1800">
                                <a:latin typeface="Cambria Math" panose="02040503050406030204" pitchFamily="18" charset="0"/>
                                <a:cs typeface="Arial" panose="020B0604020202020204" pitchFamily="34" charset="0"/>
                              </a:rPr>
                              <m:t>−</m:t>
                            </m:r>
                            <m:r>
                              <a:rPr lang="en-US" sz="1800">
                                <a:latin typeface="Cambria Math" panose="02040503050406030204" pitchFamily="18" charset="0"/>
                                <a:cs typeface="Arial" panose="020B0604020202020204" pitchFamily="34" charset="0"/>
                              </a:rPr>
                              <m:t>𝜇</m:t>
                            </m:r>
                          </m:num>
                          <m:den>
                            <m:r>
                              <a:rPr lang="en-US" sz="1800">
                                <a:latin typeface="Cambria Math" panose="02040503050406030204" pitchFamily="18" charset="0"/>
                                <a:cs typeface="Arial" panose="020B0604020202020204" pitchFamily="34" charset="0"/>
                              </a:rPr>
                              <m:t>𝜎</m:t>
                            </m:r>
                          </m:den>
                        </m:f>
                        <m:r>
                          <a:rPr lang="en-US" sz="1800">
                            <a:latin typeface="Cambria Math" panose="02040503050406030204" pitchFamily="18" charset="0"/>
                            <a:cs typeface="Arial" panose="020B0604020202020204" pitchFamily="34" charset="0"/>
                          </a:rPr>
                          <m:t>&lt;</m:t>
                        </m:r>
                        <m:f>
                          <m:fPr>
                            <m:ctrlPr>
                              <a:rPr lang="en-US" sz="1800" i="1">
                                <a:latin typeface="Cambria Math" panose="02040503050406030204" pitchFamily="18" charset="0"/>
                                <a:cs typeface="Arial" panose="020B0604020202020204" pitchFamily="34" charset="0"/>
                              </a:rPr>
                            </m:ctrlPr>
                          </m:fPr>
                          <m:num>
                            <m:r>
                              <a:rPr lang="en-US" sz="1800">
                                <a:latin typeface="Cambria Math" panose="02040503050406030204" pitchFamily="18" charset="0"/>
                                <a:cs typeface="Arial" panose="020B0604020202020204" pitchFamily="34" charset="0"/>
                              </a:rPr>
                              <m:t>286−</m:t>
                            </m:r>
                            <m:r>
                              <a:rPr lang="en-US" sz="1800">
                                <a:latin typeface="Cambria Math" panose="02040503050406030204" pitchFamily="18" charset="0"/>
                                <a:cs typeface="Arial" panose="020B0604020202020204" pitchFamily="34" charset="0"/>
                              </a:rPr>
                              <m:t>𝜇</m:t>
                            </m:r>
                          </m:num>
                          <m:den>
                            <m:r>
                              <a:rPr lang="en-US" sz="1800">
                                <a:latin typeface="Cambria Math" panose="02040503050406030204" pitchFamily="18" charset="0"/>
                                <a:cs typeface="Arial" panose="020B0604020202020204" pitchFamily="34" charset="0"/>
                              </a:rPr>
                              <m:t>𝜎</m:t>
                            </m:r>
                          </m:den>
                        </m:f>
                      </m:e>
                    </m:d>
                    <m:r>
                      <a:rPr lang="en-US" sz="1800">
                        <a:latin typeface="Cambria Math" panose="02040503050406030204" pitchFamily="18" charset="0"/>
                        <a:cs typeface="Arial" panose="020B0604020202020204" pitchFamily="34" charset="0"/>
                      </a:rPr>
                      <m:t>=</m:t>
                    </m:r>
                    <m:r>
                      <a:rPr lang="en-US" sz="1800">
                        <a:latin typeface="Cambria Math" panose="02040503050406030204" pitchFamily="18" charset="0"/>
                        <a:cs typeface="Arial" panose="020B0604020202020204" pitchFamily="34" charset="0"/>
                      </a:rPr>
                      <m:t>𝑃</m:t>
                    </m:r>
                    <m:d>
                      <m:dPr>
                        <m:ctrlPr>
                          <a:rPr lang="en-US" sz="1800" i="1">
                            <a:latin typeface="Cambria Math" panose="02040503050406030204" pitchFamily="18" charset="0"/>
                            <a:cs typeface="Arial" panose="020B0604020202020204" pitchFamily="34" charset="0"/>
                          </a:rPr>
                        </m:ctrlPr>
                      </m:dPr>
                      <m:e>
                        <m:r>
                          <a:rPr lang="en-US" sz="1800">
                            <a:latin typeface="Cambria Math" panose="02040503050406030204" pitchFamily="18" charset="0"/>
                            <a:cs typeface="Arial" panose="020B0604020202020204" pitchFamily="34" charset="0"/>
                          </a:rPr>
                          <m:t>𝑍</m:t>
                        </m:r>
                        <m:r>
                          <a:rPr lang="en-US" sz="1800">
                            <a:latin typeface="Cambria Math" panose="02040503050406030204" pitchFamily="18" charset="0"/>
                            <a:cs typeface="Arial" panose="020B0604020202020204" pitchFamily="34" charset="0"/>
                          </a:rPr>
                          <m:t>&lt;</m:t>
                        </m:r>
                        <m:f>
                          <m:fPr>
                            <m:ctrlPr>
                              <a:rPr lang="en-US" sz="1800" i="1">
                                <a:latin typeface="Cambria Math" panose="02040503050406030204" pitchFamily="18" charset="0"/>
                                <a:cs typeface="Arial" panose="020B0604020202020204" pitchFamily="34" charset="0"/>
                              </a:rPr>
                            </m:ctrlPr>
                          </m:fPr>
                          <m:num>
                            <m:r>
                              <a:rPr lang="en-US" sz="1800">
                                <a:latin typeface="Cambria Math" panose="02040503050406030204" pitchFamily="18" charset="0"/>
                                <a:cs typeface="Arial" panose="020B0604020202020204" pitchFamily="34" charset="0"/>
                              </a:rPr>
                              <m:t>286−283</m:t>
                            </m:r>
                          </m:num>
                          <m:den>
                            <m:r>
                              <a:rPr lang="en-US" sz="1800">
                                <a:latin typeface="Cambria Math" panose="02040503050406030204" pitchFamily="18" charset="0"/>
                                <a:cs typeface="Arial" panose="020B0604020202020204" pitchFamily="34" charset="0"/>
                              </a:rPr>
                              <m:t>1.65</m:t>
                            </m:r>
                          </m:den>
                        </m:f>
                      </m:e>
                    </m:d>
                    <m:r>
                      <a:rPr lang="en-US" sz="1800">
                        <a:latin typeface="Cambria Math" panose="02040503050406030204" pitchFamily="18" charset="0"/>
                        <a:cs typeface="Arial" panose="020B0604020202020204" pitchFamily="34" charset="0"/>
                      </a:rPr>
                      <m:t>=</m:t>
                    </m:r>
                    <m:r>
                      <a:rPr lang="en-US" sz="1800">
                        <a:latin typeface="Cambria Math" panose="02040503050406030204" pitchFamily="18" charset="0"/>
                        <a:cs typeface="Arial" panose="020B0604020202020204" pitchFamily="34" charset="0"/>
                      </a:rPr>
                      <m:t>𝑃</m:t>
                    </m:r>
                    <m:d>
                      <m:dPr>
                        <m:ctrlPr>
                          <a:rPr lang="en-US" sz="1800" i="1">
                            <a:latin typeface="Cambria Math" panose="02040503050406030204" pitchFamily="18" charset="0"/>
                            <a:cs typeface="Arial" panose="020B0604020202020204" pitchFamily="34" charset="0"/>
                          </a:rPr>
                        </m:ctrlPr>
                      </m:dPr>
                      <m:e>
                        <m:r>
                          <a:rPr lang="en-US" sz="1800">
                            <a:latin typeface="Cambria Math" panose="02040503050406030204" pitchFamily="18" charset="0"/>
                            <a:cs typeface="Arial" panose="020B0604020202020204" pitchFamily="34" charset="0"/>
                          </a:rPr>
                          <m:t>𝑍</m:t>
                        </m:r>
                        <m:r>
                          <a:rPr lang="en-US" sz="1800">
                            <a:latin typeface="Cambria Math" panose="02040503050406030204" pitchFamily="18" charset="0"/>
                            <a:cs typeface="Arial" panose="020B0604020202020204" pitchFamily="34" charset="0"/>
                          </a:rPr>
                          <m:t>&lt;1.82</m:t>
                        </m:r>
                      </m:e>
                    </m:d>
                    <m:r>
                      <a:rPr lang="en-US" sz="1800">
                        <a:latin typeface="Cambria Math" panose="02040503050406030204" pitchFamily="18" charset="0"/>
                        <a:cs typeface="Arial" panose="020B0604020202020204" pitchFamily="34" charset="0"/>
                      </a:rPr>
                      <m:t>=</m:t>
                    </m:r>
                    <m:r>
                      <m:rPr>
                        <m:sty m:val="p"/>
                      </m:rPr>
                      <a:rPr lang="en-US" sz="1800" b="0" i="0" smtClean="0">
                        <a:latin typeface="Cambria Math" panose="02040503050406030204" pitchFamily="18" charset="0"/>
                        <a:cs typeface="Arial" panose="020B0604020202020204" pitchFamily="34" charset="0"/>
                      </a:rPr>
                      <m:t>F</m:t>
                    </m:r>
                    <m:d>
                      <m:dPr>
                        <m:ctrlPr>
                          <a:rPr lang="en-US" sz="1800" i="1">
                            <a:latin typeface="Cambria Math" panose="02040503050406030204" pitchFamily="18" charset="0"/>
                            <a:cs typeface="Arial" panose="020B0604020202020204" pitchFamily="34" charset="0"/>
                          </a:rPr>
                        </m:ctrlPr>
                      </m:dPr>
                      <m:e>
                        <m:r>
                          <a:rPr lang="en-US" sz="1800">
                            <a:latin typeface="Cambria Math" panose="02040503050406030204" pitchFamily="18" charset="0"/>
                            <a:cs typeface="Arial" panose="020B0604020202020204" pitchFamily="34" charset="0"/>
                          </a:rPr>
                          <m:t>1.82</m:t>
                        </m:r>
                      </m:e>
                    </m:d>
                    <m:r>
                      <a:rPr lang="en-US" sz="1800">
                        <a:latin typeface="Cambria Math" panose="02040503050406030204" pitchFamily="18" charset="0"/>
                        <a:cs typeface="Arial" panose="020B0604020202020204" pitchFamily="34" charset="0"/>
                      </a:rPr>
                      <m:t>=0.9656</m:t>
                    </m:r>
                  </m:oMath>
                </a14:m>
                <a:r>
                  <a:rPr lang="en-US" sz="1800" dirty="0">
                    <a:latin typeface="Arial" panose="020B0604020202020204" pitchFamily="34" charset="0"/>
                    <a:cs typeface="Arial" panose="020B0604020202020204" pitchFamily="34" charset="0"/>
                  </a:rPr>
                  <a:t>    </a:t>
                </a:r>
              </a:p>
              <a:p>
                <a:r>
                  <a:rPr lang="en-US" sz="1800" dirty="0">
                    <a:latin typeface="Arial" panose="020B0604020202020204" pitchFamily="34" charset="0"/>
                    <a:cs typeface="Arial" panose="020B0604020202020204" pitchFamily="34" charset="0"/>
                  </a:rPr>
                  <a:t>         </a:t>
                </a:r>
                <a14:m>
                  <m:oMath xmlns:m="http://schemas.openxmlformats.org/officeDocument/2006/math">
                    <m:r>
                      <a:rPr lang="en-US" sz="1800">
                        <a:latin typeface="Cambria Math" panose="02040503050406030204" pitchFamily="18" charset="0"/>
                        <a:cs typeface="Arial" panose="020B0604020202020204" pitchFamily="34" charset="0"/>
                      </a:rPr>
                      <m:t>𝑃</m:t>
                    </m:r>
                    <m:d>
                      <m:dPr>
                        <m:ctrlPr>
                          <a:rPr lang="en-US" sz="1800" i="1">
                            <a:latin typeface="Cambria Math" panose="02040503050406030204" pitchFamily="18" charset="0"/>
                            <a:cs typeface="Arial" panose="020B0604020202020204" pitchFamily="34" charset="0"/>
                          </a:rPr>
                        </m:ctrlPr>
                      </m:dPr>
                      <m:e>
                        <m:r>
                          <a:rPr lang="en-US" sz="1800">
                            <a:latin typeface="Cambria Math" panose="02040503050406030204" pitchFamily="18" charset="0"/>
                            <a:cs typeface="Arial" panose="020B0604020202020204" pitchFamily="34" charset="0"/>
                          </a:rPr>
                          <m:t>𝑋</m:t>
                        </m:r>
                        <m:r>
                          <a:rPr lang="en-US" sz="1800">
                            <a:latin typeface="Cambria Math" panose="02040503050406030204" pitchFamily="18" charset="0"/>
                            <a:cs typeface="Arial" panose="020B0604020202020204" pitchFamily="34" charset="0"/>
                          </a:rPr>
                          <m:t>&lt;281</m:t>
                        </m:r>
                      </m:e>
                    </m:d>
                    <m:r>
                      <a:rPr lang="en-US" sz="1800">
                        <a:latin typeface="Cambria Math" panose="02040503050406030204" pitchFamily="18" charset="0"/>
                        <a:cs typeface="Arial" panose="020B0604020202020204" pitchFamily="34" charset="0"/>
                      </a:rPr>
                      <m:t>=</m:t>
                    </m:r>
                    <m:r>
                      <a:rPr lang="en-US" sz="1800">
                        <a:latin typeface="Cambria Math" panose="02040503050406030204" pitchFamily="18" charset="0"/>
                        <a:cs typeface="Arial" panose="020B0604020202020204" pitchFamily="34" charset="0"/>
                      </a:rPr>
                      <m:t>𝑃</m:t>
                    </m:r>
                    <m:d>
                      <m:dPr>
                        <m:ctrlPr>
                          <a:rPr lang="en-US" sz="1800" i="1">
                            <a:latin typeface="Cambria Math" panose="02040503050406030204" pitchFamily="18" charset="0"/>
                            <a:cs typeface="Arial" panose="020B0604020202020204" pitchFamily="34" charset="0"/>
                          </a:rPr>
                        </m:ctrlPr>
                      </m:dPr>
                      <m:e>
                        <m:f>
                          <m:fPr>
                            <m:ctrlPr>
                              <a:rPr lang="en-US" sz="1800" i="1">
                                <a:latin typeface="Cambria Math" panose="02040503050406030204" pitchFamily="18" charset="0"/>
                                <a:cs typeface="Arial" panose="020B0604020202020204" pitchFamily="34" charset="0"/>
                              </a:rPr>
                            </m:ctrlPr>
                          </m:fPr>
                          <m:num>
                            <m:r>
                              <a:rPr lang="en-US" sz="1800">
                                <a:latin typeface="Cambria Math" panose="02040503050406030204" pitchFamily="18" charset="0"/>
                                <a:cs typeface="Arial" panose="020B0604020202020204" pitchFamily="34" charset="0"/>
                              </a:rPr>
                              <m:t>𝑋</m:t>
                            </m:r>
                            <m:r>
                              <a:rPr lang="en-US" sz="1800">
                                <a:latin typeface="Cambria Math" panose="02040503050406030204" pitchFamily="18" charset="0"/>
                                <a:cs typeface="Arial" panose="020B0604020202020204" pitchFamily="34" charset="0"/>
                              </a:rPr>
                              <m:t>−</m:t>
                            </m:r>
                            <m:r>
                              <a:rPr lang="en-US" sz="1800">
                                <a:latin typeface="Cambria Math" panose="02040503050406030204" pitchFamily="18" charset="0"/>
                                <a:cs typeface="Arial" panose="020B0604020202020204" pitchFamily="34" charset="0"/>
                              </a:rPr>
                              <m:t>𝜇</m:t>
                            </m:r>
                          </m:num>
                          <m:den>
                            <m:r>
                              <a:rPr lang="en-US" sz="1800">
                                <a:latin typeface="Cambria Math" panose="02040503050406030204" pitchFamily="18" charset="0"/>
                                <a:cs typeface="Arial" panose="020B0604020202020204" pitchFamily="34" charset="0"/>
                              </a:rPr>
                              <m:t>𝜎</m:t>
                            </m:r>
                          </m:den>
                        </m:f>
                        <m:r>
                          <a:rPr lang="en-US" sz="1800">
                            <a:latin typeface="Cambria Math" panose="02040503050406030204" pitchFamily="18" charset="0"/>
                            <a:cs typeface="Arial" panose="020B0604020202020204" pitchFamily="34" charset="0"/>
                          </a:rPr>
                          <m:t>&lt;</m:t>
                        </m:r>
                        <m:f>
                          <m:fPr>
                            <m:ctrlPr>
                              <a:rPr lang="en-US" sz="1800" i="1">
                                <a:latin typeface="Cambria Math" panose="02040503050406030204" pitchFamily="18" charset="0"/>
                                <a:cs typeface="Arial" panose="020B0604020202020204" pitchFamily="34" charset="0"/>
                              </a:rPr>
                            </m:ctrlPr>
                          </m:fPr>
                          <m:num>
                            <m:r>
                              <a:rPr lang="en-US" sz="1800">
                                <a:latin typeface="Cambria Math" panose="02040503050406030204" pitchFamily="18" charset="0"/>
                                <a:cs typeface="Arial" panose="020B0604020202020204" pitchFamily="34" charset="0"/>
                              </a:rPr>
                              <m:t>281−</m:t>
                            </m:r>
                            <m:r>
                              <a:rPr lang="en-US" sz="1800">
                                <a:latin typeface="Cambria Math" panose="02040503050406030204" pitchFamily="18" charset="0"/>
                                <a:cs typeface="Arial" panose="020B0604020202020204" pitchFamily="34" charset="0"/>
                              </a:rPr>
                              <m:t>𝜇</m:t>
                            </m:r>
                          </m:num>
                          <m:den>
                            <m:r>
                              <a:rPr lang="en-US" sz="1800">
                                <a:latin typeface="Cambria Math" panose="02040503050406030204" pitchFamily="18" charset="0"/>
                                <a:cs typeface="Arial" panose="020B0604020202020204" pitchFamily="34" charset="0"/>
                              </a:rPr>
                              <m:t>𝜎</m:t>
                            </m:r>
                          </m:den>
                        </m:f>
                      </m:e>
                    </m:d>
                    <m:r>
                      <a:rPr lang="en-US" sz="1800">
                        <a:latin typeface="Cambria Math" panose="02040503050406030204" pitchFamily="18" charset="0"/>
                        <a:cs typeface="Arial" panose="020B0604020202020204" pitchFamily="34" charset="0"/>
                      </a:rPr>
                      <m:t>=</m:t>
                    </m:r>
                    <m:r>
                      <a:rPr lang="en-US" sz="1800">
                        <a:latin typeface="Cambria Math" panose="02040503050406030204" pitchFamily="18" charset="0"/>
                        <a:cs typeface="Arial" panose="020B0604020202020204" pitchFamily="34" charset="0"/>
                      </a:rPr>
                      <m:t>𝑃</m:t>
                    </m:r>
                    <m:d>
                      <m:dPr>
                        <m:ctrlPr>
                          <a:rPr lang="en-US" sz="1800" i="1">
                            <a:latin typeface="Cambria Math" panose="02040503050406030204" pitchFamily="18" charset="0"/>
                            <a:cs typeface="Arial" panose="020B0604020202020204" pitchFamily="34" charset="0"/>
                          </a:rPr>
                        </m:ctrlPr>
                      </m:dPr>
                      <m:e>
                        <m:r>
                          <a:rPr lang="en-US" sz="1800">
                            <a:latin typeface="Cambria Math" panose="02040503050406030204" pitchFamily="18" charset="0"/>
                            <a:cs typeface="Arial" panose="020B0604020202020204" pitchFamily="34" charset="0"/>
                          </a:rPr>
                          <m:t>𝑍</m:t>
                        </m:r>
                        <m:r>
                          <a:rPr lang="en-US" sz="1800">
                            <a:latin typeface="Cambria Math" panose="02040503050406030204" pitchFamily="18" charset="0"/>
                            <a:cs typeface="Arial" panose="020B0604020202020204" pitchFamily="34" charset="0"/>
                          </a:rPr>
                          <m:t>&lt;</m:t>
                        </m:r>
                        <m:f>
                          <m:fPr>
                            <m:ctrlPr>
                              <a:rPr lang="en-US" sz="1800" i="1">
                                <a:latin typeface="Cambria Math" panose="02040503050406030204" pitchFamily="18" charset="0"/>
                                <a:cs typeface="Arial" panose="020B0604020202020204" pitchFamily="34" charset="0"/>
                              </a:rPr>
                            </m:ctrlPr>
                          </m:fPr>
                          <m:num>
                            <m:r>
                              <a:rPr lang="en-US" sz="1800">
                                <a:latin typeface="Cambria Math" panose="02040503050406030204" pitchFamily="18" charset="0"/>
                                <a:cs typeface="Arial" panose="020B0604020202020204" pitchFamily="34" charset="0"/>
                              </a:rPr>
                              <m:t>281−283</m:t>
                            </m:r>
                          </m:num>
                          <m:den>
                            <m:r>
                              <a:rPr lang="en-US" sz="1800">
                                <a:latin typeface="Cambria Math" panose="02040503050406030204" pitchFamily="18" charset="0"/>
                                <a:cs typeface="Arial" panose="020B0604020202020204" pitchFamily="34" charset="0"/>
                              </a:rPr>
                              <m:t>1.65</m:t>
                            </m:r>
                          </m:den>
                        </m:f>
                      </m:e>
                    </m:d>
                    <m:r>
                      <a:rPr lang="en-US" sz="1800">
                        <a:latin typeface="Cambria Math" panose="02040503050406030204" pitchFamily="18" charset="0"/>
                        <a:cs typeface="Arial" panose="020B0604020202020204" pitchFamily="34" charset="0"/>
                      </a:rPr>
                      <m:t>=</m:t>
                    </m:r>
                    <m:r>
                      <a:rPr lang="en-US" sz="1800">
                        <a:latin typeface="Cambria Math" panose="02040503050406030204" pitchFamily="18" charset="0"/>
                        <a:cs typeface="Arial" panose="020B0604020202020204" pitchFamily="34" charset="0"/>
                      </a:rPr>
                      <m:t>𝑃</m:t>
                    </m:r>
                    <m:d>
                      <m:dPr>
                        <m:ctrlPr>
                          <a:rPr lang="en-US" sz="1800" i="1">
                            <a:latin typeface="Cambria Math" panose="02040503050406030204" pitchFamily="18" charset="0"/>
                            <a:cs typeface="Arial" panose="020B0604020202020204" pitchFamily="34" charset="0"/>
                          </a:rPr>
                        </m:ctrlPr>
                      </m:dPr>
                      <m:e>
                        <m:r>
                          <a:rPr lang="en-US" sz="1800">
                            <a:latin typeface="Cambria Math" panose="02040503050406030204" pitchFamily="18" charset="0"/>
                            <a:cs typeface="Arial" panose="020B0604020202020204" pitchFamily="34" charset="0"/>
                          </a:rPr>
                          <m:t>𝑍</m:t>
                        </m:r>
                        <m:r>
                          <a:rPr lang="en-US" sz="1800">
                            <a:latin typeface="Cambria Math" panose="02040503050406030204" pitchFamily="18" charset="0"/>
                            <a:cs typeface="Arial" panose="020B0604020202020204" pitchFamily="34" charset="0"/>
                          </a:rPr>
                          <m:t>&lt;−1.21</m:t>
                        </m:r>
                      </m:e>
                    </m:d>
                    <m:r>
                      <a:rPr lang="en-US" sz="1800">
                        <a:latin typeface="Cambria Math" panose="02040503050406030204" pitchFamily="18" charset="0"/>
                        <a:cs typeface="Arial" panose="020B0604020202020204" pitchFamily="34" charset="0"/>
                      </a:rPr>
                      <m:t>=</m:t>
                    </m:r>
                    <m:r>
                      <m:rPr>
                        <m:sty m:val="p"/>
                      </m:rPr>
                      <a:rPr lang="en-US" sz="1800" b="0" i="0" smtClean="0">
                        <a:latin typeface="Cambria Math" panose="02040503050406030204" pitchFamily="18" charset="0"/>
                        <a:cs typeface="Arial" panose="020B0604020202020204" pitchFamily="34" charset="0"/>
                      </a:rPr>
                      <m:t>F</m:t>
                    </m:r>
                    <m:d>
                      <m:dPr>
                        <m:ctrlPr>
                          <a:rPr lang="en-US" sz="1800" i="1">
                            <a:latin typeface="Cambria Math" panose="02040503050406030204" pitchFamily="18" charset="0"/>
                            <a:cs typeface="Arial" panose="020B0604020202020204" pitchFamily="34" charset="0"/>
                          </a:rPr>
                        </m:ctrlPr>
                      </m:dPr>
                      <m:e>
                        <m:r>
                          <a:rPr lang="en-US" sz="1800">
                            <a:latin typeface="Cambria Math" panose="02040503050406030204" pitchFamily="18" charset="0"/>
                            <a:cs typeface="Arial" panose="020B0604020202020204" pitchFamily="34" charset="0"/>
                          </a:rPr>
                          <m:t>−1.21</m:t>
                        </m:r>
                      </m:e>
                    </m:d>
                    <m:r>
                      <a:rPr lang="en-US" sz="1800">
                        <a:latin typeface="Cambria Math" panose="02040503050406030204" pitchFamily="18" charset="0"/>
                        <a:cs typeface="Arial" panose="020B0604020202020204" pitchFamily="34" charset="0"/>
                      </a:rPr>
                      <m:t>=0.1131</m:t>
                    </m:r>
                  </m:oMath>
                </a14:m>
                <a:r>
                  <a:rPr lang="en-US" sz="1800" dirty="0">
                    <a:latin typeface="Arial" panose="020B0604020202020204" pitchFamily="34" charset="0"/>
                    <a:cs typeface="Arial" panose="020B0604020202020204" pitchFamily="34" charset="0"/>
                  </a:rPr>
                  <a:t> </a:t>
                </a:r>
              </a:p>
              <a:p>
                <a:pPr marL="342900" indent="-342900" algn="just">
                  <a:lnSpc>
                    <a:spcPct val="150000"/>
                  </a:lnSpc>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1800" b="0" i="1" dirty="0" smtClean="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450384"/>
                <a:ext cx="10831132" cy="6528639"/>
              </a:xfrm>
              <a:blipFill rotWithShape="0">
                <a:blip r:embed="rId2"/>
                <a:stretch>
                  <a:fillRect l="-394" r="-450"/>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1873692" y="2958907"/>
            <a:ext cx="8427595" cy="3899093"/>
          </a:xfrm>
          <a:prstGeom prst="rect">
            <a:avLst/>
          </a:prstGeom>
        </p:spPr>
      </p:pic>
    </p:spTree>
    <p:extLst>
      <p:ext uri="{BB962C8B-B14F-4D97-AF65-F5344CB8AC3E}">
        <p14:creationId xmlns:p14="http://schemas.microsoft.com/office/powerpoint/2010/main" val="37130243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0794"/>
            <a:ext cx="9144000" cy="605308"/>
          </a:xfrm>
        </p:spPr>
        <p:txBody>
          <a:bodyPr>
            <a:noAutofit/>
          </a:bodyPr>
          <a:lstStyle/>
          <a:p>
            <a:r>
              <a:rPr lang="en-US" sz="2400" b="1" dirty="0" smtClean="0">
                <a:latin typeface="Arial" panose="020B0604020202020204" pitchFamily="34" charset="0"/>
                <a:cs typeface="Arial" panose="020B0604020202020204" pitchFamily="34" charset="0"/>
              </a:rPr>
              <a:t>Example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450384"/>
                <a:ext cx="10831132" cy="6528639"/>
              </a:xfrm>
            </p:spPr>
            <p:txBody>
              <a:bodyPr>
                <a:noAutofit/>
              </a:bodyPr>
              <a:lstStyle/>
              <a:p>
                <a:pPr algn="l"/>
                <a:r>
                  <a:rPr lang="en-US" sz="2000" dirty="0" smtClean="0">
                    <a:latin typeface="Arial" panose="020B0604020202020204" pitchFamily="34" charset="0"/>
                    <a:cs typeface="Arial" panose="020B0604020202020204" pitchFamily="34" charset="0"/>
                  </a:rPr>
                  <a:t>Similarly </a:t>
                </a:r>
              </a:p>
              <a:p>
                <a:pPr algn="l"/>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a:latin typeface="Cambria Math" panose="02040503050406030204" pitchFamily="18" charset="0"/>
                            </a:rPr>
                            <m:t>&gt;286</m:t>
                          </m:r>
                        </m:e>
                      </m:d>
                      <m:r>
                        <a:rPr lang="en-US" sz="2000">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𝑍</m:t>
                          </m:r>
                          <m:r>
                            <a:rPr lang="en-US" sz="2000">
                              <a:latin typeface="Cambria Math" panose="02040503050406030204" pitchFamily="18" charset="0"/>
                            </a:rPr>
                            <m:t>&gt;1.82</m:t>
                          </m:r>
                        </m:e>
                      </m:d>
                      <m:r>
                        <a:rPr lang="en-US" sz="2000">
                          <a:latin typeface="Cambria Math" panose="02040503050406030204" pitchFamily="18" charset="0"/>
                        </a:rPr>
                        <m:t>=1</m:t>
                      </m:r>
                      <m:r>
                        <a:rPr lang="en-US" sz="2000" i="1">
                          <a:latin typeface="Cambria Math" panose="02040503050406030204" pitchFamily="18" charset="0"/>
                        </a:rPr>
                        <m:t>−</m:t>
                      </m:r>
                      <m:r>
                        <m:rPr>
                          <m:sty m:val="p"/>
                        </m:rPr>
                        <a:rPr lang="en-US" sz="2000" b="0" i="0" smtClean="0">
                          <a:latin typeface="Cambria Math" panose="02040503050406030204" pitchFamily="18" charset="0"/>
                        </a:rPr>
                        <m:t>F</m:t>
                      </m:r>
                      <m:d>
                        <m:dPr>
                          <m:ctrlPr>
                            <a:rPr lang="en-US" sz="2000" i="1">
                              <a:latin typeface="Cambria Math" panose="02040503050406030204" pitchFamily="18" charset="0"/>
                            </a:rPr>
                          </m:ctrlPr>
                        </m:dPr>
                        <m:e>
                          <m:r>
                            <a:rPr lang="en-US" sz="2000">
                              <a:latin typeface="Cambria Math" panose="02040503050406030204" pitchFamily="18" charset="0"/>
                            </a:rPr>
                            <m:t>1.82</m:t>
                          </m:r>
                        </m:e>
                      </m:d>
                      <m:r>
                        <a:rPr lang="en-US" sz="2000">
                          <a:latin typeface="Cambria Math" panose="02040503050406030204" pitchFamily="18" charset="0"/>
                        </a:rPr>
                        <m:t>=1</m:t>
                      </m:r>
                      <m:r>
                        <a:rPr lang="en-US" sz="2000" i="1">
                          <a:latin typeface="Cambria Math" panose="02040503050406030204" pitchFamily="18" charset="0"/>
                        </a:rPr>
                        <m:t>−</m:t>
                      </m:r>
                      <m:r>
                        <a:rPr lang="en-US" sz="2000">
                          <a:latin typeface="Cambria Math" panose="02040503050406030204" pitchFamily="18" charset="0"/>
                        </a:rPr>
                        <m:t>0.9656=0.0344</m:t>
                      </m:r>
                    </m:oMath>
                  </m:oMathPara>
                </a14:m>
                <a:endParaRPr lang="en-US" sz="2000" dirty="0">
                  <a:latin typeface="Arial" panose="020B0604020202020204" pitchFamily="34" charset="0"/>
                  <a:cs typeface="Arial" panose="020B0604020202020204" pitchFamily="34" charset="0"/>
                </a:endParaRPr>
              </a:p>
              <a:p>
                <a:pPr algn="l"/>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a:latin typeface="Cambria Math" panose="02040503050406030204" pitchFamily="18" charset="0"/>
                            </a:rPr>
                            <m:t>&gt;281</m:t>
                          </m:r>
                        </m:e>
                      </m:d>
                      <m:r>
                        <a:rPr lang="en-US" sz="2000">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𝑍</m:t>
                          </m:r>
                          <m:r>
                            <a:rPr lang="en-US" sz="2000">
                              <a:latin typeface="Cambria Math" panose="02040503050406030204" pitchFamily="18" charset="0"/>
                            </a:rPr>
                            <m:t>&gt;</m:t>
                          </m:r>
                          <m:r>
                            <a:rPr lang="en-US" sz="2000" i="1">
                              <a:latin typeface="Cambria Math" panose="02040503050406030204" pitchFamily="18" charset="0"/>
                            </a:rPr>
                            <m:t>−</m:t>
                          </m:r>
                          <m:r>
                            <a:rPr lang="en-US" sz="2000">
                              <a:latin typeface="Cambria Math" panose="02040503050406030204" pitchFamily="18" charset="0"/>
                            </a:rPr>
                            <m:t>1.21</m:t>
                          </m:r>
                        </m:e>
                      </m:d>
                      <m:r>
                        <a:rPr lang="en-US" sz="2000">
                          <a:latin typeface="Cambria Math" panose="02040503050406030204" pitchFamily="18" charset="0"/>
                        </a:rPr>
                        <m:t>=1</m:t>
                      </m:r>
                      <m:r>
                        <a:rPr lang="en-US" sz="2000" i="1">
                          <a:latin typeface="Cambria Math" panose="02040503050406030204" pitchFamily="18" charset="0"/>
                        </a:rPr>
                        <m:t>−</m:t>
                      </m:r>
                      <m:r>
                        <m:rPr>
                          <m:sty m:val="p"/>
                        </m:rPr>
                        <a:rPr lang="en-US" sz="2000" b="0" i="0" smtClean="0">
                          <a:latin typeface="Cambria Math" panose="02040503050406030204" pitchFamily="18" charset="0"/>
                        </a:rPr>
                        <m:t>F</m:t>
                      </m:r>
                      <m:d>
                        <m:dPr>
                          <m:ctrlPr>
                            <a:rPr lang="en-US" sz="2000" i="1">
                              <a:latin typeface="Cambria Math" panose="02040503050406030204" pitchFamily="18" charset="0"/>
                            </a:rPr>
                          </m:ctrlPr>
                        </m:dPr>
                        <m:e>
                          <m:r>
                            <a:rPr lang="en-US" sz="2000" i="1">
                              <a:latin typeface="Cambria Math" panose="02040503050406030204" pitchFamily="18" charset="0"/>
                            </a:rPr>
                            <m:t>−</m:t>
                          </m:r>
                          <m:r>
                            <a:rPr lang="en-US" sz="2000">
                              <a:latin typeface="Cambria Math" panose="02040503050406030204" pitchFamily="18" charset="0"/>
                            </a:rPr>
                            <m:t>1.21</m:t>
                          </m:r>
                        </m:e>
                      </m:d>
                      <m:r>
                        <a:rPr lang="en-US" sz="2000">
                          <a:latin typeface="Cambria Math" panose="02040503050406030204" pitchFamily="18" charset="0"/>
                        </a:rPr>
                        <m:t>=1</m:t>
                      </m:r>
                      <m:r>
                        <a:rPr lang="en-US" sz="2000" i="1">
                          <a:latin typeface="Cambria Math" panose="02040503050406030204" pitchFamily="18" charset="0"/>
                        </a:rPr>
                        <m:t>−</m:t>
                      </m:r>
                      <m:r>
                        <a:rPr lang="en-US" sz="2000">
                          <a:latin typeface="Cambria Math" panose="02040503050406030204" pitchFamily="18" charset="0"/>
                        </a:rPr>
                        <m:t>0.1131=0.8869</m:t>
                      </m:r>
                    </m:oMath>
                  </m:oMathPara>
                </a14:m>
                <a:endParaRPr lang="en-US" sz="2000" dirty="0" smtClean="0">
                  <a:latin typeface="Arial" panose="020B0604020202020204" pitchFamily="34" charset="0"/>
                  <a:cs typeface="Arial" panose="020B0604020202020204" pitchFamily="34" charset="0"/>
                </a:endParaRPr>
              </a:p>
              <a:p>
                <a:pPr algn="l"/>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450384"/>
                <a:ext cx="10831132" cy="6528639"/>
              </a:xfrm>
              <a:blipFill rotWithShape="0">
                <a:blip r:embed="rId2"/>
                <a:stretch>
                  <a:fillRect l="-619" t="-934"/>
                </a:stretch>
              </a:blipFill>
            </p:spPr>
            <p:txBody>
              <a:bodyPr/>
              <a:lstStyle/>
              <a:p>
                <a:r>
                  <a:rPr lang="en-US">
                    <a:noFill/>
                  </a:rPr>
                  <a:t> </a:t>
                </a:r>
              </a:p>
            </p:txBody>
          </p:sp>
        </mc:Fallback>
      </mc:AlternateContent>
      <p:pic>
        <p:nvPicPr>
          <p:cNvPr id="5" name="Picture 4"/>
          <p:cNvPicPr>
            <a:picLocks noChangeAspect="1"/>
          </p:cNvPicPr>
          <p:nvPr/>
        </p:nvPicPr>
        <p:blipFill>
          <a:blip r:embed="rId3"/>
          <a:stretch>
            <a:fillRect/>
          </a:stretch>
        </p:blipFill>
        <p:spPr>
          <a:xfrm>
            <a:off x="931671" y="1583491"/>
            <a:ext cx="9279129" cy="4885274"/>
          </a:xfrm>
          <a:prstGeom prst="rect">
            <a:avLst/>
          </a:prstGeom>
        </p:spPr>
      </p:pic>
    </p:spTree>
    <p:extLst>
      <p:ext uri="{BB962C8B-B14F-4D97-AF65-F5344CB8AC3E}">
        <p14:creationId xmlns:p14="http://schemas.microsoft.com/office/powerpoint/2010/main" val="200096944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0794"/>
            <a:ext cx="9144000" cy="605308"/>
          </a:xfrm>
        </p:spPr>
        <p:txBody>
          <a:bodyPr>
            <a:noAutofit/>
          </a:bodyPr>
          <a:lstStyle/>
          <a:p>
            <a:r>
              <a:rPr lang="en-US" sz="2400" b="1" dirty="0" smtClean="0">
                <a:latin typeface="Arial" panose="020B0604020202020204" pitchFamily="34" charset="0"/>
                <a:cs typeface="Arial" panose="020B0604020202020204" pitchFamily="34" charset="0"/>
              </a:rPr>
              <a:t>Example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507536"/>
                <a:ext cx="10831132" cy="6528639"/>
              </a:xfrm>
            </p:spPr>
            <p:txBody>
              <a:bodyPr>
                <a:noAutofit/>
              </a:bodyPr>
              <a:lstStyle/>
              <a:p>
                <a:pPr algn="l"/>
                <a:r>
                  <a:rPr lang="en-US" sz="2000" dirty="0" smtClean="0">
                    <a:latin typeface="Arial" panose="020B0604020202020204" pitchFamily="34" charset="0"/>
                    <a:cs typeface="Arial" panose="020B0604020202020204" pitchFamily="34" charset="0"/>
                  </a:rPr>
                  <a:t>Similarly </a:t>
                </a:r>
                <a:endParaRPr lang="en-US" sz="2000"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281.5&lt;</m:t>
                          </m:r>
                          <m:r>
                            <a:rPr lang="en-US" sz="2000">
                              <a:latin typeface="Cambria Math" panose="02040503050406030204" pitchFamily="18" charset="0"/>
                              <a:cs typeface="Arial" panose="020B0604020202020204" pitchFamily="34" charset="0"/>
                            </a:rPr>
                            <m:t>𝑋</m:t>
                          </m:r>
                          <m:r>
                            <a:rPr lang="en-US" sz="2000">
                              <a:latin typeface="Cambria Math" panose="02040503050406030204" pitchFamily="18" charset="0"/>
                              <a:cs typeface="Arial" panose="020B0604020202020204" pitchFamily="34" charset="0"/>
                            </a:rPr>
                            <m:t>&lt;285.4</m:t>
                          </m:r>
                        </m:e>
                      </m:d>
                      <m:r>
                        <a:rPr lang="en-US" sz="2000">
                          <a:latin typeface="Cambria Math" panose="02040503050406030204" pitchFamily="18" charset="0"/>
                          <a:cs typeface="Arial" panose="020B0604020202020204" pitchFamily="34" charset="0"/>
                        </a:rPr>
                        <m:t>=</m:t>
                      </m:r>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f>
                            <m:fPr>
                              <m:ctrlPr>
                                <a:rPr lang="en-US" sz="2000" i="1">
                                  <a:latin typeface="Cambria Math" panose="02040503050406030204" pitchFamily="18" charset="0"/>
                                  <a:cs typeface="Arial" panose="020B0604020202020204" pitchFamily="34" charset="0"/>
                                </a:rPr>
                              </m:ctrlPr>
                            </m:fPr>
                            <m:num>
                              <m:r>
                                <a:rPr lang="en-US" sz="2000">
                                  <a:latin typeface="Cambria Math" panose="02040503050406030204" pitchFamily="18" charset="0"/>
                                  <a:cs typeface="Arial" panose="020B0604020202020204" pitchFamily="34" charset="0"/>
                                </a:rPr>
                                <m:t>281.5−</m:t>
                              </m:r>
                              <m:r>
                                <a:rPr lang="en-US" sz="2000">
                                  <a:latin typeface="Cambria Math" panose="02040503050406030204" pitchFamily="18" charset="0"/>
                                  <a:cs typeface="Arial" panose="020B0604020202020204" pitchFamily="34" charset="0"/>
                                </a:rPr>
                                <m:t>𝜇</m:t>
                              </m:r>
                            </m:num>
                            <m:den>
                              <m:r>
                                <a:rPr lang="en-US" sz="2000">
                                  <a:latin typeface="Cambria Math" panose="02040503050406030204" pitchFamily="18" charset="0"/>
                                  <a:cs typeface="Arial" panose="020B0604020202020204" pitchFamily="34" charset="0"/>
                                </a:rPr>
                                <m:t>𝜎</m:t>
                              </m:r>
                            </m:den>
                          </m:f>
                          <m:r>
                            <a:rPr lang="en-US" sz="2000">
                              <a:latin typeface="Cambria Math" panose="02040503050406030204" pitchFamily="18" charset="0"/>
                              <a:cs typeface="Arial" panose="020B0604020202020204" pitchFamily="34" charset="0"/>
                            </a:rPr>
                            <m:t>&lt;</m:t>
                          </m:r>
                          <m:f>
                            <m:fPr>
                              <m:ctrlPr>
                                <a:rPr lang="en-US" sz="2000" i="1">
                                  <a:latin typeface="Cambria Math" panose="02040503050406030204" pitchFamily="18" charset="0"/>
                                  <a:cs typeface="Arial" panose="020B0604020202020204" pitchFamily="34" charset="0"/>
                                </a:rPr>
                              </m:ctrlPr>
                            </m:fPr>
                            <m:num>
                              <m:r>
                                <a:rPr lang="en-US" sz="2000">
                                  <a:latin typeface="Cambria Math" panose="02040503050406030204" pitchFamily="18" charset="0"/>
                                  <a:cs typeface="Arial" panose="020B0604020202020204" pitchFamily="34" charset="0"/>
                                </a:rPr>
                                <m:t>𝑋</m:t>
                              </m:r>
                              <m:r>
                                <a:rPr lang="en-US" sz="2000">
                                  <a:latin typeface="Cambria Math" panose="02040503050406030204" pitchFamily="18" charset="0"/>
                                  <a:cs typeface="Arial" panose="020B0604020202020204" pitchFamily="34" charset="0"/>
                                </a:rPr>
                                <m:t>−</m:t>
                              </m:r>
                              <m:r>
                                <a:rPr lang="en-US" sz="2000">
                                  <a:latin typeface="Cambria Math" panose="02040503050406030204" pitchFamily="18" charset="0"/>
                                  <a:cs typeface="Arial" panose="020B0604020202020204" pitchFamily="34" charset="0"/>
                                </a:rPr>
                                <m:t>𝜇</m:t>
                              </m:r>
                            </m:num>
                            <m:den>
                              <m:r>
                                <a:rPr lang="en-US" sz="2000">
                                  <a:latin typeface="Cambria Math" panose="02040503050406030204" pitchFamily="18" charset="0"/>
                                  <a:cs typeface="Arial" panose="020B0604020202020204" pitchFamily="34" charset="0"/>
                                </a:rPr>
                                <m:t>𝜎</m:t>
                              </m:r>
                            </m:den>
                          </m:f>
                          <m:r>
                            <a:rPr lang="en-US" sz="2000">
                              <a:latin typeface="Cambria Math" panose="02040503050406030204" pitchFamily="18" charset="0"/>
                              <a:cs typeface="Arial" panose="020B0604020202020204" pitchFamily="34" charset="0"/>
                            </a:rPr>
                            <m:t>&lt;</m:t>
                          </m:r>
                          <m:f>
                            <m:fPr>
                              <m:ctrlPr>
                                <a:rPr lang="en-US" sz="2000" i="1">
                                  <a:latin typeface="Cambria Math" panose="02040503050406030204" pitchFamily="18" charset="0"/>
                                  <a:cs typeface="Arial" panose="020B0604020202020204" pitchFamily="34" charset="0"/>
                                </a:rPr>
                              </m:ctrlPr>
                            </m:fPr>
                            <m:num>
                              <m:r>
                                <a:rPr lang="en-US" sz="2000">
                                  <a:latin typeface="Cambria Math" panose="02040503050406030204" pitchFamily="18" charset="0"/>
                                  <a:cs typeface="Arial" panose="020B0604020202020204" pitchFamily="34" charset="0"/>
                                </a:rPr>
                                <m:t>285.4−</m:t>
                              </m:r>
                              <m:r>
                                <a:rPr lang="en-US" sz="2000">
                                  <a:latin typeface="Cambria Math" panose="02040503050406030204" pitchFamily="18" charset="0"/>
                                  <a:cs typeface="Arial" panose="020B0604020202020204" pitchFamily="34" charset="0"/>
                                </a:rPr>
                                <m:t>𝜇</m:t>
                              </m:r>
                            </m:num>
                            <m:den>
                              <m:r>
                                <a:rPr lang="en-US" sz="2000">
                                  <a:latin typeface="Cambria Math" panose="02040503050406030204" pitchFamily="18" charset="0"/>
                                  <a:cs typeface="Arial" panose="020B0604020202020204" pitchFamily="34" charset="0"/>
                                </a:rPr>
                                <m:t>𝜎</m:t>
                              </m:r>
                            </m:den>
                          </m:f>
                        </m:e>
                      </m:d>
                      <m:r>
                        <a:rPr lang="en-US" sz="2000">
                          <a:latin typeface="Cambria Math" panose="02040503050406030204" pitchFamily="18" charset="0"/>
                          <a:cs typeface="Arial" panose="020B0604020202020204" pitchFamily="34" charset="0"/>
                        </a:rPr>
                        <m:t>=</m:t>
                      </m:r>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−0.91&lt;</m:t>
                          </m:r>
                          <m:r>
                            <a:rPr lang="en-US" sz="2000">
                              <a:latin typeface="Cambria Math" panose="02040503050406030204" pitchFamily="18" charset="0"/>
                              <a:cs typeface="Arial" panose="020B0604020202020204" pitchFamily="34" charset="0"/>
                            </a:rPr>
                            <m:t>𝑍</m:t>
                          </m:r>
                          <m:r>
                            <a:rPr lang="en-US" sz="2000">
                              <a:latin typeface="Cambria Math" panose="02040503050406030204" pitchFamily="18" charset="0"/>
                              <a:cs typeface="Arial" panose="020B0604020202020204" pitchFamily="34" charset="0"/>
                            </a:rPr>
                            <m:t>&lt;1.45</m:t>
                          </m:r>
                        </m:e>
                      </m:d>
                    </m:oMath>
                  </m:oMathPara>
                </a14:m>
                <a:endParaRPr lang="en-US" sz="2000"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cs typeface="Arial" panose="020B0604020202020204" pitchFamily="34" charset="0"/>
                        </a:rPr>
                        <m:t>                           =</m:t>
                      </m:r>
                      <m:r>
                        <m:rPr>
                          <m:sty m:val="p"/>
                        </m:rPr>
                        <a:rPr lang="en-US" sz="2000" b="0" i="0" smtClean="0">
                          <a:latin typeface="Cambria Math" panose="02040503050406030204" pitchFamily="18" charset="0"/>
                          <a:cs typeface="Arial" panose="020B0604020202020204" pitchFamily="34" charset="0"/>
                        </a:rPr>
                        <m:t>F</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1.45</m:t>
                          </m:r>
                        </m:e>
                      </m:d>
                      <m:r>
                        <a:rPr lang="en-US" sz="2000">
                          <a:latin typeface="Cambria Math" panose="02040503050406030204" pitchFamily="18" charset="0"/>
                          <a:cs typeface="Arial" panose="020B0604020202020204" pitchFamily="34" charset="0"/>
                        </a:rPr>
                        <m:t>−</m:t>
                      </m:r>
                      <m:r>
                        <m:rPr>
                          <m:sty m:val="p"/>
                        </m:rPr>
                        <a:rPr lang="en-US" sz="2000" b="0" i="0" smtClean="0">
                          <a:latin typeface="Cambria Math" panose="02040503050406030204" pitchFamily="18" charset="0"/>
                          <a:cs typeface="Arial" panose="020B0604020202020204" pitchFamily="34" charset="0"/>
                        </a:rPr>
                        <m:t>F</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−0.91</m:t>
                          </m:r>
                        </m:e>
                      </m:d>
                      <m:r>
                        <a:rPr lang="en-US" sz="2000">
                          <a:latin typeface="Cambria Math" panose="02040503050406030204" pitchFamily="18" charset="0"/>
                          <a:cs typeface="Arial" panose="020B0604020202020204" pitchFamily="34" charset="0"/>
                        </a:rPr>
                        <m:t>=0.9265−0.1814=0.7451</m:t>
                      </m:r>
                    </m:oMath>
                  </m:oMathPara>
                </a14:m>
                <a:endParaRPr lang="en-US" sz="2000" dirty="0" smtClean="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pPr algn="l"/>
                <a:endParaRPr lang="en-US" sz="2000" dirty="0">
                  <a:latin typeface="Arial" panose="020B0604020202020204" pitchFamily="34" charset="0"/>
                  <a:cs typeface="Arial" panose="020B0604020202020204" pitchFamily="34" charset="0"/>
                </a:endParaRPr>
              </a:p>
              <a:p>
                <a:pPr algn="l"/>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507536"/>
                <a:ext cx="10831132" cy="6528639"/>
              </a:xfrm>
              <a:blipFill rotWithShape="0">
                <a:blip r:embed="rId2"/>
                <a:stretch>
                  <a:fillRect l="-619" t="-840"/>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1524000" y="1848485"/>
            <a:ext cx="8777288" cy="4892092"/>
          </a:xfrm>
          <a:prstGeom prst="rect">
            <a:avLst/>
          </a:prstGeom>
        </p:spPr>
      </p:pic>
    </p:spTree>
    <p:extLst>
      <p:ext uri="{BB962C8B-B14F-4D97-AF65-F5344CB8AC3E}">
        <p14:creationId xmlns:p14="http://schemas.microsoft.com/office/powerpoint/2010/main" val="197677878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0794"/>
            <a:ext cx="9144000" cy="605308"/>
          </a:xfrm>
        </p:spPr>
        <p:txBody>
          <a:bodyPr>
            <a:noAutofit/>
          </a:bodyPr>
          <a:lstStyle/>
          <a:p>
            <a:r>
              <a:rPr lang="en-US" sz="2400" b="1" dirty="0" smtClean="0">
                <a:latin typeface="Arial" panose="020B0604020202020204" pitchFamily="34" charset="0"/>
                <a:cs typeface="Arial" panose="020B0604020202020204" pitchFamily="34" charset="0"/>
              </a:rPr>
              <a:t>Problem on Normal Distribution</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0434" y="687389"/>
                <a:ext cx="10831132" cy="6528639"/>
              </a:xfrm>
            </p:spPr>
            <p:txBody>
              <a:bodyPr>
                <a:noAutofit/>
              </a:bodyPr>
              <a:lstStyle/>
              <a:p>
                <a:pPr algn="just">
                  <a:lnSpc>
                    <a:spcPct val="150000"/>
                  </a:lnSpc>
                </a:pPr>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a:t>
                </a:r>
                <a:r>
                  <a:rPr lang="en-US" sz="2000" dirty="0" smtClean="0">
                    <a:latin typeface="Arial" panose="020B0604020202020204" pitchFamily="34" charset="0"/>
                    <a:cs typeface="Arial" panose="020B0604020202020204" pitchFamily="34" charset="0"/>
                  </a:rPr>
                  <a:t>: The </a:t>
                </a:r>
                <a:r>
                  <a:rPr lang="en-US" sz="2000" dirty="0">
                    <a:latin typeface="Arial" panose="020B0604020202020204" pitchFamily="34" charset="0"/>
                    <a:cs typeface="Arial" panose="020B0604020202020204" pitchFamily="34" charset="0"/>
                  </a:rPr>
                  <a:t>weight of a sophisticated running shoe is normally distributed with a mean of 12 ounces and a standard deviation of </a:t>
                </a:r>
                <a:r>
                  <a:rPr lang="en-US" sz="2000" dirty="0" smtClean="0">
                    <a:latin typeface="Arial" panose="020B0604020202020204" pitchFamily="34" charset="0"/>
                    <a:cs typeface="Arial" panose="020B0604020202020204" pitchFamily="34" charset="0"/>
                  </a:rPr>
                  <a:t>0.45 </a:t>
                </a:r>
                <a:r>
                  <a:rPr lang="en-US" sz="2000" dirty="0">
                    <a:latin typeface="Arial" panose="020B0604020202020204" pitchFamily="34" charset="0"/>
                    <a:cs typeface="Arial" panose="020B0604020202020204" pitchFamily="34" charset="0"/>
                  </a:rPr>
                  <a:t>ounce. </a:t>
                </a:r>
                <a:r>
                  <a:rPr lang="en-US" sz="2000" dirty="0" smtClean="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a</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What is the probability that a shoe weighs </a:t>
                </a:r>
                <a:r>
                  <a:rPr lang="en-US" sz="2000" dirty="0" smtClean="0">
                    <a:latin typeface="Arial" panose="020B0604020202020204" pitchFamily="34" charset="0"/>
                    <a:cs typeface="Arial" panose="020B0604020202020204" pitchFamily="34" charset="0"/>
                  </a:rPr>
                  <a:t>at most 12.2 ounces (b) What </a:t>
                </a:r>
                <a:r>
                  <a:rPr lang="en-US" sz="2000" dirty="0">
                    <a:latin typeface="Arial" panose="020B0604020202020204" pitchFamily="34" charset="0"/>
                    <a:cs typeface="Arial" panose="020B0604020202020204" pitchFamily="34" charset="0"/>
                  </a:rPr>
                  <a:t>is the probability that a shoe weighs more than 13.2 ounces? (ii) What is the probability that a shoe weighs is between 11.4 ounces and 12.9 ounces? </a:t>
                </a:r>
                <a:endParaRPr lang="en-US" sz="2000" b="1"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Solution</a:t>
                </a:r>
                <a:r>
                  <a:rPr lang="en-US" sz="2000" dirty="0" smtClean="0">
                    <a:latin typeface="Arial" panose="020B0604020202020204" pitchFamily="34" charset="0"/>
                    <a:cs typeface="Arial" panose="020B0604020202020204" pitchFamily="34" charset="0"/>
                  </a:rPr>
                  <a:t>: Given </a:t>
                </a:r>
                <a:r>
                  <a:rPr lang="en-US" sz="2000" dirty="0">
                    <a:latin typeface="Arial" panose="020B0604020202020204" pitchFamily="34" charset="0"/>
                    <a:cs typeface="Arial" panose="020B0604020202020204" pitchFamily="34" charset="0"/>
                  </a:rPr>
                  <a:t>that </a:t>
                </a:r>
                <a14:m>
                  <m:oMath xmlns:m="http://schemas.openxmlformats.org/officeDocument/2006/math">
                    <m:r>
                      <a:rPr lang="en-US" sz="2000" b="0" i="1" smtClean="0">
                        <a:latin typeface="Cambria Math" panose="02040503050406030204" pitchFamily="18" charset="0"/>
                      </a:rPr>
                      <m:t>𝜇</m:t>
                    </m:r>
                    <m:r>
                      <a:rPr lang="en-US" sz="2000" i="1">
                        <a:latin typeface="Cambria Math" panose="02040503050406030204" pitchFamily="18" charset="0"/>
                      </a:rPr>
                      <m:t>=</m:t>
                    </m:r>
                    <m:r>
                      <a:rPr lang="en-US" sz="2000" b="0" i="1" smtClean="0">
                        <a:latin typeface="Cambria Math" panose="02040503050406030204" pitchFamily="18" charset="0"/>
                      </a:rPr>
                      <m:t>12</m:t>
                    </m:r>
                    <m:r>
                      <a:rPr lang="en-US" sz="2000" b="0" i="0" smtClean="0">
                        <a:latin typeface="Cambria Math" panose="02040503050406030204" pitchFamily="18" charset="0"/>
                      </a:rPr>
                      <m:t>, </m:t>
                    </m:r>
                  </m:oMath>
                </a14:m>
                <a:r>
                  <a:rPr lang="en-US" sz="2000" dirty="0" smtClean="0">
                    <a:latin typeface="Arial" panose="020B0604020202020204" pitchFamily="34" charset="0"/>
                    <a:cs typeface="Arial" panose="020B0604020202020204" pitchFamily="34" charset="0"/>
                  </a:rPr>
                  <a:t>and </a:t>
                </a:r>
                <a14:m>
                  <m:oMath xmlns:m="http://schemas.openxmlformats.org/officeDocument/2006/math">
                    <m:r>
                      <a:rPr lang="en-US" sz="2000" b="0" i="1" smtClean="0">
                        <a:latin typeface="Cambria Math" panose="02040503050406030204" pitchFamily="18" charset="0"/>
                        <a:cs typeface="Arial" panose="020B0604020202020204" pitchFamily="34" charset="0"/>
                      </a:rPr>
                      <m:t>𝜎</m:t>
                    </m:r>
                    <m:r>
                      <a:rPr lang="en-US" sz="2000" b="0" i="1" smtClean="0">
                        <a:latin typeface="Cambria Math" panose="02040503050406030204" pitchFamily="18" charset="0"/>
                        <a:cs typeface="Arial" panose="020B0604020202020204" pitchFamily="34" charset="0"/>
                      </a:rPr>
                      <m:t>=0.5</m:t>
                    </m:r>
                  </m:oMath>
                </a14:m>
                <a:endParaRPr lang="en-US" sz="2000" dirty="0" smtClean="0">
                  <a:latin typeface="Arial" panose="020B0604020202020204" pitchFamily="34" charset="0"/>
                  <a:cs typeface="Arial" panose="020B0604020202020204" pitchFamily="34" charset="0"/>
                </a:endParaRPr>
              </a:p>
              <a:p>
                <a:pPr algn="just">
                  <a:lnSpc>
                    <a:spcPct val="150000"/>
                  </a:lnSpc>
                </a:pPr>
                <a:r>
                  <a:rPr lang="en-US" sz="2000" dirty="0">
                    <a:latin typeface="Arial" panose="020B0604020202020204" pitchFamily="34" charset="0"/>
                    <a:cs typeface="Arial" panose="020B0604020202020204" pitchFamily="34" charset="0"/>
                  </a:rPr>
                  <a:t>	</a:t>
                </a:r>
                <a:r>
                  <a:rPr lang="en-US" sz="1700" dirty="0" smtClean="0">
                    <a:latin typeface="Arial" panose="020B0604020202020204" pitchFamily="34" charset="0"/>
                    <a:cs typeface="Arial" panose="020B0604020202020204" pitchFamily="34" charset="0"/>
                  </a:rPr>
                  <a:t>(a)</a:t>
                </a:r>
                <a:r>
                  <a:rPr lang="en-US" sz="1700" dirty="0">
                    <a:latin typeface="Arial" panose="020B0604020202020204" pitchFamily="34" charset="0"/>
                    <a:cs typeface="Arial" panose="020B0604020202020204" pitchFamily="34" charset="0"/>
                  </a:rPr>
                  <a:t> </a:t>
                </a:r>
                <a14:m>
                  <m:oMath xmlns:m="http://schemas.openxmlformats.org/officeDocument/2006/math">
                    <m:r>
                      <a:rPr lang="en-US" sz="1700" i="1">
                        <a:latin typeface="Cambria Math" panose="02040503050406030204" pitchFamily="18" charset="0"/>
                      </a:rPr>
                      <m:t>𝑃</m:t>
                    </m:r>
                    <m:d>
                      <m:dPr>
                        <m:ctrlPr>
                          <a:rPr lang="en-US" sz="1700" i="1">
                            <a:latin typeface="Cambria Math" panose="02040503050406030204" pitchFamily="18" charset="0"/>
                          </a:rPr>
                        </m:ctrlPr>
                      </m:dPr>
                      <m:e>
                        <m:r>
                          <a:rPr lang="en-US" sz="1700" i="1">
                            <a:latin typeface="Cambria Math" panose="02040503050406030204" pitchFamily="18" charset="0"/>
                          </a:rPr>
                          <m:t>𝑋</m:t>
                        </m:r>
                        <m:r>
                          <a:rPr lang="en-US" sz="1700" b="0" i="1" smtClean="0">
                            <a:latin typeface="Cambria Math" panose="02040503050406030204" pitchFamily="18" charset="0"/>
                          </a:rPr>
                          <m:t>≤12.2</m:t>
                        </m:r>
                      </m:e>
                    </m:d>
                    <m:r>
                      <a:rPr lang="en-US" sz="1700" i="1">
                        <a:latin typeface="Cambria Math" panose="02040503050406030204" pitchFamily="18" charset="0"/>
                      </a:rPr>
                      <m:t>=</m:t>
                    </m:r>
                    <m:r>
                      <a:rPr lang="en-US" sz="1700" i="1">
                        <a:latin typeface="Cambria Math" panose="02040503050406030204" pitchFamily="18" charset="0"/>
                      </a:rPr>
                      <m:t>𝑃</m:t>
                    </m:r>
                    <m:d>
                      <m:dPr>
                        <m:ctrlPr>
                          <a:rPr lang="en-US" sz="1700" i="1">
                            <a:latin typeface="Cambria Math" panose="02040503050406030204" pitchFamily="18" charset="0"/>
                          </a:rPr>
                        </m:ctrlPr>
                      </m:dPr>
                      <m:e>
                        <m:f>
                          <m:fPr>
                            <m:ctrlPr>
                              <a:rPr lang="en-US" sz="1700" i="1">
                                <a:latin typeface="Cambria Math" panose="02040503050406030204" pitchFamily="18" charset="0"/>
                              </a:rPr>
                            </m:ctrlPr>
                          </m:fPr>
                          <m:num>
                            <m:r>
                              <a:rPr lang="en-US" sz="1700" i="1">
                                <a:latin typeface="Cambria Math" panose="02040503050406030204" pitchFamily="18" charset="0"/>
                              </a:rPr>
                              <m:t>𝑋</m:t>
                            </m:r>
                            <m:r>
                              <a:rPr lang="en-US" sz="1700" i="1">
                                <a:latin typeface="Cambria Math" panose="02040503050406030204" pitchFamily="18" charset="0"/>
                              </a:rPr>
                              <m:t>−</m:t>
                            </m:r>
                            <m:r>
                              <a:rPr lang="en-US" sz="1700" i="1">
                                <a:latin typeface="Cambria Math" panose="02040503050406030204" pitchFamily="18" charset="0"/>
                              </a:rPr>
                              <m:t>𝜇</m:t>
                            </m:r>
                          </m:num>
                          <m:den>
                            <m:r>
                              <a:rPr lang="en-US" sz="1700" i="1">
                                <a:latin typeface="Cambria Math" panose="02040503050406030204" pitchFamily="18" charset="0"/>
                              </a:rPr>
                              <m:t>𝜎</m:t>
                            </m:r>
                          </m:den>
                        </m:f>
                        <m:r>
                          <a:rPr lang="en-US" sz="1700" b="0" i="1" smtClean="0">
                            <a:latin typeface="Cambria Math" panose="02040503050406030204" pitchFamily="18" charset="0"/>
                          </a:rPr>
                          <m:t>≤</m:t>
                        </m:r>
                        <m:f>
                          <m:fPr>
                            <m:ctrlPr>
                              <a:rPr lang="en-US" sz="1700" i="1">
                                <a:latin typeface="Cambria Math" panose="02040503050406030204" pitchFamily="18" charset="0"/>
                              </a:rPr>
                            </m:ctrlPr>
                          </m:fPr>
                          <m:num>
                            <m:r>
                              <a:rPr lang="en-US" sz="1700" b="0" i="1" smtClean="0">
                                <a:latin typeface="Cambria Math" panose="02040503050406030204" pitchFamily="18" charset="0"/>
                              </a:rPr>
                              <m:t>12.2</m:t>
                            </m:r>
                            <m:r>
                              <a:rPr lang="en-US" sz="1700" i="1">
                                <a:latin typeface="Cambria Math" panose="02040503050406030204" pitchFamily="18" charset="0"/>
                              </a:rPr>
                              <m:t>−</m:t>
                            </m:r>
                            <m:r>
                              <a:rPr lang="en-US" sz="1700" i="1">
                                <a:latin typeface="Cambria Math" panose="02040503050406030204" pitchFamily="18" charset="0"/>
                              </a:rPr>
                              <m:t>𝜇</m:t>
                            </m:r>
                          </m:num>
                          <m:den>
                            <m:r>
                              <a:rPr lang="en-US" sz="1700" i="1">
                                <a:latin typeface="Cambria Math" panose="02040503050406030204" pitchFamily="18" charset="0"/>
                              </a:rPr>
                              <m:t>𝜎</m:t>
                            </m:r>
                          </m:den>
                        </m:f>
                      </m:e>
                    </m:d>
                    <m:r>
                      <a:rPr lang="en-US" sz="1700" i="1">
                        <a:latin typeface="Cambria Math" panose="02040503050406030204" pitchFamily="18" charset="0"/>
                      </a:rPr>
                      <m:t>=</m:t>
                    </m:r>
                    <m:r>
                      <a:rPr lang="en-US" sz="1700" i="1">
                        <a:latin typeface="Cambria Math" panose="02040503050406030204" pitchFamily="18" charset="0"/>
                      </a:rPr>
                      <m:t>𝑃</m:t>
                    </m:r>
                    <m:d>
                      <m:dPr>
                        <m:ctrlPr>
                          <a:rPr lang="en-US" sz="1700" i="1">
                            <a:latin typeface="Cambria Math" panose="02040503050406030204" pitchFamily="18" charset="0"/>
                          </a:rPr>
                        </m:ctrlPr>
                      </m:dPr>
                      <m:e>
                        <m:r>
                          <a:rPr lang="en-US" sz="1700" i="1">
                            <a:latin typeface="Cambria Math" panose="02040503050406030204" pitchFamily="18" charset="0"/>
                          </a:rPr>
                          <m:t>𝑍</m:t>
                        </m:r>
                        <m:r>
                          <a:rPr lang="en-US" sz="1700" b="0" i="1" smtClean="0">
                            <a:latin typeface="Cambria Math" panose="02040503050406030204" pitchFamily="18" charset="0"/>
                          </a:rPr>
                          <m:t>≤</m:t>
                        </m:r>
                        <m:f>
                          <m:fPr>
                            <m:ctrlPr>
                              <a:rPr lang="en-US" sz="1700" i="1">
                                <a:latin typeface="Cambria Math" panose="02040503050406030204" pitchFamily="18" charset="0"/>
                              </a:rPr>
                            </m:ctrlPr>
                          </m:fPr>
                          <m:num>
                            <m:r>
                              <a:rPr lang="en-US" sz="1700" b="0" i="1" smtClean="0">
                                <a:latin typeface="Cambria Math" panose="02040503050406030204" pitchFamily="18" charset="0"/>
                              </a:rPr>
                              <m:t>12.2</m:t>
                            </m:r>
                            <m:r>
                              <a:rPr lang="en-US" sz="1700" i="1">
                                <a:latin typeface="Cambria Math" panose="02040503050406030204" pitchFamily="18" charset="0"/>
                              </a:rPr>
                              <m:t>−</m:t>
                            </m:r>
                            <m:r>
                              <a:rPr lang="en-US" sz="1700" b="0" i="1" smtClean="0">
                                <a:latin typeface="Cambria Math" panose="02040503050406030204" pitchFamily="18" charset="0"/>
                              </a:rPr>
                              <m:t>12</m:t>
                            </m:r>
                          </m:num>
                          <m:den>
                            <m:r>
                              <a:rPr lang="en-US" sz="1700" b="0" i="1" smtClean="0">
                                <a:latin typeface="Cambria Math" panose="02040503050406030204" pitchFamily="18" charset="0"/>
                              </a:rPr>
                              <m:t>0.45</m:t>
                            </m:r>
                          </m:den>
                        </m:f>
                      </m:e>
                    </m:d>
                    <m:r>
                      <a:rPr lang="en-US" sz="1700" i="1">
                        <a:latin typeface="Cambria Math" panose="02040503050406030204" pitchFamily="18" charset="0"/>
                      </a:rPr>
                      <m:t>=</m:t>
                    </m:r>
                    <m:r>
                      <a:rPr lang="en-US" sz="1700" i="1">
                        <a:latin typeface="Cambria Math" panose="02040503050406030204" pitchFamily="18" charset="0"/>
                      </a:rPr>
                      <m:t>𝑃</m:t>
                    </m:r>
                    <m:d>
                      <m:dPr>
                        <m:ctrlPr>
                          <a:rPr lang="en-US" sz="1700" i="1">
                            <a:latin typeface="Cambria Math" panose="02040503050406030204" pitchFamily="18" charset="0"/>
                          </a:rPr>
                        </m:ctrlPr>
                      </m:dPr>
                      <m:e>
                        <m:r>
                          <a:rPr lang="en-US" sz="1700" i="1">
                            <a:latin typeface="Cambria Math" panose="02040503050406030204" pitchFamily="18" charset="0"/>
                          </a:rPr>
                          <m:t>𝑍</m:t>
                        </m:r>
                        <m:r>
                          <a:rPr lang="en-US" sz="1700" b="0" i="1" smtClean="0">
                            <a:latin typeface="Cambria Math" panose="02040503050406030204" pitchFamily="18" charset="0"/>
                          </a:rPr>
                          <m:t>≤0.44</m:t>
                        </m:r>
                      </m:e>
                    </m:d>
                    <m:r>
                      <a:rPr lang="en-US" sz="1700" i="1">
                        <a:latin typeface="Cambria Math" panose="02040503050406030204" pitchFamily="18" charset="0"/>
                      </a:rPr>
                      <m:t>=</m:t>
                    </m:r>
                    <m:r>
                      <a:rPr lang="en-US" sz="1700" b="0" i="1" smtClean="0">
                        <a:latin typeface="Cambria Math" panose="02040503050406030204" pitchFamily="18" charset="0"/>
                      </a:rPr>
                      <m:t>𝐹</m:t>
                    </m:r>
                    <m:d>
                      <m:dPr>
                        <m:ctrlPr>
                          <a:rPr lang="en-US" sz="1700" b="0" i="1" smtClean="0">
                            <a:latin typeface="Cambria Math" panose="02040503050406030204" pitchFamily="18" charset="0"/>
                          </a:rPr>
                        </m:ctrlPr>
                      </m:dPr>
                      <m:e>
                        <m:r>
                          <a:rPr lang="en-US" sz="1700" b="0" i="1" smtClean="0">
                            <a:latin typeface="Cambria Math" panose="02040503050406030204" pitchFamily="18" charset="0"/>
                          </a:rPr>
                          <m:t>0.44</m:t>
                        </m:r>
                      </m:e>
                    </m:d>
                    <m:r>
                      <a:rPr lang="en-US" sz="1700" b="0" i="1" smtClean="0">
                        <a:latin typeface="Cambria Math" panose="02040503050406030204" pitchFamily="18" charset="0"/>
                      </a:rPr>
                      <m:t>=</m:t>
                    </m:r>
                    <m:r>
                      <a:rPr lang="en-US" sz="1700" i="1">
                        <a:latin typeface="Cambria Math" panose="02040503050406030204" pitchFamily="18" charset="0"/>
                      </a:rPr>
                      <m:t>0</m:t>
                    </m:r>
                    <m:r>
                      <a:rPr lang="en-US" sz="1700" b="0" i="1" smtClean="0">
                        <a:latin typeface="Cambria Math" panose="02040503050406030204" pitchFamily="18" charset="0"/>
                      </a:rPr>
                      <m:t>.67</m:t>
                    </m:r>
                  </m:oMath>
                </a14:m>
                <a:r>
                  <a:rPr lang="en-US" sz="1700" dirty="0">
                    <a:latin typeface="Arial" panose="020B0604020202020204" pitchFamily="34" charset="0"/>
                    <a:cs typeface="Arial" panose="020B0604020202020204" pitchFamily="34" charset="0"/>
                  </a:rPr>
                  <a:t> </a:t>
                </a:r>
                <a:endParaRPr lang="en-US" sz="1700" dirty="0" smtClean="0">
                  <a:latin typeface="Arial" panose="020B0604020202020204" pitchFamily="34" charset="0"/>
                  <a:cs typeface="Arial" panose="020B0604020202020204" pitchFamily="34" charset="0"/>
                </a:endParaRPr>
              </a:p>
              <a:p>
                <a:pPr algn="l"/>
                <a:r>
                  <a:rPr lang="en-US" sz="1700" dirty="0">
                    <a:latin typeface="Arial" panose="020B0604020202020204" pitchFamily="34" charset="0"/>
                    <a:cs typeface="Arial" panose="020B0604020202020204" pitchFamily="34" charset="0"/>
                  </a:rPr>
                  <a:t>	</a:t>
                </a:r>
                <a:r>
                  <a:rPr lang="en-US" sz="1700" dirty="0" smtClean="0">
                    <a:latin typeface="Arial" panose="020B0604020202020204" pitchFamily="34" charset="0"/>
                    <a:cs typeface="Arial" panose="020B0604020202020204" pitchFamily="34" charset="0"/>
                  </a:rPr>
                  <a:t>(b) </a:t>
                </a:r>
                <a14:m>
                  <m:oMath xmlns:m="http://schemas.openxmlformats.org/officeDocument/2006/math">
                    <m:r>
                      <a:rPr lang="en-US" sz="1700" i="1">
                        <a:latin typeface="Cambria Math" panose="02040503050406030204" pitchFamily="18" charset="0"/>
                      </a:rPr>
                      <m:t>𝑃</m:t>
                    </m:r>
                    <m:d>
                      <m:dPr>
                        <m:ctrlPr>
                          <a:rPr lang="en-US" sz="1700" i="1">
                            <a:latin typeface="Cambria Math" panose="02040503050406030204" pitchFamily="18" charset="0"/>
                          </a:rPr>
                        </m:ctrlPr>
                      </m:dPr>
                      <m:e>
                        <m:r>
                          <a:rPr lang="en-US" sz="1700" i="1">
                            <a:latin typeface="Cambria Math" panose="02040503050406030204" pitchFamily="18" charset="0"/>
                          </a:rPr>
                          <m:t>𝑋</m:t>
                        </m:r>
                        <m:r>
                          <a:rPr lang="en-US" sz="1700" b="0" i="1" smtClean="0">
                            <a:latin typeface="Cambria Math" panose="02040503050406030204" pitchFamily="18" charset="0"/>
                          </a:rPr>
                          <m:t>≥</m:t>
                        </m:r>
                        <m:r>
                          <a:rPr lang="en-US" sz="1700" i="1">
                            <a:latin typeface="Cambria Math" panose="02040503050406030204" pitchFamily="18" charset="0"/>
                          </a:rPr>
                          <m:t>1</m:t>
                        </m:r>
                        <m:r>
                          <a:rPr lang="en-US" sz="1700" b="0" i="1" smtClean="0">
                            <a:latin typeface="Cambria Math" panose="02040503050406030204" pitchFamily="18" charset="0"/>
                          </a:rPr>
                          <m:t>3</m:t>
                        </m:r>
                        <m:r>
                          <a:rPr lang="en-US" sz="1700" i="1">
                            <a:latin typeface="Cambria Math" panose="02040503050406030204" pitchFamily="18" charset="0"/>
                          </a:rPr>
                          <m:t>.2</m:t>
                        </m:r>
                      </m:e>
                    </m:d>
                    <m:r>
                      <a:rPr lang="en-US" sz="1700" i="1">
                        <a:latin typeface="Cambria Math" panose="02040503050406030204" pitchFamily="18" charset="0"/>
                      </a:rPr>
                      <m:t>=</m:t>
                    </m:r>
                    <m:r>
                      <a:rPr lang="en-US" sz="1700" i="1">
                        <a:latin typeface="Cambria Math" panose="02040503050406030204" pitchFamily="18" charset="0"/>
                      </a:rPr>
                      <m:t>𝑃</m:t>
                    </m:r>
                    <m:d>
                      <m:dPr>
                        <m:ctrlPr>
                          <a:rPr lang="en-US" sz="1700" i="1">
                            <a:latin typeface="Cambria Math" panose="02040503050406030204" pitchFamily="18" charset="0"/>
                          </a:rPr>
                        </m:ctrlPr>
                      </m:dPr>
                      <m:e>
                        <m:f>
                          <m:fPr>
                            <m:ctrlPr>
                              <a:rPr lang="en-US" sz="1700" i="1">
                                <a:latin typeface="Cambria Math" panose="02040503050406030204" pitchFamily="18" charset="0"/>
                              </a:rPr>
                            </m:ctrlPr>
                          </m:fPr>
                          <m:num>
                            <m:r>
                              <a:rPr lang="en-US" sz="1700" i="1">
                                <a:latin typeface="Cambria Math" panose="02040503050406030204" pitchFamily="18" charset="0"/>
                              </a:rPr>
                              <m:t>𝑋</m:t>
                            </m:r>
                            <m:r>
                              <a:rPr lang="en-US" sz="1700" i="1">
                                <a:latin typeface="Cambria Math" panose="02040503050406030204" pitchFamily="18" charset="0"/>
                              </a:rPr>
                              <m:t>−</m:t>
                            </m:r>
                            <m:r>
                              <a:rPr lang="en-US" sz="1700" i="1">
                                <a:latin typeface="Cambria Math" panose="02040503050406030204" pitchFamily="18" charset="0"/>
                              </a:rPr>
                              <m:t>𝜇</m:t>
                            </m:r>
                          </m:num>
                          <m:den>
                            <m:r>
                              <a:rPr lang="en-US" sz="1700" i="1">
                                <a:latin typeface="Cambria Math" panose="02040503050406030204" pitchFamily="18" charset="0"/>
                              </a:rPr>
                              <m:t>𝜎</m:t>
                            </m:r>
                          </m:den>
                        </m:f>
                        <m:r>
                          <a:rPr lang="en-US" sz="1700" b="0" i="1" smtClean="0">
                            <a:latin typeface="Cambria Math" panose="02040503050406030204" pitchFamily="18" charset="0"/>
                          </a:rPr>
                          <m:t>≥</m:t>
                        </m:r>
                        <m:f>
                          <m:fPr>
                            <m:ctrlPr>
                              <a:rPr lang="en-US" sz="1700" i="1">
                                <a:latin typeface="Cambria Math" panose="02040503050406030204" pitchFamily="18" charset="0"/>
                              </a:rPr>
                            </m:ctrlPr>
                          </m:fPr>
                          <m:num>
                            <m:r>
                              <a:rPr lang="en-US" sz="1700" i="1">
                                <a:latin typeface="Cambria Math" panose="02040503050406030204" pitchFamily="18" charset="0"/>
                              </a:rPr>
                              <m:t>1</m:t>
                            </m:r>
                            <m:r>
                              <a:rPr lang="en-US" sz="1700" b="0" i="1" smtClean="0">
                                <a:latin typeface="Cambria Math" panose="02040503050406030204" pitchFamily="18" charset="0"/>
                              </a:rPr>
                              <m:t>3</m:t>
                            </m:r>
                            <m:r>
                              <a:rPr lang="en-US" sz="1700" i="1">
                                <a:latin typeface="Cambria Math" panose="02040503050406030204" pitchFamily="18" charset="0"/>
                              </a:rPr>
                              <m:t>.2−</m:t>
                            </m:r>
                            <m:r>
                              <a:rPr lang="en-US" sz="1700" i="1">
                                <a:latin typeface="Cambria Math" panose="02040503050406030204" pitchFamily="18" charset="0"/>
                              </a:rPr>
                              <m:t>𝜇</m:t>
                            </m:r>
                          </m:num>
                          <m:den>
                            <m:r>
                              <a:rPr lang="en-US" sz="1700" i="1">
                                <a:latin typeface="Cambria Math" panose="02040503050406030204" pitchFamily="18" charset="0"/>
                              </a:rPr>
                              <m:t>𝜎</m:t>
                            </m:r>
                          </m:den>
                        </m:f>
                      </m:e>
                    </m:d>
                    <m:r>
                      <a:rPr lang="en-US" sz="1700" i="1">
                        <a:latin typeface="Cambria Math" panose="02040503050406030204" pitchFamily="18" charset="0"/>
                      </a:rPr>
                      <m:t>=</m:t>
                    </m:r>
                    <m:r>
                      <a:rPr lang="en-US" sz="1700" i="1">
                        <a:latin typeface="Cambria Math" panose="02040503050406030204" pitchFamily="18" charset="0"/>
                      </a:rPr>
                      <m:t>𝑃</m:t>
                    </m:r>
                    <m:d>
                      <m:dPr>
                        <m:ctrlPr>
                          <a:rPr lang="en-US" sz="1700" i="1">
                            <a:latin typeface="Cambria Math" panose="02040503050406030204" pitchFamily="18" charset="0"/>
                          </a:rPr>
                        </m:ctrlPr>
                      </m:dPr>
                      <m:e>
                        <m:r>
                          <a:rPr lang="en-US" sz="1700" i="1">
                            <a:latin typeface="Cambria Math" panose="02040503050406030204" pitchFamily="18" charset="0"/>
                          </a:rPr>
                          <m:t>𝑍</m:t>
                        </m:r>
                        <m:r>
                          <a:rPr lang="en-US" sz="1700" b="0" i="1" smtClean="0">
                            <a:latin typeface="Cambria Math" panose="02040503050406030204" pitchFamily="18" charset="0"/>
                          </a:rPr>
                          <m:t>≥</m:t>
                        </m:r>
                        <m:f>
                          <m:fPr>
                            <m:ctrlPr>
                              <a:rPr lang="en-US" sz="1700" i="1">
                                <a:latin typeface="Cambria Math" panose="02040503050406030204" pitchFamily="18" charset="0"/>
                              </a:rPr>
                            </m:ctrlPr>
                          </m:fPr>
                          <m:num>
                            <m:r>
                              <a:rPr lang="en-US" sz="1700" i="1">
                                <a:latin typeface="Cambria Math" panose="02040503050406030204" pitchFamily="18" charset="0"/>
                              </a:rPr>
                              <m:t>1</m:t>
                            </m:r>
                            <m:r>
                              <a:rPr lang="en-US" sz="1700" b="0" i="1" smtClean="0">
                                <a:latin typeface="Cambria Math" panose="02040503050406030204" pitchFamily="18" charset="0"/>
                              </a:rPr>
                              <m:t>3</m:t>
                            </m:r>
                            <m:r>
                              <a:rPr lang="en-US" sz="1700" i="1">
                                <a:latin typeface="Cambria Math" panose="02040503050406030204" pitchFamily="18" charset="0"/>
                              </a:rPr>
                              <m:t>.2−12</m:t>
                            </m:r>
                          </m:num>
                          <m:den>
                            <m:r>
                              <a:rPr lang="en-US" sz="1700" i="1">
                                <a:latin typeface="Cambria Math" panose="02040503050406030204" pitchFamily="18" charset="0"/>
                              </a:rPr>
                              <m:t>0.45</m:t>
                            </m:r>
                          </m:den>
                        </m:f>
                      </m:e>
                    </m:d>
                    <m:r>
                      <a:rPr lang="en-US" sz="1700" i="1">
                        <a:latin typeface="Cambria Math" panose="02040503050406030204" pitchFamily="18" charset="0"/>
                      </a:rPr>
                      <m:t>=</m:t>
                    </m:r>
                    <m:r>
                      <a:rPr lang="en-US" sz="1700" i="1">
                        <a:latin typeface="Cambria Math" panose="02040503050406030204" pitchFamily="18" charset="0"/>
                      </a:rPr>
                      <m:t>𝑃</m:t>
                    </m:r>
                    <m:d>
                      <m:dPr>
                        <m:ctrlPr>
                          <a:rPr lang="en-US" sz="1700" i="1">
                            <a:latin typeface="Cambria Math" panose="02040503050406030204" pitchFamily="18" charset="0"/>
                          </a:rPr>
                        </m:ctrlPr>
                      </m:dPr>
                      <m:e>
                        <m:r>
                          <a:rPr lang="en-US" sz="1700" i="1">
                            <a:latin typeface="Cambria Math" panose="02040503050406030204" pitchFamily="18" charset="0"/>
                          </a:rPr>
                          <m:t>𝑍</m:t>
                        </m:r>
                        <m:r>
                          <a:rPr lang="en-US" sz="1700" b="0" i="1" smtClean="0">
                            <a:latin typeface="Cambria Math" panose="02040503050406030204" pitchFamily="18" charset="0"/>
                          </a:rPr>
                          <m:t>&gt;2.67</m:t>
                        </m:r>
                      </m:e>
                    </m:d>
                    <m:r>
                      <a:rPr lang="en-US" sz="1700" i="1">
                        <a:latin typeface="Cambria Math" panose="02040503050406030204" pitchFamily="18" charset="0"/>
                      </a:rPr>
                      <m:t>=</m:t>
                    </m:r>
                    <m:r>
                      <a:rPr lang="en-US" sz="1700" b="0" i="1" smtClean="0">
                        <a:latin typeface="Cambria Math" panose="02040503050406030204" pitchFamily="18" charset="0"/>
                      </a:rPr>
                      <m:t>1−</m:t>
                    </m:r>
                    <m:r>
                      <a:rPr lang="en-US" sz="1700" b="0" i="1" smtClean="0">
                        <a:latin typeface="Cambria Math" panose="02040503050406030204" pitchFamily="18" charset="0"/>
                      </a:rPr>
                      <m:t>𝐹</m:t>
                    </m:r>
                    <m:d>
                      <m:dPr>
                        <m:ctrlPr>
                          <a:rPr lang="en-US" sz="1700" b="0" i="1" smtClean="0">
                            <a:latin typeface="Cambria Math" panose="02040503050406030204" pitchFamily="18" charset="0"/>
                          </a:rPr>
                        </m:ctrlPr>
                      </m:dPr>
                      <m:e>
                        <m:r>
                          <a:rPr lang="en-US" sz="1700" b="0" i="1" smtClean="0">
                            <a:latin typeface="Cambria Math" panose="02040503050406030204" pitchFamily="18" charset="0"/>
                          </a:rPr>
                          <m:t>2.67</m:t>
                        </m:r>
                      </m:e>
                    </m:d>
                    <m:r>
                      <a:rPr lang="en-US" sz="1700" b="0" i="1" smtClean="0">
                        <a:latin typeface="Cambria Math" panose="02040503050406030204" pitchFamily="18" charset="0"/>
                      </a:rPr>
                      <m:t>=1−</m:t>
                    </m:r>
                    <m:r>
                      <a:rPr lang="en-US" sz="1700" i="1">
                        <a:latin typeface="Cambria Math" panose="02040503050406030204" pitchFamily="18" charset="0"/>
                      </a:rPr>
                      <m:t>0.</m:t>
                    </m:r>
                    <m:r>
                      <a:rPr lang="en-US" sz="1700" b="0" i="1" smtClean="0">
                        <a:latin typeface="Cambria Math" panose="02040503050406030204" pitchFamily="18" charset="0"/>
                      </a:rPr>
                      <m:t>9962</m:t>
                    </m:r>
                  </m:oMath>
                </a14:m>
                <a:r>
                  <a:rPr lang="en-US" sz="1700" dirty="0">
                    <a:latin typeface="Arial" panose="020B0604020202020204" pitchFamily="34" charset="0"/>
                    <a:cs typeface="Arial" panose="020B0604020202020204" pitchFamily="34" charset="0"/>
                  </a:rPr>
                  <a:t> </a:t>
                </a:r>
                <a:endParaRPr lang="en-US" sz="1700" dirty="0" smtClean="0">
                  <a:latin typeface="Arial" panose="020B0604020202020204" pitchFamily="34" charset="0"/>
                  <a:cs typeface="Arial" panose="020B0604020202020204" pitchFamily="34" charset="0"/>
                </a:endParaRPr>
              </a:p>
              <a:p>
                <a:pPr algn="l"/>
                <a:r>
                  <a:rPr lang="en-US" sz="1700" dirty="0" smtClean="0">
                    <a:latin typeface="Arial" panose="020B0604020202020204" pitchFamily="34" charset="0"/>
                    <a:cs typeface="Arial" panose="020B0604020202020204" pitchFamily="34" charset="0"/>
                  </a:rPr>
                  <a:t>	(c) </a:t>
                </a:r>
                <a14:m>
                  <m:oMath xmlns:m="http://schemas.openxmlformats.org/officeDocument/2006/math">
                    <m:r>
                      <a:rPr lang="en-US" sz="1700" i="1">
                        <a:latin typeface="Cambria Math" panose="02040503050406030204" pitchFamily="18" charset="0"/>
                      </a:rPr>
                      <m:t>𝑃</m:t>
                    </m:r>
                    <m:d>
                      <m:dPr>
                        <m:ctrlPr>
                          <a:rPr lang="en-US" sz="1700" i="1">
                            <a:latin typeface="Cambria Math" panose="02040503050406030204" pitchFamily="18" charset="0"/>
                          </a:rPr>
                        </m:ctrlPr>
                      </m:dPr>
                      <m:e>
                        <m:r>
                          <a:rPr lang="en-US" sz="1700" b="0" i="1" smtClean="0">
                            <a:latin typeface="Cambria Math" panose="02040503050406030204" pitchFamily="18" charset="0"/>
                          </a:rPr>
                          <m:t>11.4≤</m:t>
                        </m:r>
                        <m:r>
                          <a:rPr lang="en-US" sz="1700" i="1">
                            <a:latin typeface="Cambria Math" panose="02040503050406030204" pitchFamily="18" charset="0"/>
                          </a:rPr>
                          <m:t>𝑋</m:t>
                        </m:r>
                        <m:r>
                          <a:rPr lang="en-US" sz="1700" i="1">
                            <a:latin typeface="Cambria Math" panose="02040503050406030204" pitchFamily="18" charset="0"/>
                          </a:rPr>
                          <m:t>≤12.9</m:t>
                        </m:r>
                      </m:e>
                    </m:d>
                    <m:r>
                      <a:rPr lang="en-US" sz="1700" i="1">
                        <a:latin typeface="Cambria Math" panose="02040503050406030204" pitchFamily="18" charset="0"/>
                      </a:rPr>
                      <m:t>=</m:t>
                    </m:r>
                    <m:r>
                      <a:rPr lang="en-US" sz="1700" i="1">
                        <a:latin typeface="Cambria Math" panose="02040503050406030204" pitchFamily="18" charset="0"/>
                      </a:rPr>
                      <m:t>𝑃</m:t>
                    </m:r>
                    <m:d>
                      <m:dPr>
                        <m:ctrlPr>
                          <a:rPr lang="en-US" sz="1700" i="1">
                            <a:latin typeface="Cambria Math" panose="02040503050406030204" pitchFamily="18" charset="0"/>
                          </a:rPr>
                        </m:ctrlPr>
                      </m:dPr>
                      <m:e>
                        <m:f>
                          <m:fPr>
                            <m:ctrlPr>
                              <a:rPr lang="en-US" sz="1700" i="1">
                                <a:latin typeface="Cambria Math" panose="02040503050406030204" pitchFamily="18" charset="0"/>
                              </a:rPr>
                            </m:ctrlPr>
                          </m:fPr>
                          <m:num>
                            <m:r>
                              <a:rPr lang="en-US" sz="1700" i="1">
                                <a:latin typeface="Cambria Math" panose="02040503050406030204" pitchFamily="18" charset="0"/>
                              </a:rPr>
                              <m:t>1</m:t>
                            </m:r>
                            <m:r>
                              <a:rPr lang="en-US" sz="1700" b="0" i="1" smtClean="0">
                                <a:latin typeface="Cambria Math" panose="02040503050406030204" pitchFamily="18" charset="0"/>
                              </a:rPr>
                              <m:t>1.4</m:t>
                            </m:r>
                            <m:r>
                              <a:rPr lang="en-US" sz="1700" i="1">
                                <a:latin typeface="Cambria Math" panose="02040503050406030204" pitchFamily="18" charset="0"/>
                              </a:rPr>
                              <m:t>−</m:t>
                            </m:r>
                            <m:r>
                              <a:rPr lang="en-US" sz="1700" i="1">
                                <a:latin typeface="Cambria Math" panose="02040503050406030204" pitchFamily="18" charset="0"/>
                              </a:rPr>
                              <m:t>𝜇</m:t>
                            </m:r>
                          </m:num>
                          <m:den>
                            <m:r>
                              <a:rPr lang="en-US" sz="1700" i="1">
                                <a:latin typeface="Cambria Math" panose="02040503050406030204" pitchFamily="18" charset="0"/>
                              </a:rPr>
                              <m:t>𝜎</m:t>
                            </m:r>
                          </m:den>
                        </m:f>
                        <m:r>
                          <a:rPr lang="en-US" sz="1700" b="0" i="1" smtClean="0">
                            <a:latin typeface="Cambria Math" panose="02040503050406030204" pitchFamily="18" charset="0"/>
                          </a:rPr>
                          <m:t>≤</m:t>
                        </m:r>
                        <m:f>
                          <m:fPr>
                            <m:ctrlPr>
                              <a:rPr lang="en-US" sz="1700" i="1">
                                <a:latin typeface="Cambria Math" panose="02040503050406030204" pitchFamily="18" charset="0"/>
                              </a:rPr>
                            </m:ctrlPr>
                          </m:fPr>
                          <m:num>
                            <m:r>
                              <a:rPr lang="en-US" sz="1700" i="1">
                                <a:latin typeface="Cambria Math" panose="02040503050406030204" pitchFamily="18" charset="0"/>
                              </a:rPr>
                              <m:t>𝑋</m:t>
                            </m:r>
                            <m:r>
                              <a:rPr lang="en-US" sz="1700" i="1">
                                <a:latin typeface="Cambria Math" panose="02040503050406030204" pitchFamily="18" charset="0"/>
                              </a:rPr>
                              <m:t>−</m:t>
                            </m:r>
                            <m:r>
                              <a:rPr lang="en-US" sz="1700" i="1">
                                <a:latin typeface="Cambria Math" panose="02040503050406030204" pitchFamily="18" charset="0"/>
                              </a:rPr>
                              <m:t>𝜇</m:t>
                            </m:r>
                          </m:num>
                          <m:den>
                            <m:r>
                              <a:rPr lang="en-US" sz="1700" i="1">
                                <a:latin typeface="Cambria Math" panose="02040503050406030204" pitchFamily="18" charset="0"/>
                              </a:rPr>
                              <m:t>𝜎</m:t>
                            </m:r>
                          </m:den>
                        </m:f>
                        <m:r>
                          <a:rPr lang="en-US" sz="1700" i="1">
                            <a:latin typeface="Cambria Math" panose="02040503050406030204" pitchFamily="18" charset="0"/>
                          </a:rPr>
                          <m:t>≤</m:t>
                        </m:r>
                        <m:f>
                          <m:fPr>
                            <m:ctrlPr>
                              <a:rPr lang="en-US" sz="1700" i="1">
                                <a:latin typeface="Cambria Math" panose="02040503050406030204" pitchFamily="18" charset="0"/>
                              </a:rPr>
                            </m:ctrlPr>
                          </m:fPr>
                          <m:num>
                            <m:r>
                              <a:rPr lang="en-US" sz="1700" i="1">
                                <a:latin typeface="Cambria Math" panose="02040503050406030204" pitchFamily="18" charset="0"/>
                              </a:rPr>
                              <m:t>12.</m:t>
                            </m:r>
                            <m:r>
                              <a:rPr lang="en-US" sz="1700" b="0" i="1" smtClean="0">
                                <a:latin typeface="Cambria Math" panose="02040503050406030204" pitchFamily="18" charset="0"/>
                              </a:rPr>
                              <m:t>9</m:t>
                            </m:r>
                            <m:r>
                              <a:rPr lang="en-US" sz="1700" i="1">
                                <a:latin typeface="Cambria Math" panose="02040503050406030204" pitchFamily="18" charset="0"/>
                              </a:rPr>
                              <m:t>−</m:t>
                            </m:r>
                            <m:r>
                              <a:rPr lang="en-US" sz="1700" i="1">
                                <a:latin typeface="Cambria Math" panose="02040503050406030204" pitchFamily="18" charset="0"/>
                              </a:rPr>
                              <m:t>𝜇</m:t>
                            </m:r>
                          </m:num>
                          <m:den>
                            <m:r>
                              <a:rPr lang="en-US" sz="1700" i="1">
                                <a:latin typeface="Cambria Math" panose="02040503050406030204" pitchFamily="18" charset="0"/>
                              </a:rPr>
                              <m:t>𝜎</m:t>
                            </m:r>
                          </m:den>
                        </m:f>
                      </m:e>
                    </m:d>
                    <m:r>
                      <a:rPr lang="en-US" sz="1700" i="1">
                        <a:latin typeface="Cambria Math" panose="02040503050406030204" pitchFamily="18" charset="0"/>
                      </a:rPr>
                      <m:t>=</m:t>
                    </m:r>
                    <m:r>
                      <a:rPr lang="en-US" sz="1700" i="1">
                        <a:latin typeface="Cambria Math" panose="02040503050406030204" pitchFamily="18" charset="0"/>
                      </a:rPr>
                      <m:t>𝑃</m:t>
                    </m:r>
                    <m:d>
                      <m:dPr>
                        <m:ctrlPr>
                          <a:rPr lang="en-US" sz="1700" i="1">
                            <a:latin typeface="Cambria Math" panose="02040503050406030204" pitchFamily="18" charset="0"/>
                          </a:rPr>
                        </m:ctrlPr>
                      </m:dPr>
                      <m:e>
                        <m:r>
                          <a:rPr lang="en-US" sz="1700" b="0" i="1" smtClean="0">
                            <a:latin typeface="Cambria Math" panose="02040503050406030204" pitchFamily="18" charset="0"/>
                          </a:rPr>
                          <m:t>−1.33≤</m:t>
                        </m:r>
                        <m:r>
                          <a:rPr lang="en-US" sz="1700" i="1">
                            <a:latin typeface="Cambria Math" panose="02040503050406030204" pitchFamily="18" charset="0"/>
                          </a:rPr>
                          <m:t>𝑍</m:t>
                        </m:r>
                        <m:r>
                          <a:rPr lang="en-US" sz="1700" i="1">
                            <a:latin typeface="Cambria Math" panose="02040503050406030204" pitchFamily="18" charset="0"/>
                          </a:rPr>
                          <m:t>≤2</m:t>
                        </m:r>
                      </m:e>
                    </m:d>
                  </m:oMath>
                </a14:m>
                <a:endParaRPr lang="en-US" sz="1700" i="1" dirty="0" smtClean="0">
                  <a:latin typeface="Cambria Math" panose="02040503050406030204" pitchFamily="18" charset="0"/>
                </a:endParaRPr>
              </a:p>
              <a:p>
                <a:pPr algn="l"/>
                <a:r>
                  <a:rPr lang="en-US" sz="1700" dirty="0" smtClean="0"/>
                  <a:t>						      </a:t>
                </a:r>
                <a14:m>
                  <m:oMath xmlns:m="http://schemas.openxmlformats.org/officeDocument/2006/math">
                    <m:r>
                      <a:rPr lang="en-US" sz="1700" i="1">
                        <a:latin typeface="Cambria Math" panose="02040503050406030204" pitchFamily="18" charset="0"/>
                      </a:rPr>
                      <m:t>=</m:t>
                    </m:r>
                    <m:r>
                      <a:rPr lang="en-US" sz="1700" b="0" i="1" smtClean="0">
                        <a:latin typeface="Cambria Math" panose="02040503050406030204" pitchFamily="18" charset="0"/>
                      </a:rPr>
                      <m:t>𝐹</m:t>
                    </m:r>
                    <m:d>
                      <m:dPr>
                        <m:ctrlPr>
                          <a:rPr lang="en-US" sz="1700" b="0" i="1" smtClean="0">
                            <a:latin typeface="Cambria Math" panose="02040503050406030204" pitchFamily="18" charset="0"/>
                          </a:rPr>
                        </m:ctrlPr>
                      </m:dPr>
                      <m:e>
                        <m:r>
                          <a:rPr lang="en-US" sz="1700" b="0" i="1" smtClean="0">
                            <a:latin typeface="Cambria Math" panose="02040503050406030204" pitchFamily="18" charset="0"/>
                          </a:rPr>
                          <m:t>2</m:t>
                        </m:r>
                      </m:e>
                    </m:d>
                    <m:r>
                      <a:rPr lang="en-US" sz="1700" b="0" i="1" smtClean="0">
                        <a:latin typeface="Cambria Math" panose="02040503050406030204" pitchFamily="18" charset="0"/>
                      </a:rPr>
                      <m:t>−</m:t>
                    </m:r>
                    <m:r>
                      <a:rPr lang="en-US" sz="1700" b="0" i="1" smtClean="0">
                        <a:latin typeface="Cambria Math" panose="02040503050406030204" pitchFamily="18" charset="0"/>
                      </a:rPr>
                      <m:t>𝐹</m:t>
                    </m:r>
                    <m:d>
                      <m:dPr>
                        <m:ctrlPr>
                          <a:rPr lang="en-US" sz="1700" b="0" i="1" smtClean="0">
                            <a:latin typeface="Cambria Math" panose="02040503050406030204" pitchFamily="18" charset="0"/>
                          </a:rPr>
                        </m:ctrlPr>
                      </m:dPr>
                      <m:e>
                        <m:r>
                          <a:rPr lang="en-US" sz="1700" b="0" i="1" smtClean="0">
                            <a:latin typeface="Cambria Math" panose="02040503050406030204" pitchFamily="18" charset="0"/>
                          </a:rPr>
                          <m:t>−1.33</m:t>
                        </m:r>
                      </m:e>
                    </m:d>
                    <m:r>
                      <a:rPr lang="en-US" sz="1700" b="0" i="1" smtClean="0">
                        <a:latin typeface="Cambria Math" panose="02040503050406030204" pitchFamily="18" charset="0"/>
                      </a:rPr>
                      <m:t>=0.9772−</m:t>
                    </m:r>
                    <m:r>
                      <a:rPr lang="en-US" sz="1700" i="1">
                        <a:latin typeface="Cambria Math" panose="02040503050406030204" pitchFamily="18" charset="0"/>
                      </a:rPr>
                      <m:t>0.</m:t>
                    </m:r>
                    <m:r>
                      <a:rPr lang="en-US" sz="1700" b="0" i="1" smtClean="0">
                        <a:latin typeface="Cambria Math" panose="02040503050406030204" pitchFamily="18" charset="0"/>
                      </a:rPr>
                      <m:t>0918</m:t>
                    </m:r>
                  </m:oMath>
                </a14:m>
                <a:r>
                  <a:rPr lang="en-US" sz="1700" dirty="0">
                    <a:latin typeface="Arial" panose="020B0604020202020204" pitchFamily="34" charset="0"/>
                    <a:cs typeface="Arial" panose="020B0604020202020204" pitchFamily="34" charset="0"/>
                  </a:rPr>
                  <a:t> </a:t>
                </a: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0434" y="687389"/>
                <a:ext cx="10831132" cy="6528639"/>
              </a:xfrm>
              <a:blipFill rotWithShape="0">
                <a:blip r:embed="rId2"/>
                <a:stretch>
                  <a:fillRect l="-507" r="-619"/>
                </a:stretch>
              </a:blipFill>
            </p:spPr>
            <p:txBody>
              <a:bodyPr/>
              <a:lstStyle/>
              <a:p>
                <a:r>
                  <a:rPr lang="en-US">
                    <a:noFill/>
                  </a:rPr>
                  <a:t> </a:t>
                </a:r>
              </a:p>
            </p:txBody>
          </p:sp>
        </mc:Fallback>
      </mc:AlternateContent>
    </p:spTree>
    <p:extLst>
      <p:ext uri="{BB962C8B-B14F-4D97-AF65-F5344CB8AC3E}">
        <p14:creationId xmlns:p14="http://schemas.microsoft.com/office/powerpoint/2010/main" val="213698484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6708"/>
            <a:ext cx="9144000" cy="605308"/>
          </a:xfrm>
        </p:spPr>
        <p:txBody>
          <a:bodyPr>
            <a:noAutofit/>
          </a:bodyPr>
          <a:lstStyle/>
          <a:p>
            <a:r>
              <a:rPr lang="en-US" sz="2400" b="1" dirty="0">
                <a:latin typeface="Arial" pitchFamily="34" charset="0"/>
                <a:cs typeface="Arial" pitchFamily="34" charset="0"/>
              </a:rPr>
              <a:t>Exercise</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833000"/>
                <a:ext cx="10831132" cy="5796400"/>
              </a:xfrm>
            </p:spPr>
            <p:txBody>
              <a:bodyPr>
                <a:noAutofit/>
              </a:bodyPr>
              <a:lstStyle/>
              <a:p>
                <a:pPr marL="285750" indent="-285750" algn="just">
                  <a:lnSpc>
                    <a:spcPct val="100000"/>
                  </a:lnSpc>
                  <a:buFont typeface="Arial" panose="020B0604020202020204" pitchFamily="34" charset="0"/>
                  <a:buChar char="•"/>
                </a:pPr>
                <a:endParaRPr lang="en-US" sz="2000" b="1" dirty="0" smtClean="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Problem#01</a:t>
                </a:r>
                <a:r>
                  <a:rPr lang="en-US" sz="2000" dirty="0" smtClean="0">
                    <a:latin typeface="Arial" panose="020B0604020202020204" pitchFamily="34" charset="0"/>
                    <a:cs typeface="Arial" panose="020B0604020202020204" pitchFamily="34" charset="0"/>
                  </a:rPr>
                  <a:t>: A </a:t>
                </a:r>
                <a:r>
                  <a:rPr lang="en-US" sz="2000" dirty="0">
                    <a:latin typeface="Arial" panose="020B0604020202020204" pitchFamily="34" charset="0"/>
                    <a:cs typeface="Arial" panose="020B0604020202020204" pitchFamily="34" charset="0"/>
                  </a:rPr>
                  <a:t>fair coin is flipped </a:t>
                </a:r>
                <a:r>
                  <a:rPr lang="en-US" sz="2000" dirty="0" smtClean="0">
                    <a:latin typeface="Arial" panose="020B0604020202020204" pitchFamily="34" charset="0"/>
                    <a:cs typeface="Arial" panose="020B0604020202020204" pitchFamily="34" charset="0"/>
                  </a:rPr>
                  <a:t>10 times</a:t>
                </a:r>
                <a:r>
                  <a:rPr lang="en-US" sz="2000" dirty="0">
                    <a:latin typeface="Arial" panose="020B0604020202020204" pitchFamily="34" charset="0"/>
                    <a:cs typeface="Arial" panose="020B0604020202020204" pitchFamily="34" charset="0"/>
                  </a:rPr>
                  <a:t>. What is the </a:t>
                </a:r>
                <a:r>
                  <a:rPr lang="en-US" sz="2000" dirty="0" smtClean="0">
                    <a:latin typeface="Arial" panose="020B0604020202020204" pitchFamily="34" charset="0"/>
                    <a:cs typeface="Arial" panose="020B0604020202020204" pitchFamily="34" charset="0"/>
                  </a:rPr>
                  <a:t>probability that </a:t>
                </a:r>
                <a:r>
                  <a:rPr lang="en-US" sz="2000" dirty="0">
                    <a:latin typeface="Arial" panose="020B0604020202020204" pitchFamily="34" charset="0"/>
                    <a:cs typeface="Arial" panose="020B0604020202020204" pitchFamily="34" charset="0"/>
                  </a:rPr>
                  <a:t>half the times the result obtained is a "head" ?</a:t>
                </a:r>
              </a:p>
              <a:p>
                <a:pPr marL="285750" indent="-285750" algn="just">
                  <a:lnSpc>
                    <a:spcPct val="10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Problem#02</a:t>
                </a:r>
                <a:r>
                  <a:rPr lang="en-US" sz="2000" dirty="0" smtClean="0">
                    <a:latin typeface="Arial" panose="020B0604020202020204" pitchFamily="34" charset="0"/>
                    <a:cs typeface="Arial" panose="020B0604020202020204" pitchFamily="34" charset="0"/>
                  </a:rPr>
                  <a:t>: In </a:t>
                </a:r>
                <a:r>
                  <a:rPr lang="en-US" sz="2000" dirty="0">
                    <a:latin typeface="Arial" panose="020B0604020202020204" pitchFamily="34" charset="0"/>
                    <a:cs typeface="Arial" panose="020B0604020202020204" pitchFamily="34" charset="0"/>
                  </a:rPr>
                  <a:t>a national automobile club a telephonic campaign is started in </a:t>
                </a:r>
                <a:r>
                  <a:rPr lang="en-US" sz="2000" dirty="0" smtClean="0">
                    <a:latin typeface="Arial" panose="020B0604020202020204" pitchFamily="34" charset="0"/>
                    <a:cs typeface="Arial" panose="020B0604020202020204" pitchFamily="34" charset="0"/>
                  </a:rPr>
                  <a:t>order to </a:t>
                </a:r>
                <a:r>
                  <a:rPr lang="en-US" sz="2000" dirty="0">
                    <a:latin typeface="Arial" panose="020B0604020202020204" pitchFamily="34" charset="0"/>
                    <a:cs typeface="Arial" panose="020B0604020202020204" pitchFamily="34" charset="0"/>
                  </a:rPr>
                  <a:t>increase the number of its members. </a:t>
                </a:r>
                <a:r>
                  <a:rPr lang="en-US" sz="2000" dirty="0" smtClean="0">
                    <a:latin typeface="Arial" panose="020B0604020202020204" pitchFamily="34" charset="0"/>
                    <a:cs typeface="Arial" panose="020B0604020202020204" pitchFamily="34" charset="0"/>
                  </a:rPr>
                  <a:t>From </a:t>
                </a:r>
                <a:r>
                  <a:rPr lang="en-US" sz="2000" dirty="0">
                    <a:latin typeface="Arial" panose="020B0604020202020204" pitchFamily="34" charset="0"/>
                    <a:cs typeface="Arial" panose="020B0604020202020204" pitchFamily="34" charset="0"/>
                  </a:rPr>
                  <a:t>previous experience, it is </a:t>
                </a:r>
                <a:r>
                  <a:rPr lang="en-US" sz="2000" dirty="0" smtClean="0">
                    <a:latin typeface="Arial" panose="020B0604020202020204" pitchFamily="34" charset="0"/>
                    <a:cs typeface="Arial" panose="020B0604020202020204" pitchFamily="34" charset="0"/>
                  </a:rPr>
                  <a:t>known that </a:t>
                </a:r>
                <a:r>
                  <a:rPr lang="en-US" sz="2000" dirty="0">
                    <a:latin typeface="Arial" panose="020B0604020202020204" pitchFamily="34" charset="0"/>
                    <a:cs typeface="Arial" panose="020B0604020202020204" pitchFamily="34" charset="0"/>
                  </a:rPr>
                  <a:t>one out of every 10 people called actually join the club. If in a day </a:t>
                </a:r>
                <a:r>
                  <a:rPr lang="en-US" sz="2000" dirty="0" smtClean="0">
                    <a:latin typeface="Arial" panose="020B0604020202020204" pitchFamily="34" charset="0"/>
                    <a:cs typeface="Arial" panose="020B0604020202020204" pitchFamily="34" charset="0"/>
                  </a:rPr>
                  <a:t>20 people </a:t>
                </a:r>
                <a:r>
                  <a:rPr lang="en-US" sz="2000" dirty="0">
                    <a:latin typeface="Arial" panose="020B0604020202020204" pitchFamily="34" charset="0"/>
                    <a:cs typeface="Arial" panose="020B0604020202020204" pitchFamily="34" charset="0"/>
                  </a:rPr>
                  <a:t>are called, what is the probability that at least two of them join </a:t>
                </a:r>
                <a:r>
                  <a:rPr lang="en-US" sz="2000" dirty="0" smtClean="0">
                    <a:latin typeface="Arial" panose="020B0604020202020204" pitchFamily="34" charset="0"/>
                    <a:cs typeface="Arial" panose="020B0604020202020204" pitchFamily="34" charset="0"/>
                  </a:rPr>
                  <a:t>the club</a:t>
                </a:r>
                <a:r>
                  <a:rPr lang="en-US" sz="2000" dirty="0">
                    <a:latin typeface="Arial" panose="020B0604020202020204" pitchFamily="34" charset="0"/>
                    <a:cs typeface="Arial" panose="020B0604020202020204" pitchFamily="34" charset="0"/>
                  </a:rPr>
                  <a:t>? What is the expected number?</a:t>
                </a:r>
              </a:p>
              <a:p>
                <a:pPr marL="285750" indent="-285750" algn="just">
                  <a:lnSpc>
                    <a:spcPct val="10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Problem#03</a:t>
                </a:r>
                <a:r>
                  <a:rPr lang="en-US" sz="2000" dirty="0" smtClean="0">
                    <a:latin typeface="Arial" panose="020B0604020202020204" pitchFamily="34" charset="0"/>
                    <a:cs typeface="Arial" panose="020B0604020202020204" pitchFamily="34" charset="0"/>
                  </a:rPr>
                  <a:t>: A </a:t>
                </a:r>
                <a:r>
                  <a:rPr lang="en-US" sz="2000" dirty="0">
                    <a:latin typeface="Arial" panose="020B0604020202020204" pitchFamily="34" charset="0"/>
                    <a:cs typeface="Arial" panose="020B0604020202020204" pitchFamily="34" charset="0"/>
                  </a:rPr>
                  <a:t>fair die is rolled 10 consecutive times. Find the probability that </a:t>
                </a:r>
                <a:r>
                  <a:rPr lang="en-US" sz="2000" dirty="0" smtClean="0">
                    <a:latin typeface="Arial" panose="020B0604020202020204" pitchFamily="34" charset="0"/>
                    <a:cs typeface="Arial" panose="020B0604020202020204" pitchFamily="34" charset="0"/>
                  </a:rPr>
                  <a:t>the number </a:t>
                </a:r>
                <a:r>
                  <a:rPr lang="en-US" sz="2000" dirty="0">
                    <a:latin typeface="Arial" panose="020B0604020202020204" pitchFamily="34" charset="0"/>
                    <a:cs typeface="Arial" panose="020B0604020202020204" pitchFamily="34" charset="0"/>
                  </a:rPr>
                  <a:t>5 is obtained at least 3 times</a:t>
                </a:r>
                <a:r>
                  <a:rPr lang="en-US" sz="2000" dirty="0" smtClean="0">
                    <a:latin typeface="Arial" panose="020B0604020202020204" pitchFamily="34" charset="0"/>
                    <a:cs typeface="Arial" panose="020B0604020202020204" pitchFamily="34" charset="0"/>
                  </a:rPr>
                  <a:t>.</a:t>
                </a:r>
              </a:p>
              <a:p>
                <a:pPr marL="285750" indent="-285750" algn="just">
                  <a:lnSpc>
                    <a:spcPct val="10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Problem#04</a:t>
                </a:r>
                <a:r>
                  <a:rPr lang="en-US" sz="2000" dirty="0" smtClean="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In </a:t>
                </a:r>
                <a:r>
                  <a:rPr lang="en-US" sz="2000" dirty="0">
                    <a:latin typeface="Arial" panose="020B0604020202020204" pitchFamily="34" charset="0"/>
                    <a:cs typeface="Arial" panose="020B0604020202020204" pitchFamily="34" charset="0"/>
                  </a:rPr>
                  <a:t>the computer room of an educational center there are 20 </a:t>
                </a:r>
                <a:r>
                  <a:rPr lang="en-US" sz="2000" dirty="0" smtClean="0">
                    <a:latin typeface="Arial" panose="020B0604020202020204" pitchFamily="34" charset="0"/>
                    <a:cs typeface="Arial" panose="020B0604020202020204" pitchFamily="34" charset="0"/>
                  </a:rPr>
                  <a:t>computers. The </a:t>
                </a:r>
                <a:r>
                  <a:rPr lang="en-US" sz="2000" dirty="0">
                    <a:latin typeface="Arial" panose="020B0604020202020204" pitchFamily="34" charset="0"/>
                    <a:cs typeface="Arial" panose="020B0604020202020204" pitchFamily="34" charset="0"/>
                  </a:rPr>
                  <a:t>probability that any given computer is being used in peak hours is </a:t>
                </a:r>
                <a:r>
                  <a:rPr lang="en-US" sz="2000" dirty="0" smtClean="0">
                    <a:latin typeface="Arial" panose="020B0604020202020204" pitchFamily="34" charset="0"/>
                    <a:cs typeface="Arial" panose="020B0604020202020204" pitchFamily="34" charset="0"/>
                  </a:rPr>
                  <a:t>0.9. What </a:t>
                </a:r>
                <a:r>
                  <a:rPr lang="en-US" sz="2000" dirty="0">
                    <a:latin typeface="Arial" panose="020B0604020202020204" pitchFamily="34" charset="0"/>
                    <a:cs typeface="Arial" panose="020B0604020202020204" pitchFamily="34" charset="0"/>
                  </a:rPr>
                  <a:t>is the probability that at least one computer is available in peak </a:t>
                </a:r>
                <a:r>
                  <a:rPr lang="en-US" sz="2000" dirty="0" smtClean="0">
                    <a:latin typeface="Arial" panose="020B0604020202020204" pitchFamily="34" charset="0"/>
                    <a:cs typeface="Arial" panose="020B0604020202020204" pitchFamily="34" charset="0"/>
                  </a:rPr>
                  <a:t>hours? What </a:t>
                </a:r>
                <a:r>
                  <a:rPr lang="en-US" sz="2000" dirty="0">
                    <a:latin typeface="Arial" panose="020B0604020202020204" pitchFamily="34" charset="0"/>
                    <a:cs typeface="Arial" panose="020B0604020202020204" pitchFamily="34" charset="0"/>
                  </a:rPr>
                  <a:t>is the probability that all the computers are being used</a:t>
                </a:r>
                <a:r>
                  <a:rPr lang="en-US" sz="2000" dirty="0" smtClean="0">
                    <a:latin typeface="Arial" panose="020B0604020202020204" pitchFamily="34" charset="0"/>
                    <a:cs typeface="Arial" panose="020B0604020202020204" pitchFamily="34" charset="0"/>
                  </a:rPr>
                  <a:t>?</a:t>
                </a:r>
              </a:p>
              <a:p>
                <a:pPr marL="285750" indent="-285750" algn="just">
                  <a:lnSpc>
                    <a:spcPct val="10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Problem#05</a:t>
                </a:r>
                <a:r>
                  <a:rPr lang="en-US" sz="2000" dirty="0" smtClean="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Let </a:t>
                </a:r>
                <a14:m>
                  <m:oMath xmlns:m="http://schemas.openxmlformats.org/officeDocument/2006/math">
                    <m:r>
                      <a:rPr lang="en-US" sz="2000" b="0" i="1" smtClean="0">
                        <a:latin typeface="Cambria Math" panose="02040503050406030204" pitchFamily="18" charset="0"/>
                        <a:cs typeface="Arial" panose="020B0604020202020204" pitchFamily="34" charset="0"/>
                      </a:rPr>
                      <m:t>𝑋</m:t>
                    </m:r>
                    <m:r>
                      <a:rPr lang="en-US" sz="2000" b="0" i="1" smtClean="0">
                        <a:latin typeface="Cambria Math" panose="02040503050406030204" pitchFamily="18" charset="0"/>
                        <a:cs typeface="Arial" panose="020B0604020202020204" pitchFamily="34" charset="0"/>
                      </a:rPr>
                      <m:t>∼</m:t>
                    </m:r>
                  </m:oMath>
                </a14:m>
                <a:r>
                  <a:rPr lang="en-US" sz="2000" dirty="0" smtClean="0">
                    <a:latin typeface="Arial" panose="020B0604020202020204" pitchFamily="34" charset="0"/>
                    <a:cs typeface="Arial" panose="020B0604020202020204" pitchFamily="34" charset="0"/>
                  </a:rPr>
                  <a:t>Bin(</a:t>
                </a:r>
                <a14:m>
                  <m:oMath xmlns:m="http://schemas.openxmlformats.org/officeDocument/2006/math">
                    <m:r>
                      <a:rPr lang="en-US" sz="2000" b="0" i="1" smtClean="0">
                        <a:latin typeface="Cambria Math" panose="02040503050406030204" pitchFamily="18" charset="0"/>
                        <a:cs typeface="Arial" panose="020B0604020202020204" pitchFamily="34" charset="0"/>
                      </a:rPr>
                      <m:t>𝑛</m:t>
                    </m:r>
                    <m:r>
                      <a:rPr lang="en-US" sz="2000" b="0" i="1" smtClean="0">
                        <a:latin typeface="Cambria Math" panose="02040503050406030204" pitchFamily="18" charset="0"/>
                        <a:cs typeface="Arial" panose="020B0604020202020204" pitchFamily="34" charset="0"/>
                      </a:rPr>
                      <m:t>, </m:t>
                    </m:r>
                    <m:r>
                      <a:rPr lang="en-US" sz="2000" b="0" i="1" smtClean="0">
                        <a:latin typeface="Cambria Math" panose="02040503050406030204" pitchFamily="18" charset="0"/>
                        <a:cs typeface="Arial" panose="020B0604020202020204" pitchFamily="34" charset="0"/>
                      </a:rPr>
                      <m:t>𝑝</m:t>
                    </m:r>
                  </m:oMath>
                </a14:m>
                <a:r>
                  <a:rPr lang="en-US" sz="2000" dirty="0" smtClean="0">
                    <a:latin typeface="Arial" panose="020B0604020202020204" pitchFamily="34" charset="0"/>
                    <a:cs typeface="Arial" panose="020B0604020202020204" pitchFamily="34" charset="0"/>
                  </a:rPr>
                  <a:t>) and </a:t>
                </a:r>
                <a14:m>
                  <m:oMath xmlns:m="http://schemas.openxmlformats.org/officeDocument/2006/math">
                    <m:r>
                      <a:rPr lang="en-US" sz="2000" b="0" i="1" smtClean="0">
                        <a:latin typeface="Cambria Math" panose="02040503050406030204" pitchFamily="18" charset="0"/>
                        <a:cs typeface="Arial" panose="020B0604020202020204" pitchFamily="34" charset="0"/>
                      </a:rPr>
                      <m:t>𝐸</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𝑋</m:t>
                        </m:r>
                      </m:e>
                    </m:d>
                    <m:r>
                      <a:rPr lang="en-US" sz="2000" b="0" i="1" smtClean="0">
                        <a:latin typeface="Cambria Math" panose="02040503050406030204" pitchFamily="18" charset="0"/>
                        <a:cs typeface="Arial" panose="020B0604020202020204" pitchFamily="34" charset="0"/>
                      </a:rPr>
                      <m:t>=12</m:t>
                    </m:r>
                  </m:oMath>
                </a14:m>
                <a:r>
                  <a:rPr lang="en-US" sz="2000" dirty="0" smtClean="0">
                    <a:latin typeface="Arial" panose="020B0604020202020204" pitchFamily="34" charset="0"/>
                    <a:cs typeface="Arial" panose="020B0604020202020204" pitchFamily="34" charset="0"/>
                  </a:rPr>
                  <a:t> and </a:t>
                </a:r>
                <a14:m>
                  <m:oMath xmlns:m="http://schemas.openxmlformats.org/officeDocument/2006/math">
                    <m:r>
                      <a:rPr lang="en-US" sz="2000" b="0" i="1" smtClean="0">
                        <a:latin typeface="Cambria Math" panose="02040503050406030204" pitchFamily="18" charset="0"/>
                        <a:cs typeface="Arial" panose="020B0604020202020204" pitchFamily="34" charset="0"/>
                      </a:rPr>
                      <m:t>𝑉𝑎𝑟</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𝑋</m:t>
                        </m:r>
                      </m:e>
                    </m:d>
                    <m:r>
                      <a:rPr lang="en-US" sz="2000" b="0" i="1" smtClean="0">
                        <a:latin typeface="Cambria Math" panose="02040503050406030204" pitchFamily="18" charset="0"/>
                        <a:cs typeface="Arial" panose="020B0604020202020204" pitchFamily="34" charset="0"/>
                      </a:rPr>
                      <m:t>=4</m:t>
                    </m:r>
                  </m:oMath>
                </a14:m>
                <a:r>
                  <a:rPr lang="en-US" sz="2000" dirty="0" smtClean="0">
                    <a:latin typeface="Arial" panose="020B0604020202020204" pitchFamily="34" charset="0"/>
                    <a:cs typeface="Arial" panose="020B0604020202020204" pitchFamily="34" charset="0"/>
                  </a:rPr>
                  <a:t>. Find </a:t>
                </a:r>
                <a14:m>
                  <m:oMath xmlns:m="http://schemas.openxmlformats.org/officeDocument/2006/math">
                    <m:r>
                      <a:rPr lang="en-US" sz="2000" b="0" i="1" smtClean="0">
                        <a:latin typeface="Cambria Math" panose="02040503050406030204" pitchFamily="18" charset="0"/>
                        <a:cs typeface="Arial" panose="020B0604020202020204" pitchFamily="34" charset="0"/>
                      </a:rPr>
                      <m:t>𝑛</m:t>
                    </m:r>
                  </m:oMath>
                </a14:m>
                <a:r>
                  <a:rPr lang="en-US" sz="2000" dirty="0" smtClean="0">
                    <a:latin typeface="Arial" panose="020B0604020202020204" pitchFamily="34" charset="0"/>
                    <a:cs typeface="Arial" panose="020B0604020202020204" pitchFamily="34" charset="0"/>
                  </a:rPr>
                  <a:t> and </a:t>
                </a:r>
                <a14:m>
                  <m:oMath xmlns:m="http://schemas.openxmlformats.org/officeDocument/2006/math">
                    <m:r>
                      <a:rPr lang="en-US" sz="2000" b="0" i="1" smtClean="0">
                        <a:latin typeface="Cambria Math" panose="02040503050406030204" pitchFamily="18" charset="0"/>
                        <a:cs typeface="Arial" panose="020B0604020202020204" pitchFamily="34" charset="0"/>
                      </a:rPr>
                      <m:t>𝑝</m:t>
                    </m:r>
                  </m:oMath>
                </a14:m>
                <a:r>
                  <a:rPr lang="en-US" sz="2000" dirty="0" smtClean="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833000"/>
                <a:ext cx="10831132" cy="5796400"/>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80952337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6708"/>
            <a:ext cx="9144000" cy="605308"/>
          </a:xfrm>
        </p:spPr>
        <p:txBody>
          <a:bodyPr>
            <a:noAutofit/>
          </a:bodyPr>
          <a:lstStyle/>
          <a:p>
            <a:r>
              <a:rPr lang="en-US" sz="2400" b="1" dirty="0" smtClean="0">
                <a:latin typeface="Arial" pitchFamily="34" charset="0"/>
                <a:cs typeface="Arial" pitchFamily="34" charset="0"/>
              </a:rPr>
              <a:t>Exercise (</a:t>
            </a:r>
            <a:r>
              <a:rPr lang="en-US" sz="2400" b="1" dirty="0" err="1" smtClean="0">
                <a:latin typeface="Arial" pitchFamily="34" charset="0"/>
                <a:cs typeface="Arial" pitchFamily="34" charset="0"/>
              </a:rPr>
              <a:t>cont</a:t>
            </a:r>
            <a:r>
              <a:rPr lang="en-US" sz="2400" b="1" dirty="0" smtClean="0">
                <a:latin typeface="Arial" pitchFamily="34" charset="0"/>
                <a:cs typeface="Arial" pitchFamily="34" charset="0"/>
              </a:rPr>
              <a:t>…)</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682581" y="833000"/>
            <a:ext cx="10831132" cy="5796400"/>
          </a:xfrm>
        </p:spPr>
        <p:txBody>
          <a:bodyPr>
            <a:noAutofit/>
          </a:bodyPr>
          <a:lstStyle/>
          <a:p>
            <a:pPr marL="285750" indent="-285750" algn="just">
              <a:lnSpc>
                <a:spcPct val="10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Problem#06</a:t>
            </a:r>
            <a:r>
              <a:rPr lang="en-US" sz="2000" dirty="0" smtClean="0">
                <a:latin typeface="Arial" panose="020B0604020202020204" pitchFamily="34" charset="0"/>
                <a:cs typeface="Arial" panose="020B0604020202020204" pitchFamily="34" charset="0"/>
              </a:rPr>
              <a:t>: Suppose </a:t>
            </a:r>
            <a:r>
              <a:rPr lang="en-US" sz="2000" dirty="0">
                <a:latin typeface="Arial" panose="020B0604020202020204" pitchFamily="34" charset="0"/>
                <a:cs typeface="Arial" panose="020B0604020202020204" pitchFamily="34" charset="0"/>
              </a:rPr>
              <a:t>1.5 percent of the antennas on new Nokia cell phones are defective. For a random sample of 200 antennas, find the probability </a:t>
            </a:r>
            <a:r>
              <a:rPr lang="en-US" sz="2000" dirty="0" smtClean="0">
                <a:latin typeface="Arial" panose="020B0604020202020204" pitchFamily="34" charset="0"/>
                <a:cs typeface="Arial" panose="020B0604020202020204" pitchFamily="34" charset="0"/>
              </a:rPr>
              <a:t>that: a</a:t>
            </a:r>
            <a:r>
              <a:rPr lang="en-US" sz="2000" dirty="0">
                <a:latin typeface="Arial" panose="020B0604020202020204" pitchFamily="34" charset="0"/>
                <a:cs typeface="Arial" panose="020B0604020202020204" pitchFamily="34" charset="0"/>
              </a:rPr>
              <a:t>. None of the antennas is </a:t>
            </a:r>
            <a:r>
              <a:rPr lang="en-US" sz="2000" dirty="0" smtClean="0">
                <a:latin typeface="Arial" panose="020B0604020202020204" pitchFamily="34" charset="0"/>
                <a:cs typeface="Arial" panose="020B0604020202020204" pitchFamily="34" charset="0"/>
              </a:rPr>
              <a:t>defective. b</a:t>
            </a:r>
            <a:r>
              <a:rPr lang="en-US" sz="2000" dirty="0">
                <a:latin typeface="Arial" panose="020B0604020202020204" pitchFamily="34" charset="0"/>
                <a:cs typeface="Arial" panose="020B0604020202020204" pitchFamily="34" charset="0"/>
              </a:rPr>
              <a:t>. Three or more of the antennas are defective. ? </a:t>
            </a:r>
            <a:r>
              <a:rPr lang="en-US" sz="2000" dirty="0" err="1">
                <a:latin typeface="Arial" panose="020B0604020202020204" pitchFamily="34" charset="0"/>
                <a:cs typeface="Arial" panose="020B0604020202020204" pitchFamily="34" charset="0"/>
              </a:rPr>
              <a:t>Ans</a:t>
            </a:r>
            <a:r>
              <a:rPr lang="en-US" sz="2000" dirty="0">
                <a:latin typeface="Arial" panose="020B0604020202020204" pitchFamily="34" charset="0"/>
                <a:cs typeface="Arial" panose="020B0604020202020204" pitchFamily="34" charset="0"/>
              </a:rPr>
              <a:t>: (a) </a:t>
            </a:r>
            <a:r>
              <a:rPr lang="en-US" sz="2000" dirty="0" smtClean="0">
                <a:latin typeface="Arial" panose="020B0604020202020204" pitchFamily="34" charset="0"/>
                <a:cs typeface="Arial" panose="020B0604020202020204" pitchFamily="34" charset="0"/>
              </a:rPr>
              <a:t>0.0498 (b</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0.5768</a:t>
            </a:r>
          </a:p>
          <a:p>
            <a:pPr marL="285750" indent="-285750" algn="just">
              <a:lnSpc>
                <a:spcPct val="10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Problem#07</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 academic head of </a:t>
            </a:r>
            <a:r>
              <a:rPr lang="en-US" sz="2000" dirty="0" smtClean="0">
                <a:latin typeface="Arial" panose="020B0604020202020204" pitchFamily="34" charset="0"/>
                <a:cs typeface="Arial" panose="020B0604020202020204" pitchFamily="34" charset="0"/>
              </a:rPr>
              <a:t>a faculty in a University receive an average of two </a:t>
            </a:r>
            <a:r>
              <a:rPr lang="en-US" sz="2000" dirty="0">
                <a:latin typeface="Arial" panose="020B0604020202020204" pitchFamily="34" charset="0"/>
                <a:cs typeface="Arial" panose="020B0604020202020204" pitchFamily="34" charset="0"/>
              </a:rPr>
              <a:t>emails per hour. </a:t>
            </a:r>
            <a:r>
              <a:rPr lang="en-US" sz="2000" dirty="0" smtClean="0">
                <a:latin typeface="Arial" panose="020B0604020202020204" pitchFamily="34" charset="0"/>
                <a:cs typeface="Arial" panose="020B0604020202020204" pitchFamily="34" charset="0"/>
              </a:rPr>
              <a:t>a</a:t>
            </a:r>
            <a:r>
              <a:rPr lang="en-US" sz="2000" dirty="0">
                <a:latin typeface="Arial" panose="020B0604020202020204" pitchFamily="34" charset="0"/>
                <a:cs typeface="Arial" panose="020B0604020202020204" pitchFamily="34" charset="0"/>
              </a:rPr>
              <a:t>. What is the probability </a:t>
            </a:r>
            <a:r>
              <a:rPr lang="en-US" sz="2000" dirty="0" smtClean="0">
                <a:latin typeface="Arial" panose="020B0604020202020204" pitchFamily="34" charset="0"/>
                <a:cs typeface="Arial" panose="020B0604020202020204" pitchFamily="34" charset="0"/>
              </a:rPr>
              <a:t>that she </a:t>
            </a:r>
            <a:r>
              <a:rPr lang="en-US" sz="2000" dirty="0">
                <a:latin typeface="Arial" panose="020B0604020202020204" pitchFamily="34" charset="0"/>
                <a:cs typeface="Arial" panose="020B0604020202020204" pitchFamily="34" charset="0"/>
              </a:rPr>
              <a:t>received exactly 1 email between 4 P.M. and 5 P.M. </a:t>
            </a:r>
            <a:r>
              <a:rPr lang="en-US" sz="2000" dirty="0" smtClean="0">
                <a:latin typeface="Arial" panose="020B0604020202020204" pitchFamily="34" charset="0"/>
                <a:cs typeface="Arial" panose="020B0604020202020204" pitchFamily="34" charset="0"/>
              </a:rPr>
              <a:t>yesterday? b</a:t>
            </a:r>
            <a:r>
              <a:rPr lang="en-US" sz="2000" dirty="0">
                <a:latin typeface="Arial" panose="020B0604020202020204" pitchFamily="34" charset="0"/>
                <a:cs typeface="Arial" panose="020B0604020202020204" pitchFamily="34" charset="0"/>
              </a:rPr>
              <a:t>. What is the probability she received 5 or more emails during </a:t>
            </a:r>
            <a:r>
              <a:rPr lang="en-US" sz="2000" dirty="0" smtClean="0">
                <a:latin typeface="Arial" panose="020B0604020202020204" pitchFamily="34" charset="0"/>
                <a:cs typeface="Arial" panose="020B0604020202020204" pitchFamily="34" charset="0"/>
              </a:rPr>
              <a:t>4 P.M. to 6 P.M.? c</a:t>
            </a:r>
            <a:r>
              <a:rPr lang="en-US" sz="2000" dirty="0">
                <a:latin typeface="Arial" panose="020B0604020202020204" pitchFamily="34" charset="0"/>
                <a:cs typeface="Arial" panose="020B0604020202020204" pitchFamily="34" charset="0"/>
              </a:rPr>
              <a:t>. What is the probability she did not receive any emails during </a:t>
            </a:r>
            <a:r>
              <a:rPr lang="en-US" sz="2000" dirty="0" smtClean="0">
                <a:latin typeface="Arial" panose="020B0604020202020204" pitchFamily="34" charset="0"/>
                <a:cs typeface="Arial" panose="020B0604020202020204" pitchFamily="34" charset="0"/>
              </a:rPr>
              <a:t>3 P.M. to 3:30 P.M.? </a:t>
            </a:r>
          </a:p>
          <a:p>
            <a:pPr marL="285750" indent="-285750" algn="just">
              <a:lnSpc>
                <a:spcPct val="10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Problem#08</a:t>
            </a:r>
            <a:r>
              <a:rPr lang="en-US" sz="2000" dirty="0" smtClean="0">
                <a:latin typeface="Arial" panose="020B0604020202020204" pitchFamily="34" charset="0"/>
                <a:cs typeface="Arial" panose="020B0604020202020204" pitchFamily="34" charset="0"/>
              </a:rPr>
              <a:t>: A </a:t>
            </a:r>
            <a:r>
              <a:rPr lang="en-US" sz="2000" dirty="0">
                <a:latin typeface="Arial" panose="020B0604020202020204" pitchFamily="34" charset="0"/>
                <a:cs typeface="Arial" panose="020B0604020202020204" pitchFamily="34" charset="0"/>
              </a:rPr>
              <a:t>student arrives at the bus station at 6:00 AM sharp knowing </a:t>
            </a:r>
            <a:r>
              <a:rPr lang="en-US" sz="2000" dirty="0" smtClean="0">
                <a:latin typeface="Arial" panose="020B0604020202020204" pitchFamily="34" charset="0"/>
                <a:cs typeface="Arial" panose="020B0604020202020204" pitchFamily="34" charset="0"/>
              </a:rPr>
              <a:t>that the </a:t>
            </a:r>
            <a:r>
              <a:rPr lang="en-US" sz="2000" dirty="0">
                <a:latin typeface="Arial" panose="020B0604020202020204" pitchFamily="34" charset="0"/>
                <a:cs typeface="Arial" panose="020B0604020202020204" pitchFamily="34" charset="0"/>
              </a:rPr>
              <a:t>bus will arrive any moment, uniformly distributed between 6:00 AM </a:t>
            </a:r>
            <a:r>
              <a:rPr lang="en-US" sz="2000" dirty="0" smtClean="0">
                <a:latin typeface="Arial" panose="020B0604020202020204" pitchFamily="34" charset="0"/>
                <a:cs typeface="Arial" panose="020B0604020202020204" pitchFamily="34" charset="0"/>
              </a:rPr>
              <a:t>and 6:20 </a:t>
            </a:r>
            <a:r>
              <a:rPr lang="en-US" sz="2000" dirty="0">
                <a:latin typeface="Arial" panose="020B0604020202020204" pitchFamily="34" charset="0"/>
                <a:cs typeface="Arial" panose="020B0604020202020204" pitchFamily="34" charset="0"/>
              </a:rPr>
              <a:t>AM. What is the probability that the student must wait more than </a:t>
            </a:r>
            <a:r>
              <a:rPr lang="en-US" sz="2000" dirty="0" smtClean="0">
                <a:latin typeface="Arial" panose="020B0604020202020204" pitchFamily="34" charset="0"/>
                <a:cs typeface="Arial" panose="020B0604020202020204" pitchFamily="34" charset="0"/>
              </a:rPr>
              <a:t>5 minutes</a:t>
            </a:r>
            <a:r>
              <a:rPr lang="en-US" sz="2000" dirty="0">
                <a:latin typeface="Arial" panose="020B0604020202020204" pitchFamily="34" charset="0"/>
                <a:cs typeface="Arial" panose="020B0604020202020204" pitchFamily="34" charset="0"/>
              </a:rPr>
              <a:t>? If at 6:10 AM the bus has not arrived yet, what is the </a:t>
            </a:r>
            <a:r>
              <a:rPr lang="en-US" sz="2000" dirty="0" smtClean="0">
                <a:latin typeface="Arial" panose="020B0604020202020204" pitchFamily="34" charset="0"/>
                <a:cs typeface="Arial" panose="020B0604020202020204" pitchFamily="34" charset="0"/>
              </a:rPr>
              <a:t>probability that </a:t>
            </a:r>
            <a:r>
              <a:rPr lang="en-US" sz="2000" dirty="0">
                <a:latin typeface="Arial" panose="020B0604020202020204" pitchFamily="34" charset="0"/>
                <a:cs typeface="Arial" panose="020B0604020202020204" pitchFamily="34" charset="0"/>
              </a:rPr>
              <a:t>the student has to wait at least 5 more minutes</a:t>
            </a:r>
            <a:r>
              <a:rPr lang="en-US" sz="2000" dirty="0" smtClean="0">
                <a:latin typeface="Arial" panose="020B0604020202020204" pitchFamily="34" charset="0"/>
                <a:cs typeface="Arial" panose="020B0604020202020204" pitchFamily="34" charset="0"/>
              </a:rPr>
              <a:t>? </a:t>
            </a:r>
            <a:r>
              <a:rPr lang="en-US" sz="2000" b="1" dirty="0" smtClean="0">
                <a:latin typeface="Arial" panose="020B0604020202020204" pitchFamily="34" charset="0"/>
                <a:cs typeface="Arial" panose="020B0604020202020204" pitchFamily="34" charset="0"/>
              </a:rPr>
              <a:t>Hints.</a:t>
            </a:r>
            <a:r>
              <a:rPr lang="en-US" sz="2000" dirty="0" smtClean="0">
                <a:latin typeface="Arial" panose="020B0604020202020204" pitchFamily="34" charset="0"/>
                <a:cs typeface="Arial" panose="020B0604020202020204" pitchFamily="34" charset="0"/>
              </a:rPr>
              <a:t> Compute the conditional probability that if the bus arrive after 6:10P.M. then what is the probability that it arrive after 6:15 P.M.</a:t>
            </a:r>
            <a:endParaRPr lang="en-US" sz="2000"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Problem#09</a:t>
            </a:r>
            <a:r>
              <a:rPr lang="en-US" sz="2000" dirty="0" smtClean="0">
                <a:latin typeface="Arial" panose="020B0604020202020204" pitchFamily="34" charset="0"/>
                <a:cs typeface="Arial" panose="020B0604020202020204" pitchFamily="34" charset="0"/>
              </a:rPr>
              <a:t>: The </a:t>
            </a:r>
            <a:r>
              <a:rPr lang="en-US" sz="2000" dirty="0">
                <a:latin typeface="Arial" panose="020B0604020202020204" pitchFamily="34" charset="0"/>
                <a:cs typeface="Arial" panose="020B0604020202020204" pitchFamily="34" charset="0"/>
              </a:rPr>
              <a:t>lifetime of a printer is an Exponential random variable with the expectation</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5.2 </a:t>
            </a:r>
            <a:r>
              <a:rPr lang="en-US" sz="2000" dirty="0" smtClean="0">
                <a:latin typeface="Arial" panose="020B0604020202020204" pitchFamily="34" charset="0"/>
                <a:cs typeface="Arial" panose="020B0604020202020204" pitchFamily="34" charset="0"/>
              </a:rPr>
              <a:t>years. </a:t>
            </a:r>
            <a:r>
              <a:rPr lang="en-US" sz="2000" dirty="0">
                <a:latin typeface="Arial" panose="020B0604020202020204" pitchFamily="34" charset="0"/>
                <a:cs typeface="Arial" panose="020B0604020202020204" pitchFamily="34" charset="0"/>
              </a:rPr>
              <a:t>What percentage of the printers have a lifetime (</a:t>
            </a:r>
            <a:r>
              <a:rPr lang="en-US" sz="2000" dirty="0" err="1">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less than 7 years? (ii) More than 3 years? (iii) Between 3 and 7 years</a:t>
            </a:r>
            <a:r>
              <a:rPr lang="en-US" sz="2000" dirty="0" smtClean="0">
                <a:latin typeface="Arial" panose="020B0604020202020204" pitchFamily="34" charset="0"/>
                <a:cs typeface="Arial" panose="020B0604020202020204" pitchFamily="34" charset="0"/>
              </a:rPr>
              <a:t>?</a:t>
            </a:r>
          </a:p>
          <a:p>
            <a:pPr marL="285750" indent="-285750" algn="just">
              <a:lnSpc>
                <a:spcPct val="10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266726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6708"/>
            <a:ext cx="9144000" cy="605308"/>
          </a:xfrm>
        </p:spPr>
        <p:txBody>
          <a:bodyPr>
            <a:noAutofit/>
          </a:bodyPr>
          <a:lstStyle/>
          <a:p>
            <a:r>
              <a:rPr lang="en-US" sz="2400" b="1" dirty="0" smtClean="0">
                <a:latin typeface="Arial" pitchFamily="34" charset="0"/>
                <a:cs typeface="Arial" pitchFamily="34" charset="0"/>
              </a:rPr>
              <a:t>Exercise (</a:t>
            </a:r>
            <a:r>
              <a:rPr lang="en-US" sz="2400" b="1" dirty="0" err="1" smtClean="0">
                <a:latin typeface="Arial" pitchFamily="34" charset="0"/>
                <a:cs typeface="Arial" pitchFamily="34" charset="0"/>
              </a:rPr>
              <a:t>cont</a:t>
            </a:r>
            <a:r>
              <a:rPr lang="en-US" sz="2400" b="1" dirty="0" smtClean="0">
                <a:latin typeface="Arial" pitchFamily="34" charset="0"/>
                <a:cs typeface="Arial" pitchFamily="34" charset="0"/>
              </a:rPr>
              <a:t>…)</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682581" y="833000"/>
            <a:ext cx="10831132" cy="5796400"/>
          </a:xfrm>
        </p:spPr>
        <p:txBody>
          <a:bodyPr>
            <a:noAutofit/>
          </a:bodyPr>
          <a:lstStyle/>
          <a:p>
            <a:pPr marL="285750" indent="-285750" algn="just">
              <a:lnSpc>
                <a:spcPct val="10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Problem#10</a:t>
            </a:r>
            <a:r>
              <a:rPr lang="en-US" sz="2000" dirty="0" smtClean="0">
                <a:latin typeface="Arial" panose="020B0604020202020204" pitchFamily="34" charset="0"/>
                <a:cs typeface="Arial" panose="020B0604020202020204" pitchFamily="34" charset="0"/>
              </a:rPr>
              <a:t>: A </a:t>
            </a:r>
            <a:r>
              <a:rPr lang="en-US" sz="2000" dirty="0">
                <a:latin typeface="Arial" panose="020B0604020202020204" pitchFamily="34" charset="0"/>
                <a:cs typeface="Arial" panose="020B0604020202020204" pitchFamily="34" charset="0"/>
              </a:rPr>
              <a:t>study of phone calls made from customer service revealed the length of the calls, in minutes, follows the exponential probability distribution. The mean length of time per call was 3.2 </a:t>
            </a:r>
            <a:r>
              <a:rPr lang="en-US" sz="2000" dirty="0" smtClean="0">
                <a:latin typeface="Arial" panose="020B0604020202020204" pitchFamily="34" charset="0"/>
                <a:cs typeface="Arial" panose="020B0604020202020204" pitchFamily="34" charset="0"/>
              </a:rPr>
              <a:t>minutes. (</a:t>
            </a:r>
            <a:r>
              <a:rPr lang="en-US" sz="2000" dirty="0" err="1" smtClean="0">
                <a:latin typeface="Arial" panose="020B0604020202020204" pitchFamily="34" charset="0"/>
                <a:cs typeface="Arial" panose="020B0604020202020204" pitchFamily="34" charset="0"/>
              </a:rPr>
              <a:t>i</a:t>
            </a:r>
            <a:r>
              <a:rPr lang="en-US" sz="2000" dirty="0" smtClean="0">
                <a:latin typeface="Arial" panose="020B0604020202020204" pitchFamily="34" charset="0"/>
                <a:cs typeface="Arial" panose="020B0604020202020204" pitchFamily="34" charset="0"/>
              </a:rPr>
              <a:t>) What proportion </a:t>
            </a:r>
            <a:r>
              <a:rPr lang="en-US" sz="2000" dirty="0">
                <a:latin typeface="Arial" panose="020B0604020202020204" pitchFamily="34" charset="0"/>
                <a:cs typeface="Arial" panose="020B0604020202020204" pitchFamily="34" charset="0"/>
              </a:rPr>
              <a:t>of the calls last below 3 </a:t>
            </a:r>
            <a:r>
              <a:rPr lang="en-US" sz="2000" dirty="0" smtClean="0">
                <a:latin typeface="Arial" panose="020B0604020202020204" pitchFamily="34" charset="0"/>
                <a:cs typeface="Arial" panose="020B0604020202020204" pitchFamily="34" charset="0"/>
              </a:rPr>
              <a:t>minutes? (ii) What </a:t>
            </a:r>
            <a:r>
              <a:rPr lang="en-US" sz="2000" dirty="0">
                <a:latin typeface="Arial" panose="020B0604020202020204" pitchFamily="34" charset="0"/>
                <a:cs typeface="Arial" panose="020B0604020202020204" pitchFamily="34" charset="0"/>
              </a:rPr>
              <a:t>proportion of the calls last more than 4 </a:t>
            </a:r>
            <a:r>
              <a:rPr lang="en-US" sz="2000" dirty="0" smtClean="0">
                <a:latin typeface="Arial" panose="020B0604020202020204" pitchFamily="34" charset="0"/>
                <a:cs typeface="Arial" panose="020B0604020202020204" pitchFamily="34" charset="0"/>
              </a:rPr>
              <a:t>minutes? (iii) What </a:t>
            </a:r>
            <a:r>
              <a:rPr lang="en-US" sz="2000" dirty="0">
                <a:latin typeface="Arial" panose="020B0604020202020204" pitchFamily="34" charset="0"/>
                <a:cs typeface="Arial" panose="020B0604020202020204" pitchFamily="34" charset="0"/>
              </a:rPr>
              <a:t>proportion of the calls last between 2 and 5 </a:t>
            </a:r>
            <a:r>
              <a:rPr lang="en-US" sz="2000" dirty="0" smtClean="0">
                <a:latin typeface="Arial" panose="020B0604020202020204" pitchFamily="34" charset="0"/>
                <a:cs typeface="Arial" panose="020B0604020202020204" pitchFamily="34" charset="0"/>
              </a:rPr>
              <a:t>minutes? (iii) As </a:t>
            </a:r>
            <a:r>
              <a:rPr lang="en-US" sz="2000" dirty="0">
                <a:latin typeface="Arial" panose="020B0604020202020204" pitchFamily="34" charset="0"/>
                <a:cs typeface="Arial" panose="020B0604020202020204" pitchFamily="34" charset="0"/>
              </a:rPr>
              <a:t>part of her report to the president, the director of communications would like to report the length of the longest (in duration) 10 percent of the calls. What is this time? </a:t>
            </a:r>
            <a:endParaRPr lang="en-US" sz="2000" dirty="0" smtClean="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Problem#11</a:t>
            </a:r>
            <a:r>
              <a:rPr lang="en-US" sz="2000" dirty="0" smtClean="0">
                <a:latin typeface="Arial" panose="020B0604020202020204" pitchFamily="34" charset="0"/>
                <a:cs typeface="Arial" panose="020B0604020202020204" pitchFamily="34" charset="0"/>
              </a:rPr>
              <a:t>: The </a:t>
            </a:r>
            <a:r>
              <a:rPr lang="en-US" sz="2000" dirty="0">
                <a:latin typeface="Arial" panose="020B0604020202020204" pitchFamily="34" charset="0"/>
                <a:cs typeface="Arial" panose="020B0604020202020204" pitchFamily="34" charset="0"/>
              </a:rPr>
              <a:t>time it takes a printer to print a job is </a:t>
            </a:r>
            <a:r>
              <a:rPr lang="en-US" sz="2000" dirty="0" err="1">
                <a:latin typeface="Arial" panose="020B0604020202020204" pitchFamily="34" charset="0"/>
                <a:cs typeface="Arial" panose="020B0604020202020204" pitchFamily="34" charset="0"/>
              </a:rPr>
              <a:t>is</a:t>
            </a:r>
            <a:r>
              <a:rPr lang="en-US" sz="2000" dirty="0">
                <a:latin typeface="Arial" panose="020B0604020202020204" pitchFamily="34" charset="0"/>
                <a:cs typeface="Arial" panose="020B0604020202020204" pitchFamily="34" charset="0"/>
              </a:rPr>
              <a:t> a normal random variable with mean</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of </a:t>
            </a:r>
            <a:r>
              <a:rPr lang="en-US" sz="2000" dirty="0" smtClean="0">
                <a:latin typeface="Arial" panose="020B0604020202020204" pitchFamily="34" charset="0"/>
                <a:cs typeface="Arial" panose="020B0604020202020204" pitchFamily="34" charset="0"/>
              </a:rPr>
              <a:t>45 seconds and </a:t>
            </a:r>
            <a:r>
              <a:rPr lang="en-US" sz="2000" dirty="0">
                <a:latin typeface="Arial" panose="020B0604020202020204" pitchFamily="34" charset="0"/>
                <a:cs typeface="Arial" panose="020B0604020202020204" pitchFamily="34" charset="0"/>
              </a:rPr>
              <a:t>standard deviation 7</a:t>
            </a:r>
            <a:r>
              <a:rPr lang="en-US" sz="2000" dirty="0" smtClean="0">
                <a:latin typeface="Arial" panose="020B0604020202020204" pitchFamily="34" charset="0"/>
                <a:cs typeface="Arial" panose="020B0604020202020204" pitchFamily="34" charset="0"/>
              </a:rPr>
              <a:t> seconds. </a:t>
            </a:r>
            <a:r>
              <a:rPr lang="en-US" sz="2000" dirty="0">
                <a:latin typeface="Arial" panose="020B0604020202020204" pitchFamily="34" charset="0"/>
                <a:cs typeface="Arial" panose="020B0604020202020204" pitchFamily="34" charset="0"/>
              </a:rPr>
              <a:t>You send a job to the printer at 10:00 am, what is the probability that your job will be ready before 10:01?</a:t>
            </a:r>
          </a:p>
          <a:p>
            <a:pPr marL="285750" indent="-285750" algn="just">
              <a:lnSpc>
                <a:spcPct val="10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Problem#12</a:t>
            </a:r>
            <a:r>
              <a:rPr lang="en-US" sz="2000" dirty="0" smtClean="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Suppose </a:t>
            </a:r>
            <a:r>
              <a:rPr lang="en-US" sz="2000" dirty="0">
                <a:latin typeface="Arial" panose="020B0604020202020204" pitchFamily="34" charset="0"/>
                <a:cs typeface="Arial" panose="020B0604020202020204" pitchFamily="34" charset="0"/>
              </a:rPr>
              <a:t>that the number of kilometers that an automobile </a:t>
            </a:r>
            <a:r>
              <a:rPr lang="en-US" sz="2000" dirty="0" smtClean="0">
                <a:latin typeface="Arial" panose="020B0604020202020204" pitchFamily="34" charset="0"/>
                <a:cs typeface="Arial" panose="020B0604020202020204" pitchFamily="34" charset="0"/>
              </a:rPr>
              <a:t>travels before </a:t>
            </a:r>
            <a:r>
              <a:rPr lang="en-US" sz="2000" dirty="0">
                <a:latin typeface="Arial" panose="020B0604020202020204" pitchFamily="34" charset="0"/>
                <a:cs typeface="Arial" panose="020B0604020202020204" pitchFamily="34" charset="0"/>
              </a:rPr>
              <a:t>its battery runs out is distributed exponentially with a mean value </a:t>
            </a:r>
            <a:r>
              <a:rPr lang="en-US" sz="2000" dirty="0" smtClean="0">
                <a:latin typeface="Arial" panose="020B0604020202020204" pitchFamily="34" charset="0"/>
                <a:cs typeface="Arial" panose="020B0604020202020204" pitchFamily="34" charset="0"/>
              </a:rPr>
              <a:t>of 10,000 </a:t>
            </a:r>
            <a:r>
              <a:rPr lang="en-US" sz="2000" dirty="0">
                <a:latin typeface="Arial" panose="020B0604020202020204" pitchFamily="34" charset="0"/>
                <a:cs typeface="Arial" panose="020B0604020202020204" pitchFamily="34" charset="0"/>
              </a:rPr>
              <a:t>km. </a:t>
            </a:r>
            <a:r>
              <a:rPr lang="en-US" sz="2000" dirty="0" smtClean="0">
                <a:latin typeface="Arial" panose="020B0604020202020204" pitchFamily="34" charset="0"/>
                <a:cs typeface="Arial" panose="020B0604020202020204" pitchFamily="34" charset="0"/>
              </a:rPr>
              <a:t>(</a:t>
            </a:r>
            <a:r>
              <a:rPr lang="en-US" sz="2000" dirty="0" err="1" smtClean="0">
                <a:latin typeface="Arial" panose="020B0604020202020204" pitchFamily="34" charset="0"/>
                <a:cs typeface="Arial" panose="020B0604020202020204" pitchFamily="34" charset="0"/>
              </a:rPr>
              <a:t>i</a:t>
            </a:r>
            <a:r>
              <a:rPr lang="en-US" sz="2000" dirty="0" smtClean="0">
                <a:latin typeface="Arial" panose="020B0604020202020204" pitchFamily="34" charset="0"/>
                <a:cs typeface="Arial" panose="020B0604020202020204" pitchFamily="34" charset="0"/>
              </a:rPr>
              <a:t>) If </a:t>
            </a:r>
            <a:r>
              <a:rPr lang="en-US" sz="2000" dirty="0">
                <a:latin typeface="Arial" panose="020B0604020202020204" pitchFamily="34" charset="0"/>
                <a:cs typeface="Arial" panose="020B0604020202020204" pitchFamily="34" charset="0"/>
              </a:rPr>
              <a:t>a person wants to travel </a:t>
            </a:r>
            <a:r>
              <a:rPr lang="en-US" sz="2000" dirty="0" smtClean="0">
                <a:latin typeface="Arial" panose="020B0604020202020204" pitchFamily="34" charset="0"/>
                <a:cs typeface="Arial" panose="020B0604020202020204" pitchFamily="34" charset="0"/>
              </a:rPr>
              <a:t>5,000 km</a:t>
            </a:r>
            <a:r>
              <a:rPr lang="en-US" sz="2000" dirty="0">
                <a:latin typeface="Arial" panose="020B0604020202020204" pitchFamily="34" charset="0"/>
                <a:cs typeface="Arial" panose="020B0604020202020204" pitchFamily="34" charset="0"/>
              </a:rPr>
              <a:t>, what is the probability </a:t>
            </a:r>
            <a:r>
              <a:rPr lang="en-US" sz="2000" dirty="0" smtClean="0">
                <a:latin typeface="Arial" panose="020B0604020202020204" pitchFamily="34" charset="0"/>
                <a:cs typeface="Arial" panose="020B0604020202020204" pitchFamily="34" charset="0"/>
              </a:rPr>
              <a:t>that the </a:t>
            </a:r>
            <a:r>
              <a:rPr lang="en-US" sz="2000" dirty="0">
                <a:latin typeface="Arial" panose="020B0604020202020204" pitchFamily="34" charset="0"/>
                <a:cs typeface="Arial" panose="020B0604020202020204" pitchFamily="34" charset="0"/>
              </a:rPr>
              <a:t>person finishes his trip without having to change the battery</a:t>
            </a:r>
            <a:r>
              <a:rPr lang="en-US" sz="2000" dirty="0" smtClean="0">
                <a:latin typeface="Arial" panose="020B0604020202020204" pitchFamily="34" charset="0"/>
                <a:cs typeface="Arial" panose="020B0604020202020204" pitchFamily="34" charset="0"/>
              </a:rPr>
              <a:t>? (ii) After running 1,000 km </a:t>
            </a:r>
            <a:r>
              <a:rPr lang="en-US" sz="2000" dirty="0">
                <a:latin typeface="Arial" panose="020B0604020202020204" pitchFamily="34" charset="0"/>
                <a:cs typeface="Arial" panose="020B0604020202020204" pitchFamily="34" charset="0"/>
              </a:rPr>
              <a:t>without </a:t>
            </a:r>
            <a:r>
              <a:rPr lang="en-US" sz="2000" dirty="0" smtClean="0">
                <a:latin typeface="Arial" panose="020B0604020202020204" pitchFamily="34" charset="0"/>
                <a:cs typeface="Arial" panose="020B0604020202020204" pitchFamily="34" charset="0"/>
              </a:rPr>
              <a:t>any trouble of the battery, the person changes his trip and wants to travel additional 5,000 km, </a:t>
            </a:r>
            <a:r>
              <a:rPr lang="en-US" sz="2000" dirty="0">
                <a:latin typeface="Arial" panose="020B0604020202020204" pitchFamily="34" charset="0"/>
                <a:cs typeface="Arial" panose="020B0604020202020204" pitchFamily="34" charset="0"/>
              </a:rPr>
              <a:t>what is the probability that the person finishes </a:t>
            </a:r>
            <a:r>
              <a:rPr lang="en-US" sz="2000" dirty="0" smtClean="0">
                <a:latin typeface="Arial" panose="020B0604020202020204" pitchFamily="34" charset="0"/>
                <a:cs typeface="Arial" panose="020B0604020202020204" pitchFamily="34" charset="0"/>
              </a:rPr>
              <a:t>his changed-trip </a:t>
            </a:r>
            <a:r>
              <a:rPr lang="en-US" sz="2000" dirty="0">
                <a:latin typeface="Arial" panose="020B0604020202020204" pitchFamily="34" charset="0"/>
                <a:cs typeface="Arial" panose="020B0604020202020204" pitchFamily="34" charset="0"/>
              </a:rPr>
              <a:t>without having to change the battery</a:t>
            </a:r>
            <a:r>
              <a:rPr lang="en-US" sz="2000" dirty="0" smtClean="0">
                <a:latin typeface="Arial" panose="020B0604020202020204" pitchFamily="34" charset="0"/>
                <a:cs typeface="Arial" panose="020B0604020202020204" pitchFamily="34" charset="0"/>
              </a:rPr>
              <a:t>? (iii) Is the answer for part-(</a:t>
            </a:r>
            <a:r>
              <a:rPr lang="en-US" sz="2000" dirty="0" err="1" smtClean="0">
                <a:latin typeface="Arial" panose="020B0604020202020204" pitchFamily="34" charset="0"/>
                <a:cs typeface="Arial" panose="020B0604020202020204" pitchFamily="34" charset="0"/>
              </a:rPr>
              <a:t>i</a:t>
            </a:r>
            <a:r>
              <a:rPr lang="en-US" sz="2000" dirty="0" smtClean="0">
                <a:latin typeface="Arial" panose="020B0604020202020204" pitchFamily="34" charset="0"/>
                <a:cs typeface="Arial" panose="020B0604020202020204" pitchFamily="34" charset="0"/>
              </a:rPr>
              <a:t>) and part-(ii) are same? What is your comment about it. </a:t>
            </a:r>
            <a:endParaRPr lang="en-US" sz="2000" dirty="0">
              <a:latin typeface="Arial" panose="020B0604020202020204" pitchFamily="34" charset="0"/>
              <a:cs typeface="Arial" panose="020B0604020202020204" pitchFamily="34" charset="0"/>
            </a:endParaRPr>
          </a:p>
          <a:p>
            <a:pPr marL="342900" indent="-342900" algn="l">
              <a:lnSpc>
                <a:spcPct val="150000"/>
              </a:lnSpc>
              <a:spcBef>
                <a:spcPts val="600"/>
              </a:spcBef>
              <a:spcAft>
                <a:spcPts val="600"/>
              </a:spcAft>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spcBef>
                <a:spcPts val="600"/>
              </a:spcBef>
              <a:spcAft>
                <a:spcPts val="600"/>
              </a:spcAft>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476536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6708"/>
            <a:ext cx="9144000" cy="605308"/>
          </a:xfrm>
        </p:spPr>
        <p:txBody>
          <a:bodyPr>
            <a:noAutofit/>
          </a:bodyPr>
          <a:lstStyle/>
          <a:p>
            <a:r>
              <a:rPr lang="en-US" sz="2400" b="1" dirty="0" smtClean="0">
                <a:latin typeface="Arial" pitchFamily="34" charset="0"/>
                <a:cs typeface="Arial" pitchFamily="34" charset="0"/>
              </a:rPr>
              <a:t>Exercise (</a:t>
            </a:r>
            <a:r>
              <a:rPr lang="en-US" sz="2400" b="1" dirty="0" err="1" smtClean="0">
                <a:latin typeface="Arial" pitchFamily="34" charset="0"/>
                <a:cs typeface="Arial" pitchFamily="34" charset="0"/>
              </a:rPr>
              <a:t>cont</a:t>
            </a:r>
            <a:r>
              <a:rPr lang="en-US" sz="2400" b="1" dirty="0" smtClean="0">
                <a:latin typeface="Arial" pitchFamily="34" charset="0"/>
                <a:cs typeface="Arial"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833000"/>
                <a:ext cx="10831132" cy="5796400"/>
              </a:xfrm>
            </p:spPr>
            <p:txBody>
              <a:bodyPr>
                <a:noAutofit/>
              </a:bodyPr>
              <a:lstStyle/>
              <a:p>
                <a:pPr marL="285750" indent="-285750" algn="just">
                  <a:lnSpc>
                    <a:spcPct val="10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Problem#13</a:t>
                </a:r>
                <a:r>
                  <a:rPr lang="en-US" sz="2000" dirty="0" smtClean="0">
                    <a:latin typeface="Arial" panose="020B0604020202020204" pitchFamily="34" charset="0"/>
                    <a:cs typeface="Arial" panose="020B0604020202020204" pitchFamily="34" charset="0"/>
                  </a:rPr>
                  <a:t>: Suppose </a:t>
                </a:r>
                <a:r>
                  <a:rPr lang="en-US" sz="2000" dirty="0">
                    <a:latin typeface="Arial" panose="020B0604020202020204" pitchFamily="34" charset="0"/>
                    <a:cs typeface="Arial" panose="020B0604020202020204" pitchFamily="34" charset="0"/>
                  </a:rPr>
                  <a:t>that scores </a:t>
                </a:r>
                <a:r>
                  <a:rPr lang="en-US" sz="2000" dirty="0" smtClean="0">
                    <a:latin typeface="Arial" panose="020B0604020202020204" pitchFamily="34" charset="0"/>
                    <a:cs typeface="Arial" panose="020B0604020202020204" pitchFamily="34" charset="0"/>
                  </a:rPr>
                  <a:t>obtained by the students in a course are </a:t>
                </a:r>
                <a:r>
                  <a:rPr lang="en-US" sz="2000" dirty="0">
                    <a:latin typeface="Arial" panose="020B0604020202020204" pitchFamily="34" charset="0"/>
                    <a:cs typeface="Arial" panose="020B0604020202020204" pitchFamily="34" charset="0"/>
                  </a:rPr>
                  <a:t>normally </a:t>
                </a:r>
                <a:r>
                  <a:rPr lang="en-US" sz="2000" dirty="0" smtClean="0">
                    <a:latin typeface="Arial" panose="020B0604020202020204" pitchFamily="34" charset="0"/>
                    <a:cs typeface="Arial" panose="020B0604020202020204" pitchFamily="34" charset="0"/>
                  </a:rPr>
                  <a:t>distributed </a:t>
                </a:r>
                <a:r>
                  <a:rPr lang="en-US" sz="2000" dirty="0">
                    <a:latin typeface="Arial" panose="020B0604020202020204" pitchFamily="34" charset="0"/>
                    <a:cs typeface="Arial" panose="020B0604020202020204" pitchFamily="34" charset="0"/>
                  </a:rPr>
                  <a:t>with </a:t>
                </a:r>
                <a14:m>
                  <m:oMath xmlns:m="http://schemas.openxmlformats.org/officeDocument/2006/math">
                    <m:r>
                      <a:rPr lang="en-US" sz="2000">
                        <a:latin typeface="Cambria Math" panose="02040503050406030204" pitchFamily="18" charset="0"/>
                        <a:cs typeface="Arial" panose="020B0604020202020204" pitchFamily="34" charset="0"/>
                      </a:rPr>
                      <m:t>𝜇</m:t>
                    </m:r>
                    <m:r>
                      <a:rPr lang="en-US" sz="2000">
                        <a:latin typeface="Cambria Math" panose="02040503050406030204" pitchFamily="18" charset="0"/>
                        <a:cs typeface="Arial" panose="020B0604020202020204" pitchFamily="34" charset="0"/>
                      </a:rPr>
                      <m:t>=60</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a:latin typeface="Cambria Math" panose="02040503050406030204" pitchFamily="18" charset="0"/>
                        <a:cs typeface="Arial" panose="020B0604020202020204" pitchFamily="34" charset="0"/>
                      </a:rPr>
                      <m:t>𝜎</m:t>
                    </m:r>
                    <m:r>
                      <a:rPr lang="en-US" sz="2000">
                        <a:latin typeface="Cambria Math" panose="02040503050406030204" pitchFamily="18" charset="0"/>
                        <a:cs typeface="Arial" panose="020B0604020202020204" pitchFamily="34" charset="0"/>
                      </a:rPr>
                      <m:t>=12</m:t>
                    </m:r>
                  </m:oMath>
                </a14:m>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Find the probability that </a:t>
                </a:r>
                <a:r>
                  <a:rPr lang="en-US" sz="2000" dirty="0" smtClean="0">
                    <a:latin typeface="Arial" panose="020B0604020202020204" pitchFamily="34" charset="0"/>
                    <a:cs typeface="Arial" panose="020B0604020202020204" pitchFamily="34" charset="0"/>
                  </a:rPr>
                  <a:t>any </a:t>
                </a:r>
                <a:r>
                  <a:rPr lang="en-US" sz="2000" dirty="0">
                    <a:latin typeface="Arial" panose="020B0604020202020204" pitchFamily="34" charset="0"/>
                    <a:cs typeface="Arial" panose="020B0604020202020204" pitchFamily="34" charset="0"/>
                  </a:rPr>
                  <a:t>randomly </a:t>
                </a:r>
                <a:r>
                  <a:rPr lang="en-US" sz="2000" dirty="0" smtClean="0">
                    <a:latin typeface="Arial" panose="020B0604020202020204" pitchFamily="34" charset="0"/>
                    <a:cs typeface="Arial" panose="020B0604020202020204" pitchFamily="34" charset="0"/>
                  </a:rPr>
                  <a:t>student has a score </a:t>
                </a:r>
                <a:r>
                  <a:rPr lang="en-US" sz="2000" dirty="0">
                    <a:latin typeface="Arial" panose="020B0604020202020204" pitchFamily="34" charset="0"/>
                    <a:cs typeface="Arial" panose="020B0604020202020204" pitchFamily="34" charset="0"/>
                  </a:rPr>
                  <a:t>at least 82. (ii) what is the probability that any randomly selected </a:t>
                </a:r>
                <a:r>
                  <a:rPr lang="en-US" sz="2000" dirty="0" smtClean="0">
                    <a:latin typeface="Arial" panose="020B0604020202020204" pitchFamily="34" charset="0"/>
                    <a:cs typeface="Arial" panose="020B0604020202020204" pitchFamily="34" charset="0"/>
                  </a:rPr>
                  <a:t>student </a:t>
                </a:r>
                <a:r>
                  <a:rPr lang="en-US" sz="2000" dirty="0">
                    <a:latin typeface="Arial" panose="020B0604020202020204" pitchFamily="34" charset="0"/>
                    <a:cs typeface="Arial" panose="020B0604020202020204" pitchFamily="34" charset="0"/>
                  </a:rPr>
                  <a:t>has a score between 4</a:t>
                </a:r>
                <a:r>
                  <a:rPr lang="en-US" sz="2000" dirty="0" smtClean="0">
                    <a:latin typeface="Arial" panose="020B0604020202020204" pitchFamily="34" charset="0"/>
                    <a:cs typeface="Arial" panose="020B0604020202020204" pitchFamily="34" charset="0"/>
                  </a:rPr>
                  <a:t>0 </a:t>
                </a:r>
                <a:r>
                  <a:rPr lang="en-US" sz="2000" dirty="0">
                    <a:latin typeface="Arial" panose="020B0604020202020204" pitchFamily="34" charset="0"/>
                    <a:cs typeface="Arial" panose="020B0604020202020204" pitchFamily="34" charset="0"/>
                  </a:rPr>
                  <a:t>and </a:t>
                </a:r>
                <a:r>
                  <a:rPr lang="en-US" sz="2000" dirty="0" smtClean="0">
                    <a:latin typeface="Arial" panose="020B0604020202020204" pitchFamily="34" charset="0"/>
                    <a:cs typeface="Arial" panose="020B0604020202020204" pitchFamily="34" charset="0"/>
                  </a:rPr>
                  <a:t>70 </a:t>
                </a:r>
                <a:r>
                  <a:rPr lang="en-US" sz="2000" dirty="0">
                    <a:latin typeface="Arial" panose="020B0604020202020204" pitchFamily="34" charset="0"/>
                    <a:cs typeface="Arial" panose="020B0604020202020204" pitchFamily="34" charset="0"/>
                  </a:rPr>
                  <a:t>(iii) what score defines the 95th percentile of the distribution</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t>
                </a:r>
                <a:r>
                  <a:rPr lang="en-US" sz="2000" dirty="0" smtClean="0">
                    <a:latin typeface="Arial" panose="020B0604020202020204" pitchFamily="34" charset="0"/>
                    <a:cs typeface="Arial" panose="020B0604020202020204" pitchFamily="34" charset="0"/>
                  </a:rPr>
                  <a:t>iv) </a:t>
                </a:r>
                <a:r>
                  <a:rPr lang="en-US" sz="2000" dirty="0">
                    <a:latin typeface="Arial" panose="020B0604020202020204" pitchFamily="34" charset="0"/>
                    <a:cs typeface="Arial" panose="020B0604020202020204" pitchFamily="34" charset="0"/>
                  </a:rPr>
                  <a:t>what score defines the </a:t>
                </a:r>
                <a:r>
                  <a:rPr lang="en-US" sz="2000" dirty="0" smtClean="0">
                    <a:latin typeface="Arial" panose="020B0604020202020204" pitchFamily="34" charset="0"/>
                    <a:cs typeface="Arial" panose="020B0604020202020204" pitchFamily="34" charset="0"/>
                  </a:rPr>
                  <a:t>10th </a:t>
                </a:r>
                <a:r>
                  <a:rPr lang="en-US" sz="2000" dirty="0">
                    <a:latin typeface="Arial" panose="020B0604020202020204" pitchFamily="34" charset="0"/>
                    <a:cs typeface="Arial" panose="020B0604020202020204" pitchFamily="34" charset="0"/>
                  </a:rPr>
                  <a:t>percentile of the distribution</a:t>
                </a:r>
                <a:r>
                  <a:rPr lang="en-US" sz="2000" dirty="0" smtClean="0">
                    <a:latin typeface="Arial" panose="020B0604020202020204" pitchFamily="34" charset="0"/>
                    <a:cs typeface="Arial" panose="020B0604020202020204" pitchFamily="34" charset="0"/>
                  </a:rPr>
                  <a:t>?</a:t>
                </a:r>
              </a:p>
              <a:p>
                <a:pPr marL="285750" indent="-285750" algn="just">
                  <a:lnSpc>
                    <a:spcPct val="10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Problem#14</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 annual commissions earned by sales representatives of a manufacturer of light machinery, follow the normal probability distribution. The mean yearly amount earned is $40,000 and the standard deviation is $5,000. (</a:t>
                </a:r>
                <a:r>
                  <a:rPr lang="en-US" sz="2000" dirty="0" err="1">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What percent of the sales representatives earn more than $42,000 per year? (ii) What percent of the sales representatives earn between $32,000 and $42,000? (iii) What percent of the sales representatives earn between $32,000 and $35,000? (iv) The sales manager wants to award the sales representatives who earn the largest commissions a bonus of $1,000. He can award a bonus to 20 percent of the representatives. What is the cutoff point between those who earn a bonus and those who do not? </a:t>
                </a:r>
              </a:p>
              <a:p>
                <a:pPr marL="342900" indent="-342900" algn="just">
                  <a:lnSpc>
                    <a:spcPct val="150000"/>
                  </a:lnSpc>
                  <a:spcBef>
                    <a:spcPts val="600"/>
                  </a:spcBef>
                  <a:spcAft>
                    <a:spcPts val="600"/>
                  </a:spcAft>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833000"/>
                <a:ext cx="10831132" cy="5796400"/>
              </a:xfrm>
              <a:blipFill rotWithShape="0">
                <a:blip r:embed="rId2"/>
                <a:stretch>
                  <a:fillRect l="-506" t="-526" r="-563"/>
                </a:stretch>
              </a:blipFill>
            </p:spPr>
            <p:txBody>
              <a:bodyPr/>
              <a:lstStyle/>
              <a:p>
                <a:r>
                  <a:rPr lang="en-US">
                    <a:noFill/>
                  </a:rPr>
                  <a:t> </a:t>
                </a:r>
              </a:p>
            </p:txBody>
          </p:sp>
        </mc:Fallback>
      </mc:AlternateContent>
    </p:spTree>
    <p:extLst>
      <p:ext uri="{BB962C8B-B14F-4D97-AF65-F5344CB8AC3E}">
        <p14:creationId xmlns:p14="http://schemas.microsoft.com/office/powerpoint/2010/main" val="315451162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2913</TotalTime>
  <Words>2483</Words>
  <Application>Microsoft Office PowerPoint</Application>
  <PresentationFormat>Widescreen</PresentationFormat>
  <Paragraphs>204</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Calibri Light</vt:lpstr>
      <vt:lpstr>Cambria Math</vt:lpstr>
      <vt:lpstr>Wingdings</vt:lpstr>
      <vt:lpstr>Office Theme</vt:lpstr>
      <vt:lpstr>COURSE TITLE: : Statistics and Probability COURSE CODE: STA 102 Topics: Some Special Probability Distributions</vt:lpstr>
      <vt:lpstr>The Binomial Distribution</vt:lpstr>
      <vt:lpstr>The Binomial Distribution (Cont…)</vt:lpstr>
      <vt:lpstr>The Binomial Distribution (Cont…)</vt:lpstr>
      <vt:lpstr>The Binomial Distribution (Cont…)</vt:lpstr>
      <vt:lpstr>Binomial Distribution (cont…)</vt:lpstr>
      <vt:lpstr>Binomial Distribution (cont…)</vt:lpstr>
      <vt:lpstr>Poisson Distribution</vt:lpstr>
      <vt:lpstr>Poisson Distribution</vt:lpstr>
      <vt:lpstr>The Poisson Distribution (cont…)</vt:lpstr>
      <vt:lpstr>The Poisson Distribution (Cont…)</vt:lpstr>
      <vt:lpstr>Poisson Distribution (cont…)</vt:lpstr>
      <vt:lpstr>Poisson Distribution (cont…)</vt:lpstr>
      <vt:lpstr>Poisson Distribution (cont…)</vt:lpstr>
      <vt:lpstr>Continuous Uniform Distribution</vt:lpstr>
      <vt:lpstr>Continuous Uniform Distribution (cont…)</vt:lpstr>
      <vt:lpstr>Exponential Distribution</vt:lpstr>
      <vt:lpstr>Continuous Uniform Distribution (cont…)</vt:lpstr>
      <vt:lpstr>Normal Distribution</vt:lpstr>
      <vt:lpstr>Normal Distribution (cont…)</vt:lpstr>
      <vt:lpstr>Standard Normal Distribution</vt:lpstr>
      <vt:lpstr>Computing Probability from Normal Distribution</vt:lpstr>
      <vt:lpstr>Problem on Normal Distribution</vt:lpstr>
      <vt:lpstr>Example (Cont…)</vt:lpstr>
      <vt:lpstr>Example (Cont…)</vt:lpstr>
      <vt:lpstr>Problem on Normal Distribution</vt:lpstr>
      <vt:lpstr>Exercise</vt:lpstr>
      <vt:lpstr>Exercise (cont…)</vt:lpstr>
      <vt:lpstr>Exercise (cont…)</vt:lpstr>
      <vt:lpstr>Exercise (cont…)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Session-04</dc:title>
  <dc:creator>mitu</dc:creator>
  <cp:lastModifiedBy>Statistics</cp:lastModifiedBy>
  <cp:revision>371</cp:revision>
  <dcterms:created xsi:type="dcterms:W3CDTF">2018-02-23T02:59:54Z</dcterms:created>
  <dcterms:modified xsi:type="dcterms:W3CDTF">2025-11-15T14:08:46Z</dcterms:modified>
</cp:coreProperties>
</file>