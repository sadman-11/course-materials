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36"/>
  </p:notesMasterIdLst>
  <p:sldIdLst>
    <p:sldId id="354" r:id="rId2"/>
    <p:sldId id="355" r:id="rId3"/>
    <p:sldId id="356" r:id="rId4"/>
    <p:sldId id="357" r:id="rId5"/>
    <p:sldId id="358" r:id="rId6"/>
    <p:sldId id="359" r:id="rId7"/>
    <p:sldId id="360" r:id="rId8"/>
    <p:sldId id="361" r:id="rId9"/>
    <p:sldId id="362" r:id="rId10"/>
    <p:sldId id="363" r:id="rId11"/>
    <p:sldId id="364" r:id="rId12"/>
    <p:sldId id="365" r:id="rId13"/>
    <p:sldId id="366" r:id="rId14"/>
    <p:sldId id="367" r:id="rId15"/>
    <p:sldId id="368" r:id="rId16"/>
    <p:sldId id="369" r:id="rId17"/>
    <p:sldId id="370" r:id="rId18"/>
    <p:sldId id="371" r:id="rId19"/>
    <p:sldId id="372" r:id="rId20"/>
    <p:sldId id="373" r:id="rId21"/>
    <p:sldId id="374" r:id="rId22"/>
    <p:sldId id="375" r:id="rId23"/>
    <p:sldId id="376" r:id="rId24"/>
    <p:sldId id="377" r:id="rId25"/>
    <p:sldId id="378" r:id="rId26"/>
    <p:sldId id="379" r:id="rId27"/>
    <p:sldId id="380" r:id="rId28"/>
    <p:sldId id="381" r:id="rId29"/>
    <p:sldId id="382" r:id="rId30"/>
    <p:sldId id="383" r:id="rId31"/>
    <p:sldId id="353" r:id="rId32"/>
    <p:sldId id="384" r:id="rId33"/>
    <p:sldId id="385" r:id="rId34"/>
    <p:sldId id="28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18"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0B186-27FF-45C1-9A94-5D2DFEE2F58F}" type="datetimeFigureOut">
              <a:rPr lang="en-US" smtClean="0"/>
              <a:t>19/10/2025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C7E12-A643-4540-A7C7-B065AF7B49F6}" type="slidenum">
              <a:rPr lang="en-US" smtClean="0"/>
              <a:t>‹#›</a:t>
            </a:fld>
            <a:endParaRPr lang="en-US"/>
          </a:p>
        </p:txBody>
      </p:sp>
    </p:spTree>
    <p:extLst>
      <p:ext uri="{BB962C8B-B14F-4D97-AF65-F5344CB8AC3E}">
        <p14:creationId xmlns:p14="http://schemas.microsoft.com/office/powerpoint/2010/main" val="3958203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97916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786048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795539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951317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607939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485994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397187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991195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3733687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865993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E9BE1E-5F2D-465B-B7AA-A3F35EC386BE}" type="datetimeFigureOut">
              <a:rPr lang="en-US" smtClean="0"/>
              <a:pPr/>
              <a:t>19/10/2025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42129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E9BE1E-5F2D-465B-B7AA-A3F35EC386BE}" type="datetimeFigureOut">
              <a:rPr lang="en-US" smtClean="0"/>
              <a:pPr/>
              <a:t>19/10/2025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8553F-0502-40B5-88F7-0911625DF834}" type="slidenum">
              <a:rPr lang="en-US" smtClean="0"/>
              <a:pPr/>
              <a:t>‹#›</a:t>
            </a:fld>
            <a:endParaRPr lang="en-US"/>
          </a:p>
        </p:txBody>
      </p:sp>
    </p:spTree>
    <p:extLst>
      <p:ext uri="{BB962C8B-B14F-4D97-AF65-F5344CB8AC3E}">
        <p14:creationId xmlns:p14="http://schemas.microsoft.com/office/powerpoint/2010/main" val="278332729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047" y="399246"/>
            <a:ext cx="10183906" cy="2034672"/>
          </a:xfrm>
        </p:spPr>
        <p:txBody>
          <a:bodyPr>
            <a:noAutofit/>
          </a:bodyPr>
          <a:lstStyle/>
          <a:p>
            <a:pPr>
              <a:lnSpc>
                <a:spcPct val="150000"/>
              </a:lnSpc>
            </a:pPr>
            <a:r>
              <a:rPr lang="en-US" sz="3000" b="1" dirty="0">
                <a:latin typeface="Arial" panose="020B0604020202020204" pitchFamily="34" charset="0"/>
                <a:cs typeface="Arial" panose="020B0604020202020204" pitchFamily="34" charset="0"/>
              </a:rPr>
              <a:t>COURSE TITLE: </a:t>
            </a:r>
            <a:r>
              <a:rPr lang="en-US" sz="3200" b="1" dirty="0" smtClean="0"/>
              <a:t>: Statistics </a:t>
            </a:r>
            <a:r>
              <a:rPr lang="en-US" sz="2800" b="1" dirty="0" smtClean="0"/>
              <a:t>and </a:t>
            </a:r>
            <a:r>
              <a:rPr lang="en-US" sz="2800" b="1" dirty="0"/>
              <a:t>Probability</a:t>
            </a:r>
            <a:r>
              <a:rPr lang="en-US" sz="3000" dirty="0">
                <a:latin typeface="Arial" panose="020B0604020202020204" pitchFamily="34" charset="0"/>
                <a:cs typeface="Arial" panose="020B0604020202020204" pitchFamily="34" charset="0"/>
              </a:rPr>
              <a:t/>
            </a:r>
            <a:br>
              <a:rPr lang="en-US" sz="3000" dirty="0">
                <a:latin typeface="Arial" panose="020B0604020202020204" pitchFamily="34" charset="0"/>
                <a:cs typeface="Arial" panose="020B0604020202020204" pitchFamily="34" charset="0"/>
              </a:rPr>
            </a:br>
            <a:r>
              <a:rPr lang="en-US" sz="3000" b="1" dirty="0">
                <a:latin typeface="Arial" panose="020B0604020202020204" pitchFamily="34" charset="0"/>
                <a:cs typeface="Arial" panose="020B0604020202020204" pitchFamily="34" charset="0"/>
              </a:rPr>
              <a:t>COURSE CODE: </a:t>
            </a:r>
            <a:r>
              <a:rPr lang="en-US" sz="3000" dirty="0" smtClean="0">
                <a:latin typeface="Arial" panose="020B0604020202020204" pitchFamily="34" charset="0"/>
                <a:cs typeface="Arial" panose="020B0604020202020204" pitchFamily="34" charset="0"/>
              </a:rPr>
              <a:t>STA </a:t>
            </a:r>
            <a:r>
              <a:rPr lang="en-US" sz="3000" dirty="0" smtClean="0">
                <a:latin typeface="Arial" panose="020B0604020202020204" pitchFamily="34" charset="0"/>
                <a:cs typeface="Arial" panose="020B0604020202020204" pitchFamily="34" charset="0"/>
              </a:rPr>
              <a:t>102</a:t>
            </a:r>
            <a:br>
              <a:rPr lang="en-US" sz="3000" dirty="0" smtClean="0">
                <a:latin typeface="Arial" panose="020B0604020202020204" pitchFamily="34" charset="0"/>
                <a:cs typeface="Arial" panose="020B0604020202020204" pitchFamily="34" charset="0"/>
              </a:rPr>
            </a:br>
            <a:r>
              <a:rPr lang="en-US" sz="3600" b="1" dirty="0">
                <a:latin typeface="Arial" panose="020B0604020202020204" pitchFamily="34" charset="0"/>
                <a:cs typeface="Arial" panose="020B0604020202020204" pitchFamily="34" charset="0"/>
              </a:rPr>
              <a:t>Topics:</a:t>
            </a:r>
            <a:r>
              <a:rPr lang="en-US" sz="3600" dirty="0">
                <a:solidFill>
                  <a:srgbClr val="000000"/>
                </a:solidFill>
                <a:latin typeface="Calibri" panose="020B0604020202020204" pitchFamily="34" charset="0"/>
                <a:cs typeface="Arial" panose="020B0604020202020204" pitchFamily="34" charset="0"/>
              </a:rPr>
              <a:t> </a:t>
            </a:r>
            <a:r>
              <a:rPr lang="en-US" sz="3200" b="1" dirty="0"/>
              <a:t>Numerical Measures: Measures of </a:t>
            </a:r>
            <a:r>
              <a:rPr lang="en-US" sz="3200" b="1" dirty="0" smtClean="0"/>
              <a:t>Dispersion</a:t>
            </a:r>
            <a:endParaRPr lang="en-US" sz="30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524000" y="3061126"/>
            <a:ext cx="9144000" cy="1655762"/>
          </a:xfrm>
        </p:spPr>
        <p:txBody>
          <a:bodyPr>
            <a:normAutofit fontScale="77500" lnSpcReduction="20000"/>
          </a:bodyPr>
          <a:lstStyle/>
          <a:p>
            <a:pPr>
              <a:lnSpc>
                <a:spcPct val="120000"/>
              </a:lnSpc>
            </a:pPr>
            <a:r>
              <a:rPr lang="en-US" dirty="0" smtClean="0">
                <a:latin typeface="Arial" panose="020B0604020202020204" pitchFamily="34" charset="0"/>
                <a:cs typeface="Arial" panose="020B0604020202020204" pitchFamily="34" charset="0"/>
              </a:rPr>
              <a:t>Instructor: Md. </a:t>
            </a:r>
            <a:r>
              <a:rPr lang="en-US" dirty="0" err="1" smtClean="0">
                <a:latin typeface="Arial" panose="020B0604020202020204" pitchFamily="34" charset="0"/>
                <a:cs typeface="Arial" panose="020B0604020202020204" pitchFamily="34" charset="0"/>
              </a:rPr>
              <a:t>Ershadul</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Haque</a:t>
            </a:r>
            <a:r>
              <a:rPr lang="en-US" dirty="0" smtClean="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PhD</a:t>
            </a:r>
          </a:p>
          <a:p>
            <a:pPr>
              <a:lnSpc>
                <a:spcPct val="120000"/>
              </a:lnSpc>
            </a:pPr>
            <a:r>
              <a:rPr lang="en-US" dirty="0" smtClean="0">
                <a:latin typeface="Arial" panose="020B0604020202020204" pitchFamily="34" charset="0"/>
                <a:cs typeface="Arial" panose="020B0604020202020204" pitchFamily="34" charset="0"/>
              </a:rPr>
              <a:t>Professor, Department of Statistics, DU</a:t>
            </a:r>
          </a:p>
          <a:p>
            <a:pPr>
              <a:lnSpc>
                <a:spcPct val="120000"/>
              </a:lnSpc>
            </a:pPr>
            <a:r>
              <a:rPr lang="en-US" dirty="0" smtClean="0">
                <a:latin typeface="Arial" panose="020B0604020202020204" pitchFamily="34" charset="0"/>
                <a:cs typeface="Arial" panose="020B0604020202020204" pitchFamily="34" charset="0"/>
              </a:rPr>
              <a:t>&amp;</a:t>
            </a:r>
            <a:endParaRPr lang="en-US" dirty="0" smtClean="0">
              <a:latin typeface="Arial" panose="020B0604020202020204" pitchFamily="34" charset="0"/>
              <a:cs typeface="Arial" panose="020B0604020202020204" pitchFamily="34" charset="0"/>
            </a:endParaRPr>
          </a:p>
          <a:p>
            <a:pPr>
              <a:lnSpc>
                <a:spcPct val="120000"/>
              </a:lnSpc>
            </a:pPr>
            <a:r>
              <a:rPr lang="en-US" dirty="0" smtClean="0">
                <a:latin typeface="Arial" panose="020B0604020202020204" pitchFamily="34" charset="0"/>
                <a:cs typeface="Arial" panose="020B0604020202020204" pitchFamily="34" charset="0"/>
              </a:rPr>
              <a:t>Adjunct Faculty, EWU, Bangladesh</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9918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Measures of Dispersion </a:t>
            </a:r>
            <a:endParaRPr lang="en-US" sz="24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l">
              <a:lnSpc>
                <a:spcPct val="150000"/>
              </a:lnSpc>
              <a:buFont typeface="Arial" panose="020B0604020202020204" pitchFamily="34" charset="0"/>
              <a:buChar char="•"/>
            </a:pPr>
            <a:r>
              <a:rPr lang="en-US" sz="2300" dirty="0" smtClean="0">
                <a:latin typeface="Arial" panose="020B0604020202020204" pitchFamily="34" charset="0"/>
                <a:cs typeface="Arial" panose="020B0604020202020204" pitchFamily="34" charset="0"/>
              </a:rPr>
              <a:t>The </a:t>
            </a:r>
            <a:r>
              <a:rPr lang="en-US" sz="2300" dirty="0">
                <a:latin typeface="Arial" panose="020B0604020202020204" pitchFamily="34" charset="0"/>
                <a:cs typeface="Arial" panose="020B0604020202020204" pitchFamily="34" charset="0"/>
              </a:rPr>
              <a:t>measurement of </a:t>
            </a:r>
            <a:r>
              <a:rPr lang="en-US" sz="2300" dirty="0" err="1">
                <a:latin typeface="Arial" panose="020B0604020202020204" pitchFamily="34" charset="0"/>
                <a:cs typeface="Arial" panose="020B0604020202020204" pitchFamily="34" charset="0"/>
              </a:rPr>
              <a:t>scatteredness</a:t>
            </a:r>
            <a:r>
              <a:rPr lang="en-US" sz="2300" dirty="0">
                <a:latin typeface="Arial" panose="020B0604020202020204" pitchFamily="34" charset="0"/>
                <a:cs typeface="Arial" panose="020B0604020202020204" pitchFamily="34" charset="0"/>
              </a:rPr>
              <a:t> of the values </a:t>
            </a:r>
            <a:r>
              <a:rPr lang="en-US" sz="2300" dirty="0" smtClean="0">
                <a:latin typeface="Arial" panose="020B0604020202020204" pitchFamily="34" charset="0"/>
                <a:cs typeface="Arial" panose="020B0604020202020204" pitchFamily="34" charset="0"/>
              </a:rPr>
              <a:t>in </a:t>
            </a:r>
            <a:r>
              <a:rPr lang="en-US" sz="2300" dirty="0">
                <a:latin typeface="Arial" panose="020B0604020202020204" pitchFamily="34" charset="0"/>
                <a:cs typeface="Arial" panose="020B0604020202020204" pitchFamily="34" charset="0"/>
              </a:rPr>
              <a:t>a </a:t>
            </a:r>
            <a:r>
              <a:rPr lang="en-US" sz="2300" dirty="0" smtClean="0">
                <a:latin typeface="Arial" panose="020B0604020202020204" pitchFamily="34" charset="0"/>
                <a:cs typeface="Arial" panose="020B0604020202020204" pitchFamily="34" charset="0"/>
              </a:rPr>
              <a:t>dataset </a:t>
            </a:r>
            <a:r>
              <a:rPr lang="en-US" sz="2300" dirty="0">
                <a:latin typeface="Arial" panose="020B0604020202020204" pitchFamily="34" charset="0"/>
                <a:cs typeface="Arial" panose="020B0604020202020204" pitchFamily="34" charset="0"/>
              </a:rPr>
              <a:t>is called a </a:t>
            </a:r>
            <a:r>
              <a:rPr lang="en-US" sz="2300" b="1" i="1" dirty="0">
                <a:latin typeface="Arial" panose="020B0604020202020204" pitchFamily="34" charset="0"/>
                <a:cs typeface="Arial" panose="020B0604020202020204" pitchFamily="34" charset="0"/>
              </a:rPr>
              <a:t>measure of dispersion</a:t>
            </a:r>
            <a:r>
              <a:rPr lang="en-US" sz="2300" dirty="0">
                <a:latin typeface="Arial" panose="020B0604020202020204" pitchFamily="34" charset="0"/>
                <a:cs typeface="Arial" panose="020B0604020202020204" pitchFamily="34" charset="0"/>
              </a:rPr>
              <a:t> or </a:t>
            </a:r>
            <a:r>
              <a:rPr lang="en-US" sz="2300" b="1" i="1" dirty="0">
                <a:latin typeface="Arial" panose="020B0604020202020204" pitchFamily="34" charset="0"/>
                <a:cs typeface="Arial" panose="020B0604020202020204" pitchFamily="34" charset="0"/>
              </a:rPr>
              <a:t>measure of variation</a:t>
            </a:r>
            <a:r>
              <a:rPr lang="en-US" sz="2300" b="1" i="1" dirty="0" smtClean="0">
                <a:latin typeface="Arial" panose="020B0604020202020204" pitchFamily="34" charset="0"/>
                <a:cs typeface="Arial" panose="020B0604020202020204" pitchFamily="34" charset="0"/>
              </a:rPr>
              <a:t>.</a:t>
            </a:r>
          </a:p>
          <a:p>
            <a:pPr marL="342900" indent="-342900" algn="l">
              <a:lnSpc>
                <a:spcPct val="150000"/>
              </a:lnSpc>
              <a:buFont typeface="Arial" panose="020B0604020202020204" pitchFamily="34" charset="0"/>
              <a:buChar char="•"/>
            </a:pPr>
            <a:r>
              <a:rPr lang="en-US" sz="2300" dirty="0" smtClean="0">
                <a:latin typeface="Arial" panose="020B0604020202020204" pitchFamily="34" charset="0"/>
                <a:cs typeface="Arial" panose="020B0604020202020204" pitchFamily="34" charset="0"/>
              </a:rPr>
              <a:t>A </a:t>
            </a:r>
            <a:r>
              <a:rPr lang="en-US" sz="2300" dirty="0">
                <a:latin typeface="Arial" panose="020B0604020202020204" pitchFamily="34" charset="0"/>
                <a:cs typeface="Arial" panose="020B0604020202020204" pitchFamily="34" charset="0"/>
              </a:rPr>
              <a:t>measure of dispersion is a numerical value that indicates the degree to which the observations in a dataset differ from one another or from a measure of central tendency (mean, median, or mode</a:t>
            </a:r>
            <a:r>
              <a:rPr lang="en-US" sz="2300" dirty="0" smtClean="0">
                <a:latin typeface="Arial" panose="020B0604020202020204" pitchFamily="34" charset="0"/>
                <a:cs typeface="Arial" panose="020B0604020202020204" pitchFamily="34" charset="0"/>
              </a:rPr>
              <a:t>).</a:t>
            </a:r>
            <a:endParaRPr lang="en-US" sz="2300" dirty="0">
              <a:latin typeface="Arial" panose="020B0604020202020204" pitchFamily="34" charset="0"/>
              <a:cs typeface="Arial" panose="020B0604020202020204" pitchFamily="34" charset="0"/>
            </a:endParaRPr>
          </a:p>
          <a:p>
            <a:pPr marL="800100" lvl="1" indent="-342900" algn="l">
              <a:lnSpc>
                <a:spcPct val="150000"/>
              </a:lnSpc>
              <a:buFont typeface="Wingdings" panose="05000000000000000000" pitchFamily="2" charset="2"/>
              <a:buChar char="ü"/>
            </a:pPr>
            <a:r>
              <a:rPr lang="en-US" sz="2300" dirty="0" smtClean="0">
                <a:latin typeface="Arial" panose="020B0604020202020204" pitchFamily="34" charset="0"/>
                <a:cs typeface="Arial" panose="020B0604020202020204" pitchFamily="34" charset="0"/>
              </a:rPr>
              <a:t>It </a:t>
            </a:r>
            <a:r>
              <a:rPr lang="en-US" sz="2300" dirty="0">
                <a:latin typeface="Arial" panose="020B0604020202020204" pitchFamily="34" charset="0"/>
                <a:cs typeface="Arial" panose="020B0604020202020204" pitchFamily="34" charset="0"/>
              </a:rPr>
              <a:t>represents how far the data values spread out from the </a:t>
            </a:r>
            <a:r>
              <a:rPr lang="en-US" sz="2300" dirty="0" smtClean="0">
                <a:latin typeface="Arial" panose="020B0604020202020204" pitchFamily="34" charset="0"/>
                <a:cs typeface="Arial" panose="020B0604020202020204" pitchFamily="34" charset="0"/>
              </a:rPr>
              <a:t>center.</a:t>
            </a:r>
          </a:p>
          <a:p>
            <a:pPr marL="800100" lvl="1" indent="-342900" algn="l">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Since it is </a:t>
            </a:r>
            <a:r>
              <a:rPr lang="en-US" sz="2300" dirty="0" smtClean="0">
                <a:latin typeface="Arial" panose="020B0604020202020204" pitchFamily="34" charset="0"/>
                <a:cs typeface="Arial" panose="020B0604020202020204" pitchFamily="34" charset="0"/>
              </a:rPr>
              <a:t>(based </a:t>
            </a:r>
            <a:r>
              <a:rPr lang="en-US" sz="2300" dirty="0">
                <a:latin typeface="Arial" panose="020B0604020202020204" pitchFamily="34" charset="0"/>
                <a:cs typeface="Arial" panose="020B0604020202020204" pitchFamily="34" charset="0"/>
              </a:rPr>
              <a:t>on </a:t>
            </a:r>
            <a:r>
              <a:rPr lang="en-US" sz="2300" dirty="0" smtClean="0">
                <a:latin typeface="Arial" panose="020B0604020202020204" pitchFamily="34" charset="0"/>
                <a:cs typeface="Arial" panose="020B0604020202020204" pitchFamily="34" charset="0"/>
              </a:rPr>
              <a:t>distance) a distance measure, </a:t>
            </a:r>
            <a:r>
              <a:rPr lang="en-US" sz="2300" dirty="0">
                <a:latin typeface="Arial" panose="020B0604020202020204" pitchFamily="34" charset="0"/>
                <a:cs typeface="Arial" panose="020B0604020202020204" pitchFamily="34" charset="0"/>
              </a:rPr>
              <a:t>it cannot be </a:t>
            </a:r>
            <a:r>
              <a:rPr lang="en-US" sz="2300" dirty="0" smtClean="0">
                <a:latin typeface="Arial" panose="020B0604020202020204" pitchFamily="34" charset="0"/>
                <a:cs typeface="Arial" panose="020B0604020202020204" pitchFamily="34" charset="0"/>
              </a:rPr>
              <a:t>negative.</a:t>
            </a:r>
          </a:p>
          <a:p>
            <a:pPr marL="800100" lvl="1" indent="-342900" algn="l">
              <a:lnSpc>
                <a:spcPct val="150000"/>
              </a:lnSpc>
              <a:buFont typeface="Wingdings" panose="05000000000000000000" pitchFamily="2" charset="2"/>
              <a:buChar char="ü"/>
            </a:pPr>
            <a:r>
              <a:rPr lang="en-US" sz="2300" dirty="0" smtClean="0">
                <a:latin typeface="Arial" panose="020B0604020202020204" pitchFamily="34" charset="0"/>
                <a:cs typeface="Arial" panose="020B0604020202020204" pitchFamily="34" charset="0"/>
              </a:rPr>
              <a:t>It </a:t>
            </a:r>
            <a:r>
              <a:rPr lang="en-US" sz="2300" dirty="0">
                <a:latin typeface="Arial" panose="020B0604020202020204" pitchFamily="34" charset="0"/>
                <a:cs typeface="Arial" panose="020B0604020202020204" pitchFamily="34" charset="0"/>
              </a:rPr>
              <a:t>becomes zero when there is no spread at all, i.e., when all values are identical</a:t>
            </a:r>
            <a:r>
              <a:rPr lang="en-US" sz="2300" dirty="0" smtClean="0">
                <a:latin typeface="Arial" panose="020B0604020202020204" pitchFamily="34" charset="0"/>
                <a:cs typeface="Arial" panose="020B0604020202020204" pitchFamily="34" charset="0"/>
              </a:rPr>
              <a:t>.</a:t>
            </a:r>
            <a:endParaRPr lang="en-US" sz="2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9040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Measures of Dispersion </a:t>
            </a:r>
            <a:endParaRPr lang="en-US" sz="24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300" b="1" dirty="0" smtClean="0">
                <a:latin typeface="Arial" panose="020B0604020202020204" pitchFamily="34" charset="0"/>
                <a:cs typeface="Arial" panose="020B0604020202020204" pitchFamily="34" charset="0"/>
              </a:rPr>
              <a:t>Necessity</a:t>
            </a:r>
            <a:r>
              <a:rPr lang="en-US" sz="2300" dirty="0" smtClean="0">
                <a:latin typeface="Arial" panose="020B0604020202020204" pitchFamily="34" charset="0"/>
                <a:cs typeface="Arial" panose="020B0604020202020204" pitchFamily="34" charset="0"/>
              </a:rPr>
              <a:t>: A measure </a:t>
            </a:r>
            <a:r>
              <a:rPr lang="en-US" sz="2300" dirty="0">
                <a:latin typeface="Arial" panose="020B0604020202020204" pitchFamily="34" charset="0"/>
                <a:cs typeface="Arial" panose="020B0604020202020204" pitchFamily="34" charset="0"/>
              </a:rPr>
              <a:t>of central value </a:t>
            </a:r>
            <a:r>
              <a:rPr lang="en-US" sz="2300" dirty="0" smtClean="0">
                <a:latin typeface="Arial" panose="020B0604020202020204" pitchFamily="34" charset="0"/>
                <a:cs typeface="Arial" panose="020B0604020202020204" pitchFamily="34" charset="0"/>
              </a:rPr>
              <a:t>(average) alone </a:t>
            </a:r>
            <a:r>
              <a:rPr lang="en-US" sz="2300" dirty="0">
                <a:latin typeface="Arial" panose="020B0604020202020204" pitchFamily="34" charset="0"/>
                <a:cs typeface="Arial" panose="020B0604020202020204" pitchFamily="34" charset="0"/>
              </a:rPr>
              <a:t>cannot adequately describe a set of </a:t>
            </a:r>
            <a:r>
              <a:rPr lang="en-US" sz="2300" dirty="0" smtClean="0">
                <a:latin typeface="Arial" panose="020B0604020202020204" pitchFamily="34" charset="0"/>
                <a:cs typeface="Arial" panose="020B0604020202020204" pitchFamily="34" charset="0"/>
              </a:rPr>
              <a:t>observations (</a:t>
            </a:r>
            <a:r>
              <a:rPr lang="en-US" sz="2300" dirty="0">
                <a:latin typeface="Arial" panose="020B0604020202020204" pitchFamily="34" charset="0"/>
                <a:cs typeface="Arial" panose="020B0604020202020204" pitchFamily="34" charset="0"/>
              </a:rPr>
              <a:t>t</a:t>
            </a:r>
            <a:r>
              <a:rPr lang="en-US" sz="2300" dirty="0" smtClean="0">
                <a:latin typeface="Arial" panose="020B0604020202020204" pitchFamily="34" charset="0"/>
                <a:cs typeface="Arial" panose="020B0604020202020204" pitchFamily="34" charset="0"/>
              </a:rPr>
              <a:t>wo </a:t>
            </a:r>
            <a:r>
              <a:rPr lang="en-US" sz="2300" dirty="0">
                <a:latin typeface="Arial" panose="020B0604020202020204" pitchFamily="34" charset="0"/>
                <a:cs typeface="Arial" panose="020B0604020202020204" pitchFamily="34" charset="0"/>
              </a:rPr>
              <a:t>datasets may have the same mean but very different spreads</a:t>
            </a:r>
            <a:r>
              <a:rPr lang="en-US" sz="2300" dirty="0" smtClean="0">
                <a:latin typeface="Arial" panose="020B0604020202020204" pitchFamily="34" charset="0"/>
                <a:cs typeface="Arial" panose="020B0604020202020204" pitchFamily="34" charset="0"/>
              </a:rPr>
              <a:t>). Furthermore, It fails </a:t>
            </a:r>
            <a:r>
              <a:rPr lang="en-US" sz="2300" dirty="0">
                <a:latin typeface="Arial" panose="020B0604020202020204" pitchFamily="34" charset="0"/>
                <a:cs typeface="Arial" panose="020B0604020202020204" pitchFamily="34" charset="0"/>
              </a:rPr>
              <a:t>to give us any idea about the formulation of the data sets. For this reason, it is necessary to study the dispersion (variability) along with average for describing a </a:t>
            </a:r>
            <a:r>
              <a:rPr lang="en-US" sz="2300" dirty="0" smtClean="0">
                <a:latin typeface="Arial" panose="020B0604020202020204" pitchFamily="34" charset="0"/>
                <a:cs typeface="Arial" panose="020B0604020202020204" pitchFamily="34" charset="0"/>
              </a:rPr>
              <a:t>dataset. For example: consider </a:t>
            </a:r>
            <a:r>
              <a:rPr lang="en-US" sz="2300" b="1" i="1" dirty="0">
                <a:latin typeface="Arial" panose="020B0604020202020204" pitchFamily="34" charset="0"/>
                <a:cs typeface="Arial" panose="020B0604020202020204" pitchFamily="34" charset="0"/>
              </a:rPr>
              <a:t>Dataset A</a:t>
            </a:r>
            <a:r>
              <a:rPr lang="en-US" sz="2300" dirty="0">
                <a:latin typeface="Arial" panose="020B0604020202020204" pitchFamily="34" charset="0"/>
                <a:cs typeface="Arial" panose="020B0604020202020204" pitchFamily="34" charset="0"/>
              </a:rPr>
              <a:t>: [4, 5, 5, 6] &amp; </a:t>
            </a:r>
            <a:r>
              <a:rPr lang="en-US" sz="2300" b="1" i="1" dirty="0">
                <a:latin typeface="Arial" panose="020B0604020202020204" pitchFamily="34" charset="0"/>
                <a:cs typeface="Arial" panose="020B0604020202020204" pitchFamily="34" charset="0"/>
              </a:rPr>
              <a:t>Dataset B</a:t>
            </a:r>
            <a:r>
              <a:rPr lang="en-US" sz="2300" dirty="0">
                <a:latin typeface="Arial" panose="020B0604020202020204" pitchFamily="34" charset="0"/>
                <a:cs typeface="Arial" panose="020B0604020202020204" pitchFamily="34" charset="0"/>
              </a:rPr>
              <a:t>: [1, 3, 5, </a:t>
            </a:r>
            <a:r>
              <a:rPr lang="en-US" sz="2300" dirty="0" smtClean="0">
                <a:latin typeface="Arial" panose="020B0604020202020204" pitchFamily="34" charset="0"/>
                <a:cs typeface="Arial" panose="020B0604020202020204" pitchFamily="34" charset="0"/>
              </a:rPr>
              <a:t>11]</a:t>
            </a:r>
            <a:endParaRPr lang="en-US" sz="23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Both have a </a:t>
            </a:r>
            <a:r>
              <a:rPr lang="en-US" sz="2300" b="1" i="1" dirty="0">
                <a:latin typeface="Arial" panose="020B0604020202020204" pitchFamily="34" charset="0"/>
                <a:cs typeface="Arial" panose="020B0604020202020204" pitchFamily="34" charset="0"/>
              </a:rPr>
              <a:t>mean of 5</a:t>
            </a:r>
            <a:r>
              <a:rPr lang="en-US" sz="2300" dirty="0">
                <a:latin typeface="Arial" panose="020B0604020202020204" pitchFamily="34" charset="0"/>
                <a:cs typeface="Arial" panose="020B0604020202020204" pitchFamily="34" charset="0"/>
              </a:rPr>
              <a:t>, but:</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Dataset A's values are tightly packed around 5.</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Dataset B's values are more </a:t>
            </a:r>
            <a:r>
              <a:rPr lang="en-US" sz="2300" b="1" i="1" dirty="0">
                <a:latin typeface="Arial" panose="020B0604020202020204" pitchFamily="34" charset="0"/>
                <a:cs typeface="Arial" panose="020B0604020202020204" pitchFamily="34" charset="0"/>
              </a:rPr>
              <a:t>spread out</a:t>
            </a:r>
            <a:r>
              <a:rPr lang="en-US" sz="2300" dirty="0">
                <a:latin typeface="Arial" panose="020B0604020202020204" pitchFamily="34" charset="0"/>
                <a:cs typeface="Arial" panose="020B0604020202020204" pitchFamily="34" charset="0"/>
              </a:rPr>
              <a:t> — much more </a:t>
            </a:r>
            <a:r>
              <a:rPr lang="en-US" sz="2300" b="1" i="1" dirty="0">
                <a:latin typeface="Arial" panose="020B0604020202020204" pitchFamily="34" charset="0"/>
                <a:cs typeface="Arial" panose="020B0604020202020204" pitchFamily="34" charset="0"/>
              </a:rPr>
              <a:t>variability</a:t>
            </a:r>
            <a:r>
              <a:rPr lang="en-US" sz="23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Without a measure of dispersion, you’d miss that difference completely</a:t>
            </a:r>
            <a:r>
              <a:rPr lang="en-US" sz="2300" dirty="0" smtClean="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9892193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Measures of Dispersion </a:t>
            </a:r>
            <a:endParaRPr lang="en-US" sz="24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931378"/>
            <a:ext cx="10831132" cy="5926621"/>
          </a:xfrm>
        </p:spPr>
        <p:txBody>
          <a:bodyPr>
            <a:noAutofit/>
          </a:bodyPr>
          <a:lstStyle/>
          <a:p>
            <a:pPr marL="342900" indent="-342900" algn="just">
              <a:lnSpc>
                <a:spcPct val="150000"/>
              </a:lnSpc>
              <a:buFont typeface="Arial" panose="020B0604020202020204" pitchFamily="34" charset="0"/>
              <a:buChar char="•"/>
            </a:pPr>
            <a:r>
              <a:rPr lang="en-US" sz="2100" b="1" dirty="0" smtClean="0">
                <a:latin typeface="Arial" panose="020B0604020202020204" pitchFamily="34" charset="0"/>
                <a:cs typeface="Arial" panose="020B0604020202020204" pitchFamily="34" charset="0"/>
              </a:rPr>
              <a:t>Purposes </a:t>
            </a:r>
            <a:r>
              <a:rPr lang="en-US" sz="2100" dirty="0" smtClean="0">
                <a:latin typeface="Arial" panose="020B0604020202020204" pitchFamily="34" charset="0"/>
                <a:cs typeface="Arial" panose="020B0604020202020204" pitchFamily="34" charset="0"/>
              </a:rPr>
              <a:t>: </a:t>
            </a:r>
            <a:r>
              <a:rPr lang="en-US" sz="2100" dirty="0">
                <a:latin typeface="Arial" panose="020B0604020202020204" pitchFamily="34" charset="0"/>
                <a:cs typeface="Arial" panose="020B0604020202020204" pitchFamily="34" charset="0"/>
              </a:rPr>
              <a:t>Measure of dispersion is important for the following </a:t>
            </a:r>
            <a:r>
              <a:rPr lang="en-US" sz="2100" dirty="0" smtClean="0">
                <a:latin typeface="Arial" panose="020B0604020202020204" pitchFamily="34" charset="0"/>
                <a:cs typeface="Arial" panose="020B0604020202020204" pitchFamily="34" charset="0"/>
              </a:rPr>
              <a:t>purposes:</a:t>
            </a:r>
          </a:p>
          <a:p>
            <a:pPr marL="342900" indent="-342900" algn="just">
              <a:lnSpc>
                <a:spcPct val="150000"/>
              </a:lnSpc>
              <a:buFont typeface="Arial" panose="020B0604020202020204" pitchFamily="34" charset="0"/>
              <a:buChar char="•"/>
            </a:pPr>
            <a:r>
              <a:rPr lang="en-US" sz="2100" dirty="0" smtClean="0">
                <a:latin typeface="Arial" panose="020B0604020202020204" pitchFamily="34" charset="0"/>
                <a:cs typeface="Arial" panose="020B0604020202020204" pitchFamily="34" charset="0"/>
              </a:rPr>
              <a:t>(1) </a:t>
            </a:r>
            <a:r>
              <a:rPr lang="en-US" sz="2100" dirty="0">
                <a:latin typeface="Arial" panose="020B0604020202020204" pitchFamily="34" charset="0"/>
                <a:cs typeface="Arial" panose="020B0604020202020204" pitchFamily="34" charset="0"/>
              </a:rPr>
              <a:t>To understand the reliability of an average.</a:t>
            </a:r>
            <a:endParaRPr lang="en-US" sz="2100" dirty="0" smtClean="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100" dirty="0" smtClean="0">
                <a:latin typeface="Arial" panose="020B0604020202020204" pitchFamily="34" charset="0"/>
                <a:cs typeface="Arial" panose="020B0604020202020204" pitchFamily="34" charset="0"/>
              </a:rPr>
              <a:t>A </a:t>
            </a:r>
            <a:r>
              <a:rPr lang="en-US" sz="2100" dirty="0">
                <a:latin typeface="Arial" panose="020B0604020202020204" pitchFamily="34" charset="0"/>
                <a:cs typeface="Arial" panose="020B0604020202020204" pitchFamily="34" charset="0"/>
              </a:rPr>
              <a:t>smaller dispersion means the average is more representative; a larger dispersion means the average is less reliable.</a:t>
            </a:r>
          </a:p>
          <a:p>
            <a:pPr marL="800100" lvl="1" indent="-342900" algn="just">
              <a:lnSpc>
                <a:spcPct val="150000"/>
              </a:lnSpc>
              <a:buFont typeface="Wingdings" panose="05000000000000000000" pitchFamily="2" charset="2"/>
              <a:buChar char="ü"/>
            </a:pPr>
            <a:r>
              <a:rPr lang="en-US" sz="2100" dirty="0">
                <a:latin typeface="Arial" panose="020B0604020202020204" pitchFamily="34" charset="0"/>
                <a:cs typeface="Arial" panose="020B0604020202020204" pitchFamily="34" charset="0"/>
              </a:rPr>
              <a:t>Example: Two classes may have the same average exam score, but one class may have scores tightly clustered, while the other has scores widely scattered</a:t>
            </a:r>
            <a:r>
              <a:rPr lang="en-US" sz="21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100" dirty="0" smtClean="0">
                <a:latin typeface="Arial" panose="020B0604020202020204" pitchFamily="34" charset="0"/>
                <a:cs typeface="Arial" panose="020B0604020202020204" pitchFamily="34" charset="0"/>
              </a:rPr>
              <a:t>(</a:t>
            </a:r>
            <a:r>
              <a:rPr lang="en-US" sz="2100" dirty="0">
                <a:latin typeface="Arial" panose="020B0604020202020204" pitchFamily="34" charset="0"/>
                <a:cs typeface="Arial" panose="020B0604020202020204" pitchFamily="34" charset="0"/>
              </a:rPr>
              <a:t>2</a:t>
            </a:r>
            <a:r>
              <a:rPr lang="en-US" sz="2100" dirty="0" smtClean="0">
                <a:latin typeface="Arial" panose="020B0604020202020204" pitchFamily="34" charset="0"/>
                <a:cs typeface="Arial" panose="020B0604020202020204" pitchFamily="34" charset="0"/>
              </a:rPr>
              <a:t>) To </a:t>
            </a:r>
            <a:r>
              <a:rPr lang="en-US" sz="2100" dirty="0">
                <a:latin typeface="Arial" panose="020B0604020202020204" pitchFamily="34" charset="0"/>
                <a:cs typeface="Arial" panose="020B0604020202020204" pitchFamily="34" charset="0"/>
              </a:rPr>
              <a:t>i</a:t>
            </a:r>
            <a:r>
              <a:rPr lang="en-US" sz="2100" dirty="0" smtClean="0">
                <a:latin typeface="Arial" panose="020B0604020202020204" pitchFamily="34" charset="0"/>
                <a:cs typeface="Arial" panose="020B0604020202020204" pitchFamily="34" charset="0"/>
              </a:rPr>
              <a:t>dentify </a:t>
            </a:r>
            <a:r>
              <a:rPr lang="en-US" sz="2100" dirty="0">
                <a:latin typeface="Arial" panose="020B0604020202020204" pitchFamily="34" charset="0"/>
                <a:cs typeface="Arial" panose="020B0604020202020204" pitchFamily="34" charset="0"/>
              </a:rPr>
              <a:t>u</a:t>
            </a:r>
            <a:r>
              <a:rPr lang="en-US" sz="2100" dirty="0" smtClean="0">
                <a:latin typeface="Arial" panose="020B0604020202020204" pitchFamily="34" charset="0"/>
                <a:cs typeface="Arial" panose="020B0604020202020204" pitchFamily="34" charset="0"/>
              </a:rPr>
              <a:t>niformity </a:t>
            </a:r>
            <a:r>
              <a:rPr lang="en-US" sz="2100" dirty="0">
                <a:latin typeface="Arial" panose="020B0604020202020204" pitchFamily="34" charset="0"/>
                <a:cs typeface="Arial" panose="020B0604020202020204" pitchFamily="34" charset="0"/>
              </a:rPr>
              <a:t>or </a:t>
            </a:r>
            <a:r>
              <a:rPr lang="en-US" sz="2100" dirty="0" smtClean="0">
                <a:latin typeface="Arial" panose="020B0604020202020204" pitchFamily="34" charset="0"/>
                <a:cs typeface="Arial" panose="020B0604020202020204" pitchFamily="34" charset="0"/>
              </a:rPr>
              <a:t>diversity</a:t>
            </a:r>
            <a:endParaRPr lang="en-US" sz="21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100" dirty="0" smtClean="0">
                <a:latin typeface="Arial" panose="020B0604020202020204" pitchFamily="34" charset="0"/>
                <a:cs typeface="Arial" panose="020B0604020202020204" pitchFamily="34" charset="0"/>
              </a:rPr>
              <a:t>A </a:t>
            </a:r>
            <a:r>
              <a:rPr lang="en-US" sz="2100" dirty="0">
                <a:latin typeface="Arial" panose="020B0604020202020204" pitchFamily="34" charset="0"/>
                <a:cs typeface="Arial" panose="020B0604020202020204" pitchFamily="34" charset="0"/>
              </a:rPr>
              <a:t>measure of dispersion tells whether data values are homogeneous (similar) or heterogeneous (very different</a:t>
            </a:r>
            <a:r>
              <a:rPr lang="en-US" sz="2100" dirty="0" smtClean="0">
                <a:latin typeface="Arial" panose="020B0604020202020204" pitchFamily="34" charset="0"/>
                <a:cs typeface="Arial" panose="020B0604020202020204" pitchFamily="34" charset="0"/>
              </a:rPr>
              <a:t>).</a:t>
            </a:r>
            <a:endParaRPr lang="en-US" sz="21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100" dirty="0">
                <a:latin typeface="Arial" panose="020B0604020202020204" pitchFamily="34" charset="0"/>
                <a:cs typeface="Arial" panose="020B0604020202020204" pitchFamily="34" charset="0"/>
              </a:rPr>
              <a:t>For example, salary distribution in a company: low dispersion means </a:t>
            </a:r>
            <a:r>
              <a:rPr lang="en-US" sz="2100" dirty="0" smtClean="0">
                <a:latin typeface="Arial" panose="020B0604020202020204" pitchFamily="34" charset="0"/>
                <a:cs typeface="Arial" panose="020B0604020202020204" pitchFamily="34" charset="0"/>
              </a:rPr>
              <a:t>equality, </a:t>
            </a:r>
            <a:r>
              <a:rPr lang="en-US" sz="2100" dirty="0">
                <a:latin typeface="Arial" panose="020B0604020202020204" pitchFamily="34" charset="0"/>
                <a:cs typeface="Arial" panose="020B0604020202020204" pitchFamily="34" charset="0"/>
              </a:rPr>
              <a:t>high dispersion means inequality</a:t>
            </a:r>
            <a:r>
              <a:rPr lang="en-US" sz="2100" dirty="0" smtClean="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961478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Measures of Dispersion </a:t>
            </a:r>
            <a:endParaRPr lang="en-US" sz="24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300" b="1" dirty="0" smtClean="0">
                <a:latin typeface="Arial" panose="020B0604020202020204" pitchFamily="34" charset="0"/>
                <a:cs typeface="Arial" panose="020B0604020202020204" pitchFamily="34" charset="0"/>
              </a:rPr>
              <a:t>Purposes</a:t>
            </a:r>
            <a:r>
              <a:rPr lang="en-US" sz="23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300" dirty="0" smtClean="0">
                <a:latin typeface="Arial" panose="020B0604020202020204" pitchFamily="34" charset="0"/>
                <a:cs typeface="Arial" panose="020B0604020202020204" pitchFamily="34" charset="0"/>
              </a:rPr>
              <a:t>(3) </a:t>
            </a:r>
            <a:r>
              <a:rPr lang="en-US" sz="2300" dirty="0">
                <a:latin typeface="Arial" panose="020B0604020202020204" pitchFamily="34" charset="0"/>
                <a:cs typeface="Arial" panose="020B0604020202020204" pitchFamily="34" charset="0"/>
              </a:rPr>
              <a:t>To compare the variability between datasets</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Dispersion helps compare consistency across groups.</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For example, comparing production quality across factories or comparing variability of stock returns between companies.</a:t>
            </a:r>
          </a:p>
          <a:p>
            <a:pPr marL="342900" indent="-342900" algn="just">
              <a:lnSpc>
                <a:spcPct val="150000"/>
              </a:lnSpc>
              <a:buFont typeface="Arial" panose="020B0604020202020204" pitchFamily="34" charset="0"/>
              <a:buChar char="•"/>
            </a:pPr>
            <a:r>
              <a:rPr lang="en-US" sz="2300" dirty="0" smtClean="0">
                <a:latin typeface="Arial" panose="020B0604020202020204" pitchFamily="34" charset="0"/>
                <a:cs typeface="Arial" panose="020B0604020202020204" pitchFamily="34" charset="0"/>
              </a:rPr>
              <a:t>(4) To detect </a:t>
            </a:r>
            <a:r>
              <a:rPr lang="en-US" sz="2300" dirty="0">
                <a:latin typeface="Arial" panose="020B0604020202020204" pitchFamily="34" charset="0"/>
                <a:cs typeface="Arial" panose="020B0604020202020204" pitchFamily="34" charset="0"/>
              </a:rPr>
              <a:t>o</a:t>
            </a:r>
            <a:r>
              <a:rPr lang="en-US" sz="2300" dirty="0" smtClean="0">
                <a:latin typeface="Arial" panose="020B0604020202020204" pitchFamily="34" charset="0"/>
                <a:cs typeface="Arial" panose="020B0604020202020204" pitchFamily="34" charset="0"/>
              </a:rPr>
              <a:t>utliers </a:t>
            </a:r>
            <a:r>
              <a:rPr lang="en-US" sz="2300" dirty="0">
                <a:latin typeface="Arial" panose="020B0604020202020204" pitchFamily="34" charset="0"/>
                <a:cs typeface="Arial" panose="020B0604020202020204" pitchFamily="34" charset="0"/>
              </a:rPr>
              <a:t>and </a:t>
            </a:r>
            <a:r>
              <a:rPr lang="en-US" sz="2300" dirty="0" smtClean="0">
                <a:latin typeface="Arial" panose="020B0604020202020204" pitchFamily="34" charset="0"/>
                <a:cs typeface="Arial" panose="020B0604020202020204" pitchFamily="34" charset="0"/>
              </a:rPr>
              <a:t>anomalies</a:t>
            </a:r>
            <a:endParaRPr lang="en-US" sz="23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300" dirty="0" smtClean="0">
                <a:latin typeface="Arial" panose="020B0604020202020204" pitchFamily="34" charset="0"/>
                <a:cs typeface="Arial" panose="020B0604020202020204" pitchFamily="34" charset="0"/>
              </a:rPr>
              <a:t>Large </a:t>
            </a:r>
            <a:r>
              <a:rPr lang="en-US" sz="2300" dirty="0">
                <a:latin typeface="Arial" panose="020B0604020202020204" pitchFamily="34" charset="0"/>
                <a:cs typeface="Arial" panose="020B0604020202020204" pitchFamily="34" charset="0"/>
              </a:rPr>
              <a:t>dispersion or unusually high spread may indicate outliers.</a:t>
            </a:r>
          </a:p>
          <a:p>
            <a:pPr marL="800100" lvl="1" indent="-342900" algn="just">
              <a:lnSpc>
                <a:spcPct val="150000"/>
              </a:lnSpc>
              <a:buFont typeface="Wingdings" panose="05000000000000000000" pitchFamily="2" charset="2"/>
              <a:buChar char="ü"/>
            </a:pPr>
            <a:endParaRPr lang="en-US" sz="23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endParaRPr lang="en-US" sz="2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21540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3788"/>
            <a:ext cx="9144000" cy="457200"/>
          </a:xfrm>
        </p:spPr>
        <p:txBody>
          <a:bodyPr>
            <a:noAutofit/>
          </a:bodyPr>
          <a:lstStyle/>
          <a:p>
            <a:r>
              <a:rPr lang="en-US" sz="2400" b="1" dirty="0">
                <a:latin typeface="Arial" panose="020B0604020202020204" pitchFamily="34" charset="0"/>
                <a:cs typeface="Arial" panose="020B0604020202020204" pitchFamily="34" charset="0"/>
              </a:rPr>
              <a:t>Different measure of dispersion</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0434" y="645458"/>
            <a:ext cx="10831132" cy="6279776"/>
          </a:xfrm>
        </p:spPr>
        <p:txBody>
          <a:bodyPr>
            <a:noAutofit/>
          </a:bodyPr>
          <a:lstStyle/>
          <a:p>
            <a:pPr marL="342900" indent="-342900" algn="just">
              <a:lnSpc>
                <a:spcPct val="150000"/>
              </a:lnSpc>
              <a:buFont typeface="Arial" panose="020B0604020202020204" pitchFamily="34" charset="0"/>
              <a:buChar char="•"/>
            </a:pPr>
            <a:r>
              <a:rPr lang="en-US" sz="2300" b="1" dirty="0" smtClean="0">
                <a:latin typeface="Arial" panose="020B0604020202020204" pitchFamily="34" charset="0"/>
                <a:cs typeface="Arial" panose="020B0604020202020204" pitchFamily="34" charset="0"/>
              </a:rPr>
              <a:t>Absolute </a:t>
            </a:r>
            <a:r>
              <a:rPr lang="en-US" sz="2300" b="1" dirty="0">
                <a:latin typeface="Arial" panose="020B0604020202020204" pitchFamily="34" charset="0"/>
                <a:cs typeface="Arial" panose="020B0604020202020204" pitchFamily="34" charset="0"/>
              </a:rPr>
              <a:t>measures of dispersion</a:t>
            </a:r>
            <a:r>
              <a:rPr lang="en-US" sz="2300" dirty="0">
                <a:latin typeface="Arial" panose="020B0604020202020204" pitchFamily="34" charset="0"/>
                <a:cs typeface="Arial" panose="020B0604020202020204" pitchFamily="34" charset="0"/>
              </a:rPr>
              <a:t>: When dispersion is measured in original units then it is called absolute dispersion. The four important absolute measures of dispersion are as follows</a:t>
            </a:r>
            <a:r>
              <a:rPr lang="en-US" sz="2300" dirty="0" smtClean="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Range</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Quartile deviation</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Mean deviation</a:t>
            </a:r>
          </a:p>
          <a:p>
            <a:pPr marL="800100" lvl="1" indent="-342900" algn="just">
              <a:lnSpc>
                <a:spcPct val="150000"/>
              </a:lnSpc>
              <a:buFont typeface="Wingdings" panose="05000000000000000000" pitchFamily="2" charset="2"/>
              <a:buChar char="ü"/>
            </a:pPr>
            <a:r>
              <a:rPr lang="en-US" sz="2300" dirty="0" smtClean="0">
                <a:latin typeface="Arial" panose="020B0604020202020204" pitchFamily="34" charset="0"/>
                <a:cs typeface="Arial" panose="020B0604020202020204" pitchFamily="34" charset="0"/>
              </a:rPr>
              <a:t>Variance and Standard deviation</a:t>
            </a:r>
          </a:p>
          <a:p>
            <a:pPr algn="just">
              <a:lnSpc>
                <a:spcPct val="150000"/>
              </a:lnSpc>
            </a:pPr>
            <a:endParaRPr lang="en-US" sz="23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33601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4470"/>
            <a:ext cx="9144000" cy="457200"/>
          </a:xfrm>
        </p:spPr>
        <p:txBody>
          <a:bodyPr>
            <a:noAutofit/>
          </a:bodyPr>
          <a:lstStyle/>
          <a:p>
            <a:r>
              <a:rPr lang="en-US" sz="2400" b="1" dirty="0">
                <a:latin typeface="Arial" panose="020B0604020202020204" pitchFamily="34" charset="0"/>
                <a:cs typeface="Arial" panose="020B0604020202020204" pitchFamily="34" charset="0"/>
              </a:rPr>
              <a:t>Different measure of dispersion</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0434" y="712693"/>
            <a:ext cx="10831132" cy="5957048"/>
          </a:xfrm>
        </p:spPr>
        <p:txBody>
          <a:bodyPr>
            <a:noAutofit/>
          </a:bodyPr>
          <a:lstStyle/>
          <a:p>
            <a:pPr marL="342900" indent="-342900" algn="just">
              <a:lnSpc>
                <a:spcPct val="150000"/>
              </a:lnSpc>
              <a:buFont typeface="Arial" panose="020B0604020202020204" pitchFamily="34" charset="0"/>
              <a:buChar char="•"/>
            </a:pPr>
            <a:r>
              <a:rPr lang="en-US" sz="2200" b="1" dirty="0" smtClean="0">
                <a:latin typeface="Arial" panose="020B0604020202020204" pitchFamily="34" charset="0"/>
                <a:cs typeface="Arial" panose="020B0604020202020204" pitchFamily="34" charset="0"/>
              </a:rPr>
              <a:t>Relative </a:t>
            </a:r>
            <a:r>
              <a:rPr lang="en-US" sz="2200" b="1" dirty="0">
                <a:latin typeface="Arial" panose="020B0604020202020204" pitchFamily="34" charset="0"/>
                <a:cs typeface="Arial" panose="020B0604020202020204" pitchFamily="34" charset="0"/>
              </a:rPr>
              <a:t>measures of dispersion:</a:t>
            </a:r>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It is a unit free measure of dispersion. When </a:t>
            </a:r>
            <a:r>
              <a:rPr lang="en-US" sz="2200" dirty="0">
                <a:latin typeface="Arial" panose="020B0604020202020204" pitchFamily="34" charset="0"/>
                <a:cs typeface="Arial" panose="020B0604020202020204" pitchFamily="34" charset="0"/>
              </a:rPr>
              <a:t>the various sets of data are expressed in </a:t>
            </a:r>
            <a:r>
              <a:rPr lang="en-US" sz="2200" b="1" i="1" dirty="0">
                <a:latin typeface="Arial" panose="020B0604020202020204" pitchFamily="34" charset="0"/>
                <a:cs typeface="Arial" panose="020B0604020202020204" pitchFamily="34" charset="0"/>
              </a:rPr>
              <a:t>different units</a:t>
            </a:r>
            <a:r>
              <a:rPr lang="en-US" sz="2200" dirty="0">
                <a:latin typeface="Arial" panose="020B0604020202020204" pitchFamily="34" charset="0"/>
                <a:cs typeface="Arial" panose="020B0604020202020204" pitchFamily="34" charset="0"/>
              </a:rPr>
              <a:t>, the absolute measures are not comparable. Even </a:t>
            </a:r>
            <a:r>
              <a:rPr lang="en-US" sz="2200" b="1" i="1" dirty="0">
                <a:latin typeface="Arial" panose="020B0604020202020204" pitchFamily="34" charset="0"/>
                <a:cs typeface="Arial" panose="020B0604020202020204" pitchFamily="34" charset="0"/>
              </a:rPr>
              <a:t>with identical units</a:t>
            </a:r>
            <a:r>
              <a:rPr lang="en-US" sz="2200" dirty="0">
                <a:latin typeface="Arial" panose="020B0604020202020204" pitchFamily="34" charset="0"/>
                <a:cs typeface="Arial" panose="020B0604020202020204" pitchFamily="34" charset="0"/>
              </a:rPr>
              <a:t> of measurements, when the </a:t>
            </a:r>
            <a:r>
              <a:rPr lang="en-US" sz="2200" b="1" i="1" dirty="0">
                <a:latin typeface="Arial" panose="020B0604020202020204" pitchFamily="34" charset="0"/>
                <a:cs typeface="Arial" panose="020B0604020202020204" pitchFamily="34" charset="0"/>
              </a:rPr>
              <a:t>average values</a:t>
            </a:r>
            <a:r>
              <a:rPr lang="en-US" sz="2200" dirty="0">
                <a:latin typeface="Arial" panose="020B0604020202020204" pitchFamily="34" charset="0"/>
                <a:cs typeface="Arial" panose="020B0604020202020204" pitchFamily="34" charset="0"/>
              </a:rPr>
              <a:t> of two or more set are </a:t>
            </a:r>
            <a:r>
              <a:rPr lang="en-US" sz="2200" b="1" i="1" dirty="0">
                <a:latin typeface="Arial" panose="020B0604020202020204" pitchFamily="34" charset="0"/>
                <a:cs typeface="Arial" panose="020B0604020202020204" pitchFamily="34" charset="0"/>
              </a:rPr>
              <a:t>very much different</a:t>
            </a:r>
            <a:r>
              <a:rPr lang="en-US" sz="2200" dirty="0">
                <a:latin typeface="Arial" panose="020B0604020202020204" pitchFamily="34" charset="0"/>
                <a:cs typeface="Arial" panose="020B0604020202020204" pitchFamily="34" charset="0"/>
              </a:rPr>
              <a:t>, the absolute measures give misleading conclusion. In such cases relative measures of dispersion should be used</a:t>
            </a:r>
            <a:r>
              <a:rPr lang="en-US" sz="2200" dirty="0" smtClean="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The four important </a:t>
            </a:r>
            <a:r>
              <a:rPr lang="en-US" sz="2200" dirty="0" smtClean="0">
                <a:latin typeface="Arial" panose="020B0604020202020204" pitchFamily="34" charset="0"/>
                <a:cs typeface="Arial" panose="020B0604020202020204" pitchFamily="34" charset="0"/>
              </a:rPr>
              <a:t>relative </a:t>
            </a:r>
            <a:r>
              <a:rPr lang="en-US" sz="2200" dirty="0">
                <a:latin typeface="Arial" panose="020B0604020202020204" pitchFamily="34" charset="0"/>
                <a:cs typeface="Arial" panose="020B0604020202020204" pitchFamily="34" charset="0"/>
              </a:rPr>
              <a:t>measures of dispersion </a:t>
            </a:r>
            <a:r>
              <a:rPr lang="en-US" sz="2200" dirty="0" smtClean="0">
                <a:latin typeface="Arial" panose="020B0604020202020204" pitchFamily="34" charset="0"/>
                <a:cs typeface="Arial" panose="020B0604020202020204" pitchFamily="34" charset="0"/>
              </a:rPr>
              <a:t>are </a:t>
            </a:r>
            <a:r>
              <a:rPr lang="en-US" sz="2200" dirty="0">
                <a:latin typeface="Arial" panose="020B0604020202020204" pitchFamily="34" charset="0"/>
                <a:cs typeface="Arial" panose="020B0604020202020204" pitchFamily="34" charset="0"/>
              </a:rPr>
              <a:t>as follows</a:t>
            </a:r>
            <a:r>
              <a:rPr lang="en-US" sz="2200" dirty="0" smtClean="0">
                <a:latin typeface="Arial" panose="020B0604020202020204" pitchFamily="34" charset="0"/>
                <a:cs typeface="Arial" panose="020B0604020202020204" pitchFamily="34" charset="0"/>
              </a:rPr>
              <a:t>: </a:t>
            </a:r>
          </a:p>
          <a:p>
            <a:pPr marL="800100" lvl="1" indent="-342900" algn="just">
              <a:lnSpc>
                <a:spcPct val="150000"/>
              </a:lnSpc>
              <a:buFont typeface="Wingdings" panose="05000000000000000000" pitchFamily="2" charset="2"/>
              <a:buChar char="ü"/>
            </a:pPr>
            <a:r>
              <a:rPr lang="en-US" sz="2200" dirty="0" smtClean="0">
                <a:latin typeface="Arial" panose="020B0604020202020204" pitchFamily="34" charset="0"/>
                <a:cs typeface="Arial" panose="020B0604020202020204" pitchFamily="34" charset="0"/>
              </a:rPr>
              <a:t>Coefficient of range</a:t>
            </a:r>
            <a:endParaRPr lang="en-US" sz="22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Coefficient of q</a:t>
            </a:r>
            <a:r>
              <a:rPr lang="en-US" sz="2200" dirty="0" smtClean="0">
                <a:latin typeface="Arial" panose="020B0604020202020204" pitchFamily="34" charset="0"/>
                <a:cs typeface="Arial" panose="020B0604020202020204" pitchFamily="34" charset="0"/>
              </a:rPr>
              <a:t>uartile </a:t>
            </a:r>
            <a:r>
              <a:rPr lang="en-US" sz="2200" dirty="0">
                <a:latin typeface="Arial" panose="020B0604020202020204" pitchFamily="34" charset="0"/>
                <a:cs typeface="Arial" panose="020B0604020202020204" pitchFamily="34" charset="0"/>
              </a:rPr>
              <a:t>deviation</a:t>
            </a: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Coefficient of m</a:t>
            </a:r>
            <a:r>
              <a:rPr lang="en-US" sz="2200" dirty="0" smtClean="0">
                <a:latin typeface="Arial" panose="020B0604020202020204" pitchFamily="34" charset="0"/>
                <a:cs typeface="Arial" panose="020B0604020202020204" pitchFamily="34" charset="0"/>
              </a:rPr>
              <a:t>ean </a:t>
            </a:r>
            <a:r>
              <a:rPr lang="en-US" sz="2200" dirty="0">
                <a:latin typeface="Arial" panose="020B0604020202020204" pitchFamily="34" charset="0"/>
                <a:cs typeface="Arial" panose="020B0604020202020204" pitchFamily="34" charset="0"/>
              </a:rPr>
              <a:t>deviation</a:t>
            </a: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Coefficient of </a:t>
            </a:r>
            <a:r>
              <a:rPr lang="en-US" sz="2200" dirty="0" smtClean="0">
                <a:latin typeface="Arial" panose="020B0604020202020204" pitchFamily="34" charset="0"/>
                <a:cs typeface="Arial" panose="020B0604020202020204" pitchFamily="34" charset="0"/>
              </a:rPr>
              <a:t>variation</a:t>
            </a:r>
            <a:endParaRPr lang="en-US" sz="2200" dirty="0">
              <a:latin typeface="Arial" panose="020B0604020202020204" pitchFamily="34" charset="0"/>
              <a:cs typeface="Arial" panose="020B0604020202020204" pitchFamily="34" charset="0"/>
            </a:endParaRPr>
          </a:p>
          <a:p>
            <a:pPr algn="just">
              <a:lnSpc>
                <a:spcPct val="150000"/>
              </a:lnSpc>
            </a:pPr>
            <a:endParaRPr lang="en-US" sz="22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51432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42055" y="146021"/>
            <a:ext cx="9144000" cy="401515"/>
          </a:xfrm>
        </p:spPr>
        <p:txBody>
          <a:bodyPr>
            <a:noAutofit/>
          </a:bodyPr>
          <a:lstStyle/>
          <a:p>
            <a:r>
              <a:rPr lang="en-US" sz="2400" b="1" dirty="0">
                <a:latin typeface="Arial" panose="020B0604020202020204" pitchFamily="34" charset="0"/>
                <a:cs typeface="Arial" panose="020B0604020202020204" pitchFamily="34" charset="0"/>
              </a:rPr>
              <a:t>Measure of </a:t>
            </a:r>
            <a:r>
              <a:rPr lang="en-US" sz="2400" b="1" dirty="0" smtClean="0">
                <a:latin typeface="Arial" panose="020B0604020202020204" pitchFamily="34" charset="0"/>
                <a:cs typeface="Arial" panose="020B0604020202020204" pitchFamily="34" charset="0"/>
              </a:rPr>
              <a:t>Dispersion: Range </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799" y="547536"/>
                <a:ext cx="10599313" cy="5486400"/>
              </a:xfrm>
            </p:spPr>
            <p:txBody>
              <a:bodyPr>
                <a:noAutofit/>
              </a:bodyPr>
              <a:lstStyle/>
              <a:p>
                <a:pPr algn="l">
                  <a:lnSpc>
                    <a:spcPct val="150000"/>
                  </a:lnSpc>
                </a:pPr>
                <a:endParaRPr lang="en-US" sz="200" b="1"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Range: </a:t>
                </a: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simplest and crudest measure of dispersion is the range. It is defined as the difference between smallest and largest values in the dataset. Let </a:t>
                </a:r>
                <a14:m>
                  <m:oMath xmlns:m="http://schemas.openxmlformats.org/officeDocument/2006/math">
                    <m:r>
                      <a:rPr lang="en-US" sz="2000" i="1">
                        <a:latin typeface="Cambria Math" panose="02040503050406030204" pitchFamily="18" charset="0"/>
                        <a:cs typeface="Arial" panose="020B0604020202020204" pitchFamily="34" charset="0"/>
                      </a:rPr>
                      <m:t>𝑆</m:t>
                    </m:r>
                  </m:oMath>
                </a14:m>
                <a:r>
                  <a:rPr lang="en-US" sz="2000" dirty="0">
                    <a:latin typeface="Arial" panose="020B0604020202020204" pitchFamily="34" charset="0"/>
                    <a:cs typeface="Arial" panose="020B0604020202020204" pitchFamily="34" charset="0"/>
                  </a:rPr>
                  <a:t> be the smallest value and </a:t>
                </a:r>
                <a14:m>
                  <m:oMath xmlns:m="http://schemas.openxmlformats.org/officeDocument/2006/math">
                    <m:r>
                      <a:rPr lang="en-US" sz="2000" i="1">
                        <a:latin typeface="Cambria Math" panose="02040503050406030204" pitchFamily="18" charset="0"/>
                        <a:cs typeface="Arial" panose="020B0604020202020204" pitchFamily="34" charset="0"/>
                      </a:rPr>
                      <m:t>𝐿</m:t>
                    </m:r>
                  </m:oMath>
                </a14:m>
                <a:r>
                  <a:rPr lang="en-US" sz="2000" dirty="0">
                    <a:latin typeface="Arial" panose="020B0604020202020204" pitchFamily="34" charset="0"/>
                    <a:cs typeface="Arial" panose="020B0604020202020204" pitchFamily="34" charset="0"/>
                  </a:rPr>
                  <a:t> be the largest value. The </a:t>
                </a:r>
                <a:r>
                  <a:rPr lang="en-US" sz="2000" dirty="0" smtClean="0">
                    <a:latin typeface="Arial" panose="020B0604020202020204" pitchFamily="34" charset="0"/>
                    <a:cs typeface="Arial" panose="020B0604020202020204" pitchFamily="34" charset="0"/>
                  </a:rPr>
                  <a:t>range (</a:t>
                </a:r>
                <a14:m>
                  <m:oMath xmlns:m="http://schemas.openxmlformats.org/officeDocument/2006/math">
                    <m:r>
                      <a:rPr lang="en-US" sz="2000" b="0" i="1" smtClean="0">
                        <a:latin typeface="Cambria Math" panose="02040503050406030204" pitchFamily="18" charset="0"/>
                        <a:cs typeface="Arial" panose="020B0604020202020204" pitchFamily="34" charset="0"/>
                      </a:rPr>
                      <m:t>𝑅</m:t>
                    </m:r>
                  </m:oMath>
                </a14:m>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is computed by the </a:t>
                </a:r>
                <a:r>
                  <a:rPr lang="en-US" sz="2000" dirty="0" smtClean="0">
                    <a:latin typeface="Arial" panose="020B0604020202020204" pitchFamily="34" charset="0"/>
                    <a:cs typeface="Arial" panose="020B0604020202020204" pitchFamily="34" charset="0"/>
                  </a:rPr>
                  <a:t>formula, </a:t>
                </a:r>
                <a14:m>
                  <m:oMath xmlns:m="http://schemas.openxmlformats.org/officeDocument/2006/math">
                    <m:r>
                      <a:rPr lang="en-US" sz="2000" b="0" i="1" smtClean="0">
                        <a:latin typeface="Cambria Math" panose="02040503050406030204" pitchFamily="18" charset="0"/>
                        <a:cs typeface="Arial" panose="020B0604020202020204" pitchFamily="34" charset="0"/>
                      </a:rPr>
                      <m:t>𝑅</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𝐿</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𝑆</m:t>
                    </m:r>
                  </m:oMath>
                </a14:m>
                <a:r>
                  <a:rPr lang="en-US" sz="2000" dirty="0" smtClean="0">
                    <a:latin typeface="Arial" panose="020B0604020202020204" pitchFamily="34" charset="0"/>
                    <a:cs typeface="Arial" panose="020B0604020202020204" pitchFamily="34" charset="0"/>
                  </a:rPr>
                  <a:t>.</a:t>
                </a:r>
                <a:endParaRPr lang="en-US" sz="2000" b="1"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Example</a:t>
                </a:r>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Consider the following sampled data of IQ scores: 95, 103, 105, 110, 104, 105, 112, 90. Compute the </a:t>
                </a:r>
                <a:r>
                  <a:rPr lang="en-US" sz="2000" dirty="0" smtClean="0">
                    <a:latin typeface="Arial" panose="020B0604020202020204" pitchFamily="34" charset="0"/>
                    <a:cs typeface="Arial" panose="020B0604020202020204" pitchFamily="34" charset="0"/>
                  </a:rPr>
                  <a:t>Range.</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Since </a:t>
                </a:r>
                <a:r>
                  <a:rPr lang="en-US" sz="2000" dirty="0">
                    <a:latin typeface="Arial" panose="020B0604020202020204" pitchFamily="34" charset="0"/>
                    <a:cs typeface="Arial" panose="020B0604020202020204" pitchFamily="34" charset="0"/>
                  </a:rPr>
                  <a:t>the largest </a:t>
                </a:r>
                <a:r>
                  <a:rPr lang="en-US" sz="2000" dirty="0" smtClean="0">
                    <a:latin typeface="Arial" panose="020B0604020202020204" pitchFamily="34" charset="0"/>
                    <a:cs typeface="Arial" panose="020B0604020202020204" pitchFamily="34" charset="0"/>
                  </a:rPr>
                  <a:t>value, </a:t>
                </a:r>
                <a14:m>
                  <m:oMath xmlns:m="http://schemas.openxmlformats.org/officeDocument/2006/math">
                    <m:r>
                      <a:rPr lang="en-US" sz="2000" b="0" i="1" smtClean="0">
                        <a:latin typeface="Cambria Math" panose="02040503050406030204" pitchFamily="18" charset="0"/>
                        <a:cs typeface="Arial" panose="020B0604020202020204" pitchFamily="34" charset="0"/>
                      </a:rPr>
                      <m:t>𝐿</m:t>
                    </m:r>
                    <m:r>
                      <a:rPr lang="en-US" sz="2000" b="0" i="1" smtClean="0">
                        <a:latin typeface="Cambria Math" panose="02040503050406030204" pitchFamily="18" charset="0"/>
                        <a:cs typeface="Arial" panose="020B0604020202020204" pitchFamily="34" charset="0"/>
                      </a:rPr>
                      <m:t>=112</m:t>
                    </m:r>
                  </m:oMath>
                </a14:m>
                <a:r>
                  <a:rPr lang="en-US" sz="2000" dirty="0" smtClean="0">
                    <a:latin typeface="Arial" panose="020B0604020202020204" pitchFamily="34" charset="0"/>
                    <a:cs typeface="Arial" panose="020B0604020202020204" pitchFamily="34" charset="0"/>
                  </a:rPr>
                  <a:t> and </a:t>
                </a:r>
                <a:r>
                  <a:rPr lang="en-US" sz="2000" dirty="0">
                    <a:latin typeface="Arial" panose="020B0604020202020204" pitchFamily="34" charset="0"/>
                    <a:cs typeface="Arial" panose="020B0604020202020204" pitchFamily="34" charset="0"/>
                  </a:rPr>
                  <a:t>the smallest </a:t>
                </a:r>
                <a:r>
                  <a:rPr lang="en-US" sz="2000" dirty="0" smtClean="0">
                    <a:latin typeface="Arial" panose="020B0604020202020204" pitchFamily="34" charset="0"/>
                    <a:cs typeface="Arial" panose="020B0604020202020204" pitchFamily="34" charset="0"/>
                  </a:rPr>
                  <a:t>value, </a:t>
                </a:r>
                <a14:m>
                  <m:oMath xmlns:m="http://schemas.openxmlformats.org/officeDocument/2006/math">
                    <m:r>
                      <a:rPr lang="en-US" sz="2000" b="0" i="1" smtClean="0">
                        <a:latin typeface="Cambria Math" panose="02040503050406030204" pitchFamily="18" charset="0"/>
                        <a:cs typeface="Arial" panose="020B0604020202020204" pitchFamily="34" charset="0"/>
                      </a:rPr>
                      <m:t>𝑆</m:t>
                    </m:r>
                    <m:r>
                      <a:rPr lang="en-US" sz="2000" b="0" i="1" smtClean="0">
                        <a:latin typeface="Cambria Math" panose="02040503050406030204" pitchFamily="18" charset="0"/>
                        <a:cs typeface="Arial" panose="020B0604020202020204" pitchFamily="34" charset="0"/>
                      </a:rPr>
                      <m:t>=90</m:t>
                    </m:r>
                  </m:oMath>
                </a14:m>
                <a:r>
                  <a:rPr lang="en-US" sz="2000" dirty="0" smtClean="0">
                    <a:latin typeface="Arial" panose="020B0604020202020204" pitchFamily="34" charset="0"/>
                    <a:cs typeface="Arial" panose="020B0604020202020204" pitchFamily="34" charset="0"/>
                  </a:rPr>
                  <a:t>. i.e., the Range, </a:t>
                </a:r>
                <a14:m>
                  <m:oMath xmlns:m="http://schemas.openxmlformats.org/officeDocument/2006/math">
                    <m:r>
                      <a:rPr lang="en-US" sz="2000" i="1">
                        <a:latin typeface="Cambria Math" panose="02040503050406030204" pitchFamily="18" charset="0"/>
                        <a:cs typeface="Arial" panose="020B0604020202020204" pitchFamily="34" charset="0"/>
                      </a:rPr>
                      <m:t>𝑅</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𝐿</m:t>
                    </m:r>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𝑆</m:t>
                    </m:r>
                    <m:r>
                      <a:rPr lang="en-US" sz="2000" b="0" i="1" smtClean="0">
                        <a:latin typeface="Cambria Math" panose="02040503050406030204" pitchFamily="18" charset="0"/>
                        <a:cs typeface="Arial" panose="020B0604020202020204" pitchFamily="34" charset="0"/>
                      </a:rPr>
                      <m:t>=112−90=22</m:t>
                    </m:r>
                  </m:oMath>
                </a14:m>
                <a:r>
                  <a:rPr lang="en-US" sz="2000" dirty="0" smtClean="0">
                    <a:latin typeface="Arial" panose="020B0604020202020204" pitchFamily="34" charset="0"/>
                    <a:cs typeface="Arial" panose="020B0604020202020204" pitchFamily="34" charset="0"/>
                  </a:rPr>
                  <a:t>. So</a:t>
                </a:r>
                <a:r>
                  <a:rPr lang="en-US" sz="2000" dirty="0">
                    <a:latin typeface="Arial" panose="020B0604020202020204" pitchFamily="34" charset="0"/>
                    <a:cs typeface="Arial" panose="020B0604020202020204" pitchFamily="34" charset="0"/>
                  </a:rPr>
                  <a:t>, all the data values lie </a:t>
                </a:r>
                <a:r>
                  <a:rPr lang="en-US" sz="2000" b="1" i="1" dirty="0">
                    <a:latin typeface="Arial" panose="020B0604020202020204" pitchFamily="34" charset="0"/>
                    <a:cs typeface="Arial" panose="020B0604020202020204" pitchFamily="34" charset="0"/>
                  </a:rPr>
                  <a:t>within an interval of 22 units</a:t>
                </a:r>
                <a:r>
                  <a:rPr lang="en-US" sz="2000" dirty="0">
                    <a:latin typeface="Arial" panose="020B0604020202020204" pitchFamily="34" charset="0"/>
                    <a:cs typeface="Arial" panose="020B0604020202020204" pitchFamily="34" charset="0"/>
                  </a:rPr>
                  <a:t>, specifically </a:t>
                </a:r>
                <a:r>
                  <a:rPr lang="en-US" sz="2000" b="1" i="1" dirty="0">
                    <a:latin typeface="Arial" panose="020B0604020202020204" pitchFamily="34" charset="0"/>
                    <a:cs typeface="Arial" panose="020B0604020202020204" pitchFamily="34" charset="0"/>
                  </a:rPr>
                  <a:t>between the minimum and maximum values</a:t>
                </a:r>
                <a:r>
                  <a:rPr lang="en-US" sz="2000" dirty="0">
                    <a:latin typeface="Arial" panose="020B0604020202020204" pitchFamily="34" charset="0"/>
                    <a:cs typeface="Arial" panose="020B0604020202020204" pitchFamily="34" charset="0"/>
                  </a:rPr>
                  <a:t>. But</a:t>
                </a:r>
                <a:r>
                  <a:rPr lang="en-US" sz="2000" dirty="0" smtClean="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The </a:t>
                </a:r>
                <a:r>
                  <a:rPr lang="en-US" dirty="0">
                    <a:latin typeface="Arial" panose="020B0604020202020204" pitchFamily="34" charset="0"/>
                    <a:cs typeface="Arial" panose="020B0604020202020204" pitchFamily="34" charset="0"/>
                  </a:rPr>
                  <a:t>values could be </a:t>
                </a:r>
                <a:r>
                  <a:rPr lang="en-US" b="1" i="1" dirty="0">
                    <a:latin typeface="Arial" panose="020B0604020202020204" pitchFamily="34" charset="0"/>
                    <a:cs typeface="Arial" panose="020B0604020202020204" pitchFamily="34" charset="0"/>
                  </a:rPr>
                  <a:t>clustered</a:t>
                </a:r>
                <a:r>
                  <a:rPr lang="en-US" dirty="0">
                    <a:latin typeface="Arial" panose="020B0604020202020204" pitchFamily="34" charset="0"/>
                    <a:cs typeface="Arial" panose="020B0604020202020204" pitchFamily="34" charset="0"/>
                  </a:rPr>
                  <a:t> near the </a:t>
                </a:r>
                <a:r>
                  <a:rPr lang="en-US" dirty="0" smtClean="0">
                    <a:latin typeface="Arial" panose="020B0604020202020204" pitchFamily="34" charset="0"/>
                    <a:cs typeface="Arial" panose="020B0604020202020204" pitchFamily="34" charset="0"/>
                  </a:rPr>
                  <a:t>center.</a:t>
                </a: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Or </a:t>
                </a:r>
                <a:r>
                  <a:rPr lang="en-US" dirty="0">
                    <a:latin typeface="Arial" panose="020B0604020202020204" pitchFamily="34" charset="0"/>
                    <a:cs typeface="Arial" panose="020B0604020202020204" pitchFamily="34" charset="0"/>
                  </a:rPr>
                  <a:t>there could be </a:t>
                </a:r>
                <a:r>
                  <a:rPr lang="en-US" b="1" i="1" dirty="0">
                    <a:latin typeface="Arial" panose="020B0604020202020204" pitchFamily="34" charset="0"/>
                    <a:cs typeface="Arial" panose="020B0604020202020204" pitchFamily="34" charset="0"/>
                  </a:rPr>
                  <a:t>outliers</a:t>
                </a:r>
                <a:r>
                  <a:rPr lang="en-US" dirty="0">
                    <a:latin typeface="Arial" panose="020B0604020202020204" pitchFamily="34" charset="0"/>
                    <a:cs typeface="Arial" panose="020B0604020202020204" pitchFamily="34" charset="0"/>
                  </a:rPr>
                  <a:t> that stretch the range.</a:t>
                </a:r>
              </a:p>
              <a:p>
                <a:pPr marL="342900" indent="-342900" algn="just">
                  <a:lnSpc>
                    <a:spcPct val="150000"/>
                  </a:lnSpc>
                  <a:buFont typeface="Arial" panose="020B0604020202020204" pitchFamily="34" charset="0"/>
                  <a:buChar char="•"/>
                </a:pPr>
                <a:endParaRPr lang="en-US" sz="23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300" dirty="0" smtClean="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5799" y="547536"/>
                <a:ext cx="10599313" cy="5486400"/>
              </a:xfrm>
              <a:blipFill rotWithShape="0">
                <a:blip r:embed="rId2"/>
                <a:stretch>
                  <a:fillRect l="-460" r="-633"/>
                </a:stretch>
              </a:blipFill>
            </p:spPr>
            <p:txBody>
              <a:bodyPr/>
              <a:lstStyle/>
              <a:p>
                <a:r>
                  <a:rPr lang="en-US">
                    <a:noFill/>
                  </a:rPr>
                  <a:t> </a:t>
                </a:r>
              </a:p>
            </p:txBody>
          </p:sp>
        </mc:Fallback>
      </mc:AlternateContent>
    </p:spTree>
    <p:extLst>
      <p:ext uri="{BB962C8B-B14F-4D97-AF65-F5344CB8AC3E}">
        <p14:creationId xmlns:p14="http://schemas.microsoft.com/office/powerpoint/2010/main" val="30240996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401515"/>
            <a:ext cx="9144000" cy="401515"/>
          </a:xfrm>
        </p:spPr>
        <p:txBody>
          <a:bodyPr>
            <a:noAutofit/>
          </a:bodyPr>
          <a:lstStyle/>
          <a:p>
            <a:r>
              <a:rPr lang="en-US" sz="2400" b="1" dirty="0">
                <a:latin typeface="Arial" panose="020B0604020202020204" pitchFamily="34" charset="0"/>
                <a:cs typeface="Arial" panose="020B0604020202020204" pitchFamily="34" charset="0"/>
              </a:rPr>
              <a:t>Measure of Dispersion: Quartile deviation </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401515"/>
                <a:ext cx="10831132" cy="6456485"/>
              </a:xfrm>
            </p:spPr>
            <p:txBody>
              <a:bodyPr>
                <a:noAutofit/>
              </a:bodyPr>
              <a:lstStyle/>
              <a:p>
                <a:pPr marL="342900" indent="-342900" algn="just">
                  <a:lnSpc>
                    <a:spcPct val="150000"/>
                  </a:lnSpc>
                  <a:buFont typeface="Arial" panose="020B0604020202020204" pitchFamily="34" charset="0"/>
                  <a:buChar char="•"/>
                </a:pPr>
                <a:endParaRPr lang="en-US" sz="2300" b="1"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300" b="1" dirty="0" smtClean="0">
                    <a:latin typeface="Arial" panose="020B0604020202020204" pitchFamily="34" charset="0"/>
                    <a:cs typeface="Arial" panose="020B0604020202020204" pitchFamily="34" charset="0"/>
                  </a:rPr>
                  <a:t>Inter-quartile </a:t>
                </a:r>
                <a:r>
                  <a:rPr lang="en-US" sz="2300" b="1" dirty="0">
                    <a:latin typeface="Arial" panose="020B0604020202020204" pitchFamily="34" charset="0"/>
                    <a:cs typeface="Arial" panose="020B0604020202020204" pitchFamily="34" charset="0"/>
                  </a:rPr>
                  <a:t>range (IQR) : </a:t>
                </a:r>
                <a:r>
                  <a:rPr lang="en-US" sz="2300" dirty="0" smtClean="0">
                    <a:latin typeface="Arial" panose="020B0604020202020204" pitchFamily="34" charset="0"/>
                    <a:cs typeface="Arial" panose="020B0604020202020204" pitchFamily="34" charset="0"/>
                  </a:rPr>
                  <a:t>The </a:t>
                </a:r>
                <a:r>
                  <a:rPr lang="en-US" sz="2300" dirty="0">
                    <a:latin typeface="Arial" panose="020B0604020202020204" pitchFamily="34" charset="0"/>
                    <a:cs typeface="Arial" panose="020B0604020202020204" pitchFamily="34" charset="0"/>
                  </a:rPr>
                  <a:t>difference between the 3</a:t>
                </a:r>
                <a:r>
                  <a:rPr lang="en-US" sz="2300" baseline="30000" dirty="0">
                    <a:latin typeface="Arial" panose="020B0604020202020204" pitchFamily="34" charset="0"/>
                    <a:cs typeface="Arial" panose="020B0604020202020204" pitchFamily="34" charset="0"/>
                  </a:rPr>
                  <a:t>rd</a:t>
                </a:r>
                <a:r>
                  <a:rPr lang="en-US" sz="2300" dirty="0">
                    <a:latin typeface="Arial" panose="020B0604020202020204" pitchFamily="34" charset="0"/>
                    <a:cs typeface="Arial" panose="020B0604020202020204" pitchFamily="34" charset="0"/>
                  </a:rPr>
                  <a:t> quartile &amp; 1</a:t>
                </a:r>
                <a:r>
                  <a:rPr lang="en-US" sz="2300" baseline="30000" dirty="0">
                    <a:latin typeface="Arial" panose="020B0604020202020204" pitchFamily="34" charset="0"/>
                    <a:cs typeface="Arial" panose="020B0604020202020204" pitchFamily="34" charset="0"/>
                  </a:rPr>
                  <a:t>st</a:t>
                </a:r>
                <a:r>
                  <a:rPr lang="en-US" sz="2300" dirty="0">
                    <a:latin typeface="Arial" panose="020B0604020202020204" pitchFamily="34" charset="0"/>
                    <a:cs typeface="Arial" panose="020B0604020202020204" pitchFamily="34" charset="0"/>
                  </a:rPr>
                  <a:t> quartile is known as the </a:t>
                </a:r>
                <a:r>
                  <a:rPr lang="en-US" sz="2300" dirty="0" smtClean="0">
                    <a:latin typeface="Arial" panose="020B0604020202020204" pitchFamily="34" charset="0"/>
                    <a:cs typeface="Arial" panose="020B0604020202020204" pitchFamily="34" charset="0"/>
                  </a:rPr>
                  <a:t>IQR </a:t>
                </a:r>
                <a:r>
                  <a:rPr lang="en-US" sz="2300" dirty="0">
                    <a:latin typeface="Arial" panose="020B0604020202020204" pitchFamily="34" charset="0"/>
                    <a:cs typeface="Arial" panose="020B0604020202020204" pitchFamily="34" charset="0"/>
                  </a:rPr>
                  <a:t>i.e., </a:t>
                </a:r>
                <a14:m>
                  <m:oMath xmlns:m="http://schemas.openxmlformats.org/officeDocument/2006/math">
                    <m:r>
                      <a:rPr lang="en-US" sz="2300" i="1">
                        <a:latin typeface="Cambria Math" panose="02040503050406030204" pitchFamily="18" charset="0"/>
                      </a:rPr>
                      <m:t>𝐼𝑄𝑅</m:t>
                    </m:r>
                    <m:r>
                      <a:rPr lang="en-US" sz="2300" i="1">
                        <a:latin typeface="Cambria Math" panose="02040503050406030204" pitchFamily="18" charset="0"/>
                      </a:rPr>
                      <m:t>=</m:t>
                    </m:r>
                    <m:sSub>
                      <m:sSubPr>
                        <m:ctrlPr>
                          <a:rPr lang="en-US" sz="2300" i="1">
                            <a:latin typeface="Cambria Math" panose="02040503050406030204" pitchFamily="18" charset="0"/>
                          </a:rPr>
                        </m:ctrlPr>
                      </m:sSubPr>
                      <m:e>
                        <m:r>
                          <a:rPr lang="en-US" sz="2300" i="1">
                            <a:latin typeface="Cambria Math" panose="02040503050406030204" pitchFamily="18" charset="0"/>
                          </a:rPr>
                          <m:t>𝑄</m:t>
                        </m:r>
                      </m:e>
                      <m:sub>
                        <m:r>
                          <a:rPr lang="en-US" sz="2300" i="1">
                            <a:latin typeface="Cambria Math" panose="02040503050406030204" pitchFamily="18" charset="0"/>
                          </a:rPr>
                          <m:t>3</m:t>
                        </m:r>
                      </m:sub>
                    </m:sSub>
                    <m:r>
                      <a:rPr lang="en-US" sz="2300" i="1">
                        <a:latin typeface="Cambria Math" panose="02040503050406030204" pitchFamily="18" charset="0"/>
                      </a:rPr>
                      <m:t>−</m:t>
                    </m:r>
                    <m:sSub>
                      <m:sSubPr>
                        <m:ctrlPr>
                          <a:rPr lang="en-US" sz="2300" i="1">
                            <a:latin typeface="Cambria Math" panose="02040503050406030204" pitchFamily="18" charset="0"/>
                          </a:rPr>
                        </m:ctrlPr>
                      </m:sSubPr>
                      <m:e>
                        <m:r>
                          <a:rPr lang="en-US" sz="2300" i="1">
                            <a:latin typeface="Cambria Math" panose="02040503050406030204" pitchFamily="18" charset="0"/>
                          </a:rPr>
                          <m:t>𝑄</m:t>
                        </m:r>
                      </m:e>
                      <m:sub>
                        <m:r>
                          <a:rPr lang="en-US" sz="2300" i="1">
                            <a:latin typeface="Cambria Math" panose="02040503050406030204" pitchFamily="18" charset="0"/>
                          </a:rPr>
                          <m:t>1</m:t>
                        </m:r>
                      </m:sub>
                    </m:sSub>
                  </m:oMath>
                </a14:m>
                <a:r>
                  <a:rPr lang="en-US" sz="2300" dirty="0">
                    <a:latin typeface="Arial" panose="020B0604020202020204" pitchFamily="34" charset="0"/>
                    <a:cs typeface="Arial" panose="020B0604020202020204" pitchFamily="34" charset="0"/>
                  </a:rPr>
                  <a:t>. This quantity can be interpreted as the length of the interval that contains the middle 50% of the observations. </a:t>
                </a:r>
              </a:p>
              <a:p>
                <a:pPr marL="342900" indent="-342900" algn="just">
                  <a:lnSpc>
                    <a:spcPct val="150000"/>
                  </a:lnSpc>
                  <a:buFont typeface="Arial" panose="020B0604020202020204" pitchFamily="34" charset="0"/>
                  <a:buChar char="•"/>
                </a:pPr>
                <a:r>
                  <a:rPr lang="en-US" sz="2300" b="1" dirty="0" smtClean="0">
                    <a:latin typeface="Arial" panose="020B0604020202020204" pitchFamily="34" charset="0"/>
                    <a:cs typeface="Arial" panose="020B0604020202020204" pitchFamily="34" charset="0"/>
                  </a:rPr>
                  <a:t>Extreme </a:t>
                </a:r>
                <a:r>
                  <a:rPr lang="en-US" sz="2300" b="1" dirty="0">
                    <a:latin typeface="Arial" panose="020B0604020202020204" pitchFamily="34" charset="0"/>
                    <a:cs typeface="Arial" panose="020B0604020202020204" pitchFamily="34" charset="0"/>
                  </a:rPr>
                  <a:t>values (</a:t>
                </a:r>
                <a:r>
                  <a:rPr lang="en-US" sz="2300" b="1" dirty="0" smtClean="0">
                    <a:latin typeface="Arial" panose="020B0604020202020204" pitchFamily="34" charset="0"/>
                    <a:cs typeface="Arial" panose="020B0604020202020204" pitchFamily="34" charset="0"/>
                  </a:rPr>
                  <a:t>Outliers): </a:t>
                </a:r>
                <a:r>
                  <a:rPr lang="en-US" sz="2300" dirty="0" smtClean="0">
                    <a:latin typeface="Arial" panose="020B0604020202020204" pitchFamily="34" charset="0"/>
                    <a:cs typeface="Arial" panose="020B0604020202020204" pitchFamily="34" charset="0"/>
                  </a:rPr>
                  <a:t>If </a:t>
                </a:r>
                <a:r>
                  <a:rPr lang="en-US" sz="2300" dirty="0">
                    <a:latin typeface="Arial" panose="020B0604020202020204" pitchFamily="34" charset="0"/>
                    <a:cs typeface="Arial" panose="020B0604020202020204" pitchFamily="34" charset="0"/>
                  </a:rPr>
                  <a:t>a dataset contains values less </a:t>
                </a:r>
                <a:r>
                  <a:rPr lang="en-US" sz="2300" dirty="0" smtClean="0">
                    <a:latin typeface="Arial" panose="020B0604020202020204" pitchFamily="34" charset="0"/>
                    <a:cs typeface="Arial" panose="020B0604020202020204" pitchFamily="34" charset="0"/>
                  </a:rPr>
                  <a:t>than </a:t>
                </a:r>
                <a14:m>
                  <m:oMath xmlns:m="http://schemas.openxmlformats.org/officeDocument/2006/math">
                    <m:sSub>
                      <m:sSubPr>
                        <m:ctrlPr>
                          <a:rPr lang="en-US" sz="2300" i="1">
                            <a:latin typeface="Cambria Math" panose="02040503050406030204" pitchFamily="18" charset="0"/>
                          </a:rPr>
                        </m:ctrlPr>
                      </m:sSubPr>
                      <m:e>
                        <m:r>
                          <a:rPr lang="en-US" sz="2300" i="1">
                            <a:latin typeface="Cambria Math" panose="02040503050406030204" pitchFamily="18" charset="0"/>
                          </a:rPr>
                          <m:t>𝑄</m:t>
                        </m:r>
                      </m:e>
                      <m:sub>
                        <m:r>
                          <a:rPr lang="en-US" sz="2300" i="1">
                            <a:latin typeface="Cambria Math" panose="02040503050406030204" pitchFamily="18" charset="0"/>
                          </a:rPr>
                          <m:t>1</m:t>
                        </m:r>
                      </m:sub>
                    </m:sSub>
                    <m:r>
                      <a:rPr lang="en-US" sz="2300" i="1">
                        <a:latin typeface="Cambria Math" panose="02040503050406030204" pitchFamily="18" charset="0"/>
                      </a:rPr>
                      <m:t>−1.5×</m:t>
                    </m:r>
                    <m:r>
                      <a:rPr lang="en-US" sz="2300" i="1">
                        <a:latin typeface="Cambria Math" panose="02040503050406030204" pitchFamily="18" charset="0"/>
                      </a:rPr>
                      <m:t>𝐼𝑄𝑅</m:t>
                    </m:r>
                  </m:oMath>
                </a14:m>
                <a:r>
                  <a:rPr lang="en-US" sz="2300" dirty="0">
                    <a:latin typeface="Arial" panose="020B0604020202020204" pitchFamily="34" charset="0"/>
                    <a:cs typeface="Arial" panose="020B0604020202020204" pitchFamily="34" charset="0"/>
                  </a:rPr>
                  <a:t> or </a:t>
                </a:r>
                <a:r>
                  <a:rPr lang="en-US" sz="2300" i="1" dirty="0">
                    <a:latin typeface="Arial" panose="020B0604020202020204" pitchFamily="34" charset="0"/>
                    <a:cs typeface="Arial" panose="020B0604020202020204" pitchFamily="34" charset="0"/>
                  </a:rPr>
                  <a:t>greater than</a:t>
                </a:r>
                <a:r>
                  <a:rPr lang="en-US" sz="2300" dirty="0">
                    <a:latin typeface="Arial" panose="020B0604020202020204" pitchFamily="34" charset="0"/>
                    <a:cs typeface="Arial" panose="020B0604020202020204" pitchFamily="34" charset="0"/>
                  </a:rPr>
                  <a:t> </a:t>
                </a:r>
                <a14:m>
                  <m:oMath xmlns:m="http://schemas.openxmlformats.org/officeDocument/2006/math">
                    <m:sSub>
                      <m:sSubPr>
                        <m:ctrlPr>
                          <a:rPr lang="en-US" sz="2300" i="1">
                            <a:latin typeface="Cambria Math" panose="02040503050406030204" pitchFamily="18" charset="0"/>
                          </a:rPr>
                        </m:ctrlPr>
                      </m:sSubPr>
                      <m:e>
                        <m:r>
                          <a:rPr lang="en-US" sz="2300" i="1">
                            <a:latin typeface="Cambria Math" panose="02040503050406030204" pitchFamily="18" charset="0"/>
                          </a:rPr>
                          <m:t>𝑄</m:t>
                        </m:r>
                      </m:e>
                      <m:sub>
                        <m:r>
                          <a:rPr lang="en-US" sz="2300" i="1">
                            <a:latin typeface="Cambria Math" panose="02040503050406030204" pitchFamily="18" charset="0"/>
                          </a:rPr>
                          <m:t>3</m:t>
                        </m:r>
                      </m:sub>
                    </m:sSub>
                    <m:r>
                      <a:rPr lang="en-US" sz="2300" i="1">
                        <a:latin typeface="Cambria Math" panose="02040503050406030204" pitchFamily="18" charset="0"/>
                      </a:rPr>
                      <m:t>+1.5×</m:t>
                    </m:r>
                    <m:r>
                      <a:rPr lang="en-US" sz="2300" i="1">
                        <a:latin typeface="Cambria Math" panose="02040503050406030204" pitchFamily="18" charset="0"/>
                      </a:rPr>
                      <m:t>𝐼𝑄𝑅</m:t>
                    </m:r>
                    <m:r>
                      <a:rPr lang="en-US" sz="2300" b="0" i="1" smtClean="0">
                        <a:latin typeface="Cambria Math" panose="02040503050406030204" pitchFamily="18" charset="0"/>
                      </a:rPr>
                      <m:t>,</m:t>
                    </m:r>
                  </m:oMath>
                </a14:m>
                <a:r>
                  <a:rPr lang="en-US" sz="2300" dirty="0" smtClean="0">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they can be treated as extreme values. These are referred to as the fences of a dataset: the lower value is called the </a:t>
                </a:r>
                <a:r>
                  <a:rPr lang="en-US" sz="2300" i="1" dirty="0">
                    <a:latin typeface="Arial" panose="020B0604020202020204" pitchFamily="34" charset="0"/>
                    <a:cs typeface="Arial" panose="020B0604020202020204" pitchFamily="34" charset="0"/>
                  </a:rPr>
                  <a:t>lower fence </a:t>
                </a:r>
                <a:r>
                  <a:rPr lang="en-US" sz="2300" dirty="0">
                    <a:latin typeface="Arial" panose="020B0604020202020204" pitchFamily="34" charset="0"/>
                    <a:cs typeface="Arial" panose="020B0604020202020204" pitchFamily="34" charset="0"/>
                  </a:rPr>
                  <a:t>and the upper value is called the </a:t>
                </a:r>
                <a:r>
                  <a:rPr lang="en-US" sz="2300" i="1" dirty="0">
                    <a:latin typeface="Arial" panose="020B0604020202020204" pitchFamily="34" charset="0"/>
                    <a:cs typeface="Arial" panose="020B0604020202020204" pitchFamily="34" charset="0"/>
                  </a:rPr>
                  <a:t>upper fence</a:t>
                </a:r>
                <a:r>
                  <a:rPr lang="en-US" sz="23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300" b="1" dirty="0">
                    <a:latin typeface="Arial" panose="020B0604020202020204" pitchFamily="34" charset="0"/>
                    <a:cs typeface="Arial" panose="020B0604020202020204" pitchFamily="34" charset="0"/>
                  </a:rPr>
                  <a:t>Quartile deviation: </a:t>
                </a:r>
                <a:r>
                  <a:rPr lang="en-US" sz="2300" dirty="0">
                    <a:latin typeface="Arial" panose="020B0604020202020204" pitchFamily="34" charset="0"/>
                    <a:cs typeface="Arial" panose="020B0604020202020204" pitchFamily="34" charset="0"/>
                  </a:rPr>
                  <a:t>The quartile deviation (QD) is defined as half of the distance between the third and the first quartile i.e., </a:t>
                </a:r>
                <a14:m>
                  <m:oMath xmlns:m="http://schemas.openxmlformats.org/officeDocument/2006/math">
                    <m:r>
                      <a:rPr lang="en-US" sz="2300" i="1">
                        <a:latin typeface="Cambria Math" panose="02040503050406030204" pitchFamily="18" charset="0"/>
                      </a:rPr>
                      <m:t>𝑄𝐷</m:t>
                    </m:r>
                    <m:r>
                      <a:rPr lang="en-US" sz="2300" i="1">
                        <a:latin typeface="Cambria Math" panose="02040503050406030204" pitchFamily="18" charset="0"/>
                      </a:rPr>
                      <m:t>=</m:t>
                    </m:r>
                    <m:f>
                      <m:fPr>
                        <m:ctrlPr>
                          <a:rPr lang="en-US" sz="2300" i="1">
                            <a:latin typeface="Cambria Math" panose="02040503050406030204" pitchFamily="18" charset="0"/>
                          </a:rPr>
                        </m:ctrlPr>
                      </m:fPr>
                      <m:num>
                        <m:r>
                          <a:rPr lang="en-US" sz="2300" i="1">
                            <a:latin typeface="Cambria Math" panose="02040503050406030204" pitchFamily="18" charset="0"/>
                          </a:rPr>
                          <m:t>𝐼𝑄𝑅</m:t>
                        </m:r>
                      </m:num>
                      <m:den>
                        <m:r>
                          <a:rPr lang="en-US" sz="2300" i="1">
                            <a:latin typeface="Cambria Math" panose="02040503050406030204" pitchFamily="18" charset="0"/>
                          </a:rPr>
                          <m:t>2</m:t>
                        </m:r>
                      </m:den>
                    </m:f>
                  </m:oMath>
                </a14:m>
                <a:r>
                  <a:rPr lang="en-US" sz="2300" dirty="0" smtClean="0">
                    <a:latin typeface="Arial" panose="020B0604020202020204" pitchFamily="34" charset="0"/>
                    <a:cs typeface="Arial" panose="020B0604020202020204" pitchFamily="34" charset="0"/>
                  </a:rPr>
                  <a:t>.</a:t>
                </a:r>
                <a:endParaRPr lang="en-US" sz="23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401515"/>
                <a:ext cx="10831132" cy="6456485"/>
              </a:xfrm>
              <a:blipFill rotWithShape="0">
                <a:blip r:embed="rId2"/>
                <a:stretch>
                  <a:fillRect l="-675" r="-788" b="-189"/>
                </a:stretch>
              </a:blipFill>
            </p:spPr>
            <p:txBody>
              <a:bodyPr/>
              <a:lstStyle/>
              <a:p>
                <a:r>
                  <a:rPr lang="en-US">
                    <a:noFill/>
                  </a:rPr>
                  <a:t> </a:t>
                </a:r>
              </a:p>
            </p:txBody>
          </p:sp>
        </mc:Fallback>
      </mc:AlternateContent>
    </p:spTree>
    <p:extLst>
      <p:ext uri="{BB962C8B-B14F-4D97-AF65-F5344CB8AC3E}">
        <p14:creationId xmlns:p14="http://schemas.microsoft.com/office/powerpoint/2010/main" val="11330094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401515"/>
            <a:ext cx="9144000" cy="401515"/>
          </a:xfrm>
        </p:spPr>
        <p:txBody>
          <a:bodyPr>
            <a:noAutofit/>
          </a:bodyPr>
          <a:lstStyle/>
          <a:p>
            <a:r>
              <a:rPr lang="en-US" sz="2400" b="1" dirty="0">
                <a:latin typeface="Arial" panose="020B0604020202020204" pitchFamily="34" charset="0"/>
                <a:cs typeface="Arial" panose="020B0604020202020204" pitchFamily="34" charset="0"/>
              </a:rPr>
              <a:t>Measure of Dispersion: Quartile deviation </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401515"/>
                <a:ext cx="10831132" cy="6456485"/>
              </a:xfrm>
            </p:spPr>
            <p:txBody>
              <a:bodyPr>
                <a:noAutofit/>
              </a:bodyPr>
              <a:lstStyle/>
              <a:p>
                <a:pPr marL="342900" indent="-342900" algn="just">
                  <a:lnSpc>
                    <a:spcPct val="150000"/>
                  </a:lnSpc>
                  <a:buFont typeface="Arial" panose="020B0604020202020204" pitchFamily="34" charset="0"/>
                  <a:buChar char="•"/>
                </a:pPr>
                <a:endParaRPr lang="en-US" sz="2300" b="1"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300" b="1" dirty="0" smtClean="0">
                    <a:latin typeface="Arial" panose="020B0604020202020204" pitchFamily="34" charset="0"/>
                    <a:cs typeface="Arial" panose="020B0604020202020204" pitchFamily="34" charset="0"/>
                  </a:rPr>
                  <a:t>Example:</a:t>
                </a:r>
                <a:r>
                  <a:rPr lang="en-US" sz="2300" dirty="0" smtClean="0">
                    <a:latin typeface="Arial" panose="020B0604020202020204" pitchFamily="34" charset="0"/>
                    <a:cs typeface="Arial" panose="020B0604020202020204" pitchFamily="34" charset="0"/>
                  </a:rPr>
                  <a:t> Let us consider a dataset as</a:t>
                </a:r>
                <a:r>
                  <a:rPr lang="en-US" sz="2300" dirty="0">
                    <a:latin typeface="Arial" panose="020B0604020202020204" pitchFamily="34" charset="0"/>
                    <a:cs typeface="Arial" panose="020B0604020202020204" pitchFamily="34" charset="0"/>
                  </a:rPr>
                  <a:t> </a:t>
                </a:r>
                <a:r>
                  <a:rPr lang="en-US" sz="2300" dirty="0" smtClean="0">
                    <a:latin typeface="Arial" panose="020B0604020202020204" pitchFamily="34" charset="0"/>
                    <a:cs typeface="Arial" panose="020B0604020202020204" pitchFamily="34" charset="0"/>
                  </a:rPr>
                  <a:t>14</a:t>
                </a:r>
                <a:r>
                  <a:rPr lang="en-US" sz="2300" dirty="0">
                    <a:latin typeface="Arial" panose="020B0604020202020204" pitchFamily="34" charset="0"/>
                    <a:cs typeface="Arial" panose="020B0604020202020204" pitchFamily="34" charset="0"/>
                  </a:rPr>
                  <a:t>, 17, 19, </a:t>
                </a:r>
                <a:r>
                  <a:rPr lang="en-US" sz="2300" dirty="0" smtClean="0">
                    <a:latin typeface="Arial" panose="020B0604020202020204" pitchFamily="34" charset="0"/>
                    <a:cs typeface="Arial" panose="020B0604020202020204" pitchFamily="34" charset="0"/>
                  </a:rPr>
                  <a:t>30, 31, </a:t>
                </a:r>
                <a:r>
                  <a:rPr lang="en-US" sz="2300" dirty="0">
                    <a:latin typeface="Arial" panose="020B0604020202020204" pitchFamily="34" charset="0"/>
                    <a:cs typeface="Arial" panose="020B0604020202020204" pitchFamily="34" charset="0"/>
                  </a:rPr>
                  <a:t>32, 40, 49, 54, </a:t>
                </a:r>
                <a:r>
                  <a:rPr lang="en-US" sz="2300" dirty="0" smtClean="0">
                    <a:latin typeface="Arial" panose="020B0604020202020204" pitchFamily="34" charset="0"/>
                    <a:cs typeface="Arial" panose="020B0604020202020204" pitchFamily="34" charset="0"/>
                  </a:rPr>
                  <a:t>55, </a:t>
                </a:r>
                <a:r>
                  <a:rPr lang="en-US" sz="2300" dirty="0">
                    <a:latin typeface="Arial" panose="020B0604020202020204" pitchFamily="34" charset="0"/>
                    <a:cs typeface="Arial" panose="020B0604020202020204" pitchFamily="34" charset="0"/>
                  </a:rPr>
                  <a:t>71, </a:t>
                </a:r>
                <a:r>
                  <a:rPr lang="en-US" sz="2300" dirty="0" smtClean="0">
                    <a:latin typeface="Arial" panose="020B0604020202020204" pitchFamily="34" charset="0"/>
                    <a:cs typeface="Arial" panose="020B0604020202020204" pitchFamily="34" charset="0"/>
                  </a:rPr>
                  <a:t>80, 94. The </a:t>
                </a:r>
                <a14:m>
                  <m:oMath xmlns:m="http://schemas.openxmlformats.org/officeDocument/2006/math">
                    <m:sSub>
                      <m:sSubPr>
                        <m:ctrlPr>
                          <a:rPr lang="en-US" sz="2300" b="0" i="1" smtClean="0">
                            <a:latin typeface="Cambria Math" panose="02040503050406030204" pitchFamily="18" charset="0"/>
                            <a:cs typeface="Arial" panose="020B0604020202020204" pitchFamily="34" charset="0"/>
                          </a:rPr>
                        </m:ctrlPr>
                      </m:sSubPr>
                      <m:e>
                        <m:r>
                          <a:rPr lang="en-US" sz="2300" b="0" i="1" smtClean="0">
                            <a:latin typeface="Cambria Math" panose="02040503050406030204" pitchFamily="18" charset="0"/>
                            <a:cs typeface="Arial" panose="020B0604020202020204" pitchFamily="34" charset="0"/>
                          </a:rPr>
                          <m:t>𝑄</m:t>
                        </m:r>
                      </m:e>
                      <m:sub>
                        <m:r>
                          <a:rPr lang="en-US" sz="2300" b="0" i="1" smtClean="0">
                            <a:latin typeface="Cambria Math" panose="02040503050406030204" pitchFamily="18" charset="0"/>
                            <a:cs typeface="Arial" panose="020B0604020202020204" pitchFamily="34" charset="0"/>
                          </a:rPr>
                          <m:t>1</m:t>
                        </m:r>
                      </m:sub>
                    </m:sSub>
                    <m:r>
                      <a:rPr lang="en-US" sz="2300" b="0" i="1" smtClean="0">
                        <a:latin typeface="Cambria Math" panose="02040503050406030204" pitchFamily="18" charset="0"/>
                        <a:cs typeface="Arial" panose="020B0604020202020204" pitchFamily="34" charset="0"/>
                      </a:rPr>
                      <m:t>=30</m:t>
                    </m:r>
                  </m:oMath>
                </a14:m>
                <a:r>
                  <a:rPr lang="en-US" sz="2300" dirty="0" smtClean="0">
                    <a:latin typeface="Arial" panose="020B0604020202020204" pitchFamily="34" charset="0"/>
                    <a:cs typeface="Arial" panose="020B0604020202020204" pitchFamily="34" charset="0"/>
                  </a:rPr>
                  <a:t> and </a:t>
                </a:r>
                <a14:m>
                  <m:oMath xmlns:m="http://schemas.openxmlformats.org/officeDocument/2006/math">
                    <m:sSub>
                      <m:sSubPr>
                        <m:ctrlPr>
                          <a:rPr lang="en-US" sz="2300" b="0" i="1" smtClean="0">
                            <a:latin typeface="Cambria Math" panose="02040503050406030204" pitchFamily="18" charset="0"/>
                            <a:cs typeface="Arial" panose="020B0604020202020204" pitchFamily="34" charset="0"/>
                          </a:rPr>
                        </m:ctrlPr>
                      </m:sSubPr>
                      <m:e>
                        <m:r>
                          <a:rPr lang="en-US" sz="2300" b="0" i="1" smtClean="0">
                            <a:latin typeface="Cambria Math" panose="02040503050406030204" pitchFamily="18" charset="0"/>
                            <a:cs typeface="Arial" panose="020B0604020202020204" pitchFamily="34" charset="0"/>
                          </a:rPr>
                          <m:t>𝑄</m:t>
                        </m:r>
                      </m:e>
                      <m:sub>
                        <m:r>
                          <a:rPr lang="en-US" sz="2300" b="0" i="1" smtClean="0">
                            <a:latin typeface="Cambria Math" panose="02040503050406030204" pitchFamily="18" charset="0"/>
                            <a:cs typeface="Arial" panose="020B0604020202020204" pitchFamily="34" charset="0"/>
                          </a:rPr>
                          <m:t>3</m:t>
                        </m:r>
                      </m:sub>
                    </m:sSub>
                    <m:r>
                      <a:rPr lang="en-US" sz="2300" b="0" i="1" smtClean="0">
                        <a:latin typeface="Cambria Math" panose="02040503050406030204" pitchFamily="18" charset="0"/>
                        <a:cs typeface="Arial" panose="020B0604020202020204" pitchFamily="34" charset="0"/>
                      </a:rPr>
                      <m:t>=55</m:t>
                    </m:r>
                  </m:oMath>
                </a14:m>
                <a:r>
                  <a:rPr lang="en-US" sz="23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300" dirty="0" smtClean="0">
                    <a:latin typeface="Arial" panose="020B0604020202020204" pitchFamily="34" charset="0"/>
                    <a:cs typeface="Arial" panose="020B0604020202020204" pitchFamily="34" charset="0"/>
                  </a:rPr>
                  <a:t>We have IQR = 55 – 30 = 25. If the dataset contains values below 30-37.5=-</a:t>
                </a:r>
                <a:r>
                  <a:rPr lang="en-US" sz="2300" dirty="0">
                    <a:latin typeface="Arial" panose="020B0604020202020204" pitchFamily="34" charset="0"/>
                    <a:cs typeface="Arial" panose="020B0604020202020204" pitchFamily="34" charset="0"/>
                  </a:rPr>
                  <a:t>7</a:t>
                </a:r>
                <a:r>
                  <a:rPr lang="en-US" sz="2300" dirty="0" smtClean="0">
                    <a:latin typeface="Arial" panose="020B0604020202020204" pitchFamily="34" charset="0"/>
                    <a:cs typeface="Arial" panose="020B0604020202020204" pitchFamily="34" charset="0"/>
                  </a:rPr>
                  <a:t>.5 or above 55+37.5=92.5, they can be treated as outliers. Here 94 is an outlier. </a:t>
                </a:r>
              </a:p>
              <a:p>
                <a:pPr marL="342900" indent="-342900" algn="just">
                  <a:lnSpc>
                    <a:spcPct val="150000"/>
                  </a:lnSpc>
                  <a:buFont typeface="Arial" panose="020B0604020202020204" pitchFamily="34" charset="0"/>
                  <a:buChar char="•"/>
                </a:pPr>
                <a:r>
                  <a:rPr lang="en-US" sz="2300" dirty="0">
                    <a:latin typeface="Arial" panose="020B0604020202020204" pitchFamily="34" charset="0"/>
                    <a:cs typeface="Arial" panose="020B0604020202020204" pitchFamily="34" charset="0"/>
                  </a:rPr>
                  <a:t>The QD = 25/2 = 12.5 i.e., On average, the values in the middle 50% of the dataset deviate 12.5 units from the median (or center of that middle half).</a:t>
                </a: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401515"/>
                <a:ext cx="10831132" cy="6456485"/>
              </a:xfrm>
              <a:blipFill rotWithShape="0">
                <a:blip r:embed="rId2"/>
                <a:stretch>
                  <a:fillRect l="-675" r="-788"/>
                </a:stretch>
              </a:blipFill>
            </p:spPr>
            <p:txBody>
              <a:bodyPr/>
              <a:lstStyle/>
              <a:p>
                <a:r>
                  <a:rPr lang="en-US">
                    <a:noFill/>
                  </a:rPr>
                  <a:t> </a:t>
                </a:r>
              </a:p>
            </p:txBody>
          </p:sp>
        </mc:Fallback>
      </mc:AlternateContent>
    </p:spTree>
    <p:extLst>
      <p:ext uri="{BB962C8B-B14F-4D97-AF65-F5344CB8AC3E}">
        <p14:creationId xmlns:p14="http://schemas.microsoft.com/office/powerpoint/2010/main" val="6715720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Properties of quartile deviation </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300" b="1" dirty="0" smtClean="0">
                    <a:latin typeface="Arial" panose="020B0604020202020204" pitchFamily="34" charset="0"/>
                    <a:cs typeface="Arial" panose="020B0604020202020204" pitchFamily="34" charset="0"/>
                  </a:rPr>
                  <a:t>Property-1: </a:t>
                </a:r>
                <a:r>
                  <a:rPr lang="en-US" sz="2300" dirty="0">
                    <a:latin typeface="Arial" panose="020B0604020202020204" pitchFamily="34" charset="0"/>
                    <a:cs typeface="Arial" panose="020B0604020202020204" pitchFamily="34" charset="0"/>
                  </a:rPr>
                  <a:t>The quartile </a:t>
                </a:r>
                <a:r>
                  <a:rPr lang="en-US" sz="2300" dirty="0" smtClean="0">
                    <a:latin typeface="Arial" panose="020B0604020202020204" pitchFamily="34" charset="0"/>
                    <a:cs typeface="Arial" panose="020B0604020202020204" pitchFamily="34" charset="0"/>
                  </a:rPr>
                  <a:t>deviation</a:t>
                </a:r>
                <a:r>
                  <a:rPr lang="en-US" sz="2300" dirty="0">
                    <a:latin typeface="Arial" panose="020B0604020202020204" pitchFamily="34" charset="0"/>
                    <a:cs typeface="Arial" panose="020B0604020202020204" pitchFamily="34" charset="0"/>
                  </a:rPr>
                  <a:t> </a:t>
                </a:r>
                <a:r>
                  <a:rPr lang="en-US" sz="2300" dirty="0" smtClean="0">
                    <a:latin typeface="Arial" panose="020B0604020202020204" pitchFamily="34" charset="0"/>
                    <a:cs typeface="Arial" panose="020B0604020202020204" pitchFamily="34" charset="0"/>
                  </a:rPr>
                  <a:t>depends </a:t>
                </a:r>
                <a:r>
                  <a:rPr lang="en-US" sz="2300" dirty="0">
                    <a:latin typeface="Arial" panose="020B0604020202020204" pitchFamily="34" charset="0"/>
                    <a:cs typeface="Arial" panose="020B0604020202020204" pitchFamily="34" charset="0"/>
                  </a:rPr>
                  <a:t>on the </a:t>
                </a:r>
                <a:r>
                  <a:rPr lang="en-US" sz="2300" dirty="0" smtClean="0">
                    <a:latin typeface="Arial" panose="020B0604020202020204" pitchFamily="34" charset="0"/>
                    <a:cs typeface="Arial" panose="020B0604020202020204" pitchFamily="34" charset="0"/>
                  </a:rPr>
                  <a:t>middle </a:t>
                </a:r>
                <a:r>
                  <a:rPr lang="en-US" sz="2300" dirty="0">
                    <a:latin typeface="Arial" panose="020B0604020202020204" pitchFamily="34" charset="0"/>
                    <a:cs typeface="Arial" panose="020B0604020202020204" pitchFamily="34" charset="0"/>
                  </a:rPr>
                  <a:t>50% of </a:t>
                </a:r>
                <a:r>
                  <a:rPr lang="en-US" sz="2300" dirty="0" smtClean="0">
                    <a:latin typeface="Arial" panose="020B0604020202020204" pitchFamily="34" charset="0"/>
                    <a:cs typeface="Arial" panose="020B0604020202020204" pitchFamily="34" charset="0"/>
                  </a:rPr>
                  <a:t>data.</a:t>
                </a:r>
                <a:endParaRPr lang="en-US" sz="23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300" b="1" dirty="0" smtClean="0">
                    <a:latin typeface="Arial" panose="020B0604020202020204" pitchFamily="34" charset="0"/>
                    <a:cs typeface="Arial" panose="020B0604020202020204" pitchFamily="34" charset="0"/>
                  </a:rPr>
                  <a:t>Property-2: </a:t>
                </a:r>
                <a:r>
                  <a:rPr lang="en-US" sz="2300" dirty="0">
                    <a:latin typeface="Arial" panose="020B0604020202020204" pitchFamily="34" charset="0"/>
                    <a:cs typeface="Arial" panose="020B0604020202020204" pitchFamily="34" charset="0"/>
                  </a:rPr>
                  <a:t>Since t</a:t>
                </a:r>
                <a:r>
                  <a:rPr lang="en-US" sz="2300" dirty="0" smtClean="0">
                    <a:latin typeface="Arial" panose="020B0604020202020204" pitchFamily="34" charset="0"/>
                    <a:cs typeface="Arial" panose="020B0604020202020204" pitchFamily="34" charset="0"/>
                  </a:rPr>
                  <a:t>he </a:t>
                </a:r>
                <a:r>
                  <a:rPr lang="en-US" sz="2300" dirty="0">
                    <a:latin typeface="Arial" panose="020B0604020202020204" pitchFamily="34" charset="0"/>
                    <a:cs typeface="Arial" panose="020B0604020202020204" pitchFamily="34" charset="0"/>
                  </a:rPr>
                  <a:t>quartile </a:t>
                </a:r>
                <a:r>
                  <a:rPr lang="en-US" sz="2300" dirty="0" smtClean="0">
                    <a:latin typeface="Arial" panose="020B0604020202020204" pitchFamily="34" charset="0"/>
                    <a:cs typeface="Arial" panose="020B0604020202020204" pitchFamily="34" charset="0"/>
                  </a:rPr>
                  <a:t>deviation consider only </a:t>
                </a:r>
                <a14:m>
                  <m:oMath xmlns:m="http://schemas.openxmlformats.org/officeDocument/2006/math">
                    <m:sSub>
                      <m:sSubPr>
                        <m:ctrlPr>
                          <a:rPr lang="en-US" sz="2300" b="0" i="1" smtClean="0">
                            <a:latin typeface="Cambria Math" panose="02040503050406030204" pitchFamily="18" charset="0"/>
                            <a:cs typeface="Arial" panose="020B0604020202020204" pitchFamily="34" charset="0"/>
                          </a:rPr>
                        </m:ctrlPr>
                      </m:sSubPr>
                      <m:e>
                        <m:r>
                          <a:rPr lang="en-US" sz="2300" b="0" i="1" smtClean="0">
                            <a:latin typeface="Cambria Math" panose="02040503050406030204" pitchFamily="18" charset="0"/>
                            <a:cs typeface="Arial" panose="020B0604020202020204" pitchFamily="34" charset="0"/>
                          </a:rPr>
                          <m:t>𝑄</m:t>
                        </m:r>
                      </m:e>
                      <m:sub>
                        <m:r>
                          <a:rPr lang="en-US" sz="2300" b="0" i="1" smtClean="0">
                            <a:latin typeface="Cambria Math" panose="02040503050406030204" pitchFamily="18" charset="0"/>
                            <a:cs typeface="Arial" panose="020B0604020202020204" pitchFamily="34" charset="0"/>
                          </a:rPr>
                          <m:t>1</m:t>
                        </m:r>
                      </m:sub>
                    </m:sSub>
                  </m:oMath>
                </a14:m>
                <a:r>
                  <a:rPr lang="en-US" sz="2300" dirty="0" smtClean="0">
                    <a:latin typeface="Arial" panose="020B0604020202020204" pitchFamily="34" charset="0"/>
                    <a:cs typeface="Arial" panose="020B0604020202020204" pitchFamily="34" charset="0"/>
                  </a:rPr>
                  <a:t> and </a:t>
                </a:r>
                <a14:m>
                  <m:oMath xmlns:m="http://schemas.openxmlformats.org/officeDocument/2006/math">
                    <m:sSub>
                      <m:sSubPr>
                        <m:ctrlPr>
                          <a:rPr lang="en-US" sz="2300" b="0" i="1" smtClean="0">
                            <a:latin typeface="Cambria Math" panose="02040503050406030204" pitchFamily="18" charset="0"/>
                            <a:cs typeface="Arial" panose="020B0604020202020204" pitchFamily="34" charset="0"/>
                          </a:rPr>
                        </m:ctrlPr>
                      </m:sSubPr>
                      <m:e>
                        <m:r>
                          <a:rPr lang="en-US" sz="2300" b="0" i="1" smtClean="0">
                            <a:latin typeface="Cambria Math" panose="02040503050406030204" pitchFamily="18" charset="0"/>
                            <a:cs typeface="Arial" panose="020B0604020202020204" pitchFamily="34" charset="0"/>
                          </a:rPr>
                          <m:t>𝑄</m:t>
                        </m:r>
                      </m:e>
                      <m:sub>
                        <m:r>
                          <a:rPr lang="en-US" sz="2300" b="0" i="1" smtClean="0">
                            <a:latin typeface="Cambria Math" panose="02040503050406030204" pitchFamily="18" charset="0"/>
                            <a:cs typeface="Arial" panose="020B0604020202020204" pitchFamily="34" charset="0"/>
                          </a:rPr>
                          <m:t>3</m:t>
                        </m:r>
                      </m:sub>
                    </m:sSub>
                  </m:oMath>
                </a14:m>
                <a:r>
                  <a:rPr lang="en-US" sz="2300" dirty="0" smtClean="0">
                    <a:latin typeface="Arial" panose="020B0604020202020204" pitchFamily="34" charset="0"/>
                    <a:cs typeface="Arial" panose="020B0604020202020204" pitchFamily="34" charset="0"/>
                  </a:rPr>
                  <a:t>, it is </a:t>
                </a:r>
                <a:r>
                  <a:rPr lang="en-US" sz="2300" dirty="0">
                    <a:latin typeface="Arial" panose="020B0604020202020204" pitchFamily="34" charset="0"/>
                    <a:cs typeface="Arial" panose="020B0604020202020204" pitchFamily="34" charset="0"/>
                  </a:rPr>
                  <a:t>not much influenced by outliers or extreme </a:t>
                </a:r>
                <a:r>
                  <a:rPr lang="en-US" sz="2300" dirty="0" smtClean="0">
                    <a:latin typeface="Arial" panose="020B0604020202020204" pitchFamily="34" charset="0"/>
                    <a:cs typeface="Arial" panose="020B0604020202020204" pitchFamily="34" charset="0"/>
                  </a:rPr>
                  <a:t>observations and consequently makes </a:t>
                </a:r>
                <a:r>
                  <a:rPr lang="en-US" sz="2300" dirty="0">
                    <a:latin typeface="Arial" panose="020B0604020202020204" pitchFamily="34" charset="0"/>
                    <a:cs typeface="Arial" panose="020B0604020202020204" pitchFamily="34" charset="0"/>
                  </a:rPr>
                  <a:t>it useful for skewed distributions.</a:t>
                </a:r>
              </a:p>
              <a:p>
                <a:pPr marL="342900" indent="-342900" algn="just">
                  <a:lnSpc>
                    <a:spcPct val="150000"/>
                  </a:lnSpc>
                  <a:buFont typeface="Arial" panose="020B0604020202020204" pitchFamily="34" charset="0"/>
                  <a:buChar char="•"/>
                </a:pPr>
                <a:r>
                  <a:rPr lang="en-US" sz="2300" b="1" dirty="0" smtClean="0">
                    <a:latin typeface="Arial" panose="020B0604020202020204" pitchFamily="34" charset="0"/>
                    <a:cs typeface="Arial" panose="020B0604020202020204" pitchFamily="34" charset="0"/>
                  </a:rPr>
                  <a:t>Property-3: </a:t>
                </a:r>
                <a:r>
                  <a:rPr lang="en-US" sz="2300" dirty="0">
                    <a:latin typeface="Arial" panose="020B0604020202020204" pitchFamily="34" charset="0"/>
                    <a:cs typeface="Arial" panose="020B0604020202020204" pitchFamily="34" charset="0"/>
                  </a:rPr>
                  <a:t>The quartile deviation is simple to compute and understand, making it a good rough measure of dispersion.</a:t>
                </a:r>
              </a:p>
              <a:p>
                <a:pPr marL="342900" indent="-342900" algn="just">
                  <a:lnSpc>
                    <a:spcPct val="150000"/>
                  </a:lnSpc>
                  <a:buFont typeface="Arial" panose="020B0604020202020204" pitchFamily="34" charset="0"/>
                  <a:buChar char="•"/>
                </a:pPr>
                <a:endParaRPr lang="en-US" sz="23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675" r="-788"/>
                </a:stretch>
              </a:blipFill>
            </p:spPr>
            <p:txBody>
              <a:bodyPr/>
              <a:lstStyle/>
              <a:p>
                <a:r>
                  <a:rPr lang="en-US">
                    <a:noFill/>
                  </a:rPr>
                  <a:t> </a:t>
                </a:r>
              </a:p>
            </p:txBody>
          </p:sp>
        </mc:Fallback>
      </mc:AlternateContent>
    </p:spTree>
    <p:extLst>
      <p:ext uri="{BB962C8B-B14F-4D97-AF65-F5344CB8AC3E}">
        <p14:creationId xmlns:p14="http://schemas.microsoft.com/office/powerpoint/2010/main" val="33511484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Measure of Dispersion: Mean deviation </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Mean deviation</a:t>
                </a:r>
                <a:r>
                  <a:rPr lang="en-US" sz="2200" dirty="0">
                    <a:latin typeface="Arial" panose="020B0604020202020204" pitchFamily="34" charset="0"/>
                    <a:cs typeface="Arial" panose="020B0604020202020204" pitchFamily="34" charset="0"/>
                  </a:rPr>
                  <a:t>: The arithmetic mean of the absolute values of deviations </a:t>
                </a:r>
                <a:r>
                  <a:rPr lang="en-US" sz="2200" b="1" i="1" dirty="0">
                    <a:latin typeface="Arial" panose="020B0604020202020204" pitchFamily="34" charset="0"/>
                    <a:cs typeface="Arial" panose="020B0604020202020204" pitchFamily="34" charset="0"/>
                  </a:rPr>
                  <a:t>from a typical value</a:t>
                </a:r>
                <a:r>
                  <a:rPr lang="en-US" sz="2200" dirty="0">
                    <a:latin typeface="Arial" panose="020B0604020202020204" pitchFamily="34" charset="0"/>
                    <a:cs typeface="Arial" panose="020B0604020202020204" pitchFamily="34" charset="0"/>
                  </a:rPr>
                  <a:t> of a distribution is called mean deviation. The typical value may be the arithmetic mean or median. If the typical value is mean then the mean deviation is called mean deviation about the mean. It is denoted by </a:t>
                </a:r>
                <a14:m>
                  <m:oMath xmlns:m="http://schemas.openxmlformats.org/officeDocument/2006/math">
                    <m:r>
                      <a:rPr lang="en-US" sz="2200" i="1">
                        <a:latin typeface="Cambria Math" panose="02040503050406030204" pitchFamily="18" charset="0"/>
                      </a:rPr>
                      <m:t>𝑀𝐷</m:t>
                    </m:r>
                    <m:r>
                      <a:rPr lang="en-US" sz="2200" i="1">
                        <a:latin typeface="Cambria Math" panose="02040503050406030204" pitchFamily="18" charset="0"/>
                      </a:rPr>
                      <m:t>(</m:t>
                    </m:r>
                    <m:acc>
                      <m:accPr>
                        <m:chr m:val="̅"/>
                        <m:ctrlPr>
                          <a:rPr lang="en-US" sz="2200" i="1">
                            <a:latin typeface="Cambria Math" panose="02040503050406030204" pitchFamily="18" charset="0"/>
                          </a:rPr>
                        </m:ctrlPr>
                      </m:accPr>
                      <m:e>
                        <m:r>
                          <a:rPr lang="en-US" sz="2200" i="1">
                            <a:latin typeface="Cambria Math" panose="02040503050406030204" pitchFamily="18" charset="0"/>
                          </a:rPr>
                          <m:t>𝑥</m:t>
                        </m:r>
                      </m:e>
                    </m:acc>
                    <m:r>
                      <a:rPr lang="en-US" sz="2200" i="1">
                        <a:latin typeface="Cambria Math" panose="02040503050406030204" pitchFamily="18" charset="0"/>
                      </a:rPr>
                      <m:t>)</m:t>
                    </m:r>
                  </m:oMath>
                </a14:m>
                <a:r>
                  <a:rPr lang="en-US" sz="2200" dirty="0">
                    <a:latin typeface="Arial" panose="020B0604020202020204" pitchFamily="34" charset="0"/>
                    <a:cs typeface="Arial" panose="020B0604020202020204" pitchFamily="34" charset="0"/>
                  </a:rPr>
                  <a:t>. By definition</a:t>
                </a:r>
              </a:p>
              <a:p>
                <a:pPr algn="just">
                  <a:lnSpc>
                    <a:spcPct val="100000"/>
                  </a:lnSpc>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𝑀𝐷</m:t>
                      </m:r>
                      <m:r>
                        <a:rPr lang="en-US" sz="2200" i="1">
                          <a:latin typeface="Cambria Math" panose="02040503050406030204" pitchFamily="18" charset="0"/>
                        </a:rPr>
                        <m:t>(</m:t>
                      </m:r>
                      <m:acc>
                        <m:accPr>
                          <m:chr m:val="̅"/>
                          <m:ctrlPr>
                            <a:rPr lang="en-US" sz="2200" i="1">
                              <a:latin typeface="Cambria Math" panose="02040503050406030204" pitchFamily="18" charset="0"/>
                            </a:rPr>
                          </m:ctrlPr>
                        </m:accPr>
                        <m:e>
                          <m:r>
                            <a:rPr lang="en-US" sz="2200" i="1">
                              <a:latin typeface="Cambria Math" panose="02040503050406030204" pitchFamily="18" charset="0"/>
                            </a:rPr>
                            <m:t>𝑥</m:t>
                          </m:r>
                        </m:e>
                      </m:acc>
                      <m:r>
                        <a:rPr lang="en-US" sz="2200" i="1">
                          <a:latin typeface="Cambria Math" panose="02040503050406030204" pitchFamily="18" charset="0"/>
                        </a:rPr>
                        <m:t>)=</m:t>
                      </m:r>
                      <m:f>
                        <m:fPr>
                          <m:ctrlPr>
                            <a:rPr lang="en-US" sz="2200" i="1">
                              <a:latin typeface="Cambria Math" panose="02040503050406030204" pitchFamily="18" charset="0"/>
                            </a:rPr>
                          </m:ctrlPr>
                        </m:fPr>
                        <m:num>
                          <m:nary>
                            <m:naryPr>
                              <m:chr m:val="∑"/>
                              <m:limLoc m:val="subSup"/>
                              <m:ctrlPr>
                                <a:rPr lang="en-US" sz="2200" i="1">
                                  <a:latin typeface="Cambria Math" panose="02040503050406030204" pitchFamily="18" charset="0"/>
                                </a:rPr>
                              </m:ctrlPr>
                            </m:naryPr>
                            <m:sub>
                              <m:r>
                                <a:rPr lang="en-US" sz="2200" i="1">
                                  <a:latin typeface="Cambria Math" panose="02040503050406030204" pitchFamily="18" charset="0"/>
                                </a:rPr>
                                <m:t>𝑖</m:t>
                              </m:r>
                              <m:r>
                                <a:rPr lang="en-US" sz="2200" i="1">
                                  <a:latin typeface="Cambria Math" panose="02040503050406030204" pitchFamily="18" charset="0"/>
                                </a:rPr>
                                <m:t>=1</m:t>
                              </m:r>
                            </m:sub>
                            <m:sup>
                              <m:r>
                                <a:rPr lang="en-US" sz="2200" i="1">
                                  <a:latin typeface="Cambria Math" panose="02040503050406030204" pitchFamily="18" charset="0"/>
                                </a:rPr>
                                <m:t>𝑛</m:t>
                              </m:r>
                            </m:sup>
                            <m:e>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r>
                                    <a:rPr lang="en-US" sz="2200" i="1">
                                      <a:latin typeface="Cambria Math" panose="02040503050406030204" pitchFamily="18" charset="0"/>
                                    </a:rPr>
                                    <m:t>−</m:t>
                                  </m:r>
                                  <m:acc>
                                    <m:accPr>
                                      <m:chr m:val="̅"/>
                                      <m:ctrlPr>
                                        <a:rPr lang="en-US" sz="2200" i="1">
                                          <a:latin typeface="Cambria Math" panose="02040503050406030204" pitchFamily="18" charset="0"/>
                                        </a:rPr>
                                      </m:ctrlPr>
                                    </m:accPr>
                                    <m:e>
                                      <m:r>
                                        <a:rPr lang="en-US" sz="2200" i="1">
                                          <a:latin typeface="Cambria Math" panose="02040503050406030204" pitchFamily="18" charset="0"/>
                                        </a:rPr>
                                        <m:t>𝑥</m:t>
                                      </m:r>
                                    </m:e>
                                  </m:acc>
                                </m:e>
                              </m:d>
                            </m:e>
                          </m:nary>
                        </m:num>
                        <m:den>
                          <m:r>
                            <a:rPr lang="en-US" sz="2200" i="1">
                              <a:latin typeface="Cambria Math" panose="02040503050406030204" pitchFamily="18" charset="0"/>
                            </a:rPr>
                            <m:t>𝑛</m:t>
                          </m:r>
                        </m:den>
                      </m:f>
                    </m:oMath>
                  </m:oMathPara>
                </a14:m>
                <a:endParaRPr lang="en-US" sz="2200" dirty="0">
                  <a:latin typeface="Arial" panose="020B0604020202020204" pitchFamily="34" charset="0"/>
                </a:endParaRPr>
              </a:p>
              <a:p>
                <a:pPr marL="342900" indent="-34290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Similarly, mean deviation about the median is denoted by </a:t>
                </a:r>
                <a14:m>
                  <m:oMath xmlns:m="http://schemas.openxmlformats.org/officeDocument/2006/math">
                    <m:r>
                      <a:rPr lang="en-US" sz="2200" i="1">
                        <a:latin typeface="Cambria Math" panose="02040503050406030204" pitchFamily="18" charset="0"/>
                      </a:rPr>
                      <m:t>𝑀𝐷</m:t>
                    </m:r>
                    <m:r>
                      <a:rPr lang="en-US" sz="2200" i="1">
                        <a:latin typeface="Cambria Math" panose="02040503050406030204" pitchFamily="18" charset="0"/>
                      </a:rPr>
                      <m:t>(</m:t>
                    </m:r>
                    <m:r>
                      <a:rPr lang="en-US" sz="2200" i="1">
                        <a:latin typeface="Cambria Math" panose="02040503050406030204" pitchFamily="18" charset="0"/>
                      </a:rPr>
                      <m:t>𝑀𝑒</m:t>
                    </m:r>
                    <m:r>
                      <a:rPr lang="en-US" sz="2200" i="1">
                        <a:latin typeface="Cambria Math" panose="02040503050406030204" pitchFamily="18" charset="0"/>
                      </a:rPr>
                      <m:t>)</m:t>
                    </m:r>
                  </m:oMath>
                </a14:m>
                <a:r>
                  <a:rPr lang="en-US" sz="2200" dirty="0">
                    <a:latin typeface="Arial" panose="020B0604020202020204" pitchFamily="34" charset="0"/>
                    <a:cs typeface="Arial" panose="020B0604020202020204" pitchFamily="34" charset="0"/>
                  </a:rPr>
                  <a:t>. It is defined by </a:t>
                </a:r>
                <a14:m>
                  <m:oMath xmlns:m="http://schemas.openxmlformats.org/officeDocument/2006/math">
                    <m:r>
                      <a:rPr lang="en-US" sz="2200" i="1">
                        <a:latin typeface="Cambria Math" panose="02040503050406030204" pitchFamily="18" charset="0"/>
                      </a:rPr>
                      <m:t>𝑀𝐷</m:t>
                    </m:r>
                    <m:r>
                      <a:rPr lang="en-US" sz="2200" i="1">
                        <a:latin typeface="Cambria Math" panose="02040503050406030204" pitchFamily="18" charset="0"/>
                      </a:rPr>
                      <m:t>(</m:t>
                    </m:r>
                    <m:r>
                      <a:rPr lang="en-US" sz="2200" i="1">
                        <a:latin typeface="Cambria Math" panose="02040503050406030204" pitchFamily="18" charset="0"/>
                      </a:rPr>
                      <m:t>𝑀𝑒</m:t>
                    </m:r>
                    <m:r>
                      <a:rPr lang="en-US" sz="2200" i="1">
                        <a:latin typeface="Cambria Math" panose="02040503050406030204" pitchFamily="18" charset="0"/>
                      </a:rPr>
                      <m:t>)=</m:t>
                    </m:r>
                    <m:f>
                      <m:fPr>
                        <m:ctrlPr>
                          <a:rPr lang="en-US" sz="2200" i="1">
                            <a:latin typeface="Cambria Math" panose="02040503050406030204" pitchFamily="18" charset="0"/>
                          </a:rPr>
                        </m:ctrlPr>
                      </m:fPr>
                      <m:num>
                        <m:nary>
                          <m:naryPr>
                            <m:chr m:val="∑"/>
                            <m:limLoc m:val="subSup"/>
                            <m:ctrlPr>
                              <a:rPr lang="en-US" sz="2200" i="1">
                                <a:latin typeface="Cambria Math" panose="02040503050406030204" pitchFamily="18" charset="0"/>
                              </a:rPr>
                            </m:ctrlPr>
                          </m:naryPr>
                          <m:sub>
                            <m:r>
                              <a:rPr lang="en-US" sz="2200" i="1">
                                <a:latin typeface="Cambria Math" panose="02040503050406030204" pitchFamily="18" charset="0"/>
                              </a:rPr>
                              <m:t>𝑖</m:t>
                            </m:r>
                            <m:r>
                              <a:rPr lang="en-US" sz="2200" i="1">
                                <a:latin typeface="Cambria Math" panose="02040503050406030204" pitchFamily="18" charset="0"/>
                              </a:rPr>
                              <m:t>=1</m:t>
                            </m:r>
                          </m:sub>
                          <m:sup>
                            <m:r>
                              <a:rPr lang="en-US" sz="2200" i="1">
                                <a:latin typeface="Cambria Math" panose="02040503050406030204" pitchFamily="18" charset="0"/>
                              </a:rPr>
                              <m:t>𝑛</m:t>
                            </m:r>
                          </m:sup>
                          <m:e>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r>
                                  <a:rPr lang="en-US" sz="2200" i="1">
                                    <a:latin typeface="Cambria Math" panose="02040503050406030204" pitchFamily="18" charset="0"/>
                                  </a:rPr>
                                  <m:t>−</m:t>
                                </m:r>
                                <m:r>
                                  <a:rPr lang="en-US" sz="2200" i="1">
                                    <a:latin typeface="Cambria Math" panose="02040503050406030204" pitchFamily="18" charset="0"/>
                                  </a:rPr>
                                  <m:t>𝑀𝑒</m:t>
                                </m:r>
                              </m:e>
                            </m:d>
                          </m:e>
                        </m:nary>
                      </m:num>
                      <m:den>
                        <m:r>
                          <a:rPr lang="en-US" sz="2200" i="1">
                            <a:latin typeface="Cambria Math" panose="02040503050406030204" pitchFamily="18" charset="0"/>
                          </a:rPr>
                          <m:t>𝑛</m:t>
                        </m:r>
                      </m:den>
                    </m:f>
                  </m:oMath>
                </a14:m>
                <a:endParaRPr lang="en-US" sz="2200" dirty="0">
                  <a:latin typeface="Arial" panose="020B0604020202020204" pitchFamily="34" charset="0"/>
                </a:endParaRPr>
              </a:p>
              <a:p>
                <a:pPr marL="342900" indent="-342900" algn="just">
                  <a:lnSpc>
                    <a:spcPct val="15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Example:</a:t>
                </a:r>
                <a:r>
                  <a:rPr lang="en-US" sz="2200" dirty="0">
                    <a:latin typeface="Arial" panose="020B0604020202020204" pitchFamily="34" charset="0"/>
                    <a:cs typeface="Arial" panose="020B0604020202020204" pitchFamily="34" charset="0"/>
                  </a:rPr>
                  <a:t> The weights of containers being shipped are (in thousands of pounds): 95, 103, 105, 110, 104, 105, 112, 90. Compute the mean deviation.</a:t>
                </a:r>
                <a:endParaRPr lang="en-US" sz="2200" b="1" i="1"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675" r="-732"/>
                </a:stretch>
              </a:blipFill>
            </p:spPr>
            <p:txBody>
              <a:bodyPr/>
              <a:lstStyle/>
              <a:p>
                <a:r>
                  <a:rPr lang="en-US">
                    <a:noFill/>
                  </a:rPr>
                  <a:t> </a:t>
                </a:r>
              </a:p>
            </p:txBody>
          </p:sp>
        </mc:Fallback>
      </mc:AlternateContent>
    </p:spTree>
    <p:extLst>
      <p:ext uri="{BB962C8B-B14F-4D97-AF65-F5344CB8AC3E}">
        <p14:creationId xmlns:p14="http://schemas.microsoft.com/office/powerpoint/2010/main" val="3212239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Measure of Dispersion: Mean deviation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 </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To compute the mean deviation, we can construct the following table</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lnSpc>
                    <a:spcPct val="150000"/>
                  </a:lnSpc>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Here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=8</m:t>
                    </m:r>
                  </m:oMath>
                </a14:m>
                <a:r>
                  <a:rPr lang="en-US" sz="2000" i="1" dirty="0">
                    <a:latin typeface="Arial" panose="020B0604020202020204" pitchFamily="34" charset="0"/>
                    <a:cs typeface="Arial" panose="020B0604020202020204" pitchFamily="34" charset="0"/>
                  </a:rPr>
                  <a:t>, we have </a:t>
                </a:r>
                <a14:m>
                  <m:oMath xmlns:m="http://schemas.openxmlformats.org/officeDocument/2006/math">
                    <m:r>
                      <a:rPr lang="en-US" sz="2000" i="1">
                        <a:latin typeface="Cambria Math" panose="02040503050406030204" pitchFamily="18" charset="0"/>
                      </a:rPr>
                      <m:t>𝑀𝐷</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r>
                      <a:rPr lang="en-US" sz="2000" i="1">
                        <a:latin typeface="Cambria Math" panose="02040503050406030204" pitchFamily="18" charset="0"/>
                      </a:rPr>
                      <m:t>)=</m:t>
                    </m:r>
                    <m:f>
                      <m:fPr>
                        <m:ctrlPr>
                          <a:rPr lang="en-US" sz="2000" i="1">
                            <a:latin typeface="Cambria Math" panose="02040503050406030204" pitchFamily="18" charset="0"/>
                          </a:rPr>
                        </m:ctrlPr>
                      </m:fPr>
                      <m:num>
                        <m:nary>
                          <m:naryPr>
                            <m:chr m:val="∑"/>
                            <m:limLoc m:val="subSup"/>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𝑛</m:t>
                            </m:r>
                          </m:sup>
                          <m:e>
                            <m:d>
                              <m:dPr>
                                <m:begChr m:val="|"/>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d>
                          </m:e>
                        </m:nary>
                      </m:num>
                      <m:den>
                        <m:r>
                          <a:rPr lang="en-US" sz="2000" i="1">
                            <a:latin typeface="Cambria Math" panose="02040503050406030204" pitchFamily="18" charset="0"/>
                          </a:rPr>
                          <m:t>𝑛</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42</m:t>
                        </m:r>
                      </m:num>
                      <m:den>
                        <m:r>
                          <a:rPr lang="en-US" sz="2000" i="1">
                            <a:latin typeface="Cambria Math" panose="02040503050406030204" pitchFamily="18" charset="0"/>
                          </a:rPr>
                          <m:t>8</m:t>
                        </m:r>
                      </m:den>
                    </m:f>
                    <m:r>
                      <a:rPr lang="en-US" sz="2000" i="1">
                        <a:latin typeface="Cambria Math" panose="02040503050406030204" pitchFamily="18" charset="0"/>
                      </a:rPr>
                      <m:t>=5.25</m:t>
                    </m:r>
                  </m:oMath>
                </a14:m>
                <a:endParaRPr lang="en-US" sz="2000" i="1" dirty="0"/>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mean deviation of </a:t>
                </a:r>
                <a:r>
                  <a:rPr lang="en-US" sz="2000" dirty="0" smtClean="0">
                    <a:latin typeface="Arial" panose="020B0604020202020204" pitchFamily="34" charset="0"/>
                    <a:cs typeface="Arial" panose="020B0604020202020204" pitchFamily="34" charset="0"/>
                  </a:rPr>
                  <a:t>weights </a:t>
                </a:r>
                <a:r>
                  <a:rPr lang="en-US" sz="2000" dirty="0">
                    <a:latin typeface="Arial" panose="020B0604020202020204" pitchFamily="34" charset="0"/>
                    <a:cs typeface="Arial" panose="020B0604020202020204" pitchFamily="34" charset="0"/>
                  </a:rPr>
                  <a:t>of </a:t>
                </a:r>
                <a:r>
                  <a:rPr lang="en-US" sz="2000" dirty="0" smtClean="0">
                    <a:latin typeface="Arial" panose="020B0604020202020204" pitchFamily="34" charset="0"/>
                    <a:cs typeface="Arial" panose="020B0604020202020204" pitchFamily="34" charset="0"/>
                  </a:rPr>
                  <a:t>the containers </a:t>
                </a:r>
                <a:r>
                  <a:rPr lang="en-US" sz="2000" dirty="0">
                    <a:latin typeface="Arial" panose="020B0604020202020204" pitchFamily="34" charset="0"/>
                    <a:cs typeface="Arial" panose="020B0604020202020204" pitchFamily="34" charset="0"/>
                  </a:rPr>
                  <a:t>is 5.25 thousand pounds. </a:t>
                </a: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weights of the containers </a:t>
                </a:r>
                <a:r>
                  <a:rPr lang="en-US" sz="2000" dirty="0" smtClean="0">
                    <a:latin typeface="Arial" panose="020B0604020202020204" pitchFamily="34" charset="0"/>
                    <a:cs typeface="Arial" panose="020B0604020202020204" pitchFamily="34" charset="0"/>
                  </a:rPr>
                  <a:t>deviates</a:t>
                </a:r>
                <a:r>
                  <a:rPr lang="en-US" sz="2000" dirty="0">
                    <a:latin typeface="Arial" panose="020B0604020202020204" pitchFamily="34" charset="0"/>
                    <a:cs typeface="Arial" panose="020B0604020202020204" pitchFamily="34" charset="0"/>
                  </a:rPr>
                  <a:t>, on average by 5.25 thousand pounds </a:t>
                </a:r>
                <a:r>
                  <a:rPr lang="en-US" sz="2000" dirty="0" smtClean="0">
                    <a:latin typeface="Arial" panose="020B0604020202020204" pitchFamily="34" charset="0"/>
                    <a:cs typeface="Arial" panose="020B0604020202020204" pitchFamily="34" charset="0"/>
                  </a:rPr>
                  <a:t>from </a:t>
                </a:r>
                <a:r>
                  <a:rPr lang="en-US" sz="2000" dirty="0">
                    <a:latin typeface="Arial" panose="020B0604020202020204" pitchFamily="34" charset="0"/>
                    <a:cs typeface="Arial" panose="020B0604020202020204" pitchFamily="34" charset="0"/>
                  </a:rPr>
                  <a:t>the mean.</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i="1" dirty="0"/>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b="1" i="1"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nvPr>
            </p:nvGraphicFramePr>
            <p:xfrm>
              <a:off x="3789381" y="1537793"/>
              <a:ext cx="3779520" cy="3154680"/>
            </p:xfrm>
            <a:graphic>
              <a:graphicData uri="http://schemas.openxmlformats.org/drawingml/2006/table">
                <a:tbl>
                  <a:tblPr firstRow="1" firstCol="1" bandRow="1"/>
                  <a:tblGrid>
                    <a:gridCol w="1093470">
                      <a:extLst>
                        <a:ext uri="{9D8B030D-6E8A-4147-A177-3AD203B41FA5}">
                          <a16:colId xmlns="" xmlns:a16="http://schemas.microsoft.com/office/drawing/2014/main" val="20000"/>
                        </a:ext>
                      </a:extLst>
                    </a:gridCol>
                    <a:gridCol w="571500">
                      <a:extLst>
                        <a:ext uri="{9D8B030D-6E8A-4147-A177-3AD203B41FA5}">
                          <a16:colId xmlns="" xmlns:a16="http://schemas.microsoft.com/office/drawing/2014/main" val="20001"/>
                        </a:ext>
                      </a:extLst>
                    </a:gridCol>
                    <a:gridCol w="735330">
                      <a:extLst>
                        <a:ext uri="{9D8B030D-6E8A-4147-A177-3AD203B41FA5}">
                          <a16:colId xmlns="" xmlns:a16="http://schemas.microsoft.com/office/drawing/2014/main" val="20002"/>
                        </a:ext>
                      </a:extLst>
                    </a:gridCol>
                    <a:gridCol w="1379220">
                      <a:extLst>
                        <a:ext uri="{9D8B030D-6E8A-4147-A177-3AD203B41FA5}">
                          <a16:colId xmlns="" xmlns:a16="http://schemas.microsoft.com/office/drawing/2014/main" val="20003"/>
                        </a:ext>
                      </a:extLst>
                    </a:gridCol>
                  </a:tblGrid>
                  <a:tr h="190500">
                    <a:tc>
                      <a:txBody>
                        <a:bodyPr/>
                        <a:lstStyle/>
                        <a:p>
                          <a:pPr marL="0" marR="0">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Weights (</a:t>
                          </a:r>
                          <a14:m>
                            <m:oMath xmlns:m="http://schemas.openxmlformats.org/officeDocument/2006/math">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14:m>
                            <m:oMath xmlns:m="http://schemas.openxmlformats.org/officeDocument/2006/math">
                              <m:acc>
                                <m:accPr>
                                  <m: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acc>
                            </m:oMath>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acc>
                              </m:oMath>
                            </m:oMathPara>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acc>
                                  </m:e>
                                </m:d>
                              </m:oMath>
                            </m:oMathPara>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90500">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95</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10001"/>
                      </a:ext>
                    </a:extLst>
                  </a:tr>
                  <a:tr h="190500">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103</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2"/>
                      </a:ext>
                    </a:extLst>
                  </a:tr>
                  <a:tr h="19050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3"/>
                      </a:ext>
                    </a:extLst>
                  </a:tr>
                  <a:tr h="19050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103</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4"/>
                      </a:ext>
                    </a:extLst>
                  </a:tr>
                  <a:tr h="19050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5"/>
                      </a:ext>
                    </a:extLst>
                  </a:tr>
                  <a:tr h="19050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6"/>
                      </a:ext>
                    </a:extLst>
                  </a:tr>
                  <a:tr h="19050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7"/>
                      </a:ext>
                    </a:extLst>
                  </a:tr>
                  <a:tr h="19050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8"/>
                      </a:ext>
                    </a:extLst>
                  </a:tr>
                  <a:tr h="190500">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14:m>
                            <m:oMath xmlns:m="http://schemas.openxmlformats.org/officeDocument/2006/math">
                              <m:nary>
                                <m:naryPr>
                                  <m:chr m:val="∑"/>
                                  <m:limLoc m:val="undOvr"/>
                                  <m:subHide m:val="on"/>
                                  <m:supHide m:val="on"/>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nary>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=824</m:t>
                              </m:r>
                            </m:oMath>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14:m>
                            <m:oMath xmlns:m="http://schemas.openxmlformats.org/officeDocument/2006/math">
                              <m:nary>
                                <m:naryPr>
                                  <m:chr m:val="∑"/>
                                  <m:limLoc m:val="undOvr"/>
                                  <m:subHide m:val="on"/>
                                  <m:supHide m:val="on"/>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d>
                                    <m:dPr>
                                      <m:begChr m:val="|"/>
                                      <m:end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acc>
                                    </m:e>
                                  </m:d>
                                </m:e>
                              </m:nary>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=42</m:t>
                              </m:r>
                            </m:oMath>
                          </a14:m>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9"/>
                      </a:ext>
                    </a:extLst>
                  </a:tr>
                </a:tbl>
              </a:graphicData>
            </a:graphic>
          </p:graphicFrame>
        </mc:Choice>
        <mc:Fallback>
          <p:graphicFrame>
            <p:nvGraphicFramePr>
              <p:cNvPr id="6" name="Table 5"/>
              <p:cNvGraphicFramePr>
                <a:graphicFrameLocks noGrp="1"/>
              </p:cNvGraphicFramePr>
              <p:nvPr>
                <p:extLst/>
              </p:nvPr>
            </p:nvGraphicFramePr>
            <p:xfrm>
              <a:off x="3789381" y="1537793"/>
              <a:ext cx="3779520" cy="3154680"/>
            </p:xfrm>
            <a:graphic>
              <a:graphicData uri="http://schemas.openxmlformats.org/drawingml/2006/table">
                <a:tbl>
                  <a:tblPr firstRow="1" firstCol="1" bandRow="1"/>
                  <a:tblGrid>
                    <a:gridCol w="1093470">
                      <a:extLst>
                        <a:ext uri="{9D8B030D-6E8A-4147-A177-3AD203B41FA5}">
                          <a16:colId xmlns="" xmlns:a16="http://schemas.microsoft.com/office/drawing/2014/main" xmlns:a14="http://schemas.microsoft.com/office/drawing/2010/main" val="20000"/>
                        </a:ext>
                      </a:extLst>
                    </a:gridCol>
                    <a:gridCol w="571500">
                      <a:extLst>
                        <a:ext uri="{9D8B030D-6E8A-4147-A177-3AD203B41FA5}">
                          <a16:colId xmlns="" xmlns:a16="http://schemas.microsoft.com/office/drawing/2014/main" xmlns:a14="http://schemas.microsoft.com/office/drawing/2010/main" val="20001"/>
                        </a:ext>
                      </a:extLst>
                    </a:gridCol>
                    <a:gridCol w="735330">
                      <a:extLst>
                        <a:ext uri="{9D8B030D-6E8A-4147-A177-3AD203B41FA5}">
                          <a16:colId xmlns="" xmlns:a16="http://schemas.microsoft.com/office/drawing/2014/main" xmlns:a14="http://schemas.microsoft.com/office/drawing/2010/main" val="20002"/>
                        </a:ext>
                      </a:extLst>
                    </a:gridCol>
                    <a:gridCol w="1379220">
                      <a:extLst>
                        <a:ext uri="{9D8B030D-6E8A-4147-A177-3AD203B41FA5}">
                          <a16:colId xmlns="" xmlns:a16="http://schemas.microsoft.com/office/drawing/2014/main" xmlns:a14="http://schemas.microsoft.com/office/drawing/2010/main" val="20003"/>
                        </a:ext>
                      </a:extLst>
                    </a:gridCol>
                  </a:tblGrid>
                  <a:tr h="525780">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556" t="-8140" r="-246111" b="-615116"/>
                          </a:stretch>
                        </a:blipFill>
                      </a:tcPr>
                    </a:tc>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92553" t="-8140" r="-371277" b="-615116"/>
                          </a:stretch>
                        </a:blipFill>
                      </a:tcPr>
                    </a:tc>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229167" t="-8140" r="-190833" b="-615116"/>
                          </a:stretch>
                        </a:blipFill>
                      </a:tcPr>
                    </a:tc>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74009" t="-8140" r="-881" b="-615116"/>
                          </a:stretch>
                        </a:blipFill>
                      </a:tcPr>
                    </a:tc>
                    <a:extLst>
                      <a:ext uri="{0D108BD9-81ED-4DB2-BD59-A6C34878D82A}">
                        <a16:rowId xmlns="" xmlns:a16="http://schemas.microsoft.com/office/drawing/2014/main" xmlns:a14="http://schemas.microsoft.com/office/drawing/2010/main" val="10000"/>
                      </a:ext>
                    </a:extLst>
                  </a:tr>
                  <a:tr h="262890">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95</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xmlns:a14="http://schemas.microsoft.com/office/drawing/2010/main" val="10001"/>
                      </a:ext>
                    </a:extLst>
                  </a:tr>
                  <a:tr h="262890">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103</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xmlns:a14="http://schemas.microsoft.com/office/drawing/2010/main" val="10002"/>
                      </a:ext>
                    </a:extLst>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xmlns:a14="http://schemas.microsoft.com/office/drawing/2010/main" val="10003"/>
                      </a:ext>
                    </a:extLst>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103</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xmlns:a14="http://schemas.microsoft.com/office/drawing/2010/main" val="10004"/>
                      </a:ext>
                    </a:extLst>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xmlns:a14="http://schemas.microsoft.com/office/drawing/2010/main" val="10005"/>
                      </a:ext>
                    </a:extLst>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xmlns:a14="http://schemas.microsoft.com/office/drawing/2010/main" val="10006"/>
                      </a:ext>
                    </a:extLst>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xmlns:a14="http://schemas.microsoft.com/office/drawing/2010/main" val="10007"/>
                      </a:ext>
                    </a:extLst>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8"/>
                      </a:ext>
                    </a:extLst>
                  </a:tr>
                  <a:tr h="525780">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556" t="-510465" r="-246111" b="-112791"/>
                          </a:stretch>
                        </a:blipFill>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74009" t="-510465" r="-881" b="-112791"/>
                          </a:stretch>
                        </a:blipFill>
                      </a:tcPr>
                    </a:tc>
                    <a:extLst>
                      <a:ext uri="{0D108BD9-81ED-4DB2-BD59-A6C34878D82A}">
                        <a16:rowId xmlns="" xmlns:a16="http://schemas.microsoft.com/office/drawing/2014/main" xmlns:a14="http://schemas.microsoft.com/office/drawing/2010/main" val="10009"/>
                      </a:ext>
                    </a:extLst>
                  </a:tr>
                </a:tbl>
              </a:graphicData>
            </a:graphic>
          </p:graphicFrame>
        </mc:Fallback>
      </mc:AlternateContent>
    </p:spTree>
    <p:extLst>
      <p:ext uri="{BB962C8B-B14F-4D97-AF65-F5344CB8AC3E}">
        <p14:creationId xmlns:p14="http://schemas.microsoft.com/office/powerpoint/2010/main" val="219403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Properties </a:t>
            </a:r>
            <a:r>
              <a:rPr lang="en-US" sz="2400" b="1" dirty="0">
                <a:latin typeface="Arial" panose="020B0604020202020204" pitchFamily="34" charset="0"/>
                <a:cs typeface="Arial" panose="020B0604020202020204" pitchFamily="34" charset="0"/>
              </a:rPr>
              <a:t>of </a:t>
            </a:r>
            <a:r>
              <a:rPr lang="en-US" sz="2400" b="1" dirty="0" smtClean="0">
                <a:latin typeface="Arial" panose="020B0604020202020204" pitchFamily="34" charset="0"/>
                <a:cs typeface="Arial" panose="020B0604020202020204" pitchFamily="34" charset="0"/>
              </a:rPr>
              <a:t>mean </a:t>
            </a:r>
            <a:r>
              <a:rPr lang="en-US" sz="2400" b="1" dirty="0">
                <a:latin typeface="Arial" panose="020B0604020202020204" pitchFamily="34" charset="0"/>
                <a:cs typeface="Arial" panose="020B0604020202020204" pitchFamily="34" charset="0"/>
              </a:rPr>
              <a:t>deviation </a:t>
            </a: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200" b="1" dirty="0" smtClean="0">
                <a:latin typeface="Arial" panose="020B0604020202020204" pitchFamily="34" charset="0"/>
                <a:cs typeface="Arial" panose="020B0604020202020204" pitchFamily="34" charset="0"/>
              </a:rPr>
              <a:t>Property-1: </a:t>
            </a:r>
            <a:r>
              <a:rPr lang="en-US" sz="2200" dirty="0">
                <a:latin typeface="Arial" panose="020B0604020202020204" pitchFamily="34" charset="0"/>
                <a:cs typeface="Arial" panose="020B0604020202020204" pitchFamily="34" charset="0"/>
              </a:rPr>
              <a:t>The mean deviation  </a:t>
            </a:r>
            <a:r>
              <a:rPr lang="en-US" sz="2200" dirty="0" smtClean="0">
                <a:latin typeface="Arial" panose="020B0604020202020204" pitchFamily="34" charset="0"/>
                <a:cs typeface="Arial" panose="020B0604020202020204" pitchFamily="34" charset="0"/>
              </a:rPr>
              <a:t>is minimized if computed from the median.</a:t>
            </a:r>
          </a:p>
          <a:p>
            <a:pPr marL="342900" indent="-342900" algn="just">
              <a:lnSpc>
                <a:spcPct val="150000"/>
              </a:lnSpc>
              <a:buFont typeface="Arial" panose="020B0604020202020204" pitchFamily="34" charset="0"/>
              <a:buChar char="•"/>
            </a:pPr>
            <a:r>
              <a:rPr lang="en-US" sz="2200" b="1" dirty="0" smtClean="0">
                <a:latin typeface="Arial" panose="020B0604020202020204" pitchFamily="34" charset="0"/>
                <a:cs typeface="Arial" panose="020B0604020202020204" pitchFamily="34" charset="0"/>
              </a:rPr>
              <a:t>Property-2: </a:t>
            </a:r>
            <a:r>
              <a:rPr lang="en-US" sz="2200" dirty="0">
                <a:latin typeface="Arial" panose="020B0604020202020204" pitchFamily="34" charset="0"/>
                <a:cs typeface="Arial" panose="020B0604020202020204" pitchFamily="34" charset="0"/>
              </a:rPr>
              <a:t>The mean </a:t>
            </a:r>
            <a:r>
              <a:rPr lang="en-US" sz="2200" dirty="0" smtClean="0">
                <a:latin typeface="Arial" panose="020B0604020202020204" pitchFamily="34" charset="0"/>
                <a:cs typeface="Arial" panose="020B0604020202020204" pitchFamily="34" charset="0"/>
              </a:rPr>
              <a:t>deviation about the arithmetic mean cannot exceed the standard deviation. </a:t>
            </a:r>
            <a:endParaRPr lang="en-US" sz="22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200" b="1" dirty="0" smtClean="0">
                <a:latin typeface="Arial" panose="020B0604020202020204" pitchFamily="34" charset="0"/>
                <a:cs typeface="Arial" panose="020B0604020202020204" pitchFamily="34" charset="0"/>
              </a:rPr>
              <a:t>Property-3: </a:t>
            </a:r>
            <a:r>
              <a:rPr lang="en-US" sz="2200" dirty="0" smtClean="0">
                <a:latin typeface="Arial" panose="020B0604020202020204" pitchFamily="34" charset="0"/>
                <a:cs typeface="Arial" panose="020B0604020202020204" pitchFamily="34" charset="0"/>
              </a:rPr>
              <a:t>The mean </a:t>
            </a:r>
            <a:r>
              <a:rPr lang="en-US" sz="2200" dirty="0">
                <a:latin typeface="Arial" panose="020B0604020202020204" pitchFamily="34" charset="0"/>
                <a:cs typeface="Arial" panose="020B0604020202020204" pitchFamily="34" charset="0"/>
              </a:rPr>
              <a:t>deviation is less influenced by extreme values than standard deviation (because it takes absolute values, not squares</a:t>
            </a:r>
            <a:r>
              <a:rPr lang="en-US" sz="2200" dirty="0" smtClean="0">
                <a:latin typeface="Arial" panose="020B0604020202020204" pitchFamily="34" charset="0"/>
                <a:cs typeface="Arial" panose="020B0604020202020204" pitchFamily="34" charset="0"/>
              </a:rPr>
              <a:t>). However</a:t>
            </a:r>
            <a:r>
              <a:rPr lang="en-US" sz="2200" dirty="0">
                <a:latin typeface="Arial" panose="020B0604020202020204" pitchFamily="34" charset="0"/>
                <a:cs typeface="Arial" panose="020B0604020202020204" pitchFamily="34" charset="0"/>
              </a:rPr>
              <a:t>, it is less </a:t>
            </a:r>
            <a:r>
              <a:rPr lang="en-US" sz="2200" dirty="0" smtClean="0">
                <a:latin typeface="Arial" panose="020B0604020202020204" pitchFamily="34" charset="0"/>
                <a:cs typeface="Arial" panose="020B0604020202020204" pitchFamily="34" charset="0"/>
              </a:rPr>
              <a:t>useful </a:t>
            </a:r>
            <a:r>
              <a:rPr lang="en-US" sz="2200" dirty="0">
                <a:latin typeface="Arial" panose="020B0604020202020204" pitchFamily="34" charset="0"/>
                <a:cs typeface="Arial" panose="020B0604020202020204" pitchFamily="34" charset="0"/>
              </a:rPr>
              <a:t>mathematically than standard deviation in advanced statistical work</a:t>
            </a:r>
            <a:r>
              <a:rPr lang="en-US" sz="2200" dirty="0" smtClean="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53470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Measures </a:t>
            </a:r>
            <a:r>
              <a:rPr lang="en-US" sz="2400" b="1" dirty="0">
                <a:latin typeface="Arial" panose="020B0604020202020204" pitchFamily="34" charset="0"/>
                <a:cs typeface="Arial" panose="020B0604020202020204" pitchFamily="34" charset="0"/>
              </a:rPr>
              <a:t>of Dispersion: </a:t>
            </a:r>
            <a:r>
              <a:rPr lang="en-US" sz="2400" b="1" dirty="0" smtClean="0">
                <a:latin typeface="Arial" panose="020B0604020202020204" pitchFamily="34" charset="0"/>
                <a:cs typeface="Arial" panose="020B0604020202020204" pitchFamily="34" charset="0"/>
              </a:rPr>
              <a:t>The Standard </a:t>
            </a:r>
            <a:r>
              <a:rPr lang="en-US" sz="2400" b="1" dirty="0">
                <a:latin typeface="Arial" panose="020B0604020202020204" pitchFamily="34" charset="0"/>
                <a:cs typeface="Arial" panose="020B0604020202020204" pitchFamily="34" charset="0"/>
              </a:rPr>
              <a:t>D</a:t>
            </a:r>
            <a:r>
              <a:rPr lang="en-US" sz="2400" b="1" dirty="0" smtClean="0">
                <a:latin typeface="Arial" panose="020B0604020202020204" pitchFamily="34" charset="0"/>
                <a:cs typeface="Arial" panose="020B0604020202020204" pitchFamily="34" charset="0"/>
              </a:rPr>
              <a:t>eviation </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926621"/>
              </a:xfrm>
            </p:spPr>
            <p:txBody>
              <a:bodyPr>
                <a:noAutofit/>
              </a:bodyPr>
              <a:lstStyle/>
              <a:p>
                <a:pPr marL="342900" indent="-342900" algn="just">
                  <a:lnSpc>
                    <a:spcPct val="100000"/>
                  </a:lnSpc>
                  <a:buFont typeface="Arial" panose="020B0604020202020204" pitchFamily="34" charset="0"/>
                  <a:buChar char="•"/>
                </a:pPr>
                <a:r>
                  <a:rPr lang="en-US" sz="2200" dirty="0" smtClean="0">
                    <a:latin typeface="Arial" panose="020B0604020202020204" pitchFamily="34" charset="0"/>
                    <a:cs typeface="Arial" panose="020B0604020202020204" pitchFamily="34" charset="0"/>
                  </a:rPr>
                  <a:t>The </a:t>
                </a:r>
                <a:r>
                  <a:rPr lang="en-US" sz="2200" dirty="0">
                    <a:latin typeface="Arial" panose="020B0604020202020204" pitchFamily="34" charset="0"/>
                    <a:cs typeface="Arial" panose="020B0604020202020204" pitchFamily="34" charset="0"/>
                  </a:rPr>
                  <a:t>arithmetic mean of the squared deviations from the mean is called </a:t>
                </a:r>
                <a:r>
                  <a:rPr lang="en-US" sz="2200" b="1" dirty="0">
                    <a:latin typeface="Arial" panose="020B0604020202020204" pitchFamily="34" charset="0"/>
                    <a:cs typeface="Arial" panose="020B0604020202020204" pitchFamily="34" charset="0"/>
                  </a:rPr>
                  <a:t>variance</a:t>
                </a:r>
                <a:r>
                  <a:rPr lang="en-US" sz="2200" dirty="0">
                    <a:latin typeface="Arial" panose="020B0604020202020204" pitchFamily="34" charset="0"/>
                    <a:cs typeface="Arial" panose="020B0604020202020204" pitchFamily="34" charset="0"/>
                  </a:rPr>
                  <a:t>. The positive square root of the variance is known as the </a:t>
                </a:r>
                <a:r>
                  <a:rPr lang="en-US" sz="2200" b="1" dirty="0">
                    <a:latin typeface="Arial" panose="020B0604020202020204" pitchFamily="34" charset="0"/>
                    <a:cs typeface="Arial" panose="020B0604020202020204" pitchFamily="34" charset="0"/>
                  </a:rPr>
                  <a:t>standard deviation</a:t>
                </a:r>
                <a:r>
                  <a:rPr lang="en-US" sz="2200" dirty="0">
                    <a:latin typeface="Arial" panose="020B0604020202020204" pitchFamily="34" charset="0"/>
                    <a:cs typeface="Arial" panose="020B0604020202020204" pitchFamily="34" charset="0"/>
                  </a:rPr>
                  <a:t>. Note that the sum the squared deviations from the mean is called sum of squares (SS). </a:t>
                </a:r>
              </a:p>
              <a:p>
                <a:pPr marL="342900" indent="-34290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Sample variance is denoted by </a:t>
                </a:r>
                <a14:m>
                  <m:oMath xmlns:m="http://schemas.openxmlformats.org/officeDocument/2006/math">
                    <m:sSup>
                      <m:sSupPr>
                        <m:ctrlPr>
                          <a:rPr lang="en-US" sz="2200" i="1">
                            <a:latin typeface="Cambria Math" panose="02040503050406030204" pitchFamily="18" charset="0"/>
                          </a:rPr>
                        </m:ctrlPr>
                      </m:sSupPr>
                      <m:e>
                        <m:r>
                          <a:rPr lang="en-US" sz="2200" i="1">
                            <a:latin typeface="Cambria Math" panose="02040503050406030204" pitchFamily="18" charset="0"/>
                          </a:rPr>
                          <m:t>𝑆</m:t>
                        </m:r>
                      </m:e>
                      <m:sup>
                        <m:r>
                          <a:rPr lang="en-US" sz="2200" i="1">
                            <a:latin typeface="Cambria Math" panose="02040503050406030204" pitchFamily="18" charset="0"/>
                          </a:rPr>
                          <m:t>2</m:t>
                        </m:r>
                      </m:sup>
                    </m:sSup>
                  </m:oMath>
                </a14:m>
                <a:r>
                  <a:rPr lang="en-US" sz="2200" dirty="0">
                    <a:latin typeface="Arial" panose="020B0604020202020204" pitchFamily="34" charset="0"/>
                    <a:cs typeface="Arial" panose="020B0604020202020204" pitchFamily="34" charset="0"/>
                  </a:rPr>
                  <a:t>. For a set of n values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𝑛</m:t>
                        </m:r>
                      </m:sub>
                    </m:sSub>
                  </m:oMath>
                </a14:m>
                <a:r>
                  <a:rPr lang="en-US" sz="2200" dirty="0">
                    <a:latin typeface="Arial" panose="020B0604020202020204" pitchFamily="34" charset="0"/>
                    <a:cs typeface="Arial" panose="020B0604020202020204" pitchFamily="34" charset="0"/>
                  </a:rPr>
                  <a:t>, it is defined as</a:t>
                </a:r>
                <a:r>
                  <a:rPr lang="en-US" sz="2200" b="1" dirty="0">
                    <a:latin typeface="Arial" panose="020B0604020202020204" pitchFamily="34" charset="0"/>
                    <a:cs typeface="Arial" panose="020B0604020202020204" pitchFamily="34" charset="0"/>
                  </a:rPr>
                  <a:t> </a:t>
                </a:r>
                <a14:m>
                  <m:oMath xmlns:m="http://schemas.openxmlformats.org/officeDocument/2006/math">
                    <m:sSup>
                      <m:sSupPr>
                        <m:ctrlPr>
                          <a:rPr lang="en-US" sz="2200" i="1">
                            <a:latin typeface="Cambria Math" panose="02040503050406030204" pitchFamily="18" charset="0"/>
                          </a:rPr>
                        </m:ctrlPr>
                      </m:sSupPr>
                      <m:e>
                        <m:r>
                          <a:rPr lang="en-US" sz="2200" i="1">
                            <a:latin typeface="Cambria Math" panose="02040503050406030204" pitchFamily="18" charset="0"/>
                          </a:rPr>
                          <m:t>𝑆</m:t>
                        </m:r>
                      </m:e>
                      <m:sup>
                        <m:r>
                          <a:rPr lang="en-US" sz="2200" i="1">
                            <a:latin typeface="Cambria Math" panose="02040503050406030204" pitchFamily="18" charset="0"/>
                          </a:rPr>
                          <m:t>2</m:t>
                        </m:r>
                      </m:sup>
                    </m:sSup>
                    <m:r>
                      <a:rPr lang="en-US" sz="2200" i="1">
                        <a:latin typeface="Cambria Math" panose="02040503050406030204" pitchFamily="18" charset="0"/>
                      </a:rPr>
                      <m:t>=</m:t>
                    </m:r>
                    <m:f>
                      <m:fPr>
                        <m:ctrlPr>
                          <a:rPr lang="en-US" sz="2200" i="1">
                            <a:latin typeface="Cambria Math" panose="02040503050406030204" pitchFamily="18" charset="0"/>
                          </a:rPr>
                        </m:ctrlPr>
                      </m:fPr>
                      <m:num>
                        <m:nary>
                          <m:naryPr>
                            <m:chr m:val="∑"/>
                            <m:limLoc m:val="undOvr"/>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r>
                                      <a:rPr lang="en-US" sz="2200" i="1">
                                        <a:latin typeface="Cambria Math" panose="02040503050406030204" pitchFamily="18" charset="0"/>
                                      </a:rPr>
                                      <m:t>−</m:t>
                                    </m:r>
                                    <m:acc>
                                      <m:accPr>
                                        <m:chr m:val="̅"/>
                                        <m:ctrlPr>
                                          <a:rPr lang="en-US" sz="2200" i="1">
                                            <a:latin typeface="Cambria Math" panose="02040503050406030204" pitchFamily="18" charset="0"/>
                                          </a:rPr>
                                        </m:ctrlPr>
                                      </m:accPr>
                                      <m:e>
                                        <m:r>
                                          <a:rPr lang="en-US" sz="2200" i="1">
                                            <a:latin typeface="Cambria Math" panose="02040503050406030204" pitchFamily="18" charset="0"/>
                                          </a:rPr>
                                          <m:t>𝑥</m:t>
                                        </m:r>
                                      </m:e>
                                    </m:acc>
                                  </m:e>
                                </m:d>
                              </m:e>
                              <m:sup>
                                <m:r>
                                  <a:rPr lang="en-US" sz="2200" i="1">
                                    <a:latin typeface="Cambria Math" panose="02040503050406030204" pitchFamily="18" charset="0"/>
                                  </a:rPr>
                                  <m:t>2</m:t>
                                </m:r>
                              </m:sup>
                            </m:sSup>
                          </m:e>
                        </m:nary>
                      </m:num>
                      <m:den>
                        <m:r>
                          <a:rPr lang="en-US" sz="2200" i="1">
                            <a:latin typeface="Cambria Math" panose="02040503050406030204" pitchFamily="18" charset="0"/>
                          </a:rPr>
                          <m:t>𝑛</m:t>
                        </m:r>
                        <m:r>
                          <a:rPr lang="en-US" sz="2200" i="1">
                            <a:latin typeface="Cambria Math" panose="02040503050406030204" pitchFamily="18" charset="0"/>
                          </a:rPr>
                          <m:t>−1</m:t>
                        </m:r>
                      </m:den>
                    </m:f>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𝑆</m:t>
                        </m:r>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r>
                              <a:rPr lang="en-US" sz="2200" i="1">
                                <a:latin typeface="Cambria Math" panose="02040503050406030204" pitchFamily="18" charset="0"/>
                              </a:rPr>
                              <m:t>𝑥</m:t>
                            </m:r>
                          </m:sub>
                        </m:sSub>
                      </m:num>
                      <m:den>
                        <m:r>
                          <a:rPr lang="en-US" sz="2200" i="1">
                            <a:latin typeface="Cambria Math" panose="02040503050406030204" pitchFamily="18" charset="0"/>
                          </a:rPr>
                          <m:t>𝑛</m:t>
                        </m:r>
                        <m:r>
                          <a:rPr lang="en-US" sz="2200" i="1">
                            <a:latin typeface="Cambria Math" panose="02040503050406030204" pitchFamily="18" charset="0"/>
                          </a:rPr>
                          <m:t>−1</m:t>
                        </m:r>
                      </m:den>
                    </m:f>
                  </m:oMath>
                </a14:m>
                <a:r>
                  <a:rPr lang="en-US" sz="2200" dirty="0">
                    <a:latin typeface="Arial" panose="020B0604020202020204" pitchFamily="34" charset="0"/>
                    <a:cs typeface="Arial" panose="020B0604020202020204" pitchFamily="34" charset="0"/>
                  </a:rPr>
                  <a:t>, where </a:t>
                </a:r>
                <a14:m>
                  <m:oMath xmlns:m="http://schemas.openxmlformats.org/officeDocument/2006/math">
                    <m:r>
                      <a:rPr lang="en-US" sz="2200" i="1">
                        <a:latin typeface="Cambria Math" panose="02040503050406030204" pitchFamily="18" charset="0"/>
                        <a:cs typeface="Arial" panose="020B0604020202020204" pitchFamily="34" charset="0"/>
                      </a:rPr>
                      <m:t>𝑆</m:t>
                    </m:r>
                    <m:sSub>
                      <m:sSubPr>
                        <m:ctrlPr>
                          <a:rPr lang="en-US" sz="2200" i="1">
                            <a:latin typeface="Cambria Math" panose="02040503050406030204" pitchFamily="18" charset="0"/>
                            <a:cs typeface="Arial" panose="020B0604020202020204" pitchFamily="34" charset="0"/>
                          </a:rPr>
                        </m:ctrlPr>
                      </m:sSubPr>
                      <m:e>
                        <m:r>
                          <a:rPr lang="en-US" sz="2200" i="1">
                            <a:latin typeface="Cambria Math" panose="02040503050406030204" pitchFamily="18" charset="0"/>
                            <a:cs typeface="Arial" panose="020B0604020202020204" pitchFamily="34" charset="0"/>
                          </a:rPr>
                          <m:t>𝑆</m:t>
                        </m:r>
                      </m:e>
                      <m:sub>
                        <m:r>
                          <a:rPr lang="en-US" sz="2200" i="1">
                            <a:latin typeface="Cambria Math" panose="02040503050406030204" pitchFamily="18" charset="0"/>
                            <a:cs typeface="Arial" panose="020B0604020202020204" pitchFamily="34" charset="0"/>
                          </a:rPr>
                          <m:t>𝑥</m:t>
                        </m:r>
                      </m:sub>
                    </m:sSub>
                    <m:r>
                      <a:rPr lang="en-US" sz="2200" i="1">
                        <a:latin typeface="Cambria Math" panose="02040503050406030204" pitchFamily="18" charset="0"/>
                        <a:cs typeface="Arial" panose="020B0604020202020204" pitchFamily="34" charset="0"/>
                      </a:rPr>
                      <m:t>=</m:t>
                    </m:r>
                    <m:nary>
                      <m:naryPr>
                        <m:chr m:val="∑"/>
                        <m:limLoc m:val="undOvr"/>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r>
                                  <a:rPr lang="en-US" sz="2200" i="1">
                                    <a:latin typeface="Cambria Math" panose="02040503050406030204" pitchFamily="18" charset="0"/>
                                  </a:rPr>
                                  <m:t>−</m:t>
                                </m:r>
                                <m:acc>
                                  <m:accPr>
                                    <m:chr m:val="̅"/>
                                    <m:ctrlPr>
                                      <a:rPr lang="en-US" sz="2200" i="1">
                                        <a:latin typeface="Cambria Math" panose="02040503050406030204" pitchFamily="18" charset="0"/>
                                      </a:rPr>
                                    </m:ctrlPr>
                                  </m:accPr>
                                  <m:e>
                                    <m:r>
                                      <a:rPr lang="en-US" sz="2200" i="1">
                                        <a:latin typeface="Cambria Math" panose="02040503050406030204" pitchFamily="18" charset="0"/>
                                      </a:rPr>
                                      <m:t>𝑥</m:t>
                                    </m:r>
                                  </m:e>
                                </m:acc>
                              </m:e>
                            </m:d>
                          </m:e>
                          <m:sup>
                            <m:r>
                              <a:rPr lang="en-US" sz="2200" i="1">
                                <a:latin typeface="Cambria Math" panose="02040503050406030204" pitchFamily="18" charset="0"/>
                              </a:rPr>
                              <m:t>2</m:t>
                            </m:r>
                          </m:sup>
                        </m:sSup>
                      </m:e>
                    </m:nary>
                  </m:oMath>
                </a14:m>
                <a:r>
                  <a:rPr lang="en-US" sz="2200" dirty="0">
                    <a:latin typeface="Arial" panose="020B0604020202020204" pitchFamily="34" charset="0"/>
                    <a:cs typeface="Arial" panose="020B0604020202020204" pitchFamily="34" charset="0"/>
                  </a:rPr>
                  <a:t> is the sum the squared deviations from mean.</a:t>
                </a:r>
              </a:p>
              <a:p>
                <a:pPr marL="342900" indent="-34290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We can write, </a:t>
                </a:r>
                <a14:m>
                  <m:oMath xmlns:m="http://schemas.openxmlformats.org/officeDocument/2006/math">
                    <m:r>
                      <a:rPr lang="en-US" sz="2200" i="1">
                        <a:latin typeface="Cambria Math" panose="02040503050406030204" pitchFamily="18" charset="0"/>
                        <a:cs typeface="Arial" panose="020B0604020202020204" pitchFamily="34" charset="0"/>
                      </a:rPr>
                      <m:t>𝑆</m:t>
                    </m:r>
                    <m:sSub>
                      <m:sSubPr>
                        <m:ctrlPr>
                          <a:rPr lang="en-US" sz="2200" i="1">
                            <a:latin typeface="Cambria Math" panose="02040503050406030204" pitchFamily="18" charset="0"/>
                            <a:cs typeface="Arial" panose="020B0604020202020204" pitchFamily="34" charset="0"/>
                          </a:rPr>
                        </m:ctrlPr>
                      </m:sSubPr>
                      <m:e>
                        <m:r>
                          <a:rPr lang="en-US" sz="2200" i="1">
                            <a:latin typeface="Cambria Math" panose="02040503050406030204" pitchFamily="18" charset="0"/>
                            <a:cs typeface="Arial" panose="020B0604020202020204" pitchFamily="34" charset="0"/>
                          </a:rPr>
                          <m:t>𝑆</m:t>
                        </m:r>
                      </m:e>
                      <m:sub>
                        <m:r>
                          <a:rPr lang="en-US" sz="2200" i="1">
                            <a:latin typeface="Cambria Math" panose="02040503050406030204" pitchFamily="18" charset="0"/>
                            <a:cs typeface="Arial" panose="020B0604020202020204" pitchFamily="34" charset="0"/>
                          </a:rPr>
                          <m:t>𝑥</m:t>
                        </m:r>
                      </m:sub>
                    </m:sSub>
                    <m:r>
                      <a:rPr lang="en-US" sz="2200" i="1">
                        <a:latin typeface="Cambria Math" panose="02040503050406030204" pitchFamily="18" charset="0"/>
                      </a:rPr>
                      <m:t>=</m:t>
                    </m:r>
                    <m:nary>
                      <m:naryPr>
                        <m:chr m:val="∑"/>
                        <m:limLoc m:val="undOvr"/>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sup>
                            <m:r>
                              <a:rPr lang="en-US" sz="2200" i="1">
                                <a:latin typeface="Cambria Math" panose="02040503050406030204" pitchFamily="18" charset="0"/>
                              </a:rPr>
                              <m:t>2</m:t>
                            </m:r>
                          </m:sup>
                        </m:sSup>
                        <m:r>
                          <a:rPr lang="en-US" sz="2200" i="1">
                            <a:latin typeface="Cambria Math" panose="02040503050406030204" pitchFamily="18" charset="0"/>
                          </a:rPr>
                          <m:t>−</m:t>
                        </m:r>
                      </m:e>
                    </m:nary>
                    <m:r>
                      <a:rPr lang="en-US" sz="2200" i="1">
                        <a:latin typeface="Cambria Math" panose="02040503050406030204" pitchFamily="18" charset="0"/>
                      </a:rPr>
                      <m:t>𝑛</m:t>
                    </m:r>
                    <m:sSup>
                      <m:sSupPr>
                        <m:ctrlPr>
                          <a:rPr lang="en-US" sz="2200" i="1">
                            <a:latin typeface="Cambria Math" panose="02040503050406030204" pitchFamily="18" charset="0"/>
                          </a:rPr>
                        </m:ctrlPr>
                      </m:sSupPr>
                      <m:e>
                        <m:acc>
                          <m:accPr>
                            <m:chr m:val="̅"/>
                            <m:ctrlPr>
                              <a:rPr lang="en-US" sz="2200" i="1">
                                <a:latin typeface="Cambria Math" panose="02040503050406030204" pitchFamily="18" charset="0"/>
                              </a:rPr>
                            </m:ctrlPr>
                          </m:accPr>
                          <m:e>
                            <m:r>
                              <a:rPr lang="en-US" sz="2200" i="1">
                                <a:latin typeface="Cambria Math" panose="02040503050406030204" pitchFamily="18" charset="0"/>
                              </a:rPr>
                              <m:t>𝑥</m:t>
                            </m:r>
                          </m:e>
                        </m:acc>
                      </m:e>
                      <m:sup>
                        <m:r>
                          <a:rPr lang="en-US" sz="2200" i="1">
                            <a:latin typeface="Cambria Math" panose="02040503050406030204" pitchFamily="18" charset="0"/>
                          </a:rPr>
                          <m:t>2</m:t>
                        </m:r>
                      </m:sup>
                    </m:sSup>
                    <m:r>
                      <a:rPr lang="en-US" sz="2200" b="0" i="1" smtClean="0">
                        <a:latin typeface="Cambria Math" panose="02040503050406030204" pitchFamily="18" charset="0"/>
                      </a:rPr>
                      <m:t>=</m:t>
                    </m:r>
                    <m:nary>
                      <m:naryPr>
                        <m:chr m:val="∑"/>
                        <m:limLoc m:val="undOvr"/>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sup>
                            <m:r>
                              <a:rPr lang="en-US" sz="2200" i="1">
                                <a:latin typeface="Cambria Math" panose="02040503050406030204" pitchFamily="18" charset="0"/>
                              </a:rPr>
                              <m:t>2</m:t>
                            </m:r>
                          </m:sup>
                        </m:sSup>
                        <m:r>
                          <a:rPr lang="en-US" sz="2200" i="1">
                            <a:latin typeface="Cambria Math" panose="02040503050406030204" pitchFamily="18" charset="0"/>
                          </a:rPr>
                          <m:t>−</m:t>
                        </m:r>
                      </m:e>
                    </m:nary>
                    <m:f>
                      <m:fPr>
                        <m:ctrlPr>
                          <a:rPr lang="en-US" sz="2200" i="1" smtClean="0">
                            <a:latin typeface="Cambria Math" panose="02040503050406030204" pitchFamily="18" charset="0"/>
                          </a:rPr>
                        </m:ctrlPr>
                      </m:fPr>
                      <m:num>
                        <m:sSup>
                          <m:sSupPr>
                            <m:ctrlPr>
                              <a:rPr lang="en-US" sz="2200" b="0" i="1" smtClean="0">
                                <a:latin typeface="Cambria Math" panose="02040503050406030204" pitchFamily="18" charset="0"/>
                              </a:rPr>
                            </m:ctrlPr>
                          </m:sSupPr>
                          <m:e>
                            <m:d>
                              <m:dPr>
                                <m:ctrlPr>
                                  <a:rPr lang="en-US" sz="2200" i="1" smtClean="0">
                                    <a:latin typeface="Cambria Math" panose="02040503050406030204" pitchFamily="18" charset="0"/>
                                  </a:rPr>
                                </m:ctrlPr>
                              </m:dPr>
                              <m:e>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𝑖</m:t>
                                    </m:r>
                                  </m:sub>
                                </m:sSub>
                              </m:e>
                            </m:d>
                          </m:e>
                          <m:sup>
                            <m:r>
                              <a:rPr lang="en-US" sz="2200" b="0" i="1" smtClean="0">
                                <a:latin typeface="Cambria Math" panose="02040503050406030204" pitchFamily="18" charset="0"/>
                              </a:rPr>
                              <m:t>2</m:t>
                            </m:r>
                          </m:sup>
                        </m:sSup>
                      </m:num>
                      <m:den>
                        <m:r>
                          <a:rPr lang="en-US" sz="2200" b="0" i="1" smtClean="0">
                            <a:latin typeface="Cambria Math" panose="02040503050406030204" pitchFamily="18" charset="0"/>
                          </a:rPr>
                          <m:t>𝑛</m:t>
                        </m:r>
                      </m:den>
                    </m:f>
                  </m:oMath>
                </a14:m>
                <a:r>
                  <a:rPr lang="en-US" sz="2200" dirty="0" smtClean="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Therefore the sample variance of </a:t>
                </a:r>
                <a14:m>
                  <m:oMath xmlns:m="http://schemas.openxmlformats.org/officeDocument/2006/math">
                    <m:r>
                      <a:rPr lang="en-US" sz="2200" i="1">
                        <a:latin typeface="Cambria Math" panose="02040503050406030204" pitchFamily="18" charset="0"/>
                      </a:rPr>
                      <m:t>𝑛</m:t>
                    </m:r>
                  </m:oMath>
                </a14:m>
                <a:r>
                  <a:rPr lang="en-US" sz="2200" dirty="0">
                    <a:latin typeface="Arial" panose="020B0604020202020204" pitchFamily="34" charset="0"/>
                    <a:cs typeface="Arial" panose="020B0604020202020204" pitchFamily="34" charset="0"/>
                  </a:rPr>
                  <a:t> values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𝑛</m:t>
                        </m:r>
                      </m:sub>
                    </m:sSub>
                  </m:oMath>
                </a14:m>
                <a:r>
                  <a:rPr lang="en-US" sz="2200" dirty="0">
                    <a:latin typeface="Arial" panose="020B0604020202020204" pitchFamily="34" charset="0"/>
                    <a:cs typeface="Arial" panose="020B0604020202020204" pitchFamily="34" charset="0"/>
                  </a:rPr>
                  <a:t> can be calculated by </a:t>
                </a:r>
                <a14:m>
                  <m:oMath xmlns:m="http://schemas.openxmlformats.org/officeDocument/2006/math">
                    <m:sSup>
                      <m:sSupPr>
                        <m:ctrlPr>
                          <a:rPr lang="en-US" sz="2200" i="1">
                            <a:latin typeface="Cambria Math" panose="02040503050406030204" pitchFamily="18" charset="0"/>
                          </a:rPr>
                        </m:ctrlPr>
                      </m:sSupPr>
                      <m:e>
                        <m:r>
                          <a:rPr lang="en-US" sz="2200" i="1">
                            <a:latin typeface="Cambria Math" panose="02040503050406030204" pitchFamily="18" charset="0"/>
                          </a:rPr>
                          <m:t>𝑆</m:t>
                        </m:r>
                      </m:e>
                      <m:sup>
                        <m:r>
                          <a:rPr lang="en-US" sz="2200" i="1">
                            <a:latin typeface="Cambria Math" panose="02040503050406030204" pitchFamily="18" charset="0"/>
                          </a:rPr>
                          <m:t>2</m:t>
                        </m:r>
                      </m:sup>
                    </m:sSup>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𝑆</m:t>
                        </m:r>
                        <m:sSub>
                          <m:sSubPr>
                            <m:ctrlPr>
                              <a:rPr lang="en-US" sz="2200" i="1">
                                <a:latin typeface="Cambria Math" panose="02040503050406030204" pitchFamily="18" charset="0"/>
                              </a:rPr>
                            </m:ctrlPr>
                          </m:sSubPr>
                          <m:e>
                            <m:r>
                              <a:rPr lang="en-US" sz="2200" i="1">
                                <a:latin typeface="Cambria Math" panose="02040503050406030204" pitchFamily="18" charset="0"/>
                              </a:rPr>
                              <m:t>𝑆</m:t>
                            </m:r>
                          </m:e>
                          <m:sub>
                            <m:r>
                              <a:rPr lang="en-US" sz="2200" i="1">
                                <a:latin typeface="Cambria Math" panose="02040503050406030204" pitchFamily="18" charset="0"/>
                              </a:rPr>
                              <m:t>𝑥</m:t>
                            </m:r>
                          </m:sub>
                        </m:sSub>
                      </m:num>
                      <m:den>
                        <m:r>
                          <a:rPr lang="en-US" sz="2200" i="1">
                            <a:latin typeface="Cambria Math" panose="02040503050406030204" pitchFamily="18" charset="0"/>
                          </a:rPr>
                          <m:t>𝑛</m:t>
                        </m:r>
                        <m:r>
                          <a:rPr lang="en-US" sz="2200" i="1">
                            <a:latin typeface="Cambria Math" panose="02040503050406030204" pitchFamily="18" charset="0"/>
                          </a:rPr>
                          <m:t>−1</m:t>
                        </m:r>
                      </m:den>
                    </m:f>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𝑛</m:t>
                        </m:r>
                        <m:r>
                          <a:rPr lang="en-US" sz="2200" i="1">
                            <a:latin typeface="Cambria Math" panose="02040503050406030204" pitchFamily="18" charset="0"/>
                          </a:rPr>
                          <m:t>−1</m:t>
                        </m:r>
                      </m:den>
                    </m:f>
                    <m:d>
                      <m:dPr>
                        <m:ctrlPr>
                          <a:rPr lang="en-US" sz="2200" i="1">
                            <a:latin typeface="Cambria Math" panose="02040503050406030204" pitchFamily="18" charset="0"/>
                          </a:rPr>
                        </m:ctrlPr>
                      </m:dPr>
                      <m:e>
                        <m:nary>
                          <m:naryPr>
                            <m:chr m:val="∑"/>
                            <m:limLoc m:val="undOvr"/>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sup>
                                <m:r>
                                  <a:rPr lang="en-US" sz="2200" i="1">
                                    <a:latin typeface="Cambria Math" panose="02040503050406030204" pitchFamily="18" charset="0"/>
                                  </a:rPr>
                                  <m:t>2</m:t>
                                </m:r>
                              </m:sup>
                            </m:sSup>
                          </m:e>
                        </m:nary>
                        <m:r>
                          <a:rPr lang="en-US" sz="2200" i="1">
                            <a:latin typeface="Cambria Math" panose="02040503050406030204" pitchFamily="18" charset="0"/>
                          </a:rPr>
                          <m:t>−</m:t>
                        </m:r>
                        <m:r>
                          <a:rPr lang="en-US" sz="2200" i="1">
                            <a:latin typeface="Cambria Math" panose="02040503050406030204" pitchFamily="18" charset="0"/>
                          </a:rPr>
                          <m:t>𝑛</m:t>
                        </m:r>
                        <m:sSup>
                          <m:sSupPr>
                            <m:ctrlPr>
                              <a:rPr lang="en-US" sz="2200" i="1">
                                <a:latin typeface="Cambria Math" panose="02040503050406030204" pitchFamily="18" charset="0"/>
                              </a:rPr>
                            </m:ctrlPr>
                          </m:sSupPr>
                          <m:e>
                            <m:acc>
                              <m:accPr>
                                <m:chr m:val="̅"/>
                                <m:ctrlPr>
                                  <a:rPr lang="en-US" sz="2200" i="1">
                                    <a:latin typeface="Cambria Math" panose="02040503050406030204" pitchFamily="18" charset="0"/>
                                  </a:rPr>
                                </m:ctrlPr>
                              </m:accPr>
                              <m:e>
                                <m:r>
                                  <a:rPr lang="en-US" sz="2200" i="1">
                                    <a:latin typeface="Cambria Math" panose="02040503050406030204" pitchFamily="18" charset="0"/>
                                  </a:rPr>
                                  <m:t>𝑥</m:t>
                                </m:r>
                              </m:e>
                            </m:acc>
                          </m:e>
                          <m:sup>
                            <m:r>
                              <a:rPr lang="en-US" sz="2200" i="1">
                                <a:latin typeface="Cambria Math" panose="02040503050406030204" pitchFamily="18" charset="0"/>
                              </a:rPr>
                              <m:t>2</m:t>
                            </m:r>
                          </m:sup>
                        </m:sSup>
                      </m:e>
                    </m:d>
                    <m:r>
                      <a:rPr lang="en-US" sz="2200" b="0" i="1" smtClean="0">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𝑛</m:t>
                        </m:r>
                        <m:r>
                          <a:rPr lang="en-US" sz="2200" i="1">
                            <a:latin typeface="Cambria Math" panose="02040503050406030204" pitchFamily="18" charset="0"/>
                          </a:rPr>
                          <m:t>−1</m:t>
                        </m:r>
                      </m:den>
                    </m:f>
                    <m:d>
                      <m:dPr>
                        <m:begChr m:val="["/>
                        <m:endChr m:val="]"/>
                        <m:ctrlPr>
                          <a:rPr lang="en-US" sz="2200" i="1" smtClean="0">
                            <a:latin typeface="Cambria Math" panose="02040503050406030204" pitchFamily="18" charset="0"/>
                          </a:rPr>
                        </m:ctrlPr>
                      </m:dPr>
                      <m:e>
                        <m:nary>
                          <m:naryPr>
                            <m:chr m:val="∑"/>
                            <m:limLoc m:val="undOvr"/>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sup>
                                <m:r>
                                  <a:rPr lang="en-US" sz="2200" i="1">
                                    <a:latin typeface="Cambria Math" panose="02040503050406030204" pitchFamily="18" charset="0"/>
                                  </a:rPr>
                                  <m:t>2</m:t>
                                </m:r>
                              </m:sup>
                            </m:sSup>
                            <m:r>
                              <a:rPr lang="en-US" sz="2200" i="1">
                                <a:latin typeface="Cambria Math" panose="02040503050406030204" pitchFamily="18" charset="0"/>
                              </a:rPr>
                              <m:t>−</m:t>
                            </m:r>
                          </m:e>
                        </m:nary>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d>
                              </m:e>
                              <m:sup>
                                <m:r>
                                  <a:rPr lang="en-US" sz="2200" i="1">
                                    <a:latin typeface="Cambria Math" panose="02040503050406030204" pitchFamily="18" charset="0"/>
                                  </a:rPr>
                                  <m:t>2</m:t>
                                </m:r>
                              </m:sup>
                            </m:sSup>
                          </m:num>
                          <m:den>
                            <m:r>
                              <a:rPr lang="en-US" sz="2200" i="1">
                                <a:latin typeface="Cambria Math" panose="02040503050406030204" pitchFamily="18" charset="0"/>
                              </a:rPr>
                              <m:t>𝑛</m:t>
                            </m:r>
                          </m:den>
                        </m:f>
                      </m:e>
                    </m:d>
                  </m:oMath>
                </a14:m>
                <a:r>
                  <a:rPr lang="en-US" sz="2200" dirty="0">
                    <a:latin typeface="Arial" panose="020B0604020202020204" pitchFamily="34" charset="0"/>
                    <a:cs typeface="Arial" panose="020B0604020202020204" pitchFamily="34" charset="0"/>
                  </a:rPr>
                  <a:t>.</a:t>
                </a:r>
              </a:p>
              <a:p>
                <a:pPr marL="342900" indent="-34290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As the sample variance is denoted by </a:t>
                </a:r>
                <a14:m>
                  <m:oMath xmlns:m="http://schemas.openxmlformats.org/officeDocument/2006/math">
                    <m:sSup>
                      <m:sSupPr>
                        <m:ctrlPr>
                          <a:rPr lang="en-US" sz="2200" i="1">
                            <a:latin typeface="Cambria Math" panose="02040503050406030204" pitchFamily="18" charset="0"/>
                          </a:rPr>
                        </m:ctrlPr>
                      </m:sSupPr>
                      <m:e>
                        <m:r>
                          <a:rPr lang="en-US" sz="2200" i="1">
                            <a:latin typeface="Cambria Math" panose="02040503050406030204" pitchFamily="18" charset="0"/>
                          </a:rPr>
                          <m:t>𝑆</m:t>
                        </m:r>
                      </m:e>
                      <m:sup>
                        <m:r>
                          <a:rPr lang="en-US" sz="2200" i="1">
                            <a:latin typeface="Cambria Math" panose="02040503050406030204" pitchFamily="18" charset="0"/>
                          </a:rPr>
                          <m:t>2</m:t>
                        </m:r>
                      </m:sup>
                    </m:sSup>
                  </m:oMath>
                </a14:m>
                <a:r>
                  <a:rPr lang="en-US" sz="2200" dirty="0">
                    <a:latin typeface="Arial" panose="020B0604020202020204" pitchFamily="34" charset="0"/>
                    <a:cs typeface="Arial" panose="020B0604020202020204" pitchFamily="34" charset="0"/>
                  </a:rPr>
                  <a:t>, the sample standard deviation is denoted by </a:t>
                </a:r>
                <a14:m>
                  <m:oMath xmlns:m="http://schemas.openxmlformats.org/officeDocument/2006/math">
                    <m:r>
                      <a:rPr lang="en-US" sz="2200" i="1">
                        <a:latin typeface="Cambria Math" panose="02040503050406030204" pitchFamily="18" charset="0"/>
                      </a:rPr>
                      <m:t>𝑆</m:t>
                    </m:r>
                  </m:oMath>
                </a14:m>
                <a:r>
                  <a:rPr lang="en-US" sz="2200" dirty="0">
                    <a:latin typeface="Arial" panose="020B0604020202020204" pitchFamily="34" charset="0"/>
                    <a:cs typeface="Arial" panose="020B0604020202020204" pitchFamily="34" charset="0"/>
                  </a:rPr>
                  <a:t> and is defined as </a:t>
                </a:r>
                <a14:m>
                  <m:oMath xmlns:m="http://schemas.openxmlformats.org/officeDocument/2006/math">
                    <m:r>
                      <a:rPr lang="en-US" sz="2200" i="1">
                        <a:latin typeface="Cambria Math" panose="02040503050406030204" pitchFamily="18" charset="0"/>
                      </a:rPr>
                      <m:t>𝑆</m:t>
                    </m:r>
                    <m:r>
                      <a:rPr lang="en-US" sz="2200" i="1">
                        <a:latin typeface="Cambria Math" panose="02040503050406030204" pitchFamily="18" charset="0"/>
                      </a:rPr>
                      <m:t>=+</m:t>
                    </m:r>
                    <m:rad>
                      <m:radPr>
                        <m:degHide m:val="on"/>
                        <m:ctrlPr>
                          <a:rPr lang="en-US" sz="2200" i="1">
                            <a:latin typeface="Cambria Math" panose="02040503050406030204" pitchFamily="18" charset="0"/>
                          </a:rPr>
                        </m:ctrlPr>
                      </m:radPr>
                      <m:deg/>
                      <m:e>
                        <m:sSup>
                          <m:sSupPr>
                            <m:ctrlPr>
                              <a:rPr lang="en-US" sz="2200" i="1">
                                <a:latin typeface="Cambria Math" panose="02040503050406030204" pitchFamily="18" charset="0"/>
                              </a:rPr>
                            </m:ctrlPr>
                          </m:sSupPr>
                          <m:e>
                            <m:r>
                              <a:rPr lang="en-US" sz="2200" i="1">
                                <a:latin typeface="Cambria Math" panose="02040503050406030204" pitchFamily="18" charset="0"/>
                              </a:rPr>
                              <m:t>𝑆</m:t>
                            </m:r>
                          </m:e>
                          <m:sup>
                            <m:r>
                              <a:rPr lang="en-US" sz="2200" i="1">
                                <a:latin typeface="Cambria Math" panose="02040503050406030204" pitchFamily="18" charset="0"/>
                              </a:rPr>
                              <m:t>2</m:t>
                            </m:r>
                          </m:sup>
                        </m:sSup>
                      </m:e>
                    </m:rad>
                  </m:oMath>
                </a14:m>
                <a:r>
                  <a:rPr lang="en-US" sz="2200" dirty="0">
                    <a:latin typeface="Arial" panose="020B0604020202020204" pitchFamily="34" charset="0"/>
                    <a:cs typeface="Arial" panose="020B0604020202020204" pitchFamily="34" charset="0"/>
                  </a:rPr>
                  <a:t>.</a:t>
                </a:r>
              </a:p>
              <a:p>
                <a:pPr marL="342900" indent="-342900" algn="just">
                  <a:lnSpc>
                    <a:spcPct val="1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Example:</a:t>
                </a:r>
                <a:r>
                  <a:rPr lang="en-US" sz="2200" dirty="0">
                    <a:latin typeface="Arial" panose="020B0604020202020204" pitchFamily="34" charset="0"/>
                    <a:cs typeface="Arial" panose="020B0604020202020204" pitchFamily="34" charset="0"/>
                  </a:rPr>
                  <a:t> The weights of containers being shipped are (in thousands of pounds): 95, 103, 105, 110, 104, 105, 112, 90. Compute the standard deviation.</a:t>
                </a:r>
                <a:endParaRPr lang="en-US" sz="2200" b="1" i="1"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926621"/>
              </a:xfrm>
              <a:blipFill rotWithShape="0">
                <a:blip r:embed="rId2"/>
                <a:stretch>
                  <a:fillRect l="-675" t="-617" r="-732"/>
                </a:stretch>
              </a:blipFill>
            </p:spPr>
            <p:txBody>
              <a:bodyPr/>
              <a:lstStyle/>
              <a:p>
                <a:r>
                  <a:rPr lang="en-US">
                    <a:noFill/>
                  </a:rPr>
                  <a:t> </a:t>
                </a:r>
              </a:p>
            </p:txBody>
          </p:sp>
        </mc:Fallback>
      </mc:AlternateContent>
    </p:spTree>
    <p:extLst>
      <p:ext uri="{BB962C8B-B14F-4D97-AF65-F5344CB8AC3E}">
        <p14:creationId xmlns:p14="http://schemas.microsoft.com/office/powerpoint/2010/main" val="2470255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Standard </a:t>
            </a:r>
            <a:r>
              <a:rPr lang="en-US" sz="2400" b="1" dirty="0" smtClean="0">
                <a:latin typeface="Arial" panose="020B0604020202020204" pitchFamily="34" charset="0"/>
                <a:cs typeface="Arial" panose="020B0604020202020204" pitchFamily="34" charset="0"/>
              </a:rPr>
              <a:t>deviation (</a:t>
            </a:r>
            <a:r>
              <a:rPr lang="en-US" sz="2400" b="1" dirty="0" err="1">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 </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To </a:t>
                </a:r>
                <a:r>
                  <a:rPr lang="en-US" sz="2000" dirty="0">
                    <a:latin typeface="Arial" panose="020B0604020202020204" pitchFamily="34" charset="0"/>
                    <a:cs typeface="Arial" panose="020B0604020202020204" pitchFamily="34" charset="0"/>
                  </a:rPr>
                  <a:t>compute the </a:t>
                </a:r>
                <a:r>
                  <a:rPr lang="en-US" sz="2000" dirty="0" smtClean="0">
                    <a:latin typeface="Arial" panose="020B0604020202020204" pitchFamily="34" charset="0"/>
                    <a:cs typeface="Arial" panose="020B0604020202020204" pitchFamily="34" charset="0"/>
                  </a:rPr>
                  <a:t>standard </a:t>
                </a:r>
                <a:r>
                  <a:rPr lang="en-US" sz="2000" dirty="0">
                    <a:latin typeface="Arial" panose="020B0604020202020204" pitchFamily="34" charset="0"/>
                    <a:cs typeface="Arial" panose="020B0604020202020204" pitchFamily="34" charset="0"/>
                  </a:rPr>
                  <a:t>deviation, we can construct the following </a:t>
                </a:r>
                <a:r>
                  <a:rPr lang="en-US" sz="2000" dirty="0" smtClean="0">
                    <a:latin typeface="Arial" panose="020B0604020202020204" pitchFamily="34" charset="0"/>
                    <a:cs typeface="Arial" panose="020B0604020202020204" pitchFamily="34" charset="0"/>
                  </a:rPr>
                  <a:t>table</a:t>
                </a:r>
              </a:p>
              <a:p>
                <a:pPr marL="342900" indent="-342900" algn="just">
                  <a:lnSpc>
                    <a:spcPct val="15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lnSpc>
                    <a:spcPct val="150000"/>
                  </a:lnSpc>
                </a:pPr>
                <a:endParaRPr lang="en-US" sz="2000" dirty="0" smtClean="0">
                  <a:latin typeface="Arial" panose="020B0604020202020204" pitchFamily="34" charset="0"/>
                  <a:cs typeface="Arial" panose="020B0604020202020204" pitchFamily="34" charset="0"/>
                </a:endParaRPr>
              </a:p>
              <a:p>
                <a:pPr algn="just">
                  <a:lnSpc>
                    <a:spcPct val="150000"/>
                  </a:lnSpc>
                </a:pPr>
                <a:endParaRPr lang="en-US" sz="1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Here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=8</m:t>
                    </m:r>
                  </m:oMath>
                </a14:m>
                <a:r>
                  <a:rPr lang="en-US" sz="2000" i="1" dirty="0" smtClean="0">
                    <a:latin typeface="Arial" panose="020B0604020202020204" pitchFamily="34" charset="0"/>
                    <a:cs typeface="Arial" panose="020B0604020202020204" pitchFamily="34" charset="0"/>
                  </a:rPr>
                  <a:t>, we have</a:t>
                </a:r>
                <a:r>
                  <a:rPr lang="en-US" sz="2000" i="1" dirty="0">
                    <a:latin typeface="Arial" panose="020B0604020202020204" pitchFamily="34" charset="0"/>
                    <a:cs typeface="Arial" panose="020B060402020202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𝑆</m:t>
                        </m:r>
                      </m:e>
                      <m:sup>
                        <m:r>
                          <a:rPr lang="en-US" sz="2000" i="1">
                            <a:latin typeface="Cambria Math" panose="02040503050406030204" pitchFamily="18" charset="0"/>
                          </a:rPr>
                          <m:t>2</m:t>
                        </m:r>
                      </m:sup>
                    </m:sSup>
                    <m:r>
                      <a:rPr lang="en-US" sz="2000" i="1">
                        <a:latin typeface="Cambria Math" panose="02040503050406030204" pitchFamily="18" charset="0"/>
                      </a:rPr>
                      <m:t>=</m:t>
                    </m:r>
                    <m:f>
                      <m:fPr>
                        <m:ctrlPr>
                          <a:rPr lang="en-US" sz="2000" i="1">
                            <a:latin typeface="Cambria Math" panose="02040503050406030204" pitchFamily="18" charset="0"/>
                          </a:rPr>
                        </m:ctrlPr>
                      </m:fPr>
                      <m:num>
                        <m:nary>
                          <m:naryPr>
                            <m:chr m:val="∑"/>
                            <m:limLoc m:val="undOvr"/>
                            <m:subHide m:val="on"/>
                            <m:supHide m:val="on"/>
                            <m:ctrlPr>
                              <a:rPr lang="en-US" sz="2000" i="1">
                                <a:latin typeface="Cambria Math" panose="02040503050406030204" pitchFamily="18" charset="0"/>
                              </a:rPr>
                            </m:ctrlPr>
                          </m:naryPr>
                          <m:sub/>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d>
                              </m:e>
                              <m:sup>
                                <m:r>
                                  <a:rPr lang="en-US" sz="2000" i="1">
                                    <a:latin typeface="Cambria Math" panose="02040503050406030204" pitchFamily="18" charset="0"/>
                                  </a:rPr>
                                  <m:t>2</m:t>
                                </m:r>
                              </m:sup>
                            </m:sSup>
                          </m:e>
                        </m:nary>
                      </m:num>
                      <m:den>
                        <m:r>
                          <a:rPr lang="en-US" sz="2000" i="1">
                            <a:latin typeface="Cambria Math" panose="02040503050406030204" pitchFamily="18" charset="0"/>
                          </a:rPr>
                          <m:t>𝑛</m:t>
                        </m:r>
                        <m:r>
                          <a:rPr lang="en-US" sz="2000" i="1">
                            <a:latin typeface="Cambria Math" panose="02040503050406030204" pitchFamily="18" charset="0"/>
                          </a:rPr>
                          <m:t>−1</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372</m:t>
                        </m:r>
                      </m:num>
                      <m:den>
                        <m:r>
                          <a:rPr lang="en-US" sz="2000" i="1">
                            <a:latin typeface="Cambria Math" panose="02040503050406030204" pitchFamily="18" charset="0"/>
                          </a:rPr>
                          <m:t>7</m:t>
                        </m:r>
                      </m:den>
                    </m:f>
                    <m:r>
                      <a:rPr lang="en-US" sz="2000" i="1">
                        <a:latin typeface="Cambria Math" panose="02040503050406030204" pitchFamily="18" charset="0"/>
                      </a:rPr>
                      <m:t>=53.14286</m:t>
                    </m:r>
                  </m:oMath>
                </a14:m>
                <a:endParaRPr lang="en-US" sz="2000" i="1" dirty="0" smtClean="0">
                  <a:latin typeface="Arial" panose="020B0604020202020204" pitchFamily="34" charset="0"/>
                </a:endParaRPr>
              </a:p>
              <a:p>
                <a:pPr marL="342900" indent="-342900" algn="just">
                  <a:lnSpc>
                    <a:spcPct val="100000"/>
                  </a:lnSpc>
                  <a:buFont typeface="Arial" panose="020B0604020202020204" pitchFamily="34" charset="0"/>
                  <a:buChar char="•"/>
                </a:pPr>
                <a:r>
                  <a:rPr lang="en-US" sz="1800" dirty="0">
                    <a:latin typeface="Arial" panose="020B0604020202020204" pitchFamily="34" charset="0"/>
                    <a:cs typeface="Arial" panose="020B0604020202020204" pitchFamily="34" charset="0"/>
                  </a:rPr>
                  <a:t>Equivalently, </a:t>
                </a:r>
              </a:p>
              <a:p>
                <a:pPr>
                  <a:lnSpc>
                    <a:spcPct val="100000"/>
                  </a:lnSpc>
                </a:pPr>
                <a14:m>
                  <m:oMathPara xmlns:m="http://schemas.openxmlformats.org/officeDocument/2006/math">
                    <m:oMathParaPr>
                      <m:jc m:val="centerGroup"/>
                    </m:oMathParaPr>
                    <m:oMath xmlns:m="http://schemas.openxmlformats.org/officeDocument/2006/math">
                      <m:sSup>
                        <m:sSupPr>
                          <m:ctrlPr>
                            <a:rPr lang="en-US" sz="1800" i="1">
                              <a:latin typeface="Cambria Math" panose="02040503050406030204" pitchFamily="18" charset="0"/>
                            </a:rPr>
                          </m:ctrlPr>
                        </m:sSupPr>
                        <m:e>
                          <m:r>
                            <a:rPr lang="en-US" sz="1800" i="1">
                              <a:latin typeface="Cambria Math" panose="02040503050406030204" pitchFamily="18" charset="0"/>
                            </a:rPr>
                            <m:t>𝑆</m:t>
                          </m:r>
                        </m:e>
                        <m:sup>
                          <m:r>
                            <a:rPr lang="en-US" sz="1800" i="1">
                              <a:latin typeface="Cambria Math" panose="02040503050406030204" pitchFamily="18" charset="0"/>
                            </a:rPr>
                            <m:t>2</m:t>
                          </m:r>
                        </m:sup>
                      </m:sSup>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𝑛</m:t>
                          </m:r>
                          <m:r>
                            <a:rPr lang="en-US" sz="1800" i="1">
                              <a:latin typeface="Cambria Math" panose="02040503050406030204" pitchFamily="18" charset="0"/>
                            </a:rPr>
                            <m:t>−1</m:t>
                          </m:r>
                        </m:den>
                      </m:f>
                      <m:d>
                        <m:dPr>
                          <m:ctrlPr>
                            <a:rPr lang="en-US" sz="1800" i="1">
                              <a:latin typeface="Cambria Math" panose="02040503050406030204" pitchFamily="18" charset="0"/>
                            </a:rPr>
                          </m:ctrlPr>
                        </m:dPr>
                        <m:e>
                          <m:nary>
                            <m:naryPr>
                              <m:chr m:val="∑"/>
                              <m:limLoc m:val="undOvr"/>
                              <m:subHide m:val="on"/>
                              <m:supHide m:val="on"/>
                              <m:ctrlPr>
                                <a:rPr lang="en-US" sz="1800" i="1">
                                  <a:latin typeface="Cambria Math" panose="02040503050406030204" pitchFamily="18" charset="0"/>
                                </a:rPr>
                              </m:ctrlPr>
                            </m:naryPr>
                            <m:sub/>
                            <m:sup/>
                            <m:e>
                              <m:sSup>
                                <m:sSupPr>
                                  <m:ctrlPr>
                                    <a:rPr lang="en-US" sz="1800" i="1">
                                      <a:latin typeface="Cambria Math" panose="02040503050406030204" pitchFamily="18" charset="0"/>
                                    </a:rPr>
                                  </m:ctrlPr>
                                </m:sSupPr>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m:t>
                                      </m:r>
                                    </m:sub>
                                  </m:sSub>
                                </m:e>
                                <m:sup>
                                  <m:r>
                                    <a:rPr lang="en-US" sz="1800" i="1">
                                      <a:latin typeface="Cambria Math" panose="02040503050406030204" pitchFamily="18" charset="0"/>
                                    </a:rPr>
                                    <m:t>2</m:t>
                                  </m:r>
                                </m:sup>
                              </m:sSup>
                            </m:e>
                          </m:nary>
                          <m:r>
                            <a:rPr lang="en-US" sz="1800" i="1">
                              <a:latin typeface="Cambria Math" panose="02040503050406030204" pitchFamily="18" charset="0"/>
                            </a:rPr>
                            <m:t>−</m:t>
                          </m:r>
                          <m:r>
                            <a:rPr lang="en-US" sz="1800" i="1">
                              <a:latin typeface="Cambria Math" panose="02040503050406030204" pitchFamily="18" charset="0"/>
                            </a:rPr>
                            <m:t>𝑛</m:t>
                          </m:r>
                          <m:sSup>
                            <m:sSupPr>
                              <m:ctrlPr>
                                <a:rPr lang="en-US" sz="1800" i="1">
                                  <a:latin typeface="Cambria Math" panose="02040503050406030204" pitchFamily="18" charset="0"/>
                                </a:rPr>
                              </m:ctrlPr>
                            </m:sSupPr>
                            <m:e>
                              <m:acc>
                                <m:accPr>
                                  <m:chr m:val="̅"/>
                                  <m:ctrlPr>
                                    <a:rPr lang="en-US" sz="1800" i="1">
                                      <a:latin typeface="Cambria Math" panose="02040503050406030204" pitchFamily="18" charset="0"/>
                                    </a:rPr>
                                  </m:ctrlPr>
                                </m:accPr>
                                <m:e>
                                  <m:r>
                                    <a:rPr lang="en-US" sz="1800" i="1">
                                      <a:latin typeface="Cambria Math" panose="02040503050406030204" pitchFamily="18" charset="0"/>
                                    </a:rPr>
                                    <m:t>𝑥</m:t>
                                  </m:r>
                                </m:e>
                              </m:acc>
                            </m:e>
                            <m:sup>
                              <m:r>
                                <a:rPr lang="en-US" sz="1800" i="1">
                                  <a:latin typeface="Cambria Math" panose="02040503050406030204" pitchFamily="18" charset="0"/>
                                </a:rPr>
                                <m:t>2</m:t>
                              </m:r>
                            </m:sup>
                          </m:sSup>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7</m:t>
                          </m:r>
                        </m:den>
                      </m:f>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95</m:t>
                              </m:r>
                            </m:e>
                            <m:sup>
                              <m:r>
                                <a:rPr lang="en-US" sz="1800" i="1">
                                  <a:latin typeface="Cambria Math" panose="02040503050406030204" pitchFamily="18" charset="0"/>
                                </a:rPr>
                                <m:t>2</m:t>
                              </m:r>
                            </m:sup>
                          </m:sSup>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90</m:t>
                              </m:r>
                            </m:e>
                            <m:sup>
                              <m:r>
                                <a:rPr lang="en-US" sz="1800" i="1">
                                  <a:latin typeface="Cambria Math" panose="02040503050406030204" pitchFamily="18" charset="0"/>
                                </a:rPr>
                                <m:t>2</m:t>
                              </m:r>
                            </m:sup>
                          </m:sSup>
                          <m:r>
                            <a:rPr lang="en-US" sz="1800" i="1">
                              <a:latin typeface="Cambria Math" panose="02040503050406030204" pitchFamily="18" charset="0"/>
                            </a:rPr>
                            <m:t>−8×</m:t>
                          </m:r>
                          <m:sSup>
                            <m:sSupPr>
                              <m:ctrlPr>
                                <a:rPr lang="en-US" sz="1800" i="1">
                                  <a:latin typeface="Cambria Math" panose="02040503050406030204" pitchFamily="18" charset="0"/>
                                </a:rPr>
                              </m:ctrlPr>
                            </m:sSupPr>
                            <m:e>
                              <m:r>
                                <a:rPr lang="en-US" sz="1800" i="1">
                                  <a:latin typeface="Cambria Math" panose="02040503050406030204" pitchFamily="18" charset="0"/>
                                </a:rPr>
                                <m:t>103</m:t>
                              </m:r>
                            </m:e>
                            <m:sup>
                              <m:r>
                                <a:rPr lang="en-US" sz="1800" i="1">
                                  <a:latin typeface="Cambria Math" panose="02040503050406030204" pitchFamily="18" charset="0"/>
                                </a:rPr>
                                <m:t>2</m:t>
                              </m:r>
                            </m:sup>
                          </m:sSup>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7</m:t>
                          </m:r>
                        </m:den>
                      </m:f>
                      <m:d>
                        <m:dPr>
                          <m:ctrlPr>
                            <a:rPr lang="en-US" sz="1800" i="1">
                              <a:latin typeface="Cambria Math" panose="02040503050406030204" pitchFamily="18" charset="0"/>
                            </a:rPr>
                          </m:ctrlPr>
                        </m:dPr>
                        <m:e>
                          <m:r>
                            <a:rPr lang="en-US" sz="1800" i="1">
                              <a:latin typeface="Cambria Math" panose="02040503050406030204" pitchFamily="18" charset="0"/>
                            </a:rPr>
                            <m:t>85244−84872</m:t>
                          </m:r>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372</m:t>
                          </m:r>
                        </m:num>
                        <m:den>
                          <m:r>
                            <a:rPr lang="en-US" sz="1800" i="1">
                              <a:latin typeface="Cambria Math" panose="02040503050406030204" pitchFamily="18" charset="0"/>
                            </a:rPr>
                            <m:t>7</m:t>
                          </m:r>
                        </m:den>
                      </m:f>
                      <m:r>
                        <a:rPr lang="en-US" sz="1800" i="1">
                          <a:latin typeface="Cambria Math" panose="02040503050406030204" pitchFamily="18" charset="0"/>
                        </a:rPr>
                        <m:t>=53.1428</m:t>
                      </m:r>
                    </m:oMath>
                  </m:oMathPara>
                </a14:m>
                <a:endParaRPr lang="en-US" sz="2000" i="1" dirty="0" smtClean="0"/>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Therefore </a:t>
                </a:r>
                <a:r>
                  <a:rPr lang="en-US" sz="2000" dirty="0">
                    <a:latin typeface="Arial" panose="020B0604020202020204" pitchFamily="34" charset="0"/>
                    <a:cs typeface="Arial" panose="020B0604020202020204" pitchFamily="34" charset="0"/>
                  </a:rPr>
                  <a:t>the sample standard deviation is </a:t>
                </a:r>
                <a14:m>
                  <m:oMath xmlns:m="http://schemas.openxmlformats.org/officeDocument/2006/math">
                    <m:r>
                      <a:rPr lang="en-US" sz="2000">
                        <a:latin typeface="Cambria Math" panose="02040503050406030204" pitchFamily="18" charset="0"/>
                        <a:cs typeface="Arial" panose="020B0604020202020204" pitchFamily="34" charset="0"/>
                      </a:rPr>
                      <m:t>𝑆</m:t>
                    </m:r>
                    <m:r>
                      <a:rPr lang="en-US" sz="2000">
                        <a:latin typeface="Cambria Math" panose="02040503050406030204" pitchFamily="18" charset="0"/>
                        <a:cs typeface="Arial" panose="020B0604020202020204" pitchFamily="34" charset="0"/>
                      </a:rPr>
                      <m:t>=</m:t>
                    </m:r>
                    <m:rad>
                      <m:radPr>
                        <m:degHide m:val="on"/>
                        <m:ctrlPr>
                          <a:rPr lang="en-US" sz="2000" i="1">
                            <a:latin typeface="Cambria Math" panose="02040503050406030204" pitchFamily="18" charset="0"/>
                            <a:cs typeface="Arial" panose="020B0604020202020204" pitchFamily="34" charset="0"/>
                          </a:rPr>
                        </m:ctrlPr>
                      </m:radPr>
                      <m:deg/>
                      <m:e>
                        <m:r>
                          <a:rPr lang="en-US" sz="2000">
                            <a:latin typeface="Cambria Math" panose="02040503050406030204" pitchFamily="18" charset="0"/>
                            <a:cs typeface="Arial" panose="020B0604020202020204" pitchFamily="34" charset="0"/>
                          </a:rPr>
                          <m:t>53.14286</m:t>
                        </m:r>
                      </m:e>
                    </m:rad>
                    <m:r>
                      <a:rPr lang="en-US" sz="2000">
                        <a:latin typeface="Cambria Math" panose="02040503050406030204" pitchFamily="18" charset="0"/>
                        <a:cs typeface="Arial" panose="020B0604020202020204" pitchFamily="34" charset="0"/>
                      </a:rPr>
                      <m:t>=7.3</m:t>
                    </m:r>
                  </m:oMath>
                </a14:m>
                <a:r>
                  <a:rPr lang="en-US" sz="2000" dirty="0">
                    <a:latin typeface="Arial" panose="020B0604020202020204" pitchFamily="34" charset="0"/>
                    <a:cs typeface="Arial" panose="020B0604020202020204" pitchFamily="34" charset="0"/>
                  </a:rPr>
                  <a:t>, which indicates that the weights of the containers</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typically vary by about 7.3 thousand pounds from the mean</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i="1" dirty="0" smtClean="0"/>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b="1" i="1" dirty="0" smtClean="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b="-267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4" name="Table 3"/>
              <p:cNvGraphicFramePr>
                <a:graphicFrameLocks noGrp="1"/>
              </p:cNvGraphicFramePr>
              <p:nvPr>
                <p:extLst/>
              </p:nvPr>
            </p:nvGraphicFramePr>
            <p:xfrm>
              <a:off x="3294528" y="1407520"/>
              <a:ext cx="4992221" cy="2628900"/>
            </p:xfrm>
            <a:graphic>
              <a:graphicData uri="http://schemas.openxmlformats.org/drawingml/2006/table">
                <a:tbl>
                  <a:tblPr firstRow="1" firstCol="1" bandRow="1"/>
                  <a:tblGrid>
                    <a:gridCol w="1444321"/>
                    <a:gridCol w="754873"/>
                    <a:gridCol w="971268"/>
                    <a:gridCol w="1821759"/>
                  </a:tblGrid>
                  <a:tr h="250726">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Weights (</a:t>
                          </a:r>
                          <a14:m>
                            <m:oMath xmlns:m="http://schemas.openxmlformats.org/officeDocument/2006/math">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14:m>
                            <m:oMath xmlns:m="http://schemas.openxmlformats.org/officeDocument/2006/math">
                              <m:acc>
                                <m:accPr>
                                  <m: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acc>
                            </m:oMath>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acc>
                              </m:oMath>
                            </m:oMathPara>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acc>
                                      </m:e>
                                    </m:d>
                                  </m:e>
                                  <m:sup>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726">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250726">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103</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50726">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50726">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103</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49</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50726">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50726">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50726">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81</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50726">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169</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r h="250726">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14:m>
                            <m:oMath xmlns:m="http://schemas.openxmlformats.org/officeDocument/2006/math">
                              <m:nary>
                                <m:naryPr>
                                  <m:chr m:val="∑"/>
                                  <m:limLoc m:val="undOvr"/>
                                  <m:subHide m:val="on"/>
                                  <m:supHide m:val="on"/>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nary>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=824</m:t>
                              </m:r>
                            </m:oMath>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14:m>
                            <m:oMath xmlns:m="http://schemas.openxmlformats.org/officeDocument/2006/math">
                              <m:nary>
                                <m:naryPr>
                                  <m:chr m:val="∑"/>
                                  <m:limLoc m:val="undOvr"/>
                                  <m:subHide m:val="on"/>
                                  <m:supHide m:val="on"/>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p>
                                    <m:sSup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𝑥</m:t>
                                              </m:r>
                                            </m:e>
                                          </m:acc>
                                        </m:e>
                                      </m:d>
                                    </m:e>
                                    <m:sup>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e>
                              </m:nary>
                              <m:r>
                                <a:rPr lang="en-US" sz="15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=372</m:t>
                              </m:r>
                            </m:oMath>
                          </a14:m>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Choice>
        <mc:Fallback>
          <p:graphicFrame>
            <p:nvGraphicFramePr>
              <p:cNvPr id="4" name="Table 3"/>
              <p:cNvGraphicFramePr>
                <a:graphicFrameLocks noGrp="1"/>
              </p:cNvGraphicFramePr>
              <p:nvPr>
                <p:extLst/>
              </p:nvPr>
            </p:nvGraphicFramePr>
            <p:xfrm>
              <a:off x="3294528" y="1407520"/>
              <a:ext cx="4992221" cy="2628900"/>
            </p:xfrm>
            <a:graphic>
              <a:graphicData uri="http://schemas.openxmlformats.org/drawingml/2006/table">
                <a:tbl>
                  <a:tblPr firstRow="1" firstCol="1" bandRow="1"/>
                  <a:tblGrid>
                    <a:gridCol w="1444321"/>
                    <a:gridCol w="754873"/>
                    <a:gridCol w="971268"/>
                    <a:gridCol w="1821759"/>
                  </a:tblGrid>
                  <a:tr h="262890">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422" t="-16279" r="-246835" b="-1132558"/>
                          </a:stretch>
                        </a:blipFill>
                      </a:tcPr>
                    </a:tc>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91935" t="-16279" r="-371774" b="-1132558"/>
                          </a:stretch>
                        </a:blipFill>
                      </a:tcPr>
                    </a:tc>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226250" t="-16279" r="-188125" b="-1132558"/>
                          </a:stretch>
                        </a:blipFill>
                      </a:tcPr>
                    </a:tc>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74582" t="-16279" r="-669" b="-1132558"/>
                          </a:stretch>
                        </a:blipFill>
                      </a:tcPr>
                    </a:tc>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103</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103</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7</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49</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105</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112</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81</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262890">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90</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169</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r h="262890">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422" t="-923256" r="-246835" b="-225581"/>
                          </a:stretch>
                        </a:blipFill>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5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74582" t="-923256" r="-669" b="-225581"/>
                          </a:stretch>
                        </a:blipFill>
                      </a:tcPr>
                    </a:tc>
                  </a:tr>
                </a:tbl>
              </a:graphicData>
            </a:graphic>
          </p:graphicFrame>
        </mc:Fallback>
      </mc:AlternateContent>
    </p:spTree>
    <p:extLst>
      <p:ext uri="{BB962C8B-B14F-4D97-AF65-F5344CB8AC3E}">
        <p14:creationId xmlns:p14="http://schemas.microsoft.com/office/powerpoint/2010/main" val="5732193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Properties </a:t>
            </a:r>
            <a:r>
              <a:rPr lang="en-US" sz="2400" b="1" dirty="0">
                <a:latin typeface="Arial" panose="020B0604020202020204" pitchFamily="34" charset="0"/>
                <a:cs typeface="Arial" panose="020B0604020202020204" pitchFamily="34" charset="0"/>
              </a:rPr>
              <a:t>of </a:t>
            </a:r>
            <a:r>
              <a:rPr lang="en-US" sz="2400" b="1" dirty="0" smtClean="0">
                <a:latin typeface="Arial" panose="020B0604020202020204" pitchFamily="34" charset="0"/>
                <a:cs typeface="Arial" panose="020B0604020202020204" pitchFamily="34" charset="0"/>
              </a:rPr>
              <a:t>Variance</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200" b="1" dirty="0" smtClean="0">
                    <a:latin typeface="Arial" panose="020B0604020202020204" pitchFamily="34" charset="0"/>
                    <a:cs typeface="Arial" panose="020B0604020202020204" pitchFamily="34" charset="0"/>
                  </a:rPr>
                  <a:t>Property-1: </a:t>
                </a:r>
                <a:r>
                  <a:rPr lang="en-US" sz="2200" dirty="0">
                    <a:latin typeface="Arial" panose="020B0604020202020204" pitchFamily="34" charset="0"/>
                    <a:cs typeface="Arial" panose="020B0604020202020204" pitchFamily="34" charset="0"/>
                  </a:rPr>
                  <a:t>The </a:t>
                </a:r>
                <a:r>
                  <a:rPr lang="en-US" sz="2200" dirty="0" smtClean="0">
                    <a:latin typeface="Arial" panose="020B0604020202020204" pitchFamily="34" charset="0"/>
                    <a:cs typeface="Arial" panose="020B0604020202020204" pitchFamily="34" charset="0"/>
                  </a:rPr>
                  <a:t>variance </a:t>
                </a:r>
                <a:r>
                  <a:rPr lang="en-US" sz="2200" dirty="0">
                    <a:latin typeface="Arial" panose="020B0604020202020204" pitchFamily="34" charset="0"/>
                    <a:cs typeface="Arial" panose="020B0604020202020204" pitchFamily="34" charset="0"/>
                  </a:rPr>
                  <a:t>is independent </a:t>
                </a:r>
                <a:r>
                  <a:rPr lang="en-US" sz="2200" dirty="0" smtClean="0">
                    <a:latin typeface="Arial" panose="020B0604020202020204" pitchFamily="34" charset="0"/>
                    <a:cs typeface="Arial" panose="020B0604020202020204" pitchFamily="34" charset="0"/>
                  </a:rPr>
                  <a:t>of change in origin but dependent </a:t>
                </a:r>
                <a:r>
                  <a:rPr lang="en-US" sz="2200" dirty="0">
                    <a:latin typeface="Arial" panose="020B0604020202020204" pitchFamily="34" charset="0"/>
                    <a:cs typeface="Arial" panose="020B0604020202020204" pitchFamily="34" charset="0"/>
                  </a:rPr>
                  <a:t>on </a:t>
                </a:r>
                <a:r>
                  <a:rPr lang="en-US" sz="2200" dirty="0" smtClean="0">
                    <a:latin typeface="Arial" panose="020B0604020202020204" pitchFamily="34" charset="0"/>
                    <a:cs typeface="Arial" panose="020B0604020202020204" pitchFamily="34" charset="0"/>
                  </a:rPr>
                  <a:t>the scale </a:t>
                </a:r>
                <a:r>
                  <a:rPr lang="en-US" sz="2200" dirty="0">
                    <a:latin typeface="Arial" panose="020B0604020202020204" pitchFamily="34" charset="0"/>
                    <a:cs typeface="Arial" panose="020B0604020202020204" pitchFamily="34" charset="0"/>
                  </a:rPr>
                  <a:t>(in the sense of linear transformations</a:t>
                </a:r>
                <a:r>
                  <a:rPr lang="en-US" sz="2200" dirty="0" smtClean="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sz="2200" dirty="0" smtClean="0">
                    <a:cs typeface="Arial" panose="020B0604020202020204" pitchFamily="34" charset="0"/>
                  </a:rPr>
                  <a:t>If </a:t>
                </a:r>
                <a14:m>
                  <m:oMath xmlns:m="http://schemas.openxmlformats.org/officeDocument/2006/math">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𝑦</m:t>
                        </m:r>
                      </m:e>
                      <m:sub>
                        <m:r>
                          <a:rPr lang="en-US" sz="2200">
                            <a:latin typeface="Cambria Math" panose="02040503050406030204" pitchFamily="18" charset="0"/>
                            <a:cs typeface="Arial" panose="020B0604020202020204" pitchFamily="34" charset="0"/>
                          </a:rPr>
                          <m:t>𝑖</m:t>
                        </m:r>
                      </m:sub>
                    </m:sSub>
                    <m:r>
                      <a:rPr lang="en-US" sz="2200">
                        <a:latin typeface="Cambria Math" panose="02040503050406030204" pitchFamily="18" charset="0"/>
                        <a:cs typeface="Arial" panose="020B0604020202020204" pitchFamily="34" charset="0"/>
                      </a:rPr>
                      <m:t>=</m:t>
                    </m:r>
                    <m:r>
                      <a:rPr lang="en-US" sz="2200">
                        <a:latin typeface="Cambria Math" panose="02040503050406030204" pitchFamily="18" charset="0"/>
                        <a:cs typeface="Arial" panose="020B0604020202020204" pitchFamily="34" charset="0"/>
                      </a:rPr>
                      <m:t>𝑎</m:t>
                    </m:r>
                    <m:r>
                      <a:rPr lang="en-US" sz="2200" i="1" smtClean="0">
                        <a:latin typeface="Cambria Math" panose="02040503050406030204" pitchFamily="18" charset="0"/>
                        <a:ea typeface="Cambria Math" panose="02040503050406030204" pitchFamily="18" charset="0"/>
                        <a:cs typeface="Arial" panose="020B0604020202020204" pitchFamily="34" charset="0"/>
                      </a:rPr>
                      <m:t>±</m:t>
                    </m:r>
                    <m:r>
                      <a:rPr lang="en-US" sz="2200">
                        <a:latin typeface="Cambria Math" panose="02040503050406030204" pitchFamily="18" charset="0"/>
                        <a:cs typeface="Arial" panose="020B0604020202020204" pitchFamily="34" charset="0"/>
                      </a:rPr>
                      <m:t>𝑏</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𝑥</m:t>
                        </m:r>
                      </m:e>
                      <m:sub>
                        <m:r>
                          <a:rPr lang="en-US" sz="2200">
                            <a:latin typeface="Cambria Math" panose="02040503050406030204" pitchFamily="18" charset="0"/>
                            <a:cs typeface="Arial" panose="020B0604020202020204" pitchFamily="34" charset="0"/>
                          </a:rPr>
                          <m:t>𝑖</m:t>
                        </m:r>
                      </m:sub>
                    </m:sSub>
                    <m:r>
                      <a:rPr lang="en-US" sz="2200">
                        <a:latin typeface="Cambria Math" panose="02040503050406030204" pitchFamily="18" charset="0"/>
                        <a:cs typeface="Arial" panose="020B0604020202020204" pitchFamily="34" charset="0"/>
                      </a:rPr>
                      <m:t>, </m:t>
                    </m:r>
                    <m:r>
                      <a:rPr lang="en-US" sz="2200">
                        <a:latin typeface="Cambria Math" panose="02040503050406030204" pitchFamily="18" charset="0"/>
                        <a:cs typeface="Arial" panose="020B0604020202020204" pitchFamily="34" charset="0"/>
                      </a:rPr>
                      <m:t>𝑖</m:t>
                    </m:r>
                    <m:r>
                      <a:rPr lang="en-US" sz="2200">
                        <a:latin typeface="Cambria Math" panose="02040503050406030204" pitchFamily="18" charset="0"/>
                        <a:cs typeface="Arial" panose="020B0604020202020204" pitchFamily="34" charset="0"/>
                      </a:rPr>
                      <m:t>=1, 2, ⋯, </m:t>
                    </m:r>
                    <m:r>
                      <a:rPr lang="en-US" sz="2200">
                        <a:latin typeface="Cambria Math" panose="02040503050406030204" pitchFamily="18" charset="0"/>
                        <a:cs typeface="Arial" panose="020B0604020202020204" pitchFamily="34" charset="0"/>
                      </a:rPr>
                      <m:t>𝑛</m:t>
                    </m:r>
                  </m:oMath>
                </a14:m>
                <a:r>
                  <a:rPr lang="en-US" sz="2200" dirty="0" smtClean="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then </a:t>
                </a:r>
                <a14:m>
                  <m:oMath xmlns:m="http://schemas.openxmlformats.org/officeDocument/2006/math">
                    <m:sSubSup>
                      <m:sSubSupPr>
                        <m:ctrlPr>
                          <a:rPr lang="en-US" sz="2200" i="1">
                            <a:latin typeface="Cambria Math" panose="02040503050406030204" pitchFamily="18" charset="0"/>
                            <a:cs typeface="Arial" panose="020B0604020202020204" pitchFamily="34" charset="0"/>
                          </a:rPr>
                        </m:ctrlPr>
                      </m:sSubSupPr>
                      <m:e>
                        <m:r>
                          <a:rPr lang="en-US" sz="2200" i="1">
                            <a:latin typeface="Cambria Math" panose="02040503050406030204" pitchFamily="18" charset="0"/>
                            <a:cs typeface="Arial" panose="020B0604020202020204" pitchFamily="34" charset="0"/>
                          </a:rPr>
                          <m:t>𝑆</m:t>
                        </m:r>
                      </m:e>
                      <m:sub>
                        <m:r>
                          <a:rPr lang="en-US" sz="2200" i="1">
                            <a:latin typeface="Cambria Math" panose="02040503050406030204" pitchFamily="18" charset="0"/>
                            <a:cs typeface="Arial" panose="020B0604020202020204" pitchFamily="34" charset="0"/>
                          </a:rPr>
                          <m:t>𝑦</m:t>
                        </m:r>
                      </m:sub>
                      <m:sup>
                        <m:r>
                          <a:rPr lang="en-US" sz="2200" i="1">
                            <a:latin typeface="Cambria Math" panose="02040503050406030204" pitchFamily="18" charset="0"/>
                            <a:cs typeface="Arial" panose="020B0604020202020204" pitchFamily="34" charset="0"/>
                          </a:rPr>
                          <m:t>2</m:t>
                        </m:r>
                      </m:sup>
                    </m:sSubSup>
                    <m:r>
                      <a:rPr lang="en-US" sz="2200" dirty="0">
                        <a:latin typeface="Cambria Math" panose="02040503050406030204" pitchFamily="18" charset="0"/>
                        <a:cs typeface="Arial" panose="020B0604020202020204" pitchFamily="34" charset="0"/>
                      </a:rPr>
                      <m:t>=</m:t>
                    </m:r>
                    <m:sSup>
                      <m:sSupPr>
                        <m:ctrlPr>
                          <a:rPr lang="en-US" sz="2200" i="1" dirty="0">
                            <a:latin typeface="Cambria Math" panose="02040503050406030204" pitchFamily="18" charset="0"/>
                            <a:cs typeface="Arial" panose="020B0604020202020204" pitchFamily="34" charset="0"/>
                          </a:rPr>
                        </m:ctrlPr>
                      </m:sSupPr>
                      <m:e>
                        <m:r>
                          <a:rPr lang="en-US" sz="2200" dirty="0">
                            <a:latin typeface="Cambria Math" panose="02040503050406030204" pitchFamily="18" charset="0"/>
                            <a:cs typeface="Arial" panose="020B0604020202020204" pitchFamily="34" charset="0"/>
                          </a:rPr>
                          <m:t>𝑏</m:t>
                        </m:r>
                      </m:e>
                      <m:sup>
                        <m:r>
                          <a:rPr lang="en-US" sz="2200" dirty="0">
                            <a:latin typeface="Cambria Math" panose="02040503050406030204" pitchFamily="18" charset="0"/>
                            <a:cs typeface="Arial" panose="020B0604020202020204" pitchFamily="34" charset="0"/>
                          </a:rPr>
                          <m:t>2</m:t>
                        </m:r>
                      </m:sup>
                    </m:sSup>
                    <m:sSubSup>
                      <m:sSubSupPr>
                        <m:ctrlPr>
                          <a:rPr lang="en-US" sz="2200" i="1" dirty="0">
                            <a:latin typeface="Cambria Math" panose="02040503050406030204" pitchFamily="18" charset="0"/>
                            <a:cs typeface="Arial" panose="020B0604020202020204" pitchFamily="34" charset="0"/>
                          </a:rPr>
                        </m:ctrlPr>
                      </m:sSubSupPr>
                      <m:e>
                        <m:r>
                          <a:rPr lang="en-US" sz="2200" i="1" dirty="0">
                            <a:latin typeface="Cambria Math" panose="02040503050406030204" pitchFamily="18" charset="0"/>
                            <a:cs typeface="Arial" panose="020B0604020202020204" pitchFamily="34" charset="0"/>
                          </a:rPr>
                          <m:t>𝑆</m:t>
                        </m:r>
                      </m:e>
                      <m:sub>
                        <m:r>
                          <a:rPr lang="en-US" sz="2200" i="1" dirty="0">
                            <a:latin typeface="Cambria Math" panose="02040503050406030204" pitchFamily="18" charset="0"/>
                            <a:cs typeface="Arial" panose="020B0604020202020204" pitchFamily="34" charset="0"/>
                          </a:rPr>
                          <m:t>𝑥</m:t>
                        </m:r>
                      </m:sub>
                      <m:sup>
                        <m:r>
                          <a:rPr lang="en-US" sz="2200" i="1" dirty="0">
                            <a:latin typeface="Cambria Math" panose="02040503050406030204" pitchFamily="18" charset="0"/>
                            <a:cs typeface="Arial" panose="020B0604020202020204" pitchFamily="34" charset="0"/>
                          </a:rPr>
                          <m:t>2</m:t>
                        </m:r>
                      </m:sup>
                    </m:sSubSup>
                  </m:oMath>
                </a14:m>
                <a:r>
                  <a:rPr lang="en-US" sz="2200" i="1" dirty="0">
                    <a:latin typeface="Arial" panose="020B0604020202020204" pitchFamily="34" charset="0"/>
                    <a:cs typeface="Arial" panose="020B0604020202020204" pitchFamily="34" charset="0"/>
                  </a:rPr>
                  <a:t>. </a:t>
                </a:r>
                <a:endParaRPr lang="en-US" sz="22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200" b="1" dirty="0" smtClean="0">
                    <a:latin typeface="Arial" panose="020B0604020202020204" pitchFamily="34" charset="0"/>
                    <a:cs typeface="Arial" panose="020B0604020202020204" pitchFamily="34" charset="0"/>
                  </a:rPr>
                  <a:t>Property-2: </a:t>
                </a:r>
                <a:r>
                  <a:rPr lang="en-US" sz="2200" dirty="0" smtClean="0">
                    <a:latin typeface="Arial" panose="020B0604020202020204" pitchFamily="34" charset="0"/>
                    <a:cs typeface="Arial" panose="020B0604020202020204" pitchFamily="34" charset="0"/>
                  </a:rPr>
                  <a:t>The variance is minimized if computed from the arithmetic mean.</a:t>
                </a:r>
                <a:endParaRPr lang="en-US" sz="22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200" b="1" dirty="0" smtClean="0">
                    <a:latin typeface="Arial" panose="020B0604020202020204" pitchFamily="34" charset="0"/>
                    <a:cs typeface="Arial" panose="020B0604020202020204" pitchFamily="34" charset="0"/>
                  </a:rPr>
                  <a:t>Property-3: </a:t>
                </a:r>
                <a:r>
                  <a:rPr lang="en-US" sz="2200" dirty="0" smtClean="0">
                    <a:latin typeface="Arial" panose="020B0604020202020204" pitchFamily="34" charset="0"/>
                    <a:cs typeface="Arial" panose="020B0604020202020204" pitchFamily="34" charset="0"/>
                  </a:rPr>
                  <a:t>If </a:t>
                </a:r>
                <a:r>
                  <a:rPr lang="en-US" sz="2200" dirty="0">
                    <a:latin typeface="Arial" panose="020B0604020202020204" pitchFamily="34" charset="0"/>
                    <a:cs typeface="Arial" panose="020B0604020202020204" pitchFamily="34" charset="0"/>
                  </a:rPr>
                  <a:t>a set consists of </a:t>
                </a:r>
                <a14:m>
                  <m:oMath xmlns:m="http://schemas.openxmlformats.org/officeDocument/2006/math">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𝑛</m:t>
                        </m:r>
                      </m:e>
                      <m:sub>
                        <m:r>
                          <a:rPr lang="en-US" sz="2200">
                            <a:latin typeface="Cambria Math" panose="02040503050406030204" pitchFamily="18" charset="0"/>
                            <a:cs typeface="Arial" panose="020B0604020202020204" pitchFamily="34" charset="0"/>
                          </a:rPr>
                          <m:t>1</m:t>
                        </m:r>
                      </m:sub>
                    </m:sSub>
                  </m:oMath>
                </a14:m>
                <a:r>
                  <a:rPr lang="en-US" sz="2200" dirty="0">
                    <a:latin typeface="Arial" panose="020B0604020202020204" pitchFamily="34" charset="0"/>
                    <a:cs typeface="Arial" panose="020B0604020202020204" pitchFamily="34" charset="0"/>
                  </a:rPr>
                  <a:t> observations of the form </a:t>
                </a:r>
                <a14:m>
                  <m:oMath xmlns:m="http://schemas.openxmlformats.org/officeDocument/2006/math">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𝑥</m:t>
                        </m:r>
                      </m:e>
                      <m:sub>
                        <m:r>
                          <a:rPr lang="en-US" sz="2200">
                            <a:latin typeface="Cambria Math" panose="02040503050406030204" pitchFamily="18" charset="0"/>
                            <a:cs typeface="Arial" panose="020B0604020202020204" pitchFamily="34" charset="0"/>
                          </a:rPr>
                          <m:t>11</m:t>
                        </m:r>
                      </m:sub>
                    </m:sSub>
                    <m:r>
                      <a:rPr lang="en-US" sz="2200">
                        <a:latin typeface="Cambria Math" panose="02040503050406030204" pitchFamily="18" charset="0"/>
                        <a:cs typeface="Arial" panose="020B0604020202020204" pitchFamily="34" charset="0"/>
                      </a:rPr>
                      <m:t>, </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𝑥</m:t>
                        </m:r>
                      </m:e>
                      <m:sub>
                        <m:r>
                          <a:rPr lang="en-US" sz="2200">
                            <a:latin typeface="Cambria Math" panose="02040503050406030204" pitchFamily="18" charset="0"/>
                            <a:cs typeface="Arial" panose="020B0604020202020204" pitchFamily="34" charset="0"/>
                          </a:rPr>
                          <m:t>12</m:t>
                        </m:r>
                      </m:sub>
                    </m:sSub>
                    <m:r>
                      <a:rPr lang="en-US" sz="2200">
                        <a:latin typeface="Cambria Math" panose="02040503050406030204" pitchFamily="18" charset="0"/>
                        <a:cs typeface="Arial" panose="020B0604020202020204" pitchFamily="34" charset="0"/>
                      </a:rPr>
                      <m:t>, …,</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𝑥</m:t>
                        </m:r>
                      </m:e>
                      <m:sub>
                        <m:r>
                          <a:rPr lang="en-US" sz="2200">
                            <a:latin typeface="Cambria Math" panose="02040503050406030204" pitchFamily="18" charset="0"/>
                            <a:cs typeface="Arial" panose="020B0604020202020204" pitchFamily="34" charset="0"/>
                          </a:rPr>
                          <m:t>1</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𝑛</m:t>
                            </m:r>
                          </m:e>
                          <m:sub>
                            <m:r>
                              <a:rPr lang="en-US" sz="2200">
                                <a:latin typeface="Cambria Math" panose="02040503050406030204" pitchFamily="18" charset="0"/>
                                <a:cs typeface="Arial" panose="020B0604020202020204" pitchFamily="34" charset="0"/>
                              </a:rPr>
                              <m:t>1</m:t>
                            </m:r>
                          </m:sub>
                        </m:sSub>
                      </m:sub>
                    </m:sSub>
                  </m:oMath>
                </a14:m>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with variance </a:t>
                </a:r>
                <a14:m>
                  <m:oMath xmlns:m="http://schemas.openxmlformats.org/officeDocument/2006/math">
                    <m:sSubSup>
                      <m:sSubSupPr>
                        <m:ctrlPr>
                          <a:rPr lang="en-US" sz="2200" i="1" dirty="0">
                            <a:latin typeface="Cambria Math" panose="02040503050406030204" pitchFamily="18" charset="0"/>
                            <a:cs typeface="Arial" panose="020B0604020202020204" pitchFamily="34" charset="0"/>
                          </a:rPr>
                        </m:ctrlPr>
                      </m:sSubSupPr>
                      <m:e>
                        <m:r>
                          <a:rPr lang="en-US" sz="2200" i="1" dirty="0">
                            <a:latin typeface="Cambria Math" panose="02040503050406030204" pitchFamily="18" charset="0"/>
                            <a:cs typeface="Arial" panose="020B0604020202020204" pitchFamily="34" charset="0"/>
                          </a:rPr>
                          <m:t>𝑆</m:t>
                        </m:r>
                      </m:e>
                      <m:sub>
                        <m:sSub>
                          <m:sSubPr>
                            <m:ctrlPr>
                              <a:rPr lang="en-US" sz="2200" b="0" i="1" dirty="0" smtClean="0">
                                <a:latin typeface="Cambria Math" panose="02040503050406030204" pitchFamily="18" charset="0"/>
                                <a:cs typeface="Arial" panose="020B0604020202020204" pitchFamily="34" charset="0"/>
                              </a:rPr>
                            </m:ctrlPr>
                          </m:sSubPr>
                          <m:e>
                            <m:r>
                              <a:rPr lang="en-US" sz="2200" i="1" dirty="0">
                                <a:latin typeface="Cambria Math" panose="02040503050406030204" pitchFamily="18" charset="0"/>
                                <a:cs typeface="Arial" panose="020B0604020202020204" pitchFamily="34" charset="0"/>
                              </a:rPr>
                              <m:t>𝑥</m:t>
                            </m:r>
                          </m:e>
                          <m:sub>
                            <m:r>
                              <a:rPr lang="en-US" sz="2200" b="0" i="1" dirty="0" smtClean="0">
                                <a:latin typeface="Cambria Math" panose="02040503050406030204" pitchFamily="18" charset="0"/>
                                <a:cs typeface="Arial" panose="020B0604020202020204" pitchFamily="34" charset="0"/>
                              </a:rPr>
                              <m:t>1</m:t>
                            </m:r>
                          </m:sub>
                        </m:sSub>
                      </m:sub>
                      <m:sup>
                        <m:r>
                          <a:rPr lang="en-US" sz="2200" i="1" dirty="0">
                            <a:latin typeface="Cambria Math" panose="02040503050406030204" pitchFamily="18" charset="0"/>
                            <a:cs typeface="Arial" panose="020B0604020202020204" pitchFamily="34" charset="0"/>
                          </a:rPr>
                          <m:t>2</m:t>
                        </m:r>
                      </m:sup>
                    </m:sSubSup>
                  </m:oMath>
                </a14:m>
                <a:r>
                  <a:rPr lang="en-US" sz="2200" dirty="0">
                    <a:latin typeface="Arial" panose="020B0604020202020204" pitchFamily="34" charset="0"/>
                    <a:cs typeface="Arial" panose="020B0604020202020204" pitchFamily="34" charset="0"/>
                  </a:rPr>
                  <a:t> and a second set consists of </a:t>
                </a:r>
                <a14:m>
                  <m:oMath xmlns:m="http://schemas.openxmlformats.org/officeDocument/2006/math">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𝑛</m:t>
                        </m:r>
                      </m:e>
                      <m:sub>
                        <m:r>
                          <a:rPr lang="en-US" sz="2200">
                            <a:latin typeface="Cambria Math" panose="02040503050406030204" pitchFamily="18" charset="0"/>
                            <a:cs typeface="Arial" panose="020B0604020202020204" pitchFamily="34" charset="0"/>
                          </a:rPr>
                          <m:t>2</m:t>
                        </m:r>
                      </m:sub>
                    </m:sSub>
                  </m:oMath>
                </a14:m>
                <a:r>
                  <a:rPr lang="en-US" sz="2200" dirty="0">
                    <a:latin typeface="Arial" panose="020B0604020202020204" pitchFamily="34" charset="0"/>
                    <a:cs typeface="Arial" panose="020B0604020202020204" pitchFamily="34" charset="0"/>
                  </a:rPr>
                  <a:t> observations of the form </a:t>
                </a:r>
                <a14:m>
                  <m:oMath xmlns:m="http://schemas.openxmlformats.org/officeDocument/2006/math">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𝑥</m:t>
                        </m:r>
                      </m:e>
                      <m:sub>
                        <m:r>
                          <a:rPr lang="en-US" sz="2200">
                            <a:latin typeface="Cambria Math" panose="02040503050406030204" pitchFamily="18" charset="0"/>
                            <a:cs typeface="Arial" panose="020B0604020202020204" pitchFamily="34" charset="0"/>
                          </a:rPr>
                          <m:t>21</m:t>
                        </m:r>
                      </m:sub>
                    </m:sSub>
                    <m:r>
                      <a:rPr lang="en-US" sz="2200">
                        <a:latin typeface="Cambria Math" panose="02040503050406030204" pitchFamily="18" charset="0"/>
                        <a:cs typeface="Arial" panose="020B0604020202020204" pitchFamily="34" charset="0"/>
                      </a:rPr>
                      <m:t>, </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𝑥</m:t>
                        </m:r>
                      </m:e>
                      <m:sub>
                        <m:r>
                          <a:rPr lang="en-US" sz="2200">
                            <a:latin typeface="Cambria Math" panose="02040503050406030204" pitchFamily="18" charset="0"/>
                            <a:cs typeface="Arial" panose="020B0604020202020204" pitchFamily="34" charset="0"/>
                          </a:rPr>
                          <m:t>22</m:t>
                        </m:r>
                      </m:sub>
                    </m:sSub>
                    <m:r>
                      <a:rPr lang="en-US" sz="2200">
                        <a:latin typeface="Cambria Math" panose="02040503050406030204" pitchFamily="18" charset="0"/>
                        <a:cs typeface="Arial" panose="020B0604020202020204" pitchFamily="34" charset="0"/>
                      </a:rPr>
                      <m:t>, …,</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𝑥</m:t>
                        </m:r>
                      </m:e>
                      <m:sub>
                        <m:r>
                          <a:rPr lang="en-US" sz="2200">
                            <a:latin typeface="Cambria Math" panose="02040503050406030204" pitchFamily="18" charset="0"/>
                            <a:cs typeface="Arial" panose="020B0604020202020204" pitchFamily="34" charset="0"/>
                          </a:rPr>
                          <m:t>2</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𝑛</m:t>
                            </m:r>
                          </m:e>
                          <m:sub>
                            <m:r>
                              <a:rPr lang="en-US" sz="2200">
                                <a:latin typeface="Cambria Math" panose="02040503050406030204" pitchFamily="18" charset="0"/>
                                <a:cs typeface="Arial" panose="020B0604020202020204" pitchFamily="34" charset="0"/>
                              </a:rPr>
                              <m:t>2</m:t>
                            </m:r>
                          </m:sub>
                        </m:sSub>
                      </m:sub>
                    </m:sSub>
                  </m:oMath>
                </a14:m>
                <a:r>
                  <a:rPr lang="en-US" sz="2200" dirty="0">
                    <a:latin typeface="Arial" panose="020B0604020202020204" pitchFamily="34" charset="0"/>
                    <a:cs typeface="Arial" panose="020B0604020202020204" pitchFamily="34" charset="0"/>
                  </a:rPr>
                  <a:t> with variance </a:t>
                </a:r>
                <a14:m>
                  <m:oMath xmlns:m="http://schemas.openxmlformats.org/officeDocument/2006/math">
                    <m:sSubSup>
                      <m:sSubSupPr>
                        <m:ctrlPr>
                          <a:rPr lang="en-US" sz="2200" i="1" dirty="0">
                            <a:latin typeface="Cambria Math" panose="02040503050406030204" pitchFamily="18" charset="0"/>
                            <a:cs typeface="Arial" panose="020B0604020202020204" pitchFamily="34" charset="0"/>
                          </a:rPr>
                        </m:ctrlPr>
                      </m:sSubSupPr>
                      <m:e>
                        <m:r>
                          <a:rPr lang="en-US" sz="2200" i="1" dirty="0">
                            <a:latin typeface="Cambria Math" panose="02040503050406030204" pitchFamily="18" charset="0"/>
                            <a:cs typeface="Arial" panose="020B0604020202020204" pitchFamily="34" charset="0"/>
                          </a:rPr>
                          <m:t>𝑆</m:t>
                        </m:r>
                      </m:e>
                      <m:sub>
                        <m:sSub>
                          <m:sSubPr>
                            <m:ctrlPr>
                              <a:rPr lang="en-US" sz="2200" b="0" i="1" dirty="0" smtClean="0">
                                <a:latin typeface="Cambria Math" panose="02040503050406030204" pitchFamily="18" charset="0"/>
                                <a:cs typeface="Arial" panose="020B0604020202020204" pitchFamily="34" charset="0"/>
                              </a:rPr>
                            </m:ctrlPr>
                          </m:sSubPr>
                          <m:e>
                            <m:r>
                              <a:rPr lang="en-US" sz="2200" i="1" dirty="0">
                                <a:latin typeface="Cambria Math" panose="02040503050406030204" pitchFamily="18" charset="0"/>
                                <a:cs typeface="Arial" panose="020B0604020202020204" pitchFamily="34" charset="0"/>
                              </a:rPr>
                              <m:t>𝑥</m:t>
                            </m:r>
                          </m:e>
                          <m:sub>
                            <m:r>
                              <a:rPr lang="en-US" sz="2200" b="0" i="1" dirty="0" smtClean="0">
                                <a:latin typeface="Cambria Math" panose="02040503050406030204" pitchFamily="18" charset="0"/>
                                <a:cs typeface="Arial" panose="020B0604020202020204" pitchFamily="34" charset="0"/>
                              </a:rPr>
                              <m:t>2</m:t>
                            </m:r>
                          </m:sub>
                        </m:sSub>
                      </m:sub>
                      <m:sup>
                        <m:r>
                          <a:rPr lang="en-US" sz="2200" i="1" dirty="0">
                            <a:latin typeface="Cambria Math" panose="02040503050406030204" pitchFamily="18" charset="0"/>
                            <a:cs typeface="Arial" panose="020B0604020202020204" pitchFamily="34" charset="0"/>
                          </a:rPr>
                          <m:t>2</m:t>
                        </m:r>
                      </m:sup>
                    </m:sSubSup>
                  </m:oMath>
                </a14:m>
                <a:r>
                  <a:rPr lang="en-US" sz="2200" dirty="0">
                    <a:latin typeface="Arial" panose="020B0604020202020204" pitchFamily="34" charset="0"/>
                    <a:cs typeface="Arial" panose="020B0604020202020204" pitchFamily="34" charset="0"/>
                  </a:rPr>
                  <a:t>, then the </a:t>
                </a:r>
                <a:r>
                  <a:rPr lang="en-US" sz="2200" dirty="0" smtClean="0">
                    <a:latin typeface="Arial" panose="020B0604020202020204" pitchFamily="34" charset="0"/>
                    <a:cs typeface="Arial" panose="020B0604020202020204" pitchFamily="34" charset="0"/>
                  </a:rPr>
                  <a:t>variance </a:t>
                </a:r>
                <a:r>
                  <a:rPr lang="en-US" sz="2200" dirty="0">
                    <a:latin typeface="Arial" panose="020B0604020202020204" pitchFamily="34" charset="0"/>
                    <a:cs typeface="Arial" panose="020B0604020202020204" pitchFamily="34" charset="0"/>
                  </a:rPr>
                  <a:t>of all the </a:t>
                </a:r>
                <a14:m>
                  <m:oMath xmlns:m="http://schemas.openxmlformats.org/officeDocument/2006/math">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𝑛</m:t>
                        </m:r>
                      </m:e>
                      <m:sub>
                        <m:r>
                          <a:rPr lang="en-US" sz="2200">
                            <a:latin typeface="Cambria Math" panose="02040503050406030204" pitchFamily="18" charset="0"/>
                            <a:cs typeface="Arial" panose="020B0604020202020204" pitchFamily="34" charset="0"/>
                          </a:rPr>
                          <m:t>1</m:t>
                        </m:r>
                      </m:sub>
                    </m:sSub>
                    <m:r>
                      <a:rPr lang="en-US" sz="2200">
                        <a:latin typeface="Cambria Math" panose="02040503050406030204" pitchFamily="18" charset="0"/>
                        <a:cs typeface="Arial" panose="020B0604020202020204" pitchFamily="34" charset="0"/>
                      </a:rPr>
                      <m:t>+</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𝑛</m:t>
                        </m:r>
                      </m:e>
                      <m:sub>
                        <m:r>
                          <a:rPr lang="en-US" sz="2200">
                            <a:latin typeface="Cambria Math" panose="02040503050406030204" pitchFamily="18" charset="0"/>
                            <a:cs typeface="Arial" panose="020B0604020202020204" pitchFamily="34" charset="0"/>
                          </a:rPr>
                          <m:t>2</m:t>
                        </m:r>
                      </m:sub>
                    </m:sSub>
                  </m:oMath>
                </a14:m>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observations (considering equality in their means) </a:t>
                </a:r>
                <a:r>
                  <a:rPr lang="en-US" sz="2200" dirty="0">
                    <a:latin typeface="Arial" panose="020B0604020202020204" pitchFamily="34" charset="0"/>
                    <a:cs typeface="Arial" panose="020B0604020202020204" pitchFamily="34" charset="0"/>
                  </a:rPr>
                  <a:t>called combined </a:t>
                </a:r>
                <a:r>
                  <a:rPr lang="en-US" sz="2200" dirty="0" smtClean="0">
                    <a:latin typeface="Arial" panose="020B0604020202020204" pitchFamily="34" charset="0"/>
                    <a:cs typeface="Arial" panose="020B0604020202020204" pitchFamily="34" charset="0"/>
                  </a:rPr>
                  <a:t>variance, </a:t>
                </a:r>
                <a:r>
                  <a:rPr lang="en-US" sz="2200" dirty="0">
                    <a:latin typeface="Arial" panose="020B0604020202020204" pitchFamily="34" charset="0"/>
                    <a:cs typeface="Arial" panose="020B0604020202020204" pitchFamily="34" charset="0"/>
                  </a:rPr>
                  <a:t>is given </a:t>
                </a:r>
                <a:r>
                  <a:rPr lang="en-US" sz="2200" dirty="0" smtClean="0">
                    <a:latin typeface="Arial" panose="020B0604020202020204" pitchFamily="34" charset="0"/>
                    <a:cs typeface="Arial" panose="020B0604020202020204" pitchFamily="34" charset="0"/>
                  </a:rPr>
                  <a:t>by</a:t>
                </a:r>
              </a:p>
              <a:p>
                <a:pPr>
                  <a:lnSpc>
                    <a:spcPct val="150000"/>
                  </a:lnSpc>
                </a:pPr>
                <a:r>
                  <a:rPr lang="en-US" sz="2200" dirty="0">
                    <a:latin typeface="Arial" panose="020B0604020202020204" pitchFamily="34" charset="0"/>
                    <a:cs typeface="Arial" panose="020B0604020202020204" pitchFamily="34" charset="0"/>
                  </a:rPr>
                  <a:t>	</a:t>
                </a:r>
                <a14:m>
                  <m:oMath xmlns:m="http://schemas.openxmlformats.org/officeDocument/2006/math">
                    <m:sSubSup>
                      <m:sSubSupPr>
                        <m:ctrlPr>
                          <a:rPr lang="en-US" sz="2200" b="0" i="1" smtClean="0">
                            <a:latin typeface="Cambria Math" panose="02040503050406030204" pitchFamily="18" charset="0"/>
                            <a:cs typeface="Arial" panose="020B0604020202020204" pitchFamily="34" charset="0"/>
                          </a:rPr>
                        </m:ctrlPr>
                      </m:sSubSupPr>
                      <m:e>
                        <m:r>
                          <m:rPr>
                            <m:sty m:val="p"/>
                          </m:rPr>
                          <a:rPr lang="en-US" sz="2200" b="0" i="0" smtClean="0">
                            <a:latin typeface="Cambria Math" panose="02040503050406030204" pitchFamily="18" charset="0"/>
                            <a:cs typeface="Arial" panose="020B0604020202020204" pitchFamily="34" charset="0"/>
                          </a:rPr>
                          <m:t>S</m:t>
                        </m:r>
                      </m:e>
                      <m:sub>
                        <m:r>
                          <a:rPr lang="en-US" sz="2200">
                            <a:latin typeface="Cambria Math" panose="02040503050406030204" pitchFamily="18" charset="0"/>
                            <a:cs typeface="Arial" panose="020B0604020202020204" pitchFamily="34" charset="0"/>
                          </a:rPr>
                          <m:t>𝑐</m:t>
                        </m:r>
                      </m:sub>
                      <m:sup>
                        <m:r>
                          <a:rPr lang="en-US" sz="2200" b="0" i="0" smtClean="0">
                            <a:latin typeface="Cambria Math" panose="02040503050406030204" pitchFamily="18" charset="0"/>
                            <a:cs typeface="Arial" panose="020B0604020202020204" pitchFamily="34" charset="0"/>
                          </a:rPr>
                          <m:t>2</m:t>
                        </m:r>
                      </m:sup>
                    </m:sSubSup>
                    <m:r>
                      <a:rPr lang="en-US" sz="2200">
                        <a:latin typeface="Cambria Math" panose="02040503050406030204" pitchFamily="18" charset="0"/>
                        <a:cs typeface="Arial" panose="020B0604020202020204" pitchFamily="34" charset="0"/>
                      </a:rPr>
                      <m:t>=</m:t>
                    </m:r>
                    <m:f>
                      <m:fPr>
                        <m:ctrlPr>
                          <a:rPr lang="en-US" sz="2200" i="1">
                            <a:latin typeface="Cambria Math" panose="02040503050406030204" pitchFamily="18" charset="0"/>
                            <a:cs typeface="Arial" panose="020B0604020202020204" pitchFamily="34" charset="0"/>
                          </a:rPr>
                        </m:ctrlPr>
                      </m:fPr>
                      <m:num>
                        <m:sSub>
                          <m:sSubPr>
                            <m:ctrlPr>
                              <a:rPr lang="en-US" sz="2200" i="1">
                                <a:latin typeface="Cambria Math" panose="02040503050406030204" pitchFamily="18" charset="0"/>
                                <a:cs typeface="Arial" panose="020B0604020202020204" pitchFamily="34" charset="0"/>
                              </a:rPr>
                            </m:ctrlPr>
                          </m:sSubPr>
                          <m:e>
                            <m:r>
                              <a:rPr lang="en-US" sz="2200" b="0" i="0" smtClean="0">
                                <a:latin typeface="Cambria Math" panose="02040503050406030204" pitchFamily="18" charset="0"/>
                                <a:cs typeface="Arial" panose="020B0604020202020204" pitchFamily="34" charset="0"/>
                              </a:rPr>
                              <m:t>(</m:t>
                            </m:r>
                            <m:r>
                              <a:rPr lang="en-US" sz="2200">
                                <a:latin typeface="Cambria Math" panose="02040503050406030204" pitchFamily="18" charset="0"/>
                                <a:cs typeface="Arial" panose="020B0604020202020204" pitchFamily="34" charset="0"/>
                              </a:rPr>
                              <m:t>𝑛</m:t>
                            </m:r>
                          </m:e>
                          <m:sub>
                            <m:r>
                              <a:rPr lang="en-US" sz="2200">
                                <a:latin typeface="Cambria Math" panose="02040503050406030204" pitchFamily="18" charset="0"/>
                                <a:cs typeface="Arial" panose="020B0604020202020204" pitchFamily="34" charset="0"/>
                              </a:rPr>
                              <m:t>1 </m:t>
                            </m:r>
                          </m:sub>
                        </m:sSub>
                        <m:r>
                          <a:rPr lang="en-US" sz="2200" b="0" i="0" smtClean="0">
                            <a:latin typeface="Cambria Math" panose="02040503050406030204" pitchFamily="18" charset="0"/>
                            <a:cs typeface="Arial" panose="020B0604020202020204" pitchFamily="34" charset="0"/>
                          </a:rPr>
                          <m:t>−1)</m:t>
                        </m:r>
                        <m:sSubSup>
                          <m:sSubSupPr>
                            <m:ctrlPr>
                              <a:rPr lang="en-US" sz="2200" i="1" dirty="0">
                                <a:latin typeface="Cambria Math" panose="02040503050406030204" pitchFamily="18" charset="0"/>
                                <a:cs typeface="Arial" panose="020B0604020202020204" pitchFamily="34" charset="0"/>
                              </a:rPr>
                            </m:ctrlPr>
                          </m:sSubSupPr>
                          <m:e>
                            <m:r>
                              <a:rPr lang="en-US" sz="2200" i="1" dirty="0">
                                <a:latin typeface="Cambria Math" panose="02040503050406030204" pitchFamily="18" charset="0"/>
                                <a:cs typeface="Arial" panose="020B0604020202020204" pitchFamily="34" charset="0"/>
                              </a:rPr>
                              <m:t>𝑆</m:t>
                            </m:r>
                          </m:e>
                          <m:sub>
                            <m:sSub>
                              <m:sSubPr>
                                <m:ctrlPr>
                                  <a:rPr lang="en-US" sz="2200" i="1" dirty="0">
                                    <a:latin typeface="Cambria Math" panose="02040503050406030204" pitchFamily="18" charset="0"/>
                                    <a:cs typeface="Arial" panose="020B0604020202020204" pitchFamily="34" charset="0"/>
                                  </a:rPr>
                                </m:ctrlPr>
                              </m:sSubPr>
                              <m:e>
                                <m:r>
                                  <a:rPr lang="en-US" sz="2200" i="1" dirty="0">
                                    <a:latin typeface="Cambria Math" panose="02040503050406030204" pitchFamily="18" charset="0"/>
                                    <a:cs typeface="Arial" panose="020B0604020202020204" pitchFamily="34" charset="0"/>
                                  </a:rPr>
                                  <m:t>𝑥</m:t>
                                </m:r>
                              </m:e>
                              <m:sub>
                                <m:r>
                                  <a:rPr lang="en-US" sz="2200" i="1" dirty="0">
                                    <a:latin typeface="Cambria Math" panose="02040503050406030204" pitchFamily="18" charset="0"/>
                                    <a:cs typeface="Arial" panose="020B0604020202020204" pitchFamily="34" charset="0"/>
                                  </a:rPr>
                                  <m:t>1</m:t>
                                </m:r>
                              </m:sub>
                            </m:sSub>
                          </m:sub>
                          <m:sup>
                            <m:r>
                              <a:rPr lang="en-US" sz="2200" i="1" dirty="0">
                                <a:latin typeface="Cambria Math" panose="02040503050406030204" pitchFamily="18" charset="0"/>
                                <a:cs typeface="Arial" panose="020B0604020202020204" pitchFamily="34" charset="0"/>
                              </a:rPr>
                              <m:t>2</m:t>
                            </m:r>
                          </m:sup>
                        </m:sSubSup>
                        <m:r>
                          <a:rPr lang="en-US" sz="2200">
                            <a:latin typeface="Cambria Math" panose="02040503050406030204" pitchFamily="18" charset="0"/>
                            <a:cs typeface="Arial" panose="020B0604020202020204" pitchFamily="34" charset="0"/>
                          </a:rPr>
                          <m:t>+</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m:t>
                            </m:r>
                            <m:r>
                              <a:rPr lang="en-US" sz="2200">
                                <a:latin typeface="Cambria Math" panose="02040503050406030204" pitchFamily="18" charset="0"/>
                                <a:cs typeface="Arial" panose="020B0604020202020204" pitchFamily="34" charset="0"/>
                              </a:rPr>
                              <m:t>𝑛</m:t>
                            </m:r>
                          </m:e>
                          <m:sub>
                            <m:r>
                              <a:rPr lang="en-US" sz="2200" b="0" i="0" smtClean="0">
                                <a:latin typeface="Cambria Math" panose="02040503050406030204" pitchFamily="18" charset="0"/>
                                <a:cs typeface="Arial" panose="020B0604020202020204" pitchFamily="34" charset="0"/>
                              </a:rPr>
                              <m:t>2</m:t>
                            </m:r>
                            <m:r>
                              <a:rPr lang="en-US" sz="2200">
                                <a:latin typeface="Cambria Math" panose="02040503050406030204" pitchFamily="18" charset="0"/>
                                <a:cs typeface="Arial" panose="020B0604020202020204" pitchFamily="34" charset="0"/>
                              </a:rPr>
                              <m:t> </m:t>
                            </m:r>
                          </m:sub>
                        </m:sSub>
                        <m:r>
                          <a:rPr lang="en-US" sz="2200">
                            <a:latin typeface="Cambria Math" panose="02040503050406030204" pitchFamily="18" charset="0"/>
                            <a:cs typeface="Arial" panose="020B0604020202020204" pitchFamily="34" charset="0"/>
                          </a:rPr>
                          <m:t>−1)</m:t>
                        </m:r>
                        <m:sSubSup>
                          <m:sSubSupPr>
                            <m:ctrlPr>
                              <a:rPr lang="en-US" sz="2200" i="1" dirty="0">
                                <a:latin typeface="Cambria Math" panose="02040503050406030204" pitchFamily="18" charset="0"/>
                                <a:cs typeface="Arial" panose="020B0604020202020204" pitchFamily="34" charset="0"/>
                              </a:rPr>
                            </m:ctrlPr>
                          </m:sSubSupPr>
                          <m:e>
                            <m:r>
                              <a:rPr lang="en-US" sz="2200" i="1" dirty="0">
                                <a:latin typeface="Cambria Math" panose="02040503050406030204" pitchFamily="18" charset="0"/>
                                <a:cs typeface="Arial" panose="020B0604020202020204" pitchFamily="34" charset="0"/>
                              </a:rPr>
                              <m:t>𝑆</m:t>
                            </m:r>
                          </m:e>
                          <m:sub>
                            <m:sSub>
                              <m:sSubPr>
                                <m:ctrlPr>
                                  <a:rPr lang="en-US" sz="2200" i="1" dirty="0">
                                    <a:latin typeface="Cambria Math" panose="02040503050406030204" pitchFamily="18" charset="0"/>
                                    <a:cs typeface="Arial" panose="020B0604020202020204" pitchFamily="34" charset="0"/>
                                  </a:rPr>
                                </m:ctrlPr>
                              </m:sSubPr>
                              <m:e>
                                <m:r>
                                  <a:rPr lang="en-US" sz="2200" i="1" dirty="0">
                                    <a:latin typeface="Cambria Math" panose="02040503050406030204" pitchFamily="18" charset="0"/>
                                    <a:cs typeface="Arial" panose="020B0604020202020204" pitchFamily="34" charset="0"/>
                                  </a:rPr>
                                  <m:t>𝑥</m:t>
                                </m:r>
                              </m:e>
                              <m:sub>
                                <m:r>
                                  <a:rPr lang="en-US" sz="2200" b="0" i="1" dirty="0" smtClean="0">
                                    <a:latin typeface="Cambria Math" panose="02040503050406030204" pitchFamily="18" charset="0"/>
                                    <a:cs typeface="Arial" panose="020B0604020202020204" pitchFamily="34" charset="0"/>
                                  </a:rPr>
                                  <m:t>2</m:t>
                                </m:r>
                              </m:sub>
                            </m:sSub>
                          </m:sub>
                          <m:sup>
                            <m:r>
                              <a:rPr lang="en-US" sz="2200" i="1" dirty="0">
                                <a:latin typeface="Cambria Math" panose="02040503050406030204" pitchFamily="18" charset="0"/>
                                <a:cs typeface="Arial" panose="020B0604020202020204" pitchFamily="34" charset="0"/>
                              </a:rPr>
                              <m:t>2</m:t>
                            </m:r>
                          </m:sup>
                        </m:sSubSup>
                      </m:num>
                      <m:den>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𝑛</m:t>
                            </m:r>
                          </m:e>
                          <m:sub>
                            <m:r>
                              <a:rPr lang="en-US" sz="2200">
                                <a:latin typeface="Cambria Math" panose="02040503050406030204" pitchFamily="18" charset="0"/>
                                <a:cs typeface="Arial" panose="020B0604020202020204" pitchFamily="34" charset="0"/>
                              </a:rPr>
                              <m:t>1</m:t>
                            </m:r>
                          </m:sub>
                        </m:sSub>
                        <m:r>
                          <a:rPr lang="en-US" sz="2200">
                            <a:latin typeface="Cambria Math" panose="02040503050406030204" pitchFamily="18" charset="0"/>
                            <a:cs typeface="Arial" panose="020B0604020202020204" pitchFamily="34" charset="0"/>
                          </a:rPr>
                          <m:t>+</m:t>
                        </m:r>
                        <m:sSub>
                          <m:sSubPr>
                            <m:ctrlPr>
                              <a:rPr lang="en-US" sz="2200" i="1">
                                <a:latin typeface="Cambria Math" panose="02040503050406030204" pitchFamily="18" charset="0"/>
                                <a:cs typeface="Arial" panose="020B0604020202020204" pitchFamily="34" charset="0"/>
                              </a:rPr>
                            </m:ctrlPr>
                          </m:sSubPr>
                          <m:e>
                            <m:r>
                              <a:rPr lang="en-US" sz="2200">
                                <a:latin typeface="Cambria Math" panose="02040503050406030204" pitchFamily="18" charset="0"/>
                                <a:cs typeface="Arial" panose="020B0604020202020204" pitchFamily="34" charset="0"/>
                              </a:rPr>
                              <m:t>𝑛</m:t>
                            </m:r>
                          </m:e>
                          <m:sub>
                            <m:r>
                              <a:rPr lang="en-US" sz="2200">
                                <a:latin typeface="Cambria Math" panose="02040503050406030204" pitchFamily="18" charset="0"/>
                                <a:cs typeface="Arial" panose="020B0604020202020204" pitchFamily="34" charset="0"/>
                              </a:rPr>
                              <m:t>2</m:t>
                            </m:r>
                          </m:sub>
                        </m:sSub>
                        <m:r>
                          <a:rPr lang="en-US" sz="2200" b="0" i="0" smtClean="0">
                            <a:latin typeface="Cambria Math" panose="02040503050406030204" pitchFamily="18" charset="0"/>
                            <a:cs typeface="Arial" panose="020B0604020202020204" pitchFamily="34" charset="0"/>
                          </a:rPr>
                          <m:t>−2</m:t>
                        </m:r>
                      </m:den>
                    </m:f>
                  </m:oMath>
                </a14:m>
                <a:endParaRPr lang="en-US" sz="22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675" r="-732"/>
                </a:stretch>
              </a:blipFill>
            </p:spPr>
            <p:txBody>
              <a:bodyPr/>
              <a:lstStyle/>
              <a:p>
                <a:r>
                  <a:rPr lang="en-US">
                    <a:noFill/>
                  </a:rPr>
                  <a:t> </a:t>
                </a:r>
              </a:p>
            </p:txBody>
          </p:sp>
        </mc:Fallback>
      </mc:AlternateContent>
    </p:spTree>
    <p:extLst>
      <p:ext uri="{BB962C8B-B14F-4D97-AF65-F5344CB8AC3E}">
        <p14:creationId xmlns:p14="http://schemas.microsoft.com/office/powerpoint/2010/main" val="16434874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How to Interpret the Standard deviation</a:t>
            </a: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300" dirty="0">
                <a:latin typeface="Arial" panose="020B0604020202020204" pitchFamily="34" charset="0"/>
                <a:cs typeface="Arial" panose="020B0604020202020204" pitchFamily="34" charset="0"/>
              </a:rPr>
              <a:t>The standard deviation is used </a:t>
            </a:r>
            <a:r>
              <a:rPr lang="en-US" sz="2300" i="1" dirty="0">
                <a:latin typeface="Arial" panose="020B0604020202020204" pitchFamily="34" charset="0"/>
                <a:cs typeface="Arial" panose="020B0604020202020204" pitchFamily="34" charset="0"/>
              </a:rPr>
              <a:t>to compare the spread in two or more data sets if mean values are similar</a:t>
            </a:r>
            <a:r>
              <a:rPr lang="en-US" sz="2300" dirty="0">
                <a:latin typeface="Arial" panose="020B0604020202020204" pitchFamily="34" charset="0"/>
                <a:cs typeface="Arial" panose="020B0604020202020204" pitchFamily="34" charset="0"/>
              </a:rPr>
              <a:t>. A </a:t>
            </a:r>
            <a:r>
              <a:rPr lang="en-US" sz="2300" i="1" dirty="0">
                <a:latin typeface="Arial" panose="020B0604020202020204" pitchFamily="34" charset="0"/>
                <a:cs typeface="Arial" panose="020B0604020202020204" pitchFamily="34" charset="0"/>
              </a:rPr>
              <a:t>small standard deviation</a:t>
            </a:r>
            <a:r>
              <a:rPr lang="en-US" sz="2300" dirty="0">
                <a:latin typeface="Arial" panose="020B0604020202020204" pitchFamily="34" charset="0"/>
                <a:cs typeface="Arial" panose="020B0604020202020204" pitchFamily="34" charset="0"/>
              </a:rPr>
              <a:t> indicates “</a:t>
            </a:r>
            <a:r>
              <a:rPr lang="en-US" sz="2300" i="1" dirty="0">
                <a:latin typeface="Arial" panose="020B0604020202020204" pitchFamily="34" charset="0"/>
                <a:cs typeface="Arial" panose="020B0604020202020204" pitchFamily="34" charset="0"/>
              </a:rPr>
              <a:t>observations are located close to mean</a:t>
            </a:r>
            <a:r>
              <a:rPr lang="en-US" sz="2300" dirty="0">
                <a:latin typeface="Arial" panose="020B0604020202020204" pitchFamily="34" charset="0"/>
                <a:cs typeface="Arial" panose="020B0604020202020204" pitchFamily="34" charset="0"/>
              </a:rPr>
              <a:t>”. Conversely, a </a:t>
            </a:r>
            <a:r>
              <a:rPr lang="en-US" sz="2300" i="1" dirty="0">
                <a:latin typeface="Arial" panose="020B0604020202020204" pitchFamily="34" charset="0"/>
                <a:cs typeface="Arial" panose="020B0604020202020204" pitchFamily="34" charset="0"/>
              </a:rPr>
              <a:t>large standard deviation</a:t>
            </a:r>
            <a:r>
              <a:rPr lang="en-US" sz="2300" dirty="0">
                <a:latin typeface="Arial" panose="020B0604020202020204" pitchFamily="34" charset="0"/>
                <a:cs typeface="Arial" panose="020B0604020202020204" pitchFamily="34" charset="0"/>
              </a:rPr>
              <a:t> indicates “</a:t>
            </a:r>
            <a:r>
              <a:rPr lang="en-US" sz="2300" i="1" dirty="0">
                <a:latin typeface="Arial" panose="020B0604020202020204" pitchFamily="34" charset="0"/>
                <a:cs typeface="Arial" panose="020B0604020202020204" pitchFamily="34" charset="0"/>
              </a:rPr>
              <a:t>observations are widely scattered about the mean</a:t>
            </a:r>
            <a:r>
              <a:rPr lang="en-US" sz="2300" dirty="0">
                <a:latin typeface="Arial" panose="020B0604020202020204" pitchFamily="34" charset="0"/>
                <a:cs typeface="Arial" panose="020B0604020202020204" pitchFamily="34" charset="0"/>
              </a:rPr>
              <a:t>”. </a:t>
            </a:r>
          </a:p>
          <a:p>
            <a:pPr marL="342900" indent="-342900" algn="just">
              <a:lnSpc>
                <a:spcPct val="150000"/>
              </a:lnSpc>
              <a:buFont typeface="Arial" panose="020B0604020202020204" pitchFamily="34" charset="0"/>
              <a:buChar char="•"/>
            </a:pPr>
            <a:r>
              <a:rPr lang="en-US" sz="2300" dirty="0">
                <a:latin typeface="Arial" panose="020B0604020202020204" pitchFamily="34" charset="0"/>
                <a:cs typeface="Arial" panose="020B0604020202020204" pitchFamily="34" charset="0"/>
              </a:rPr>
              <a:t>For a single dataset, the uses of standard deviation can be best explained by the </a:t>
            </a:r>
            <a:r>
              <a:rPr lang="en-US" sz="2300" b="1" i="1" dirty="0" err="1">
                <a:latin typeface="Arial" panose="020B0604020202020204" pitchFamily="34" charset="0"/>
                <a:cs typeface="Arial" panose="020B0604020202020204" pitchFamily="34" charset="0"/>
              </a:rPr>
              <a:t>Chebyshev’s</a:t>
            </a:r>
            <a:r>
              <a:rPr lang="en-US" sz="2300" b="1" i="1" dirty="0">
                <a:latin typeface="Arial" panose="020B0604020202020204" pitchFamily="34" charset="0"/>
                <a:cs typeface="Arial" panose="020B0604020202020204" pitchFamily="34" charset="0"/>
              </a:rPr>
              <a:t> theorem</a:t>
            </a:r>
            <a:r>
              <a:rPr lang="en-US" sz="2300" b="1" dirty="0">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or the </a:t>
            </a:r>
            <a:r>
              <a:rPr lang="en-US" sz="2300" b="1" i="1" dirty="0">
                <a:latin typeface="Arial" panose="020B0604020202020204" pitchFamily="34" charset="0"/>
                <a:cs typeface="Arial" panose="020B0604020202020204" pitchFamily="34" charset="0"/>
              </a:rPr>
              <a:t>Empirical rule</a:t>
            </a:r>
            <a:r>
              <a:rPr lang="en-US" sz="23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endParaRPr lang="en-US" sz="2300" i="1"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3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3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5893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Empirical Rule</a:t>
            </a: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200" dirty="0">
                <a:latin typeface="Arial" panose="020B0604020202020204" pitchFamily="34" charset="0"/>
                <a:cs typeface="Arial" panose="020B0604020202020204" pitchFamily="34" charset="0"/>
              </a:rPr>
              <a:t>For a symmetrical, bell-shaped/normal frequency distribution</a:t>
            </a: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approximately </a:t>
            </a:r>
            <a:r>
              <a:rPr lang="en-US" sz="2200" dirty="0" smtClean="0">
                <a:latin typeface="Arial" panose="020B0604020202020204" pitchFamily="34" charset="0"/>
                <a:cs typeface="Arial" panose="020B0604020202020204" pitchFamily="34" charset="0"/>
              </a:rPr>
              <a:t>68 </a:t>
            </a:r>
            <a:r>
              <a:rPr lang="en-US" sz="2200" dirty="0">
                <a:latin typeface="Arial" panose="020B0604020202020204" pitchFamily="34" charset="0"/>
                <a:cs typeface="Arial" panose="020B0604020202020204" pitchFamily="34" charset="0"/>
              </a:rPr>
              <a:t>percent of the observations will lie within plus and minus one standard deviation of the mean. For instance, if mean is 100 and standard deviation is </a:t>
            </a:r>
            <a:r>
              <a:rPr lang="en-US" sz="2200" dirty="0" smtClean="0">
                <a:latin typeface="Arial" panose="020B0604020202020204" pitchFamily="34" charset="0"/>
                <a:cs typeface="Arial" panose="020B0604020202020204" pitchFamily="34" charset="0"/>
              </a:rPr>
              <a:t>10 </a:t>
            </a:r>
            <a:r>
              <a:rPr lang="en-US" sz="2200" dirty="0">
                <a:latin typeface="Arial" panose="020B0604020202020204" pitchFamily="34" charset="0"/>
                <a:cs typeface="Arial" panose="020B0604020202020204" pitchFamily="34" charset="0"/>
              </a:rPr>
              <a:t>then about </a:t>
            </a:r>
            <a:r>
              <a:rPr lang="en-US" sz="2200" dirty="0" smtClean="0">
                <a:latin typeface="Arial" panose="020B0604020202020204" pitchFamily="34" charset="0"/>
                <a:cs typeface="Arial" panose="020B0604020202020204" pitchFamily="34" charset="0"/>
              </a:rPr>
              <a:t>68% </a:t>
            </a:r>
            <a:r>
              <a:rPr lang="en-US" sz="2200" dirty="0">
                <a:latin typeface="Arial" panose="020B0604020202020204" pitchFamily="34" charset="0"/>
                <a:cs typeface="Arial" panose="020B0604020202020204" pitchFamily="34" charset="0"/>
              </a:rPr>
              <a:t>observations will be between </a:t>
            </a:r>
            <a:r>
              <a:rPr lang="en-US" sz="2200" dirty="0" smtClean="0">
                <a:latin typeface="Arial" panose="020B0604020202020204" pitchFamily="34" charset="0"/>
                <a:cs typeface="Arial" panose="020B0604020202020204" pitchFamily="34" charset="0"/>
              </a:rPr>
              <a:t>90 </a:t>
            </a:r>
            <a:r>
              <a:rPr lang="en-US" sz="2200" dirty="0">
                <a:latin typeface="Arial" panose="020B0604020202020204" pitchFamily="34" charset="0"/>
                <a:cs typeface="Arial" panose="020B0604020202020204" pitchFamily="34" charset="0"/>
              </a:rPr>
              <a:t>and </a:t>
            </a:r>
            <a:r>
              <a:rPr lang="en-US" sz="2200" dirty="0" smtClean="0">
                <a:latin typeface="Arial" panose="020B0604020202020204" pitchFamily="34" charset="0"/>
                <a:cs typeface="Arial" panose="020B0604020202020204" pitchFamily="34" charset="0"/>
              </a:rPr>
              <a:t>110. </a:t>
            </a:r>
            <a:endParaRPr lang="en-US" sz="22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about </a:t>
            </a:r>
            <a:r>
              <a:rPr lang="en-US" sz="2200" dirty="0" smtClean="0">
                <a:latin typeface="Arial" panose="020B0604020202020204" pitchFamily="34" charset="0"/>
                <a:cs typeface="Arial" panose="020B0604020202020204" pitchFamily="34" charset="0"/>
              </a:rPr>
              <a:t>95 </a:t>
            </a:r>
            <a:r>
              <a:rPr lang="en-US" sz="2200" dirty="0">
                <a:latin typeface="Arial" panose="020B0604020202020204" pitchFamily="34" charset="0"/>
                <a:cs typeface="Arial" panose="020B0604020202020204" pitchFamily="34" charset="0"/>
              </a:rPr>
              <a:t>percent of the observations will lie within plus and minus two standard deviations of the mean. For instance, if mean is 100 and standard deviation is </a:t>
            </a:r>
            <a:r>
              <a:rPr lang="en-US" sz="2200" dirty="0" smtClean="0">
                <a:latin typeface="Arial" panose="020B0604020202020204" pitchFamily="34" charset="0"/>
                <a:cs typeface="Arial" panose="020B0604020202020204" pitchFamily="34" charset="0"/>
              </a:rPr>
              <a:t>10 </a:t>
            </a:r>
            <a:r>
              <a:rPr lang="en-US" sz="2200" dirty="0">
                <a:latin typeface="Arial" panose="020B0604020202020204" pitchFamily="34" charset="0"/>
                <a:cs typeface="Arial" panose="020B0604020202020204" pitchFamily="34" charset="0"/>
              </a:rPr>
              <a:t>then about </a:t>
            </a:r>
            <a:r>
              <a:rPr lang="en-US" sz="2200" dirty="0" smtClean="0">
                <a:latin typeface="Arial" panose="020B0604020202020204" pitchFamily="34" charset="0"/>
                <a:cs typeface="Arial" panose="020B0604020202020204" pitchFamily="34" charset="0"/>
              </a:rPr>
              <a:t>95% </a:t>
            </a:r>
            <a:r>
              <a:rPr lang="en-US" sz="2200" dirty="0">
                <a:latin typeface="Arial" panose="020B0604020202020204" pitchFamily="34" charset="0"/>
                <a:cs typeface="Arial" panose="020B0604020202020204" pitchFamily="34" charset="0"/>
              </a:rPr>
              <a:t>observations will be between </a:t>
            </a:r>
            <a:r>
              <a:rPr lang="en-US" sz="2200" dirty="0" smtClean="0">
                <a:latin typeface="Arial" panose="020B0604020202020204" pitchFamily="34" charset="0"/>
                <a:cs typeface="Arial" panose="020B0604020202020204" pitchFamily="34" charset="0"/>
              </a:rPr>
              <a:t>80 </a:t>
            </a:r>
            <a:r>
              <a:rPr lang="en-US" sz="2200" dirty="0">
                <a:latin typeface="Arial" panose="020B0604020202020204" pitchFamily="34" charset="0"/>
                <a:cs typeface="Arial" panose="020B0604020202020204" pitchFamily="34" charset="0"/>
              </a:rPr>
              <a:t>and </a:t>
            </a:r>
            <a:r>
              <a:rPr lang="en-US" sz="2200" dirty="0" smtClean="0">
                <a:latin typeface="Arial" panose="020B0604020202020204" pitchFamily="34" charset="0"/>
                <a:cs typeface="Arial" panose="020B0604020202020204" pitchFamily="34" charset="0"/>
              </a:rPr>
              <a:t>120</a:t>
            </a:r>
            <a:r>
              <a:rPr lang="en-US" sz="2200" dirty="0">
                <a:latin typeface="Arial" panose="020B0604020202020204" pitchFamily="34" charset="0"/>
                <a:cs typeface="Arial" panose="020B0604020202020204" pitchFamily="34" charset="0"/>
              </a:rPr>
              <a:t>. </a:t>
            </a: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practically all </a:t>
            </a:r>
            <a:r>
              <a:rPr lang="en-US" sz="2200" dirty="0" smtClean="0">
                <a:latin typeface="Arial" panose="020B0604020202020204" pitchFamily="34" charset="0"/>
                <a:cs typeface="Arial" panose="020B0604020202020204" pitchFamily="34" charset="0"/>
              </a:rPr>
              <a:t>(about 99 </a:t>
            </a:r>
            <a:r>
              <a:rPr lang="en-US" sz="2200" dirty="0">
                <a:latin typeface="Arial" panose="020B0604020202020204" pitchFamily="34" charset="0"/>
                <a:cs typeface="Arial" panose="020B0604020202020204" pitchFamily="34" charset="0"/>
              </a:rPr>
              <a:t>percent) will lie within plus and minus three standard deviations of the mean. For instance, if mean is 100 and standard deviation is </a:t>
            </a:r>
            <a:r>
              <a:rPr lang="en-US" sz="2200" dirty="0" smtClean="0">
                <a:latin typeface="Arial" panose="020B0604020202020204" pitchFamily="34" charset="0"/>
                <a:cs typeface="Arial" panose="020B0604020202020204" pitchFamily="34" charset="0"/>
              </a:rPr>
              <a:t>10 </a:t>
            </a:r>
            <a:r>
              <a:rPr lang="en-US" sz="2200" dirty="0">
                <a:latin typeface="Arial" panose="020B0604020202020204" pitchFamily="34" charset="0"/>
                <a:cs typeface="Arial" panose="020B0604020202020204" pitchFamily="34" charset="0"/>
              </a:rPr>
              <a:t>then about </a:t>
            </a:r>
            <a:r>
              <a:rPr lang="en-US" sz="2200" dirty="0" smtClean="0">
                <a:latin typeface="Arial" panose="020B0604020202020204" pitchFamily="34" charset="0"/>
                <a:cs typeface="Arial" panose="020B0604020202020204" pitchFamily="34" charset="0"/>
              </a:rPr>
              <a:t>99% </a:t>
            </a:r>
            <a:r>
              <a:rPr lang="en-US" sz="2200" dirty="0">
                <a:latin typeface="Arial" panose="020B0604020202020204" pitchFamily="34" charset="0"/>
                <a:cs typeface="Arial" panose="020B0604020202020204" pitchFamily="34" charset="0"/>
              </a:rPr>
              <a:t>observations will be between </a:t>
            </a:r>
            <a:r>
              <a:rPr lang="en-US" sz="2200" dirty="0" smtClean="0">
                <a:latin typeface="Arial" panose="020B0604020202020204" pitchFamily="34" charset="0"/>
                <a:cs typeface="Arial" panose="020B0604020202020204" pitchFamily="34" charset="0"/>
              </a:rPr>
              <a:t>70 </a:t>
            </a:r>
            <a:r>
              <a:rPr lang="en-US" sz="2200" dirty="0">
                <a:latin typeface="Arial" panose="020B0604020202020204" pitchFamily="34" charset="0"/>
                <a:cs typeface="Arial" panose="020B0604020202020204" pitchFamily="34" charset="0"/>
              </a:rPr>
              <a:t>and </a:t>
            </a:r>
            <a:r>
              <a:rPr lang="en-US" sz="2200" dirty="0" smtClean="0">
                <a:latin typeface="Arial" panose="020B0604020202020204" pitchFamily="34" charset="0"/>
                <a:cs typeface="Arial" panose="020B0604020202020204" pitchFamily="34" charset="0"/>
              </a:rPr>
              <a:t>130. </a:t>
            </a:r>
            <a:endParaRPr lang="en-US" sz="22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1372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err="1">
                <a:latin typeface="Arial" panose="020B0604020202020204" pitchFamily="34" charset="0"/>
                <a:cs typeface="Arial" panose="020B0604020202020204" pitchFamily="34" charset="0"/>
              </a:rPr>
              <a:t>Chebyshev’s</a:t>
            </a:r>
            <a:r>
              <a:rPr lang="en-US" sz="2400" b="1" dirty="0">
                <a:latin typeface="Arial" panose="020B0604020202020204" pitchFamily="34" charset="0"/>
                <a:cs typeface="Arial" panose="020B0604020202020204" pitchFamily="34" charset="0"/>
              </a:rPr>
              <a:t> theorem</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00000"/>
                  </a:lnSpc>
                  <a:buFont typeface="Arial" panose="020B0604020202020204" pitchFamily="34" charset="0"/>
                  <a:buChar char="•"/>
                </a:pPr>
                <a:r>
                  <a:rPr lang="en-US" sz="2300" dirty="0">
                    <a:latin typeface="Arial" panose="020B0604020202020204" pitchFamily="34" charset="0"/>
                    <a:cs typeface="Arial" panose="020B0604020202020204" pitchFamily="34" charset="0"/>
                  </a:rPr>
                  <a:t>For any set of observations (symmetric or skewed), the proportion of the values that lie within </a:t>
                </a:r>
                <a14:m>
                  <m:oMath xmlns:m="http://schemas.openxmlformats.org/officeDocument/2006/math">
                    <m:r>
                      <a:rPr lang="en-US" sz="2300" i="1">
                        <a:latin typeface="Cambria Math" panose="02040503050406030204" pitchFamily="18" charset="0"/>
                      </a:rPr>
                      <m:t>𝑘</m:t>
                    </m:r>
                    <m:r>
                      <a:rPr lang="en-US" sz="2300" i="1">
                        <a:latin typeface="Cambria Math" panose="02040503050406030204" pitchFamily="18" charset="0"/>
                      </a:rPr>
                      <m:t> </m:t>
                    </m:r>
                  </m:oMath>
                </a14:m>
                <a:r>
                  <a:rPr lang="en-US" sz="2300" dirty="0">
                    <a:latin typeface="Arial" panose="020B0604020202020204" pitchFamily="34" charset="0"/>
                    <a:cs typeface="Arial" panose="020B0604020202020204" pitchFamily="34" charset="0"/>
                  </a:rPr>
                  <a:t>standard deviations of the mean is at least </a:t>
                </a:r>
                <a14:m>
                  <m:oMath xmlns:m="http://schemas.openxmlformats.org/officeDocument/2006/math">
                    <m:r>
                      <a:rPr lang="en-US" sz="2300" i="1">
                        <a:latin typeface="Cambria Math" panose="02040503050406030204" pitchFamily="18" charset="0"/>
                      </a:rPr>
                      <m:t>1−</m:t>
                    </m:r>
                    <m:f>
                      <m:fPr>
                        <m:ctrlPr>
                          <a:rPr lang="en-US" sz="2300" i="1">
                            <a:latin typeface="Cambria Math" panose="02040503050406030204" pitchFamily="18" charset="0"/>
                          </a:rPr>
                        </m:ctrlPr>
                      </m:fPr>
                      <m:num>
                        <m:r>
                          <a:rPr lang="en-US" sz="2300" i="1">
                            <a:latin typeface="Cambria Math" panose="02040503050406030204" pitchFamily="18" charset="0"/>
                          </a:rPr>
                          <m:t>1</m:t>
                        </m:r>
                      </m:num>
                      <m:den>
                        <m:sSup>
                          <m:sSupPr>
                            <m:ctrlPr>
                              <a:rPr lang="en-US" sz="2300" i="1">
                                <a:latin typeface="Cambria Math" panose="02040503050406030204" pitchFamily="18" charset="0"/>
                              </a:rPr>
                            </m:ctrlPr>
                          </m:sSupPr>
                          <m:e>
                            <m:r>
                              <a:rPr lang="en-US" sz="2300" i="1">
                                <a:latin typeface="Cambria Math" panose="02040503050406030204" pitchFamily="18" charset="0"/>
                              </a:rPr>
                              <m:t>𝑘</m:t>
                            </m:r>
                          </m:e>
                          <m:sup>
                            <m:r>
                              <a:rPr lang="en-US" sz="2300" i="1">
                                <a:latin typeface="Cambria Math" panose="02040503050406030204" pitchFamily="18" charset="0"/>
                              </a:rPr>
                              <m:t>2</m:t>
                            </m:r>
                          </m:sup>
                        </m:sSup>
                      </m:den>
                    </m:f>
                  </m:oMath>
                </a14:m>
                <a:r>
                  <a:rPr lang="en-US" sz="2300" dirty="0">
                    <a:latin typeface="Arial" panose="020B0604020202020204" pitchFamily="34" charset="0"/>
                    <a:cs typeface="Arial" panose="020B0604020202020204" pitchFamily="34" charset="0"/>
                  </a:rPr>
                  <a:t>, where </a:t>
                </a:r>
                <a14:m>
                  <m:oMath xmlns:m="http://schemas.openxmlformats.org/officeDocument/2006/math">
                    <m:r>
                      <a:rPr lang="en-US" sz="2300" i="1">
                        <a:latin typeface="Cambria Math" panose="02040503050406030204" pitchFamily="18" charset="0"/>
                      </a:rPr>
                      <m:t>𝑘</m:t>
                    </m:r>
                  </m:oMath>
                </a14:m>
                <a:r>
                  <a:rPr lang="en-US" sz="2300" dirty="0">
                    <a:latin typeface="Arial" panose="020B0604020202020204" pitchFamily="34" charset="0"/>
                    <a:cs typeface="Arial" panose="020B0604020202020204" pitchFamily="34" charset="0"/>
                  </a:rPr>
                  <a:t> is any constant greater than 1. For instance</a:t>
                </a:r>
              </a:p>
              <a:p>
                <a:pPr marL="800100" lvl="1" indent="-342900" algn="just">
                  <a:lnSpc>
                    <a:spcPct val="10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if mean is 100 and standard deviation is </a:t>
                </a:r>
                <a:r>
                  <a:rPr lang="en-US" sz="2300" dirty="0" smtClean="0">
                    <a:latin typeface="Arial" panose="020B0604020202020204" pitchFamily="34" charset="0"/>
                    <a:cs typeface="Arial" panose="020B0604020202020204" pitchFamily="34" charset="0"/>
                  </a:rPr>
                  <a:t>10 </a:t>
                </a:r>
                <a:r>
                  <a:rPr lang="en-US" sz="2300" dirty="0">
                    <a:latin typeface="Arial" panose="020B0604020202020204" pitchFamily="34" charset="0"/>
                    <a:cs typeface="Arial" panose="020B0604020202020204" pitchFamily="34" charset="0"/>
                  </a:rPr>
                  <a:t>then at least (more than) 75% observations will be between </a:t>
                </a:r>
                <a:r>
                  <a:rPr lang="en-US" sz="2300" dirty="0" smtClean="0">
                    <a:latin typeface="Arial" panose="020B0604020202020204" pitchFamily="34" charset="0"/>
                    <a:cs typeface="Arial" panose="020B0604020202020204" pitchFamily="34" charset="0"/>
                  </a:rPr>
                  <a:t>80 </a:t>
                </a:r>
                <a:r>
                  <a:rPr lang="en-US" sz="2300" dirty="0">
                    <a:latin typeface="Arial" panose="020B0604020202020204" pitchFamily="34" charset="0"/>
                    <a:cs typeface="Arial" panose="020B0604020202020204" pitchFamily="34" charset="0"/>
                  </a:rPr>
                  <a:t>and </a:t>
                </a:r>
                <a:r>
                  <a:rPr lang="en-US" sz="2300" dirty="0" smtClean="0">
                    <a:latin typeface="Arial" panose="020B0604020202020204" pitchFamily="34" charset="0"/>
                    <a:cs typeface="Arial" panose="020B0604020202020204" pitchFamily="34" charset="0"/>
                  </a:rPr>
                  <a:t>120 </a:t>
                </a:r>
                <a:r>
                  <a:rPr lang="en-US" sz="2300" dirty="0">
                    <a:latin typeface="Arial" panose="020B0604020202020204" pitchFamily="34" charset="0"/>
                    <a:cs typeface="Arial" panose="020B0604020202020204" pitchFamily="34" charset="0"/>
                  </a:rPr>
                  <a:t>(obtained by putting </a:t>
                </a:r>
                <a14:m>
                  <m:oMath xmlns:m="http://schemas.openxmlformats.org/officeDocument/2006/math">
                    <m:r>
                      <a:rPr lang="en-US" sz="2300" i="1">
                        <a:latin typeface="Cambria Math" panose="02040503050406030204" pitchFamily="18" charset="0"/>
                      </a:rPr>
                      <m:t>𝑘</m:t>
                    </m:r>
                    <m:r>
                      <a:rPr lang="en-US" sz="2300" i="1">
                        <a:latin typeface="Cambria Math" panose="02040503050406030204" pitchFamily="18" charset="0"/>
                      </a:rPr>
                      <m:t>=2</m:t>
                    </m:r>
                  </m:oMath>
                </a14:m>
                <a:r>
                  <a:rPr lang="en-US" sz="2300" dirty="0">
                    <a:latin typeface="Arial" panose="020B0604020202020204" pitchFamily="34" charset="0"/>
                    <a:cs typeface="Arial" panose="020B0604020202020204" pitchFamily="34" charset="0"/>
                  </a:rPr>
                  <a:t>). </a:t>
                </a:r>
              </a:p>
              <a:p>
                <a:pPr marL="800100" lvl="1" indent="-342900" algn="just">
                  <a:lnSpc>
                    <a:spcPct val="10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if mean is 100 and standard deviation is </a:t>
                </a:r>
                <a:r>
                  <a:rPr lang="en-US" sz="2300" dirty="0" smtClean="0">
                    <a:latin typeface="Arial" panose="020B0604020202020204" pitchFamily="34" charset="0"/>
                    <a:cs typeface="Arial" panose="020B0604020202020204" pitchFamily="34" charset="0"/>
                  </a:rPr>
                  <a:t>10 </a:t>
                </a:r>
                <a:r>
                  <a:rPr lang="en-US" sz="2300" dirty="0">
                    <a:latin typeface="Arial" panose="020B0604020202020204" pitchFamily="34" charset="0"/>
                    <a:cs typeface="Arial" panose="020B0604020202020204" pitchFamily="34" charset="0"/>
                  </a:rPr>
                  <a:t>then at least (more than) 88.89% observations will be between </a:t>
                </a:r>
                <a:r>
                  <a:rPr lang="en-US" sz="2300" dirty="0" smtClean="0">
                    <a:latin typeface="Arial" panose="020B0604020202020204" pitchFamily="34" charset="0"/>
                    <a:cs typeface="Arial" panose="020B0604020202020204" pitchFamily="34" charset="0"/>
                  </a:rPr>
                  <a:t>70 </a:t>
                </a:r>
                <a:r>
                  <a:rPr lang="en-US" sz="2300" dirty="0">
                    <a:latin typeface="Arial" panose="020B0604020202020204" pitchFamily="34" charset="0"/>
                    <a:cs typeface="Arial" panose="020B0604020202020204" pitchFamily="34" charset="0"/>
                  </a:rPr>
                  <a:t>and </a:t>
                </a:r>
                <a:r>
                  <a:rPr lang="en-US" sz="2300" dirty="0" smtClean="0">
                    <a:latin typeface="Arial" panose="020B0604020202020204" pitchFamily="34" charset="0"/>
                    <a:cs typeface="Arial" panose="020B0604020202020204" pitchFamily="34" charset="0"/>
                  </a:rPr>
                  <a:t>130 </a:t>
                </a:r>
                <a:r>
                  <a:rPr lang="en-US" sz="2300" dirty="0">
                    <a:latin typeface="Arial" panose="020B0604020202020204" pitchFamily="34" charset="0"/>
                    <a:cs typeface="Arial" panose="020B0604020202020204" pitchFamily="34" charset="0"/>
                  </a:rPr>
                  <a:t>(obtained by putting </a:t>
                </a:r>
                <a14:m>
                  <m:oMath xmlns:m="http://schemas.openxmlformats.org/officeDocument/2006/math">
                    <m:r>
                      <a:rPr lang="en-US" sz="2300" i="1">
                        <a:latin typeface="Cambria Math" panose="02040503050406030204" pitchFamily="18" charset="0"/>
                      </a:rPr>
                      <m:t>𝑘</m:t>
                    </m:r>
                    <m:r>
                      <a:rPr lang="en-US" sz="2300" i="1">
                        <a:latin typeface="Cambria Math" panose="02040503050406030204" pitchFamily="18" charset="0"/>
                      </a:rPr>
                      <m:t>=3</m:t>
                    </m:r>
                  </m:oMath>
                </a14:m>
                <a:r>
                  <a:rPr lang="en-US" sz="2300" dirty="0">
                    <a:latin typeface="Arial" panose="020B0604020202020204" pitchFamily="34" charset="0"/>
                    <a:cs typeface="Arial" panose="020B0604020202020204" pitchFamily="34" charset="0"/>
                  </a:rPr>
                  <a:t>). </a:t>
                </a:r>
              </a:p>
              <a:p>
                <a:pPr marL="800100" lvl="1" indent="-342900" algn="just">
                  <a:lnSpc>
                    <a:spcPct val="10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if mean is 100 and standard deviation is </a:t>
                </a:r>
                <a:r>
                  <a:rPr lang="en-US" sz="2300" dirty="0" smtClean="0">
                    <a:latin typeface="Arial" panose="020B0604020202020204" pitchFamily="34" charset="0"/>
                    <a:cs typeface="Arial" panose="020B0604020202020204" pitchFamily="34" charset="0"/>
                  </a:rPr>
                  <a:t>10 </a:t>
                </a:r>
                <a:r>
                  <a:rPr lang="en-US" sz="2300" dirty="0">
                    <a:latin typeface="Arial" panose="020B0604020202020204" pitchFamily="34" charset="0"/>
                    <a:cs typeface="Arial" panose="020B0604020202020204" pitchFamily="34" charset="0"/>
                  </a:rPr>
                  <a:t>then at least (more than) 93.75% observations will be between </a:t>
                </a:r>
                <a:r>
                  <a:rPr lang="en-US" sz="2300" dirty="0" smtClean="0">
                    <a:latin typeface="Arial" panose="020B0604020202020204" pitchFamily="34" charset="0"/>
                    <a:cs typeface="Arial" panose="020B0604020202020204" pitchFamily="34" charset="0"/>
                  </a:rPr>
                  <a:t>60 </a:t>
                </a:r>
                <a:r>
                  <a:rPr lang="en-US" sz="2300" dirty="0">
                    <a:latin typeface="Arial" panose="020B0604020202020204" pitchFamily="34" charset="0"/>
                    <a:cs typeface="Arial" panose="020B0604020202020204" pitchFamily="34" charset="0"/>
                  </a:rPr>
                  <a:t>and </a:t>
                </a:r>
                <a:r>
                  <a:rPr lang="en-US" sz="2300" dirty="0" smtClean="0">
                    <a:latin typeface="Arial" panose="020B0604020202020204" pitchFamily="34" charset="0"/>
                    <a:cs typeface="Arial" panose="020B0604020202020204" pitchFamily="34" charset="0"/>
                  </a:rPr>
                  <a:t>140 </a:t>
                </a:r>
                <a:r>
                  <a:rPr lang="en-US" sz="2300" dirty="0">
                    <a:latin typeface="Arial" panose="020B0604020202020204" pitchFamily="34" charset="0"/>
                    <a:cs typeface="Arial" panose="020B0604020202020204" pitchFamily="34" charset="0"/>
                  </a:rPr>
                  <a:t>(obtained by putting </a:t>
                </a:r>
                <a14:m>
                  <m:oMath xmlns:m="http://schemas.openxmlformats.org/officeDocument/2006/math">
                    <m:r>
                      <a:rPr lang="en-US" sz="2300" i="1">
                        <a:latin typeface="Cambria Math" panose="02040503050406030204" pitchFamily="18" charset="0"/>
                      </a:rPr>
                      <m:t>𝑘</m:t>
                    </m:r>
                    <m:r>
                      <a:rPr lang="en-US" sz="2300" i="1">
                        <a:latin typeface="Cambria Math" panose="02040503050406030204" pitchFamily="18" charset="0"/>
                      </a:rPr>
                      <m:t>=4</m:t>
                    </m:r>
                  </m:oMath>
                </a14:m>
                <a:r>
                  <a:rPr lang="en-US" sz="2300" dirty="0">
                    <a:latin typeface="Arial" panose="020B0604020202020204" pitchFamily="34" charset="0"/>
                    <a:cs typeface="Arial" panose="020B0604020202020204" pitchFamily="34" charset="0"/>
                  </a:rPr>
                  <a:t>). </a:t>
                </a:r>
              </a:p>
              <a:p>
                <a:pPr marL="800100" lvl="1" indent="-342900" algn="just">
                  <a:lnSpc>
                    <a:spcPct val="100000"/>
                  </a:lnSpc>
                  <a:buFont typeface="Wingdings" panose="05000000000000000000" pitchFamily="2" charset="2"/>
                  <a:buChar char="ü"/>
                </a:pPr>
                <a:endParaRPr lang="en-US" sz="23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675" t="-856" r="-788"/>
                </a:stretch>
              </a:blipFill>
            </p:spPr>
            <p:txBody>
              <a:bodyPr/>
              <a:lstStyle/>
              <a:p>
                <a:r>
                  <a:rPr lang="en-US">
                    <a:noFill/>
                  </a:rPr>
                  <a:t> </a:t>
                </a:r>
              </a:p>
            </p:txBody>
          </p:sp>
        </mc:Fallback>
      </mc:AlternateContent>
    </p:spTree>
    <p:extLst>
      <p:ext uri="{BB962C8B-B14F-4D97-AF65-F5344CB8AC3E}">
        <p14:creationId xmlns:p14="http://schemas.microsoft.com/office/powerpoint/2010/main" val="1408605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Use of Standard Deviation: Z-score</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926621"/>
              </a:xfrm>
            </p:spPr>
            <p:txBody>
              <a:bodyPr>
                <a:noAutofit/>
              </a:bodyPr>
              <a:lstStyle/>
              <a:p>
                <a:pPr marL="342900" indent="-342900" algn="just">
                  <a:lnSpc>
                    <a:spcPct val="150000"/>
                  </a:lnSpc>
                  <a:buFont typeface="Arial" panose="020B0604020202020204" pitchFamily="34" charset="0"/>
                  <a:buChar char="•"/>
                </a:pPr>
                <a:r>
                  <a:rPr lang="en-US" sz="2200" dirty="0" smtClean="0">
                    <a:latin typeface="Arial" panose="020B0604020202020204" pitchFamily="34" charset="0"/>
                    <a:cs typeface="Arial" panose="020B0604020202020204" pitchFamily="34" charset="0"/>
                  </a:rPr>
                  <a:t>For </a:t>
                </a:r>
                <a:r>
                  <a:rPr lang="en-US" sz="2200" dirty="0">
                    <a:latin typeface="Arial" panose="020B0604020202020204" pitchFamily="34" charset="0"/>
                    <a:cs typeface="Arial" panose="020B0604020202020204" pitchFamily="34" charset="0"/>
                  </a:rPr>
                  <a:t>a </a:t>
                </a:r>
                <a:r>
                  <a:rPr lang="en-US" sz="2200" dirty="0" smtClean="0">
                    <a:latin typeface="Arial" panose="020B0604020202020204" pitchFamily="34" charset="0"/>
                    <a:cs typeface="Arial" panose="020B0604020202020204" pitchFamily="34" charset="0"/>
                  </a:rPr>
                  <a:t>score </a:t>
                </a:r>
                <a14:m>
                  <m:oMath xmlns:m="http://schemas.openxmlformats.org/officeDocument/2006/math">
                    <m:r>
                      <a:rPr lang="en-US" sz="2200" i="1">
                        <a:latin typeface="Cambria Math" panose="02040503050406030204" pitchFamily="18" charset="0"/>
                      </a:rPr>
                      <m:t>𝑥</m:t>
                    </m:r>
                  </m:oMath>
                </a14:m>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the </a:t>
                </a:r>
                <a:r>
                  <a:rPr lang="en-US" sz="2200" dirty="0">
                    <a:latin typeface="Arial" panose="020B0604020202020204" pitchFamily="34" charset="0"/>
                    <a:cs typeface="Arial" panose="020B0604020202020204" pitchFamily="34" charset="0"/>
                  </a:rPr>
                  <a:t>sample </a:t>
                </a:r>
                <a14:m>
                  <m:oMath xmlns:m="http://schemas.openxmlformats.org/officeDocument/2006/math">
                    <m:r>
                      <a:rPr lang="en-US" sz="2200" i="1">
                        <a:latin typeface="Cambria Math" panose="02040503050406030204" pitchFamily="18" charset="0"/>
                      </a:rPr>
                      <m:t>𝑧</m:t>
                    </m:r>
                  </m:oMath>
                </a14:m>
                <a:r>
                  <a:rPr lang="en-US" sz="2200" dirty="0">
                    <a:latin typeface="Arial" panose="020B0604020202020204" pitchFamily="34" charset="0"/>
                    <a:cs typeface="Arial" panose="020B0604020202020204" pitchFamily="34" charset="0"/>
                  </a:rPr>
                  <a:t>-score</a:t>
                </a:r>
                <a:r>
                  <a:rPr lang="en-US" sz="2200" dirty="0" smtClean="0">
                    <a:latin typeface="Arial" panose="020B0604020202020204" pitchFamily="34" charset="0"/>
                    <a:cs typeface="Arial" panose="020B0604020202020204" pitchFamily="34" charset="0"/>
                  </a:rPr>
                  <a:t> is defined as </a:t>
                </a:r>
                <a14:m>
                  <m:oMath xmlns:m="http://schemas.openxmlformats.org/officeDocument/2006/math">
                    <m:r>
                      <a:rPr lang="en-US" sz="2200" i="1">
                        <a:latin typeface="Cambria Math" panose="02040503050406030204" pitchFamily="18" charset="0"/>
                      </a:rPr>
                      <m:t>𝑧</m:t>
                    </m:r>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𝑥</m:t>
                        </m:r>
                        <m:r>
                          <a:rPr lang="en-US" sz="2200" i="1">
                            <a:latin typeface="Cambria Math" panose="02040503050406030204" pitchFamily="18" charset="0"/>
                          </a:rPr>
                          <m:t>−</m:t>
                        </m:r>
                        <m:acc>
                          <m:accPr>
                            <m:chr m:val="̅"/>
                            <m:ctrlPr>
                              <a:rPr lang="en-US" sz="2200" i="1">
                                <a:latin typeface="Cambria Math" panose="02040503050406030204" pitchFamily="18" charset="0"/>
                              </a:rPr>
                            </m:ctrlPr>
                          </m:accPr>
                          <m:e>
                            <m:r>
                              <a:rPr lang="en-US" sz="2200" i="1">
                                <a:latin typeface="Cambria Math" panose="02040503050406030204" pitchFamily="18" charset="0"/>
                              </a:rPr>
                              <m:t>𝑥</m:t>
                            </m:r>
                          </m:e>
                        </m:acc>
                      </m:num>
                      <m:den>
                        <m:r>
                          <a:rPr lang="en-US" sz="2200" i="1">
                            <a:latin typeface="Cambria Math" panose="02040503050406030204" pitchFamily="18" charset="0"/>
                          </a:rPr>
                          <m:t>𝑠</m:t>
                        </m:r>
                      </m:den>
                    </m:f>
                  </m:oMath>
                </a14:m>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(population </a:t>
                </a:r>
                <a14:m>
                  <m:oMath xmlns:m="http://schemas.openxmlformats.org/officeDocument/2006/math">
                    <m:r>
                      <a:rPr lang="en-US" sz="2200" i="1">
                        <a:latin typeface="Cambria Math" panose="02040503050406030204" pitchFamily="18" charset="0"/>
                      </a:rPr>
                      <m:t>𝑧</m:t>
                    </m:r>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𝑥</m:t>
                        </m:r>
                        <m:r>
                          <a:rPr lang="en-US" sz="2200" i="1">
                            <a:latin typeface="Cambria Math" panose="02040503050406030204" pitchFamily="18" charset="0"/>
                          </a:rPr>
                          <m:t>−</m:t>
                        </m:r>
                        <m:r>
                          <a:rPr lang="en-US" sz="2200" i="1">
                            <a:latin typeface="Cambria Math" panose="02040503050406030204" pitchFamily="18" charset="0"/>
                          </a:rPr>
                          <m:t>𝜇</m:t>
                        </m:r>
                      </m:num>
                      <m:den>
                        <m:r>
                          <a:rPr lang="en-US" sz="2200" i="1">
                            <a:latin typeface="Cambria Math" panose="02040503050406030204" pitchFamily="18" charset="0"/>
                          </a:rPr>
                          <m:t>𝜎</m:t>
                        </m:r>
                      </m:den>
                    </m:f>
                  </m:oMath>
                </a14:m>
                <a:r>
                  <a:rPr lang="en-US" sz="2200" dirty="0" smtClean="0">
                    <a:latin typeface="Arial" panose="020B0604020202020204" pitchFamily="34" charset="0"/>
                    <a:cs typeface="Arial" panose="020B0604020202020204" pitchFamily="34" charset="0"/>
                  </a:rPr>
                  <a:t>)</a:t>
                </a:r>
              </a:p>
              <a:p>
                <a:pPr marL="342900" lvl="1" indent="-342900" algn="just">
                  <a:lnSpc>
                    <a:spcPct val="150000"/>
                  </a:lnSpc>
                  <a:spcBef>
                    <a:spcPts val="1000"/>
                  </a:spcBef>
                  <a:buFont typeface="Arial" panose="020B0604020202020204" pitchFamily="34" charset="0"/>
                  <a:buChar char="•"/>
                </a:pPr>
                <a:r>
                  <a:rPr lang="en-US" sz="2200" dirty="0">
                    <a:latin typeface="Arial" panose="020B0604020202020204" pitchFamily="34" charset="0"/>
                    <a:cs typeface="Arial" panose="020B0604020202020204" pitchFamily="34" charset="0"/>
                  </a:rPr>
                  <a:t>The </a:t>
                </a:r>
                <a14:m>
                  <m:oMath xmlns:m="http://schemas.openxmlformats.org/officeDocument/2006/math">
                    <m:r>
                      <a:rPr lang="en-US" sz="2200" i="1">
                        <a:latin typeface="Cambria Math" panose="02040503050406030204" pitchFamily="18" charset="0"/>
                      </a:rPr>
                      <m:t>𝑧</m:t>
                    </m:r>
                  </m:oMath>
                </a14:m>
                <a:r>
                  <a:rPr lang="en-US" sz="2200" dirty="0">
                    <a:latin typeface="Arial" panose="020B0604020202020204" pitchFamily="34" charset="0"/>
                    <a:cs typeface="Arial" panose="020B0604020202020204" pitchFamily="34" charset="0"/>
                  </a:rPr>
                  <a:t>-score converted </a:t>
                </a:r>
                <a:r>
                  <a:rPr lang="en-US" sz="2200" dirty="0" smtClean="0">
                    <a:latin typeface="Arial" panose="020B0604020202020204" pitchFamily="34" charset="0"/>
                    <a:cs typeface="Arial" panose="020B0604020202020204" pitchFamily="34" charset="0"/>
                  </a:rPr>
                  <a:t>different scores to </a:t>
                </a:r>
                <a:r>
                  <a:rPr lang="en-US" sz="2200" dirty="0">
                    <a:latin typeface="Arial" panose="020B0604020202020204" pitchFamily="34" charset="0"/>
                    <a:cs typeface="Arial" panose="020B0604020202020204" pitchFamily="34" charset="0"/>
                  </a:rPr>
                  <a:t>a common scale — so that the mean is always 0 and the </a:t>
                </a:r>
                <a:r>
                  <a:rPr lang="en-US" sz="2200" dirty="0" smtClean="0">
                    <a:latin typeface="Arial" panose="020B0604020202020204" pitchFamily="34" charset="0"/>
                    <a:cs typeface="Arial" panose="020B0604020202020204" pitchFamily="34" charset="0"/>
                  </a:rPr>
                  <a:t>standard deviation </a:t>
                </a:r>
                <a:r>
                  <a:rPr lang="en-US" sz="2200" dirty="0">
                    <a:latin typeface="Arial" panose="020B0604020202020204" pitchFamily="34" charset="0"/>
                    <a:cs typeface="Arial" panose="020B0604020202020204" pitchFamily="34" charset="0"/>
                  </a:rPr>
                  <a:t>is always </a:t>
                </a:r>
                <a:r>
                  <a:rPr lang="en-US" sz="2200" dirty="0" smtClean="0">
                    <a:latin typeface="Arial" panose="020B0604020202020204" pitchFamily="34" charset="0"/>
                    <a:cs typeface="Arial" panose="020B0604020202020204" pitchFamily="34" charset="0"/>
                  </a:rPr>
                  <a:t>1. It tells </a:t>
                </a:r>
                <a:r>
                  <a:rPr lang="en-US" sz="2200" dirty="0">
                    <a:latin typeface="Arial" panose="020B0604020202020204" pitchFamily="34" charset="0"/>
                    <a:cs typeface="Arial" panose="020B0604020202020204" pitchFamily="34" charset="0"/>
                  </a:rPr>
                  <a:t>us how many standard deviations a value is above or below the average</a:t>
                </a:r>
                <a:r>
                  <a:rPr lang="en-US" sz="22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200" dirty="0">
                    <a:latin typeface="Arial" panose="020B0604020202020204" pitchFamily="34" charset="0"/>
                    <a:cs typeface="Arial" panose="020B0604020202020204" pitchFamily="34" charset="0"/>
                  </a:rPr>
                  <a:t>In this case, the following interpretation (identical </a:t>
                </a:r>
                <a:r>
                  <a:rPr lang="en-US" sz="2200" dirty="0" smtClean="0">
                    <a:latin typeface="Arial" panose="020B0604020202020204" pitchFamily="34" charset="0"/>
                    <a:cs typeface="Arial" panose="020B0604020202020204" pitchFamily="34" charset="0"/>
                  </a:rPr>
                  <a:t>of </a:t>
                </a:r>
                <a:r>
                  <a:rPr lang="en-US" sz="2200" dirty="0">
                    <a:latin typeface="Arial" panose="020B0604020202020204" pitchFamily="34" charset="0"/>
                    <a:cs typeface="Arial" panose="020B0604020202020204" pitchFamily="34" charset="0"/>
                  </a:rPr>
                  <a:t>Empirical rule</a:t>
                </a:r>
                <a:r>
                  <a:rPr lang="en-US" sz="2200" dirty="0" smtClean="0">
                    <a:latin typeface="Arial" panose="020B0604020202020204" pitchFamily="34" charset="0"/>
                    <a:cs typeface="Arial" panose="020B0604020202020204" pitchFamily="34" charset="0"/>
                  </a:rPr>
                  <a:t>) is possible</a:t>
                </a:r>
                <a:endParaRPr lang="en-US" sz="22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200" dirty="0" smtClean="0">
                    <a:latin typeface="Arial" panose="020B0604020202020204" pitchFamily="34" charset="0"/>
                    <a:cs typeface="Arial" panose="020B0604020202020204" pitchFamily="34" charset="0"/>
                  </a:rPr>
                  <a:t>about </a:t>
                </a:r>
                <a:r>
                  <a:rPr lang="en-US" sz="2200" dirty="0">
                    <a:latin typeface="Arial" panose="020B0604020202020204" pitchFamily="34" charset="0"/>
                    <a:cs typeface="Arial" panose="020B0604020202020204" pitchFamily="34" charset="0"/>
                  </a:rPr>
                  <a:t>68 percent of the observations will have a z-score between </a:t>
                </a:r>
                <a14:m>
                  <m:oMath xmlns:m="http://schemas.openxmlformats.org/officeDocument/2006/math">
                    <m:r>
                      <a:rPr lang="en-US" sz="2200" i="1">
                        <a:latin typeface="Cambria Math" panose="02040503050406030204" pitchFamily="18" charset="0"/>
                      </a:rPr>
                      <m:t>−1</m:t>
                    </m:r>
                  </m:oMath>
                </a14:m>
                <a:r>
                  <a:rPr lang="en-US" sz="2200" dirty="0">
                    <a:latin typeface="Arial" panose="020B0604020202020204" pitchFamily="34" charset="0"/>
                    <a:cs typeface="Arial" panose="020B0604020202020204" pitchFamily="34" charset="0"/>
                  </a:rPr>
                  <a:t> and </a:t>
                </a:r>
                <a14:m>
                  <m:oMath xmlns:m="http://schemas.openxmlformats.org/officeDocument/2006/math">
                    <m:r>
                      <a:rPr lang="en-US" sz="2200" i="1">
                        <a:latin typeface="Cambria Math" panose="02040503050406030204" pitchFamily="18" charset="0"/>
                      </a:rPr>
                      <m:t>+1</m:t>
                    </m:r>
                  </m:oMath>
                </a14:m>
                <a:endParaRPr lang="en-US" sz="2200" dirty="0">
                  <a:latin typeface="Arial" panose="020B0604020202020204" pitchFamily="34" charset="0"/>
                </a:endParaRP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about 95 percent of the observations will have a z-score between </a:t>
                </a:r>
                <a14:m>
                  <m:oMath xmlns:m="http://schemas.openxmlformats.org/officeDocument/2006/math">
                    <m:r>
                      <a:rPr lang="en-US" sz="2200" i="1">
                        <a:latin typeface="Cambria Math" panose="02040503050406030204" pitchFamily="18" charset="0"/>
                      </a:rPr>
                      <m:t>−2</m:t>
                    </m:r>
                  </m:oMath>
                </a14:m>
                <a:r>
                  <a:rPr lang="en-US" sz="2200" dirty="0">
                    <a:latin typeface="Arial" panose="020B0604020202020204" pitchFamily="34" charset="0"/>
                    <a:cs typeface="Arial" panose="020B0604020202020204" pitchFamily="34" charset="0"/>
                  </a:rPr>
                  <a:t> and </a:t>
                </a:r>
                <a14:m>
                  <m:oMath xmlns:m="http://schemas.openxmlformats.org/officeDocument/2006/math">
                    <m:r>
                      <a:rPr lang="en-US" sz="2200" i="1">
                        <a:latin typeface="Cambria Math" panose="02040503050406030204" pitchFamily="18" charset="0"/>
                      </a:rPr>
                      <m:t>+2</m:t>
                    </m:r>
                  </m:oMath>
                </a14:m>
                <a:endParaRPr lang="en-US" sz="2200" dirty="0">
                  <a:latin typeface="Arial" panose="020B0604020202020204" pitchFamily="34" charset="0"/>
                </a:endParaRPr>
              </a:p>
              <a:p>
                <a:pPr marL="800100" lvl="1" indent="-342900" algn="just">
                  <a:lnSpc>
                    <a:spcPct val="150000"/>
                  </a:lnSpc>
                  <a:buFont typeface="Wingdings" panose="05000000000000000000" pitchFamily="2" charset="2"/>
                  <a:buChar char="ü"/>
                </a:pPr>
                <a:r>
                  <a:rPr lang="en-US" sz="2200" dirty="0" smtClean="0">
                    <a:latin typeface="Arial" panose="020B0604020202020204" pitchFamily="34" charset="0"/>
                    <a:cs typeface="Arial" panose="020B0604020202020204" pitchFamily="34" charset="0"/>
                  </a:rPr>
                  <a:t>about </a:t>
                </a:r>
                <a:r>
                  <a:rPr lang="en-US" sz="2200" dirty="0">
                    <a:latin typeface="Arial" panose="020B0604020202020204" pitchFamily="34" charset="0"/>
                    <a:cs typeface="Arial" panose="020B0604020202020204" pitchFamily="34" charset="0"/>
                  </a:rPr>
                  <a:t>99 percent of the observations will have a z-score between </a:t>
                </a:r>
                <a14:m>
                  <m:oMath xmlns:m="http://schemas.openxmlformats.org/officeDocument/2006/math">
                    <m:r>
                      <a:rPr lang="en-US" sz="2200" i="1">
                        <a:latin typeface="Cambria Math" panose="02040503050406030204" pitchFamily="18" charset="0"/>
                      </a:rPr>
                      <m:t>−3</m:t>
                    </m:r>
                  </m:oMath>
                </a14:m>
                <a:r>
                  <a:rPr lang="en-US" sz="2200" dirty="0">
                    <a:latin typeface="Arial" panose="020B0604020202020204" pitchFamily="34" charset="0"/>
                    <a:cs typeface="Arial" panose="020B0604020202020204" pitchFamily="34" charset="0"/>
                  </a:rPr>
                  <a:t> and </a:t>
                </a:r>
                <a14:m>
                  <m:oMath xmlns:m="http://schemas.openxmlformats.org/officeDocument/2006/math">
                    <m:r>
                      <a:rPr lang="en-US" sz="2200" i="1">
                        <a:latin typeface="Cambria Math" panose="02040503050406030204" pitchFamily="18" charset="0"/>
                      </a:rPr>
                      <m:t>+3</m:t>
                    </m:r>
                  </m:oMath>
                </a14:m>
                <a:endParaRPr lang="en-US" sz="2200" dirty="0" smtClean="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926621"/>
              </a:xfrm>
              <a:blipFill rotWithShape="0">
                <a:blip r:embed="rId2"/>
                <a:stretch>
                  <a:fillRect l="-675" r="-732"/>
                </a:stretch>
              </a:blipFill>
            </p:spPr>
            <p:txBody>
              <a:bodyPr/>
              <a:lstStyle/>
              <a:p>
                <a:r>
                  <a:rPr lang="en-US">
                    <a:noFill/>
                  </a:rPr>
                  <a:t> </a:t>
                </a:r>
              </a:p>
            </p:txBody>
          </p:sp>
        </mc:Fallback>
      </mc:AlternateContent>
    </p:spTree>
    <p:extLst>
      <p:ext uri="{BB962C8B-B14F-4D97-AF65-F5344CB8AC3E}">
        <p14:creationId xmlns:p14="http://schemas.microsoft.com/office/powerpoint/2010/main" val="16411386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Use of Standard Deviation: Z-score</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926621"/>
              </a:xfrm>
            </p:spPr>
            <p:txBody>
              <a:bodyPr>
                <a:noAutofit/>
              </a:bodyPr>
              <a:lstStyle/>
              <a:p>
                <a:pPr marL="342900" indent="-342900" algn="just">
                  <a:lnSpc>
                    <a:spcPct val="150000"/>
                  </a:lnSpc>
                  <a:buFont typeface="Arial" panose="020B0604020202020204" pitchFamily="34" charset="0"/>
                  <a:buChar char="•"/>
                </a:pPr>
                <a:r>
                  <a:rPr lang="en-US" sz="2300" dirty="0" smtClean="0">
                    <a:latin typeface="Arial" panose="020B0604020202020204" pitchFamily="34" charset="0"/>
                    <a:cs typeface="Arial" panose="020B0604020202020204" pitchFamily="34" charset="0"/>
                  </a:rPr>
                  <a:t>The </a:t>
                </a:r>
                <a:r>
                  <a:rPr lang="en-US" sz="2300" dirty="0">
                    <a:latin typeface="Arial" panose="020B0604020202020204" pitchFamily="34" charset="0"/>
                    <a:cs typeface="Arial" panose="020B0604020202020204" pitchFamily="34" charset="0"/>
                  </a:rPr>
                  <a:t>numerical value of the </a:t>
                </a:r>
                <a14:m>
                  <m:oMath xmlns:m="http://schemas.openxmlformats.org/officeDocument/2006/math">
                    <m:r>
                      <a:rPr lang="en-US" sz="2300" i="1">
                        <a:latin typeface="Cambria Math" panose="02040503050406030204" pitchFamily="18" charset="0"/>
                      </a:rPr>
                      <m:t>𝑧</m:t>
                    </m:r>
                  </m:oMath>
                </a14:m>
                <a:r>
                  <a:rPr lang="en-US" sz="2300" dirty="0">
                    <a:latin typeface="Arial" panose="020B0604020202020204" pitchFamily="34" charset="0"/>
                    <a:cs typeface="Arial" panose="020B0604020202020204" pitchFamily="34" charset="0"/>
                  </a:rPr>
                  <a:t>-score reflects the relative standing of the measurement. </a:t>
                </a:r>
                <a:r>
                  <a:rPr lang="en-US" sz="2300" dirty="0" smtClean="0">
                    <a:latin typeface="Arial" panose="020B0604020202020204" pitchFamily="34" charset="0"/>
                    <a:cs typeface="Arial" panose="020B0604020202020204" pitchFamily="34" charset="0"/>
                  </a:rPr>
                  <a:t>For a bell-shaped symmetrical distribution</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a</a:t>
                </a:r>
                <a:r>
                  <a:rPr lang="en-US" sz="2300" dirty="0" smtClean="0">
                    <a:latin typeface="Arial" panose="020B0604020202020204" pitchFamily="34" charset="0"/>
                    <a:cs typeface="Arial" panose="020B0604020202020204" pitchFamily="34" charset="0"/>
                  </a:rPr>
                  <a:t> very large </a:t>
                </a:r>
                <a14:m>
                  <m:oMath xmlns:m="http://schemas.openxmlformats.org/officeDocument/2006/math">
                    <m:r>
                      <a:rPr lang="en-US" sz="2300" i="1">
                        <a:latin typeface="Cambria Math" panose="02040503050406030204" pitchFamily="18" charset="0"/>
                      </a:rPr>
                      <m:t>𝑧</m:t>
                    </m:r>
                  </m:oMath>
                </a14:m>
                <a:r>
                  <a:rPr lang="en-US" sz="2300" dirty="0">
                    <a:latin typeface="Arial" panose="020B0604020202020204" pitchFamily="34" charset="0"/>
                    <a:cs typeface="Arial" panose="020B0604020202020204" pitchFamily="34" charset="0"/>
                  </a:rPr>
                  <a:t>-</a:t>
                </a:r>
                <a:r>
                  <a:rPr lang="en-US" sz="2300" dirty="0" smtClean="0">
                    <a:latin typeface="Arial" panose="020B0604020202020204" pitchFamily="34" charset="0"/>
                    <a:cs typeface="Arial" panose="020B0604020202020204" pitchFamily="34" charset="0"/>
                  </a:rPr>
                  <a:t>score implies </a:t>
                </a:r>
                <a:r>
                  <a:rPr lang="en-US" sz="2300" dirty="0">
                    <a:latin typeface="Arial" panose="020B0604020202020204" pitchFamily="34" charset="0"/>
                    <a:cs typeface="Arial" panose="020B0604020202020204" pitchFamily="34" charset="0"/>
                  </a:rPr>
                  <a:t>that the </a:t>
                </a:r>
                <a:r>
                  <a:rPr lang="en-US" sz="2300" dirty="0" smtClean="0">
                    <a:latin typeface="Arial" panose="020B0604020202020204" pitchFamily="34" charset="0"/>
                    <a:cs typeface="Arial" panose="020B0604020202020204" pitchFamily="34" charset="0"/>
                  </a:rPr>
                  <a:t>score </a:t>
                </a:r>
                <a:r>
                  <a:rPr lang="en-US" sz="2300" dirty="0">
                    <a:latin typeface="Arial" panose="020B0604020202020204" pitchFamily="34" charset="0"/>
                    <a:cs typeface="Arial" panose="020B0604020202020204" pitchFamily="34" charset="0"/>
                  </a:rPr>
                  <a:t>is larger than almost all </a:t>
                </a:r>
                <a:r>
                  <a:rPr lang="en-US" sz="2300" dirty="0" smtClean="0">
                    <a:latin typeface="Arial" panose="020B0604020202020204" pitchFamily="34" charset="0"/>
                    <a:cs typeface="Arial" panose="020B0604020202020204" pitchFamily="34" charset="0"/>
                  </a:rPr>
                  <a:t>other data-values. For example, </a:t>
                </a:r>
                <a14:m>
                  <m:oMath xmlns:m="http://schemas.openxmlformats.org/officeDocument/2006/math">
                    <m:r>
                      <a:rPr lang="en-US" sz="2300" b="0" i="1" smtClean="0">
                        <a:latin typeface="Cambria Math" panose="02040503050406030204" pitchFamily="18" charset="0"/>
                        <a:cs typeface="Arial" panose="020B0604020202020204" pitchFamily="34" charset="0"/>
                      </a:rPr>
                      <m:t>𝑧</m:t>
                    </m:r>
                    <m:r>
                      <a:rPr lang="en-US" sz="2300" b="0" i="1" smtClean="0">
                        <a:latin typeface="Cambria Math" panose="02040503050406030204" pitchFamily="18" charset="0"/>
                        <a:cs typeface="Arial" panose="020B0604020202020204" pitchFamily="34" charset="0"/>
                      </a:rPr>
                      <m:t>=3</m:t>
                    </m:r>
                  </m:oMath>
                </a14:m>
                <a:r>
                  <a:rPr lang="en-US" sz="2300" dirty="0" smtClean="0">
                    <a:latin typeface="Arial" panose="020B0604020202020204" pitchFamily="34" charset="0"/>
                    <a:cs typeface="Arial" panose="020B0604020202020204" pitchFamily="34" charset="0"/>
                  </a:rPr>
                  <a:t> indicates about 0.5% data-values are larger than </a:t>
                </a:r>
                <a14:m>
                  <m:oMath xmlns:m="http://schemas.openxmlformats.org/officeDocument/2006/math">
                    <m:r>
                      <a:rPr lang="en-US" sz="2300" i="1" dirty="0" smtClean="0">
                        <a:latin typeface="Cambria Math" panose="02040503050406030204" pitchFamily="18" charset="0"/>
                        <a:cs typeface="Arial" panose="020B0604020202020204" pitchFamily="34" charset="0"/>
                      </a:rPr>
                      <m:t>𝑥</m:t>
                    </m:r>
                  </m:oMath>
                </a14:m>
                <a:r>
                  <a:rPr lang="en-US" sz="2300" dirty="0" smtClean="0">
                    <a:latin typeface="Arial" panose="020B0604020202020204" pitchFamily="34" charset="0"/>
                    <a:cs typeface="Arial" panose="020B0604020202020204" pitchFamily="34" charset="0"/>
                  </a:rPr>
                  <a:t>. </a:t>
                </a:r>
              </a:p>
              <a:p>
                <a:pPr marL="800100" lvl="1" indent="-342900" algn="just">
                  <a:lnSpc>
                    <a:spcPct val="150000"/>
                  </a:lnSpc>
                  <a:buFont typeface="Wingdings" panose="05000000000000000000" pitchFamily="2" charset="2"/>
                  <a:buChar char="ü"/>
                </a:pPr>
                <a:r>
                  <a:rPr lang="en-US" sz="2300" dirty="0">
                    <a:latin typeface="Arial" panose="020B0604020202020204" pitchFamily="34" charset="0"/>
                    <a:cs typeface="Arial" panose="020B0604020202020204" pitchFamily="34" charset="0"/>
                  </a:rPr>
                  <a:t>a </a:t>
                </a:r>
                <a:r>
                  <a:rPr lang="en-US" sz="2300" dirty="0" smtClean="0">
                    <a:latin typeface="Arial" panose="020B0604020202020204" pitchFamily="34" charset="0"/>
                    <a:cs typeface="Arial" panose="020B0604020202020204" pitchFamily="34" charset="0"/>
                  </a:rPr>
                  <a:t>very small </a:t>
                </a:r>
                <a14:m>
                  <m:oMath xmlns:m="http://schemas.openxmlformats.org/officeDocument/2006/math">
                    <m:r>
                      <a:rPr lang="en-US" sz="2300" i="1">
                        <a:latin typeface="Cambria Math" panose="02040503050406030204" pitchFamily="18" charset="0"/>
                      </a:rPr>
                      <m:t>𝑧</m:t>
                    </m:r>
                  </m:oMath>
                </a14:m>
                <a:r>
                  <a:rPr lang="en-US" sz="2300" dirty="0">
                    <a:latin typeface="Arial" panose="020B0604020202020204" pitchFamily="34" charset="0"/>
                    <a:cs typeface="Arial" panose="020B0604020202020204" pitchFamily="34" charset="0"/>
                  </a:rPr>
                  <a:t>-score implies that the score is </a:t>
                </a:r>
                <a:r>
                  <a:rPr lang="en-US" sz="2300" dirty="0" smtClean="0">
                    <a:latin typeface="Arial" panose="020B0604020202020204" pitchFamily="34" charset="0"/>
                    <a:cs typeface="Arial" panose="020B0604020202020204" pitchFamily="34" charset="0"/>
                  </a:rPr>
                  <a:t>smaller </a:t>
                </a:r>
                <a:r>
                  <a:rPr lang="en-US" sz="2300" dirty="0">
                    <a:latin typeface="Arial" panose="020B0604020202020204" pitchFamily="34" charset="0"/>
                    <a:cs typeface="Arial" panose="020B0604020202020204" pitchFamily="34" charset="0"/>
                  </a:rPr>
                  <a:t>than almost all other data-values. For example, </a:t>
                </a:r>
                <a14:m>
                  <m:oMath xmlns:m="http://schemas.openxmlformats.org/officeDocument/2006/math">
                    <m:r>
                      <a:rPr lang="en-US" sz="2300" i="1">
                        <a:latin typeface="Cambria Math" panose="02040503050406030204" pitchFamily="18" charset="0"/>
                        <a:cs typeface="Arial" panose="020B0604020202020204" pitchFamily="34" charset="0"/>
                      </a:rPr>
                      <m:t>𝑧</m:t>
                    </m:r>
                    <m:r>
                      <a:rPr lang="en-US" sz="2300" i="1">
                        <a:latin typeface="Cambria Math" panose="02040503050406030204" pitchFamily="18" charset="0"/>
                        <a:cs typeface="Arial" panose="020B0604020202020204" pitchFamily="34" charset="0"/>
                      </a:rPr>
                      <m:t>=−3</m:t>
                    </m:r>
                  </m:oMath>
                </a14:m>
                <a:r>
                  <a:rPr lang="en-US" sz="2300" dirty="0">
                    <a:latin typeface="Arial" panose="020B0604020202020204" pitchFamily="34" charset="0"/>
                    <a:cs typeface="Arial" panose="020B0604020202020204" pitchFamily="34" charset="0"/>
                  </a:rPr>
                  <a:t> indicates about 0.5% data-values are </a:t>
                </a:r>
                <a:r>
                  <a:rPr lang="en-US" sz="2300" dirty="0" smtClean="0">
                    <a:latin typeface="Arial" panose="020B0604020202020204" pitchFamily="34" charset="0"/>
                    <a:cs typeface="Arial" panose="020B0604020202020204" pitchFamily="34" charset="0"/>
                  </a:rPr>
                  <a:t>smaller </a:t>
                </a:r>
                <a:r>
                  <a:rPr lang="en-US" sz="2300" dirty="0">
                    <a:latin typeface="Arial" panose="020B0604020202020204" pitchFamily="34" charset="0"/>
                    <a:cs typeface="Arial" panose="020B0604020202020204" pitchFamily="34" charset="0"/>
                  </a:rPr>
                  <a:t>than </a:t>
                </a:r>
                <a14:m>
                  <m:oMath xmlns:m="http://schemas.openxmlformats.org/officeDocument/2006/math">
                    <m:r>
                      <a:rPr lang="en-US" sz="2300" i="1" dirty="0">
                        <a:latin typeface="Cambria Math" panose="02040503050406030204" pitchFamily="18" charset="0"/>
                        <a:cs typeface="Arial" panose="020B0604020202020204" pitchFamily="34" charset="0"/>
                      </a:rPr>
                      <m:t>𝑥</m:t>
                    </m:r>
                  </m:oMath>
                </a14:m>
                <a:r>
                  <a:rPr lang="en-US" sz="2300" dirty="0">
                    <a:latin typeface="Arial" panose="020B0604020202020204" pitchFamily="34" charset="0"/>
                    <a:cs typeface="Arial" panose="020B0604020202020204" pitchFamily="34" charset="0"/>
                  </a:rPr>
                  <a:t>. </a:t>
                </a:r>
                <a:endParaRPr lang="en-US" sz="2300" dirty="0" smtClean="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300" dirty="0" smtClean="0">
                    <a:latin typeface="Arial" panose="020B0604020202020204" pitchFamily="34" charset="0"/>
                    <a:cs typeface="Arial" panose="020B0604020202020204" pitchFamily="34" charset="0"/>
                  </a:rPr>
                  <a:t>If </a:t>
                </a:r>
                <a:r>
                  <a:rPr lang="en-US" sz="2300" dirty="0">
                    <a:latin typeface="Arial" panose="020B0604020202020204" pitchFamily="34" charset="0"/>
                    <a:cs typeface="Arial" panose="020B0604020202020204" pitchFamily="34" charset="0"/>
                  </a:rPr>
                  <a:t>a </a:t>
                </a:r>
                <a14:m>
                  <m:oMath xmlns:m="http://schemas.openxmlformats.org/officeDocument/2006/math">
                    <m:r>
                      <a:rPr lang="en-US" sz="2300" i="1">
                        <a:latin typeface="Cambria Math" panose="02040503050406030204" pitchFamily="18" charset="0"/>
                      </a:rPr>
                      <m:t>𝑧</m:t>
                    </m:r>
                  </m:oMath>
                </a14:m>
                <a:r>
                  <a:rPr lang="en-US" sz="2300" dirty="0">
                    <a:latin typeface="Arial" panose="020B0604020202020204" pitchFamily="34" charset="0"/>
                    <a:cs typeface="Arial" panose="020B0604020202020204" pitchFamily="34" charset="0"/>
                  </a:rPr>
                  <a:t>-score is 0 or near 0, the measurement is located at or near the mean of the data (sample or population</a:t>
                </a:r>
                <a:r>
                  <a:rPr lang="en-US" sz="23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endParaRPr lang="en-US" sz="23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926621"/>
              </a:xfrm>
              <a:blipFill rotWithShape="0">
                <a:blip r:embed="rId2"/>
                <a:stretch>
                  <a:fillRect l="-675" r="-788"/>
                </a:stretch>
              </a:blipFill>
            </p:spPr>
            <p:txBody>
              <a:bodyPr/>
              <a:lstStyle/>
              <a:p>
                <a:r>
                  <a:rPr lang="en-US">
                    <a:noFill/>
                  </a:rPr>
                  <a:t> </a:t>
                </a:r>
              </a:p>
            </p:txBody>
          </p:sp>
        </mc:Fallback>
      </mc:AlternateContent>
    </p:spTree>
    <p:extLst>
      <p:ext uri="{BB962C8B-B14F-4D97-AF65-F5344CB8AC3E}">
        <p14:creationId xmlns:p14="http://schemas.microsoft.com/office/powerpoint/2010/main" val="21178918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127463"/>
            <a:ext cx="9144000" cy="464208"/>
          </a:xfrm>
        </p:spPr>
        <p:txBody>
          <a:bodyPr>
            <a:noAutofit/>
          </a:bodyPr>
          <a:lstStyle/>
          <a:p>
            <a:r>
              <a:rPr lang="en-US" sz="2400" b="1" dirty="0" smtClean="0">
                <a:latin typeface="Arial" panose="020B0604020202020204" pitchFamily="34" charset="0"/>
                <a:cs typeface="Arial" panose="020B0604020202020204" pitchFamily="34" charset="0"/>
              </a:rPr>
              <a:t>Why Z-score is </a:t>
            </a:r>
            <a:r>
              <a:rPr lang="en-US" sz="2400" b="1" dirty="0">
                <a:latin typeface="Arial" panose="020B0604020202020204" pitchFamily="34" charset="0"/>
                <a:cs typeface="Arial" panose="020B0604020202020204" pitchFamily="34" charset="0"/>
              </a:rPr>
              <a:t>n</a:t>
            </a:r>
            <a:r>
              <a:rPr lang="en-US" sz="2400" b="1" dirty="0" smtClean="0">
                <a:latin typeface="Arial" panose="020B0604020202020204" pitchFamily="34" charset="0"/>
                <a:cs typeface="Arial" panose="020B0604020202020204" pitchFamily="34" charset="0"/>
              </a:rPr>
              <a:t>ecessary</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588451" y="591671"/>
            <a:ext cx="10831132" cy="5903258"/>
          </a:xfrm>
        </p:spPr>
        <p:txBody>
          <a:bodyPr>
            <a:noAutofit/>
          </a:bodyPr>
          <a:lstStyle/>
          <a:p>
            <a:pPr marL="342900" indent="-342900" algn="just">
              <a:lnSpc>
                <a:spcPct val="150000"/>
              </a:lnSpc>
              <a:buFont typeface="Arial" panose="020B0604020202020204" pitchFamily="34" charset="0"/>
              <a:buChar char="•"/>
            </a:pPr>
            <a:r>
              <a:rPr lang="en-US" sz="1900" b="1" dirty="0" smtClean="0">
                <a:latin typeface="Arial" panose="020B0604020202020204" pitchFamily="34" charset="0"/>
                <a:cs typeface="Arial" panose="020B0604020202020204" pitchFamily="34" charset="0"/>
              </a:rPr>
              <a:t>The </a:t>
            </a:r>
            <a:r>
              <a:rPr lang="en-US" sz="1900" b="1" dirty="0">
                <a:latin typeface="Arial" panose="020B0604020202020204" pitchFamily="34" charset="0"/>
                <a:cs typeface="Arial" panose="020B0604020202020204" pitchFamily="34" charset="0"/>
              </a:rPr>
              <a:t>Problem: </a:t>
            </a:r>
            <a:r>
              <a:rPr lang="en-US" sz="1900" dirty="0">
                <a:latin typeface="Arial" panose="020B0604020202020204" pitchFamily="34" charset="0"/>
                <a:cs typeface="Arial" panose="020B0604020202020204" pitchFamily="34" charset="0"/>
              </a:rPr>
              <a:t>Comparing Apples and </a:t>
            </a:r>
            <a:r>
              <a:rPr lang="en-US" sz="1900" dirty="0" smtClean="0">
                <a:latin typeface="Arial" panose="020B0604020202020204" pitchFamily="34" charset="0"/>
                <a:cs typeface="Arial" panose="020B0604020202020204" pitchFamily="34" charset="0"/>
              </a:rPr>
              <a:t>Oranges</a:t>
            </a:r>
          </a:p>
          <a:p>
            <a:pPr marL="800100" lvl="1" indent="-342900" algn="just">
              <a:lnSpc>
                <a:spcPct val="150000"/>
              </a:lnSpc>
              <a:buFont typeface="Wingdings" panose="05000000000000000000" pitchFamily="2" charset="2"/>
              <a:buChar char="ü"/>
            </a:pPr>
            <a:r>
              <a:rPr lang="en-US" sz="1900" dirty="0" smtClean="0">
                <a:latin typeface="Arial" panose="020B0604020202020204" pitchFamily="34" charset="0"/>
                <a:cs typeface="Arial" panose="020B0604020202020204" pitchFamily="34" charset="0"/>
              </a:rPr>
              <a:t>Suppose </a:t>
            </a:r>
            <a:r>
              <a:rPr lang="en-US" sz="1900" dirty="0">
                <a:latin typeface="Arial" panose="020B0604020202020204" pitchFamily="34" charset="0"/>
                <a:cs typeface="Arial" panose="020B0604020202020204" pitchFamily="34" charset="0"/>
              </a:rPr>
              <a:t>in one </a:t>
            </a:r>
            <a:r>
              <a:rPr lang="en-US" sz="1900" dirty="0" smtClean="0">
                <a:latin typeface="Arial" panose="020B0604020202020204" pitchFamily="34" charset="0"/>
                <a:cs typeface="Arial" panose="020B0604020202020204" pitchFamily="34" charset="0"/>
              </a:rPr>
              <a:t>department (A) , </a:t>
            </a:r>
            <a:r>
              <a:rPr lang="en-US" sz="1900" dirty="0">
                <a:latin typeface="Arial" panose="020B0604020202020204" pitchFamily="34" charset="0"/>
                <a:cs typeface="Arial" panose="020B0604020202020204" pitchFamily="34" charset="0"/>
              </a:rPr>
              <a:t>the average application processing time is 10 days with a </a:t>
            </a:r>
            <a:r>
              <a:rPr lang="en-US" sz="1900" dirty="0" smtClean="0">
                <a:latin typeface="Arial" panose="020B0604020202020204" pitchFamily="34" charset="0"/>
                <a:cs typeface="Arial" panose="020B0604020202020204" pitchFamily="34" charset="0"/>
              </a:rPr>
              <a:t>SD </a:t>
            </a:r>
            <a:r>
              <a:rPr lang="en-US" sz="1900" dirty="0">
                <a:latin typeface="Arial" panose="020B0604020202020204" pitchFamily="34" charset="0"/>
                <a:cs typeface="Arial" panose="020B0604020202020204" pitchFamily="34" charset="0"/>
              </a:rPr>
              <a:t>of 2 days. </a:t>
            </a:r>
            <a:endParaRPr lang="en-US" sz="1900" dirty="0" smtClean="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1900" dirty="0" smtClean="0">
                <a:latin typeface="Arial" panose="020B0604020202020204" pitchFamily="34" charset="0"/>
                <a:cs typeface="Arial" panose="020B0604020202020204" pitchFamily="34" charset="0"/>
              </a:rPr>
              <a:t>In another (B), </a:t>
            </a:r>
            <a:r>
              <a:rPr lang="en-US" sz="1900" dirty="0">
                <a:latin typeface="Arial" panose="020B0604020202020204" pitchFamily="34" charset="0"/>
                <a:cs typeface="Arial" panose="020B0604020202020204" pitchFamily="34" charset="0"/>
              </a:rPr>
              <a:t>the average is 30 days with a </a:t>
            </a:r>
            <a:r>
              <a:rPr lang="en-US" sz="1900" dirty="0" smtClean="0">
                <a:latin typeface="Arial" panose="020B0604020202020204" pitchFamily="34" charset="0"/>
                <a:cs typeface="Arial" panose="020B0604020202020204" pitchFamily="34" charset="0"/>
              </a:rPr>
              <a:t>SD </a:t>
            </a:r>
            <a:r>
              <a:rPr lang="en-US" sz="1900" dirty="0">
                <a:latin typeface="Arial" panose="020B0604020202020204" pitchFamily="34" charset="0"/>
                <a:cs typeface="Arial" panose="020B0604020202020204" pitchFamily="34" charset="0"/>
              </a:rPr>
              <a:t>of 5 days</a:t>
            </a:r>
            <a:r>
              <a:rPr lang="en-US" sz="1900" dirty="0" smtClean="0">
                <a:latin typeface="Arial" panose="020B0604020202020204" pitchFamily="34" charset="0"/>
                <a:cs typeface="Arial" panose="020B0604020202020204" pitchFamily="34" charset="0"/>
              </a:rPr>
              <a:t>.</a:t>
            </a:r>
          </a:p>
          <a:p>
            <a:pPr marL="800100" lvl="1" indent="-342900" algn="l">
              <a:lnSpc>
                <a:spcPct val="150000"/>
              </a:lnSpc>
              <a:buFont typeface="Wingdings" panose="05000000000000000000" pitchFamily="2" charset="2"/>
              <a:buChar char="ü"/>
            </a:pPr>
            <a:r>
              <a:rPr lang="en-US" sz="1900" dirty="0" smtClean="0">
                <a:latin typeface="Arial" panose="020B0604020202020204" pitchFamily="34" charset="0"/>
                <a:cs typeface="Arial" panose="020B0604020202020204" pitchFamily="34" charset="0"/>
              </a:rPr>
              <a:t>How </a:t>
            </a:r>
            <a:r>
              <a:rPr lang="en-US" sz="1900" dirty="0">
                <a:latin typeface="Arial" panose="020B0604020202020204" pitchFamily="34" charset="0"/>
                <a:cs typeface="Arial" panose="020B0604020202020204" pitchFamily="34" charset="0"/>
              </a:rPr>
              <a:t>do we compare whether a </a:t>
            </a:r>
            <a:r>
              <a:rPr lang="en-US" sz="1900" dirty="0" smtClean="0">
                <a:latin typeface="Arial" panose="020B0604020202020204" pitchFamily="34" charset="0"/>
                <a:cs typeface="Arial" panose="020B0604020202020204" pitchFamily="34" charset="0"/>
              </a:rPr>
              <a:t>13-day </a:t>
            </a:r>
            <a:r>
              <a:rPr lang="en-US" sz="1900" dirty="0">
                <a:latin typeface="Arial" panose="020B0604020202020204" pitchFamily="34" charset="0"/>
                <a:cs typeface="Arial" panose="020B0604020202020204" pitchFamily="34" charset="0"/>
              </a:rPr>
              <a:t>processing time in the first department is ‘faster’ or ‘slower’ compared to a 34-day processing time in the second </a:t>
            </a:r>
            <a:r>
              <a:rPr lang="en-US" sz="1900" dirty="0" smtClean="0">
                <a:latin typeface="Arial" panose="020B0604020202020204" pitchFamily="34" charset="0"/>
                <a:cs typeface="Arial" panose="020B0604020202020204" pitchFamily="34" charset="0"/>
              </a:rPr>
              <a:t>department?</a:t>
            </a:r>
          </a:p>
          <a:p>
            <a:pPr marL="800100" lvl="1" indent="-342900" algn="l">
              <a:lnSpc>
                <a:spcPct val="150000"/>
              </a:lnSpc>
              <a:buFont typeface="Wingdings" panose="05000000000000000000" pitchFamily="2" charset="2"/>
              <a:buChar char="ü"/>
            </a:pPr>
            <a:r>
              <a:rPr lang="en-US" sz="1900" dirty="0" smtClean="0">
                <a:latin typeface="Arial" panose="020B0604020202020204" pitchFamily="34" charset="0"/>
                <a:cs typeface="Arial" panose="020B0604020202020204" pitchFamily="34" charset="0"/>
              </a:rPr>
              <a:t>They’re </a:t>
            </a:r>
            <a:r>
              <a:rPr lang="en-US" sz="1900" dirty="0">
                <a:latin typeface="Arial" panose="020B0604020202020204" pitchFamily="34" charset="0"/>
                <a:cs typeface="Arial" panose="020B0604020202020204" pitchFamily="34" charset="0"/>
              </a:rPr>
              <a:t>on totally different scales</a:t>
            </a:r>
            <a:r>
              <a:rPr lang="en-US" sz="1900" dirty="0" smtClean="0">
                <a:latin typeface="Arial" panose="020B0604020202020204" pitchFamily="34" charset="0"/>
                <a:cs typeface="Arial" panose="020B0604020202020204" pitchFamily="34" charset="0"/>
              </a:rPr>
              <a:t>.</a:t>
            </a: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1900" b="1" dirty="0" smtClean="0">
                <a:latin typeface="Arial" panose="020B0604020202020204" pitchFamily="34" charset="0"/>
                <a:cs typeface="Arial" panose="020B0604020202020204" pitchFamily="34" charset="0"/>
              </a:rPr>
              <a:t>The </a:t>
            </a:r>
            <a:r>
              <a:rPr lang="en-US" sz="1900" b="1" dirty="0">
                <a:latin typeface="Arial" panose="020B0604020202020204" pitchFamily="34" charset="0"/>
                <a:cs typeface="Arial" panose="020B0604020202020204" pitchFamily="34" charset="0"/>
              </a:rPr>
              <a:t>Solution:</a:t>
            </a:r>
            <a:r>
              <a:rPr lang="en-US" sz="1900" dirty="0">
                <a:latin typeface="Arial" panose="020B0604020202020204" pitchFamily="34" charset="0"/>
                <a:cs typeface="Arial" panose="020B0604020202020204" pitchFamily="34" charset="0"/>
              </a:rPr>
              <a:t> Standardizing </a:t>
            </a:r>
            <a:r>
              <a:rPr lang="en-US" sz="1900" dirty="0" smtClean="0">
                <a:latin typeface="Arial" panose="020B0604020202020204" pitchFamily="34" charset="0"/>
                <a:cs typeface="Arial" panose="020B0604020202020204" pitchFamily="34" charset="0"/>
              </a:rPr>
              <a:t>(convert different </a:t>
            </a:r>
            <a:r>
              <a:rPr lang="en-US" sz="1900" dirty="0">
                <a:latin typeface="Arial" panose="020B0604020202020204" pitchFamily="34" charset="0"/>
                <a:cs typeface="Arial" panose="020B0604020202020204" pitchFamily="34" charset="0"/>
              </a:rPr>
              <a:t>scores to a common </a:t>
            </a:r>
            <a:r>
              <a:rPr lang="en-US" sz="1900" dirty="0" smtClean="0">
                <a:latin typeface="Arial" panose="020B0604020202020204" pitchFamily="34" charset="0"/>
                <a:cs typeface="Arial" panose="020B0604020202020204" pitchFamily="34" charset="0"/>
              </a:rPr>
              <a:t>scale) </a:t>
            </a:r>
            <a:r>
              <a:rPr lang="en-US" sz="1900" dirty="0">
                <a:latin typeface="Arial" panose="020B0604020202020204" pitchFamily="34" charset="0"/>
                <a:cs typeface="Arial" panose="020B0604020202020204" pitchFamily="34" charset="0"/>
              </a:rPr>
              <a:t>with </a:t>
            </a:r>
            <a:r>
              <a:rPr lang="en-US" sz="1900" dirty="0" smtClean="0">
                <a:latin typeface="Arial" panose="020B0604020202020204" pitchFamily="34" charset="0"/>
                <a:cs typeface="Arial" panose="020B0604020202020204" pitchFamily="34" charset="0"/>
              </a:rPr>
              <a:t>Z-scores</a:t>
            </a:r>
          </a:p>
          <a:p>
            <a:pPr marL="800100" lvl="1" indent="-342900" algn="just">
              <a:lnSpc>
                <a:spcPct val="150000"/>
              </a:lnSpc>
              <a:buFont typeface="Wingdings" panose="05000000000000000000" pitchFamily="2" charset="2"/>
              <a:buChar char="ü"/>
            </a:pPr>
            <a:r>
              <a:rPr lang="en-US" sz="1900" dirty="0" smtClean="0">
                <a:latin typeface="Arial" panose="020B0604020202020204" pitchFamily="34" charset="0"/>
                <a:cs typeface="Arial" panose="020B0604020202020204" pitchFamily="34" charset="0"/>
              </a:rPr>
              <a:t>We </a:t>
            </a:r>
            <a:r>
              <a:rPr lang="en-US" sz="1900" dirty="0">
                <a:latin typeface="Arial" panose="020B0604020202020204" pitchFamily="34" charset="0"/>
                <a:cs typeface="Arial" panose="020B0604020202020204" pitchFamily="34" charset="0"/>
              </a:rPr>
              <a:t>use a </a:t>
            </a:r>
            <a:r>
              <a:rPr lang="en-US" sz="1900" dirty="0" smtClean="0">
                <a:latin typeface="Arial" panose="020B0604020202020204" pitchFamily="34" charset="0"/>
                <a:cs typeface="Arial" panose="020B0604020202020204" pitchFamily="34" charset="0"/>
              </a:rPr>
              <a:t>formula to compute the score: Z = (your value - mean)/SD</a:t>
            </a:r>
          </a:p>
          <a:p>
            <a:pPr marL="800100" lvl="1" indent="-342900" algn="just">
              <a:lnSpc>
                <a:spcPct val="150000"/>
              </a:lnSpc>
              <a:buFont typeface="Wingdings" panose="05000000000000000000" pitchFamily="2" charset="2"/>
              <a:buChar char="ü"/>
            </a:pPr>
            <a:r>
              <a:rPr lang="en-US" sz="1900" dirty="0" smtClean="0">
                <a:latin typeface="Arial" panose="020B0604020202020204" pitchFamily="34" charset="0"/>
                <a:cs typeface="Arial" panose="020B0604020202020204" pitchFamily="34" charset="0"/>
              </a:rPr>
              <a:t>Once </a:t>
            </a:r>
            <a:r>
              <a:rPr lang="en-US" sz="1900" dirty="0">
                <a:latin typeface="Arial" panose="020B0604020202020204" pitchFamily="34" charset="0"/>
                <a:cs typeface="Arial" panose="020B0604020202020204" pitchFamily="34" charset="0"/>
              </a:rPr>
              <a:t>everything is on the same scale, we can compare across different </a:t>
            </a:r>
            <a:r>
              <a:rPr lang="en-US" sz="1900" dirty="0" smtClean="0">
                <a:latin typeface="Arial" panose="020B0604020202020204" pitchFamily="34" charset="0"/>
                <a:cs typeface="Arial" panose="020B0604020202020204" pitchFamily="34" charset="0"/>
              </a:rPr>
              <a:t>situations</a:t>
            </a:r>
          </a:p>
          <a:p>
            <a:pPr marL="800100" lvl="1" indent="-342900" algn="just">
              <a:lnSpc>
                <a:spcPct val="150000"/>
              </a:lnSpc>
              <a:buFont typeface="Wingdings" panose="05000000000000000000" pitchFamily="2" charset="2"/>
              <a:buChar char="ü"/>
            </a:pPr>
            <a:r>
              <a:rPr lang="en-US" sz="1900" dirty="0" smtClean="0">
                <a:latin typeface="Arial" panose="020B0604020202020204" pitchFamily="34" charset="0"/>
                <a:cs typeface="Arial" panose="020B0604020202020204" pitchFamily="34" charset="0"/>
              </a:rPr>
              <a:t>A</a:t>
            </a:r>
            <a:r>
              <a:rPr lang="en-US" sz="1900" dirty="0">
                <a:latin typeface="Arial" panose="020B0604020202020204" pitchFamily="34" charset="0"/>
                <a:cs typeface="Arial" panose="020B0604020202020204" pitchFamily="34" charset="0"/>
              </a:rPr>
              <a:t>: </a:t>
            </a:r>
            <a:r>
              <a:rPr lang="en-US" sz="1900" dirty="0" smtClean="0">
                <a:latin typeface="Arial" panose="020B0604020202020204" pitchFamily="34" charset="0"/>
                <a:cs typeface="Arial" panose="020B0604020202020204" pitchFamily="34" charset="0"/>
              </a:rPr>
              <a:t> z = 1.5 (proportion below 1.5 is 0.933)</a:t>
            </a:r>
            <a:endParaRPr lang="en-US" sz="19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1900" dirty="0">
                <a:latin typeface="Arial" panose="020B0604020202020204" pitchFamily="34" charset="0"/>
                <a:cs typeface="Arial" panose="020B0604020202020204" pitchFamily="34" charset="0"/>
              </a:rPr>
              <a:t>B: z = </a:t>
            </a:r>
            <a:r>
              <a:rPr lang="en-US" sz="1900" dirty="0" smtClean="0">
                <a:latin typeface="Arial" panose="020B0604020202020204" pitchFamily="34" charset="0"/>
                <a:cs typeface="Arial" panose="020B0604020202020204" pitchFamily="34" charset="0"/>
              </a:rPr>
              <a:t>0.8 </a:t>
            </a:r>
            <a:r>
              <a:rPr lang="en-US" sz="1900" dirty="0">
                <a:latin typeface="Arial" panose="020B0604020202020204" pitchFamily="34" charset="0"/>
                <a:cs typeface="Arial" panose="020B0604020202020204" pitchFamily="34" charset="0"/>
              </a:rPr>
              <a:t>(proportion below </a:t>
            </a:r>
            <a:r>
              <a:rPr lang="en-US" sz="1900" dirty="0" smtClean="0">
                <a:latin typeface="Arial" panose="020B0604020202020204" pitchFamily="34" charset="0"/>
                <a:cs typeface="Arial" panose="020B0604020202020204" pitchFamily="34" charset="0"/>
              </a:rPr>
              <a:t>0.8 </a:t>
            </a:r>
            <a:r>
              <a:rPr lang="en-US" sz="1900" dirty="0">
                <a:latin typeface="Arial" panose="020B0604020202020204" pitchFamily="34" charset="0"/>
                <a:cs typeface="Arial" panose="020B0604020202020204" pitchFamily="34" charset="0"/>
              </a:rPr>
              <a:t>is </a:t>
            </a:r>
            <a:r>
              <a:rPr lang="en-US" sz="1900" dirty="0" smtClean="0">
                <a:latin typeface="Arial" panose="020B0604020202020204" pitchFamily="34" charset="0"/>
                <a:cs typeface="Arial" panose="020B0604020202020204" pitchFamily="34" charset="0"/>
              </a:rPr>
              <a:t>0.788)</a:t>
            </a:r>
            <a:endParaRPr lang="en-US"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56288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Relative Measures of Dispersion </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819045"/>
              </a:xfrm>
            </p:spPr>
            <p:txBody>
              <a:bodyPr>
                <a:noAutofit/>
              </a:bodyPr>
              <a:lstStyle/>
              <a:p>
                <a:pPr marL="342900" indent="-342900" algn="just">
                  <a:lnSpc>
                    <a:spcPct val="150000"/>
                  </a:lnSpc>
                  <a:buFont typeface="Arial" panose="020B0604020202020204" pitchFamily="34" charset="0"/>
                  <a:buChar char="•"/>
                </a:pPr>
                <a:r>
                  <a:rPr lang="en-US" sz="2100" dirty="0" smtClean="0">
                    <a:latin typeface="Arial" panose="020B0604020202020204" pitchFamily="34" charset="0"/>
                    <a:cs typeface="Arial" panose="020B0604020202020204" pitchFamily="34" charset="0"/>
                  </a:rPr>
                  <a:t>All </a:t>
                </a:r>
                <a:r>
                  <a:rPr lang="en-US" sz="2100" dirty="0">
                    <a:latin typeface="Arial" panose="020B0604020202020204" pitchFamily="34" charset="0"/>
                    <a:cs typeface="Arial" panose="020B0604020202020204" pitchFamily="34" charset="0"/>
                  </a:rPr>
                  <a:t>relative measures of dispersion are computed using the absolute measures along with the measures of central tendency/location. Relative measures are usually expressed as percentage. We will discuss only one measure based on mean and standard </a:t>
                </a:r>
                <a:r>
                  <a:rPr lang="en-US" sz="2100" dirty="0" smtClean="0">
                    <a:latin typeface="Arial" panose="020B0604020202020204" pitchFamily="34" charset="0"/>
                    <a:cs typeface="Arial" panose="020B0604020202020204" pitchFamily="34" charset="0"/>
                  </a:rPr>
                  <a:t>deviation.</a:t>
                </a:r>
              </a:p>
              <a:p>
                <a:pPr marL="342900" indent="-342900" algn="just">
                  <a:lnSpc>
                    <a:spcPct val="150000"/>
                  </a:lnSpc>
                  <a:buFont typeface="Arial" panose="020B0604020202020204" pitchFamily="34" charset="0"/>
                  <a:buChar char="•"/>
                </a:pPr>
                <a:r>
                  <a:rPr lang="en-US" sz="2100" b="1" dirty="0" smtClean="0">
                    <a:latin typeface="Arial" panose="020B0604020202020204" pitchFamily="34" charset="0"/>
                    <a:cs typeface="Arial" panose="020B0604020202020204" pitchFamily="34" charset="0"/>
                  </a:rPr>
                  <a:t>Coefficient </a:t>
                </a:r>
                <a:r>
                  <a:rPr lang="en-US" sz="2100" b="1" dirty="0">
                    <a:latin typeface="Arial" panose="020B0604020202020204" pitchFamily="34" charset="0"/>
                    <a:cs typeface="Arial" panose="020B0604020202020204" pitchFamily="34" charset="0"/>
                  </a:rPr>
                  <a:t>of </a:t>
                </a:r>
                <a:r>
                  <a:rPr lang="en-US" sz="2100" b="1" dirty="0" smtClean="0">
                    <a:latin typeface="Arial" panose="020B0604020202020204" pitchFamily="34" charset="0"/>
                    <a:cs typeface="Arial" panose="020B0604020202020204" pitchFamily="34" charset="0"/>
                  </a:rPr>
                  <a:t>Range: </a:t>
                </a:r>
                <a:r>
                  <a:rPr lang="en-US" sz="2100" dirty="0" smtClean="0">
                    <a:latin typeface="Arial" panose="020B0604020202020204" pitchFamily="34" charset="0"/>
                    <a:cs typeface="Arial" panose="020B0604020202020204" pitchFamily="34" charset="0"/>
                  </a:rPr>
                  <a:t>Let </a:t>
                </a:r>
                <a14:m>
                  <m:oMath xmlns:m="http://schemas.openxmlformats.org/officeDocument/2006/math">
                    <m:r>
                      <a:rPr lang="en-US" sz="2100" b="0" i="1" smtClean="0">
                        <a:latin typeface="Cambria Math" panose="02040503050406030204" pitchFamily="18" charset="0"/>
                        <a:cs typeface="Arial" panose="020B0604020202020204" pitchFamily="34" charset="0"/>
                      </a:rPr>
                      <m:t>𝑆</m:t>
                    </m:r>
                  </m:oMath>
                </a14:m>
                <a:r>
                  <a:rPr lang="en-US" sz="2100" dirty="0" smtClean="0">
                    <a:latin typeface="Arial" panose="020B0604020202020204" pitchFamily="34" charset="0"/>
                    <a:cs typeface="Arial" panose="020B0604020202020204" pitchFamily="34" charset="0"/>
                  </a:rPr>
                  <a:t> be the smallest value and </a:t>
                </a:r>
                <a14:m>
                  <m:oMath xmlns:m="http://schemas.openxmlformats.org/officeDocument/2006/math">
                    <m:r>
                      <a:rPr lang="en-US" sz="2100" b="0" i="1" smtClean="0">
                        <a:latin typeface="Cambria Math" panose="02040503050406030204" pitchFamily="18" charset="0"/>
                        <a:cs typeface="Arial" panose="020B0604020202020204" pitchFamily="34" charset="0"/>
                      </a:rPr>
                      <m:t>𝐿</m:t>
                    </m:r>
                  </m:oMath>
                </a14:m>
                <a:r>
                  <a:rPr lang="en-US" sz="2100" dirty="0" smtClean="0">
                    <a:latin typeface="Arial" panose="020B0604020202020204" pitchFamily="34" charset="0"/>
                    <a:cs typeface="Arial" panose="020B0604020202020204" pitchFamily="34" charset="0"/>
                  </a:rPr>
                  <a:t> be the largest value. The </a:t>
                </a:r>
                <a:r>
                  <a:rPr lang="en-US" sz="2100" dirty="0">
                    <a:latin typeface="Arial" panose="020B0604020202020204" pitchFamily="34" charset="0"/>
                    <a:cs typeface="Arial" panose="020B0604020202020204" pitchFamily="34" charset="0"/>
                  </a:rPr>
                  <a:t>coefficient of </a:t>
                </a:r>
                <a:r>
                  <a:rPr lang="en-US" sz="2100" dirty="0" smtClean="0">
                    <a:latin typeface="Arial" panose="020B0604020202020204" pitchFamily="34" charset="0"/>
                    <a:cs typeface="Arial" panose="020B0604020202020204" pitchFamily="34" charset="0"/>
                  </a:rPr>
                  <a:t>range (</a:t>
                </a:r>
                <a14:m>
                  <m:oMath xmlns:m="http://schemas.openxmlformats.org/officeDocument/2006/math">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𝐶</m:t>
                        </m:r>
                      </m:e>
                      <m:sub>
                        <m:r>
                          <a:rPr lang="en-US" sz="2100" b="0" i="1" smtClean="0">
                            <a:latin typeface="Cambria Math" panose="02040503050406030204" pitchFamily="18" charset="0"/>
                          </a:rPr>
                          <m:t>𝑅</m:t>
                        </m:r>
                      </m:sub>
                    </m:sSub>
                  </m:oMath>
                </a14:m>
                <a:r>
                  <a:rPr lang="en-US" sz="2100" dirty="0" smtClean="0">
                    <a:latin typeface="Arial" panose="020B0604020202020204" pitchFamily="34" charset="0"/>
                    <a:cs typeface="Arial" panose="020B0604020202020204" pitchFamily="34" charset="0"/>
                  </a:rPr>
                  <a:t>) </a:t>
                </a:r>
                <a:r>
                  <a:rPr lang="en-US" sz="2100" dirty="0">
                    <a:latin typeface="Arial" panose="020B0604020202020204" pitchFamily="34" charset="0"/>
                    <a:cs typeface="Arial" panose="020B0604020202020204" pitchFamily="34" charset="0"/>
                  </a:rPr>
                  <a:t>is computed </a:t>
                </a:r>
                <a:r>
                  <a:rPr lang="en-US" sz="2100" dirty="0" smtClean="0">
                    <a:latin typeface="Arial" panose="020B0604020202020204" pitchFamily="34" charset="0"/>
                    <a:cs typeface="Arial" panose="020B0604020202020204" pitchFamily="34" charset="0"/>
                  </a:rPr>
                  <a:t>by the following formula</a:t>
                </a:r>
                <a:endParaRPr lang="en-US" sz="2100" dirty="0">
                  <a:latin typeface="Arial" panose="020B0604020202020204" pitchFamily="34" charset="0"/>
                  <a:cs typeface="Arial" panose="020B0604020202020204" pitchFamily="34" charset="0"/>
                </a:endParaRPr>
              </a:p>
              <a:p>
                <a:pPr>
                  <a:lnSpc>
                    <a:spcPct val="150000"/>
                  </a:lnSpc>
                </a:pPr>
                <a14:m>
                  <m:oMath xmlns:m="http://schemas.openxmlformats.org/officeDocument/2006/math">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𝐶</m:t>
                        </m:r>
                      </m:e>
                      <m:sub>
                        <m:r>
                          <a:rPr lang="en-US" sz="2100" b="0" i="1" smtClean="0">
                            <a:latin typeface="Cambria Math" panose="02040503050406030204" pitchFamily="18" charset="0"/>
                          </a:rPr>
                          <m:t>𝑅</m:t>
                        </m:r>
                      </m:sub>
                    </m:sSub>
                    <m:r>
                      <a:rPr lang="en-US" sz="2100" i="1">
                        <a:latin typeface="Cambria Math" panose="02040503050406030204" pitchFamily="18" charset="0"/>
                      </a:rPr>
                      <m:t>=</m:t>
                    </m:r>
                    <m:f>
                      <m:fPr>
                        <m:ctrlPr>
                          <a:rPr lang="en-US" sz="2100" i="1">
                            <a:latin typeface="Cambria Math" panose="02040503050406030204" pitchFamily="18" charset="0"/>
                          </a:rPr>
                        </m:ctrlPr>
                      </m:fPr>
                      <m:num>
                        <m:r>
                          <a:rPr lang="en-US" sz="2100" b="0" i="1" smtClean="0">
                            <a:latin typeface="Cambria Math" panose="02040503050406030204" pitchFamily="18" charset="0"/>
                          </a:rPr>
                          <m:t>𝐿</m:t>
                        </m:r>
                        <m:r>
                          <a:rPr lang="en-US" sz="2100" b="0" i="1" smtClean="0">
                            <a:latin typeface="Cambria Math" panose="02040503050406030204" pitchFamily="18" charset="0"/>
                          </a:rPr>
                          <m:t>−</m:t>
                        </m:r>
                        <m:r>
                          <a:rPr lang="en-US" sz="2100" b="0" i="1" smtClean="0">
                            <a:latin typeface="Cambria Math" panose="02040503050406030204" pitchFamily="18" charset="0"/>
                          </a:rPr>
                          <m:t>𝑆</m:t>
                        </m:r>
                      </m:num>
                      <m:den>
                        <m:r>
                          <a:rPr lang="en-US" sz="2100" b="0" i="1" smtClean="0">
                            <a:latin typeface="Cambria Math" panose="02040503050406030204" pitchFamily="18" charset="0"/>
                          </a:rPr>
                          <m:t>𝐿</m:t>
                        </m:r>
                        <m:r>
                          <a:rPr lang="en-US" sz="2100" b="0" i="1" smtClean="0">
                            <a:latin typeface="Cambria Math" panose="02040503050406030204" pitchFamily="18" charset="0"/>
                          </a:rPr>
                          <m:t>+</m:t>
                        </m:r>
                        <m:r>
                          <a:rPr lang="en-US" sz="2100" b="0" i="1" smtClean="0">
                            <a:latin typeface="Cambria Math" panose="02040503050406030204" pitchFamily="18" charset="0"/>
                          </a:rPr>
                          <m:t>𝑆</m:t>
                        </m:r>
                      </m:den>
                    </m:f>
                    <m:r>
                      <a:rPr lang="en-US" sz="2100" i="1">
                        <a:latin typeface="Cambria Math" panose="02040503050406030204" pitchFamily="18" charset="0"/>
                      </a:rPr>
                      <m:t>×100</m:t>
                    </m:r>
                  </m:oMath>
                </a14:m>
                <a:r>
                  <a:rPr lang="en-US" sz="2100" dirty="0">
                    <a:latin typeface="Arial" panose="020B0604020202020204" pitchFamily="34" charset="0"/>
                    <a:cs typeface="Arial" panose="020B0604020202020204" pitchFamily="34" charset="0"/>
                  </a:rPr>
                  <a:t> </a:t>
                </a:r>
              </a:p>
              <a:p>
                <a:pPr marL="342900" indent="-342900" algn="just">
                  <a:lnSpc>
                    <a:spcPct val="150000"/>
                  </a:lnSpc>
                  <a:buFont typeface="Arial" panose="020B0604020202020204" pitchFamily="34" charset="0"/>
                  <a:buChar char="•"/>
                </a:pPr>
                <a:r>
                  <a:rPr lang="en-US" sz="2100" b="1" dirty="0">
                    <a:latin typeface="Arial" panose="020B0604020202020204" pitchFamily="34" charset="0"/>
                    <a:cs typeface="Arial" panose="020B0604020202020204" pitchFamily="34" charset="0"/>
                  </a:rPr>
                  <a:t>Coefficient </a:t>
                </a:r>
                <a:r>
                  <a:rPr lang="en-US" sz="2100" b="1" dirty="0" smtClean="0">
                    <a:latin typeface="Arial" panose="020B0604020202020204" pitchFamily="34" charset="0"/>
                    <a:cs typeface="Arial" panose="020B0604020202020204" pitchFamily="34" charset="0"/>
                  </a:rPr>
                  <a:t>of </a:t>
                </a:r>
                <a:r>
                  <a:rPr lang="en-US" sz="2100" b="1" dirty="0">
                    <a:latin typeface="Arial" panose="020B0604020202020204" pitchFamily="34" charset="0"/>
                    <a:cs typeface="Arial" panose="020B0604020202020204" pitchFamily="34" charset="0"/>
                  </a:rPr>
                  <a:t>M</a:t>
                </a:r>
                <a:r>
                  <a:rPr lang="en-US" sz="2100" b="1" dirty="0" smtClean="0">
                    <a:latin typeface="Arial" panose="020B0604020202020204" pitchFamily="34" charset="0"/>
                    <a:cs typeface="Arial" panose="020B0604020202020204" pitchFamily="34" charset="0"/>
                  </a:rPr>
                  <a:t>ean Deviation: </a:t>
                </a:r>
                <a:r>
                  <a:rPr lang="en-US" sz="2100" dirty="0">
                    <a:latin typeface="Arial" panose="020B0604020202020204" pitchFamily="34" charset="0"/>
                    <a:cs typeface="Arial" panose="020B0604020202020204" pitchFamily="34" charset="0"/>
                  </a:rPr>
                  <a:t>The coefficient of </a:t>
                </a:r>
                <a:r>
                  <a:rPr lang="en-US" sz="2100" dirty="0" smtClean="0">
                    <a:latin typeface="Arial" panose="020B0604020202020204" pitchFamily="34" charset="0"/>
                    <a:cs typeface="Arial" panose="020B0604020202020204" pitchFamily="34" charset="0"/>
                  </a:rPr>
                  <a:t>mean deviation (</a:t>
                </a:r>
                <a14:m>
                  <m:oMath xmlns:m="http://schemas.openxmlformats.org/officeDocument/2006/math">
                    <m:sSub>
                      <m:sSubPr>
                        <m:ctrlPr>
                          <a:rPr lang="en-US" sz="2100" b="0" i="1" smtClean="0">
                            <a:latin typeface="Cambria Math" panose="02040503050406030204" pitchFamily="18" charset="0"/>
                            <a:cs typeface="Arial" panose="020B0604020202020204" pitchFamily="34" charset="0"/>
                          </a:rPr>
                        </m:ctrlPr>
                      </m:sSubPr>
                      <m:e>
                        <m:r>
                          <a:rPr lang="en-US" sz="2100" b="0" i="1" smtClean="0">
                            <a:latin typeface="Cambria Math" panose="02040503050406030204" pitchFamily="18" charset="0"/>
                            <a:cs typeface="Arial" panose="020B0604020202020204" pitchFamily="34" charset="0"/>
                          </a:rPr>
                          <m:t>𝐶</m:t>
                        </m:r>
                      </m:e>
                      <m:sub>
                        <m:r>
                          <a:rPr lang="en-US" sz="2100" b="0" i="1" smtClean="0">
                            <a:latin typeface="Cambria Math" panose="02040503050406030204" pitchFamily="18" charset="0"/>
                            <a:cs typeface="Arial" panose="020B0604020202020204" pitchFamily="34" charset="0"/>
                          </a:rPr>
                          <m:t>𝑀𝐷</m:t>
                        </m:r>
                      </m:sub>
                    </m:sSub>
                  </m:oMath>
                </a14:m>
                <a:r>
                  <a:rPr lang="en-US" sz="2100" dirty="0" smtClean="0">
                    <a:latin typeface="Arial" panose="020B0604020202020204" pitchFamily="34" charset="0"/>
                    <a:cs typeface="Arial" panose="020B0604020202020204" pitchFamily="34" charset="0"/>
                  </a:rPr>
                  <a:t>) </a:t>
                </a:r>
                <a:r>
                  <a:rPr lang="en-US" sz="2100" dirty="0">
                    <a:latin typeface="Arial" panose="020B0604020202020204" pitchFamily="34" charset="0"/>
                    <a:cs typeface="Arial" panose="020B0604020202020204" pitchFamily="34" charset="0"/>
                  </a:rPr>
                  <a:t>is computed is computed by the following formula</a:t>
                </a:r>
              </a:p>
              <a:p>
                <a:pPr>
                  <a:lnSpc>
                    <a:spcPct val="150000"/>
                  </a:lnSpc>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cs typeface="Arial" panose="020B0604020202020204" pitchFamily="34" charset="0"/>
                            </a:rPr>
                          </m:ctrlPr>
                        </m:sSubPr>
                        <m:e>
                          <m:r>
                            <a:rPr lang="en-US" sz="2100" i="1">
                              <a:latin typeface="Cambria Math" panose="02040503050406030204" pitchFamily="18" charset="0"/>
                              <a:cs typeface="Arial" panose="020B0604020202020204" pitchFamily="34" charset="0"/>
                            </a:rPr>
                            <m:t>𝐶</m:t>
                          </m:r>
                        </m:e>
                        <m:sub>
                          <m:r>
                            <a:rPr lang="en-US" sz="2100" i="1">
                              <a:latin typeface="Cambria Math" panose="02040503050406030204" pitchFamily="18" charset="0"/>
                              <a:cs typeface="Arial" panose="020B0604020202020204" pitchFamily="34" charset="0"/>
                            </a:rPr>
                            <m:t>𝑀𝐷</m:t>
                          </m:r>
                        </m:sub>
                      </m:sSub>
                      <m:r>
                        <a:rPr lang="en-US" sz="2100" i="1">
                          <a:latin typeface="Cambria Math" panose="02040503050406030204" pitchFamily="18" charset="0"/>
                        </a:rPr>
                        <m:t>=</m:t>
                      </m:r>
                      <m:f>
                        <m:fPr>
                          <m:ctrlPr>
                            <a:rPr lang="en-US" sz="2100" i="1">
                              <a:latin typeface="Cambria Math" panose="02040503050406030204" pitchFamily="18" charset="0"/>
                            </a:rPr>
                          </m:ctrlPr>
                        </m:fPr>
                        <m:num>
                          <m:r>
                            <a:rPr lang="en-US" sz="2100" b="0" i="1" smtClean="0">
                              <a:latin typeface="Cambria Math" panose="02040503050406030204" pitchFamily="18" charset="0"/>
                            </a:rPr>
                            <m:t>𝑚𝑒𝑎𝑛</m:t>
                          </m:r>
                          <m:r>
                            <a:rPr lang="en-US" sz="2100" i="1">
                              <a:latin typeface="Cambria Math" panose="02040503050406030204" pitchFamily="18" charset="0"/>
                            </a:rPr>
                            <m:t> </m:t>
                          </m:r>
                          <m:r>
                            <a:rPr lang="en-US" sz="2100" i="1">
                              <a:latin typeface="Cambria Math" panose="02040503050406030204" pitchFamily="18" charset="0"/>
                            </a:rPr>
                            <m:t>𝑑𝑒𝑣𝑖𝑎𝑡𝑖𝑜𝑛</m:t>
                          </m:r>
                        </m:num>
                        <m:den>
                          <m:r>
                            <a:rPr lang="en-US" sz="2100" i="1">
                              <a:latin typeface="Cambria Math" panose="02040503050406030204" pitchFamily="18" charset="0"/>
                            </a:rPr>
                            <m:t>𝑚𝑒𝑎𝑛</m:t>
                          </m:r>
                        </m:den>
                      </m:f>
                      <m:r>
                        <a:rPr lang="en-US" sz="2100" i="1">
                          <a:latin typeface="Cambria Math" panose="02040503050406030204" pitchFamily="18" charset="0"/>
                        </a:rPr>
                        <m:t>×100</m:t>
                      </m:r>
                    </m:oMath>
                  </m:oMathPara>
                </a14:m>
                <a:endParaRPr lang="en-US" sz="21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819045"/>
              </a:xfrm>
              <a:blipFill rotWithShape="0">
                <a:blip r:embed="rId2"/>
                <a:stretch>
                  <a:fillRect l="-563" r="-675"/>
                </a:stretch>
              </a:blipFill>
            </p:spPr>
            <p:txBody>
              <a:bodyPr/>
              <a:lstStyle/>
              <a:p>
                <a:r>
                  <a:rPr lang="en-US">
                    <a:noFill/>
                  </a:rPr>
                  <a:t> </a:t>
                </a:r>
              </a:p>
            </p:txBody>
          </p:sp>
        </mc:Fallback>
      </mc:AlternateContent>
    </p:spTree>
    <p:extLst>
      <p:ext uri="{BB962C8B-B14F-4D97-AF65-F5344CB8AC3E}">
        <p14:creationId xmlns:p14="http://schemas.microsoft.com/office/powerpoint/2010/main" val="7920649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Relative Measures of Dispersion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200" b="1" dirty="0" smtClean="0">
                    <a:latin typeface="Arial" panose="020B0604020202020204" pitchFamily="34" charset="0"/>
                    <a:cs typeface="Arial" panose="020B0604020202020204" pitchFamily="34" charset="0"/>
                  </a:rPr>
                  <a:t>Coefficient </a:t>
                </a:r>
                <a:r>
                  <a:rPr lang="en-US" sz="2200" b="1" dirty="0">
                    <a:latin typeface="Arial" panose="020B0604020202020204" pitchFamily="34" charset="0"/>
                    <a:cs typeface="Arial" panose="020B0604020202020204" pitchFamily="34" charset="0"/>
                  </a:rPr>
                  <a:t>of </a:t>
                </a:r>
                <a:r>
                  <a:rPr lang="en-US" sz="2200" b="1" dirty="0" smtClean="0">
                    <a:latin typeface="Arial" panose="020B0604020202020204" pitchFamily="34" charset="0"/>
                    <a:cs typeface="Arial" panose="020B0604020202020204" pitchFamily="34" charset="0"/>
                  </a:rPr>
                  <a:t>Quartile Deviation: </a:t>
                </a:r>
                <a:r>
                  <a:rPr lang="en-US" sz="2200" dirty="0" smtClean="0">
                    <a:latin typeface="Arial" panose="020B0604020202020204" pitchFamily="34" charset="0"/>
                    <a:cs typeface="Arial" panose="020B0604020202020204" pitchFamily="34" charset="0"/>
                  </a:rPr>
                  <a:t>The </a:t>
                </a:r>
                <a:r>
                  <a:rPr lang="en-US" sz="2200" dirty="0">
                    <a:latin typeface="Arial" panose="020B0604020202020204" pitchFamily="34" charset="0"/>
                    <a:cs typeface="Arial" panose="020B0604020202020204" pitchFamily="34" charset="0"/>
                  </a:rPr>
                  <a:t>coefficient of </a:t>
                </a:r>
                <a:r>
                  <a:rPr lang="en-US" sz="2200" dirty="0" smtClean="0">
                    <a:latin typeface="Arial" panose="020B0604020202020204" pitchFamily="34" charset="0"/>
                    <a:cs typeface="Arial" panose="020B0604020202020204" pitchFamily="34" charset="0"/>
                  </a:rPr>
                  <a:t>quartile deviation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𝑄𝐷</m:t>
                        </m:r>
                      </m:sub>
                    </m:sSub>
                  </m:oMath>
                </a14:m>
                <a:r>
                  <a:rPr lang="en-US" sz="2200" dirty="0" smtClean="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is computed </a:t>
                </a:r>
                <a:r>
                  <a:rPr lang="en-US" sz="2200" dirty="0" smtClean="0">
                    <a:latin typeface="Arial" panose="020B0604020202020204" pitchFamily="34" charset="0"/>
                    <a:cs typeface="Arial" panose="020B0604020202020204" pitchFamily="34" charset="0"/>
                  </a:rPr>
                  <a:t>by the following formula</a:t>
                </a:r>
                <a:endParaRPr lang="en-US" sz="2200" dirty="0">
                  <a:latin typeface="Arial" panose="020B0604020202020204" pitchFamily="34" charset="0"/>
                  <a:cs typeface="Arial" panose="020B0604020202020204" pitchFamily="34" charset="0"/>
                </a:endParaRPr>
              </a:p>
              <a:p>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𝑄𝐷</m:t>
                        </m:r>
                      </m:sub>
                    </m:sSub>
                    <m:r>
                      <a:rPr lang="en-US" sz="2200" i="1">
                        <a:latin typeface="Cambria Math" panose="02040503050406030204" pitchFamily="18" charset="0"/>
                      </a:rPr>
                      <m:t>=</m:t>
                    </m:r>
                    <m:f>
                      <m:fPr>
                        <m:ctrlPr>
                          <a:rPr lang="en-US" sz="2200" i="1">
                            <a:latin typeface="Cambria Math" panose="02040503050406030204" pitchFamily="18" charset="0"/>
                          </a:rPr>
                        </m:ctrlPr>
                      </m:fPr>
                      <m:num>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𝑄</m:t>
                            </m:r>
                          </m:e>
                          <m:sub>
                            <m:r>
                              <a:rPr lang="en-US" sz="2200" b="0" i="1" smtClean="0">
                                <a:latin typeface="Cambria Math" panose="02040503050406030204" pitchFamily="18" charset="0"/>
                              </a:rPr>
                              <m:t>3</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𝑄</m:t>
                            </m:r>
                          </m:e>
                          <m:sub>
                            <m:r>
                              <a:rPr lang="en-US" sz="2200" b="0" i="1" smtClean="0">
                                <a:latin typeface="Cambria Math" panose="02040503050406030204" pitchFamily="18" charset="0"/>
                              </a:rPr>
                              <m:t>1</m:t>
                            </m:r>
                          </m:sub>
                        </m:sSub>
                      </m:num>
                      <m:den>
                        <m:sSub>
                          <m:sSubPr>
                            <m:ctrlPr>
                              <a:rPr lang="en-US" sz="2200" i="1">
                                <a:latin typeface="Cambria Math" panose="02040503050406030204" pitchFamily="18" charset="0"/>
                              </a:rPr>
                            </m:ctrlPr>
                          </m:sSubPr>
                          <m:e>
                            <m:r>
                              <a:rPr lang="en-US" sz="2200" i="1">
                                <a:latin typeface="Cambria Math" panose="02040503050406030204" pitchFamily="18" charset="0"/>
                              </a:rPr>
                              <m:t>𝑄</m:t>
                            </m:r>
                          </m:e>
                          <m:sub>
                            <m:r>
                              <a:rPr lang="en-US" sz="2200" i="1">
                                <a:latin typeface="Cambria Math" panose="02040503050406030204" pitchFamily="18" charset="0"/>
                              </a:rPr>
                              <m:t>3</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𝑄</m:t>
                            </m:r>
                          </m:e>
                          <m:sub>
                            <m:r>
                              <a:rPr lang="en-US" sz="2200" i="1">
                                <a:latin typeface="Cambria Math" panose="02040503050406030204" pitchFamily="18" charset="0"/>
                              </a:rPr>
                              <m:t>1</m:t>
                            </m:r>
                          </m:sub>
                        </m:sSub>
                      </m:den>
                    </m:f>
                    <m:r>
                      <a:rPr lang="en-US" sz="2200" i="1">
                        <a:latin typeface="Cambria Math" panose="02040503050406030204" pitchFamily="18" charset="0"/>
                      </a:rPr>
                      <m:t>×100</m:t>
                    </m:r>
                  </m:oMath>
                </a14:m>
                <a:r>
                  <a:rPr lang="en-US" sz="2200" dirty="0">
                    <a:latin typeface="Arial" panose="020B0604020202020204" pitchFamily="34" charset="0"/>
                    <a:cs typeface="Arial" panose="020B0604020202020204" pitchFamily="34" charset="0"/>
                  </a:rPr>
                  <a:t> </a:t>
                </a:r>
              </a:p>
              <a:p>
                <a:pPr marL="342900" indent="-342900" algn="just">
                  <a:lnSpc>
                    <a:spcPct val="1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Coefficient of Variation (CV): </a:t>
                </a:r>
                <a:r>
                  <a:rPr lang="en-US" sz="2200" dirty="0">
                    <a:latin typeface="Arial" panose="020B0604020202020204" pitchFamily="34" charset="0"/>
                    <a:cs typeface="Arial" panose="020B0604020202020204" pitchFamily="34" charset="0"/>
                  </a:rPr>
                  <a:t>The coefficient of variation (CV) is computed as a ratio of the standard deviation of a dataset to the mean of the same dataset. That is</a:t>
                </a:r>
              </a:p>
              <a:p>
                <a:pPr>
                  <a:lnSpc>
                    <a:spcPct val="100000"/>
                  </a:lnSpc>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𝐶𝑉</m:t>
                      </m:r>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𝑠𝑡𝑎𝑛𝑑𝑎𝑟𝑑</m:t>
                          </m:r>
                          <m:r>
                            <a:rPr lang="en-US" sz="2200" i="1">
                              <a:latin typeface="Cambria Math" panose="02040503050406030204" pitchFamily="18" charset="0"/>
                            </a:rPr>
                            <m:t> </m:t>
                          </m:r>
                          <m:r>
                            <a:rPr lang="en-US" sz="2200" i="1">
                              <a:latin typeface="Cambria Math" panose="02040503050406030204" pitchFamily="18" charset="0"/>
                            </a:rPr>
                            <m:t>𝑑𝑒𝑣𝑖𝑎𝑡𝑖𝑜𝑛</m:t>
                          </m:r>
                        </m:num>
                        <m:den>
                          <m:r>
                            <a:rPr lang="en-US" sz="2200" i="1">
                              <a:latin typeface="Cambria Math" panose="02040503050406030204" pitchFamily="18" charset="0"/>
                            </a:rPr>
                            <m:t>𝑚𝑒𝑎𝑛</m:t>
                          </m:r>
                        </m:den>
                      </m:f>
                      <m:r>
                        <a:rPr lang="en-US" sz="2200" i="1">
                          <a:latin typeface="Cambria Math" panose="02040503050406030204" pitchFamily="18" charset="0"/>
                        </a:rPr>
                        <m:t>×100</m:t>
                      </m:r>
                    </m:oMath>
                  </m:oMathPara>
                </a14:m>
                <a:endParaRPr lang="en-US" sz="2200"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For the </a:t>
                </a:r>
                <a:r>
                  <a:rPr lang="en-US" sz="2200" dirty="0" smtClean="0">
                    <a:latin typeface="Arial" panose="020B0604020202020204" pitchFamily="34" charset="0"/>
                    <a:cs typeface="Arial" panose="020B0604020202020204" pitchFamily="34" charset="0"/>
                  </a:rPr>
                  <a:t>sampled data </a:t>
                </a:r>
                <a:r>
                  <a:rPr lang="en-US" sz="2200" dirty="0">
                    <a:latin typeface="Arial" panose="020B0604020202020204" pitchFamily="34" charset="0"/>
                    <a:cs typeface="Arial" panose="020B0604020202020204" pitchFamily="34" charset="0"/>
                  </a:rPr>
                  <a:t>of weights of </a:t>
                </a:r>
                <a:r>
                  <a:rPr lang="en-US" sz="2200" dirty="0" smtClean="0">
                    <a:latin typeface="Arial" panose="020B0604020202020204" pitchFamily="34" charset="0"/>
                    <a:cs typeface="Arial" panose="020B0604020202020204" pitchFamily="34" charset="0"/>
                  </a:rPr>
                  <a:t>containers, </a:t>
                </a:r>
                <a:r>
                  <a:rPr lang="en-US" sz="2200" dirty="0">
                    <a:latin typeface="Arial" panose="020B0604020202020204" pitchFamily="34" charset="0"/>
                    <a:cs typeface="Arial" panose="020B0604020202020204" pitchFamily="34" charset="0"/>
                  </a:rPr>
                  <a:t>mean is 103 and the standard deviation is 7.3. Therefore the CV is </a:t>
                </a:r>
                <a14:m>
                  <m:oMath xmlns:m="http://schemas.openxmlformats.org/officeDocument/2006/math">
                    <m:r>
                      <a:rPr lang="en-US" sz="2200" i="1">
                        <a:latin typeface="Cambria Math" panose="02040503050406030204" pitchFamily="18" charset="0"/>
                        <a:cs typeface="Arial" panose="020B0604020202020204" pitchFamily="34" charset="0"/>
                      </a:rPr>
                      <m:t>𝐶𝑉</m:t>
                    </m:r>
                    <m:r>
                      <a:rPr lang="en-US" sz="2200" i="1">
                        <a:latin typeface="Cambria Math" panose="02040503050406030204" pitchFamily="18" charset="0"/>
                        <a:cs typeface="Arial" panose="020B0604020202020204" pitchFamily="34" charset="0"/>
                      </a:rPr>
                      <m:t>=</m:t>
                    </m:r>
                    <m:f>
                      <m:fPr>
                        <m:ctrlPr>
                          <a:rPr lang="en-US" sz="2200" i="1">
                            <a:latin typeface="Cambria Math" panose="02040503050406030204" pitchFamily="18" charset="0"/>
                            <a:cs typeface="Arial" panose="020B0604020202020204" pitchFamily="34" charset="0"/>
                          </a:rPr>
                        </m:ctrlPr>
                      </m:fPr>
                      <m:num>
                        <m:r>
                          <a:rPr lang="en-US" sz="2200" i="1">
                            <a:latin typeface="Cambria Math" panose="02040503050406030204" pitchFamily="18" charset="0"/>
                            <a:cs typeface="Arial" panose="020B0604020202020204" pitchFamily="34" charset="0"/>
                          </a:rPr>
                          <m:t>7.3</m:t>
                        </m:r>
                      </m:num>
                      <m:den>
                        <m:r>
                          <a:rPr lang="en-US" sz="2200" i="1">
                            <a:latin typeface="Cambria Math" panose="02040503050406030204" pitchFamily="18" charset="0"/>
                            <a:cs typeface="Arial" panose="020B0604020202020204" pitchFamily="34" charset="0"/>
                          </a:rPr>
                          <m:t>103</m:t>
                        </m:r>
                      </m:den>
                    </m:f>
                    <m:r>
                      <a:rPr lang="en-US" sz="2200" i="1">
                        <a:latin typeface="Cambria Math" panose="02040503050406030204" pitchFamily="18" charset="0"/>
                        <a:cs typeface="Arial" panose="020B0604020202020204" pitchFamily="34" charset="0"/>
                      </a:rPr>
                      <m:t>×100%=7.09%</m:t>
                    </m:r>
                  </m:oMath>
                </a14:m>
                <a:endParaRPr lang="en-US" sz="2200"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The </a:t>
                </a:r>
                <a:r>
                  <a:rPr lang="en-US" sz="2200" b="1" i="1" dirty="0">
                    <a:latin typeface="Arial" panose="020B0604020202020204" pitchFamily="34" charset="0"/>
                    <a:cs typeface="Arial" panose="020B0604020202020204" pitchFamily="34" charset="0"/>
                  </a:rPr>
                  <a:t>coefficient of variation (CV) = 7.09%</a:t>
                </a:r>
                <a:r>
                  <a:rPr lang="en-US" sz="2200" dirty="0">
                    <a:latin typeface="Arial" panose="020B0604020202020204" pitchFamily="34" charset="0"/>
                    <a:cs typeface="Arial" panose="020B0604020202020204" pitchFamily="34" charset="0"/>
                  </a:rPr>
                  <a:t> means that the </a:t>
                </a:r>
                <a:r>
                  <a:rPr lang="en-US" sz="2200" b="1" i="1" dirty="0">
                    <a:latin typeface="Arial" panose="020B0604020202020204" pitchFamily="34" charset="0"/>
                    <a:cs typeface="Arial" panose="020B0604020202020204" pitchFamily="34" charset="0"/>
                  </a:rPr>
                  <a:t>standard deviation is 7.09% of the mean</a:t>
                </a:r>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weight.</a:t>
                </a:r>
                <a:endParaRPr lang="en-US" sz="22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675" r="-732"/>
                </a:stretch>
              </a:blipFill>
            </p:spPr>
            <p:txBody>
              <a:bodyPr/>
              <a:lstStyle/>
              <a:p>
                <a:r>
                  <a:rPr lang="en-US">
                    <a:noFill/>
                  </a:rPr>
                  <a:t> </a:t>
                </a:r>
              </a:p>
            </p:txBody>
          </p:sp>
        </mc:Fallback>
      </mc:AlternateContent>
    </p:spTree>
    <p:extLst>
      <p:ext uri="{BB962C8B-B14F-4D97-AF65-F5344CB8AC3E}">
        <p14:creationId xmlns:p14="http://schemas.microsoft.com/office/powerpoint/2010/main" val="12883969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Box </a:t>
            </a:r>
            <a:r>
              <a:rPr lang="en-US" sz="2400" b="1" dirty="0">
                <a:latin typeface="Arial" panose="020B0604020202020204" pitchFamily="34" charset="0"/>
                <a:cs typeface="Arial" panose="020B0604020202020204" pitchFamily="34" charset="0"/>
              </a:rPr>
              <a:t>and Whisker Plot</a:t>
            </a: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200" dirty="0" smtClean="0">
                <a:latin typeface="Arial" panose="020B0604020202020204" pitchFamily="34" charset="0"/>
                <a:cs typeface="Arial" panose="020B0604020202020204" pitchFamily="34" charset="0"/>
              </a:rPr>
              <a:t>A </a:t>
            </a:r>
            <a:r>
              <a:rPr lang="en-US" sz="2200" dirty="0">
                <a:latin typeface="Arial" panose="020B0604020202020204" pitchFamily="34" charset="0"/>
                <a:cs typeface="Arial" panose="020B0604020202020204" pitchFamily="34" charset="0"/>
              </a:rPr>
              <a:t>box and whisker plot (or box plot) is a simple graph that shows how data is spread out </a:t>
            </a:r>
            <a:r>
              <a:rPr lang="en-US" sz="2200" dirty="0" smtClean="0">
                <a:latin typeface="Arial" panose="020B0604020202020204" pitchFamily="34" charset="0"/>
                <a:cs typeface="Arial" panose="020B0604020202020204" pitchFamily="34" charset="0"/>
              </a:rPr>
              <a:t>from its center and </a:t>
            </a:r>
            <a:r>
              <a:rPr lang="en-US" sz="2200" dirty="0">
                <a:latin typeface="Arial" panose="020B0604020202020204" pitchFamily="34" charset="0"/>
                <a:cs typeface="Arial" panose="020B0604020202020204" pitchFamily="34" charset="0"/>
              </a:rPr>
              <a:t>whether it is balanced or skewed. It gives a quick picture of the center, spread, and shape of the data.</a:t>
            </a:r>
          </a:p>
          <a:p>
            <a:pPr marL="342900" indent="-342900" algn="just">
              <a:lnSpc>
                <a:spcPct val="150000"/>
              </a:lnSpc>
              <a:buFont typeface="Arial" panose="020B0604020202020204" pitchFamily="34" charset="0"/>
              <a:buChar char="•"/>
            </a:pPr>
            <a:r>
              <a:rPr lang="en-US" sz="2200" dirty="0">
                <a:latin typeface="Arial" panose="020B0604020202020204" pitchFamily="34" charset="0"/>
                <a:cs typeface="Arial" panose="020B0604020202020204" pitchFamily="34" charset="0"/>
              </a:rPr>
              <a:t>The box plot is built from what we call the </a:t>
            </a:r>
            <a:r>
              <a:rPr lang="en-US" sz="2200" b="1" dirty="0">
                <a:latin typeface="Arial" panose="020B0604020202020204" pitchFamily="34" charset="0"/>
                <a:cs typeface="Arial" panose="020B0604020202020204" pitchFamily="34" charset="0"/>
              </a:rPr>
              <a:t>five-number summary</a:t>
            </a:r>
            <a:r>
              <a:rPr lang="en-US" sz="22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The smallest value in the data,</a:t>
            </a: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The first quartile</a:t>
            </a: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The median</a:t>
            </a: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The third quartile</a:t>
            </a:r>
          </a:p>
          <a:p>
            <a:pPr marL="800100" lvl="1" indent="-342900" algn="just">
              <a:lnSpc>
                <a:spcPct val="15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The largest value in the data</a:t>
            </a:r>
            <a:r>
              <a:rPr lang="en-US" sz="2200" dirty="0" smtClean="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a:p>
            <a:pPr algn="just">
              <a:lnSpc>
                <a:spcPct val="150000"/>
              </a:lnSpc>
            </a:pP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11028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How a box plot is </a:t>
            </a:r>
            <a:r>
              <a:rPr lang="en-US" sz="2400" b="1" dirty="0" smtClean="0">
                <a:latin typeface="Arial" panose="020B0604020202020204" pitchFamily="34" charset="0"/>
                <a:cs typeface="Arial" panose="020B0604020202020204" pitchFamily="34" charset="0"/>
              </a:rPr>
              <a:t>drawn</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dirty="0" smtClean="0">
                    <a:latin typeface="Arial" panose="020B0604020202020204" pitchFamily="34" charset="0"/>
                    <a:cs typeface="Arial" panose="020B0604020202020204" pitchFamily="34" charset="0"/>
                  </a:rPr>
                  <a:t>A </a:t>
                </a:r>
                <a:r>
                  <a:rPr lang="en-US" dirty="0">
                    <a:latin typeface="Arial" panose="020B0604020202020204" pitchFamily="34" charset="0"/>
                    <a:cs typeface="Arial" panose="020B0604020202020204" pitchFamily="34" charset="0"/>
                  </a:rPr>
                  <a:t>box is drawn from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𝑄</m:t>
                        </m:r>
                      </m:e>
                      <m:sub>
                        <m:r>
                          <a:rPr lang="en-US" b="0" i="1" smtClean="0">
                            <a:latin typeface="Cambria Math" panose="02040503050406030204" pitchFamily="18" charset="0"/>
                            <a:cs typeface="Arial" panose="020B0604020202020204" pitchFamily="34" charset="0"/>
                          </a:rPr>
                          <m:t>1</m:t>
                        </m:r>
                      </m:sub>
                    </m:sSub>
                  </m:oMath>
                </a14:m>
                <a:r>
                  <a:rPr lang="en-US" dirty="0" smtClean="0">
                    <a:latin typeface="Arial" panose="020B0604020202020204" pitchFamily="34" charset="0"/>
                    <a:cs typeface="Arial" panose="020B0604020202020204" pitchFamily="34" charset="0"/>
                  </a:rPr>
                  <a:t>to </a:t>
                </a:r>
                <a14:m>
                  <m:oMath xmlns:m="http://schemas.openxmlformats.org/officeDocument/2006/math">
                    <m:sSub>
                      <m:sSubPr>
                        <m:ctrlPr>
                          <a:rPr lang="en-US" b="0" i="1" dirty="0" smtClean="0">
                            <a:latin typeface="Cambria Math" panose="02040503050406030204" pitchFamily="18" charset="0"/>
                            <a:cs typeface="Arial" panose="020B0604020202020204" pitchFamily="34" charset="0"/>
                          </a:rPr>
                        </m:ctrlPr>
                      </m:sSubPr>
                      <m:e>
                        <m:r>
                          <a:rPr lang="en-US" b="0" i="1" dirty="0" smtClean="0">
                            <a:latin typeface="Cambria Math" panose="02040503050406030204" pitchFamily="18" charset="0"/>
                            <a:cs typeface="Arial" panose="020B0604020202020204" pitchFamily="34" charset="0"/>
                          </a:rPr>
                          <m:t>𝑄</m:t>
                        </m:r>
                      </m:e>
                      <m:sub>
                        <m:r>
                          <a:rPr lang="en-US" b="0" i="1" dirty="0" smtClean="0">
                            <a:latin typeface="Cambria Math" panose="02040503050406030204" pitchFamily="18" charset="0"/>
                            <a:cs typeface="Arial" panose="020B0604020202020204" pitchFamily="34" charset="0"/>
                          </a:rPr>
                          <m:t>3</m:t>
                        </m:r>
                      </m:sub>
                    </m:sSub>
                  </m:oMath>
                </a14:m>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with a line inside the box showing the </a:t>
                </a:r>
                <a:r>
                  <a:rPr lang="en-US" dirty="0" smtClean="0">
                    <a:latin typeface="Arial" panose="020B0604020202020204" pitchFamily="34" charset="0"/>
                    <a:cs typeface="Arial" panose="020B0604020202020204" pitchFamily="34" charset="0"/>
                  </a:rPr>
                  <a:t>median.</a:t>
                </a:r>
              </a:p>
              <a:p>
                <a:pPr marL="342900" indent="-342900" algn="just">
                  <a:lnSpc>
                    <a:spcPct val="150000"/>
                  </a:lnSpc>
                  <a:buFont typeface="Arial" panose="020B0604020202020204" pitchFamily="34" charset="0"/>
                  <a:buChar char="•"/>
                </a:pPr>
                <a:r>
                  <a:rPr lang="en-US" dirty="0" smtClean="0">
                    <a:latin typeface="Arial" panose="020B0604020202020204" pitchFamily="34" charset="0"/>
                    <a:cs typeface="Arial" panose="020B0604020202020204" pitchFamily="34" charset="0"/>
                  </a:rPr>
                  <a:t>Whiskers </a:t>
                </a:r>
                <a:r>
                  <a:rPr lang="en-US" dirty="0">
                    <a:latin typeface="Arial" panose="020B0604020202020204" pitchFamily="34" charset="0"/>
                    <a:cs typeface="Arial" panose="020B0604020202020204" pitchFamily="34" charset="0"/>
                  </a:rPr>
                  <a:t>are drawn from the box out to the smallest and largest values that are not considered </a:t>
                </a:r>
                <a:r>
                  <a:rPr lang="en-US" dirty="0" smtClean="0">
                    <a:latin typeface="Arial" panose="020B0604020202020204" pitchFamily="34" charset="0"/>
                    <a:cs typeface="Arial" panose="020B0604020202020204" pitchFamily="34" charset="0"/>
                  </a:rPr>
                  <a:t>unusual.</a:t>
                </a:r>
              </a:p>
              <a:p>
                <a:pPr marL="342900" indent="-342900" algn="just">
                  <a:lnSpc>
                    <a:spcPct val="150000"/>
                  </a:lnSpc>
                  <a:buFont typeface="Arial" panose="020B0604020202020204" pitchFamily="34" charset="0"/>
                  <a:buChar char="•"/>
                </a:pPr>
                <a:r>
                  <a:rPr lang="en-US" dirty="0" smtClean="0">
                    <a:latin typeface="Arial" panose="020B0604020202020204" pitchFamily="34" charset="0"/>
                    <a:cs typeface="Arial" panose="020B0604020202020204" pitchFamily="34" charset="0"/>
                  </a:rPr>
                  <a:t>Any </a:t>
                </a:r>
                <a:r>
                  <a:rPr lang="en-US" dirty="0">
                    <a:latin typeface="Arial" panose="020B0604020202020204" pitchFamily="34" charset="0"/>
                    <a:cs typeface="Arial" panose="020B0604020202020204" pitchFamily="34" charset="0"/>
                  </a:rPr>
                  <a:t>data points that are </a:t>
                </a:r>
                <a:r>
                  <a:rPr lang="en-US" dirty="0" smtClean="0">
                    <a:latin typeface="Arial" panose="020B0604020202020204" pitchFamily="34" charset="0"/>
                    <a:cs typeface="Arial" panose="020B0604020202020204" pitchFamily="34" charset="0"/>
                  </a:rPr>
                  <a:t>beyond the fences </a:t>
                </a:r>
                <a:r>
                  <a:rPr lang="en-US" dirty="0">
                    <a:latin typeface="Arial" panose="020B0604020202020204" pitchFamily="34" charset="0"/>
                    <a:cs typeface="Arial" panose="020B0604020202020204" pitchFamily="34" charset="0"/>
                  </a:rPr>
                  <a:t>are shown </a:t>
                </a:r>
                <a:r>
                  <a:rPr lang="en-US" dirty="0" smtClean="0">
                    <a:latin typeface="Arial" panose="020B0604020202020204" pitchFamily="34" charset="0"/>
                    <a:cs typeface="Arial" panose="020B0604020202020204" pitchFamily="34" charset="0"/>
                  </a:rPr>
                  <a:t>separately (</a:t>
                </a:r>
                <a:r>
                  <a:rPr lang="en-US" dirty="0">
                    <a:latin typeface="Arial" panose="020B0604020202020204" pitchFamily="34" charset="0"/>
                    <a:cs typeface="Arial" panose="020B0604020202020204" pitchFamily="34" charset="0"/>
                  </a:rPr>
                  <a:t>by asterisks/circles</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as outliers</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788" r="-844"/>
                </a:stretch>
              </a:blipFill>
            </p:spPr>
            <p:txBody>
              <a:bodyPr/>
              <a:lstStyle/>
              <a:p>
                <a:r>
                  <a:rPr lang="en-US">
                    <a:noFill/>
                  </a:rPr>
                  <a:t> </a:t>
                </a:r>
              </a:p>
            </p:txBody>
          </p:sp>
        </mc:Fallback>
      </mc:AlternateContent>
    </p:spTree>
    <p:extLst>
      <p:ext uri="{BB962C8B-B14F-4D97-AF65-F5344CB8AC3E}">
        <p14:creationId xmlns:p14="http://schemas.microsoft.com/office/powerpoint/2010/main" val="148419502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Drawing a boxplot</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782593" y="855134"/>
                <a:ext cx="10831132" cy="5698021"/>
              </a:xfrm>
            </p:spPr>
            <p:txBody>
              <a:bodyPr>
                <a:noAutofit/>
              </a:bodyPr>
              <a:lstStyle/>
              <a:p>
                <a:pPr marL="342900" indent="-342900" algn="just">
                  <a:lnSpc>
                    <a:spcPct val="150000"/>
                  </a:lnSpc>
                  <a:buFont typeface="Arial" panose="020B0604020202020204" pitchFamily="34" charset="0"/>
                  <a:buChar char="•"/>
                </a:pPr>
                <a:r>
                  <a:rPr lang="en-US" sz="2300" dirty="0" smtClean="0">
                    <a:latin typeface="Arial" panose="020B0604020202020204" pitchFamily="34" charset="0"/>
                    <a:cs typeface="Arial" panose="020B0604020202020204" pitchFamily="34" charset="0"/>
                  </a:rPr>
                  <a:t>A </a:t>
                </a:r>
                <a:r>
                  <a:rPr lang="en-US" sz="2300" dirty="0">
                    <a:latin typeface="Arial" panose="020B0604020202020204" pitchFamily="34" charset="0"/>
                    <a:cs typeface="Arial" panose="020B0604020202020204" pitchFamily="34" charset="0"/>
                  </a:rPr>
                  <a:t>recent study of home technologies reported the number of hours of personal computer usage per week for a sample of 14 persons. The data are given </a:t>
                </a:r>
                <a:r>
                  <a:rPr lang="en-US" sz="2300" dirty="0" smtClean="0">
                    <a:latin typeface="Arial" panose="020B0604020202020204" pitchFamily="34" charset="0"/>
                    <a:cs typeface="Arial" panose="020B0604020202020204" pitchFamily="34" charset="0"/>
                  </a:rPr>
                  <a:t>below: 6.7</a:t>
                </a:r>
                <a:r>
                  <a:rPr lang="en-US" sz="2300" dirty="0">
                    <a:latin typeface="Arial" panose="020B0604020202020204" pitchFamily="34" charset="0"/>
                    <a:cs typeface="Arial" panose="020B0604020202020204" pitchFamily="34" charset="0"/>
                  </a:rPr>
                  <a:t>,  6.3,  6.5,  6.3, 10.5,  4.2,  4.3,  7.9,  6.3,  3.8,  5.6,  3.7,  0.4,  </a:t>
                </a:r>
                <a:r>
                  <a:rPr lang="en-US" sz="2300" dirty="0" smtClean="0">
                    <a:latin typeface="Arial" panose="020B0604020202020204" pitchFamily="34" charset="0"/>
                    <a:cs typeface="Arial" panose="020B0604020202020204" pitchFamily="34" charset="0"/>
                  </a:rPr>
                  <a:t>3.9. Draw a boxplot. </a:t>
                </a:r>
                <a:endParaRPr lang="en-US" sz="23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3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300" dirty="0">
                  <a:latin typeface="Arial" panose="020B0604020202020204" pitchFamily="34" charset="0"/>
                  <a:cs typeface="Arial" panose="020B0604020202020204" pitchFamily="34" charset="0"/>
                </a:endParaRPr>
              </a:p>
              <a:p>
                <a:pPr algn="just">
                  <a:lnSpc>
                    <a:spcPct val="150000"/>
                  </a:lnSpc>
                </a:pPr>
                <a:endParaRPr lang="en-US" sz="23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300" dirty="0" smtClean="0">
                    <a:latin typeface="Arial" panose="020B0604020202020204" pitchFamily="34" charset="0"/>
                    <a:cs typeface="Arial" panose="020B0604020202020204" pitchFamily="34" charset="0"/>
                  </a:rPr>
                  <a:t>Note</a:t>
                </a:r>
                <a:r>
                  <a:rPr lang="en-US" sz="2300" dirty="0">
                    <a:latin typeface="Arial" panose="020B0604020202020204" pitchFamily="34" charset="0"/>
                    <a:cs typeface="Arial" panose="020B0604020202020204" pitchFamily="34" charset="0"/>
                  </a:rPr>
                  <a:t>: </a:t>
                </a:r>
                <a14:m>
                  <m:oMath xmlns:m="http://schemas.openxmlformats.org/officeDocument/2006/math">
                    <m:sSub>
                      <m:sSubPr>
                        <m:ctrlPr>
                          <a:rPr lang="en-US" sz="2300" i="1">
                            <a:latin typeface="Cambria Math" panose="02040503050406030204" pitchFamily="18" charset="0"/>
                            <a:cs typeface="Arial" panose="020B0604020202020204" pitchFamily="34" charset="0"/>
                          </a:rPr>
                        </m:ctrlPr>
                      </m:sSubPr>
                      <m:e>
                        <m:r>
                          <a:rPr lang="en-US" sz="2300">
                            <a:latin typeface="Cambria Math" panose="02040503050406030204" pitchFamily="18" charset="0"/>
                            <a:cs typeface="Arial" panose="020B0604020202020204" pitchFamily="34" charset="0"/>
                          </a:rPr>
                          <m:t>𝑄</m:t>
                        </m:r>
                      </m:e>
                      <m:sub>
                        <m:r>
                          <a:rPr lang="en-US" sz="2300">
                            <a:latin typeface="Cambria Math" panose="02040503050406030204" pitchFamily="18" charset="0"/>
                            <a:cs typeface="Arial" panose="020B0604020202020204" pitchFamily="34" charset="0"/>
                          </a:rPr>
                          <m:t>1</m:t>
                        </m:r>
                      </m:sub>
                    </m:sSub>
                    <m:r>
                      <a:rPr lang="en-US" sz="2300">
                        <a:latin typeface="Cambria Math" panose="02040503050406030204" pitchFamily="18" charset="0"/>
                        <a:cs typeface="Arial" panose="020B0604020202020204" pitchFamily="34" charset="0"/>
                      </a:rPr>
                      <m:t>−1.5×</m:t>
                    </m:r>
                    <m:r>
                      <a:rPr lang="en-US" sz="2300">
                        <a:latin typeface="Cambria Math" panose="02040503050406030204" pitchFamily="18" charset="0"/>
                        <a:cs typeface="Arial" panose="020B0604020202020204" pitchFamily="34" charset="0"/>
                      </a:rPr>
                      <m:t>𝐼𝑄𝑅</m:t>
                    </m:r>
                    <m:r>
                      <a:rPr lang="en-US" sz="2300">
                        <a:latin typeface="Cambria Math" panose="02040503050406030204" pitchFamily="18" charset="0"/>
                        <a:cs typeface="Arial" panose="020B0604020202020204" pitchFamily="34" charset="0"/>
                      </a:rPr>
                      <m:t>=0  &amp;  </m:t>
                    </m:r>
                    <m:sSub>
                      <m:sSubPr>
                        <m:ctrlPr>
                          <a:rPr lang="en-US" sz="2300" i="1">
                            <a:latin typeface="Cambria Math" panose="02040503050406030204" pitchFamily="18" charset="0"/>
                            <a:cs typeface="Arial" panose="020B0604020202020204" pitchFamily="34" charset="0"/>
                          </a:rPr>
                        </m:ctrlPr>
                      </m:sSubPr>
                      <m:e>
                        <m:r>
                          <a:rPr lang="en-US" sz="2300">
                            <a:latin typeface="Cambria Math" panose="02040503050406030204" pitchFamily="18" charset="0"/>
                            <a:cs typeface="Arial" panose="020B0604020202020204" pitchFamily="34" charset="0"/>
                          </a:rPr>
                          <m:t>𝑄</m:t>
                        </m:r>
                      </m:e>
                      <m:sub>
                        <m:r>
                          <a:rPr lang="en-US" sz="2300">
                            <a:latin typeface="Cambria Math" panose="02040503050406030204" pitchFamily="18" charset="0"/>
                            <a:cs typeface="Arial" panose="020B0604020202020204" pitchFamily="34" charset="0"/>
                          </a:rPr>
                          <m:t>3</m:t>
                        </m:r>
                      </m:sub>
                    </m:sSub>
                    <m:r>
                      <a:rPr lang="en-US" sz="2300">
                        <a:latin typeface="Cambria Math" panose="02040503050406030204" pitchFamily="18" charset="0"/>
                        <a:cs typeface="Arial" panose="020B0604020202020204" pitchFamily="34" charset="0"/>
                      </a:rPr>
                      <m:t>+1.5×</m:t>
                    </m:r>
                    <m:r>
                      <a:rPr lang="en-US" sz="2300">
                        <a:latin typeface="Cambria Math" panose="02040503050406030204" pitchFamily="18" charset="0"/>
                        <a:cs typeface="Arial" panose="020B0604020202020204" pitchFamily="34" charset="0"/>
                      </a:rPr>
                      <m:t>𝐼𝑄𝑅</m:t>
                    </m:r>
                    <m:r>
                      <a:rPr lang="en-US" sz="2300">
                        <a:latin typeface="Cambria Math" panose="02040503050406030204" pitchFamily="18" charset="0"/>
                        <a:cs typeface="Arial" panose="020B0604020202020204" pitchFamily="34" charset="0"/>
                      </a:rPr>
                      <m:t>=10.4. </m:t>
                    </m:r>
                    <m:r>
                      <m:rPr>
                        <m:sty m:val="p"/>
                      </m:rPr>
                      <a:rPr lang="en-US" sz="2300" b="0" i="0" smtClean="0">
                        <a:latin typeface="Cambria Math" panose="02040503050406030204" pitchFamily="18" charset="0"/>
                        <a:cs typeface="Arial" panose="020B0604020202020204" pitchFamily="34" charset="0"/>
                      </a:rPr>
                      <m:t>i</m:t>
                    </m:r>
                    <m:r>
                      <a:rPr lang="en-US" sz="2300" b="0" i="0" smtClean="0">
                        <a:latin typeface="Cambria Math" panose="02040503050406030204" pitchFamily="18" charset="0"/>
                        <a:cs typeface="Arial" panose="020B0604020202020204" pitchFamily="34" charset="0"/>
                      </a:rPr>
                      <m:t>.</m:t>
                    </m:r>
                    <m:r>
                      <m:rPr>
                        <m:sty m:val="p"/>
                      </m:rPr>
                      <a:rPr lang="en-US" sz="2300" b="0" i="0" smtClean="0">
                        <a:latin typeface="Cambria Math" panose="02040503050406030204" pitchFamily="18" charset="0"/>
                        <a:cs typeface="Arial" panose="020B0604020202020204" pitchFamily="34" charset="0"/>
                      </a:rPr>
                      <m:t>e</m:t>
                    </m:r>
                    <m:r>
                      <a:rPr lang="en-US" sz="2300" b="0" i="0" smtClean="0">
                        <a:latin typeface="Cambria Math" panose="02040503050406030204" pitchFamily="18" charset="0"/>
                        <a:cs typeface="Arial" panose="020B0604020202020204" pitchFamily="34" charset="0"/>
                      </a:rPr>
                      <m:t>., </m:t>
                    </m:r>
                  </m:oMath>
                </a14:m>
                <a:r>
                  <a:rPr lang="en-US" sz="2300" dirty="0" smtClean="0">
                    <a:latin typeface="Arial" panose="020B0604020202020204" pitchFamily="34" charset="0"/>
                    <a:cs typeface="Arial" panose="020B0604020202020204" pitchFamily="34" charset="0"/>
                  </a:rPr>
                  <a:t>a value 10.5 </a:t>
                </a:r>
                <a:r>
                  <a:rPr lang="en-US" sz="2300" smtClean="0">
                    <a:latin typeface="Arial" panose="020B0604020202020204" pitchFamily="34" charset="0"/>
                    <a:cs typeface="Arial" panose="020B0604020202020204" pitchFamily="34" charset="0"/>
                  </a:rPr>
                  <a:t>is (greater </a:t>
                </a:r>
                <a:r>
                  <a:rPr lang="en-US" sz="2300" dirty="0" smtClean="0">
                    <a:latin typeface="Arial" panose="020B0604020202020204" pitchFamily="34" charset="0"/>
                    <a:cs typeface="Arial" panose="020B0604020202020204" pitchFamily="34" charset="0"/>
                  </a:rPr>
                  <a:t>than the </a:t>
                </a:r>
                <a:r>
                  <a:rPr lang="en-US" sz="2300" smtClean="0">
                    <a:latin typeface="Arial" panose="020B0604020202020204" pitchFamily="34" charset="0"/>
                    <a:cs typeface="Arial" panose="020B0604020202020204" pitchFamily="34" charset="0"/>
                  </a:rPr>
                  <a:t>outer fence) </a:t>
                </a:r>
                <a:r>
                  <a:rPr lang="en-US" sz="2300" dirty="0" smtClean="0">
                    <a:latin typeface="Arial" panose="020B0604020202020204" pitchFamily="34" charset="0"/>
                    <a:cs typeface="Arial" panose="020B0604020202020204" pitchFamily="34" charset="0"/>
                  </a:rPr>
                  <a:t>an outlier. </a:t>
                </a:r>
                <a:endParaRPr lang="en-US" sz="23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3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782593" y="855134"/>
                <a:ext cx="10831132" cy="5698021"/>
              </a:xfrm>
              <a:blipFill rotWithShape="0">
                <a:blip r:embed="rId2"/>
                <a:stretch>
                  <a:fillRect l="-675" r="-844"/>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3899989" y="2188636"/>
            <a:ext cx="4596339" cy="3031015"/>
          </a:xfrm>
          <a:prstGeom prst="rect">
            <a:avLst/>
          </a:prstGeom>
        </p:spPr>
      </p:pic>
    </p:spTree>
    <p:extLst>
      <p:ext uri="{BB962C8B-B14F-4D97-AF65-F5344CB8AC3E}">
        <p14:creationId xmlns:p14="http://schemas.microsoft.com/office/powerpoint/2010/main" val="42449905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How to Interpret a Boxplot</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Center of the </a:t>
                </a:r>
                <a:r>
                  <a:rPr lang="en-US" sz="2000" dirty="0" smtClean="0">
                    <a:latin typeface="Arial" panose="020B0604020202020204" pitchFamily="34" charset="0"/>
                    <a:cs typeface="Arial" panose="020B0604020202020204" pitchFamily="34" charset="0"/>
                  </a:rPr>
                  <a:t>Data</a:t>
                </a:r>
              </a:p>
              <a:p>
                <a:pPr marL="800100" lvl="1" indent="-342900" algn="just">
                  <a:lnSpc>
                    <a:spcPct val="10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The </a:t>
                </a:r>
                <a:r>
                  <a:rPr lang="en-US" dirty="0">
                    <a:latin typeface="Arial" panose="020B0604020202020204" pitchFamily="34" charset="0"/>
                    <a:cs typeface="Arial" panose="020B0604020202020204" pitchFamily="34" charset="0"/>
                  </a:rPr>
                  <a:t>line inside the box is the </a:t>
                </a:r>
                <a:r>
                  <a:rPr lang="en-US" dirty="0" smtClean="0">
                    <a:latin typeface="Arial" panose="020B0604020202020204" pitchFamily="34" charset="0"/>
                    <a:cs typeface="Arial" panose="020B0604020202020204" pitchFamily="34" charset="0"/>
                  </a:rPr>
                  <a:t>median, it </a:t>
                </a:r>
                <a:r>
                  <a:rPr lang="en-US" dirty="0">
                    <a:latin typeface="Arial" panose="020B0604020202020204" pitchFamily="34" charset="0"/>
                    <a:cs typeface="Arial" panose="020B0604020202020204" pitchFamily="34" charset="0"/>
                  </a:rPr>
                  <a:t>represents the middle </a:t>
                </a:r>
                <a:r>
                  <a:rPr lang="en-US" dirty="0" smtClean="0">
                    <a:latin typeface="Arial" panose="020B0604020202020204" pitchFamily="34" charset="0"/>
                    <a:cs typeface="Arial" panose="020B0604020202020204" pitchFamily="34" charset="0"/>
                  </a:rPr>
                  <a:t>value of </a:t>
                </a:r>
                <a:r>
                  <a:rPr lang="en-US" dirty="0">
                    <a:latin typeface="Arial" panose="020B0604020202020204" pitchFamily="34" charset="0"/>
                    <a:cs typeface="Arial" panose="020B0604020202020204" pitchFamily="34" charset="0"/>
                  </a:rPr>
                  <a:t>the </a:t>
                </a:r>
                <a:r>
                  <a:rPr lang="en-US" dirty="0" smtClean="0">
                    <a:latin typeface="Arial" panose="020B0604020202020204" pitchFamily="34" charset="0"/>
                    <a:cs typeface="Arial" panose="020B0604020202020204" pitchFamily="34" charset="0"/>
                  </a:rPr>
                  <a:t>dataset.</a:t>
                </a:r>
                <a:endParaRPr lang="en-US"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Spread of the Data</a:t>
                </a:r>
              </a:p>
              <a:p>
                <a:pPr marL="800100" lvl="1" indent="-342900" algn="just">
                  <a:lnSpc>
                    <a:spcPct val="10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The </a:t>
                </a:r>
                <a:r>
                  <a:rPr lang="en-US" dirty="0">
                    <a:latin typeface="Arial" panose="020B0604020202020204" pitchFamily="34" charset="0"/>
                    <a:cs typeface="Arial" panose="020B0604020202020204" pitchFamily="34" charset="0"/>
                  </a:rPr>
                  <a:t>length of the box (from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𝑄</m:t>
                        </m:r>
                      </m:e>
                      <m:sub>
                        <m:r>
                          <a:rPr lang="en-US" i="1">
                            <a:latin typeface="Cambria Math" panose="02040503050406030204" pitchFamily="18" charset="0"/>
                            <a:cs typeface="Arial" panose="020B0604020202020204" pitchFamily="34" charset="0"/>
                          </a:rPr>
                          <m:t>1</m:t>
                        </m:r>
                      </m:sub>
                    </m:sSub>
                  </m:oMath>
                </a14:m>
                <a:r>
                  <a:rPr lang="en-US" dirty="0">
                    <a:latin typeface="Arial" panose="020B0604020202020204" pitchFamily="34" charset="0"/>
                    <a:cs typeface="Arial" panose="020B0604020202020204" pitchFamily="34" charset="0"/>
                  </a:rPr>
                  <a:t>to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𝑄</m:t>
                        </m:r>
                      </m:e>
                      <m:sub>
                        <m:r>
                          <a:rPr lang="en-US" i="1" dirty="0">
                            <a:latin typeface="Cambria Math" panose="02040503050406030204" pitchFamily="18" charset="0"/>
                            <a:cs typeface="Arial" panose="020B0604020202020204" pitchFamily="34" charset="0"/>
                          </a:rPr>
                          <m:t>3</m:t>
                        </m:r>
                      </m:sub>
                    </m:sSub>
                  </m:oMath>
                </a14:m>
                <a:r>
                  <a:rPr lang="en-US" dirty="0">
                    <a:latin typeface="Arial" panose="020B0604020202020204" pitchFamily="34" charset="0"/>
                    <a:cs typeface="Arial" panose="020B0604020202020204" pitchFamily="34" charset="0"/>
                  </a:rPr>
                  <a:t>) shows the interquartile range (IQR), which contains the middle 50% of the data</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800100" lvl="1" indent="-34290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longer the box, the more spread out the middle values are</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800100" lvl="1" indent="-34290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whiskers show how far the rest of the data (outside the middle 50%) extends.</a:t>
                </a:r>
              </a:p>
              <a:p>
                <a:pPr marL="342900" indent="-342900" algn="just">
                  <a:lnSpc>
                    <a:spcPct val="10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Skewness</a:t>
                </a:r>
                <a:r>
                  <a:rPr lang="en-US" sz="2000" dirty="0">
                    <a:latin typeface="Arial" panose="020B0604020202020204" pitchFamily="34" charset="0"/>
                    <a:cs typeface="Arial" panose="020B0604020202020204" pitchFamily="34" charset="0"/>
                  </a:rPr>
                  <a:t> (Shape of Distribution</a:t>
                </a:r>
                <a:r>
                  <a:rPr lang="en-US" sz="2000" dirty="0" smtClean="0">
                    <a:latin typeface="Arial" panose="020B0604020202020204" pitchFamily="34" charset="0"/>
                    <a:cs typeface="Arial" panose="020B0604020202020204" pitchFamily="34" charset="0"/>
                  </a:rPr>
                  <a:t>)</a:t>
                </a:r>
              </a:p>
              <a:p>
                <a:pPr marL="800100" lvl="1" indent="-34290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If the median is roughly in the center of the box, the distribution is approximately symmetrical. If it’s closer to the bottom or top of the box, the distribution may be skewed</a:t>
                </a:r>
                <a:r>
                  <a:rPr lang="en-US" dirty="0" smtClean="0">
                    <a:latin typeface="Arial" panose="020B0604020202020204" pitchFamily="34" charset="0"/>
                    <a:cs typeface="Arial" panose="020B0604020202020204" pitchFamily="34" charset="0"/>
                  </a:rPr>
                  <a:t>.</a:t>
                </a:r>
              </a:p>
              <a:p>
                <a:pPr marL="800100" lvl="1" indent="-342900" algn="just">
                  <a:lnSpc>
                    <a:spcPct val="10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If </a:t>
                </a:r>
                <a:r>
                  <a:rPr lang="en-US" dirty="0">
                    <a:latin typeface="Arial" panose="020B0604020202020204" pitchFamily="34" charset="0"/>
                    <a:cs typeface="Arial" panose="020B0604020202020204" pitchFamily="34" charset="0"/>
                  </a:rPr>
                  <a:t>the right whisker is </a:t>
                </a:r>
                <a:r>
                  <a:rPr lang="en-US" dirty="0" smtClean="0">
                    <a:latin typeface="Arial" panose="020B0604020202020204" pitchFamily="34" charset="0"/>
                    <a:cs typeface="Arial" panose="020B0604020202020204" pitchFamily="34" charset="0"/>
                  </a:rPr>
                  <a:t>longer </a:t>
                </a:r>
                <a:r>
                  <a:rPr lang="en-US" dirty="0">
                    <a:latin typeface="Arial" panose="020B0604020202020204" pitchFamily="34" charset="0"/>
                    <a:cs typeface="Arial" panose="020B0604020202020204" pitchFamily="34" charset="0"/>
                  </a:rPr>
                  <a:t>or the box extends more to the </a:t>
                </a:r>
                <a:r>
                  <a:rPr lang="en-US" dirty="0" smtClean="0">
                    <a:latin typeface="Arial" panose="020B0604020202020204" pitchFamily="34" charset="0"/>
                    <a:cs typeface="Arial" panose="020B0604020202020204" pitchFamily="34" charset="0"/>
                  </a:rPr>
                  <a:t>right, the </a:t>
                </a:r>
                <a:r>
                  <a:rPr lang="en-US" dirty="0">
                    <a:latin typeface="Arial" panose="020B0604020202020204" pitchFamily="34" charset="0"/>
                    <a:cs typeface="Arial" panose="020B0604020202020204" pitchFamily="34" charset="0"/>
                  </a:rPr>
                  <a:t>data is positively skewed (long right tail</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800100" lvl="1" indent="-34290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If the left whisker is </a:t>
                </a:r>
                <a:r>
                  <a:rPr lang="en-US" dirty="0" smtClean="0">
                    <a:latin typeface="Arial" panose="020B0604020202020204" pitchFamily="34" charset="0"/>
                    <a:cs typeface="Arial" panose="020B0604020202020204" pitchFamily="34" charset="0"/>
                  </a:rPr>
                  <a:t>longer or </a:t>
                </a:r>
                <a:r>
                  <a:rPr lang="en-US" dirty="0">
                    <a:latin typeface="Arial" panose="020B0604020202020204" pitchFamily="34" charset="0"/>
                    <a:cs typeface="Arial" panose="020B0604020202020204" pitchFamily="34" charset="0"/>
                  </a:rPr>
                  <a:t>the box extends more to the </a:t>
                </a:r>
                <a:r>
                  <a:rPr lang="en-US" dirty="0" smtClean="0">
                    <a:latin typeface="Arial" panose="020B0604020202020204" pitchFamily="34" charset="0"/>
                    <a:cs typeface="Arial" panose="020B0604020202020204" pitchFamily="34" charset="0"/>
                  </a:rPr>
                  <a:t>left, the </a:t>
                </a:r>
                <a:r>
                  <a:rPr lang="en-US" dirty="0">
                    <a:latin typeface="Arial" panose="020B0604020202020204" pitchFamily="34" charset="0"/>
                    <a:cs typeface="Arial" panose="020B0604020202020204" pitchFamily="34" charset="0"/>
                  </a:rPr>
                  <a:t>data is negatively skewed (long left tail</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t="-535" r="-563"/>
                </a:stretch>
              </a:blipFill>
            </p:spPr>
            <p:txBody>
              <a:bodyPr/>
              <a:lstStyle/>
              <a:p>
                <a:r>
                  <a:rPr lang="en-US">
                    <a:noFill/>
                  </a:rPr>
                  <a:t> </a:t>
                </a:r>
              </a:p>
            </p:txBody>
          </p:sp>
        </mc:Fallback>
      </mc:AlternateContent>
    </p:spTree>
    <p:extLst>
      <p:ext uri="{BB962C8B-B14F-4D97-AF65-F5344CB8AC3E}">
        <p14:creationId xmlns:p14="http://schemas.microsoft.com/office/powerpoint/2010/main" val="42848021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How to Interpret a Boxplot</a:t>
            </a:r>
            <a:endParaRPr lang="en-US" sz="24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00000"/>
              </a:lnSpc>
              <a:buFont typeface="Arial" panose="020B0604020202020204" pitchFamily="34" charset="0"/>
              <a:buChar char="•"/>
            </a:pPr>
            <a:r>
              <a:rPr lang="en-US" sz="2100" dirty="0" smtClean="0">
                <a:latin typeface="Arial" panose="020B0604020202020204" pitchFamily="34" charset="0"/>
                <a:cs typeface="Arial" panose="020B0604020202020204" pitchFamily="34" charset="0"/>
              </a:rPr>
              <a:t>Outliers</a:t>
            </a:r>
          </a:p>
          <a:p>
            <a:pPr marL="800100" lvl="1" indent="-342900" algn="just">
              <a:lnSpc>
                <a:spcPct val="100000"/>
              </a:lnSpc>
              <a:buFont typeface="Wingdings" panose="05000000000000000000" pitchFamily="2" charset="2"/>
              <a:buChar char="ü"/>
            </a:pPr>
            <a:r>
              <a:rPr lang="en-US" sz="2100" dirty="0" smtClean="0">
                <a:latin typeface="Arial" panose="020B0604020202020204" pitchFamily="34" charset="0"/>
                <a:cs typeface="Arial" panose="020B0604020202020204" pitchFamily="34" charset="0"/>
              </a:rPr>
              <a:t>Any </a:t>
            </a:r>
            <a:r>
              <a:rPr lang="en-US" sz="2100" dirty="0">
                <a:latin typeface="Arial" panose="020B0604020202020204" pitchFamily="34" charset="0"/>
                <a:cs typeface="Arial" panose="020B0604020202020204" pitchFamily="34" charset="0"/>
              </a:rPr>
              <a:t>points plotted outside the whiskers are considered outliers (unusually small or large values</a:t>
            </a:r>
            <a:r>
              <a:rPr lang="en-US" sz="2100" dirty="0" smtClean="0">
                <a:latin typeface="Arial" panose="020B0604020202020204" pitchFamily="34" charset="0"/>
                <a:cs typeface="Arial" panose="020B0604020202020204" pitchFamily="34" charset="0"/>
              </a:rPr>
              <a:t>).</a:t>
            </a:r>
            <a:endParaRPr lang="en-US" sz="2100" dirty="0">
              <a:latin typeface="Arial" panose="020B0604020202020204" pitchFamily="34" charset="0"/>
              <a:cs typeface="Arial" panose="020B0604020202020204" pitchFamily="34" charset="0"/>
            </a:endParaRPr>
          </a:p>
          <a:p>
            <a:pPr marL="800100" lvl="1" indent="-342900" algn="just">
              <a:lnSpc>
                <a:spcPct val="100000"/>
              </a:lnSpc>
              <a:buFont typeface="Wingdings" panose="05000000000000000000" pitchFamily="2" charset="2"/>
              <a:buChar char="ü"/>
            </a:pPr>
            <a:r>
              <a:rPr lang="en-US" sz="2100" dirty="0">
                <a:latin typeface="Arial" panose="020B0604020202020204" pitchFamily="34" charset="0"/>
                <a:cs typeface="Arial" panose="020B0604020202020204" pitchFamily="34" charset="0"/>
              </a:rPr>
              <a:t>These values may indicate rare events, errors, or important insights depending on the context.</a:t>
            </a:r>
          </a:p>
          <a:p>
            <a:pPr marL="342900" indent="-342900" algn="just">
              <a:lnSpc>
                <a:spcPct val="100000"/>
              </a:lnSpc>
              <a:buFont typeface="Arial" panose="020B0604020202020204" pitchFamily="34" charset="0"/>
              <a:buChar char="•"/>
            </a:pPr>
            <a:r>
              <a:rPr lang="en-US" sz="2100" dirty="0" smtClean="0">
                <a:latin typeface="Arial" panose="020B0604020202020204" pitchFamily="34" charset="0"/>
                <a:cs typeface="Arial" panose="020B0604020202020204" pitchFamily="34" charset="0"/>
              </a:rPr>
              <a:t>Comparisons</a:t>
            </a:r>
          </a:p>
          <a:p>
            <a:pPr marL="800100" lvl="1" indent="-342900" algn="just">
              <a:lnSpc>
                <a:spcPct val="150000"/>
              </a:lnSpc>
              <a:buFont typeface="Wingdings" panose="05000000000000000000" pitchFamily="2" charset="2"/>
              <a:buChar char="ü"/>
            </a:pPr>
            <a:r>
              <a:rPr lang="en-US" sz="2100" dirty="0" smtClean="0">
                <a:latin typeface="Arial" panose="020B0604020202020204" pitchFamily="34" charset="0"/>
                <a:cs typeface="Arial" panose="020B0604020202020204" pitchFamily="34" charset="0"/>
              </a:rPr>
              <a:t>Boxplots </a:t>
            </a:r>
            <a:r>
              <a:rPr lang="en-US" sz="2100" dirty="0">
                <a:latin typeface="Arial" panose="020B0604020202020204" pitchFamily="34" charset="0"/>
                <a:cs typeface="Arial" panose="020B0604020202020204" pitchFamily="34" charset="0"/>
              </a:rPr>
              <a:t>are very useful for comparing two or more groups side by side</a:t>
            </a:r>
            <a:r>
              <a:rPr lang="en-US" sz="2100" dirty="0" smtClean="0">
                <a:latin typeface="Arial" panose="020B0604020202020204" pitchFamily="34" charset="0"/>
                <a:cs typeface="Arial" panose="020B0604020202020204" pitchFamily="34" charset="0"/>
              </a:rPr>
              <a:t>.</a:t>
            </a:r>
            <a:endParaRPr lang="en-US" sz="21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100" dirty="0">
                <a:latin typeface="Arial" panose="020B0604020202020204" pitchFamily="34" charset="0"/>
                <a:cs typeface="Arial" panose="020B0604020202020204" pitchFamily="34" charset="0"/>
              </a:rPr>
              <a:t>Look at differences in medians (centers), spreads (IQRs), and outliers to compare groups.</a:t>
            </a:r>
          </a:p>
          <a:p>
            <a:pPr algn="just">
              <a:lnSpc>
                <a:spcPct val="100000"/>
              </a:lnSpc>
            </a:pPr>
            <a:endParaRPr lang="en-US" sz="2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60830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4327"/>
            <a:ext cx="9144000" cy="392704"/>
          </a:xfrm>
        </p:spPr>
        <p:txBody>
          <a:bodyPr>
            <a:noAutofit/>
          </a:bodyPr>
          <a:lstStyle/>
          <a:p>
            <a:r>
              <a:rPr lang="en-US" sz="2400" b="1" dirty="0" smtClean="0">
                <a:latin typeface="Arial" pitchFamily="34" charset="0"/>
                <a:cs typeface="Arial" pitchFamily="34" charset="0"/>
              </a:rPr>
              <a:t>Exercise</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406400" y="557167"/>
            <a:ext cx="11466286" cy="6061347"/>
          </a:xfrm>
        </p:spPr>
        <p:txBody>
          <a:bodyPr>
            <a:noAutofit/>
          </a:bodyPr>
          <a:lstStyle/>
          <a:p>
            <a:pPr marL="342900" lvl="0" indent="-342900" algn="l">
              <a:buFont typeface="Arial" panose="020B0604020202020204" pitchFamily="34" charset="0"/>
              <a:buChar char="•"/>
            </a:pPr>
            <a:r>
              <a:rPr lang="en-US" sz="2000" b="1" dirty="0">
                <a:latin typeface="Arial" panose="020B0604020202020204" pitchFamily="34" charset="0"/>
                <a:cs typeface="Arial" panose="020B0604020202020204" pitchFamily="34" charset="0"/>
              </a:rPr>
              <a:t>Problem-1:</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A </a:t>
            </a:r>
            <a:r>
              <a:rPr lang="en-US" sz="2000" dirty="0">
                <a:latin typeface="Arial" panose="020B0604020202020204" pitchFamily="34" charset="0"/>
                <a:cs typeface="Arial" panose="020B0604020202020204" pitchFamily="34" charset="0"/>
              </a:rPr>
              <a:t>CSE department is evaluating the lifetime of laptop batteries (in hours) used by students in their lab. They collected data from 30 laptops over several semesters. The aim is to detect outliers in battery performance and visualize the data using a box plot.</a:t>
            </a:r>
          </a:p>
          <a:p>
            <a:pPr marL="342900" lvl="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Dataset: Laptop Battery Life (in hours</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5.2, 4.9, 5.5, 6.0, 4.8, 5.1, 6.2, 5.0, 5.3, 4.7,</a:t>
            </a:r>
          </a:p>
          <a:p>
            <a:r>
              <a:rPr lang="en-US" sz="2000" dirty="0">
                <a:latin typeface="Arial" panose="020B0604020202020204" pitchFamily="34" charset="0"/>
                <a:cs typeface="Arial" panose="020B0604020202020204" pitchFamily="34" charset="0"/>
              </a:rPr>
              <a:t>4.5, 6.5, 5.8, 6.1, 5.9, 4.6, 5.4, 4.2, 6.3, 6.8,</a:t>
            </a:r>
          </a:p>
          <a:p>
            <a:r>
              <a:rPr lang="en-US" sz="2000" dirty="0">
                <a:latin typeface="Arial" panose="020B0604020202020204" pitchFamily="34" charset="0"/>
                <a:cs typeface="Arial" panose="020B0604020202020204" pitchFamily="34" charset="0"/>
              </a:rPr>
              <a:t>5.6, 5.7, 4.4, 6.4, 5.0, 3.9, 7.0, 3.8, 7.2, </a:t>
            </a:r>
            <a:r>
              <a:rPr lang="en-US" sz="2000" dirty="0" smtClean="0">
                <a:latin typeface="Arial" panose="020B0604020202020204" pitchFamily="34" charset="0"/>
                <a:cs typeface="Arial" panose="020B0604020202020204" pitchFamily="34" charset="0"/>
              </a:rPr>
              <a:t>3.7</a:t>
            </a:r>
          </a:p>
          <a:p>
            <a:pPr algn="l"/>
            <a:endParaRPr lang="en-US" sz="2000" dirty="0" smtClean="0">
              <a:latin typeface="Arial" panose="020B0604020202020204" pitchFamily="34" charset="0"/>
              <a:cs typeface="Arial" panose="020B0604020202020204" pitchFamily="34" charset="0"/>
            </a:endParaRPr>
          </a:p>
          <a:p>
            <a:pPr marL="342900" lvl="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(a) Identify </a:t>
            </a:r>
            <a:r>
              <a:rPr lang="en-US" sz="2000" dirty="0">
                <a:latin typeface="Arial" panose="020B0604020202020204" pitchFamily="34" charset="0"/>
                <a:cs typeface="Arial" panose="020B0604020202020204" pitchFamily="34" charset="0"/>
              </a:rPr>
              <a:t>any outlier(s) in the dataset. Show your reasoning clearly. </a:t>
            </a:r>
          </a:p>
          <a:p>
            <a:pPr marL="342900" lvl="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(b) Calculate </a:t>
            </a:r>
            <a:r>
              <a:rPr lang="en-US" sz="2000" dirty="0">
                <a:latin typeface="Arial" panose="020B0604020202020204" pitchFamily="34" charset="0"/>
                <a:cs typeface="Arial" panose="020B0604020202020204" pitchFamily="34" charset="0"/>
              </a:rPr>
              <a:t>the mean and median of the </a:t>
            </a:r>
            <a:r>
              <a:rPr lang="en-US" sz="2000" dirty="0" smtClean="0">
                <a:latin typeface="Arial" panose="020B0604020202020204" pitchFamily="34" charset="0"/>
                <a:cs typeface="Arial" panose="020B0604020202020204" pitchFamily="34" charset="0"/>
              </a:rPr>
              <a:t>dataset.</a:t>
            </a:r>
          </a:p>
          <a:p>
            <a:pPr marL="342900" lvl="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(c) Which </a:t>
            </a:r>
            <a:r>
              <a:rPr lang="en-US" sz="2000" dirty="0">
                <a:latin typeface="Arial" panose="020B0604020202020204" pitchFamily="34" charset="0"/>
                <a:cs typeface="Arial" panose="020B0604020202020204" pitchFamily="34" charset="0"/>
              </a:rPr>
              <a:t>measure (mean or median) gives a more accurate description of the central tendency in this case? Justify your answer with reference to your calculations and the presence of the outlier. </a:t>
            </a:r>
          </a:p>
          <a:p>
            <a:pPr marL="34290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(d) Draw a box plot and explain the plot clearly.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40923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4327"/>
            <a:ext cx="9144000" cy="392704"/>
          </a:xfrm>
        </p:spPr>
        <p:txBody>
          <a:bodyPr>
            <a:noAutofit/>
          </a:bodyPr>
          <a:lstStyle/>
          <a:p>
            <a:r>
              <a:rPr lang="en-US" sz="2400" b="1" dirty="0" smtClean="0">
                <a:latin typeface="Arial" pitchFamily="34" charset="0"/>
                <a:cs typeface="Arial" pitchFamily="34" charset="0"/>
              </a:rPr>
              <a:t>Exercise</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406400" y="557167"/>
            <a:ext cx="11466286" cy="6061347"/>
          </a:xfrm>
        </p:spPr>
        <p:txBody>
          <a:bodyPr>
            <a:noAutofit/>
          </a:bodyPr>
          <a:lstStyle/>
          <a:p>
            <a:pPr marL="342900" lvl="0" indent="-342900" algn="l">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Problem-2:</a:t>
            </a:r>
            <a:r>
              <a:rPr lang="en-US" sz="2000" dirty="0" smtClean="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The following </a:t>
            </a:r>
            <a:r>
              <a:rPr lang="en-US" sz="2000" dirty="0">
                <a:latin typeface="Arial" panose="020B0604020202020204" pitchFamily="34" charset="0"/>
                <a:cs typeface="Arial" panose="020B0604020202020204" pitchFamily="34" charset="0"/>
              </a:rPr>
              <a:t>dataset represents the execution times of 10 independent cloud-based data processing jobs submitted to a computing cluster. </a:t>
            </a:r>
            <a:r>
              <a:rPr lang="en-US" sz="2000" dirty="0">
                <a:latin typeface="Arial" panose="020B0604020202020204" pitchFamily="34" charset="0"/>
                <a:cs typeface="Arial" panose="020B0604020202020204" pitchFamily="34" charset="0"/>
              </a:rPr>
              <a:t>Each value indicates how long (in seconds) it took for a job to be processed from start to completion.</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In computer systems and performance engineering, such data help evaluate system efficiency, load balancing, and consistency in response times. By analyzing dispersion measures, one can determine whether processing performance is stable or erratic across tasks.</a:t>
            </a:r>
          </a:p>
          <a:p>
            <a:pPr marL="342900" lvl="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Dataset: </a:t>
            </a:r>
            <a:r>
              <a:rPr lang="en-US" sz="2000" dirty="0">
                <a:latin typeface="Arial" panose="020B0604020202020204" pitchFamily="34" charset="0"/>
                <a:cs typeface="Arial" panose="020B0604020202020204" pitchFamily="34" charset="0"/>
              </a:rPr>
              <a:t>32</a:t>
            </a:r>
            <a:r>
              <a:rPr lang="en-US" sz="2000" dirty="0">
                <a:latin typeface="Arial" panose="020B0604020202020204" pitchFamily="34" charset="0"/>
                <a:cs typeface="Arial" panose="020B0604020202020204" pitchFamily="34" charset="0"/>
              </a:rPr>
              <a:t>, 28, 35, 40, 25, 38, 42, 45, 27, </a:t>
            </a:r>
            <a:r>
              <a:rPr lang="en-US" sz="2000" dirty="0" smtClean="0">
                <a:latin typeface="Arial" panose="020B0604020202020204" pitchFamily="34" charset="0"/>
                <a:cs typeface="Arial" panose="020B0604020202020204" pitchFamily="34" charset="0"/>
              </a:rPr>
              <a:t>36</a:t>
            </a:r>
            <a:endParaRPr lang="en-US" sz="2000" dirty="0" smtClean="0">
              <a:latin typeface="Arial" panose="020B0604020202020204" pitchFamily="34" charset="0"/>
              <a:cs typeface="Arial" panose="020B0604020202020204" pitchFamily="34" charset="0"/>
            </a:endParaRPr>
          </a:p>
          <a:p>
            <a:pPr marL="342900" lvl="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(a) </a:t>
            </a:r>
            <a:r>
              <a:rPr lang="en-US" sz="2000" dirty="0" smtClean="0">
                <a:latin typeface="Arial" panose="020B0604020202020204" pitchFamily="34" charset="0"/>
                <a:cs typeface="Arial" panose="020B0604020202020204" pitchFamily="34" charset="0"/>
              </a:rPr>
              <a:t>Compute </a:t>
            </a:r>
            <a:r>
              <a:rPr lang="en-US" sz="2000" dirty="0">
                <a:latin typeface="Arial" panose="020B0604020202020204" pitchFamily="34" charset="0"/>
                <a:cs typeface="Arial" panose="020B0604020202020204" pitchFamily="34" charset="0"/>
              </a:rPr>
              <a:t>the range, variance, and standard deviation of the given </a:t>
            </a:r>
            <a:r>
              <a:rPr lang="en-US" sz="2000" dirty="0" smtClean="0">
                <a:latin typeface="Arial" panose="020B0604020202020204" pitchFamily="34" charset="0"/>
                <a:cs typeface="Arial" panose="020B0604020202020204" pitchFamily="34" charset="0"/>
              </a:rPr>
              <a:t>data and comment </a:t>
            </a:r>
            <a:r>
              <a:rPr lang="en-US" sz="2000" dirty="0">
                <a:latin typeface="Arial" panose="020B0604020202020204" pitchFamily="34" charset="0"/>
                <a:cs typeface="Arial" panose="020B0604020202020204" pitchFamily="34" charset="0"/>
              </a:rPr>
              <a:t>on the variability of the processing times.</a:t>
            </a:r>
          </a:p>
          <a:p>
            <a:pPr marL="342900" lvl="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(b) </a:t>
            </a:r>
            <a:r>
              <a:rPr lang="en-US" sz="2000" dirty="0" smtClean="0">
                <a:latin typeface="Arial" panose="020B0604020202020204" pitchFamily="34" charset="0"/>
                <a:cs typeface="Arial" panose="020B0604020202020204" pitchFamily="34" charset="0"/>
              </a:rPr>
              <a:t>Assume </a:t>
            </a:r>
            <a:r>
              <a:rPr lang="en-US" sz="2000" dirty="0">
                <a:latin typeface="Arial" panose="020B0604020202020204" pitchFamily="34" charset="0"/>
                <a:cs typeface="Arial" panose="020B0604020202020204" pitchFamily="34" charset="0"/>
              </a:rPr>
              <a:t>the data approximately follow a bell-shaped (normal) </a:t>
            </a:r>
            <a:r>
              <a:rPr lang="en-US" sz="2000" dirty="0" smtClean="0">
                <a:latin typeface="Arial" panose="020B0604020202020204" pitchFamily="34" charset="0"/>
                <a:cs typeface="Arial" panose="020B0604020202020204" pitchFamily="34" charset="0"/>
              </a:rPr>
              <a:t>distribution. Determine </a:t>
            </a:r>
            <a:r>
              <a:rPr lang="en-US" sz="2000" dirty="0">
                <a:latin typeface="Arial" panose="020B0604020202020204" pitchFamily="34" charset="0"/>
                <a:cs typeface="Arial" panose="020B0604020202020204" pitchFamily="34" charset="0"/>
              </a:rPr>
              <a:t>the </a:t>
            </a:r>
            <a:r>
              <a:rPr lang="en-US" sz="2000" dirty="0" smtClean="0">
                <a:latin typeface="Arial" panose="020B0604020202020204" pitchFamily="34" charset="0"/>
                <a:cs typeface="Arial" panose="020B0604020202020204" pitchFamily="34" charset="0"/>
              </a:rPr>
              <a:t>intervals and the percentage </a:t>
            </a:r>
            <a:r>
              <a:rPr lang="en-US" sz="2000" dirty="0">
                <a:latin typeface="Arial" panose="020B0604020202020204" pitchFamily="34" charset="0"/>
                <a:cs typeface="Arial" panose="020B0604020202020204" pitchFamily="34" charset="0"/>
              </a:rPr>
              <a:t>of jobs expected to complete within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 1 standard deviation, (ii</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2 </a:t>
            </a:r>
            <a:r>
              <a:rPr lang="en-US" sz="2000" dirty="0">
                <a:latin typeface="Arial" panose="020B0604020202020204" pitchFamily="34" charset="0"/>
                <a:cs typeface="Arial" panose="020B0604020202020204" pitchFamily="34" charset="0"/>
              </a:rPr>
              <a:t>standard </a:t>
            </a:r>
            <a:r>
              <a:rPr lang="en-US" sz="2000" dirty="0" smtClean="0">
                <a:latin typeface="Arial" panose="020B0604020202020204" pitchFamily="34" charset="0"/>
                <a:cs typeface="Arial" panose="020B0604020202020204" pitchFamily="34" charset="0"/>
              </a:rPr>
              <a:t>deviations, and (iii) 3 </a:t>
            </a:r>
            <a:r>
              <a:rPr lang="en-US" sz="2000" dirty="0">
                <a:latin typeface="Arial" panose="020B0604020202020204" pitchFamily="34" charset="0"/>
                <a:cs typeface="Arial" panose="020B0604020202020204" pitchFamily="34" charset="0"/>
              </a:rPr>
              <a:t>standard </a:t>
            </a:r>
            <a:r>
              <a:rPr lang="en-US" sz="2000" dirty="0" smtClean="0">
                <a:latin typeface="Arial" panose="020B0604020202020204" pitchFamily="34" charset="0"/>
                <a:cs typeface="Arial" panose="020B0604020202020204" pitchFamily="34" charset="0"/>
              </a:rPr>
              <a:t>deviations from the mean. Interpret the results. </a:t>
            </a:r>
            <a:endParaRPr lang="en-US" sz="2000" dirty="0">
              <a:latin typeface="Arial" panose="020B0604020202020204" pitchFamily="34" charset="0"/>
              <a:cs typeface="Arial" panose="020B0604020202020204" pitchFamily="34" charset="0"/>
            </a:endParaRPr>
          </a:p>
          <a:p>
            <a:pPr marL="342900" lvl="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(c) </a:t>
            </a:r>
            <a:r>
              <a:rPr lang="en-US" sz="2000" dirty="0" smtClean="0">
                <a:latin typeface="Arial" panose="020B0604020202020204" pitchFamily="34" charset="0"/>
                <a:cs typeface="Arial" panose="020B0604020202020204" pitchFamily="34" charset="0"/>
              </a:rPr>
              <a:t>Using </a:t>
            </a:r>
            <a:r>
              <a:rPr lang="en-US" sz="2000" dirty="0" err="1">
                <a:latin typeface="Arial" panose="020B0604020202020204" pitchFamily="34" charset="0"/>
                <a:cs typeface="Arial" panose="020B0604020202020204" pitchFamily="34" charset="0"/>
              </a:rPr>
              <a:t>Chebyshev’s</a:t>
            </a:r>
            <a:r>
              <a:rPr lang="en-US" sz="2000" dirty="0">
                <a:latin typeface="Arial" panose="020B0604020202020204" pitchFamily="34" charset="0"/>
                <a:cs typeface="Arial" panose="020B0604020202020204" pitchFamily="34" charset="0"/>
              </a:rPr>
              <a:t> theorem, determine at least what percentage of data values lie within </a:t>
            </a:r>
            <a:r>
              <a:rPr lang="en-US" sz="2000" dirty="0" smtClean="0">
                <a:latin typeface="Arial" panose="020B0604020202020204" pitchFamily="34" charset="0"/>
                <a:cs typeface="Arial" panose="020B0604020202020204" pitchFamily="34" charset="0"/>
              </a:rPr>
              <a:t>(</a:t>
            </a:r>
            <a:r>
              <a:rPr lang="en-US" sz="2000" dirty="0" err="1" smtClean="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 1.5 </a:t>
            </a:r>
            <a:r>
              <a:rPr lang="en-US" sz="2000" dirty="0">
                <a:latin typeface="Arial" panose="020B0604020202020204" pitchFamily="34" charset="0"/>
                <a:cs typeface="Arial" panose="020B0604020202020204" pitchFamily="34" charset="0"/>
              </a:rPr>
              <a:t>standard </a:t>
            </a:r>
            <a:r>
              <a:rPr lang="en-US" sz="2000" dirty="0" smtClean="0">
                <a:latin typeface="Arial" panose="020B0604020202020204" pitchFamily="34" charset="0"/>
                <a:cs typeface="Arial" panose="020B0604020202020204" pitchFamily="34" charset="0"/>
              </a:rPr>
              <a:t>deviations, (ii) 3 </a:t>
            </a:r>
            <a:r>
              <a:rPr lang="en-US" sz="2000" dirty="0">
                <a:latin typeface="Arial" panose="020B0604020202020204" pitchFamily="34" charset="0"/>
                <a:cs typeface="Arial" panose="020B0604020202020204" pitchFamily="34" charset="0"/>
              </a:rPr>
              <a:t>standard deviations </a:t>
            </a:r>
            <a:r>
              <a:rPr lang="en-US" sz="2000" dirty="0" smtClean="0">
                <a:latin typeface="Arial" panose="020B0604020202020204" pitchFamily="34" charset="0"/>
                <a:cs typeface="Arial" panose="020B0604020202020204" pitchFamily="34" charset="0"/>
              </a:rPr>
              <a:t>from </a:t>
            </a:r>
            <a:r>
              <a:rPr lang="en-US" sz="2000" dirty="0">
                <a:latin typeface="Arial" panose="020B0604020202020204" pitchFamily="34" charset="0"/>
                <a:cs typeface="Arial" panose="020B0604020202020204" pitchFamily="34" charset="0"/>
              </a:rPr>
              <a:t>the mean</a:t>
            </a:r>
            <a:r>
              <a:rPr lang="en-US" sz="2000" dirty="0" smtClean="0">
                <a:latin typeface="Arial" panose="020B0604020202020204" pitchFamily="34" charset="0"/>
                <a:cs typeface="Arial" panose="020B0604020202020204" pitchFamily="34" charset="0"/>
              </a:rPr>
              <a:t>. Interpret the results. </a:t>
            </a:r>
            <a:endParaRPr lang="en-US" sz="2000" dirty="0">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(d) </a:t>
            </a:r>
            <a:r>
              <a:rPr lang="en-US" sz="2000" dirty="0" smtClean="0">
                <a:latin typeface="Arial" panose="020B0604020202020204" pitchFamily="34" charset="0"/>
                <a:cs typeface="Arial" panose="020B0604020202020204" pitchFamily="34" charset="0"/>
              </a:rPr>
              <a:t>If </a:t>
            </a:r>
            <a:r>
              <a:rPr lang="en-US" sz="2000" dirty="0">
                <a:latin typeface="Arial" panose="020B0604020202020204" pitchFamily="34" charset="0"/>
                <a:cs typeface="Arial" panose="020B0604020202020204" pitchFamily="34" charset="0"/>
              </a:rPr>
              <a:t>a new job took 50 seconds, calculate its z-score and interpret it (Is it unusually high or low compared to the others?).</a:t>
            </a:r>
          </a:p>
          <a:p>
            <a:pPr marL="342900" indent="-342900" algn="l">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69981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4327"/>
            <a:ext cx="9144000" cy="392704"/>
          </a:xfrm>
        </p:spPr>
        <p:txBody>
          <a:bodyPr>
            <a:noAutofit/>
          </a:bodyPr>
          <a:lstStyle/>
          <a:p>
            <a:r>
              <a:rPr lang="en-US" sz="2400" b="1" dirty="0" smtClean="0">
                <a:latin typeface="Arial" pitchFamily="34" charset="0"/>
                <a:cs typeface="Arial" pitchFamily="34" charset="0"/>
              </a:rPr>
              <a:t>Exercise</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406400" y="557167"/>
            <a:ext cx="11466286" cy="6061347"/>
          </a:xfrm>
        </p:spPr>
        <p:txBody>
          <a:bodyPr>
            <a:noAutofit/>
          </a:bodyPr>
          <a:lstStyle/>
          <a:p>
            <a:pPr marL="342900" lvl="0" indent="-342900" algn="l">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Problem-3:</a:t>
            </a:r>
            <a:r>
              <a:rPr lang="en-US" sz="2000" dirty="0" smtClean="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The following </a:t>
            </a:r>
            <a:r>
              <a:rPr lang="en-US" sz="2000" dirty="0">
                <a:latin typeface="Arial" panose="020B0604020202020204" pitchFamily="34" charset="0"/>
                <a:cs typeface="Arial" panose="020B0604020202020204" pitchFamily="34" charset="0"/>
              </a:rPr>
              <a:t>dataset contains the monthly data transfer volumes (in gigabytes) recorded for a company’s cloud servers over ten consecutive months.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values indicate the total data usage or bandwidth consumption per month. Such analysis is essential in network performance monitoring and capacity planning, as it helps identify variability, growth trends, and outlier months with unusually high or low usage.</a:t>
            </a:r>
          </a:p>
          <a:p>
            <a:pPr marL="342900" lvl="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Dataset: </a:t>
            </a:r>
            <a:r>
              <a:rPr lang="en-US" sz="2000" dirty="0" smtClean="0">
                <a:latin typeface="Arial" panose="020B0604020202020204" pitchFamily="34" charset="0"/>
                <a:cs typeface="Arial" panose="020B0604020202020204" pitchFamily="34" charset="0"/>
              </a:rPr>
              <a:t>100</a:t>
            </a:r>
            <a:r>
              <a:rPr lang="en-US" sz="2000" dirty="0">
                <a:latin typeface="Arial" panose="020B0604020202020204" pitchFamily="34" charset="0"/>
                <a:cs typeface="Arial" panose="020B0604020202020204" pitchFamily="34" charset="0"/>
              </a:rPr>
              <a:t>, 120, 115, 130, 140, 125, 135, 150, 155, 160</a:t>
            </a:r>
            <a:endParaRPr lang="en-US" sz="2000" dirty="0">
              <a:latin typeface="Arial" panose="020B0604020202020204" pitchFamily="34" charset="0"/>
              <a:cs typeface="Arial" panose="020B0604020202020204" pitchFamily="34" charset="0"/>
            </a:endParaRPr>
          </a:p>
          <a:p>
            <a:pPr marL="342900" lvl="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(a) </a:t>
            </a:r>
            <a:r>
              <a:rPr lang="en-US" sz="2000" dirty="0" smtClean="0">
                <a:latin typeface="Arial" panose="020B0604020202020204" pitchFamily="34" charset="0"/>
                <a:cs typeface="Arial" panose="020B0604020202020204" pitchFamily="34" charset="0"/>
              </a:rPr>
              <a:t>Compute </a:t>
            </a:r>
            <a:r>
              <a:rPr lang="en-US" sz="2000" dirty="0">
                <a:latin typeface="Arial" panose="020B0604020202020204" pitchFamily="34" charset="0"/>
                <a:cs typeface="Arial" panose="020B0604020202020204" pitchFamily="34" charset="0"/>
              </a:rPr>
              <a:t>the range, variance, </a:t>
            </a:r>
            <a:r>
              <a:rPr lang="en-US" sz="2000" dirty="0" smtClean="0">
                <a:latin typeface="Arial" panose="020B0604020202020204" pitchFamily="34" charset="0"/>
                <a:cs typeface="Arial" panose="020B0604020202020204" pitchFamily="34" charset="0"/>
              </a:rPr>
              <a:t>standard deviation, and CV </a:t>
            </a:r>
            <a:r>
              <a:rPr lang="en-US" sz="2000" dirty="0">
                <a:latin typeface="Arial" panose="020B0604020202020204" pitchFamily="34" charset="0"/>
                <a:cs typeface="Arial" panose="020B0604020202020204" pitchFamily="34" charset="0"/>
              </a:rPr>
              <a:t>of the given </a:t>
            </a:r>
            <a:r>
              <a:rPr lang="en-US" sz="2000" dirty="0" smtClean="0">
                <a:latin typeface="Arial" panose="020B0604020202020204" pitchFamily="34" charset="0"/>
                <a:cs typeface="Arial" panose="020B0604020202020204" pitchFamily="34" charset="0"/>
              </a:rPr>
              <a:t>data and explain </a:t>
            </a:r>
            <a:r>
              <a:rPr lang="en-US" sz="2000" dirty="0">
                <a:latin typeface="Arial" panose="020B0604020202020204" pitchFamily="34" charset="0"/>
                <a:cs typeface="Arial" panose="020B0604020202020204" pitchFamily="34" charset="0"/>
              </a:rPr>
              <a:t>whether the data transfer rate is highly variable or relatively stable.</a:t>
            </a:r>
          </a:p>
          <a:p>
            <a:pPr marL="34290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(b) </a:t>
            </a:r>
            <a:r>
              <a:rPr lang="en-US" sz="2000" dirty="0" smtClean="0">
                <a:latin typeface="Arial" panose="020B0604020202020204" pitchFamily="34" charset="0"/>
                <a:cs typeface="Arial" panose="020B0604020202020204" pitchFamily="34" charset="0"/>
              </a:rPr>
              <a:t>Assume </a:t>
            </a:r>
            <a:r>
              <a:rPr lang="en-US" sz="2000" dirty="0">
                <a:latin typeface="Arial" panose="020B0604020202020204" pitchFamily="34" charset="0"/>
                <a:cs typeface="Arial" panose="020B0604020202020204" pitchFamily="34" charset="0"/>
              </a:rPr>
              <a:t>the data approximately follow a bell-shaped (normal) </a:t>
            </a:r>
            <a:r>
              <a:rPr lang="en-US" sz="2000" dirty="0" smtClean="0">
                <a:latin typeface="Arial" panose="020B0604020202020204" pitchFamily="34" charset="0"/>
                <a:cs typeface="Arial" panose="020B0604020202020204" pitchFamily="34" charset="0"/>
              </a:rPr>
              <a:t>distribution. Apply </a:t>
            </a:r>
            <a:r>
              <a:rPr lang="en-US" sz="2000" dirty="0">
                <a:latin typeface="Arial" panose="020B0604020202020204" pitchFamily="34" charset="0"/>
                <a:cs typeface="Arial" panose="020B0604020202020204" pitchFamily="34" charset="0"/>
              </a:rPr>
              <a:t>the </a:t>
            </a:r>
            <a:r>
              <a:rPr lang="en-US" sz="2000" dirty="0" smtClean="0">
                <a:latin typeface="Arial" panose="020B0604020202020204" pitchFamily="34" charset="0"/>
                <a:cs typeface="Arial" panose="020B0604020202020204" pitchFamily="34" charset="0"/>
              </a:rPr>
              <a:t>68–95–99 </a:t>
            </a:r>
            <a:r>
              <a:rPr lang="en-US" sz="2000" dirty="0">
                <a:latin typeface="Arial" panose="020B0604020202020204" pitchFamily="34" charset="0"/>
                <a:cs typeface="Arial" panose="020B0604020202020204" pitchFamily="34" charset="0"/>
              </a:rPr>
              <a:t>rule to determine the interval within which most monthly transfer rates are expected to lie</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Interpret the results. </a:t>
            </a:r>
            <a:endParaRPr lang="en-US" sz="2000" dirty="0">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(c) Use </a:t>
            </a:r>
            <a:r>
              <a:rPr lang="en-US" sz="2000" dirty="0" err="1">
                <a:latin typeface="Arial" panose="020B0604020202020204" pitchFamily="34" charset="0"/>
                <a:cs typeface="Arial" panose="020B0604020202020204" pitchFamily="34" charset="0"/>
              </a:rPr>
              <a:t>Chebyshev’s</a:t>
            </a:r>
            <a:r>
              <a:rPr lang="en-US" sz="2000" dirty="0">
                <a:latin typeface="Arial" panose="020B0604020202020204" pitchFamily="34" charset="0"/>
                <a:cs typeface="Arial" panose="020B0604020202020204" pitchFamily="34" charset="0"/>
              </a:rPr>
              <a:t> theorem to calculate the minimum proportion of monthly data rates expected to fall within </a:t>
            </a:r>
            <a:r>
              <a:rPr lang="en-US" sz="2000" dirty="0" smtClean="0">
                <a:latin typeface="Arial" panose="020B0604020202020204" pitchFamily="34" charset="0"/>
                <a:cs typeface="Arial" panose="020B0604020202020204" pitchFamily="34" charset="0"/>
              </a:rPr>
              <a:t>(</a:t>
            </a:r>
            <a:r>
              <a:rPr lang="en-US" sz="2000" dirty="0" err="1" smtClean="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 2 </a:t>
            </a:r>
            <a:r>
              <a:rPr lang="en-US" sz="2000" dirty="0">
                <a:latin typeface="Arial" panose="020B0604020202020204" pitchFamily="34" charset="0"/>
                <a:cs typeface="Arial" panose="020B0604020202020204" pitchFamily="34" charset="0"/>
              </a:rPr>
              <a:t>standard </a:t>
            </a:r>
            <a:r>
              <a:rPr lang="en-US" sz="2000" dirty="0" smtClean="0">
                <a:latin typeface="Arial" panose="020B0604020202020204" pitchFamily="34" charset="0"/>
                <a:cs typeface="Arial" panose="020B0604020202020204" pitchFamily="34" charset="0"/>
              </a:rPr>
              <a:t>deviations, </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2 standard </a:t>
            </a:r>
            <a:r>
              <a:rPr lang="en-US" sz="2000" dirty="0" smtClean="0">
                <a:latin typeface="Arial" panose="020B0604020202020204" pitchFamily="34" charset="0"/>
                <a:cs typeface="Arial" panose="020B0604020202020204" pitchFamily="34" charset="0"/>
              </a:rPr>
              <a:t>deviations, (iii) </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4 </a:t>
            </a:r>
            <a:r>
              <a:rPr lang="en-US" sz="2000" dirty="0">
                <a:latin typeface="Arial" panose="020B0604020202020204" pitchFamily="34" charset="0"/>
                <a:cs typeface="Arial" panose="020B0604020202020204" pitchFamily="34" charset="0"/>
              </a:rPr>
              <a:t>standard deviations </a:t>
            </a:r>
            <a:r>
              <a:rPr lang="en-US" sz="2000" dirty="0" smtClean="0">
                <a:latin typeface="Arial" panose="020B0604020202020204" pitchFamily="34" charset="0"/>
                <a:cs typeface="Arial" panose="020B0604020202020204" pitchFamily="34" charset="0"/>
              </a:rPr>
              <a:t>of </a:t>
            </a:r>
            <a:r>
              <a:rPr lang="en-US" sz="2000" dirty="0">
                <a:latin typeface="Arial" panose="020B0604020202020204" pitchFamily="34" charset="0"/>
                <a:cs typeface="Arial" panose="020B0604020202020204" pitchFamily="34" charset="0"/>
              </a:rPr>
              <a:t>the mean</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Interpret the results. </a:t>
            </a:r>
          </a:p>
          <a:p>
            <a:pPr marL="342900" indent="-342900" algn="l">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a:t>
            </a:r>
            <a:r>
              <a:rPr lang="en-US" sz="2000" dirty="0" smtClean="0">
                <a:latin typeface="Arial" panose="020B0604020202020204" pitchFamily="34" charset="0"/>
                <a:cs typeface="Arial" panose="020B0604020202020204" pitchFamily="34" charset="0"/>
              </a:rPr>
              <a:t>d) </a:t>
            </a:r>
            <a:r>
              <a:rPr lang="en-US" sz="2000" dirty="0" smtClean="0">
                <a:latin typeface="Arial" panose="020B0604020202020204" pitchFamily="34" charset="0"/>
                <a:cs typeface="Arial" panose="020B0604020202020204" pitchFamily="34" charset="0"/>
              </a:rPr>
              <a:t>Suppose </a:t>
            </a:r>
            <a:r>
              <a:rPr lang="en-US" sz="2000" dirty="0">
                <a:latin typeface="Arial" panose="020B0604020202020204" pitchFamily="34" charset="0"/>
                <a:cs typeface="Arial" panose="020B0604020202020204" pitchFamily="34" charset="0"/>
              </a:rPr>
              <a:t>one month the transfer rate was 180 </a:t>
            </a:r>
            <a:r>
              <a:rPr lang="en-US" sz="2000" dirty="0" smtClean="0">
                <a:latin typeface="Arial" panose="020B0604020202020204" pitchFamily="34" charset="0"/>
                <a:cs typeface="Arial" panose="020B0604020202020204" pitchFamily="34" charset="0"/>
              </a:rPr>
              <a:t>GB.</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Compute </a:t>
            </a:r>
            <a:r>
              <a:rPr lang="en-US" sz="2000" dirty="0">
                <a:latin typeface="Arial" panose="020B0604020202020204" pitchFamily="34" charset="0"/>
                <a:cs typeface="Arial" panose="020B0604020202020204" pitchFamily="34" charset="0"/>
              </a:rPr>
              <a:t>its </a:t>
            </a:r>
            <a:r>
              <a:rPr lang="en-US" sz="2000" dirty="0" smtClean="0">
                <a:latin typeface="Arial" panose="020B0604020202020204" pitchFamily="34" charset="0"/>
                <a:cs typeface="Arial" panose="020B0604020202020204" pitchFamily="34" charset="0"/>
              </a:rPr>
              <a:t>z-score.</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Interpret </a:t>
            </a:r>
            <a:r>
              <a:rPr lang="en-US" sz="2000" dirty="0">
                <a:latin typeface="Arial" panose="020B0604020202020204" pitchFamily="34" charset="0"/>
                <a:cs typeface="Arial" panose="020B0604020202020204" pitchFamily="34" charset="0"/>
              </a:rPr>
              <a:t>its meaning: Is this month’s usage exceptionally high compared to typical months?</a:t>
            </a:r>
          </a:p>
          <a:p>
            <a:pPr marL="342900" indent="-342900" algn="l">
              <a:buFont typeface="Wingdings" panose="05000000000000000000" pitchFamily="2" charset="2"/>
              <a:buChar char="Ø"/>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54242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061126"/>
            <a:ext cx="9144000" cy="1655762"/>
          </a:xfrm>
        </p:spPr>
        <p:txBody>
          <a:bodyPr>
            <a:normAutofit/>
          </a:bodyPr>
          <a:lstStyle/>
          <a:p>
            <a:pPr>
              <a:lnSpc>
                <a:spcPct val="150000"/>
              </a:lnSpc>
            </a:pPr>
            <a:r>
              <a:rPr lang="en-US" sz="4000" dirty="0" smtClean="0">
                <a:latin typeface="Arial" panose="020B0604020202020204" pitchFamily="34" charset="0"/>
                <a:cs typeface="Arial" panose="020B0604020202020204" pitchFamily="34" charset="0"/>
              </a:rPr>
              <a:t>Thank You</a:t>
            </a: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3422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3764</TotalTime>
  <Words>2406</Words>
  <Application>Microsoft Office PowerPoint</Application>
  <PresentationFormat>Widescreen</PresentationFormat>
  <Paragraphs>303</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Calibri Light</vt:lpstr>
      <vt:lpstr>Cambria Math</vt:lpstr>
      <vt:lpstr>Times New Roman</vt:lpstr>
      <vt:lpstr>Wingdings</vt:lpstr>
      <vt:lpstr>Office Theme</vt:lpstr>
      <vt:lpstr>COURSE TITLE: : Statistics and Probability COURSE CODE: STA 102 Topics: Numerical Measures: Measures of Dispersion</vt:lpstr>
      <vt:lpstr>Measures of Dispersion </vt:lpstr>
      <vt:lpstr>Measures of Dispersion </vt:lpstr>
      <vt:lpstr>Measures of Dispersion </vt:lpstr>
      <vt:lpstr>Measures of Dispersion </vt:lpstr>
      <vt:lpstr>Different measure of dispersion</vt:lpstr>
      <vt:lpstr>Different measure of dispersion</vt:lpstr>
      <vt:lpstr>Measure of Dispersion: Range </vt:lpstr>
      <vt:lpstr>Measure of Dispersion: Quartile deviation </vt:lpstr>
      <vt:lpstr>Measure of Dispersion: Quartile deviation </vt:lpstr>
      <vt:lpstr>Properties of quartile deviation </vt:lpstr>
      <vt:lpstr>Measure of Dispersion: Mean deviation </vt:lpstr>
      <vt:lpstr>Measure of Dispersion: Mean deviation (cont…) </vt:lpstr>
      <vt:lpstr>Properties of mean deviation </vt:lpstr>
      <vt:lpstr>Measures of Dispersion: The Standard Deviation </vt:lpstr>
      <vt:lpstr>Standard deviation (cont…) </vt:lpstr>
      <vt:lpstr>Properties of Variance</vt:lpstr>
      <vt:lpstr>How to Interpret the Standard deviation</vt:lpstr>
      <vt:lpstr>Empirical Rule</vt:lpstr>
      <vt:lpstr>Chebyshev’s theorem</vt:lpstr>
      <vt:lpstr>Use of Standard Deviation: Z-score</vt:lpstr>
      <vt:lpstr>Use of Standard Deviation: Z-score</vt:lpstr>
      <vt:lpstr>Why Z-score is necessary</vt:lpstr>
      <vt:lpstr>Relative Measures of Dispersion </vt:lpstr>
      <vt:lpstr>Relative Measures of Dispersion (cont…)</vt:lpstr>
      <vt:lpstr>Box and Whisker Plot</vt:lpstr>
      <vt:lpstr>How a box plot is drawn</vt:lpstr>
      <vt:lpstr>Drawing a boxplot</vt:lpstr>
      <vt:lpstr>How to Interpret a Boxplot</vt:lpstr>
      <vt:lpstr>How to Interpret a Boxplot</vt:lpstr>
      <vt:lpstr>Exercise</vt:lpstr>
      <vt:lpstr>Exercise</vt:lpstr>
      <vt:lpstr>Exercise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  Business Statistics COURSE CODE: BUS 7203</dc:title>
  <dc:creator>EH</dc:creator>
  <cp:lastModifiedBy>Statistics</cp:lastModifiedBy>
  <cp:revision>239</cp:revision>
  <dcterms:created xsi:type="dcterms:W3CDTF">2021-09-04T13:58:51Z</dcterms:created>
  <dcterms:modified xsi:type="dcterms:W3CDTF">2025-10-19T03:00:50Z</dcterms:modified>
</cp:coreProperties>
</file>