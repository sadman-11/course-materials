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0" r:id="rId3"/>
    <p:sldId id="275" r:id="rId4"/>
    <p:sldId id="265" r:id="rId5"/>
    <p:sldId id="276" r:id="rId6"/>
    <p:sldId id="277" r:id="rId7"/>
    <p:sldId id="278" r:id="rId8"/>
    <p:sldId id="261" r:id="rId9"/>
    <p:sldId id="288" r:id="rId10"/>
    <p:sldId id="262" r:id="rId11"/>
    <p:sldId id="283" r:id="rId12"/>
    <p:sldId id="258" r:id="rId13"/>
    <p:sldId id="279" r:id="rId14"/>
    <p:sldId id="284" r:id="rId15"/>
    <p:sldId id="257" r:id="rId16"/>
    <p:sldId id="280" r:id="rId17"/>
    <p:sldId id="285" r:id="rId18"/>
    <p:sldId id="286" r:id="rId19"/>
    <p:sldId id="263" r:id="rId20"/>
    <p:sldId id="287" r:id="rId21"/>
    <p:sldId id="259" r:id="rId22"/>
    <p:sldId id="264" r:id="rId23"/>
    <p:sldId id="268" r:id="rId24"/>
    <p:sldId id="272" r:id="rId25"/>
    <p:sldId id="267" r:id="rId26"/>
    <p:sldId id="273" r:id="rId27"/>
    <p:sldId id="269" r:id="rId28"/>
    <p:sldId id="270" r:id="rId29"/>
    <p:sldId id="274" r:id="rId30"/>
    <p:sldId id="271" r:id="rId31"/>
    <p:sldId id="290" r:id="rId32"/>
    <p:sldId id="291" r:id="rId33"/>
    <p:sldId id="289" r:id="rId34"/>
    <p:sldId id="292" r:id="rId35"/>
    <p:sldId id="294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>
      <p:cViewPr varScale="1">
        <p:scale>
          <a:sx n="80" d="100"/>
          <a:sy n="80" d="100"/>
        </p:scale>
        <p:origin x="8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028C8BE-0D87-44F8-A5F0-71DA7DF14AE6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D67A734-DE41-415C-A3AC-9D2DFDBEEA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67A734-DE41-415C-A3AC-9D2DFDBEEAE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81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10C90-FDF8-484E-AA70-E90394199801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49189-1530-496F-A152-7056503C89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2A3C3-2EF8-4164-B871-2FE19A979326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73775-5B2C-4445-BD4B-4399589151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D3AC5-1B29-4D5C-9958-2F37E0E5F73F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C377E-6440-4FAF-AB46-801DC93BF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E55B3-8814-48C6-9314-B3B39EECF9E4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D49C-60A3-4B01-AB90-08B080278F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CCFE6-4995-4185-B9FD-8B8C836EB081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EFDA4-E634-4D10-9A75-23E0896703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95F8C-9E46-4141-B969-1705E4A5453A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77AEE-0E67-45EA-B2AE-46AF25F8FC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1770-0F3D-4B2E-B4F3-037AC2C9A895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64544-E6C0-40F5-B423-FBB5D99B7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655666-98B6-4C1A-A868-BBC3DE8B9959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8350B-0B65-40F8-A9AD-2735F1C4C8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4620B-A4FB-4DED-85DA-2D7EE19C158C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CCF7B-F950-41F6-B2CF-C1E90C0E2B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01EF88-85C4-4446-8CEF-D7A2DF1564BF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C041C-BBC2-4E84-8321-F5B732C291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1623C-4266-4055-955C-84A75355807B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4FC1C-1D69-4FF0-9606-C3C507808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4F13379-4DB7-47D0-B692-DE99DD58A819}" type="datetimeFigureOut">
              <a:rPr lang="en-US"/>
              <a:pPr>
                <a:defRPr/>
              </a:pPr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38D46B-92DE-4FE5-9088-44FA7BE09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8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7400" y="1447800"/>
            <a:ext cx="5478359" cy="186204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5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AVL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5084" y="3309848"/>
            <a:ext cx="5410200" cy="258532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rgbClr val="92D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cs typeface="Times New Roman" panose="02020603050405020304" pitchFamily="18" charset="0"/>
              </a:rPr>
              <a:t>Presented By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 err="1">
                <a:ln/>
                <a:solidFill>
                  <a:srgbClr val="92D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cs typeface="Times New Roman" panose="02020603050405020304" pitchFamily="18" charset="0"/>
              </a:rPr>
              <a:t>Anjuman</a:t>
            </a:r>
            <a:r>
              <a:rPr lang="en-US" sz="5400" b="1" cap="all" dirty="0">
                <a:ln/>
                <a:solidFill>
                  <a:srgbClr val="92D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5400" b="1" cap="all" dirty="0" err="1">
                <a:ln/>
                <a:solidFill>
                  <a:srgbClr val="92D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cs typeface="Times New Roman" panose="02020603050405020304" pitchFamily="18" charset="0"/>
              </a:rPr>
              <a:t>ara</a:t>
            </a:r>
            <a:endParaRPr lang="en-US" sz="5400" b="1" cap="all" dirty="0">
              <a:ln/>
              <a:solidFill>
                <a:srgbClr val="92D05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+mj-lt"/>
              <a:cs typeface="Times New Roman" panose="02020603050405020304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rgbClr val="92D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j-lt"/>
                <a:cs typeface="Times New Roman" panose="02020603050405020304" pitchFamily="18" charset="0"/>
              </a:rPr>
              <a:t>id:2024-1-60-279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47554" y="152400"/>
            <a:ext cx="568918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TABLE of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1315" y="1225082"/>
            <a:ext cx="5486401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1315" y="2123420"/>
            <a:ext cx="5486401" cy="58477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CHARACTERISTICS of AVL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1314" y="3053369"/>
            <a:ext cx="5486402" cy="584775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APPLICATION of AVL TREE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F828A-8EC7-4D0E-8FFC-D1AF5F093611}"/>
              </a:ext>
            </a:extLst>
          </p:cNvPr>
          <p:cNvSpPr txBox="1"/>
          <p:nvPr/>
        </p:nvSpPr>
        <p:spPr>
          <a:xfrm>
            <a:off x="2031314" y="4044625"/>
            <a:ext cx="5486401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PROS and CONS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41D92-CCF7-4396-A243-1D0347FC9F24}"/>
              </a:ext>
            </a:extLst>
          </p:cNvPr>
          <p:cNvSpPr txBox="1"/>
          <p:nvPr/>
        </p:nvSpPr>
        <p:spPr>
          <a:xfrm>
            <a:off x="2031314" y="5048143"/>
            <a:ext cx="5486401" cy="58477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CONCLUSION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0" y="152400"/>
            <a:ext cx="385028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66800"/>
            <a:ext cx="9168857" cy="144655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AVL Tree is also a Binary Search Tree but it is balanced tree.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Here balanced means the difference between height of right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subtree and left subtree must be </a:t>
            </a:r>
            <a:r>
              <a:rPr lang="en-US" sz="3200" b="1" dirty="0">
                <a:solidFill>
                  <a:srgbClr val="FFFF00"/>
                </a:solidFill>
              </a:rPr>
              <a:t>-1 </a:t>
            </a:r>
            <a:r>
              <a:rPr lang="en-US" sz="3200" b="1" dirty="0">
                <a:solidFill>
                  <a:schemeClr val="bg1"/>
                </a:solidFill>
              </a:rPr>
              <a:t>OR</a:t>
            </a:r>
            <a:r>
              <a:rPr lang="en-US" sz="3200" b="1" dirty="0">
                <a:solidFill>
                  <a:srgbClr val="FFFF00"/>
                </a:solidFill>
              </a:rPr>
              <a:t> 0 </a:t>
            </a:r>
            <a:r>
              <a:rPr lang="en-US" sz="3200" b="1" dirty="0">
                <a:solidFill>
                  <a:schemeClr val="bg1"/>
                </a:solidFill>
              </a:rPr>
              <a:t>OR</a:t>
            </a:r>
            <a:r>
              <a:rPr lang="en-US" sz="3200" b="1" dirty="0">
                <a:solidFill>
                  <a:srgbClr val="FFFF00"/>
                </a:solidFill>
              </a:rPr>
              <a:t> +1</a:t>
            </a:r>
            <a:r>
              <a:rPr lang="en-US" sz="2800" b="1" dirty="0"/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3008293"/>
            <a:ext cx="8432117" cy="954107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In AVL Tree every node will have one extra information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known as  BALANCE FACTOR.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4472583"/>
            <a:ext cx="8991600" cy="507831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dirty="0" err="1"/>
              <a:t>BalanceFactor</a:t>
            </a:r>
            <a:r>
              <a:rPr lang="en-US" sz="2700" b="1" dirty="0"/>
              <a:t> = </a:t>
            </a:r>
            <a:r>
              <a:rPr lang="en-US" sz="2700" b="1" dirty="0" err="1"/>
              <a:t>HeightOfRightSubtree</a:t>
            </a:r>
            <a:r>
              <a:rPr lang="en-US" sz="2700" b="1" dirty="0"/>
              <a:t> – </a:t>
            </a:r>
            <a:r>
              <a:rPr lang="en-US" sz="2700" b="1" dirty="0" err="1"/>
              <a:t>HeightOfLeftSubtree</a:t>
            </a:r>
            <a:endParaRPr lang="en-US" sz="27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EF05B-E09E-49C4-9433-1B62C30EF56B}"/>
              </a:ext>
            </a:extLst>
          </p:cNvPr>
          <p:cNvSpPr txBox="1"/>
          <p:nvPr/>
        </p:nvSpPr>
        <p:spPr>
          <a:xfrm>
            <a:off x="609600" y="5383024"/>
            <a:ext cx="8127317" cy="107721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1" algn="ctr"/>
            <a:r>
              <a:rPr lang="en-US" altLang="en-US" sz="3200" b="1" dirty="0">
                <a:solidFill>
                  <a:schemeClr val="bg1"/>
                </a:solidFill>
              </a:rPr>
              <a:t>it can be proven that the height of an</a:t>
            </a:r>
            <a:br>
              <a:rPr lang="en-US" altLang="en-US" sz="3200" b="1" dirty="0">
                <a:solidFill>
                  <a:schemeClr val="bg1"/>
                </a:solidFill>
              </a:rPr>
            </a:br>
            <a:r>
              <a:rPr lang="en-US" altLang="en-US" sz="3200" b="1" dirty="0">
                <a:solidFill>
                  <a:schemeClr val="bg1"/>
                </a:solidFill>
              </a:rPr>
              <a:t>AVL tree with </a:t>
            </a:r>
            <a:r>
              <a:rPr lang="en-US" altLang="en-US" sz="3200" b="1" i="1" dirty="0">
                <a:solidFill>
                  <a:schemeClr val="bg1"/>
                </a:solidFill>
              </a:rPr>
              <a:t>N</a:t>
            </a:r>
            <a:r>
              <a:rPr lang="en-US" altLang="en-US" sz="3200" b="1" dirty="0">
                <a:solidFill>
                  <a:schemeClr val="bg1"/>
                </a:solidFill>
              </a:rPr>
              <a:t> nodes is O(log </a:t>
            </a:r>
            <a:r>
              <a:rPr lang="en-US" altLang="en-US" sz="3200" b="1" i="1" dirty="0">
                <a:solidFill>
                  <a:schemeClr val="bg1"/>
                </a:solidFill>
              </a:rPr>
              <a:t>N</a:t>
            </a:r>
            <a:r>
              <a:rPr lang="en-US" altLang="en-US" sz="3200" b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79029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5130"/>
            <a:ext cx="9144000" cy="255454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</a:rPr>
              <a:t>The AVL tree is named after its two Russian inventors, G.M. Adelson-</a:t>
            </a:r>
            <a:r>
              <a:rPr lang="en-US" sz="3200" b="1" dirty="0" err="1">
                <a:solidFill>
                  <a:schemeClr val="bg1"/>
                </a:solidFill>
              </a:rPr>
              <a:t>Velskii</a:t>
            </a:r>
            <a:r>
              <a:rPr lang="en-US" sz="3200" b="1" dirty="0">
                <a:solidFill>
                  <a:schemeClr val="bg1"/>
                </a:solidFill>
              </a:rPr>
              <a:t> and E.M. Landis, who published it in the 1962.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3200" b="1" dirty="0"/>
              <a:t>A-V &amp; L proved that an AVL tree's height is always O(log </a:t>
            </a:r>
            <a:r>
              <a:rPr lang="en-US" altLang="en-US" sz="3200" b="1" i="1" dirty="0"/>
              <a:t>N</a:t>
            </a:r>
            <a:r>
              <a:rPr lang="en-US" altLang="en-US" sz="3200" b="1" dirty="0"/>
              <a:t>).</a:t>
            </a:r>
          </a:p>
        </p:txBody>
      </p:sp>
      <p:pic>
        <p:nvPicPr>
          <p:cNvPr id="2050" name="Picture 4" descr="Description: File:AVLtreef.sv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3462528"/>
            <a:ext cx="7200900" cy="3200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/>
          <p:cNvSpPr/>
          <p:nvPr/>
        </p:nvSpPr>
        <p:spPr>
          <a:xfrm>
            <a:off x="457200" y="2533102"/>
            <a:ext cx="2623219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Example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70" decel="10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770" decel="100000"/>
                                        <p:tgtEl>
                                          <p:spTgt spid="20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4" dur="77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240065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3200" b="1" dirty="0">
                <a:solidFill>
                  <a:schemeClr val="accent6"/>
                </a:solidFill>
                <a:latin typeface="+mj-lt"/>
              </a:rPr>
              <a:t>Two binary search trees:</a:t>
            </a:r>
          </a:p>
          <a:p>
            <a:r>
              <a:rPr lang="en-US" sz="3200" b="1" dirty="0">
                <a:solidFill>
                  <a:schemeClr val="accent6"/>
                </a:solidFill>
                <a:latin typeface="+mj-lt"/>
              </a:rPr>
              <a:t>(a) an AVL tree</a:t>
            </a:r>
          </a:p>
          <a:p>
            <a:r>
              <a:rPr lang="en-US" sz="3200" b="1" dirty="0">
                <a:solidFill>
                  <a:schemeClr val="accent6"/>
                </a:solidFill>
                <a:latin typeface="+mj-lt"/>
              </a:rPr>
              <a:t>(b) not an AVL tree (unbalanced nodes are darkened)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40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+mn-lt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59601-A09A-4707-BBE5-01E33D69A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8382000" cy="446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63419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C3E38146-9740-4C4B-8F9B-5A319400C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1" y="9144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chemeClr val="bg1"/>
                </a:solidFill>
              </a:rPr>
              <a:t>What is the balance factor of each tree node</a:t>
            </a:r>
            <a:r>
              <a:rPr lang="en-US" altLang="en-US" dirty="0">
                <a:solidFill>
                  <a:srgbClr val="262626"/>
                </a:solidFill>
              </a:rPr>
              <a:t>?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2D98B19-A3E1-42B6-AFDE-7BCEDCEE4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3811"/>
            <a:ext cx="9067800" cy="1022985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6"/>
                </a:solidFill>
              </a:rPr>
              <a:t>Which are valid AVL trees?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54B34777-67B7-4933-AC9A-5359F8D192D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286000"/>
            <a:ext cx="1676400" cy="1371600"/>
            <a:chOff x="360" y="1488"/>
            <a:chExt cx="1056" cy="864"/>
          </a:xfrm>
        </p:grpSpPr>
        <p:sp>
          <p:nvSpPr>
            <p:cNvPr id="13" name="Oval 3">
              <a:extLst>
                <a:ext uri="{FF2B5EF4-FFF2-40B4-BE49-F238E27FC236}">
                  <a16:creationId xmlns:a16="http://schemas.microsoft.com/office/drawing/2014/main" id="{CF4F6AD8-270B-4479-AC5B-3E81799C7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148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5</a:t>
              </a:r>
            </a:p>
          </p:txBody>
        </p:sp>
        <p:sp>
          <p:nvSpPr>
            <p:cNvPr id="14" name="Oval 4">
              <a:extLst>
                <a:ext uri="{FF2B5EF4-FFF2-40B4-BE49-F238E27FC236}">
                  <a16:creationId xmlns:a16="http://schemas.microsoft.com/office/drawing/2014/main" id="{CCFD1B3D-6077-4BD4-839B-6913B3289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" y="2064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2</a:t>
              </a:r>
            </a:p>
          </p:txBody>
        </p:sp>
        <p:sp>
          <p:nvSpPr>
            <p:cNvPr id="15" name="Oval 5">
              <a:extLst>
                <a:ext uri="{FF2B5EF4-FFF2-40B4-BE49-F238E27FC236}">
                  <a16:creationId xmlns:a16="http://schemas.microsoft.com/office/drawing/2014/main" id="{E4FD40F6-3DFD-4142-AC23-31B35482D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" y="2064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7</a:t>
              </a:r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2C6C9CF9-CBCE-466C-94C1-EDD7F07B8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2" y="1728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2EE194AB-6300-44B4-8CDF-AE3B50658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" y="1728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5" name="Group 52">
            <a:extLst>
              <a:ext uri="{FF2B5EF4-FFF2-40B4-BE49-F238E27FC236}">
                <a16:creationId xmlns:a16="http://schemas.microsoft.com/office/drawing/2014/main" id="{02B7584B-145A-4A76-9B51-29A9EDBD6B51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981200"/>
            <a:ext cx="1676400" cy="3200400"/>
            <a:chOff x="1824" y="1176"/>
            <a:chExt cx="1056" cy="2016"/>
          </a:xfrm>
        </p:grpSpPr>
        <p:sp>
          <p:nvSpPr>
            <p:cNvPr id="26" name="Oval 6">
              <a:extLst>
                <a:ext uri="{FF2B5EF4-FFF2-40B4-BE49-F238E27FC236}">
                  <a16:creationId xmlns:a16="http://schemas.microsoft.com/office/drawing/2014/main" id="{977365D8-DDCB-4D51-B747-68FA78E70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176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4</a:t>
              </a:r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1C438D00-378E-4F14-BF77-990AF4905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7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32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2</a:t>
              </a:r>
            </a:p>
          </p:txBody>
        </p:sp>
        <p:sp>
          <p:nvSpPr>
            <p:cNvPr id="28" name="Oval 8">
              <a:extLst>
                <a:ext uri="{FF2B5EF4-FFF2-40B4-BE49-F238E27FC236}">
                  <a16:creationId xmlns:a16="http://schemas.microsoft.com/office/drawing/2014/main" id="{8C2B605F-3745-4936-9871-AC8ED85EC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7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5</a:t>
              </a:r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4E8F210F-22F0-4588-9205-A5588B9BC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416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2C2C4FBD-792C-44BC-8EF4-33EE0EC81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416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0B8C74E7-78F6-4D8C-9D27-922A762D3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904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3</a:t>
              </a:r>
            </a:p>
          </p:txBody>
        </p:sp>
        <p:sp>
          <p:nvSpPr>
            <p:cNvPr id="32" name="Line 12">
              <a:extLst>
                <a:ext uri="{FF2B5EF4-FFF2-40B4-BE49-F238E27FC236}">
                  <a16:creationId xmlns:a16="http://schemas.microsoft.com/office/drawing/2014/main" id="{702914E2-F545-49AA-921B-3238FF8C34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568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26">
              <a:extLst>
                <a:ext uri="{FF2B5EF4-FFF2-40B4-BE49-F238E27FC236}">
                  <a16:creationId xmlns:a16="http://schemas.microsoft.com/office/drawing/2014/main" id="{D435EC33-080B-443E-808B-33475C09A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32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4</a:t>
              </a:r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F52DC07A-CF2B-4CE3-8936-A0548459D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99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1C582CBF-ABF2-4415-AA7E-289DAF620DF2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733800"/>
            <a:ext cx="2286000" cy="2286000"/>
            <a:chOff x="1368" y="2112"/>
            <a:chExt cx="1440" cy="1440"/>
          </a:xfrm>
        </p:grpSpPr>
        <p:sp>
          <p:nvSpPr>
            <p:cNvPr id="36" name="Oval 8">
              <a:extLst>
                <a:ext uri="{FF2B5EF4-FFF2-40B4-BE49-F238E27FC236}">
                  <a16:creationId xmlns:a16="http://schemas.microsoft.com/office/drawing/2014/main" id="{CCE610F6-841F-4340-B298-78F710251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11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-1</a:t>
              </a:r>
            </a:p>
          </p:txBody>
        </p:sp>
        <p:sp>
          <p:nvSpPr>
            <p:cNvPr id="37" name="Oval 9">
              <a:extLst>
                <a:ext uri="{FF2B5EF4-FFF2-40B4-BE49-F238E27FC236}">
                  <a16:creationId xmlns:a16="http://schemas.microsoft.com/office/drawing/2014/main" id="{6CF91445-6A7C-4DD2-B0DA-0277252FB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268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-2</a:t>
              </a:r>
            </a:p>
          </p:txBody>
        </p:sp>
        <p:sp>
          <p:nvSpPr>
            <p:cNvPr id="38" name="Oval 10">
              <a:extLst>
                <a:ext uri="{FF2B5EF4-FFF2-40B4-BE49-F238E27FC236}">
                  <a16:creationId xmlns:a16="http://schemas.microsoft.com/office/drawing/2014/main" id="{7ACF1D2C-9114-4A83-BA26-C9C68F1CF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268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3</a:t>
              </a:r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CF087630-1794-4E9B-9092-F7C4DF679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4" y="235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C739B731-908A-44BE-8B92-76D7DDB92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35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13">
              <a:extLst>
                <a:ext uri="{FF2B5EF4-FFF2-40B4-BE49-F238E27FC236}">
                  <a16:creationId xmlns:a16="http://schemas.microsoft.com/office/drawing/2014/main" id="{35F55428-7612-4FEB-A258-8D92527AC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" y="3264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-4</a:t>
              </a:r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A2E6858D-556B-4F06-BA1B-5CCC74231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0" y="2928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34">
            <a:extLst>
              <a:ext uri="{FF2B5EF4-FFF2-40B4-BE49-F238E27FC236}">
                <a16:creationId xmlns:a16="http://schemas.microsoft.com/office/drawing/2014/main" id="{BB665558-6C7F-4B0E-95F2-23FB8343CA23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600200"/>
            <a:ext cx="3505200" cy="3276600"/>
            <a:chOff x="3360" y="1176"/>
            <a:chExt cx="2208" cy="2064"/>
          </a:xfrm>
        </p:grpSpPr>
        <p:sp>
          <p:nvSpPr>
            <p:cNvPr id="44" name="Oval 13">
              <a:extLst>
                <a:ext uri="{FF2B5EF4-FFF2-40B4-BE49-F238E27FC236}">
                  <a16:creationId xmlns:a16="http://schemas.microsoft.com/office/drawing/2014/main" id="{AF5F1B85-F566-48BF-815E-DAFA57FE9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176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14</a:t>
              </a:r>
            </a:p>
          </p:txBody>
        </p:sp>
        <p:sp>
          <p:nvSpPr>
            <p:cNvPr id="45" name="Oval 14">
              <a:extLst>
                <a:ext uri="{FF2B5EF4-FFF2-40B4-BE49-F238E27FC236}">
                  <a16:creationId xmlns:a16="http://schemas.microsoft.com/office/drawing/2014/main" id="{DA884C6D-86E9-4B57-9C9A-79522E779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7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9</a:t>
              </a:r>
            </a:p>
          </p:txBody>
        </p:sp>
        <p:sp>
          <p:nvSpPr>
            <p:cNvPr id="46" name="Oval 15">
              <a:extLst>
                <a:ext uri="{FF2B5EF4-FFF2-40B4-BE49-F238E27FC236}">
                  <a16:creationId xmlns:a16="http://schemas.microsoft.com/office/drawing/2014/main" id="{A0B677A7-546F-4E45-8233-4CFF439A0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7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28</a:t>
              </a: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8177AF92-4965-4807-ADB5-522177F445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1416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17">
              <a:extLst>
                <a:ext uri="{FF2B5EF4-FFF2-40B4-BE49-F238E27FC236}">
                  <a16:creationId xmlns:a16="http://schemas.microsoft.com/office/drawing/2014/main" id="{A442154E-2579-492D-A32C-90091B363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416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Oval 18">
              <a:extLst>
                <a:ext uri="{FF2B5EF4-FFF2-40B4-BE49-F238E27FC236}">
                  <a16:creationId xmlns:a16="http://schemas.microsoft.com/office/drawing/2014/main" id="{8C3D944D-87DC-4F1D-9528-F8D81311D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2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6</a:t>
              </a:r>
            </a:p>
          </p:txBody>
        </p:sp>
        <p:sp>
          <p:nvSpPr>
            <p:cNvPr id="50" name="Line 19">
              <a:extLst>
                <a:ext uri="{FF2B5EF4-FFF2-40B4-BE49-F238E27FC236}">
                  <a16:creationId xmlns:a16="http://schemas.microsoft.com/office/drawing/2014/main" id="{1B4BC6D1-9627-4E30-8FA5-21020205A2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99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Oval 20">
              <a:extLst>
                <a:ext uri="{FF2B5EF4-FFF2-40B4-BE49-F238E27FC236}">
                  <a16:creationId xmlns:a16="http://schemas.microsoft.com/office/drawing/2014/main" id="{95624FBF-47E7-4E56-AE75-FAD7A8731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376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31</a:t>
              </a:r>
            </a:p>
          </p:txBody>
        </p:sp>
        <p:sp>
          <p:nvSpPr>
            <p:cNvPr id="52" name="Line 21">
              <a:extLst>
                <a:ext uri="{FF2B5EF4-FFF2-40B4-BE49-F238E27FC236}">
                  <a16:creationId xmlns:a16="http://schemas.microsoft.com/office/drawing/2014/main" id="{CC774864-A99C-41A0-BA89-9BCA8142D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040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Oval 22">
              <a:extLst>
                <a:ext uri="{FF2B5EF4-FFF2-40B4-BE49-F238E27FC236}">
                  <a16:creationId xmlns:a16="http://schemas.microsoft.com/office/drawing/2014/main" id="{B45E88FF-8D9C-41DB-A92C-A51E32F6F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29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44</a:t>
              </a:r>
            </a:p>
          </p:txBody>
        </p:sp>
        <p:sp>
          <p:nvSpPr>
            <p:cNvPr id="54" name="Line 23">
              <a:extLst>
                <a:ext uri="{FF2B5EF4-FFF2-40B4-BE49-F238E27FC236}">
                  <a16:creationId xmlns:a16="http://schemas.microsoft.com/office/drawing/2014/main" id="{13B721EF-9BF7-42EF-8DA3-94D039CA9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2616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18">
            <a:extLst>
              <a:ext uri="{FF2B5EF4-FFF2-40B4-BE49-F238E27FC236}">
                <a16:creationId xmlns:a16="http://schemas.microsoft.com/office/drawing/2014/main" id="{24A5DE97-88F3-4238-BB3E-510991DFF6CE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352800"/>
            <a:ext cx="3505200" cy="3276600"/>
            <a:chOff x="3288" y="1152"/>
            <a:chExt cx="2208" cy="2064"/>
          </a:xfrm>
        </p:grpSpPr>
        <p:sp>
          <p:nvSpPr>
            <p:cNvPr id="56" name="Oval 15">
              <a:extLst>
                <a:ext uri="{FF2B5EF4-FFF2-40B4-BE49-F238E27FC236}">
                  <a16:creationId xmlns:a16="http://schemas.microsoft.com/office/drawing/2014/main" id="{3CD92916-DAF1-44EE-8334-86C10BC54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11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9</a:t>
              </a:r>
            </a:p>
          </p:txBody>
        </p:sp>
        <p:sp>
          <p:nvSpPr>
            <p:cNvPr id="57" name="Oval 16">
              <a:extLst>
                <a:ext uri="{FF2B5EF4-FFF2-40B4-BE49-F238E27FC236}">
                  <a16:creationId xmlns:a16="http://schemas.microsoft.com/office/drawing/2014/main" id="{79688C12-598D-4E21-80FA-2904691B2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" y="172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4</a:t>
              </a:r>
            </a:p>
          </p:txBody>
        </p:sp>
        <p:sp>
          <p:nvSpPr>
            <p:cNvPr id="58" name="Oval 17">
              <a:extLst>
                <a:ext uri="{FF2B5EF4-FFF2-40B4-BE49-F238E27FC236}">
                  <a16:creationId xmlns:a16="http://schemas.microsoft.com/office/drawing/2014/main" id="{BBDEE413-D8AE-4849-A7BA-278477729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" y="172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20</a:t>
              </a:r>
            </a:p>
          </p:txBody>
        </p:sp>
        <p:sp>
          <p:nvSpPr>
            <p:cNvPr id="59" name="Line 18">
              <a:extLst>
                <a:ext uri="{FF2B5EF4-FFF2-40B4-BE49-F238E27FC236}">
                  <a16:creationId xmlns:a16="http://schemas.microsoft.com/office/drawing/2014/main" id="{92512A74-3DC4-437B-9F42-A8474512C0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4" y="139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Line 19">
              <a:extLst>
                <a:ext uri="{FF2B5EF4-FFF2-40B4-BE49-F238E27FC236}">
                  <a16:creationId xmlns:a16="http://schemas.microsoft.com/office/drawing/2014/main" id="{E1AB7763-1F8C-4C23-A867-890D9A91B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139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Oval 20">
              <a:extLst>
                <a:ext uri="{FF2B5EF4-FFF2-40B4-BE49-F238E27FC236}">
                  <a16:creationId xmlns:a16="http://schemas.microsoft.com/office/drawing/2014/main" id="{F9F175D9-E9BA-40D3-A71A-0A56502EB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304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0</a:t>
              </a:r>
            </a:p>
          </p:txBody>
        </p:sp>
        <p:sp>
          <p:nvSpPr>
            <p:cNvPr id="62" name="Line 21">
              <a:extLst>
                <a:ext uri="{FF2B5EF4-FFF2-40B4-BE49-F238E27FC236}">
                  <a16:creationId xmlns:a16="http://schemas.microsoft.com/office/drawing/2014/main" id="{DD765345-0C8D-4DA1-8356-01239E2A7E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0" y="1968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Oval 22">
              <a:extLst>
                <a:ext uri="{FF2B5EF4-FFF2-40B4-BE49-F238E27FC236}">
                  <a16:creationId xmlns:a16="http://schemas.microsoft.com/office/drawing/2014/main" id="{9723C5B6-A35F-4DB9-A9CB-6AE79D18E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23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15</a:t>
              </a:r>
            </a:p>
          </p:txBody>
        </p:sp>
        <p:sp>
          <p:nvSpPr>
            <p:cNvPr id="64" name="Oval 23">
              <a:extLst>
                <a:ext uri="{FF2B5EF4-FFF2-40B4-BE49-F238E27FC236}">
                  <a16:creationId xmlns:a16="http://schemas.microsoft.com/office/drawing/2014/main" id="{352A0E8A-3A43-47F4-9650-96A5FA7FD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" y="2352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22</a:t>
              </a:r>
            </a:p>
          </p:txBody>
        </p:sp>
        <p:sp>
          <p:nvSpPr>
            <p:cNvPr id="65" name="Line 24">
              <a:extLst>
                <a:ext uri="{FF2B5EF4-FFF2-40B4-BE49-F238E27FC236}">
                  <a16:creationId xmlns:a16="http://schemas.microsoft.com/office/drawing/2014/main" id="{F15E5AC6-411C-4C2C-A353-8D2F49010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8" y="2016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Line 25">
              <a:extLst>
                <a:ext uri="{FF2B5EF4-FFF2-40B4-BE49-F238E27FC236}">
                  <a16:creationId xmlns:a16="http://schemas.microsoft.com/office/drawing/2014/main" id="{6365CEA0-E6CA-44AB-B7F9-87ABE3F2F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0" y="2016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Oval 26">
              <a:extLst>
                <a:ext uri="{FF2B5EF4-FFF2-40B4-BE49-F238E27FC236}">
                  <a16:creationId xmlns:a16="http://schemas.microsoft.com/office/drawing/2014/main" id="{6ADE6886-3DD1-4665-997B-056BEA230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" y="292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11</a:t>
              </a:r>
            </a:p>
          </p:txBody>
        </p:sp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48848753-0F23-4635-92AE-11E9B9C6C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4" y="259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Oval 28">
              <a:extLst>
                <a:ext uri="{FF2B5EF4-FFF2-40B4-BE49-F238E27FC236}">
                  <a16:creationId xmlns:a16="http://schemas.microsoft.com/office/drawing/2014/main" id="{8B776679-29FB-434F-B149-07D68E141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" y="2928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33</a:t>
              </a:r>
            </a:p>
          </p:txBody>
        </p:sp>
        <p:sp>
          <p:nvSpPr>
            <p:cNvPr id="70" name="Line 29">
              <a:extLst>
                <a:ext uri="{FF2B5EF4-FFF2-40B4-BE49-F238E27FC236}">
                  <a16:creationId xmlns:a16="http://schemas.microsoft.com/office/drawing/2014/main" id="{FD5B3A6B-DF12-4994-9BD1-2C16356F3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4" y="2592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>
            <a:extLst>
              <a:ext uri="{FF2B5EF4-FFF2-40B4-BE49-F238E27FC236}">
                <a16:creationId xmlns:a16="http://schemas.microsoft.com/office/drawing/2014/main" id="{CB82378C-5D32-4783-924B-DF6FD35840F3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1524000"/>
            <a:ext cx="685800" cy="685800"/>
            <a:chOff x="1152" y="2304"/>
            <a:chExt cx="432" cy="432"/>
          </a:xfrm>
        </p:grpSpPr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3BD19FC0-DA0B-4ED4-9047-346384F7A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304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2AE5BD0D-0618-40A0-95CE-ABD1DC40D0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304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4" name="Group 62">
            <a:extLst>
              <a:ext uri="{FF2B5EF4-FFF2-40B4-BE49-F238E27FC236}">
                <a16:creationId xmlns:a16="http://schemas.microsoft.com/office/drawing/2014/main" id="{DB9D4473-577C-4C9E-B20D-64657B948B11}"/>
              </a:ext>
            </a:extLst>
          </p:cNvPr>
          <p:cNvGrpSpPr>
            <a:grpSpLocks/>
          </p:cNvGrpSpPr>
          <p:nvPr/>
        </p:nvGrpSpPr>
        <p:grpSpPr bwMode="auto">
          <a:xfrm>
            <a:off x="3352801" y="1905000"/>
            <a:ext cx="712788" cy="685800"/>
            <a:chOff x="1152" y="2304"/>
            <a:chExt cx="449" cy="432"/>
          </a:xfrm>
        </p:grpSpPr>
        <p:sp>
          <p:nvSpPr>
            <p:cNvPr id="75" name="Line 63">
              <a:extLst>
                <a:ext uri="{FF2B5EF4-FFF2-40B4-BE49-F238E27FC236}">
                  <a16:creationId xmlns:a16="http://schemas.microsoft.com/office/drawing/2014/main" id="{106455E5-EBE4-4BB5-AD05-1AD50756A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304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64">
              <a:extLst>
                <a:ext uri="{FF2B5EF4-FFF2-40B4-BE49-F238E27FC236}">
                  <a16:creationId xmlns:a16="http://schemas.microsoft.com/office/drawing/2014/main" id="{5547184C-07B6-472A-BEAE-029693D6A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9" y="2304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0" name="Group 46">
            <a:extLst>
              <a:ext uri="{FF2B5EF4-FFF2-40B4-BE49-F238E27FC236}">
                <a16:creationId xmlns:a16="http://schemas.microsoft.com/office/drawing/2014/main" id="{8224E266-AC5D-4E50-808A-91B45BCC98D3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962400"/>
            <a:ext cx="1676400" cy="2286000"/>
            <a:chOff x="432" y="1224"/>
            <a:chExt cx="1056" cy="1440"/>
          </a:xfrm>
        </p:grpSpPr>
        <p:sp>
          <p:nvSpPr>
            <p:cNvPr id="81" name="Oval 3">
              <a:extLst>
                <a:ext uri="{FF2B5EF4-FFF2-40B4-BE49-F238E27FC236}">
                  <a16:creationId xmlns:a16="http://schemas.microsoft.com/office/drawing/2014/main" id="{780519DA-EAFE-43E8-AD80-526B80738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224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8</a:t>
              </a:r>
            </a:p>
          </p:txBody>
        </p:sp>
        <p:sp>
          <p:nvSpPr>
            <p:cNvPr id="82" name="Oval 4">
              <a:extLst>
                <a:ext uri="{FF2B5EF4-FFF2-40B4-BE49-F238E27FC236}">
                  <a16:creationId xmlns:a16="http://schemas.microsoft.com/office/drawing/2014/main" id="{AF5B4B01-0E8B-4B36-82DC-ECBF561FA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800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3</a:t>
              </a:r>
            </a:p>
          </p:txBody>
        </p:sp>
        <p:sp>
          <p:nvSpPr>
            <p:cNvPr id="83" name="Line 5">
              <a:extLst>
                <a:ext uri="{FF2B5EF4-FFF2-40B4-BE49-F238E27FC236}">
                  <a16:creationId xmlns:a16="http://schemas.microsoft.com/office/drawing/2014/main" id="{6FAB32B7-8494-43AA-9C3E-1357D2F12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464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Oval 24">
              <a:extLst>
                <a:ext uri="{FF2B5EF4-FFF2-40B4-BE49-F238E27FC236}">
                  <a16:creationId xmlns:a16="http://schemas.microsoft.com/office/drawing/2014/main" id="{3B8A99C8-CB47-4004-AFBB-7EBF354D8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376"/>
              <a:ext cx="288" cy="288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solidFill>
                    <a:schemeClr val="accent3"/>
                  </a:solidFill>
                  <a:latin typeface="Calibri" panose="020F0502020204030204" pitchFamily="34" charset="0"/>
                  <a:ea typeface="MS PGothic" panose="020B0600070205080204" pitchFamily="34" charset="-128"/>
                </a:rPr>
                <a:t>1</a:t>
              </a:r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EBF9935D-83B9-481E-89B6-FE439A7BC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040"/>
              <a:ext cx="24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86" name="Group 65">
            <a:extLst>
              <a:ext uri="{FF2B5EF4-FFF2-40B4-BE49-F238E27FC236}">
                <a16:creationId xmlns:a16="http://schemas.microsoft.com/office/drawing/2014/main" id="{D0E135B8-0DBA-4ED4-A491-4C7C72B49342}"/>
              </a:ext>
            </a:extLst>
          </p:cNvPr>
          <p:cNvGrpSpPr>
            <a:grpSpLocks/>
          </p:cNvGrpSpPr>
          <p:nvPr/>
        </p:nvGrpSpPr>
        <p:grpSpPr bwMode="auto">
          <a:xfrm>
            <a:off x="2026920" y="3882390"/>
            <a:ext cx="685800" cy="685800"/>
            <a:chOff x="1152" y="2304"/>
            <a:chExt cx="432" cy="432"/>
          </a:xfrm>
        </p:grpSpPr>
        <p:sp>
          <p:nvSpPr>
            <p:cNvPr id="87" name="Line 66">
              <a:extLst>
                <a:ext uri="{FF2B5EF4-FFF2-40B4-BE49-F238E27FC236}">
                  <a16:creationId xmlns:a16="http://schemas.microsoft.com/office/drawing/2014/main" id="{680CD3C3-68CE-4EE3-B240-E05526F3B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304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67">
              <a:extLst>
                <a:ext uri="{FF2B5EF4-FFF2-40B4-BE49-F238E27FC236}">
                  <a16:creationId xmlns:a16="http://schemas.microsoft.com/office/drawing/2014/main" id="{AC8B2EAF-E123-4A5E-83F4-6ED29D4504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304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" name="Group 68">
            <a:extLst>
              <a:ext uri="{FF2B5EF4-FFF2-40B4-BE49-F238E27FC236}">
                <a16:creationId xmlns:a16="http://schemas.microsoft.com/office/drawing/2014/main" id="{E0D8F411-A8DE-4580-ABC2-F64FBE3CD207}"/>
              </a:ext>
            </a:extLst>
          </p:cNvPr>
          <p:cNvGrpSpPr>
            <a:grpSpLocks/>
          </p:cNvGrpSpPr>
          <p:nvPr/>
        </p:nvGrpSpPr>
        <p:grpSpPr bwMode="auto">
          <a:xfrm>
            <a:off x="7100887" y="2438400"/>
            <a:ext cx="709613" cy="704850"/>
            <a:chOff x="1126" y="2268"/>
            <a:chExt cx="447" cy="444"/>
          </a:xfrm>
        </p:grpSpPr>
        <p:sp>
          <p:nvSpPr>
            <p:cNvPr id="90" name="Line 69">
              <a:extLst>
                <a:ext uri="{FF2B5EF4-FFF2-40B4-BE49-F238E27FC236}">
                  <a16:creationId xmlns:a16="http://schemas.microsoft.com/office/drawing/2014/main" id="{BF3E1581-3D51-4CD3-A883-D1C0975C4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2268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70">
              <a:extLst>
                <a:ext uri="{FF2B5EF4-FFF2-40B4-BE49-F238E27FC236}">
                  <a16:creationId xmlns:a16="http://schemas.microsoft.com/office/drawing/2014/main" id="{7BA35DAF-FD25-4B43-9850-74EC505EB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6" y="2280"/>
              <a:ext cx="432" cy="43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57832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3">
            <a:extLst>
              <a:ext uri="{FF2B5EF4-FFF2-40B4-BE49-F238E27FC236}">
                <a16:creationId xmlns:a16="http://schemas.microsoft.com/office/drawing/2014/main" id="{2ABB72B7-76FF-4A03-9A4E-31657E091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" y="1104900"/>
            <a:ext cx="9144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solidFill>
                  <a:schemeClr val="accent6"/>
                </a:solidFill>
              </a:rPr>
              <a:t>Many of the AVL tree operations depend on height.</a:t>
            </a:r>
          </a:p>
          <a:p>
            <a:pPr lvl="1"/>
            <a:r>
              <a:rPr lang="en-US" altLang="en-US" sz="2400" dirty="0">
                <a:solidFill>
                  <a:schemeClr val="accent6"/>
                </a:solidFill>
              </a:rPr>
              <a:t>Height can be computed recursively by walking the tree; </a:t>
            </a:r>
            <a:r>
              <a:rPr lang="en-US" altLang="en-US" sz="2400" i="1" dirty="0">
                <a:solidFill>
                  <a:schemeClr val="accent6"/>
                </a:solidFill>
              </a:rPr>
              <a:t>too slow</a:t>
            </a:r>
            <a:r>
              <a:rPr lang="en-US" altLang="en-US" sz="2400" dirty="0">
                <a:solidFill>
                  <a:schemeClr val="accent6"/>
                </a:solidFill>
              </a:rPr>
              <a:t>.</a:t>
            </a:r>
          </a:p>
          <a:p>
            <a:pPr lvl="1"/>
            <a:r>
              <a:rPr lang="en-US" altLang="en-US" sz="2400" dirty="0">
                <a:solidFill>
                  <a:schemeClr val="accent6"/>
                </a:solidFill>
              </a:rPr>
              <a:t>Instead, each node can keep track of its subtree height as a field: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class </a:t>
            </a:r>
            <a:r>
              <a:rPr lang="en-US" alt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private E data;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int height;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private </a:t>
            </a:r>
            <a:r>
              <a:rPr lang="en-US" alt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left;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private </a:t>
            </a:r>
            <a:r>
              <a:rPr lang="en-US" alt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right;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40404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6E9F85F5-9E6C-4A4B-B5A1-CF71DED57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6"/>
                </a:solidFill>
              </a:rPr>
              <a:t>Tracking subtree height</a:t>
            </a:r>
          </a:p>
        </p:txBody>
      </p:sp>
      <p:cxnSp>
        <p:nvCxnSpPr>
          <p:cNvPr id="157" name="AutoShape 2">
            <a:extLst>
              <a:ext uri="{FF2B5EF4-FFF2-40B4-BE49-F238E27FC236}">
                <a16:creationId xmlns:a16="http://schemas.microsoft.com/office/drawing/2014/main" id="{E524613F-353F-4C28-B862-C8269B9B47BD}"/>
              </a:ext>
            </a:extLst>
          </p:cNvPr>
          <p:cNvCxnSpPr>
            <a:cxnSpLocks noChangeShapeType="1"/>
            <a:stCxn id="163" idx="5"/>
            <a:endCxn id="158" idx="0"/>
          </p:cNvCxnSpPr>
          <p:nvPr>
            <p:custDataLst>
              <p:tags r:id="rId1"/>
            </p:custDataLst>
          </p:nvPr>
        </p:nvCxnSpPr>
        <p:spPr bwMode="auto">
          <a:xfrm>
            <a:off x="5589588" y="3849688"/>
            <a:ext cx="855662" cy="550862"/>
          </a:xfrm>
          <a:prstGeom prst="straightConnector1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8" name="Oval 5">
            <a:extLst>
              <a:ext uri="{FF2B5EF4-FFF2-40B4-BE49-F238E27FC236}">
                <a16:creationId xmlns:a16="http://schemas.microsoft.com/office/drawing/2014/main" id="{F8E8566D-AF5E-421E-892B-36E94A9F4358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6254750" y="4419600"/>
            <a:ext cx="381000" cy="3810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20</a:t>
            </a:r>
          </a:p>
        </p:txBody>
      </p:sp>
      <p:sp>
        <p:nvSpPr>
          <p:cNvPr id="159" name="Oval 6">
            <a:extLst>
              <a:ext uri="{FF2B5EF4-FFF2-40B4-BE49-F238E27FC236}">
                <a16:creationId xmlns:a16="http://schemas.microsoft.com/office/drawing/2014/main" id="{5066968C-488E-41D8-8B91-054A27112B80}"/>
              </a:ext>
            </a:extLst>
          </p:cNvPr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4730750" y="5283200"/>
            <a:ext cx="381000" cy="3810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9</a:t>
            </a:r>
          </a:p>
        </p:txBody>
      </p:sp>
      <p:sp>
        <p:nvSpPr>
          <p:cNvPr id="160" name="Oval 7">
            <a:extLst>
              <a:ext uri="{FF2B5EF4-FFF2-40B4-BE49-F238E27FC236}">
                <a16:creationId xmlns:a16="http://schemas.microsoft.com/office/drawing/2014/main" id="{D962C1A3-4DAA-4FEC-A463-6451D24441EA}"/>
              </a:ext>
            </a:extLst>
          </p:cNvPr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3663950" y="5283200"/>
            <a:ext cx="381000" cy="3810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61" name="Oval 8">
            <a:extLst>
              <a:ext uri="{FF2B5EF4-FFF2-40B4-BE49-F238E27FC236}">
                <a16:creationId xmlns:a16="http://schemas.microsoft.com/office/drawing/2014/main" id="{D8E278DA-CB40-488B-B8D7-0C07027B68FF}"/>
              </a:ext>
            </a:extLst>
          </p:cNvPr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5797550" y="5257800"/>
            <a:ext cx="381000" cy="3810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15</a:t>
            </a:r>
          </a:p>
        </p:txBody>
      </p:sp>
      <p:sp>
        <p:nvSpPr>
          <p:cNvPr id="162" name="Oval 9">
            <a:extLst>
              <a:ext uri="{FF2B5EF4-FFF2-40B4-BE49-F238E27FC236}">
                <a16:creationId xmlns:a16="http://schemas.microsoft.com/office/drawing/2014/main" id="{89E6F46D-77B7-49D1-BB95-E352A070E1F1}"/>
              </a:ext>
            </a:extLst>
          </p:cNvPr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4197350" y="4394200"/>
            <a:ext cx="381000" cy="3810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5</a:t>
            </a:r>
          </a:p>
        </p:txBody>
      </p:sp>
      <p:sp>
        <p:nvSpPr>
          <p:cNvPr id="163" name="Oval 10">
            <a:extLst>
              <a:ext uri="{FF2B5EF4-FFF2-40B4-BE49-F238E27FC236}">
                <a16:creationId xmlns:a16="http://schemas.microsoft.com/office/drawing/2014/main" id="{F46E537A-2468-400F-AA45-179EEB6ABC2F}"/>
              </a:ext>
            </a:extLst>
          </p:cNvPr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5264150" y="3505200"/>
            <a:ext cx="381000" cy="3810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10</a:t>
            </a:r>
          </a:p>
        </p:txBody>
      </p:sp>
      <p:cxnSp>
        <p:nvCxnSpPr>
          <p:cNvPr id="164" name="AutoShape 11">
            <a:extLst>
              <a:ext uri="{FF2B5EF4-FFF2-40B4-BE49-F238E27FC236}">
                <a16:creationId xmlns:a16="http://schemas.microsoft.com/office/drawing/2014/main" id="{45A477F0-49FB-4FB7-8512-74A255DD251D}"/>
              </a:ext>
            </a:extLst>
          </p:cNvPr>
          <p:cNvCxnSpPr>
            <a:cxnSpLocks noChangeShapeType="1"/>
            <a:stCxn id="163" idx="3"/>
            <a:endCxn id="162" idx="0"/>
          </p:cNvCxnSpPr>
          <p:nvPr>
            <p:custDataLst>
              <p:tags r:id="rId8"/>
            </p:custDataLst>
          </p:nvPr>
        </p:nvCxnSpPr>
        <p:spPr bwMode="auto">
          <a:xfrm flipH="1">
            <a:off x="4387850" y="3849688"/>
            <a:ext cx="931863" cy="525462"/>
          </a:xfrm>
          <a:prstGeom prst="straightConnector1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5" name="AutoShape 12">
            <a:extLst>
              <a:ext uri="{FF2B5EF4-FFF2-40B4-BE49-F238E27FC236}">
                <a16:creationId xmlns:a16="http://schemas.microsoft.com/office/drawing/2014/main" id="{C92A6481-C8AB-419E-8BE5-0E8B6EEBDDF0}"/>
              </a:ext>
            </a:extLst>
          </p:cNvPr>
          <p:cNvCxnSpPr>
            <a:cxnSpLocks noChangeShapeType="1"/>
            <a:stCxn id="158" idx="3"/>
            <a:endCxn id="161" idx="0"/>
          </p:cNvCxnSpPr>
          <p:nvPr>
            <p:custDataLst>
              <p:tags r:id="rId9"/>
            </p:custDataLst>
          </p:nvPr>
        </p:nvCxnSpPr>
        <p:spPr bwMode="auto">
          <a:xfrm flipH="1">
            <a:off x="5988050" y="4764088"/>
            <a:ext cx="322263" cy="474662"/>
          </a:xfrm>
          <a:prstGeom prst="straightConnector1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6" name="AutoShape 13">
            <a:extLst>
              <a:ext uri="{FF2B5EF4-FFF2-40B4-BE49-F238E27FC236}">
                <a16:creationId xmlns:a16="http://schemas.microsoft.com/office/drawing/2014/main" id="{66A9B5B8-8307-4AAA-9482-2747372EA8D5}"/>
              </a:ext>
            </a:extLst>
          </p:cNvPr>
          <p:cNvCxnSpPr>
            <a:cxnSpLocks noChangeShapeType="1"/>
            <a:stCxn id="162" idx="3"/>
            <a:endCxn id="160" idx="0"/>
          </p:cNvCxnSpPr>
          <p:nvPr>
            <p:custDataLst>
              <p:tags r:id="rId10"/>
            </p:custDataLst>
          </p:nvPr>
        </p:nvCxnSpPr>
        <p:spPr bwMode="auto">
          <a:xfrm flipH="1">
            <a:off x="3854450" y="4738688"/>
            <a:ext cx="398463" cy="525462"/>
          </a:xfrm>
          <a:prstGeom prst="straightConnector1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7" name="AutoShape 14">
            <a:extLst>
              <a:ext uri="{FF2B5EF4-FFF2-40B4-BE49-F238E27FC236}">
                <a16:creationId xmlns:a16="http://schemas.microsoft.com/office/drawing/2014/main" id="{8D501D3F-2E7C-48B3-8CD4-A0325A531214}"/>
              </a:ext>
            </a:extLst>
          </p:cNvPr>
          <p:cNvCxnSpPr>
            <a:cxnSpLocks noChangeShapeType="1"/>
            <a:stCxn id="162" idx="5"/>
            <a:endCxn id="159" idx="0"/>
          </p:cNvCxnSpPr>
          <p:nvPr>
            <p:custDataLst>
              <p:tags r:id="rId11"/>
            </p:custDataLst>
          </p:nvPr>
        </p:nvCxnSpPr>
        <p:spPr bwMode="auto">
          <a:xfrm>
            <a:off x="4522788" y="4738688"/>
            <a:ext cx="398462" cy="525462"/>
          </a:xfrm>
          <a:prstGeom prst="straightConnector1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8" name="Oval 15">
            <a:extLst>
              <a:ext uri="{FF2B5EF4-FFF2-40B4-BE49-F238E27FC236}">
                <a16:creationId xmlns:a16="http://schemas.microsoft.com/office/drawing/2014/main" id="{6DBDA8F5-8CAF-43D2-8040-6230DE1372D0}"/>
              </a:ext>
            </a:extLst>
          </p:cNvPr>
          <p:cNvSpPr>
            <a:spLocks noChangeAspect="1" noChangeArrowheads="1"/>
          </p:cNvSpPr>
          <p:nvPr>
            <p:custDataLst>
              <p:tags r:id="rId12"/>
            </p:custDataLst>
          </p:nvPr>
        </p:nvSpPr>
        <p:spPr bwMode="auto">
          <a:xfrm>
            <a:off x="6788150" y="5257800"/>
            <a:ext cx="381000" cy="381000"/>
          </a:xfrm>
          <a:prstGeom prst="ellipse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30</a:t>
            </a:r>
          </a:p>
        </p:txBody>
      </p:sp>
      <p:sp>
        <p:nvSpPr>
          <p:cNvPr id="169" name="Oval 17">
            <a:extLst>
              <a:ext uri="{FF2B5EF4-FFF2-40B4-BE49-F238E27FC236}">
                <a16:creationId xmlns:a16="http://schemas.microsoft.com/office/drawing/2014/main" id="{BD28B764-2851-4024-B5D9-9029071621B9}"/>
              </a:ext>
            </a:extLst>
          </p:cNvPr>
          <p:cNvSpPr>
            <a:spLocks noChangeAspect="1" noChangeArrowheads="1"/>
          </p:cNvSpPr>
          <p:nvPr>
            <p:custDataLst>
              <p:tags r:id="rId13"/>
            </p:custDataLst>
          </p:nvPr>
        </p:nvSpPr>
        <p:spPr bwMode="auto">
          <a:xfrm>
            <a:off x="4349750" y="6172200"/>
            <a:ext cx="473710" cy="3810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7</a:t>
            </a:r>
          </a:p>
        </p:txBody>
      </p:sp>
      <p:cxnSp>
        <p:nvCxnSpPr>
          <p:cNvPr id="170" name="AutoShape 18">
            <a:extLst>
              <a:ext uri="{FF2B5EF4-FFF2-40B4-BE49-F238E27FC236}">
                <a16:creationId xmlns:a16="http://schemas.microsoft.com/office/drawing/2014/main" id="{EB87D528-32A5-4416-B951-41B78B7D2691}"/>
              </a:ext>
            </a:extLst>
          </p:cNvPr>
          <p:cNvCxnSpPr>
            <a:cxnSpLocks noChangeShapeType="1"/>
            <a:stCxn id="159" idx="3"/>
            <a:endCxn id="169" idx="0"/>
          </p:cNvCxnSpPr>
          <p:nvPr>
            <p:custDataLst>
              <p:tags r:id="rId14"/>
            </p:custDataLst>
          </p:nvPr>
        </p:nvCxnSpPr>
        <p:spPr bwMode="auto">
          <a:xfrm flipH="1">
            <a:off x="4586605" y="5608404"/>
            <a:ext cx="199941" cy="563796"/>
          </a:xfrm>
          <a:prstGeom prst="straightConnector1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1" name="AutoShape 20">
            <a:extLst>
              <a:ext uri="{FF2B5EF4-FFF2-40B4-BE49-F238E27FC236}">
                <a16:creationId xmlns:a16="http://schemas.microsoft.com/office/drawing/2014/main" id="{93CE27DF-EF44-485F-A8BB-B66FD4C987B3}"/>
              </a:ext>
            </a:extLst>
          </p:cNvPr>
          <p:cNvCxnSpPr>
            <a:cxnSpLocks noChangeShapeType="1"/>
            <a:stCxn id="158" idx="5"/>
            <a:endCxn id="168" idx="0"/>
          </p:cNvCxnSpPr>
          <p:nvPr>
            <p:custDataLst>
              <p:tags r:id="rId15"/>
            </p:custDataLst>
          </p:nvPr>
        </p:nvCxnSpPr>
        <p:spPr bwMode="auto">
          <a:xfrm>
            <a:off x="6580188" y="4764088"/>
            <a:ext cx="398462" cy="474662"/>
          </a:xfrm>
          <a:prstGeom prst="straightConnector1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2" name="Text Box 21">
            <a:extLst>
              <a:ext uri="{FF2B5EF4-FFF2-40B4-BE49-F238E27FC236}">
                <a16:creationId xmlns:a16="http://schemas.microsoft.com/office/drawing/2014/main" id="{F042A964-63C0-498F-90BE-A6679CF45F88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505200" y="50133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3" name="Text Box 22">
            <a:extLst>
              <a:ext uri="{FF2B5EF4-FFF2-40B4-BE49-F238E27FC236}">
                <a16:creationId xmlns:a16="http://schemas.microsoft.com/office/drawing/2014/main" id="{4D574C99-ACBC-42C3-9719-B55A28EBC015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191000" y="58515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4" name="Text Box 24">
            <a:extLst>
              <a:ext uri="{FF2B5EF4-FFF2-40B4-BE49-F238E27FC236}">
                <a16:creationId xmlns:a16="http://schemas.microsoft.com/office/drawing/2014/main" id="{7BC21227-C81C-401E-94E5-209CC3D38574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010400" y="4953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5" name="Text Box 25">
            <a:extLst>
              <a:ext uri="{FF2B5EF4-FFF2-40B4-BE49-F238E27FC236}">
                <a16:creationId xmlns:a16="http://schemas.microsoft.com/office/drawing/2014/main" id="{811ABF24-28A3-4D35-9B05-BE69CA18BC04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645150" y="4906963"/>
            <a:ext cx="312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176" name="Text Box 26">
            <a:extLst>
              <a:ext uri="{FF2B5EF4-FFF2-40B4-BE49-F238E27FC236}">
                <a16:creationId xmlns:a16="http://schemas.microsoft.com/office/drawing/2014/main" id="{10F1A191-F0A0-4002-827E-B8FDAE246953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4953000" y="4953000"/>
            <a:ext cx="312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77" name="Text Box 27">
            <a:extLst>
              <a:ext uri="{FF2B5EF4-FFF2-40B4-BE49-F238E27FC236}">
                <a16:creationId xmlns:a16="http://schemas.microsoft.com/office/drawing/2014/main" id="{69B0C067-B539-4D0A-888D-10E1961E84C7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962400" y="4114800"/>
            <a:ext cx="312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178" name="Text Box 28">
            <a:extLst>
              <a:ext uri="{FF2B5EF4-FFF2-40B4-BE49-F238E27FC236}">
                <a16:creationId xmlns:a16="http://schemas.microsoft.com/office/drawing/2014/main" id="{737C1F5F-A455-4240-94A8-ECD17FF753FB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553200" y="4114800"/>
            <a:ext cx="312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2</a:t>
            </a:r>
          </a:p>
        </p:txBody>
      </p:sp>
      <p:sp>
        <p:nvSpPr>
          <p:cNvPr id="179" name="Text Box 29">
            <a:extLst>
              <a:ext uri="{FF2B5EF4-FFF2-40B4-BE49-F238E27FC236}">
                <a16:creationId xmlns:a16="http://schemas.microsoft.com/office/drawing/2014/main" id="{0A5B6655-66D3-45B6-BB6F-B7214F97E7B7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11750" y="3184525"/>
            <a:ext cx="312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180" name="Rectangle 30">
            <a:extLst>
              <a:ext uri="{FF2B5EF4-FFF2-40B4-BE49-F238E27FC236}">
                <a16:creationId xmlns:a16="http://schemas.microsoft.com/office/drawing/2014/main" id="{892E6E92-FA1C-4A8F-AC37-8145C1EE0B7D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315200" y="2781300"/>
            <a:ext cx="9144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Calibri" panose="020F0502020204030204" pitchFamily="34" charset="0"/>
                <a:ea typeface="MS PGothic" panose="020B0600070205080204" pitchFamily="34" charset="-128"/>
              </a:rPr>
              <a:t>10</a:t>
            </a:r>
          </a:p>
        </p:txBody>
      </p:sp>
      <p:sp>
        <p:nvSpPr>
          <p:cNvPr id="181" name="Rectangle 31">
            <a:extLst>
              <a:ext uri="{FF2B5EF4-FFF2-40B4-BE49-F238E27FC236}">
                <a16:creationId xmlns:a16="http://schemas.microsoft.com/office/drawing/2014/main" id="{442507ED-CAE3-45CC-BFEB-67179DF9E2A2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315200" y="3238500"/>
            <a:ext cx="9144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FF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182" name="Rectangle 32">
            <a:extLst>
              <a:ext uri="{FF2B5EF4-FFF2-40B4-BE49-F238E27FC236}">
                <a16:creationId xmlns:a16="http://schemas.microsoft.com/office/drawing/2014/main" id="{4C3A3BF4-FE6F-402E-A837-DC02C8D9EBDE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315200" y="36957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183" name="Rectangle 33">
            <a:extLst>
              <a:ext uri="{FF2B5EF4-FFF2-40B4-BE49-F238E27FC236}">
                <a16:creationId xmlns:a16="http://schemas.microsoft.com/office/drawing/2014/main" id="{3D5E7488-1E53-4F79-BFA1-36EB04FDB56E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7772400" y="36957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184" name="Line 34">
            <a:extLst>
              <a:ext uri="{FF2B5EF4-FFF2-40B4-BE49-F238E27FC236}">
                <a16:creationId xmlns:a16="http://schemas.microsoft.com/office/drawing/2014/main" id="{368088DA-37CA-4C52-BAA1-19808730E61E}"/>
              </a:ext>
            </a:extLst>
          </p:cNvPr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 flipH="1">
            <a:off x="7429500" y="3962400"/>
            <a:ext cx="101600" cy="304800"/>
          </a:xfrm>
          <a:prstGeom prst="line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5" name="Line 35">
            <a:extLst>
              <a:ext uri="{FF2B5EF4-FFF2-40B4-BE49-F238E27FC236}">
                <a16:creationId xmlns:a16="http://schemas.microsoft.com/office/drawing/2014/main" id="{3A12768D-2A79-43C4-B762-368A6B15B61A}"/>
              </a:ext>
            </a:extLst>
          </p:cNvPr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8026400" y="3962400"/>
            <a:ext cx="88900" cy="304800"/>
          </a:xfrm>
          <a:prstGeom prst="line">
            <a:avLst/>
          </a:prstGeom>
          <a:ln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6" name="Text Box 36">
            <a:extLst>
              <a:ext uri="{FF2B5EF4-FFF2-40B4-BE49-F238E27FC236}">
                <a16:creationId xmlns:a16="http://schemas.microsoft.com/office/drawing/2014/main" id="{856BE4DD-01BA-4F93-BC9E-8354BA2CD63B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8216900" y="2803525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data</a:t>
            </a:r>
          </a:p>
        </p:txBody>
      </p:sp>
      <p:sp>
        <p:nvSpPr>
          <p:cNvPr id="187" name="Text Box 37">
            <a:extLst>
              <a:ext uri="{FF2B5EF4-FFF2-40B4-BE49-F238E27FC236}">
                <a16:creationId xmlns:a16="http://schemas.microsoft.com/office/drawing/2014/main" id="{024A60DB-7540-4AF1-AA9D-B09B38C4FF50}"/>
              </a:ext>
            </a:extLst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8220075" y="3260725"/>
            <a:ext cx="841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height</a:t>
            </a:r>
          </a:p>
        </p:txBody>
      </p:sp>
      <p:sp>
        <p:nvSpPr>
          <p:cNvPr id="188" name="Text Box 38">
            <a:extLst>
              <a:ext uri="{FF2B5EF4-FFF2-40B4-BE49-F238E27FC236}">
                <a16:creationId xmlns:a16="http://schemas.microsoft.com/office/drawing/2014/main" id="{268FFBCA-6296-4B4D-957C-3FE799D93D91}"/>
              </a:ext>
            </a:extLst>
          </p:cNvPr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216900" y="3717925"/>
            <a:ext cx="669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defTabSz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left/</a:t>
            </a:r>
            <a:b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</a:b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right</a:t>
            </a:r>
          </a:p>
        </p:txBody>
      </p:sp>
      <p:sp>
        <p:nvSpPr>
          <p:cNvPr id="189" name="Line 37">
            <a:extLst>
              <a:ext uri="{FF2B5EF4-FFF2-40B4-BE49-F238E27FC236}">
                <a16:creationId xmlns:a16="http://schemas.microsoft.com/office/drawing/2014/main" id="{46CF0427-280D-4E0E-BCC8-BD63E03AC0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2895600"/>
            <a:ext cx="1524000" cy="609600"/>
          </a:xfrm>
          <a:prstGeom prst="line">
            <a:avLst/>
          </a:prstGeom>
          <a:noFill/>
          <a:ln w="25400">
            <a:solidFill>
              <a:srgbClr val="F3F3F3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257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69" grpId="0" animBg="1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/>
      <p:bldP spid="187" grpId="0"/>
      <p:bldP spid="188" grpId="0"/>
      <p:bldP spid="18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990600"/>
            <a:ext cx="9144000" cy="115416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300" b="1" dirty="0">
                <a:solidFill>
                  <a:schemeClr val="bg1"/>
                </a:solidFill>
              </a:rPr>
              <a:t>After every insertion / deletion we need to check the BALANCE FACTOR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300" b="1" dirty="0">
                <a:solidFill>
                  <a:schemeClr val="bg1"/>
                </a:solidFill>
              </a:rPr>
              <a:t>If it is other than -1 or 0 or +1 then we perform ROTATION to make the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300" b="1" dirty="0">
                <a:solidFill>
                  <a:schemeClr val="bg1"/>
                </a:solidFill>
              </a:rPr>
              <a:t>Tree Balance.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304800" y="2286000"/>
            <a:ext cx="1905000" cy="1219200"/>
          </a:xfrm>
          <a:prstGeom prst="wedgeEllipseCallout">
            <a:avLst>
              <a:gd name="adj1" fmla="val 70272"/>
              <a:gd name="adj2" fmla="val 69775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Note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66800" y="3810000"/>
            <a:ext cx="7391400" cy="26670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b="1" dirty="0"/>
              <a:t>All AVL Trees are Binary Search Trees but All Binary Search Trees need not be AVL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2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b="1" dirty="0"/>
              <a:t>All Binary Search Trees are Binary Trees but All Binary Trees need not be Binary Search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27E4E5-0670-4CFB-973A-0C4D8669C1B8}"/>
              </a:ext>
            </a:extLst>
          </p:cNvPr>
          <p:cNvSpPr txBox="1"/>
          <p:nvPr/>
        </p:nvSpPr>
        <p:spPr>
          <a:xfrm>
            <a:off x="0" y="152400"/>
            <a:ext cx="9067800" cy="627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5353"/>
              </a:lnSpc>
            </a:pPr>
            <a:r>
              <a:rPr lang="en-US" sz="3200" b="1" dirty="0">
                <a:solidFill>
                  <a:schemeClr val="accent6"/>
                </a:solidFill>
              </a:rPr>
              <a:t>CHARACTERISTICS OF AVL TREE: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D1600C51-198B-4790-AF7D-EF6EB4B7DBF9}"/>
              </a:ext>
            </a:extLst>
          </p:cNvPr>
          <p:cNvSpPr txBox="1"/>
          <p:nvPr/>
        </p:nvSpPr>
        <p:spPr>
          <a:xfrm>
            <a:off x="0" y="841097"/>
            <a:ext cx="91440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6156" lvl="1" indent="-478078">
              <a:buFont typeface="Arial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It follows the general properties of a Binary Search Tree.</a:t>
            </a:r>
          </a:p>
          <a:p>
            <a:pPr marL="956156" lvl="1" indent="-478078">
              <a:buFont typeface="Arial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Each subtree of the tree is balanced, i.e., the difference between the height of the left and right subtrees is at most 1.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E6A9AA4-E4D4-41BB-9497-C9CCB0F2B449}"/>
              </a:ext>
            </a:extLst>
          </p:cNvPr>
          <p:cNvSpPr txBox="1"/>
          <p:nvPr/>
        </p:nvSpPr>
        <p:spPr>
          <a:xfrm>
            <a:off x="0" y="2995533"/>
            <a:ext cx="91440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6156" lvl="1" indent="-478078">
              <a:buFont typeface="Arial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The tree balances itself when a new node is inserted. Therefore, the insertion operation is time-consuming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9807722F-18B8-4592-87BF-30334DABCE45}"/>
              </a:ext>
            </a:extLst>
          </p:cNvPr>
          <p:cNvSpPr/>
          <p:nvPr/>
        </p:nvSpPr>
        <p:spPr>
          <a:xfrm>
            <a:off x="1143000" y="4115609"/>
            <a:ext cx="7467600" cy="2589991"/>
          </a:xfrm>
          <a:custGeom>
            <a:avLst/>
            <a:gdLst/>
            <a:ahLst/>
            <a:cxnLst/>
            <a:rect l="l" t="t" r="r" b="b"/>
            <a:pathLst>
              <a:path w="9963805" h="4281307">
                <a:moveTo>
                  <a:pt x="0" y="0"/>
                </a:moveTo>
                <a:lnTo>
                  <a:pt x="9963805" y="0"/>
                </a:lnTo>
                <a:lnTo>
                  <a:pt x="9963805" y="4281307"/>
                </a:lnTo>
                <a:lnTo>
                  <a:pt x="0" y="4281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1" r="-9313" b="-767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739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Callout 1 13"/>
          <p:cNvSpPr/>
          <p:nvPr/>
        </p:nvSpPr>
        <p:spPr>
          <a:xfrm>
            <a:off x="4495800" y="5486400"/>
            <a:ext cx="3733800" cy="762000"/>
          </a:xfrm>
          <a:prstGeom prst="borderCallout1">
            <a:avLst>
              <a:gd name="adj1" fmla="val 54750"/>
              <a:gd name="adj2" fmla="val 297"/>
              <a:gd name="adj3" fmla="val -14357"/>
              <a:gd name="adj4" fmla="val -34267"/>
            </a:avLst>
          </a:prstGeom>
          <a:solidFill>
            <a:schemeClr val="tx2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Right Left Rotation (RL)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4495800" y="3962400"/>
            <a:ext cx="3733800" cy="762000"/>
          </a:xfrm>
          <a:prstGeom prst="borderCallout1">
            <a:avLst>
              <a:gd name="adj1" fmla="val 51321"/>
              <a:gd name="adj2" fmla="val 791"/>
              <a:gd name="adj3" fmla="val 138214"/>
              <a:gd name="adj4" fmla="val -35090"/>
            </a:avLst>
          </a:prstGeom>
          <a:solidFill>
            <a:schemeClr val="tx2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Left Right Rotation (LR)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4495800" y="3048000"/>
            <a:ext cx="3733800" cy="762000"/>
          </a:xfrm>
          <a:prstGeom prst="borderCallout1">
            <a:avLst>
              <a:gd name="adj1" fmla="val 54750"/>
              <a:gd name="adj2" fmla="val 297"/>
              <a:gd name="adj3" fmla="val -14357"/>
              <a:gd name="adj4" fmla="val -34267"/>
            </a:avLst>
          </a:prstGeom>
          <a:solidFill>
            <a:schemeClr val="tx2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Right Rotation (RR)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4495800" y="1524000"/>
            <a:ext cx="3733800" cy="762000"/>
          </a:xfrm>
          <a:prstGeom prst="borderCallout1">
            <a:avLst>
              <a:gd name="adj1" fmla="val 51321"/>
              <a:gd name="adj2" fmla="val 791"/>
              <a:gd name="adj3" fmla="val 138214"/>
              <a:gd name="adj4" fmla="val -35090"/>
            </a:avLst>
          </a:prstGeom>
          <a:solidFill>
            <a:schemeClr val="tx2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Left Rotation (LL)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0"/>
            <a:ext cx="2990242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Rotations</a:t>
            </a:r>
          </a:p>
        </p:txBody>
      </p:sp>
      <p:sp>
        <p:nvSpPr>
          <p:cNvPr id="9" name="Line Callout 2 8"/>
          <p:cNvSpPr/>
          <p:nvPr/>
        </p:nvSpPr>
        <p:spPr>
          <a:xfrm>
            <a:off x="1676400" y="2057400"/>
            <a:ext cx="1828800" cy="1371600"/>
          </a:xfrm>
          <a:prstGeom prst="borderCallout2">
            <a:avLst>
              <a:gd name="adj1" fmla="val 50179"/>
              <a:gd name="adj2" fmla="val -476"/>
              <a:gd name="adj3" fmla="val 50179"/>
              <a:gd name="adj4" fmla="val -17381"/>
              <a:gd name="adj5" fmla="val 112500"/>
              <a:gd name="adj6" fmla="val -46667"/>
            </a:avLst>
          </a:prstGeom>
          <a:solidFill>
            <a:srgbClr val="7030A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Single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Rotation</a:t>
            </a:r>
          </a:p>
        </p:txBody>
      </p:sp>
      <p:sp>
        <p:nvSpPr>
          <p:cNvPr id="11" name="Line Callout 2 10"/>
          <p:cNvSpPr/>
          <p:nvPr/>
        </p:nvSpPr>
        <p:spPr>
          <a:xfrm>
            <a:off x="1600200" y="4419600"/>
            <a:ext cx="1828800" cy="1371600"/>
          </a:xfrm>
          <a:prstGeom prst="borderCallout2">
            <a:avLst>
              <a:gd name="adj1" fmla="val 48274"/>
              <a:gd name="adj2" fmla="val 1667"/>
              <a:gd name="adj3" fmla="val 47321"/>
              <a:gd name="adj4" fmla="val -16667"/>
              <a:gd name="adj5" fmla="val -33214"/>
              <a:gd name="adj6" fmla="val -42381"/>
            </a:avLst>
          </a:prstGeom>
          <a:solidFill>
            <a:srgbClr val="7030A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Double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Rotation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429000"/>
            <a:ext cx="685800" cy="6858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3" grpId="0" animBg="1"/>
      <p:bldP spid="12" grpId="0" animBg="1"/>
      <p:bldP spid="9" grpId="0" animBg="1"/>
      <p:bldP spid="11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D996-9600-4883-8953-E577E884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06"/>
            <a:ext cx="8229600" cy="639762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3"/>
                </a:solidFill>
              </a:rPr>
              <a:t>Left rotation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C4837-16FA-4A17-B458-DBCBA839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left rotation</a:t>
            </a:r>
            <a:r>
              <a:rPr lang="en-US" altLang="en-US" sz="2800" dirty="0">
                <a:solidFill>
                  <a:schemeClr val="bg1"/>
                </a:solidFill>
              </a:rPr>
              <a:t> (counter-clockwise):	</a:t>
            </a:r>
            <a:r>
              <a:rPr lang="en-US" altLang="en-US" sz="2800" i="1" dirty="0">
                <a:solidFill>
                  <a:schemeClr val="bg1"/>
                </a:solidFill>
              </a:rPr>
              <a:t>(fixes Case 4  (RR))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right child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2</a:t>
            </a:r>
            <a:r>
              <a:rPr lang="en-US" altLang="en-US" dirty="0">
                <a:solidFill>
                  <a:schemeClr val="bg1"/>
                </a:solidFill>
              </a:rPr>
              <a:t> becomes parent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original parent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1</a:t>
            </a:r>
            <a:r>
              <a:rPr lang="en-US" altLang="en-US" dirty="0">
                <a:solidFill>
                  <a:schemeClr val="bg1"/>
                </a:solidFill>
              </a:rPr>
              <a:t> demoted to left</a:t>
            </a:r>
          </a:p>
          <a:p>
            <a:pPr lvl="1"/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2</a:t>
            </a:r>
            <a:r>
              <a:rPr lang="en-US" altLang="en-US" dirty="0">
                <a:solidFill>
                  <a:schemeClr val="bg1"/>
                </a:solidFill>
              </a:rPr>
              <a:t>'s original left subtree </a:t>
            </a:r>
            <a:r>
              <a:rPr lang="en-US" altLang="en-US" i="1" dirty="0">
                <a:solidFill>
                  <a:schemeClr val="bg1"/>
                </a:solidFill>
              </a:rPr>
              <a:t>B</a:t>
            </a:r>
            <a:r>
              <a:rPr lang="en-US" altLang="en-US" dirty="0">
                <a:solidFill>
                  <a:schemeClr val="bg1"/>
                </a:solidFill>
              </a:rPr>
              <a:t> (if any) is attached to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1</a:t>
            </a:r>
            <a:r>
              <a:rPr lang="en-US" altLang="en-US" dirty="0">
                <a:solidFill>
                  <a:schemeClr val="bg1"/>
                </a:solidFill>
              </a:rPr>
              <a:t> as left subtree</a:t>
            </a:r>
          </a:p>
          <a:p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1F03D47-AAED-458F-9056-8CCFFC888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525" y="3547713"/>
            <a:ext cx="5822950" cy="319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0526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/>
        </p:nvCxnSpPr>
        <p:spPr>
          <a:xfrm>
            <a:off x="5791200" y="4419600"/>
            <a:ext cx="838200" cy="9906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200400" y="2819400"/>
            <a:ext cx="6096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95800" y="2743200"/>
            <a:ext cx="838200" cy="10668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581400" y="19050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6096000" y="50292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876800" y="35052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flipH="1">
            <a:off x="3276600" y="1066800"/>
            <a:ext cx="1676400" cy="838200"/>
          </a:xfrm>
          <a:prstGeom prst="curvedDownArrow">
            <a:avLst>
              <a:gd name="adj1" fmla="val 24007"/>
              <a:gd name="adj2" fmla="val 51034"/>
              <a:gd name="adj3" fmla="val 43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62400" y="10668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9800" y="30480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2400" y="10668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2800" y="44196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9800" y="30480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2400" y="10668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76400" y="303907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3400611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LL Rotation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5791200" y="152400"/>
            <a:ext cx="29638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</a:rPr>
              <a:t>Insert: A , B , C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5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7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-0.13333 0.25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.01666 L -0.14167 -0.23334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3 0.01111 L -0.13333 -0.20556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0" y="-1080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>
            <a:extLst>
              <a:ext uri="{FF2B5EF4-FFF2-40B4-BE49-F238E27FC236}">
                <a16:creationId xmlns:a16="http://schemas.microsoft.com/office/drawing/2014/main" id="{4497C73D-5B83-4D18-8301-75F3AA651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3"/>
                </a:solidFill>
              </a:rPr>
              <a:t>Left rotation code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BC511EC-AFBD-4C8F-92C7-B85929DE0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95400"/>
            <a:ext cx="9144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leftRotate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1. detach right child's left subtree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orphan =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oldParent.right.left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2. consider right child to be the new parent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oldParent.right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3. attach old parent onto left of new parent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newParent.left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4. attach new parent's old left subtree as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  right subtree of old parent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oldParent.right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orphan;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oldParent.height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height(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// update nodes'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newParent.height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height(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// height values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45159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D996-9600-4883-8953-E577E884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06"/>
            <a:ext cx="8229600" cy="639762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3"/>
                </a:solidFill>
              </a:rPr>
              <a:t>Right rotation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C4837-16FA-4A17-B458-DBCBA839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altLang="en-US" b="1" dirty="0">
                <a:solidFill>
                  <a:schemeClr val="bg1"/>
                </a:solidFill>
              </a:rPr>
              <a:t>right rotation</a:t>
            </a:r>
            <a:r>
              <a:rPr lang="en-US" altLang="en-US" dirty="0">
                <a:solidFill>
                  <a:schemeClr val="bg1"/>
                </a:solidFill>
              </a:rPr>
              <a:t> (clockwise):	</a:t>
            </a:r>
            <a:r>
              <a:rPr lang="en-US" altLang="en-US" i="1" dirty="0">
                <a:solidFill>
                  <a:schemeClr val="bg1"/>
                </a:solidFill>
              </a:rPr>
              <a:t>(fixes Case 1  (LL))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left child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1</a:t>
            </a:r>
            <a:r>
              <a:rPr lang="en-US" altLang="en-US" dirty="0">
                <a:solidFill>
                  <a:schemeClr val="bg1"/>
                </a:solidFill>
              </a:rPr>
              <a:t> becomes parent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original parent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2</a:t>
            </a:r>
            <a:r>
              <a:rPr lang="en-US" altLang="en-US" dirty="0">
                <a:solidFill>
                  <a:schemeClr val="bg1"/>
                </a:solidFill>
              </a:rPr>
              <a:t> demoted to right</a:t>
            </a:r>
          </a:p>
          <a:p>
            <a:pPr lvl="1"/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1</a:t>
            </a:r>
            <a:r>
              <a:rPr lang="en-US" altLang="en-US" dirty="0">
                <a:solidFill>
                  <a:schemeClr val="bg1"/>
                </a:solidFill>
              </a:rPr>
              <a:t>'s original right subtree </a:t>
            </a:r>
            <a:r>
              <a:rPr lang="en-US" altLang="en-US" i="1" dirty="0">
                <a:solidFill>
                  <a:schemeClr val="bg1"/>
                </a:solidFill>
              </a:rPr>
              <a:t>B</a:t>
            </a:r>
            <a:r>
              <a:rPr lang="en-US" altLang="en-US" dirty="0">
                <a:solidFill>
                  <a:schemeClr val="bg1"/>
                </a:solidFill>
              </a:rPr>
              <a:t> (if any) is attached to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2</a:t>
            </a:r>
            <a:r>
              <a:rPr lang="en-US" altLang="en-US" dirty="0">
                <a:solidFill>
                  <a:schemeClr val="bg1"/>
                </a:solidFill>
              </a:rPr>
              <a:t> as left subtree</a:t>
            </a:r>
          </a:p>
          <a:p>
            <a:endParaRPr lang="en-US" dirty="0"/>
          </a:p>
        </p:txBody>
      </p:sp>
      <p:pic>
        <p:nvPicPr>
          <p:cNvPr id="5" name="Picture 2" descr="&#10;Fig_19-23.pct                                                  000694D2Porkchop                       B3B4845B:">
            <a:extLst>
              <a:ext uri="{FF2B5EF4-FFF2-40B4-BE49-F238E27FC236}">
                <a16:creationId xmlns:a16="http://schemas.microsoft.com/office/drawing/2014/main" id="{8CBE7D43-184C-4FA4-95D3-E8E24B549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0"/>
          <a:stretch>
            <a:fillRect/>
          </a:stretch>
        </p:blipFill>
        <p:spPr bwMode="auto">
          <a:xfrm>
            <a:off x="1600200" y="3520154"/>
            <a:ext cx="6234112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1385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714875" y="2667000"/>
            <a:ext cx="914400" cy="1143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3190875" y="2667000"/>
            <a:ext cx="914400" cy="9906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801265" y="18288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981865" y="51816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353465" y="34290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>
            <a:off x="3648075" y="1143000"/>
            <a:ext cx="1762125" cy="838200"/>
          </a:xfrm>
          <a:prstGeom prst="curvedDownArrow">
            <a:avLst>
              <a:gd name="adj1" fmla="val 24007"/>
              <a:gd name="adj2" fmla="val 51034"/>
              <a:gd name="adj3" fmla="val 43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82265" y="9906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0065" y="32004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2265" y="9906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665" y="46482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0065" y="32004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2265" y="9906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2</a:t>
            </a:r>
          </a:p>
        </p:txBody>
      </p:sp>
      <p:cxnSp>
        <p:nvCxnSpPr>
          <p:cNvPr id="19" name="Straight Connector 18"/>
          <p:cNvCxnSpPr>
            <a:stCxn id="0" idx="3"/>
          </p:cNvCxnSpPr>
          <p:nvPr/>
        </p:nvCxnSpPr>
        <p:spPr>
          <a:xfrm flipH="1">
            <a:off x="1895475" y="4405313"/>
            <a:ext cx="636588" cy="852487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087265" y="31242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-96180" y="0"/>
            <a:ext cx="3592971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RR Rotation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791200" y="152400"/>
            <a:ext cx="29638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</a:rPr>
              <a:t>Insert: C , B , 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5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7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22222 " pathEditMode="relative" ptsTypes="AA">
                                      <p:cBhvr>
                                        <p:cTn id="1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3 -0.01111 L 0.16666 -0.24444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00" y="-11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833 -0.26667 " pathEditMode="relative" ptsTypes="AA">
                                      <p:cBhvr>
                                        <p:cTn id="1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>
            <a:extLst>
              <a:ext uri="{FF2B5EF4-FFF2-40B4-BE49-F238E27FC236}">
                <a16:creationId xmlns:a16="http://schemas.microsoft.com/office/drawing/2014/main" id="{4497C73D-5B83-4D18-8301-75F3AA651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3"/>
                </a:solidFill>
              </a:rPr>
              <a:t>Right rotation code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BC511EC-AFBD-4C8F-92C7-B85929DE0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95400"/>
            <a:ext cx="9144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rightRotate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1. detach left child's right subtree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orphan =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oldParent.left.right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2. consider left child to be the new parent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oldParent.left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3. attach old parent onto right of new parent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newParent.right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4. attach new parent's old right subtree as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  left subtree of old parent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oldParent.left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orphan;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oldParent.height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height(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// update nodes'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newParent.height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height(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// height values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newParent</a:t>
            </a: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41623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>
            <a:extLst>
              <a:ext uri="{FF2B5EF4-FFF2-40B4-BE49-F238E27FC236}">
                <a16:creationId xmlns:a16="http://schemas.microsoft.com/office/drawing/2014/main" id="{4497C73D-5B83-4D18-8301-75F3AA651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3"/>
                </a:solidFill>
              </a:rPr>
              <a:t>Right rotation code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BC511EC-AFBD-4C8F-92C7-B85929DE0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95400"/>
            <a:ext cx="9144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int height(</a:t>
            </a:r>
            <a:r>
              <a:rPr lang="en-US" alt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node)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(node == null)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left  = (</a:t>
            </a:r>
            <a:r>
              <a:rPr lang="en-US" alt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== null) ? 0 : </a:t>
            </a:r>
            <a:r>
              <a:rPr lang="en-US" alt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node.left.height</a:t>
            </a: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right = (</a:t>
            </a:r>
            <a:r>
              <a:rPr lang="en-US" alt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? 0 : </a:t>
            </a:r>
            <a:r>
              <a:rPr lang="en-US" alt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node.right.height</a:t>
            </a: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alt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(left, right) + 1;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91782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D996-9600-4883-8953-E577E884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06"/>
            <a:ext cx="8229600" cy="639762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3"/>
                </a:solidFill>
              </a:rPr>
              <a:t>Left-right double rotation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C4837-16FA-4A17-B458-DBCBA839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altLang="en-US" b="1" dirty="0">
                <a:solidFill>
                  <a:schemeClr val="bg1"/>
                </a:solidFill>
              </a:rPr>
              <a:t>left-right double rotation</a:t>
            </a:r>
            <a:r>
              <a:rPr lang="en-US" altLang="en-US" dirty="0">
                <a:solidFill>
                  <a:schemeClr val="bg1"/>
                </a:solidFill>
              </a:rPr>
              <a:t>:	</a:t>
            </a:r>
            <a:r>
              <a:rPr lang="en-US" altLang="en-US" i="1" dirty="0">
                <a:solidFill>
                  <a:schemeClr val="bg1"/>
                </a:solidFill>
              </a:rPr>
              <a:t>(fixes Case 2 (LR))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1) left-rotate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3</a:t>
            </a:r>
            <a:r>
              <a:rPr lang="en-US" altLang="en-US" dirty="0">
                <a:solidFill>
                  <a:schemeClr val="bg1"/>
                </a:solidFill>
              </a:rPr>
              <a:t>'s left child ... reduces Case 2 into Case 1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2) right-rotate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3</a:t>
            </a:r>
            <a:r>
              <a:rPr lang="en-US" altLang="en-US" dirty="0">
                <a:solidFill>
                  <a:schemeClr val="bg1"/>
                </a:solidFill>
              </a:rPr>
              <a:t> to fix Case 1</a:t>
            </a:r>
          </a:p>
          <a:p>
            <a:endParaRPr lang="en-US" dirty="0"/>
          </a:p>
        </p:txBody>
      </p:sp>
      <p:pic>
        <p:nvPicPr>
          <p:cNvPr id="5" name="Picture 3" descr="&#10;Fig_19-29.pct                                                  000694D2Porkchop                       B3B4845B:">
            <a:extLst>
              <a:ext uri="{FF2B5EF4-FFF2-40B4-BE49-F238E27FC236}">
                <a16:creationId xmlns:a16="http://schemas.microsoft.com/office/drawing/2014/main" id="{C94BED9A-23A0-4931-B11D-4CE8E3B74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5"/>
          <a:stretch>
            <a:fillRect/>
          </a:stretch>
        </p:blipFill>
        <p:spPr bwMode="auto">
          <a:xfrm>
            <a:off x="1066800" y="3200400"/>
            <a:ext cx="692943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57342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 flipH="1">
            <a:off x="1905000" y="4724400"/>
            <a:ext cx="838200" cy="1219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200400" y="4724400"/>
            <a:ext cx="762000" cy="1143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495800" y="3124200"/>
            <a:ext cx="838200" cy="10668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3200400" y="3124200"/>
            <a:ext cx="6858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581400" y="22098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657600" y="55626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438400" y="38862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flipH="1">
            <a:off x="1981200" y="3505200"/>
            <a:ext cx="1981200" cy="838200"/>
          </a:xfrm>
          <a:prstGeom prst="curvedDownArrow">
            <a:avLst>
              <a:gd name="adj1" fmla="val 24007"/>
              <a:gd name="adj2" fmla="val 51034"/>
              <a:gd name="adj3" fmla="val 43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62400" y="13716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200" y="35052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2400" y="13716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8200" y="50292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200" y="35052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2400" y="13716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19800" y="342007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791200" y="152400"/>
            <a:ext cx="29638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</a:rPr>
              <a:t>Insert: C , A ,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48090" y="0"/>
            <a:ext cx="3496791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LR Rotation</a:t>
            </a:r>
          </a:p>
        </p:txBody>
      </p:sp>
      <p:sp>
        <p:nvSpPr>
          <p:cNvPr id="25" name="Curved Down Arrow 24"/>
          <p:cNvSpPr/>
          <p:nvPr/>
        </p:nvSpPr>
        <p:spPr>
          <a:xfrm>
            <a:off x="3276600" y="1752600"/>
            <a:ext cx="1981200" cy="838200"/>
          </a:xfrm>
          <a:prstGeom prst="curvedDownArrow">
            <a:avLst>
              <a:gd name="adj1" fmla="val 24007"/>
              <a:gd name="adj2" fmla="val 51034"/>
              <a:gd name="adj3" fmla="val 43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5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7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667 -0.00556 L -0.15 0.25555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0" y="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15 -0.25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7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770" decel="100000"/>
                                        <p:tgtEl>
                                          <p:spTgt spid="2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39" dur="7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1" dur="7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4 0.00556 L 0.14166 0.25556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 -0.25 L -0.01667 -0.48334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0" y="-11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 0.25556 L -0.00833 -0.00556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00" y="-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6" grpId="0"/>
      <p:bldP spid="25" grpId="0" animBg="1"/>
      <p:bldP spid="2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D996-9600-4883-8953-E577E884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06"/>
            <a:ext cx="8229600" cy="639762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3"/>
                </a:solidFill>
              </a:rPr>
              <a:t>Right-left double rotation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C4837-16FA-4A17-B458-DBCBA839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altLang="en-US" b="1" dirty="0">
                <a:solidFill>
                  <a:schemeClr val="bg1"/>
                </a:solidFill>
              </a:rPr>
              <a:t>right-left double rotation</a:t>
            </a:r>
            <a:r>
              <a:rPr lang="en-US" altLang="en-US" dirty="0">
                <a:solidFill>
                  <a:schemeClr val="bg1"/>
                </a:solidFill>
              </a:rPr>
              <a:t>:	</a:t>
            </a:r>
            <a:r>
              <a:rPr lang="en-US" altLang="en-US" i="1" dirty="0">
                <a:solidFill>
                  <a:schemeClr val="bg1"/>
                </a:solidFill>
              </a:rPr>
              <a:t>(fixes Case 3 (RL))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1) right-rotate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1</a:t>
            </a:r>
            <a:r>
              <a:rPr lang="en-US" altLang="en-US" dirty="0">
                <a:solidFill>
                  <a:schemeClr val="bg1"/>
                </a:solidFill>
              </a:rPr>
              <a:t>'s right child ... reduces Case 3 into Case 4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2) left-rotate </a:t>
            </a:r>
            <a:r>
              <a:rPr lang="en-US" altLang="en-US" i="1" dirty="0">
                <a:solidFill>
                  <a:schemeClr val="bg1"/>
                </a:solidFill>
              </a:rPr>
              <a:t>k</a:t>
            </a:r>
            <a:r>
              <a:rPr lang="en-US" altLang="en-US" baseline="-25000" dirty="0">
                <a:solidFill>
                  <a:schemeClr val="bg1"/>
                </a:solidFill>
              </a:rPr>
              <a:t>1</a:t>
            </a:r>
            <a:r>
              <a:rPr lang="en-US" altLang="en-US" dirty="0">
                <a:solidFill>
                  <a:schemeClr val="bg1"/>
                </a:solidFill>
              </a:rPr>
              <a:t> to fix Case 4</a:t>
            </a:r>
          </a:p>
          <a:p>
            <a:endParaRPr lang="en-US" dirty="0"/>
          </a:p>
        </p:txBody>
      </p:sp>
      <p:pic>
        <p:nvPicPr>
          <p:cNvPr id="6" name="Picture 4" descr="&#10;Fig_19-31.pct                                                  000694D2Porkchop                       B3B4845B:">
            <a:extLst>
              <a:ext uri="{FF2B5EF4-FFF2-40B4-BE49-F238E27FC236}">
                <a16:creationId xmlns:a16="http://schemas.microsoft.com/office/drawing/2014/main" id="{60DA84F5-2EC8-408D-ADB5-26BE15A3F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22"/>
          <a:stretch>
            <a:fillRect/>
          </a:stretch>
        </p:blipFill>
        <p:spPr bwMode="auto">
          <a:xfrm>
            <a:off x="1125537" y="3200400"/>
            <a:ext cx="6892925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65955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/>
          <p:cNvCxnSpPr/>
          <p:nvPr/>
        </p:nvCxnSpPr>
        <p:spPr>
          <a:xfrm>
            <a:off x="5867400" y="4724400"/>
            <a:ext cx="838200" cy="9906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495800" y="4724400"/>
            <a:ext cx="6858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200400" y="3124200"/>
            <a:ext cx="6096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95800" y="3048000"/>
            <a:ext cx="838200" cy="10668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581400" y="22098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657600" y="55626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876800" y="3810000"/>
            <a:ext cx="1219200" cy="11430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>
            <a:off x="4648200" y="3276600"/>
            <a:ext cx="1752600" cy="838200"/>
          </a:xfrm>
          <a:prstGeom prst="curvedDownArrow">
            <a:avLst>
              <a:gd name="adj1" fmla="val 24007"/>
              <a:gd name="adj2" fmla="val 51034"/>
              <a:gd name="adj3" fmla="val 43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62400" y="13716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9800" y="33528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2400" y="13716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2800" y="49530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9800" y="33528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2400" y="1371600"/>
            <a:ext cx="542136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76400" y="3505200"/>
            <a:ext cx="54213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0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791200" y="152400"/>
            <a:ext cx="29638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</a:rPr>
              <a:t>Insert: A , C ,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48090" y="0"/>
            <a:ext cx="3496791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RL Rotation</a:t>
            </a:r>
          </a:p>
        </p:txBody>
      </p:sp>
      <p:sp>
        <p:nvSpPr>
          <p:cNvPr id="25" name="Curved Down Arrow 24"/>
          <p:cNvSpPr/>
          <p:nvPr/>
        </p:nvSpPr>
        <p:spPr>
          <a:xfrm flipH="1">
            <a:off x="3124200" y="1752600"/>
            <a:ext cx="2057400" cy="838200"/>
          </a:xfrm>
          <a:prstGeom prst="curvedDownArrow">
            <a:avLst>
              <a:gd name="adj1" fmla="val 24007"/>
              <a:gd name="adj2" fmla="val 51034"/>
              <a:gd name="adj3" fmla="val 43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5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7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.01667 L 0.15 0.25556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11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13333 -0.23889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0" y="-1190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7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770" decel="100000"/>
                                        <p:tgtEl>
                                          <p:spTgt spid="2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37" dur="7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3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9" dur="7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0.13333 0.25556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00" y="1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333 -0.23889 L -0.00833 -0.47222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0" y="-11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 0.25555 L 1.11022E-16 0.01667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-11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6" grpId="0"/>
      <p:bldP spid="25" grpId="0" animBg="1"/>
      <p:bldP spid="2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/>
        </p:nvCxnSpPr>
        <p:spPr>
          <a:xfrm flipH="1">
            <a:off x="3429000" y="2743200"/>
            <a:ext cx="838200" cy="838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562600" y="38862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2819400"/>
            <a:ext cx="685800" cy="762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276600" y="0"/>
            <a:ext cx="2623219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19200"/>
            <a:ext cx="9201044" cy="769441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Construct AVL Tree by inserting 1 to 10</a:t>
            </a:r>
          </a:p>
        </p:txBody>
      </p:sp>
      <p:sp>
        <p:nvSpPr>
          <p:cNvPr id="6" name="Oval 5"/>
          <p:cNvSpPr/>
          <p:nvPr/>
        </p:nvSpPr>
        <p:spPr>
          <a:xfrm>
            <a:off x="4038600" y="22098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1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5029200" y="33528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2</a:t>
            </a:r>
            <a:endParaRPr lang="en-US" b="1" dirty="0"/>
          </a:p>
        </p:txBody>
      </p:sp>
      <p:sp>
        <p:nvSpPr>
          <p:cNvPr id="10" name="Oval 9"/>
          <p:cNvSpPr/>
          <p:nvPr/>
        </p:nvSpPr>
        <p:spPr>
          <a:xfrm>
            <a:off x="6172200" y="4572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3</a:t>
            </a:r>
            <a:endParaRPr lang="en-US" b="1" dirty="0"/>
          </a:p>
        </p:txBody>
      </p:sp>
      <p:pic>
        <p:nvPicPr>
          <p:cNvPr id="1026" name="Picture 1" descr="Description: enter image description he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057400"/>
            <a:ext cx="5943600" cy="41550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7" name="Picture 3" descr="Description: final AVL tre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438400"/>
            <a:ext cx="5923085" cy="3581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666 0.15555 " pathEditMode="relative" ptsTypes="AA">
                                      <p:cBhvr>
                                        <p:cTn id="5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4 -2.22222E-6 L -0.10833 -0.1666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0" y="-830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5 -0.17778 " pathEditMode="relative" ptsTypes="AA">
                                      <p:cBhvr>
                                        <p:cTn id="5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70349" y="0"/>
            <a:ext cx="2635722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Deletion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1970" y="1219200"/>
            <a:ext cx="7937109" cy="769441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Deletion in AVL Tree have 3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800" y="2209800"/>
            <a:ext cx="84737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0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1. Deleting node without any child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2971800"/>
            <a:ext cx="7704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0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2. Deleting node with one child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999" y="3635514"/>
            <a:ext cx="84753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0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3. Deleting node with two children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2400" y="1981200"/>
            <a:ext cx="8839200" cy="2743200"/>
          </a:xfrm>
          <a:prstGeom prst="round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228600"/>
            <a:ext cx="8473794" cy="707886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1. Deleting node without any child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192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1752600"/>
            <a:ext cx="7530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Find given node in AVL Tree by performing search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622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2: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895600"/>
            <a:ext cx="7232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Remove given node in AVL Tree by using ‘delete’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6229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3: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095690"/>
            <a:ext cx="5806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Check balance factor of each node in AVL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0529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5238690"/>
            <a:ext cx="76274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If tree is not balanced perform suitable Rotation operation to </a:t>
            </a:r>
          </a:p>
          <a:p>
            <a:r>
              <a:rPr lang="en-US" sz="2000" b="1" dirty="0">
                <a:solidFill>
                  <a:srgbClr val="FFC000"/>
                </a:solidFill>
              </a:rPr>
              <a:t>make tree balanced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5791200" y="2819400"/>
            <a:ext cx="8382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0" idx="7"/>
          </p:cNvCxnSpPr>
          <p:nvPr/>
        </p:nvCxnSpPr>
        <p:spPr>
          <a:xfrm flipH="1">
            <a:off x="4841875" y="2667000"/>
            <a:ext cx="796925" cy="87312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981200" y="2819400"/>
            <a:ext cx="838200" cy="838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0" idx="7"/>
          </p:cNvCxnSpPr>
          <p:nvPr/>
        </p:nvCxnSpPr>
        <p:spPr>
          <a:xfrm flipH="1">
            <a:off x="3165475" y="1600200"/>
            <a:ext cx="949325" cy="79692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48000" y="28956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1676400"/>
            <a:ext cx="9144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2635722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Deletion</a:t>
            </a:r>
          </a:p>
        </p:txBody>
      </p:sp>
      <p:sp>
        <p:nvSpPr>
          <p:cNvPr id="6" name="Oval 5"/>
          <p:cNvSpPr/>
          <p:nvPr/>
        </p:nvSpPr>
        <p:spPr>
          <a:xfrm>
            <a:off x="16764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1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25146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2</a:t>
            </a:r>
            <a:endParaRPr lang="en-US" b="1" dirty="0"/>
          </a:p>
        </p:txBody>
      </p:sp>
      <p:sp>
        <p:nvSpPr>
          <p:cNvPr id="10" name="Oval 9"/>
          <p:cNvSpPr/>
          <p:nvPr/>
        </p:nvSpPr>
        <p:spPr>
          <a:xfrm>
            <a:off x="33528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3</a:t>
            </a:r>
            <a:endParaRPr lang="en-US" b="1" dirty="0"/>
          </a:p>
        </p:txBody>
      </p:sp>
      <p:sp>
        <p:nvSpPr>
          <p:cNvPr id="12" name="Oval 11"/>
          <p:cNvSpPr/>
          <p:nvPr/>
        </p:nvSpPr>
        <p:spPr>
          <a:xfrm>
            <a:off x="3962400" y="1143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4</a:t>
            </a:r>
            <a:endParaRPr lang="en-US" b="1" dirty="0"/>
          </a:p>
        </p:txBody>
      </p:sp>
      <p:sp>
        <p:nvSpPr>
          <p:cNvPr id="15" name="Oval 14"/>
          <p:cNvSpPr/>
          <p:nvPr/>
        </p:nvSpPr>
        <p:spPr>
          <a:xfrm>
            <a:off x="52578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8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3581400" y="4038600"/>
            <a:ext cx="838200" cy="838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724400" y="41148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76600" y="47244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5</a:t>
            </a:r>
            <a:endParaRPr lang="en-US" b="1" dirty="0"/>
          </a:p>
        </p:txBody>
      </p:sp>
      <p:sp>
        <p:nvSpPr>
          <p:cNvPr id="22" name="Oval 21"/>
          <p:cNvSpPr/>
          <p:nvPr/>
        </p:nvSpPr>
        <p:spPr>
          <a:xfrm>
            <a:off x="4191000" y="3429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6</a:t>
            </a:r>
            <a:endParaRPr lang="en-US" b="1" dirty="0"/>
          </a:p>
        </p:txBody>
      </p:sp>
      <p:sp>
        <p:nvSpPr>
          <p:cNvPr id="23" name="Oval 22"/>
          <p:cNvSpPr/>
          <p:nvPr/>
        </p:nvSpPr>
        <p:spPr>
          <a:xfrm>
            <a:off x="5029200" y="47244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7</a:t>
            </a:r>
            <a:endParaRPr lang="en-US" b="1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6858000" y="41148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24600" y="3429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9</a:t>
            </a:r>
            <a:endParaRPr lang="en-US" b="1" dirty="0"/>
          </a:p>
        </p:txBody>
      </p:sp>
      <p:sp>
        <p:nvSpPr>
          <p:cNvPr id="28" name="Oval 27"/>
          <p:cNvSpPr/>
          <p:nvPr/>
        </p:nvSpPr>
        <p:spPr>
          <a:xfrm>
            <a:off x="7162800" y="47244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10</a:t>
            </a:r>
            <a:endParaRPr lang="en-US" sz="1100" b="1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705600" y="152400"/>
            <a:ext cx="19034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</a:rPr>
              <a:t>Delete: 5</a:t>
            </a:r>
          </a:p>
        </p:txBody>
      </p:sp>
      <p:sp>
        <p:nvSpPr>
          <p:cNvPr id="36" name="Striped Right Arrow 35"/>
          <p:cNvSpPr/>
          <p:nvPr/>
        </p:nvSpPr>
        <p:spPr>
          <a:xfrm rot="5400000">
            <a:off x="4038600" y="533400"/>
            <a:ext cx="609600" cy="457200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67 0.18889 " pathEditMode="relative" ptsTypes="AA">
                                      <p:cBhvr>
                                        <p:cTn id="8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66 0.18889 L 0.025 0.3444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0" y="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 0.34445 L -0.08333 0.52222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00" y="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5720" y="228600"/>
            <a:ext cx="7704353" cy="707886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2. Deleting node with one child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192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1752600"/>
            <a:ext cx="7530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Find given node in AVL Tree by performing search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97424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3: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730824"/>
            <a:ext cx="7232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Remove given node in AVL Tree by using ‘delete’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397514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4: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930914"/>
            <a:ext cx="5806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Check balance factor of each node in AVL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540514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5: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6073914"/>
            <a:ext cx="76274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If tree is not balanced perform suitable Rotation operation to </a:t>
            </a:r>
          </a:p>
          <a:p>
            <a:r>
              <a:rPr lang="en-US" sz="2000" b="1" dirty="0">
                <a:solidFill>
                  <a:srgbClr val="FFC000"/>
                </a:solidFill>
              </a:rPr>
              <a:t>make tree balanced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19069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2: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724090"/>
            <a:ext cx="5492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Make a link between its Parent and its Child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 flipH="1">
            <a:off x="5410200" y="2819400"/>
            <a:ext cx="152400" cy="2057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791200" y="2819400"/>
            <a:ext cx="8382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724400" y="2667000"/>
            <a:ext cx="914401" cy="10668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981200" y="2819400"/>
            <a:ext cx="838200" cy="838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0" idx="7"/>
          </p:cNvCxnSpPr>
          <p:nvPr/>
        </p:nvCxnSpPr>
        <p:spPr>
          <a:xfrm flipH="1">
            <a:off x="3165475" y="1600200"/>
            <a:ext cx="949325" cy="79692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48000" y="28956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1676400"/>
            <a:ext cx="9144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2635722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Deletion</a:t>
            </a:r>
          </a:p>
        </p:txBody>
      </p:sp>
      <p:sp>
        <p:nvSpPr>
          <p:cNvPr id="6" name="Oval 5"/>
          <p:cNvSpPr/>
          <p:nvPr/>
        </p:nvSpPr>
        <p:spPr>
          <a:xfrm>
            <a:off x="16764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1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25146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2</a:t>
            </a:r>
            <a:endParaRPr lang="en-US" b="1" dirty="0"/>
          </a:p>
        </p:txBody>
      </p:sp>
      <p:sp>
        <p:nvSpPr>
          <p:cNvPr id="10" name="Oval 9"/>
          <p:cNvSpPr/>
          <p:nvPr/>
        </p:nvSpPr>
        <p:spPr>
          <a:xfrm>
            <a:off x="33528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3</a:t>
            </a:r>
            <a:endParaRPr lang="en-US" b="1" dirty="0"/>
          </a:p>
        </p:txBody>
      </p:sp>
      <p:sp>
        <p:nvSpPr>
          <p:cNvPr id="12" name="Oval 11"/>
          <p:cNvSpPr/>
          <p:nvPr/>
        </p:nvSpPr>
        <p:spPr>
          <a:xfrm>
            <a:off x="3962400" y="1143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4</a:t>
            </a:r>
            <a:endParaRPr lang="en-US" b="1" dirty="0"/>
          </a:p>
        </p:txBody>
      </p:sp>
      <p:sp>
        <p:nvSpPr>
          <p:cNvPr id="15" name="Oval 14"/>
          <p:cNvSpPr/>
          <p:nvPr/>
        </p:nvSpPr>
        <p:spPr>
          <a:xfrm>
            <a:off x="52578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8</a:t>
            </a:r>
            <a:endParaRPr lang="en-US" b="1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724400" y="41148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191000" y="3429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6</a:t>
            </a:r>
            <a:endParaRPr lang="en-US" b="1" dirty="0"/>
          </a:p>
        </p:txBody>
      </p:sp>
      <p:sp>
        <p:nvSpPr>
          <p:cNvPr id="23" name="Oval 22"/>
          <p:cNvSpPr/>
          <p:nvPr/>
        </p:nvSpPr>
        <p:spPr>
          <a:xfrm>
            <a:off x="5029200" y="47244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7</a:t>
            </a:r>
            <a:endParaRPr lang="en-US" b="1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6858000" y="41148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24600" y="3429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9</a:t>
            </a:r>
            <a:endParaRPr lang="en-US" b="1" dirty="0"/>
          </a:p>
        </p:txBody>
      </p:sp>
      <p:sp>
        <p:nvSpPr>
          <p:cNvPr id="28" name="Oval 27"/>
          <p:cNvSpPr/>
          <p:nvPr/>
        </p:nvSpPr>
        <p:spPr>
          <a:xfrm>
            <a:off x="7162800" y="47244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10</a:t>
            </a:r>
            <a:endParaRPr lang="en-US" sz="1100" b="1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705600" y="152400"/>
            <a:ext cx="19034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</a:rPr>
              <a:t>Delete: 6</a:t>
            </a:r>
          </a:p>
        </p:txBody>
      </p:sp>
      <p:sp>
        <p:nvSpPr>
          <p:cNvPr id="36" name="Striped Right Arrow 35"/>
          <p:cNvSpPr/>
          <p:nvPr/>
        </p:nvSpPr>
        <p:spPr>
          <a:xfrm rot="5400000">
            <a:off x="4038600" y="533400"/>
            <a:ext cx="609600" cy="457200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67 0.18889 " pathEditMode="relative" ptsTypes="AA">
                                      <p:cBhvr>
                                        <p:cTn id="8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66 0.18889 L 0.025 0.3444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0" y="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-0.08334 -0.16666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0" y="-8300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5791200" y="2819400"/>
            <a:ext cx="8382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724400" y="2667000"/>
            <a:ext cx="914401" cy="10668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981200" y="2819400"/>
            <a:ext cx="838200" cy="838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0" idx="7"/>
          </p:cNvCxnSpPr>
          <p:nvPr/>
        </p:nvCxnSpPr>
        <p:spPr>
          <a:xfrm flipH="1">
            <a:off x="3165475" y="1600200"/>
            <a:ext cx="949325" cy="79692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48000" y="28956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1676400"/>
            <a:ext cx="9144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2635722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Deletion</a:t>
            </a:r>
          </a:p>
        </p:txBody>
      </p:sp>
      <p:sp>
        <p:nvSpPr>
          <p:cNvPr id="6" name="Oval 5"/>
          <p:cNvSpPr/>
          <p:nvPr/>
        </p:nvSpPr>
        <p:spPr>
          <a:xfrm>
            <a:off x="16764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1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25146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2</a:t>
            </a:r>
            <a:endParaRPr lang="en-US" b="1" dirty="0"/>
          </a:p>
        </p:txBody>
      </p:sp>
      <p:sp>
        <p:nvSpPr>
          <p:cNvPr id="10" name="Oval 9"/>
          <p:cNvSpPr/>
          <p:nvPr/>
        </p:nvSpPr>
        <p:spPr>
          <a:xfrm>
            <a:off x="33528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3</a:t>
            </a:r>
            <a:endParaRPr lang="en-US" b="1" dirty="0"/>
          </a:p>
        </p:txBody>
      </p:sp>
      <p:sp>
        <p:nvSpPr>
          <p:cNvPr id="12" name="Oval 11"/>
          <p:cNvSpPr/>
          <p:nvPr/>
        </p:nvSpPr>
        <p:spPr>
          <a:xfrm>
            <a:off x="3962400" y="1143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4</a:t>
            </a:r>
            <a:endParaRPr lang="en-US" b="1" dirty="0"/>
          </a:p>
        </p:txBody>
      </p:sp>
      <p:sp>
        <p:nvSpPr>
          <p:cNvPr id="15" name="Oval 14"/>
          <p:cNvSpPr/>
          <p:nvPr/>
        </p:nvSpPr>
        <p:spPr>
          <a:xfrm>
            <a:off x="52578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8</a:t>
            </a:r>
            <a:endParaRPr lang="en-US" b="1" dirty="0"/>
          </a:p>
        </p:txBody>
      </p:sp>
      <p:sp>
        <p:nvSpPr>
          <p:cNvPr id="23" name="Oval 22"/>
          <p:cNvSpPr/>
          <p:nvPr/>
        </p:nvSpPr>
        <p:spPr>
          <a:xfrm>
            <a:off x="41910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7</a:t>
            </a:r>
            <a:endParaRPr lang="en-US" b="1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6858000" y="41148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24600" y="3429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9</a:t>
            </a:r>
            <a:endParaRPr lang="en-US" b="1" dirty="0"/>
          </a:p>
        </p:txBody>
      </p:sp>
      <p:sp>
        <p:nvSpPr>
          <p:cNvPr id="28" name="Oval 27"/>
          <p:cNvSpPr/>
          <p:nvPr/>
        </p:nvSpPr>
        <p:spPr>
          <a:xfrm>
            <a:off x="7162800" y="47244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10</a:t>
            </a:r>
            <a:endParaRPr lang="en-US" sz="1100" b="1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705600" y="152400"/>
            <a:ext cx="19039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alibri" pitchFamily="34" charset="0"/>
              </a:rPr>
              <a:t>Delete: 7</a:t>
            </a:r>
          </a:p>
        </p:txBody>
      </p:sp>
      <p:sp>
        <p:nvSpPr>
          <p:cNvPr id="36" name="Striped Right Arrow 35"/>
          <p:cNvSpPr/>
          <p:nvPr/>
        </p:nvSpPr>
        <p:spPr>
          <a:xfrm rot="5400000">
            <a:off x="4038600" y="533400"/>
            <a:ext cx="609600" cy="457200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Curved Down Arrow 23"/>
          <p:cNvSpPr/>
          <p:nvPr/>
        </p:nvSpPr>
        <p:spPr>
          <a:xfrm flipH="1">
            <a:off x="4572000" y="1981200"/>
            <a:ext cx="2057400" cy="838200"/>
          </a:xfrm>
          <a:prstGeom prst="curvedDownArrow">
            <a:avLst>
              <a:gd name="adj1" fmla="val 24007"/>
              <a:gd name="adj2" fmla="val 51034"/>
              <a:gd name="adj3" fmla="val 436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67 0.18889 " pathEditMode="relative" ptsTypes="AA">
                                      <p:cBhvr>
                                        <p:cTn id="7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66 0.18889 L 0.025 0.3444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0" y="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7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770" decel="100000"/>
                                        <p:tgtEl>
                                          <p:spTgt spid="2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1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3" dur="7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-0.09167 0.16667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0" y="830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4 -0.02222 L -0.11667 -0.16667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00" y="-720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3 -0.02222 L -0.09167 -0.2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0" y="-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27" grpId="0" animBg="1"/>
      <p:bldP spid="28" grpId="0" animBg="1"/>
      <p:bldP spid="34" grpId="0"/>
      <p:bldP spid="24" grpId="0" animBg="1"/>
      <p:bldP spid="2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0198" y="228600"/>
            <a:ext cx="8475398" cy="707886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3. Deleting node with two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192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1752600"/>
            <a:ext cx="7530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Find given node in AVL Tree by performing search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61138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4: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4394538"/>
            <a:ext cx="7232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Remove given node in AVL Tree by using ‘delete’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02314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5: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5235714"/>
            <a:ext cx="5806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Check balance factor of each node in AVL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616714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6: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6150114"/>
            <a:ext cx="76274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If tree is not balanced perform suitable Rotation operation to </a:t>
            </a:r>
          </a:p>
          <a:p>
            <a:r>
              <a:rPr lang="en-US" sz="2000" b="1" dirty="0">
                <a:solidFill>
                  <a:srgbClr val="FFC000"/>
                </a:solidFill>
              </a:rPr>
              <a:t>make tree balanced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03829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2: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571690"/>
            <a:ext cx="5479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Find the Smallest node in its Right </a:t>
            </a:r>
            <a:r>
              <a:rPr lang="en-US" sz="2000" b="1" dirty="0" err="1">
                <a:solidFill>
                  <a:srgbClr val="FFC000"/>
                </a:solidFill>
              </a:rPr>
              <a:t>Subtree</a:t>
            </a:r>
            <a:r>
              <a:rPr lang="en-US" sz="2000" b="1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8956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– 3: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429000"/>
            <a:ext cx="800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Swap both given node and the Smallest node in its right </a:t>
            </a:r>
            <a:r>
              <a:rPr lang="en-US" sz="2000" b="1" dirty="0" err="1">
                <a:solidFill>
                  <a:srgbClr val="FFC000"/>
                </a:solidFill>
              </a:rPr>
              <a:t>subtree</a:t>
            </a:r>
            <a:endParaRPr lang="en-US" sz="20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/>
          <p:cNvCxnSpPr/>
          <p:nvPr/>
        </p:nvCxnSpPr>
        <p:spPr>
          <a:xfrm>
            <a:off x="5791200" y="2819400"/>
            <a:ext cx="8382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724400" y="2667000"/>
            <a:ext cx="914401" cy="10668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981200" y="2819400"/>
            <a:ext cx="838200" cy="8382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0" idx="7"/>
          </p:cNvCxnSpPr>
          <p:nvPr/>
        </p:nvCxnSpPr>
        <p:spPr>
          <a:xfrm flipH="1">
            <a:off x="3165475" y="1600200"/>
            <a:ext cx="949325" cy="79692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48000" y="2895600"/>
            <a:ext cx="7620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1676400"/>
            <a:ext cx="914400" cy="9144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2635722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Deletion</a:t>
            </a:r>
          </a:p>
        </p:txBody>
      </p:sp>
      <p:sp>
        <p:nvSpPr>
          <p:cNvPr id="6" name="Oval 5"/>
          <p:cNvSpPr/>
          <p:nvPr/>
        </p:nvSpPr>
        <p:spPr>
          <a:xfrm>
            <a:off x="16764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1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25146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2</a:t>
            </a:r>
            <a:endParaRPr lang="en-US" b="1" dirty="0"/>
          </a:p>
        </p:txBody>
      </p:sp>
      <p:sp>
        <p:nvSpPr>
          <p:cNvPr id="10" name="Oval 9"/>
          <p:cNvSpPr/>
          <p:nvPr/>
        </p:nvSpPr>
        <p:spPr>
          <a:xfrm>
            <a:off x="33528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3</a:t>
            </a:r>
            <a:endParaRPr lang="en-US" b="1" dirty="0"/>
          </a:p>
        </p:txBody>
      </p:sp>
      <p:sp>
        <p:nvSpPr>
          <p:cNvPr id="12" name="Oval 11"/>
          <p:cNvSpPr/>
          <p:nvPr/>
        </p:nvSpPr>
        <p:spPr>
          <a:xfrm>
            <a:off x="3962400" y="1143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4</a:t>
            </a:r>
            <a:endParaRPr lang="en-US" b="1" dirty="0"/>
          </a:p>
        </p:txBody>
      </p:sp>
      <p:sp>
        <p:nvSpPr>
          <p:cNvPr id="15" name="Oval 14"/>
          <p:cNvSpPr/>
          <p:nvPr/>
        </p:nvSpPr>
        <p:spPr>
          <a:xfrm>
            <a:off x="43434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8</a:t>
            </a:r>
            <a:endParaRPr lang="en-US" b="1" dirty="0"/>
          </a:p>
        </p:txBody>
      </p:sp>
      <p:sp>
        <p:nvSpPr>
          <p:cNvPr id="27" name="Oval 26"/>
          <p:cNvSpPr/>
          <p:nvPr/>
        </p:nvSpPr>
        <p:spPr>
          <a:xfrm>
            <a:off x="5257800" y="22860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/>
              <a:t>9</a:t>
            </a:r>
            <a:endParaRPr lang="en-US" b="1" dirty="0"/>
          </a:p>
        </p:txBody>
      </p:sp>
      <p:sp>
        <p:nvSpPr>
          <p:cNvPr id="28" name="Oval 27"/>
          <p:cNvSpPr/>
          <p:nvPr/>
        </p:nvSpPr>
        <p:spPr>
          <a:xfrm>
            <a:off x="6172200" y="3505200"/>
            <a:ext cx="762000" cy="762000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10</a:t>
            </a:r>
            <a:endParaRPr lang="en-US" sz="1100" b="1" dirty="0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705600" y="152400"/>
            <a:ext cx="19039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alibri" pitchFamily="34" charset="0"/>
              </a:rPr>
              <a:t>Delete: 4</a:t>
            </a:r>
          </a:p>
        </p:txBody>
      </p:sp>
      <p:sp>
        <p:nvSpPr>
          <p:cNvPr id="36" name="Striped Right Arrow 35"/>
          <p:cNvSpPr/>
          <p:nvPr/>
        </p:nvSpPr>
        <p:spPr>
          <a:xfrm rot="5400000">
            <a:off x="4038600" y="533400"/>
            <a:ext cx="609600" cy="457200"/>
          </a:xfrm>
          <a:prstGeom prst="strip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5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0902 -0.00718 0.21805 -0.01436 0.27135 0.05509 C 0.32465 0.12453 0.3592 0.36666 0.31996 0.41713 C 0.28073 0.46759 0.08298 0.36805 0.03559 0.3581 " pathEditMode="relative" ptsTypes="aaaA">
                                      <p:cBhvr>
                                        <p:cTn id="79" dur="5000" fill="hold"/>
                                        <p:tgtEl>
                                          <p:spTgt spid="1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052 0.1125 0.30121 0.225 0.36579 0.18287 C 0.43038 0.14074 0.40399 -0.15926 0.38715 -0.25347 C 0.37031 -0.34769 0.33507 -0.36736 0.26441 -0.38287 C 0.19375 -0.39838 0.07829 -0.37269 -0.03716 -0.34676 " pathEditMode="relative" ptsTypes="aaaaA">
                                      <p:cBhvr>
                                        <p:cTn id="81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5" grpId="1" animBg="1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B890-C379-4AF3-91ED-BD932FFB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199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accent6"/>
                </a:solidFill>
              </a:rPr>
              <a:t>Thinking About AVL</a:t>
            </a:r>
            <a:endParaRPr lang="en-US" sz="4000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72CA6-D041-4773-AE3B-4410B9653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9600"/>
            <a:ext cx="9144000" cy="4191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accent3"/>
                </a:solidFill>
              </a:rPr>
              <a:t>Observations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+ Worst case height of an AVL tree is about 1.44 log n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+ Insert, Find, Delete in worst case O(log n)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+ Only one (single or double) rotation needed on insertion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bg1"/>
                </a:solidFill>
              </a:rPr>
              <a:t>+ Compatible with lazy deletion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bg1"/>
                </a:solidFill>
              </a:rPr>
              <a:t>- O(log n) rotations needed on deletion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bg1"/>
                </a:solidFill>
              </a:rPr>
              <a:t>- Height fields must be maintained (or 2-bit balance)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267CFB1-760B-40BE-A4DD-170D2E7E2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10200"/>
            <a:ext cx="6896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hlink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4000" b="1" dirty="0">
                <a:solidFill>
                  <a:schemeClr val="accent5"/>
                </a:solidFill>
              </a:rPr>
              <a:t>Coding complexity?</a:t>
            </a:r>
          </a:p>
        </p:txBody>
      </p:sp>
    </p:spTree>
    <p:extLst>
      <p:ext uri="{BB962C8B-B14F-4D97-AF65-F5344CB8AC3E}">
        <p14:creationId xmlns:p14="http://schemas.microsoft.com/office/powerpoint/2010/main" val="788192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BF82-913A-4118-AA59-55C156DE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52400"/>
            <a:ext cx="8229600" cy="457199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accent6"/>
                </a:solidFill>
              </a:rPr>
              <a:t>Alternatives to AVL Trees</a:t>
            </a:r>
            <a:endParaRPr lang="en-US" sz="4000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13DF1-0097-459D-B6D2-A0FCC6B05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altLang="en-US" sz="2800" b="1" dirty="0">
                <a:solidFill>
                  <a:schemeClr val="accent3"/>
                </a:solidFill>
              </a:rPr>
              <a:t>Weight balanced trees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keep about the same number of nodes in each subtree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not nearly as nice</a:t>
            </a:r>
          </a:p>
          <a:p>
            <a:r>
              <a:rPr lang="en-US" altLang="en-US" sz="2800" b="1" dirty="0">
                <a:solidFill>
                  <a:schemeClr val="accent5"/>
                </a:solidFill>
              </a:rPr>
              <a:t>Splay trees</a:t>
            </a:r>
          </a:p>
          <a:p>
            <a:pPr lvl="1"/>
            <a:r>
              <a:rPr lang="en-US" altLang="en-US" sz="2000" dirty="0">
                <a:solidFill>
                  <a:schemeClr val="bg1"/>
                </a:solidFill>
              </a:rPr>
              <a:t>“</a:t>
            </a:r>
            <a:r>
              <a:rPr lang="en-US" altLang="en-US" sz="2400" dirty="0">
                <a:solidFill>
                  <a:schemeClr val="bg1"/>
                </a:solidFill>
              </a:rPr>
              <a:t>blind” adjusting version of AVL trees</a:t>
            </a:r>
          </a:p>
          <a:p>
            <a:pPr lvl="2"/>
            <a:r>
              <a:rPr lang="en-US" altLang="en-US" dirty="0">
                <a:solidFill>
                  <a:schemeClr val="bg1"/>
                </a:solidFill>
              </a:rPr>
              <a:t>no height information maintained! 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insert/find always rotates node </a:t>
            </a:r>
            <a:r>
              <a:rPr lang="en-US" altLang="en-US" sz="2400" i="1" dirty="0">
                <a:solidFill>
                  <a:schemeClr val="bg1"/>
                </a:solidFill>
              </a:rPr>
              <a:t>to the root</a:t>
            </a:r>
            <a:r>
              <a:rPr lang="en-US" altLang="en-US" sz="2400" dirty="0">
                <a:solidFill>
                  <a:schemeClr val="bg1"/>
                </a:solidFill>
              </a:rPr>
              <a:t>!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worst case time is O(n)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amortized time for all operations is O(log n)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mysterious, but often faster than AVL trees in practice (better low-order terms)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3074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2AC6-6EAC-4BDE-9936-79FB2E57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</a:rPr>
              <a:t>PROS and CONS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9EDF-D874-44E2-82DE-34C99E0F2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chemeClr val="accent3"/>
                </a:solidFill>
              </a:rPr>
              <a:t>Arguments for AVL trees:</a:t>
            </a:r>
            <a:endParaRPr lang="en-US" altLang="en-US" b="1" dirty="0"/>
          </a:p>
          <a:p>
            <a:pPr>
              <a:buFontTx/>
              <a:buAutoNum type="arabicPeriod"/>
            </a:pPr>
            <a:r>
              <a:rPr lang="en-US" altLang="en-US" sz="2800" dirty="0">
                <a:solidFill>
                  <a:schemeClr val="bg1"/>
                </a:solidFill>
              </a:rPr>
              <a:t>Search is O(log N) since AVL trees are always balanced.</a:t>
            </a:r>
          </a:p>
          <a:p>
            <a:pPr>
              <a:buFontTx/>
              <a:buAutoNum type="arabicPeriod"/>
            </a:pPr>
            <a:r>
              <a:rPr lang="en-US" altLang="en-US" sz="2800" dirty="0">
                <a:solidFill>
                  <a:schemeClr val="bg1"/>
                </a:solidFill>
              </a:rPr>
              <a:t>Insertion and deletions are also O(</a:t>
            </a:r>
            <a:r>
              <a:rPr lang="en-US" altLang="en-US" sz="2800" dirty="0" err="1">
                <a:solidFill>
                  <a:schemeClr val="bg1"/>
                </a:solidFill>
              </a:rPr>
              <a:t>logn</a:t>
            </a:r>
            <a:r>
              <a:rPr lang="en-US" altLang="en-US" sz="2800" dirty="0">
                <a:solidFill>
                  <a:schemeClr val="bg1"/>
                </a:solidFill>
              </a:rPr>
              <a:t>)</a:t>
            </a:r>
          </a:p>
          <a:p>
            <a:pPr>
              <a:buFontTx/>
              <a:buAutoNum type="arabicPeriod"/>
            </a:pPr>
            <a:r>
              <a:rPr lang="en-US" altLang="en-US" sz="2800" dirty="0">
                <a:solidFill>
                  <a:schemeClr val="bg1"/>
                </a:solidFill>
              </a:rPr>
              <a:t>The height balancing adds no more than a constant factor to the speed of insertion.</a:t>
            </a: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Arguments against using AVL trees:</a:t>
            </a:r>
          </a:p>
          <a:p>
            <a:pPr>
              <a:buFontTx/>
              <a:buAutoNum type="arabicPeriod"/>
            </a:pPr>
            <a:r>
              <a:rPr lang="en-US" altLang="en-US" sz="2800" dirty="0">
                <a:solidFill>
                  <a:schemeClr val="bg1"/>
                </a:solidFill>
              </a:rPr>
              <a:t>Difficult to program &amp; debug; more space for balance factor.</a:t>
            </a:r>
          </a:p>
          <a:p>
            <a:pPr>
              <a:buFontTx/>
              <a:buAutoNum type="arabicPeriod"/>
            </a:pPr>
            <a:r>
              <a:rPr lang="en-US" altLang="en-US" sz="2800" dirty="0">
                <a:solidFill>
                  <a:schemeClr val="bg1"/>
                </a:solidFill>
              </a:rPr>
              <a:t>Asymptotically faster but rebalancing costs time.</a:t>
            </a:r>
          </a:p>
          <a:p>
            <a:pPr>
              <a:buFontTx/>
              <a:buAutoNum type="arabicPeriod"/>
            </a:pPr>
            <a:r>
              <a:rPr lang="en-US" altLang="en-US" sz="2800" dirty="0">
                <a:solidFill>
                  <a:schemeClr val="bg1"/>
                </a:solidFill>
              </a:rPr>
              <a:t>Most large searches are done in database systems on disk and use other structures (e.g. B-trees).</a:t>
            </a:r>
          </a:p>
          <a:p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2007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1380-FA17-4FC6-9B31-58E2753B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82232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22691-F943-47AE-893D-E3D65445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AVL Trees are </a:t>
            </a:r>
            <a:r>
              <a:rPr lang="en-US" b="1" dirty="0">
                <a:solidFill>
                  <a:srgbClr val="92D050"/>
                </a:solidFill>
              </a:rPr>
              <a:t>self-balancing binary search trees</a:t>
            </a:r>
            <a:r>
              <a:rPr lang="en-US" dirty="0">
                <a:solidFill>
                  <a:srgbClr val="92D05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They ensure that the </a:t>
            </a:r>
            <a:r>
              <a:rPr lang="en-US" b="1" dirty="0">
                <a:solidFill>
                  <a:srgbClr val="92D050"/>
                </a:solidFill>
              </a:rPr>
              <a:t>height difference (balance factor)</a:t>
            </a:r>
            <a:r>
              <a:rPr lang="en-US" dirty="0">
                <a:solidFill>
                  <a:srgbClr val="92D050"/>
                </a:solidFill>
              </a:rPr>
              <a:t> between left and right subtrees never exceeds </a:t>
            </a:r>
            <a:r>
              <a:rPr lang="en-US" b="1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rgbClr val="92D05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This guarantees </a:t>
            </a:r>
            <a:r>
              <a:rPr lang="en-US" b="1" dirty="0">
                <a:solidFill>
                  <a:srgbClr val="92D050"/>
                </a:solidFill>
              </a:rPr>
              <a:t>O(log n)</a:t>
            </a:r>
            <a:r>
              <a:rPr lang="en-US" dirty="0">
                <a:solidFill>
                  <a:srgbClr val="92D050"/>
                </a:solidFill>
              </a:rPr>
              <a:t> time complexity for </a:t>
            </a:r>
            <a:r>
              <a:rPr lang="en-US" b="1" dirty="0">
                <a:solidFill>
                  <a:srgbClr val="92D050"/>
                </a:solidFill>
              </a:rPr>
              <a:t>search, insertion, and deletion</a:t>
            </a:r>
            <a:r>
              <a:rPr lang="en-US" dirty="0">
                <a:solidFill>
                  <a:srgbClr val="92D050"/>
                </a:solidFill>
              </a:rPr>
              <a:t>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Though rotations add overhead, they provide </a:t>
            </a:r>
            <a:r>
              <a:rPr lang="en-US" b="1" dirty="0">
                <a:solidFill>
                  <a:srgbClr val="92D050"/>
                </a:solidFill>
              </a:rPr>
              <a:t>efficient performance</a:t>
            </a:r>
            <a:r>
              <a:rPr lang="en-US" dirty="0">
                <a:solidFill>
                  <a:srgbClr val="92D050"/>
                </a:solidFill>
              </a:rPr>
              <a:t> in dynamic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</a:rPr>
              <a:t>Widely used where </a:t>
            </a:r>
            <a:r>
              <a:rPr lang="en-US" b="1" dirty="0">
                <a:solidFill>
                  <a:srgbClr val="92D050"/>
                </a:solidFill>
              </a:rPr>
              <a:t>fast lookups and frequent updates</a:t>
            </a:r>
            <a:r>
              <a:rPr lang="en-US" dirty="0">
                <a:solidFill>
                  <a:srgbClr val="92D050"/>
                </a:solidFill>
              </a:rPr>
              <a:t> are required.</a:t>
            </a:r>
          </a:p>
          <a:p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6081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660390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1681</Words>
  <Application>Microsoft Office PowerPoint</Application>
  <PresentationFormat>On-screen Show (4:3)</PresentationFormat>
  <Paragraphs>346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Courier New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are valid AVL trees?</vt:lpstr>
      <vt:lpstr>Tracking subtree height</vt:lpstr>
      <vt:lpstr>PowerPoint Presentation</vt:lpstr>
      <vt:lpstr>PowerPoint Presentation</vt:lpstr>
      <vt:lpstr>PowerPoint Presentation</vt:lpstr>
      <vt:lpstr>Left rotation</vt:lpstr>
      <vt:lpstr>PowerPoint Presentation</vt:lpstr>
      <vt:lpstr>Left rotation code</vt:lpstr>
      <vt:lpstr>Right rotation</vt:lpstr>
      <vt:lpstr>PowerPoint Presentation</vt:lpstr>
      <vt:lpstr>Right rotation code</vt:lpstr>
      <vt:lpstr>Right rotation code</vt:lpstr>
      <vt:lpstr>Left-right double rotation</vt:lpstr>
      <vt:lpstr>PowerPoint Presentation</vt:lpstr>
      <vt:lpstr>Right-left double rotation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Thinking About AVL</vt:lpstr>
      <vt:lpstr>Alternatives to AVL Trees</vt:lpstr>
      <vt:lpstr>PROS and CONS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</dc:creator>
  <cp:lastModifiedBy>rakibhsnal@gmail.com</cp:lastModifiedBy>
  <cp:revision>64</cp:revision>
  <dcterms:created xsi:type="dcterms:W3CDTF">2013-09-27T04:22:03Z</dcterms:created>
  <dcterms:modified xsi:type="dcterms:W3CDTF">2025-08-27T16:35:17Z</dcterms:modified>
</cp:coreProperties>
</file>