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314" r:id="rId2"/>
    <p:sldId id="332" r:id="rId3"/>
    <p:sldId id="430" r:id="rId4"/>
    <p:sldId id="426" r:id="rId5"/>
    <p:sldId id="431" r:id="rId6"/>
    <p:sldId id="432" r:id="rId7"/>
    <p:sldId id="433" r:id="rId8"/>
    <p:sldId id="434" r:id="rId9"/>
    <p:sldId id="435" r:id="rId10"/>
    <p:sldId id="436" r:id="rId11"/>
    <p:sldId id="437" r:id="rId12"/>
    <p:sldId id="438" r:id="rId13"/>
    <p:sldId id="439" r:id="rId14"/>
    <p:sldId id="440" r:id="rId15"/>
    <p:sldId id="441" r:id="rId16"/>
    <p:sldId id="442" r:id="rId17"/>
    <p:sldId id="44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–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46F890A9-2807-4EBB-B81D-B2AA78EC7F39}" styleName="Dark Style 2 –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–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5" autoAdjust="0"/>
    <p:restoredTop sz="94660"/>
  </p:normalViewPr>
  <p:slideViewPr>
    <p:cSldViewPr snapToGrid="0">
      <p:cViewPr>
        <p:scale>
          <a:sx n="66" d="100"/>
          <a:sy n="66" d="100"/>
        </p:scale>
        <p:origin x="768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C7A54E-7FBF-484C-A6C4-F49DDEB3D82F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53559-EDE7-4C02-BA95-DAA1E537C5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2208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EAB8B-5C76-C722-00D1-DAC7530428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06F68D-C497-AEB7-900B-72F9DF70FE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BD540-8471-3CC1-489E-8B29ACFBF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673B2-6760-460E-8AB2-1B6346B18A8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B27AA-417E-A12A-CDA3-F5C9BB1AD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A8113-F6A5-484E-5494-0615EF5A2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3898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26495-0061-5791-5A38-5A0AFC9BE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5247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2F634-39BC-CD34-D2B7-D59AC08EA5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2000"/>
              </a:spcBef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51E01-2F17-6C27-DD5D-FB487D78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4B1D3-9AAB-42E9-AB25-5F62B3993181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2811C3-DD84-2EDE-7E67-992548CCA0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65F33-AE4E-249C-027B-140C0A1E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2369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D37C1-B2F4-BC78-D77F-B4E7274A5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284A79-9A15-99B9-D8D8-EDE5518E53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16644-FD0E-9D40-6531-6A5328747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E996A2-8E33-4AA5-9781-C6800CE55457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D77DA-16F7-0F88-6569-ED49E4BC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7B42E-ECD0-B9B5-10EF-56F6A0442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436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ABE06-074E-745A-EA35-B8623E5A6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1005C4-6760-E9B2-E4C9-8E838AE15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EDAECE-5C9F-BC28-1E10-2C65B4BF5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B9E206-6B24-5286-9583-7B4CEA953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90BE7-B07C-4974-811F-F976B1E00FA0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81EB8B-B73E-C71D-9856-97E87AF53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405416-485A-C7C9-02B7-70BEA04A7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2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3EBAD-D597-C90E-60AC-2817F9AFC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6C801-BED4-EF07-E88E-D5E1583F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1183F-AF00-7B8B-D8E7-1EEA8E38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281FD7-558D-9B40-28E0-42ECB2AF18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D580E1-304B-978B-6362-40CEE8C749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22AA01-469C-6B5F-9F6E-4691CB54E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7A41B3-369F-43A4-8A97-D2A32ED460A2}" type="datetime1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E6341-BFA5-5BA6-EED9-86CBEAD79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04440-B40B-E518-3E1C-ACD9FAD59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0464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7C700-C47C-9B28-D3CF-4238312F6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5E8077-BC92-BB8B-F545-54682C304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5618E-2637-45D6-B9DC-BEC5E50A78A2}" type="datetime1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E7AEA1-0EE9-7275-1F81-B99055975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E5035-8BC5-52BF-3CA3-9927BD086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586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E3BFBF-E3C0-226C-AC1E-4FE521BF8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AB262-ECF8-4B6F-BF55-2A05210DA752}" type="datetime1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976AD0-825E-15F6-A291-EA2E1C995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43E901-4B4C-A93E-A23E-3FBB5B915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49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7912C-9409-0B2C-3373-F98797638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ACE39-B0EF-6C74-C153-5E124A55E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F40C0A-774A-0624-9C5A-26D12FE62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A380C-6AD0-8B17-017C-58B0BB484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B2F33B-22BF-4177-90DF-BF8D0C456F5B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65EE64-6285-D945-9A89-68EBEDD3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0B2E04-B2E2-8A7F-D973-1A673E4AB4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7096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6B042-4F79-C24C-8C42-CAD35CB0C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9C3C56-A188-FBFF-5415-A69205152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0A565-6F27-1F77-D869-2B2A21BBC7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17B854-BDF6-DC3F-562B-C99DC19A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0386F-1449-4FB9-879F-2818E7EE9A3C}" type="datetime1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36EA7F-F589-F4EA-6EF6-E63906939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89BCE2-E1AC-ACFB-47B8-2233376BF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467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C2272-A2D3-67E5-DF8A-0CC2AA84E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508F4B-4649-A77B-1CE8-5D78FA022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B2D52-D425-B903-CC42-2CE1988E7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6B072F-FD1D-4BA2-BB79-3257390C4608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251FB8-BDE5-046A-5B22-8E2DA40E9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83CE-4FD3-C3F7-22DE-2EC13C325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693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B6A0F6-E6DF-8630-5AE5-B54FBA2E6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7B37CA-3EDB-8ABA-5A94-364646868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8AD5A-E400-040E-2104-10876C147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A7AF11-6F97-41CD-85DB-F04148D1C58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959033-9D10-6508-99A4-A0E9705A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 Md Hasanul Ferdaus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B28FE-098F-AF6D-2A0A-74FD084F0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428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9D9A967-8F3E-E0CF-AD1B-50B077819F0B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361259" y="-10821"/>
            <a:ext cx="11486184" cy="974917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29B6F3-4135-0E21-7250-CC4394497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98502-5B55-7F18-8B55-656DC9095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471048-EE63-F593-9B43-21CA3F9362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FF405-15DA-4E10-B87C-176BF076D254}" type="datetime1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3F5827-7C80-4A48-44F7-5AC8F3F328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46951" y="646568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i="1">
                <a:solidFill>
                  <a:schemeClr val="tx1"/>
                </a:solidFill>
              </a:defRPr>
            </a:lvl1pPr>
          </a:lstStyle>
          <a:p>
            <a:r>
              <a:rPr lang="en-US"/>
              <a:t>Dr Md Hasanul Ferdaus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A239E-C2C4-B6B2-477D-3BFB38861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C6C01-0E18-4E34-9A22-FD2CDEAB09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23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58080" y="465328"/>
            <a:ext cx="6817360" cy="3740912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b="1" dirty="0"/>
              <a:t>A Closer Look at Methods and Classes</a:t>
            </a:r>
            <a:br>
              <a:rPr lang="en-US" b="1" dirty="0"/>
            </a:br>
            <a:r>
              <a:rPr lang="en-US" sz="4000" b="1" dirty="0"/>
              <a:t>Part 2</a:t>
            </a:r>
            <a:br>
              <a:rPr lang="en-US" b="1" dirty="0"/>
            </a:br>
            <a:br>
              <a:rPr lang="en-US" sz="3400" b="1" dirty="0"/>
            </a:br>
            <a:r>
              <a:rPr lang="en-US" sz="3600" b="1" dirty="0"/>
              <a:t>Java - The Complete Reference </a:t>
            </a:r>
            <a:br>
              <a:rPr lang="en-US" sz="3600" b="1" dirty="0"/>
            </a:br>
            <a:r>
              <a:rPr lang="en-US" sz="2700" b="1" dirty="0"/>
              <a:t>Herbert Schildt</a:t>
            </a:r>
            <a:br>
              <a:rPr lang="en-US" sz="2700" b="1" dirty="0"/>
            </a:br>
            <a:r>
              <a:rPr lang="en-US" sz="2000" b="1" dirty="0"/>
              <a:t>Chapter 7</a:t>
            </a:r>
            <a:br>
              <a:rPr lang="en-US" sz="2000" b="1" dirty="0"/>
            </a:br>
            <a:endParaRPr lang="en-US" sz="3400" b="1" dirty="0"/>
          </a:p>
        </p:txBody>
      </p:sp>
      <p:pic>
        <p:nvPicPr>
          <p:cNvPr id="3" name="Picture 2" descr="A logo of a cup with a smoke&#10;&#10;Description automatically generated">
            <a:extLst>
              <a:ext uri="{FF2B5EF4-FFF2-40B4-BE49-F238E27FC236}">
                <a16:creationId xmlns:a16="http://schemas.microsoft.com/office/drawing/2014/main" id="{BDB8C381-3971-3988-FACF-7ABC0A6AD6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710" r="-1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4664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EE11D59-6220-B670-D7BF-CD034376F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Outline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BBC863AA-F1EF-A435-BFC0-99B577795194}"/>
              </a:ext>
            </a:extLst>
          </p:cNvPr>
          <p:cNvSpPr txBox="1">
            <a:spLocks/>
          </p:cNvSpPr>
          <p:nvPr/>
        </p:nvSpPr>
        <p:spPr>
          <a:xfrm>
            <a:off x="1330960" y="2032000"/>
            <a:ext cx="10546080" cy="46228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Understanding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dirty="0">
                <a:solidFill>
                  <a:srgbClr val="000000"/>
                </a:solidFill>
                <a:latin typeface="TimesLTStd-Roman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Introducing 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Arrays Revisited </a:t>
            </a:r>
          </a:p>
        </p:txBody>
      </p:sp>
    </p:spTree>
    <p:extLst>
      <p:ext uri="{BB962C8B-B14F-4D97-AF65-F5344CB8AC3E}">
        <p14:creationId xmlns:p14="http://schemas.microsoft.com/office/powerpoint/2010/main" val="30025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Understanding</a:t>
            </a:r>
            <a:r>
              <a:rPr lang="en-US" sz="4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static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30933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Understanding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312352"/>
            <a:ext cx="10846085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Usually, a class member must be accessed only in conjunction with an object of its class.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However, there may be some need to define a class member that will be used independently of any object of that class.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To create such a member, precede its declaration with the keyword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When a member is declared static, it can be accessed before any objects of its class are created, and without reference to any object.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Both variables and methods can be declared as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4878498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Understanding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428108"/>
            <a:ext cx="10846085" cy="49117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most common example of a static member is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main().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</a:t>
            </a:r>
          </a:p>
          <a:p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main()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is declared as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because it must be called before any objects exist.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Instance variables declared as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are, essentially,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global variables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When objects of its class are declared, no copy of a static variable is made.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Instead, all instances of the class share the same static variable.</a:t>
            </a:r>
          </a:p>
        </p:txBody>
      </p:sp>
    </p:spTree>
    <p:extLst>
      <p:ext uri="{BB962C8B-B14F-4D97-AF65-F5344CB8AC3E}">
        <p14:creationId xmlns:p14="http://schemas.microsoft.com/office/powerpoint/2010/main" val="2206383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Understanding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194428"/>
            <a:ext cx="10846085" cy="49117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Methods declared as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have several restrictions: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  They can only directly call other static methods.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  They can only directly access static data (i.e., static variables).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  They cannot refer to </a:t>
            </a:r>
            <a:r>
              <a:rPr lang="en-US" sz="28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 or </a:t>
            </a:r>
            <a:r>
              <a:rPr lang="en-US" sz="28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 in any way.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TimesLTStd-Roman"/>
              </a:rPr>
              <a:t>NOTE: 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keyword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super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relates to inheritance, which will be discussed in later classes.</a:t>
            </a:r>
          </a:p>
        </p:txBody>
      </p:sp>
    </p:spTree>
    <p:extLst>
      <p:ext uri="{BB962C8B-B14F-4D97-AF65-F5344CB8AC3E}">
        <p14:creationId xmlns:p14="http://schemas.microsoft.com/office/powerpoint/2010/main" val="1263193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Understanding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08BE98-4539-853D-6730-5ECC0CE36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426" y="1257579"/>
            <a:ext cx="7602722" cy="50721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A4C2C6-E487-508E-F806-60E6CDCAE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6709" y="1724939"/>
            <a:ext cx="3542125" cy="11468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43FCAF5-3424-1486-AFD4-CBBD5E7912F2}"/>
              </a:ext>
            </a:extLst>
          </p:cNvPr>
          <p:cNvSpPr txBox="1">
            <a:spLocks/>
          </p:cNvSpPr>
          <p:nvPr/>
        </p:nvSpPr>
        <p:spPr>
          <a:xfrm>
            <a:off x="8336709" y="1257579"/>
            <a:ext cx="3542124" cy="467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10AAEEFF-2764-1AE0-5357-8ECAF00DA2DC}"/>
              </a:ext>
            </a:extLst>
          </p:cNvPr>
          <p:cNvSpPr txBox="1">
            <a:spLocks/>
          </p:cNvSpPr>
          <p:nvPr/>
        </p:nvSpPr>
        <p:spPr>
          <a:xfrm>
            <a:off x="8336708" y="3068320"/>
            <a:ext cx="3542123" cy="34645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As soon as the </a:t>
            </a:r>
            <a:r>
              <a:rPr lang="en-US" sz="2400" u="none" strike="noStrike" baseline="0" dirty="0" err="1">
                <a:solidFill>
                  <a:srgbClr val="000000"/>
                </a:solidFill>
                <a:latin typeface="TimesLTStd-Roman"/>
              </a:rPr>
              <a:t>UseStatic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class is loaded, all of the static statements are run.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First, a is set to 3, then the static block executes, which prints a message and then initializes b to a*4, that is 12. </a:t>
            </a:r>
          </a:p>
          <a:p>
            <a:r>
              <a:rPr lang="en-US" sz="2400" dirty="0">
                <a:solidFill>
                  <a:srgbClr val="000000"/>
                </a:solidFill>
                <a:latin typeface="TimesLTStd-Roman"/>
              </a:rPr>
              <a:t>Then main() is called, which calls meth(), passing 42 to x.</a:t>
            </a:r>
            <a:endParaRPr lang="en-US" sz="2400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792853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54475" y="-137817"/>
            <a:ext cx="103378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Global Variables and Global Methods in Java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FDC013D-1A9C-B5D1-B0BB-5AA6E56CC760}"/>
              </a:ext>
            </a:extLst>
          </p:cNvPr>
          <p:cNvSpPr txBox="1">
            <a:spLocks/>
          </p:cNvSpPr>
          <p:nvPr/>
        </p:nvSpPr>
        <p:spPr>
          <a:xfrm>
            <a:off x="746190" y="1087120"/>
            <a:ext cx="10846085" cy="559816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Static variables and methods can be used independently of any object outside of the class in which they are defined.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To do so, we need only specify the name of their class followed by the dot operator.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classname.staticVariable</a:t>
            </a:r>
            <a:endParaRPr lang="en-US" b="1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457200" lvl="1" indent="0">
              <a:lnSpc>
                <a:spcPct val="150000"/>
              </a:lnSpc>
              <a:buNone/>
            </a:pP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classname.staticMethod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This format is similar to that used to call non-static methods through object reference variables.</a:t>
            </a:r>
            <a:endParaRPr lang="en-US" dirty="0">
              <a:solidFill>
                <a:srgbClr val="000000"/>
              </a:solidFill>
              <a:latin typeface="TimesLTStd-Roman"/>
            </a:endParaRP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 static member can be accessed in the same way—by use of the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dot operator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on the name of the class.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This is how Java implements a controlled version of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global variables 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and </a:t>
            </a:r>
            <a:r>
              <a:rPr lang="en-US" b="1" i="1" u="none" strike="noStrike" baseline="0" dirty="0">
                <a:solidFill>
                  <a:srgbClr val="000000"/>
                </a:solidFill>
                <a:latin typeface="TimesLTStd-Roman"/>
              </a:rPr>
              <a:t>global methods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49613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560" y="-137817"/>
            <a:ext cx="11023600" cy="75184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Global Variables and Global Methods in Java: Example</a:t>
            </a:r>
            <a:endParaRPr lang="en-US" sz="36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9D7870-D623-13FD-CC56-C4C19B48C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1351280"/>
            <a:ext cx="7565623" cy="44602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327D2ED-B58C-6A89-90FD-D5282A1917CF}"/>
              </a:ext>
            </a:extLst>
          </p:cNvPr>
          <p:cNvSpPr txBox="1">
            <a:spLocks/>
          </p:cNvSpPr>
          <p:nvPr/>
        </p:nvSpPr>
        <p:spPr>
          <a:xfrm>
            <a:off x="8732949" y="1351280"/>
            <a:ext cx="2605611" cy="467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A1A14A-04B6-6EFF-5D71-45CAC0E85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949" y="1818640"/>
            <a:ext cx="2605611" cy="8591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897586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Introducing</a:t>
            </a:r>
            <a:r>
              <a:rPr lang="en-US" sz="4800" b="1" dirty="0">
                <a:solidFill>
                  <a:srgbClr val="0070C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final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1531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720" y="20320"/>
            <a:ext cx="10657555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Introducing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056640"/>
            <a:ext cx="10998770" cy="5325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 </a:t>
            </a:r>
            <a:r>
              <a:rPr lang="en-US" i="1" u="none" strike="noStrike" baseline="0" dirty="0">
                <a:solidFill>
                  <a:srgbClr val="000000"/>
                </a:solidFill>
                <a:latin typeface="TimesLTStd-Roman"/>
              </a:rPr>
              <a:t>field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(i.e., member variable) can be declared as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final,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which prevents its contents from being modified, making it, essentially, a </a:t>
            </a:r>
            <a:r>
              <a:rPr lang="en-US" i="1" u="none" strike="noStrike" baseline="0" dirty="0">
                <a:solidFill>
                  <a:srgbClr val="000000"/>
                </a:solidFill>
                <a:latin typeface="TimesLTStd-Roman"/>
              </a:rPr>
              <a:t>constant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So, a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field must be initialized when it is declared. There are two ways for this: </a:t>
            </a:r>
          </a:p>
          <a:p>
            <a:pPr lvl="1"/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It can be given a value when it is declared. (Most common way)</a:t>
            </a:r>
          </a:p>
          <a:p>
            <a:pPr lvl="1"/>
            <a:r>
              <a:rPr lang="en-US" sz="2800" u="none" strike="noStrike" baseline="0" dirty="0">
                <a:solidFill>
                  <a:srgbClr val="000000"/>
                </a:solidFill>
                <a:latin typeface="TimesLTStd-Roman"/>
              </a:rPr>
              <a:t>It can be assigned a value within a constructor.</a:t>
            </a:r>
          </a:p>
          <a:p>
            <a:r>
              <a:rPr lang="en-US" dirty="0">
                <a:solidFill>
                  <a:srgbClr val="000000"/>
                </a:solidFill>
                <a:latin typeface="TimesLTStd-Roman"/>
              </a:rPr>
              <a:t>It is a common coding convention to choose all uppercase identifiers for final fields.</a:t>
            </a:r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30EEFC-A56A-E641-22BC-F9911C088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7915" y="4629566"/>
            <a:ext cx="4578736" cy="175262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051112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-1"/>
            <a:ext cx="10616915" cy="614023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Introducing </a:t>
            </a:r>
            <a:r>
              <a:rPr lang="en-US" sz="4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056640"/>
            <a:ext cx="10846085" cy="5325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In addition to fields, both method parameters and local variables can be declared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Declaring a parameter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prevents it from being changed within the method.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Declaring a local variable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prevents it from being assigned a value more than once.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keyword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can also be applied to methods, but its meaning is substantially different than when it is applied to variables.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This additional usage of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will be discussed while learning </a:t>
            </a:r>
            <a:r>
              <a:rPr lang="en-US" i="1" u="none" strike="noStrike" baseline="0" dirty="0">
                <a:solidFill>
                  <a:srgbClr val="000000"/>
                </a:solidFill>
                <a:latin typeface="TimesLTStd-Roman"/>
              </a:rPr>
              <a:t>inheritance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.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187047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5360" y="-1"/>
            <a:ext cx="10616915" cy="614023"/>
          </a:xfrm>
        </p:spPr>
        <p:txBody>
          <a:bodyPr>
            <a:noAutofit/>
          </a:bodyPr>
          <a:lstStyle/>
          <a:p>
            <a:r>
              <a:rPr lang="en-US" sz="4000" b="1">
                <a:solidFill>
                  <a:schemeClr val="bg1"/>
                </a:solidFill>
              </a:rPr>
              <a:t>Introducing </a:t>
            </a:r>
            <a:r>
              <a:rPr lang="en-US" sz="4000" b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1BCEE4-CFCA-5505-F3AE-2ABC0FC4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991" y="1087120"/>
            <a:ext cx="8220049" cy="55796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DBE3C3C-5D5A-8D85-95C5-C7AED04D6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5989" y="2267567"/>
            <a:ext cx="3167928" cy="614024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44CCC4E-587D-C5B1-B971-223A4F2C3791}"/>
              </a:ext>
            </a:extLst>
          </p:cNvPr>
          <p:cNvSpPr txBox="1">
            <a:spLocks/>
          </p:cNvSpPr>
          <p:nvPr/>
        </p:nvSpPr>
        <p:spPr>
          <a:xfrm>
            <a:off x="8925989" y="1879600"/>
            <a:ext cx="3167928" cy="3860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406094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48177-AD34-6758-95B1-A5019FB40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931C8EB-B6E9-3D70-6F1E-8E0FEC309068}"/>
              </a:ext>
            </a:extLst>
          </p:cNvPr>
          <p:cNvSpPr txBox="1"/>
          <p:nvPr/>
        </p:nvSpPr>
        <p:spPr>
          <a:xfrm>
            <a:off x="934720" y="2314694"/>
            <a:ext cx="10363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0070C0"/>
                </a:solidFill>
              </a:rPr>
              <a:t>Arrays Revised</a:t>
            </a:r>
            <a:endParaRPr lang="en-US" sz="4800" dirty="0">
              <a:solidFill>
                <a:srgbClr val="0070C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7601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720" y="20320"/>
            <a:ext cx="10657555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Arrays Revisited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A58C5F-6271-FAFF-C0CE-7E8D9A46D3D1}"/>
              </a:ext>
            </a:extLst>
          </p:cNvPr>
          <p:cNvSpPr txBox="1">
            <a:spLocks/>
          </p:cNvSpPr>
          <p:nvPr/>
        </p:nvSpPr>
        <p:spPr>
          <a:xfrm>
            <a:off x="746190" y="1422400"/>
            <a:ext cx="10846085" cy="4959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Arrays in Java are implemented as objects.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There is a special array attribute that we can take advantage of.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Specifically, the size of an array is found in its </a:t>
            </a:r>
            <a:r>
              <a:rPr lang="en-US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 instance variable. 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The value of length reflects the number of elements that the array is designed to hold, not the number of elements that are actually in use.</a:t>
            </a:r>
          </a:p>
          <a:p>
            <a:r>
              <a:rPr lang="en-US" u="none" strike="noStrike" baseline="0" dirty="0">
                <a:solidFill>
                  <a:srgbClr val="000000"/>
                </a:solidFill>
                <a:latin typeface="TimesLTStd-Roman"/>
              </a:rPr>
              <a:t>All arrays have this variable.</a:t>
            </a: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  <a:p>
            <a:endParaRPr lang="en-US" u="none" strike="noStrike" baseline="0" dirty="0">
              <a:solidFill>
                <a:srgbClr val="000000"/>
              </a:solidFill>
              <a:latin typeface="TimesLTStd-Roman"/>
            </a:endParaRPr>
          </a:p>
        </p:txBody>
      </p:sp>
    </p:spTree>
    <p:extLst>
      <p:ext uri="{BB962C8B-B14F-4D97-AF65-F5344CB8AC3E}">
        <p14:creationId xmlns:p14="http://schemas.microsoft.com/office/powerpoint/2010/main" val="1744944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720" y="20320"/>
            <a:ext cx="10657555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Arrays Revisited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F1949D-1ADA-C738-902D-4DCC67C4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001" y="1330910"/>
            <a:ext cx="8522506" cy="398277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6FC3BA8-5AB0-783D-D7E7-0C0D11289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39821" y="1686560"/>
            <a:ext cx="2997354" cy="263538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2FD0650-E847-788D-5675-80B5680AD918}"/>
              </a:ext>
            </a:extLst>
          </p:cNvPr>
          <p:cNvSpPr txBox="1">
            <a:spLocks/>
          </p:cNvSpPr>
          <p:nvPr/>
        </p:nvSpPr>
        <p:spPr>
          <a:xfrm>
            <a:off x="9039821" y="1341120"/>
            <a:ext cx="2997354" cy="34544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u="none" strike="noStrike" baseline="0" dirty="0">
                <a:solidFill>
                  <a:srgbClr val="000000"/>
                </a:solidFill>
                <a:latin typeface="TimesLTStd-Roman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8517175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D54BF-AB2A-9DD4-ACBA-6CB0CAAD3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00C3350-D1E9-05CE-1E3F-0939D8963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4720" y="20320"/>
            <a:ext cx="10657555" cy="614022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Stack Class Version 2.0</a:t>
            </a:r>
            <a:endParaRPr lang="en-US" sz="4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9D9C457-0611-0274-D64F-B63793FCE1E7}"/>
              </a:ext>
            </a:extLst>
          </p:cNvPr>
          <p:cNvSpPr txBox="1">
            <a:spLocks/>
          </p:cNvSpPr>
          <p:nvPr/>
        </p:nvSpPr>
        <p:spPr>
          <a:xfrm>
            <a:off x="1117457" y="634342"/>
            <a:ext cx="10846085" cy="4352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Stack class implementation utilizing the </a:t>
            </a:r>
            <a:r>
              <a:rPr lang="en-US" sz="2400" b="1" u="none" strike="noStrike" baseline="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length</a:t>
            </a:r>
            <a:r>
              <a:rPr lang="en-US" sz="2400" u="none" strike="noStrike" baseline="0" dirty="0">
                <a:solidFill>
                  <a:srgbClr val="000000"/>
                </a:solidFill>
                <a:latin typeface="TimesLTStd-Roman"/>
              </a:rPr>
              <a:t> instance variable.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35AF17-AE18-DBCD-0723-6ADA53019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578" y="1069618"/>
            <a:ext cx="5403422" cy="561058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51DC0A-DBE0-7119-263F-2E6271CE2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9578" y="1248364"/>
            <a:ext cx="5503964" cy="46258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7996341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23827</TotalTime>
  <Words>724</Words>
  <Application>Microsoft Office PowerPoint</Application>
  <PresentationFormat>Widescreen</PresentationFormat>
  <Paragraphs>65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Courier New</vt:lpstr>
      <vt:lpstr>Garamond</vt:lpstr>
      <vt:lpstr>TimesLTStd-Roman</vt:lpstr>
      <vt:lpstr>Wingdings</vt:lpstr>
      <vt:lpstr>Office Theme</vt:lpstr>
      <vt:lpstr>A Closer Look at Methods and Classes Part 2  Java - The Complete Reference  Herbert Schildt Chapter 7 </vt:lpstr>
      <vt:lpstr>Outline</vt:lpstr>
      <vt:lpstr>PowerPoint Presentation</vt:lpstr>
      <vt:lpstr>Understanding static</vt:lpstr>
      <vt:lpstr>Understanding static</vt:lpstr>
      <vt:lpstr>Understanding static</vt:lpstr>
      <vt:lpstr>Understanding static: Example</vt:lpstr>
      <vt:lpstr>Global Variables and Global Methods in Java</vt:lpstr>
      <vt:lpstr>Global Variables and Global Methods in Java: Example</vt:lpstr>
      <vt:lpstr>PowerPoint Presentation</vt:lpstr>
      <vt:lpstr>Introducing final</vt:lpstr>
      <vt:lpstr>Introducing final</vt:lpstr>
      <vt:lpstr>Introducing final</vt:lpstr>
      <vt:lpstr>PowerPoint Presentation</vt:lpstr>
      <vt:lpstr>Arrays Revisited</vt:lpstr>
      <vt:lpstr>Arrays Revisited</vt:lpstr>
      <vt:lpstr>Stack Class Version 2.0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Symmetric Cryptography</dc:title>
  <dc:creator>Md Hasanul Ferdaus</dc:creator>
  <cp:lastModifiedBy>Md Hasanul Ferdaus</cp:lastModifiedBy>
  <cp:revision>3032</cp:revision>
  <dcterms:created xsi:type="dcterms:W3CDTF">2023-02-09T14:28:53Z</dcterms:created>
  <dcterms:modified xsi:type="dcterms:W3CDTF">2025-11-08T18:01:36Z</dcterms:modified>
</cp:coreProperties>
</file>