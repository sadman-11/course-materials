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314" r:id="rId2"/>
    <p:sldId id="332" r:id="rId3"/>
    <p:sldId id="430" r:id="rId4"/>
    <p:sldId id="426" r:id="rId5"/>
    <p:sldId id="431" r:id="rId6"/>
    <p:sldId id="432" r:id="rId7"/>
    <p:sldId id="444" r:id="rId8"/>
    <p:sldId id="445" r:id="rId9"/>
    <p:sldId id="446" r:id="rId10"/>
    <p:sldId id="433" r:id="rId11"/>
    <p:sldId id="434" r:id="rId12"/>
    <p:sldId id="435" r:id="rId13"/>
    <p:sldId id="436" r:id="rId14"/>
    <p:sldId id="437" r:id="rId15"/>
    <p:sldId id="438" r:id="rId16"/>
    <p:sldId id="439" r:id="rId17"/>
    <p:sldId id="440" r:id="rId18"/>
    <p:sldId id="441" r:id="rId19"/>
    <p:sldId id="442" r:id="rId20"/>
    <p:sldId id="44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0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b="1" dirty="0"/>
              <a:t>A Closer Look at Methods and Classes</a:t>
            </a:r>
            <a:br>
              <a:rPr lang="en-US" b="1" dirty="0"/>
            </a:br>
            <a:r>
              <a:rPr lang="en-US" sz="4000" b="1"/>
              <a:t>Part 3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7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046195" y="1320800"/>
            <a:ext cx="10546080" cy="50393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Introducing Nested and Inner Classes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Exploring the String Class </a:t>
            </a:r>
          </a:p>
          <a:p>
            <a:r>
              <a:rPr lang="en-US" sz="3200" dirty="0">
                <a:solidFill>
                  <a:srgbClr val="000000"/>
                </a:solidFill>
                <a:latin typeface="TimesLTStd-Roman"/>
              </a:rPr>
              <a:t>Using Command-Line Arguments 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Introducing Nested and Inner Classes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9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Nested and Inner Classes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168400"/>
            <a:ext cx="11267440" cy="531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b="1" i="1" dirty="0">
                <a:solidFill>
                  <a:srgbClr val="000000"/>
                </a:solidFill>
                <a:latin typeface="TimesLTStd-Roman"/>
              </a:rPr>
              <a:t>Nested Class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defined within another class.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scope of a nested class is bounded by the scope of its enclosing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Example: If class B is defined within class A, then B does not exist independently of A.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Thus, a nested class has access to the members, including private members, of the class in which it is nested.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However, the </a:t>
            </a:r>
            <a:r>
              <a:rPr lang="en-US" i="1" dirty="0">
                <a:solidFill>
                  <a:srgbClr val="000000"/>
                </a:solidFill>
                <a:latin typeface="TimesLTStd-Roman"/>
              </a:rPr>
              <a:t>enclosing class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does not have access to the members of the nested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is also possible to declare a nested class that is local to a block.</a:t>
            </a:r>
          </a:p>
        </p:txBody>
      </p:sp>
    </p:spTree>
    <p:extLst>
      <p:ext uri="{BB962C8B-B14F-4D97-AF65-F5344CB8AC3E}">
        <p14:creationId xmlns:p14="http://schemas.microsoft.com/office/powerpoint/2010/main" val="14878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static and Non-static Nested Classes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08000" y="1117600"/>
            <a:ext cx="11267440" cy="553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There are two types of nested classes: </a:t>
            </a:r>
            <a:r>
              <a:rPr lang="en-US" i="1" u="none" strike="noStrike" baseline="0" dirty="0">
                <a:solidFill>
                  <a:srgbClr val="000000"/>
                </a:solidFill>
                <a:latin typeface="TimesLTStd-Roman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i="1" u="none" strike="noStrike" baseline="0" dirty="0">
                <a:solidFill>
                  <a:srgbClr val="000000"/>
                </a:solidFill>
                <a:latin typeface="TimesLTStd-Roman"/>
              </a:rPr>
              <a:t>non-static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 static nested class is one that has the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modifier applied.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Because it is static, it must access the non-static members of its enclosing class through an object. </a:t>
            </a: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That is, it cannot refer to non-static members of its enclosing class directly. </a:t>
            </a:r>
          </a:p>
          <a:p>
            <a:pPr lvl="1"/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Because of this restriction, static nested classes are seldom used.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 non-static nested class is called an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Inner Class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It has access to all of the variables and methods of its outer class and may refer to them directly in the same way that other non-static members of the outer class do.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80036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Inner Class: Example 1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8310879" y="2158806"/>
            <a:ext cx="3623135" cy="44451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The inner class named Inner is defined within the scope of class Outer, so any code in class Inner can directly access the variable </a:t>
            </a:r>
            <a:r>
              <a:rPr lang="en-US" sz="2400" u="none" strike="noStrike" baseline="0" dirty="0" err="1">
                <a:solidFill>
                  <a:srgbClr val="000000"/>
                </a:solidFill>
                <a:latin typeface="TimesLTStd-Roman"/>
              </a:rPr>
              <a:t>outer_x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An instance of Inner can be created only in the context of class Outer. The Java compiler generates an error message otherwise.</a:t>
            </a:r>
          </a:p>
          <a:p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50C0E0-9E25-FAF4-1D6E-0E564096E8B5}"/>
              </a:ext>
            </a:extLst>
          </p:cNvPr>
          <p:cNvSpPr txBox="1">
            <a:spLocks/>
          </p:cNvSpPr>
          <p:nvPr/>
        </p:nvSpPr>
        <p:spPr>
          <a:xfrm>
            <a:off x="8425517" y="1082721"/>
            <a:ext cx="3508498" cy="416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FDAD50-C22B-0E08-10D8-FB4D9CFD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729" y="1499135"/>
            <a:ext cx="3489286" cy="324779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7B1A93-C48C-0023-E08E-23600500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17" y="1082721"/>
            <a:ext cx="7916308" cy="536888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02033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Inner Class: Example 2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28320" y="1473200"/>
            <a:ext cx="3779520" cy="5049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An inner class has access to all of the members of its enclosing class, but the reverse is not true. </a:t>
            </a:r>
          </a:p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Members of the inner class are known only within the scope of the inner class and may not be used by the outer class.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3F5219-524D-2B49-61E2-189BC0765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280" y="731799"/>
            <a:ext cx="6715760" cy="600519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6309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Inner Class Scopes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833119" y="1201719"/>
            <a:ext cx="10759155" cy="44545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u="none" strike="noStrike" baseline="0" dirty="0">
                <a:solidFill>
                  <a:srgbClr val="000000"/>
                </a:solidFill>
                <a:latin typeface="TimesLTStd-Roman"/>
              </a:rPr>
              <a:t>So far, we have been focusing on inner classes declared as members within an outer class scope.</a:t>
            </a:r>
          </a:p>
          <a:p>
            <a:r>
              <a:rPr lang="en-US" sz="3200" u="none" strike="noStrike" baseline="0" dirty="0">
                <a:solidFill>
                  <a:srgbClr val="000000"/>
                </a:solidFill>
                <a:latin typeface="TimesLTStd-Roman"/>
              </a:rPr>
              <a:t>It is possible to define inner classes within any block scope. </a:t>
            </a:r>
          </a:p>
          <a:p>
            <a:r>
              <a:rPr lang="en-US" sz="3200" u="none" strike="noStrike" baseline="0" dirty="0">
                <a:solidFill>
                  <a:srgbClr val="000000"/>
                </a:solidFill>
                <a:latin typeface="TimesLTStd-Roman"/>
              </a:rPr>
              <a:t>For example, you can define a nested class within the block defined by a method or even within the body of a for loop.</a:t>
            </a:r>
          </a:p>
        </p:txBody>
      </p:sp>
    </p:spTree>
    <p:extLst>
      <p:ext uri="{BB962C8B-B14F-4D97-AF65-F5344CB8AC3E}">
        <p14:creationId xmlns:p14="http://schemas.microsoft.com/office/powerpoint/2010/main" val="64032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Inner Class: Example 3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35040-0BEB-8AFA-1488-EB9599FCE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6" y="1179157"/>
            <a:ext cx="8320955" cy="521656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AB92-CFC6-7BD3-9421-5DD3BC9D2A0D}"/>
              </a:ext>
            </a:extLst>
          </p:cNvPr>
          <p:cNvSpPr txBox="1">
            <a:spLocks/>
          </p:cNvSpPr>
          <p:nvPr/>
        </p:nvSpPr>
        <p:spPr>
          <a:xfrm>
            <a:off x="8680340" y="1179157"/>
            <a:ext cx="3284154" cy="4164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E3A85-E443-8870-F602-9997493C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0340" y="1595571"/>
            <a:ext cx="3298205" cy="2844606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778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Exploring the </a:t>
            </a:r>
            <a:r>
              <a:rPr lang="en-US" sz="4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4800" b="1" dirty="0">
                <a:solidFill>
                  <a:srgbClr val="0070C0"/>
                </a:solidFill>
              </a:rPr>
              <a:t> Class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258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sz="4000" b="1" dirty="0">
                <a:solidFill>
                  <a:schemeClr val="bg1"/>
                </a:solidFill>
              </a:rPr>
              <a:t> Class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442720"/>
            <a:ext cx="11267440" cy="4257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String is probably the most commonly used class in Java’s class library.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Every string that we create in Java is actually an object of type String.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Even string constants are actually String objects.</a:t>
            </a:r>
          </a:p>
          <a:p>
            <a:endParaRPr lang="en-US" sz="900" dirty="0">
              <a:solidFill>
                <a:srgbClr val="000000"/>
              </a:solidFill>
              <a:latin typeface="TimesLTStd-Roman"/>
            </a:endParaRPr>
          </a:p>
          <a:p>
            <a:pPr marL="457200" lvl="1" indent="0">
              <a:buNone/>
            </a:pP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("This is a String, too");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string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"This is a String, too"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is a String object.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305864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Restrictions on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String</a:t>
            </a:r>
            <a:r>
              <a:rPr lang="en-US" sz="4000" b="1" dirty="0">
                <a:solidFill>
                  <a:schemeClr val="bg1"/>
                </a:solidFill>
              </a:rPr>
              <a:t> Class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168400"/>
            <a:ext cx="11267440" cy="531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Objects of type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are immutable: once a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object is created, its contents cannot be altered.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Solutions: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If you need to change a string, you can always create a new one that contains the modifications.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TimesLTStd-Roman"/>
              </a:rPr>
              <a:t>Java defines peer classes of String, called 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StringBuffer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 and 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StringBuilder</a:t>
            </a:r>
            <a:r>
              <a:rPr lang="en-US" sz="2800" dirty="0">
                <a:solidFill>
                  <a:srgbClr val="000000"/>
                </a:solidFill>
                <a:latin typeface="TimesLTStd-Roman"/>
              </a:rPr>
              <a:t>, which allow strings to be altered, so all of the normal string manipulations are still available in Java.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418800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Creating Strings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168400"/>
            <a:ext cx="11267440" cy="531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Strings can be constructed in a variety of ways: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easiest is to use a statement like this: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"this is a test";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Once a String object is created, it can be used anywhere that a string is allowed. </a:t>
            </a:r>
          </a:p>
          <a:p>
            <a:pPr marL="457200" lvl="1" indent="0">
              <a:buNone/>
            </a:pP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Java defines concatenator operator (+) that can be applied to two strings.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"I" + " like " + "Java.";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results in 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myString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containing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 like Java."</a:t>
            </a:r>
          </a:p>
          <a:p>
            <a:endParaRPr lang="en-US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958535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String Class: Example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174C18-4240-EDB2-5E3D-0497D6865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69" y="1300626"/>
            <a:ext cx="7039711" cy="287632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E44927-E791-8048-1854-5B97E475B9E5}"/>
              </a:ext>
            </a:extLst>
          </p:cNvPr>
          <p:cNvSpPr txBox="1">
            <a:spLocks/>
          </p:cNvSpPr>
          <p:nvPr/>
        </p:nvSpPr>
        <p:spPr>
          <a:xfrm>
            <a:off x="7916694" y="1300626"/>
            <a:ext cx="4108702" cy="3950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49F544-853C-FEB9-D3EA-5E7808AAE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6694" y="1717462"/>
            <a:ext cx="4108703" cy="8530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9865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String Methods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168400"/>
            <a:ext cx="11115040" cy="531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Method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can be used to test two strings for equality.</a:t>
            </a:r>
          </a:p>
          <a:p>
            <a:endParaRPr lang="en-US" sz="100" dirty="0">
              <a:solidFill>
                <a:srgbClr val="000000"/>
              </a:solidFill>
              <a:latin typeface="TimesLTStd-Roman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 equals(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secondStr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endParaRPr lang="en-US" sz="1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method can be called to obtain the length of a string.</a:t>
            </a:r>
          </a:p>
          <a:p>
            <a:endParaRPr lang="en-US" sz="100" dirty="0">
              <a:solidFill>
                <a:srgbClr val="000000"/>
              </a:solidFill>
              <a:latin typeface="TimesLTStd-Roman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length()</a:t>
            </a:r>
          </a:p>
          <a:p>
            <a:pPr marL="457200" lvl="1" indent="0">
              <a:buNone/>
            </a:pPr>
            <a:endParaRPr lang="en-US" sz="100" dirty="0">
              <a:solidFill>
                <a:srgbClr val="000000"/>
              </a:solidFill>
              <a:latin typeface="TimesLTStd-Roman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character at a specified index within a string can be obtained by calling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endParaRPr lang="en-US" sz="100" dirty="0">
              <a:solidFill>
                <a:srgbClr val="000000"/>
              </a:solidFill>
              <a:latin typeface="TimesLTStd-Roman"/>
            </a:endParaRPr>
          </a:p>
          <a:p>
            <a:pPr marL="457200" lvl="1" indent="0">
              <a:buNone/>
            </a:pP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8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charAt</a:t>
            </a:r>
            <a:r>
              <a:rPr lang="en-US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(index)</a:t>
            </a:r>
          </a:p>
        </p:txBody>
      </p:sp>
    </p:spTree>
    <p:extLst>
      <p:ext uri="{BB962C8B-B14F-4D97-AF65-F5344CB8AC3E}">
        <p14:creationId xmlns:p14="http://schemas.microsoft.com/office/powerpoint/2010/main" val="2720479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String Methods : Example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EE44927-E791-8048-1854-5B97E475B9E5}"/>
              </a:ext>
            </a:extLst>
          </p:cNvPr>
          <p:cNvSpPr txBox="1">
            <a:spLocks/>
          </p:cNvSpPr>
          <p:nvPr/>
        </p:nvSpPr>
        <p:spPr>
          <a:xfrm>
            <a:off x="1357069" y="5415280"/>
            <a:ext cx="3262547" cy="356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C7EE0-366B-795E-A476-F9D3BFB06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70" y="727696"/>
            <a:ext cx="8750940" cy="450470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DFE43A-1234-0CB0-B66A-3E75ED0DD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70" y="5772163"/>
            <a:ext cx="3262547" cy="87884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5599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"/>
            <a:ext cx="10337800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Arrays of Strings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168400"/>
            <a:ext cx="11115040" cy="5313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We can have arrays of strings.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String arrays play an important part in many Java programs.</a:t>
            </a:r>
          </a:p>
          <a:p>
            <a:endParaRPr lang="en-US" sz="2800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9161F-A316-5D58-51D5-8FCEF001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2740917"/>
            <a:ext cx="8390725" cy="21686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96C494-AF4D-F66E-5234-E26CBF527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1462" y="3150184"/>
            <a:ext cx="2495898" cy="10955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F61033-3F07-C67A-7405-D0474AADAAE6}"/>
              </a:ext>
            </a:extLst>
          </p:cNvPr>
          <p:cNvSpPr txBox="1">
            <a:spLocks/>
          </p:cNvSpPr>
          <p:nvPr/>
        </p:nvSpPr>
        <p:spPr>
          <a:xfrm>
            <a:off x="9401462" y="2740917"/>
            <a:ext cx="2495898" cy="409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86159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Using Command-Line Arguments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673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Using Command-Line Arguments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568960" y="1219200"/>
            <a:ext cx="11267440" cy="520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Sometimes we will want to pass information into a program when you run it.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This is accomplished by passing command-line arguments to main().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 command-line argument is the information that directly follows the program’s name on the command line when it is executed.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To access the command-line arguments inside a Java program is quite easy: they are stored as strings in a String array passed to the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parameter of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The first command-line argument is stored at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the second at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[1]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, and so on.</a:t>
            </a:r>
          </a:p>
        </p:txBody>
      </p:sp>
    </p:spTree>
    <p:extLst>
      <p:ext uri="{BB962C8B-B14F-4D97-AF65-F5344CB8AC3E}">
        <p14:creationId xmlns:p14="http://schemas.microsoft.com/office/powerpoint/2010/main" val="4000835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  <a:cs typeface="Courier New" panose="02070309020205020404" pitchFamily="49" charset="0"/>
              </a:rPr>
              <a:t>Using Command-Line Arguments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DF326-7517-ADC1-EEAC-75FA6A10C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35" y="1164877"/>
            <a:ext cx="9518261" cy="211100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F0300A-920F-0DA5-1973-DFC155D76886}"/>
              </a:ext>
            </a:extLst>
          </p:cNvPr>
          <p:cNvSpPr txBox="1">
            <a:spLocks/>
          </p:cNvSpPr>
          <p:nvPr/>
        </p:nvSpPr>
        <p:spPr>
          <a:xfrm>
            <a:off x="8972534" y="3622105"/>
            <a:ext cx="2619741" cy="409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6641F8-6019-2FAE-7AAD-5735D11B6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34" y="4031372"/>
            <a:ext cx="2619741" cy="21529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A8CCEC6-E1FB-DBDD-426A-81545DDB7313}"/>
              </a:ext>
            </a:extLst>
          </p:cNvPr>
          <p:cNvSpPr txBox="1">
            <a:spLocks/>
          </p:cNvSpPr>
          <p:nvPr/>
        </p:nvSpPr>
        <p:spPr>
          <a:xfrm>
            <a:off x="721360" y="3582119"/>
            <a:ext cx="8077200" cy="30320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Try executing this program in Command Prompt (or Terminal in Linux/MacOS):</a:t>
            </a:r>
          </a:p>
          <a:p>
            <a:endParaRPr lang="en-US" sz="100" dirty="0">
              <a:solidFill>
                <a:srgbClr val="000000"/>
              </a:solidFill>
              <a:latin typeface="TimesLTStd-Roman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CommandLine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this is a test 100 -1</a:t>
            </a:r>
          </a:p>
          <a:p>
            <a:pPr marL="457200" lvl="1" indent="0">
              <a:buNone/>
            </a:pP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All command-line arguments are passed as strings.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  <a:cs typeface="Courier New" panose="02070309020205020404" pitchFamily="49" charset="0"/>
              </a:rPr>
              <a:t>We must convert numeric values to their internal forms manually (will be covered in upcoming classes).</a:t>
            </a:r>
          </a:p>
        </p:txBody>
      </p:sp>
    </p:spTree>
    <p:extLst>
      <p:ext uri="{BB962C8B-B14F-4D97-AF65-F5344CB8AC3E}">
        <p14:creationId xmlns:p14="http://schemas.microsoft.com/office/powerpoint/2010/main" val="1656308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24372</TotalTime>
  <Words>936</Words>
  <Application>Microsoft Office PowerPoint</Application>
  <PresentationFormat>Widescreen</PresentationFormat>
  <Paragraphs>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Garamond</vt:lpstr>
      <vt:lpstr>TimesLTStd-Roman</vt:lpstr>
      <vt:lpstr>Office Theme</vt:lpstr>
      <vt:lpstr>A Closer Look at Methods and Classes Part 3  Java - The Complete Reference  Herbert Schildt Chapter 7 </vt:lpstr>
      <vt:lpstr>Outline</vt:lpstr>
      <vt:lpstr>PowerPoint Presentation</vt:lpstr>
      <vt:lpstr>Nested and Inner Classes</vt:lpstr>
      <vt:lpstr>static and Non-static Nested Classes</vt:lpstr>
      <vt:lpstr>Inner Class: Example 1</vt:lpstr>
      <vt:lpstr>Inner Class: Example 2</vt:lpstr>
      <vt:lpstr>Inner Class Scopes</vt:lpstr>
      <vt:lpstr>Inner Class: Example 3</vt:lpstr>
      <vt:lpstr>PowerPoint Presentation</vt:lpstr>
      <vt:lpstr>String Class</vt:lpstr>
      <vt:lpstr>Restrictions on String Class</vt:lpstr>
      <vt:lpstr>Creating Strings</vt:lpstr>
      <vt:lpstr>String Class: Example</vt:lpstr>
      <vt:lpstr>String Methods</vt:lpstr>
      <vt:lpstr>String Methods : Example</vt:lpstr>
      <vt:lpstr>Arrays of Strings</vt:lpstr>
      <vt:lpstr>PowerPoint Presentation</vt:lpstr>
      <vt:lpstr>Using Command-Line Arguments</vt:lpstr>
      <vt:lpstr>Using Command-Line Arguments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3211</cp:revision>
  <dcterms:created xsi:type="dcterms:W3CDTF">2023-02-09T14:28:53Z</dcterms:created>
  <dcterms:modified xsi:type="dcterms:W3CDTF">2025-11-15T21:43:11Z</dcterms:modified>
</cp:coreProperties>
</file>