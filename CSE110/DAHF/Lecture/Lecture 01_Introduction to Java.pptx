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14" r:id="rId2"/>
    <p:sldId id="332" r:id="rId3"/>
    <p:sldId id="341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5" autoAdjust="0"/>
    <p:restoredTop sz="83476" autoAdjust="0"/>
  </p:normalViewPr>
  <p:slideViewPr>
    <p:cSldViewPr snapToGrid="0">
      <p:cViewPr varScale="1">
        <p:scale>
          <a:sx n="53" d="100"/>
          <a:sy n="53" d="100"/>
        </p:scale>
        <p:origin x="12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53559-EDE7-4C02-BA95-DAA1E537C5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19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8317-623C-4883-B4AD-1E295C46C634}" type="datetime1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DA18-703C-41F4-A31A-FBA9B10C8D2E}" type="datetime1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18D0-63ED-46DE-A08D-E622FB3A899E}" type="datetime1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BE250-FEB3-4DD2-9052-B6062BC27032}" type="datetime1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C8DC-0449-45F4-AFBA-7979DF7CA5D5}" type="datetime1">
              <a:rPr lang="en-US" smtClean="0"/>
              <a:t>6/9/2024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47AC-9E37-4986-8D3D-D024A0051A3D}" type="datetime1">
              <a:rPr lang="en-US" smtClean="0"/>
              <a:t>6/9/2024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2B43A-75F1-45AC-AF22-611DAA98945F}" type="datetime1">
              <a:rPr lang="en-US" smtClean="0"/>
              <a:t>6/9/2024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6E55-D0AD-40F6-B05B-B5DB2C32EDA7}" type="datetime1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B8391-A988-45C0-9910-040D87DDCA2E}" type="datetime1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EA199-0764-418B-A66D-D876F64CE834}" type="datetime1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24A-87B1-4D68-8D22-236F2F55ED43}" type="datetime1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27700-82ED-4E52-93AE-412B36EDC3FC}" type="datetime1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.com/java/technologies/downloads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b="1" dirty="0"/>
              <a:t>Introduction to Java</a:t>
            </a:r>
            <a:br>
              <a:rPr lang="en-US" sz="3600" b="1" dirty="0"/>
            </a:br>
            <a:br>
              <a:rPr lang="en-US" sz="3400" b="1" dirty="0"/>
            </a:br>
            <a:r>
              <a:rPr lang="en-US" sz="3600" b="1" dirty="0" err="1"/>
              <a:t>Java</a:t>
            </a:r>
            <a:r>
              <a:rPr lang="en-US" sz="3600" b="1" dirty="0"/>
              <a:t> - The Complete Reference </a:t>
            </a:r>
            <a:br>
              <a:rPr lang="en-US" sz="3600" b="1" dirty="0"/>
            </a:br>
            <a:r>
              <a:rPr lang="en-US" sz="2700" b="1" dirty="0"/>
              <a:t>Herbert </a:t>
            </a:r>
            <a:r>
              <a:rPr lang="en-US" sz="2700" b="1" dirty="0" err="1"/>
              <a:t>Schildt</a:t>
            </a:r>
            <a:br>
              <a:rPr lang="en-US" sz="2700" b="1" dirty="0"/>
            </a:br>
            <a:r>
              <a:rPr lang="en-US" sz="2000" b="1" dirty="0"/>
              <a:t>Chapter 1 and Chapter 2</a:t>
            </a:r>
            <a:br>
              <a:rPr lang="en-US" sz="4000" b="1" dirty="0"/>
            </a:br>
            <a:br>
              <a:rPr lang="en-US" sz="3400" b="1" dirty="0"/>
            </a:br>
            <a:br>
              <a:rPr lang="en-US" sz="34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254475" y="1402080"/>
            <a:ext cx="10653045" cy="4480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History of Java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Java’s Lineage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What is Java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Java’s Popularity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Java Editions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Java Platform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Java Development Environment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 First Java Program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History of Java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711199" y="1219200"/>
            <a:ext cx="11196321" cy="5405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Java was developed primarily by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James Gosling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at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Sun Microsystems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in the 1990s.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Java's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WORA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(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write once, run anywhere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) principle revolutionized software development by enabling code portability across platforms.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Java gained widespread adoption, powering web applications, enterprise systems, and mobile apps.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Acquired by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Oracle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in 2010, Java continued to evolve with updates and community contributions.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Java remains a cornerstone in software development, integral to Android OS and prevalent in enterprise environments such as ERP and Financial Systems.</a:t>
            </a: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734466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D4C33-40D1-B3F3-7B7C-6F0C0C05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6E73E2-6E83-473E-AD07-37F4551F6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Java’s Lineage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2939E8B-DAA2-DE16-0BD9-0ACCE1F8A41D}"/>
              </a:ext>
            </a:extLst>
          </p:cNvPr>
          <p:cNvSpPr txBox="1">
            <a:spLocks/>
          </p:cNvSpPr>
          <p:nvPr/>
        </p:nvSpPr>
        <p:spPr>
          <a:xfrm>
            <a:off x="711199" y="1239520"/>
            <a:ext cx="11196321" cy="4988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LTStd-Roman"/>
              </a:rPr>
              <a:t>Java is related to C++, which is a direct descendant of C.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LTStd-Roman"/>
              </a:rPr>
              <a:t>Much of the character of Java is inherited from these two languages.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From C, Java derives its syntax.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Many of Java’s object-oriented features were influenced by C++.</a:t>
            </a: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410908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58E3-4F93-BA99-291A-EA6C935DF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E6F3E05-E0DF-5658-A172-905C8CAA8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What is Java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E7C5BD6-B817-B2A8-0DF1-DD93C2A41B87}"/>
              </a:ext>
            </a:extLst>
          </p:cNvPr>
          <p:cNvSpPr txBox="1">
            <a:spLocks/>
          </p:cNvSpPr>
          <p:nvPr/>
        </p:nvSpPr>
        <p:spPr>
          <a:xfrm>
            <a:off x="711199" y="1239520"/>
            <a:ext cx="11196321" cy="4988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LTStd-Roman"/>
              </a:rPr>
              <a:t>Java is a versatile, object-oriented programming language renowned for its platform independence, enabling developers to write code once and run it anywhere.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LTStd-Roman"/>
              </a:rPr>
              <a:t>Java encompasses a rich set of features that make it a preferred choice for building diverse software applications across industries: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TimesLTStd-Roman"/>
              </a:rPr>
              <a:t>portability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TimesLTStd-Roman"/>
              </a:rPr>
              <a:t>security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TimesLTStd-Roman"/>
              </a:rPr>
              <a:t>scalability</a:t>
            </a:r>
          </a:p>
          <a:p>
            <a:pPr lvl="1"/>
            <a:r>
              <a:rPr lang="en-US" sz="2800" b="0" i="0" u="none" strike="noStrike" baseline="0" dirty="0">
                <a:solidFill>
                  <a:srgbClr val="000000"/>
                </a:solidFill>
                <a:latin typeface="TimesLTStd-Roman"/>
              </a:rPr>
              <a:t>extensive libraries</a:t>
            </a:r>
            <a:endParaRPr lang="en-US" sz="28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98192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FBDFD-DC84-B497-57E4-E8609FCC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4490C1-4F74-D6F7-FB7D-16E72A01D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Java is Object Oriented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7168247-573C-3709-AF54-8904B15D0DA2}"/>
              </a:ext>
            </a:extLst>
          </p:cNvPr>
          <p:cNvSpPr txBox="1">
            <a:spLocks/>
          </p:cNvSpPr>
          <p:nvPr/>
        </p:nvSpPr>
        <p:spPr>
          <a:xfrm>
            <a:off x="711199" y="1036320"/>
            <a:ext cx="11196321" cy="55473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Java is founded on the principles of Object-Oriented Programming (OOP):</a:t>
            </a:r>
          </a:p>
          <a:p>
            <a:endParaRPr lang="en-US" sz="100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Encapsulation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allows the bundling of data (variables) and methods (functions) that operate on the data into a single unit known as an object.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Inheritance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enables the creation of new classes (subclass) that inherit attributes and behaviors (methods) from existing classes (superclass).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Polymorphism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allows objects of different classes to be treated as objects of a common superclass (through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method overloading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method overriding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Abstraction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involves hiding the implementation details of a class and exposing only the essential features.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Modularity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feature enables Java to organize code into classes and packages.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65387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66890-0617-6A95-B290-381F8A34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CEA0CFA-6AFE-36D8-3932-8E33893C1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Java’s Popularity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340410-E778-E16C-98CB-69B439029099}"/>
              </a:ext>
            </a:extLst>
          </p:cNvPr>
          <p:cNvSpPr txBox="1">
            <a:spLocks/>
          </p:cNvSpPr>
          <p:nvPr/>
        </p:nvSpPr>
        <p:spPr>
          <a:xfrm>
            <a:off x="711199" y="5527040"/>
            <a:ext cx="11196321" cy="125984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TIOBE Programming Community index is an indicator of the popularity of programming languages.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ratings are based on the number of skilled engineers world-wide, courses and third-party vendors. Popular search engines such as Google, Bing, Yahoo!, Wikipedia, Amazon, YouTube and Baidu are used to calculate the ratings.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B9155-4564-4973-4095-00C81D0EA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748" y="683017"/>
            <a:ext cx="5519572" cy="4346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1E3F1D-BF62-8E00-195A-6210A88F4065}"/>
              </a:ext>
            </a:extLst>
          </p:cNvPr>
          <p:cNvSpPr txBox="1"/>
          <p:nvPr/>
        </p:nvSpPr>
        <p:spPr>
          <a:xfrm>
            <a:off x="4500880" y="5025570"/>
            <a:ext cx="439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https://www.cleveroad.com/blog/programming-languages-ranking</a:t>
            </a:r>
          </a:p>
        </p:txBody>
      </p:sp>
    </p:spTree>
    <p:extLst>
      <p:ext uri="{BB962C8B-B14F-4D97-AF65-F5344CB8AC3E}">
        <p14:creationId xmlns:p14="http://schemas.microsoft.com/office/powerpoint/2010/main" val="134145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EB166-EB50-EA2A-411B-ABDFCFCAF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B71B29C-11AE-F0A7-8E0D-20569AB3D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Java Editions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163E8-974C-E6AA-C5DB-6D06E9BD4D77}"/>
              </a:ext>
            </a:extLst>
          </p:cNvPr>
          <p:cNvSpPr txBox="1">
            <a:spLocks/>
          </p:cNvSpPr>
          <p:nvPr/>
        </p:nvSpPr>
        <p:spPr>
          <a:xfrm>
            <a:off x="721359" y="995680"/>
            <a:ext cx="11196321" cy="5791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Java SE (Standard Edition):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Core platform for developing Java applications.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Provides libraries, APIs, and tools for desktop and server environments.</a:t>
            </a:r>
          </a:p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Java EE (Enterprise Edition):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Built on Java SE, tailored for enterprise-level applications.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Includes APIs for web services, distributed computing, and enterprise technologies.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Java ME (Micro Edition):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Optimized version for resource-constrained devices like mobile phones and embedded systems.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Provides a subset of Java SE APIs for developing mobile and embedded applications.</a:t>
            </a:r>
          </a:p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JavaFX: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Platform for creating Rich Internet Applications (RIAs) and desktop applications.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Offers features for multimedia, graphics, and user interfaces. </a:t>
            </a:r>
          </a:p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Java Card: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Designed for smart cards and small-memory devices.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Provides a secure execution environment for running Java applications on smart cards.</a:t>
            </a:r>
          </a:p>
        </p:txBody>
      </p:sp>
    </p:spTree>
    <p:extLst>
      <p:ext uri="{BB962C8B-B14F-4D97-AF65-F5344CB8AC3E}">
        <p14:creationId xmlns:p14="http://schemas.microsoft.com/office/powerpoint/2010/main" val="1238826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02BA0-9C1D-AEEC-61FE-B1FB302A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BB7BA5B-337B-9399-D5D7-4C10A788A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Java Platform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AF51DD-CE5D-5099-79A0-19F61716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16" y="906027"/>
            <a:ext cx="8473623" cy="545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15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3BE1A-4953-6C84-2CC0-E04881C8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B9A3A7E-E74D-4E40-122B-B5EA8FE37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Java Development Environment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38B3C3A-BF10-17D0-F8DE-2288C727DECD}"/>
              </a:ext>
            </a:extLst>
          </p:cNvPr>
          <p:cNvSpPr txBox="1">
            <a:spLocks/>
          </p:cNvSpPr>
          <p:nvPr/>
        </p:nvSpPr>
        <p:spPr>
          <a:xfrm>
            <a:off x="721359" y="1229360"/>
            <a:ext cx="11196321" cy="555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Edit</a:t>
            </a: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Create/edit the Java source code  (.java file)</a:t>
            </a:r>
          </a:p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Compile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Compile the Java source code to generate bytecode (.class file)</a:t>
            </a:r>
          </a:p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Load</a:t>
            </a: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 Load the compiled code</a:t>
            </a:r>
          </a:p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Verify</a:t>
            </a: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 Check against security restrictions</a:t>
            </a:r>
          </a:p>
          <a:p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Execute</a:t>
            </a: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 Execute the bytecode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55705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EA1F-AEA9-62B5-6092-F4AE8A3A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34382E-75EE-F64F-2789-E2F50E12F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Step 1: Creating a program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7F5D88B-AB1B-C82D-CF4A-0D965FA6C859}"/>
              </a:ext>
            </a:extLst>
          </p:cNvPr>
          <p:cNvSpPr txBox="1">
            <a:spLocks/>
          </p:cNvSpPr>
          <p:nvPr/>
        </p:nvSpPr>
        <p:spPr>
          <a:xfrm>
            <a:off x="721359" y="1229360"/>
            <a:ext cx="11196321" cy="555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0" u="none" strike="noStrike" baseline="0" dirty="0">
                <a:solidFill>
                  <a:srgbClr val="000000"/>
                </a:solidFill>
                <a:latin typeface="TimesLTStd-Roman"/>
              </a:rPr>
              <a:t>Any text editor or Java IDE (Integrated Development Environment) can be used to develop Java programs</a:t>
            </a:r>
          </a:p>
          <a:p>
            <a:r>
              <a:rPr lang="en-US" i="0" u="none" strike="noStrike" baseline="0" dirty="0">
                <a:solidFill>
                  <a:srgbClr val="000000"/>
                </a:solidFill>
                <a:latin typeface="TimesLTStd-Roman"/>
              </a:rPr>
              <a:t>Java source‐code file names must end with the .java extension</a:t>
            </a:r>
          </a:p>
          <a:p>
            <a:r>
              <a:rPr lang="en-US" i="0" u="none" strike="noStrike" baseline="0" dirty="0">
                <a:solidFill>
                  <a:srgbClr val="000000"/>
                </a:solidFill>
                <a:latin typeface="TimesLTStd-Roman"/>
              </a:rPr>
              <a:t>Some popular Java IDEs: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 Eclipse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NetBeans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IntelliJ</a:t>
            </a: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976226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637CB-E1F0-E28A-73E9-6C0C01FA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BF140C-99C0-9700-6B6F-24E3388A6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Step 2: Compiling a Java Program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4551A92-6F4D-2ADA-7922-43CD39093090}"/>
              </a:ext>
            </a:extLst>
          </p:cNvPr>
          <p:cNvSpPr txBox="1">
            <a:spLocks/>
          </p:cNvSpPr>
          <p:nvPr/>
        </p:nvSpPr>
        <p:spPr>
          <a:xfrm>
            <a:off x="721359" y="1229360"/>
            <a:ext cx="11196321" cy="555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Running the Java compiler</a:t>
            </a:r>
          </a:p>
          <a:p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javac HelloWorld.java</a:t>
            </a:r>
          </a:p>
          <a:p>
            <a:pPr marL="457200" lvl="1" indent="0">
              <a:buNone/>
            </a:pPr>
            <a:endParaRPr lang="en-US" sz="2800" b="1" i="0" u="none" strike="noStrike" baseline="0" dirty="0">
              <a:solidFill>
                <a:srgbClr val="00000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i="0" u="none" strike="noStrike" baseline="0" dirty="0">
                <a:solidFill>
                  <a:srgbClr val="000000"/>
                </a:solidFill>
                <a:latin typeface="TimesLTStd-Roman"/>
              </a:rPr>
              <a:t>Searches the file in the current directory</a:t>
            </a:r>
          </a:p>
          <a:p>
            <a:r>
              <a:rPr lang="en-US" i="0" u="none" strike="noStrike" baseline="0" dirty="0">
                <a:solidFill>
                  <a:srgbClr val="000000"/>
                </a:solidFill>
                <a:latin typeface="TimesLTStd-Roman"/>
              </a:rPr>
              <a:t>Compiles the source file</a:t>
            </a:r>
          </a:p>
          <a:p>
            <a:r>
              <a:rPr lang="en-US" i="0" u="none" strike="noStrike" baseline="0" dirty="0">
                <a:solidFill>
                  <a:srgbClr val="000000"/>
                </a:solidFill>
                <a:latin typeface="TimesLTStd-Roman"/>
              </a:rPr>
              <a:t>Transforms the Java source code into bytecodes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i="0" u="none" strike="noStrike" baseline="0" dirty="0">
                <a:solidFill>
                  <a:srgbClr val="000000"/>
                </a:solidFill>
                <a:latin typeface="TimesLTStd-Roman"/>
              </a:rPr>
              <a:t>Places the bytecodes in a file named </a:t>
            </a:r>
            <a:r>
              <a:rPr lang="en-US" i="0" u="none" strike="noStrike" baseline="0" dirty="0" err="1">
                <a:solidFill>
                  <a:srgbClr val="000000"/>
                </a:solidFill>
                <a:latin typeface="TimesLTStd-Roman"/>
              </a:rPr>
              <a:t>Welcome.class</a:t>
            </a:r>
            <a:r>
              <a:rPr lang="en-US" i="0" u="none" strike="noStrike" baseline="0" dirty="0">
                <a:solidFill>
                  <a:srgbClr val="000000"/>
                </a:solidFill>
                <a:latin typeface="TimesLTStd-Roman"/>
              </a:rPr>
              <a:t> Prepared</a:t>
            </a:r>
          </a:p>
        </p:txBody>
      </p:sp>
    </p:spTree>
    <p:extLst>
      <p:ext uri="{BB962C8B-B14F-4D97-AF65-F5344CB8AC3E}">
        <p14:creationId xmlns:p14="http://schemas.microsoft.com/office/powerpoint/2010/main" val="3294517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88531-89D1-2977-1D8C-45BF3091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60D09F-E651-16B7-A643-093F4183C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Bytecode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65515B5-E679-12E2-2DC0-195A2F2ACD72}"/>
              </a:ext>
            </a:extLst>
          </p:cNvPr>
          <p:cNvSpPr txBox="1">
            <a:spLocks/>
          </p:cNvSpPr>
          <p:nvPr/>
        </p:nvSpPr>
        <p:spPr>
          <a:xfrm>
            <a:off x="721359" y="1229360"/>
            <a:ext cx="11196321" cy="555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0000"/>
                </a:solidFill>
                <a:latin typeface="TimesLTStd-Roman"/>
              </a:rPr>
              <a:t>Bytecodes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are not machine language binary code (like the content of .exe files in Windows OS).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They are independent of any particular microprocessor or hardware platform.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They are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platform‐independent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instructions.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Another entity (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Interpreter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 is required to convert the bytecodes into machine codes that the underlying microprocessor understands.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This is the job of the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JVM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Java Virtual Machine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).</a:t>
            </a:r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157891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2E81A-3A96-D875-3C59-8B473E7F7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A481FB-086E-C386-B7FB-79A515F83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JVM (Java Virtual Machine)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407600-BEBF-79F7-11D4-11A9F94F31D2}"/>
              </a:ext>
            </a:extLst>
          </p:cNvPr>
          <p:cNvSpPr txBox="1">
            <a:spLocks/>
          </p:cNvSpPr>
          <p:nvPr/>
        </p:nvSpPr>
        <p:spPr>
          <a:xfrm>
            <a:off x="721359" y="1107440"/>
            <a:ext cx="11196321" cy="5679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JVM is a part of the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JDK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Java Development Kit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 and the foundation of the Java platform.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 The Java JDK is a software development kit (from Oracle) containing tools,  libraries, and documentation necessary for developing, debugging, and deploying Java applications.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TimesLTStd-Roman"/>
                <a:hlinkClick r:id="rId2"/>
              </a:rPr>
              <a:t> https://www.oracle.com/java/technologies/downloads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JVM can be installed separately or with a JDK.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Virtual Machine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VM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 is a software application that simulates a computer system; but hides the underlying operating system and hardware from the programs that runs on the VM (interacts with the VM).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 is the JVM that makes Java a portable language.</a:t>
            </a:r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393153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69D3F-E561-2557-1525-EEBC01FDA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07762B-ED36-8DCC-2FA5-E9ADAF5A1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JVM (Java Virtual Machine)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EBDA22-4DCB-8AB6-F28B-2897B8E84223}"/>
              </a:ext>
            </a:extLst>
          </p:cNvPr>
          <p:cNvSpPr txBox="1">
            <a:spLocks/>
          </p:cNvSpPr>
          <p:nvPr/>
        </p:nvSpPr>
        <p:spPr>
          <a:xfrm>
            <a:off x="721359" y="1168400"/>
            <a:ext cx="11196321" cy="5618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same bytecodes can be executed on any platform containing a compatible JVM.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Different JVM is needed for different operating systems.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JVM is invoked by the java command:</a:t>
            </a:r>
          </a:p>
          <a:p>
            <a:pPr marL="457200" lvl="1" indent="0">
              <a:buNone/>
            </a:pPr>
            <a:endParaRPr lang="en-US" sz="1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java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HelloWorld</a:t>
            </a:r>
            <a:endParaRPr lang="en-US" sz="3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1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 searches the class HelloWorld in the current directory and executes the main method of class HelloWorld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 issues an error if it cannot find the class HelloWorld or if class HelloWorld does not contain a method called main with proper signature.</a:t>
            </a:r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83686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DC444-0EFA-C724-E84D-CDA0F4A4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AF1F60-1D26-AE55-BD53-0A6C20D22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Step 3: Loading a program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298E479-6976-8526-5A13-891AB317AADD}"/>
              </a:ext>
            </a:extLst>
          </p:cNvPr>
          <p:cNvSpPr txBox="1">
            <a:spLocks/>
          </p:cNvSpPr>
          <p:nvPr/>
        </p:nvSpPr>
        <p:spPr>
          <a:xfrm>
            <a:off x="721359" y="1339702"/>
            <a:ext cx="11196321" cy="4859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One of the components of the JVM is the Class Loader.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Class Loader takes the .class files containing the program bytecodes and copies the content to the RAM.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Class Loader also loads any of the .class files provided by the Java library that our program uses.</a:t>
            </a:r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31375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34AA4-F583-091C-C296-89958BE0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48FC86-2A83-C8A4-96E9-9F80A3A6A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Step 4: Bytecode Verification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980EF1-54B3-D51D-9F66-F900C0CA90EF}"/>
              </a:ext>
            </a:extLst>
          </p:cNvPr>
          <p:cNvSpPr txBox="1">
            <a:spLocks/>
          </p:cNvSpPr>
          <p:nvPr/>
        </p:nvSpPr>
        <p:spPr>
          <a:xfrm>
            <a:off x="721359" y="1339702"/>
            <a:ext cx="11196321" cy="4859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Another component of the JVM is the Bytecode Verifier.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Its job is to ensure that bytecodes are valid and do not violate Java’s security restrictions.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This feature helps to prevent Java programs arriving over the network from damaging our system.</a:t>
            </a:r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746047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B07E-2A7B-BC8B-3E55-94AA1EDD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77AD78-E38A-AB38-6F28-68F16E113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Step 5: Execution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F7A0732-1DA1-5015-EDD0-F772DC3FD2EE}"/>
              </a:ext>
            </a:extLst>
          </p:cNvPr>
          <p:cNvSpPr txBox="1">
            <a:spLocks/>
          </p:cNvSpPr>
          <p:nvPr/>
        </p:nvSpPr>
        <p:spPr>
          <a:xfrm>
            <a:off x="721359" y="1339702"/>
            <a:ext cx="11196321" cy="4859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Now the actual execution of the program begins.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Bytecodes are converted to machine language suitable for the underlying OS and hardware.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Summary, Java programs go through two compilation phases:</a:t>
            </a:r>
          </a:p>
          <a:p>
            <a:pPr marL="971550" lvl="1" indent="-514350">
              <a:spcBef>
                <a:spcPts val="2400"/>
              </a:spcBef>
              <a:buFont typeface="+mj-lt"/>
              <a:buAutoNum type="arabicParenR"/>
            </a:pPr>
            <a:r>
              <a:rPr lang="en-US" sz="2800" dirty="0">
                <a:solidFill>
                  <a:srgbClr val="000000"/>
                </a:solidFill>
                <a:latin typeface="TimesLTStd-Roman"/>
              </a:rPr>
              <a:t>Source code         Bytecodes</a:t>
            </a:r>
          </a:p>
          <a:p>
            <a:pPr marL="971550" lvl="1" indent="-514350">
              <a:spcBef>
                <a:spcPts val="2400"/>
              </a:spcBef>
              <a:buFont typeface="+mj-lt"/>
              <a:buAutoNum type="arabicParenR"/>
            </a:pPr>
            <a:r>
              <a:rPr lang="en-US" sz="2800" dirty="0">
                <a:solidFill>
                  <a:srgbClr val="000000"/>
                </a:solidFill>
                <a:latin typeface="TimesLTStd-Roman"/>
              </a:rPr>
              <a:t>Bytecodes         Machine codes</a:t>
            </a:r>
            <a:endParaRPr lang="en-US" sz="2800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99542CC-400B-58BF-9BC3-55D784B9EB59}"/>
              </a:ext>
            </a:extLst>
          </p:cNvPr>
          <p:cNvSpPr/>
          <p:nvPr/>
        </p:nvSpPr>
        <p:spPr>
          <a:xfrm>
            <a:off x="3657601" y="3817086"/>
            <a:ext cx="531628" cy="2232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BF5A64F-E916-FC3D-DB81-D1C55C073DF3}"/>
              </a:ext>
            </a:extLst>
          </p:cNvPr>
          <p:cNvSpPr/>
          <p:nvPr/>
        </p:nvSpPr>
        <p:spPr>
          <a:xfrm>
            <a:off x="3391787" y="4493149"/>
            <a:ext cx="531628" cy="2232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71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1EB6D-E173-2594-0246-01F54E69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F0968E-7D65-B30E-993E-B2DE3BE85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First Java Program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A9919-10F8-7C64-FCFE-A9DEC9C7E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96" y="1272757"/>
            <a:ext cx="11329607" cy="343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24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7CB7-3CAB-9C2D-FBDE-50105EE9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90F941-C037-0EDB-0B38-D79004E22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First Java Program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04EFDA2-93CC-197F-5564-91E1B64E74B5}"/>
              </a:ext>
            </a:extLst>
          </p:cNvPr>
          <p:cNvSpPr txBox="1">
            <a:spLocks/>
          </p:cNvSpPr>
          <p:nvPr/>
        </p:nvSpPr>
        <p:spPr>
          <a:xfrm>
            <a:off x="519340" y="1127051"/>
            <a:ext cx="10591683" cy="5295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Java source file can contain multiple classes, but only one class can be a public class.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Typically, Java classes are grouped into packages (similar to namespaces in C++).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public class is accessible across different packages.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source file name must match the name of the public class defined in the file with the .java extension</a:t>
            </a:r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800799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F374B-6B7E-BD9D-AEE7-51E395096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0EE15C-B88C-A337-1C08-7B8E2C8B6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First Java Program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461FCE-125A-6064-737A-31E8FCEA53F5}"/>
              </a:ext>
            </a:extLst>
          </p:cNvPr>
          <p:cNvSpPr txBox="1">
            <a:spLocks/>
          </p:cNvSpPr>
          <p:nvPr/>
        </p:nvSpPr>
        <p:spPr>
          <a:xfrm>
            <a:off x="519340" y="1127051"/>
            <a:ext cx="10591683" cy="5295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Java, there is no provision to declare a class, and then define the member functions (called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Methods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in Java) outside the class.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Body of every member method of a class must be written when the method is declared.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methods can be written in any order within the source file.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method defined earlier in the source file can call a method defined later.</a:t>
            </a:r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4055135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E394C-5999-EBAD-6188-74772D67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6F5E49-8DD2-751F-351B-80199BACB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First Java Program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5663E4-991A-A0F6-B178-E976BF3E2F92}"/>
              </a:ext>
            </a:extLst>
          </p:cNvPr>
          <p:cNvSpPr txBox="1">
            <a:spLocks/>
          </p:cNvSpPr>
          <p:nvPr/>
        </p:nvSpPr>
        <p:spPr>
          <a:xfrm>
            <a:off x="519340" y="1127051"/>
            <a:ext cx="10793702" cy="52950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main() is the starting point of every Java application (similar to C/C++).</a:t>
            </a:r>
          </a:p>
          <a:p>
            <a:r>
              <a:rPr lang="en-US" b="1" i="1" dirty="0">
                <a:solidFill>
                  <a:srgbClr val="000000"/>
                </a:solidFill>
                <a:latin typeface="TimesLTStd-Roman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used to make the method accessible by all.</a:t>
            </a:r>
          </a:p>
          <a:p>
            <a:r>
              <a:rPr lang="en-US" b="1" i="1" dirty="0">
                <a:solidFill>
                  <a:srgbClr val="000000"/>
                </a:solidFill>
                <a:latin typeface="TimesLTStd-Roman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used to make main a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static method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of class Welcome. Static methods can be called without creating/using any object; rather just using the class name. JVM call main using the </a:t>
            </a:r>
            <a:r>
              <a:rPr lang="en-US" i="1" dirty="0" err="1">
                <a:solidFill>
                  <a:srgbClr val="000000"/>
                </a:solidFill>
                <a:latin typeface="TimesLTStd-Roman"/>
              </a:rPr>
              <a:t>ClassName.methodName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LTStd-Roman"/>
              </a:rPr>
              <a:t>HelloWorld.main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) notation.</a:t>
            </a:r>
          </a:p>
          <a:p>
            <a:r>
              <a:rPr lang="en-US" b="1" i="1" dirty="0">
                <a:solidFill>
                  <a:srgbClr val="000000"/>
                </a:solidFill>
                <a:latin typeface="TimesLTStd-Roman"/>
              </a:rPr>
              <a:t>void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means main does not return anything (similar to C/C++).</a:t>
            </a:r>
          </a:p>
          <a:p>
            <a:r>
              <a:rPr lang="en-US" i="1" dirty="0">
                <a:solidFill>
                  <a:srgbClr val="000000"/>
                </a:solidFill>
                <a:latin typeface="TimesLTStd-Roman"/>
              </a:rPr>
              <a:t>String </a:t>
            </a:r>
            <a:r>
              <a:rPr lang="en-US" i="1" dirty="0" err="1">
                <a:solidFill>
                  <a:srgbClr val="000000"/>
                </a:solidFill>
                <a:latin typeface="TimesLTStd-Roman"/>
              </a:rPr>
              <a:t>args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[ ]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represents an array of String objects that holds the command line arguments passed to the application.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Where is the length of </a:t>
            </a:r>
            <a:r>
              <a:rPr lang="en-US" dirty="0" err="1">
                <a:solidFill>
                  <a:srgbClr val="000000"/>
                </a:solidFill>
                <a:latin typeface="TimesLTStd-Roman"/>
              </a:rPr>
              <a:t>args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array?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359367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5340F-A3BB-B7B2-BFFF-231D0E3A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D0AC74-D60D-CA39-730C-54D9B634A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First Java Program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34FAB4-F222-0B2F-3FC2-E8ADEF3EF0F4}"/>
              </a:ext>
            </a:extLst>
          </p:cNvPr>
          <p:cNvSpPr txBox="1">
            <a:spLocks/>
          </p:cNvSpPr>
          <p:nvPr/>
        </p:nvSpPr>
        <p:spPr>
          <a:xfrm>
            <a:off x="519340" y="1573619"/>
            <a:ext cx="10793702" cy="4848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Think of JVM as a outside Java entity who tries to access the main method of class Welcome.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main must be declared as a public member of class Welcome.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JVM wants to access main without creating an object of class Welcome.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main must be declared as static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JVM wants to pass an array of String objects containing the command line arguments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main must take an array of String as parameter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798131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EEBC-7C5C-68DC-3F15-A17AE636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43E482-F4D3-A215-0B37-A83E32C75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First Java Program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BAAD4D1-6FFA-C5C0-ECBA-910A43AB6051}"/>
              </a:ext>
            </a:extLst>
          </p:cNvPr>
          <p:cNvSpPr txBox="1">
            <a:spLocks/>
          </p:cNvSpPr>
          <p:nvPr/>
        </p:nvSpPr>
        <p:spPr>
          <a:xfrm>
            <a:off x="519340" y="1190847"/>
            <a:ext cx="10793702" cy="5231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Used to print a line of text followed by a new line.</a:t>
            </a:r>
          </a:p>
          <a:p>
            <a:r>
              <a:rPr lang="en-US" b="1" i="1" dirty="0">
                <a:solidFill>
                  <a:srgbClr val="000000"/>
                </a:solidFill>
                <a:latin typeface="TimesLTStd-Roman"/>
              </a:rPr>
              <a:t>System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a class inside the Java API (i.e., Java standard library).</a:t>
            </a:r>
          </a:p>
          <a:p>
            <a:r>
              <a:rPr lang="en-US" b="1" i="1" dirty="0">
                <a:solidFill>
                  <a:srgbClr val="000000"/>
                </a:solidFill>
                <a:latin typeface="TimesLTStd-Roman"/>
              </a:rPr>
              <a:t>out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a public static member of class System.</a:t>
            </a:r>
          </a:p>
          <a:p>
            <a:r>
              <a:rPr lang="en-US" b="1" i="1" dirty="0">
                <a:solidFill>
                  <a:srgbClr val="000000"/>
                </a:solidFill>
                <a:latin typeface="TimesLTStd-Roman"/>
              </a:rPr>
              <a:t>out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an object of another class (</a:t>
            </a:r>
            <a:r>
              <a:rPr lang="en-US" dirty="0" err="1">
                <a:solidFill>
                  <a:srgbClr val="000000"/>
                </a:solidFill>
                <a:latin typeface="TimesLTStd-Roman"/>
              </a:rPr>
              <a:t>java.io.PrintStream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 of the Java API.</a:t>
            </a:r>
          </a:p>
          <a:p>
            <a:r>
              <a:rPr lang="en-US" b="1" i="1" dirty="0">
                <a:solidFill>
                  <a:srgbClr val="000000"/>
                </a:solidFill>
                <a:latin typeface="TimesLTStd-Roman"/>
              </a:rPr>
              <a:t>out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represents the standard output (similar to </a:t>
            </a:r>
            <a:r>
              <a:rPr lang="en-US" i="1" dirty="0" err="1">
                <a:solidFill>
                  <a:srgbClr val="000000"/>
                </a:solidFill>
                <a:latin typeface="TimesLTStd-Roman"/>
              </a:rPr>
              <a:t>stdout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in C or </a:t>
            </a:r>
            <a:r>
              <a:rPr lang="en-US" i="1" dirty="0" err="1">
                <a:solidFill>
                  <a:srgbClr val="000000"/>
                </a:solidFill>
                <a:latin typeface="TimesLTStd-Roman"/>
              </a:rPr>
              <a:t>cout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 in C++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).</a:t>
            </a:r>
          </a:p>
          <a:p>
            <a:r>
              <a:rPr lang="en-US" b="1" i="1" dirty="0" err="1">
                <a:solidFill>
                  <a:srgbClr val="000000"/>
                </a:solidFill>
                <a:latin typeface="TimesLTStd-Roman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a public method of the class of which out is an object.</a:t>
            </a:r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932726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3346-4FB8-82D4-C18F-89AFF012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9B952C3-8076-4CAE-630F-AB1F3AD5D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First Java Program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1D85FC6-340F-C924-2871-6CFB21B0579D}"/>
              </a:ext>
            </a:extLst>
          </p:cNvPr>
          <p:cNvSpPr txBox="1">
            <a:spLocks/>
          </p:cNvSpPr>
          <p:nvPr/>
        </p:nvSpPr>
        <p:spPr>
          <a:xfrm>
            <a:off x="519340" y="1190847"/>
            <a:ext cx="10793702" cy="5231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 err="1">
                <a:solidFill>
                  <a:srgbClr val="000000"/>
                </a:solidFill>
                <a:latin typeface="TimesLTStd-Roman"/>
              </a:rPr>
              <a:t>System.out.print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similar to </a:t>
            </a:r>
            <a:r>
              <a:rPr lang="en-US" dirty="0" err="1">
                <a:solidFill>
                  <a:srgbClr val="000000"/>
                </a:solidFill>
                <a:latin typeface="TimesLTStd-Roman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(), but does not print a new line automatically.</a:t>
            </a:r>
          </a:p>
          <a:p>
            <a:r>
              <a:rPr lang="en-US" i="1" dirty="0" err="1">
                <a:solidFill>
                  <a:srgbClr val="000000"/>
                </a:solidFill>
                <a:latin typeface="TimesLTStd-Roman"/>
              </a:rPr>
              <a:t>System.out.printf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used to print formatted output (similar to printf() in C).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Java, characters enclosed by double quotes ("") represents a String object, where String is a class defined in the Java API.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We can use the plus operator (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+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 to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concatenate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multiple String objects and create a new String object.</a:t>
            </a:r>
            <a:endParaRPr lang="en-US" i="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36520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16320</TotalTime>
  <Words>1694</Words>
  <Application>Microsoft Office PowerPoint</Application>
  <PresentationFormat>Widescreen</PresentationFormat>
  <Paragraphs>160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Courier New</vt:lpstr>
      <vt:lpstr>Garamond</vt:lpstr>
      <vt:lpstr>TimesLTStd-Roman</vt:lpstr>
      <vt:lpstr>Wingdings</vt:lpstr>
      <vt:lpstr>Office Theme</vt:lpstr>
      <vt:lpstr>Introduction to Java  Java - The Complete Reference  Herbert Schildt Chapter 1 and Chapter 2   </vt:lpstr>
      <vt:lpstr>Outline</vt:lpstr>
      <vt:lpstr>History of Java</vt:lpstr>
      <vt:lpstr>Java’s Lineage</vt:lpstr>
      <vt:lpstr>What is Java</vt:lpstr>
      <vt:lpstr>Java is Object Oriented</vt:lpstr>
      <vt:lpstr>Java’s Popularity</vt:lpstr>
      <vt:lpstr>Java Editions</vt:lpstr>
      <vt:lpstr>Java Platform</vt:lpstr>
      <vt:lpstr>Java Development Environment</vt:lpstr>
      <vt:lpstr>Step 1: Creating a program</vt:lpstr>
      <vt:lpstr>Step 2: Compiling a Java Program</vt:lpstr>
      <vt:lpstr>Bytecode</vt:lpstr>
      <vt:lpstr>JVM (Java Virtual Machine)</vt:lpstr>
      <vt:lpstr>JVM (Java Virtual Machine)</vt:lpstr>
      <vt:lpstr>Step 3: Loading a program</vt:lpstr>
      <vt:lpstr>Step 4: Bytecode Verification</vt:lpstr>
      <vt:lpstr>Step 5: Execution</vt:lpstr>
      <vt:lpstr>A First Java Program</vt:lpstr>
      <vt:lpstr>A First Java Program</vt:lpstr>
      <vt:lpstr>A First Java Program</vt:lpstr>
      <vt:lpstr>A First Java Program</vt:lpstr>
      <vt:lpstr>A First Java Program</vt:lpstr>
      <vt:lpstr>A First Java Program</vt:lpstr>
      <vt:lpstr>A First Java Program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1238</cp:revision>
  <dcterms:created xsi:type="dcterms:W3CDTF">2023-02-09T14:28:53Z</dcterms:created>
  <dcterms:modified xsi:type="dcterms:W3CDTF">2024-06-09T16:31:53Z</dcterms:modified>
</cp:coreProperties>
</file>