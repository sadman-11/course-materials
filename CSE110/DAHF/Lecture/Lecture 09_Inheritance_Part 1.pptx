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314" r:id="rId2"/>
    <p:sldId id="332" r:id="rId3"/>
    <p:sldId id="430" r:id="rId4"/>
    <p:sldId id="426" r:id="rId5"/>
    <p:sldId id="431" r:id="rId6"/>
    <p:sldId id="432" r:id="rId7"/>
    <p:sldId id="433" r:id="rId8"/>
    <p:sldId id="435" r:id="rId9"/>
    <p:sldId id="434" r:id="rId10"/>
    <p:sldId id="436" r:id="rId11"/>
    <p:sldId id="437" r:id="rId12"/>
    <p:sldId id="43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/>
          </a:bodyPr>
          <a:lstStyle/>
          <a:p>
            <a:r>
              <a:rPr lang="en-US" b="1" dirty="0"/>
              <a:t>Inheritance</a:t>
            </a:r>
            <a:br>
              <a:rPr lang="en-US" b="1" dirty="0"/>
            </a:br>
            <a:r>
              <a:rPr lang="en-US" sz="4000" b="1" dirty="0"/>
              <a:t>Part 1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8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229360"/>
            <a:ext cx="10546080" cy="503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Inheritance Basics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Member Access and Inheritance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 Superclass Variable Can Reference a Subclass Object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Using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Using super to Call Superclass Constructors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 second use of super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Creating a Multilevel Hierarchy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Constructors Are Executed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Method Overloading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Inheritance Basics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9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Inheritance Basics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168400"/>
            <a:ext cx="11267440" cy="5313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0000"/>
                </a:solidFill>
                <a:latin typeface="TimesLTStd-Roman"/>
              </a:rPr>
              <a:t>Inheritance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one of the cornerstones of object-oriented programming because it allows the creation of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hierarchical classifications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Using inheritance, we can create a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general class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that defines traits common to a set of related items.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This class can then be inherited by other, more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specific classes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each adding those things that are unique to it.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class that is inherited is called a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superclass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class that does the inheriting is called a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subclass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Therefore,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a subclass is a specialized version of a superclass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inherits all of the members defined by the superclass and adds its own, unique elements.</a:t>
            </a:r>
          </a:p>
        </p:txBody>
      </p:sp>
    </p:spTree>
    <p:extLst>
      <p:ext uri="{BB962C8B-B14F-4D97-AF65-F5344CB8AC3E}">
        <p14:creationId xmlns:p14="http://schemas.microsoft.com/office/powerpoint/2010/main" val="14878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38BCF-5E47-5A1F-E45D-492811C5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4E8B21-0B39-3A3D-81BA-B2C965309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Inheritance Basics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B6F904B-38CA-BB55-3E25-F176849CA6A7}"/>
              </a:ext>
            </a:extLst>
          </p:cNvPr>
          <p:cNvSpPr txBox="1">
            <a:spLocks/>
          </p:cNvSpPr>
          <p:nvPr/>
        </p:nvSpPr>
        <p:spPr>
          <a:xfrm>
            <a:off x="568960" y="1442720"/>
            <a:ext cx="11267440" cy="5039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Promotes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code reuse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logical classification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(is-a relationships).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uses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keyword to create a subclass.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Inheritance forms the basis for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polymorphism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method overriding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7788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AFEC-D150-E90F-CA2E-BA6C4C80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63B82F-6E56-56DD-CC3E-0FFEB82DD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Example: Simple Inheritance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B82572-716E-C3D8-518A-DD9199FA1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9" y="990259"/>
            <a:ext cx="5548275" cy="42846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EDBCAD-1074-9300-1E08-F2D0F4EDE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908" y="990259"/>
            <a:ext cx="5504413" cy="42846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1D9FF3-DC1D-E7DB-71EC-62013D944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437776"/>
            <a:ext cx="1881395" cy="12068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9E1C244-D6E6-0932-2865-D3F2F29AD559}"/>
              </a:ext>
            </a:extLst>
          </p:cNvPr>
          <p:cNvSpPr txBox="1">
            <a:spLocks/>
          </p:cNvSpPr>
          <p:nvPr/>
        </p:nvSpPr>
        <p:spPr>
          <a:xfrm>
            <a:off x="4355916" y="5867741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0427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E3DC-4F45-C094-6169-06B1226C5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0C4020-FA03-E13A-A85C-760494644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Inheritance Rules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EF48D20-3498-665D-1EEF-F5906EE88593}"/>
              </a:ext>
            </a:extLst>
          </p:cNvPr>
          <p:cNvSpPr txBox="1">
            <a:spLocks/>
          </p:cNvSpPr>
          <p:nvPr/>
        </p:nvSpPr>
        <p:spPr>
          <a:xfrm>
            <a:off x="558800" y="1422400"/>
            <a:ext cx="11267440" cy="5039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We can only specify one superclass for any subclass that we create.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does not support the inheritance of multiple </a:t>
            </a:r>
            <a:r>
              <a:rPr lang="en-US" dirty="0" err="1">
                <a:solidFill>
                  <a:srgbClr val="000000"/>
                </a:solidFill>
                <a:latin typeface="TimesLTStd-Roman"/>
              </a:rPr>
              <a:t>superclasses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into a single subclass.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We can create a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hierarchy of inheritance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in which a subclass becomes a superclass of another subclass.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No class can be a superclass of itself.</a:t>
            </a:r>
          </a:p>
        </p:txBody>
      </p:sp>
    </p:spTree>
    <p:extLst>
      <p:ext uri="{BB962C8B-B14F-4D97-AF65-F5344CB8AC3E}">
        <p14:creationId xmlns:p14="http://schemas.microsoft.com/office/powerpoint/2010/main" val="1056663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4859D-7ED0-B1CB-939C-E203502F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B844C5-9C79-7F0A-D69D-98B9B6E1C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Member Access and Inheritance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5A1FF7-0C73-3785-76AA-EF63EEACB764}"/>
              </a:ext>
            </a:extLst>
          </p:cNvPr>
          <p:cNvSpPr txBox="1">
            <a:spLocks/>
          </p:cNvSpPr>
          <p:nvPr/>
        </p:nvSpPr>
        <p:spPr>
          <a:xfrm>
            <a:off x="635000" y="1137920"/>
            <a:ext cx="41402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Although a subclass includes all of the members of its superclass, it cannot access those members of the superclass that have been declared as private.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class member that has been declared as </a:t>
            </a: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will remain private to its class.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It is not accessible by any code outside its class, including subclasses.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2D50B-DB7F-A12A-3584-DEF42ED98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406" y="829897"/>
            <a:ext cx="6158389" cy="57976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199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806DB-2F43-BE23-0C4F-0BB65AE8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E551C2-9540-23BE-221F-C643C49DE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More Practical Example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763ECD-52E0-3C98-8F12-A6EF715FAEDC}"/>
              </a:ext>
            </a:extLst>
          </p:cNvPr>
          <p:cNvSpPr txBox="1">
            <a:spLocks/>
          </p:cNvSpPr>
          <p:nvPr/>
        </p:nvSpPr>
        <p:spPr>
          <a:xfrm>
            <a:off x="5933440" y="5842001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B3F0E-D9B2-3B3E-EDEC-CC1853D5C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13" y="1015999"/>
            <a:ext cx="5170172" cy="57180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76205D-99CD-1730-4338-1DF8DA771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440" y="1015999"/>
            <a:ext cx="5887273" cy="43110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4A63F2-1F9B-AB01-3746-11E9B004C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763" y="5485355"/>
            <a:ext cx="2913452" cy="10983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917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DBFF-CBEA-E49D-3D6A-6E7F1B25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9D0091-2B9C-D7C5-C24F-CC4228866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More Practical Example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81614B-A354-044A-B7A0-852BB7725733}"/>
              </a:ext>
            </a:extLst>
          </p:cNvPr>
          <p:cNvSpPr txBox="1">
            <a:spLocks/>
          </p:cNvSpPr>
          <p:nvPr/>
        </p:nvSpPr>
        <p:spPr>
          <a:xfrm>
            <a:off x="634999" y="1137920"/>
            <a:ext cx="2788921" cy="5029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major advantage of inheritance is that once we have created a superclass that defines the attributes common to a set of objects, it can be used to create any number of more specific subclasses.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Each subclass can precisely tailor its own classification.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44089A-CC27-0EB1-0237-E1BBD3629838}"/>
              </a:ext>
            </a:extLst>
          </p:cNvPr>
          <p:cNvGrpSpPr/>
          <p:nvPr/>
        </p:nvGrpSpPr>
        <p:grpSpPr>
          <a:xfrm>
            <a:off x="3822387" y="899882"/>
            <a:ext cx="7734614" cy="5686846"/>
            <a:chOff x="3822387" y="666202"/>
            <a:chExt cx="7734614" cy="56868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B4A689-1EF6-D6AA-6F9E-33403C7C2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2387" y="951992"/>
              <a:ext cx="7734614" cy="540105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24DC8BD-F7FE-4CD1-6832-0E1744792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2387" y="666202"/>
              <a:ext cx="5277587" cy="28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06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0F36A-35EE-89E8-CD9C-410DBC83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0018A3-4D82-AF8D-4D87-98E74576C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37817"/>
            <a:ext cx="1106424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 Superclass Variable Can Reference a Subclass Object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74E198-86F8-5726-454F-CB277D206E96}"/>
              </a:ext>
            </a:extLst>
          </p:cNvPr>
          <p:cNvSpPr txBox="1">
            <a:spLocks/>
          </p:cNvSpPr>
          <p:nvPr/>
        </p:nvSpPr>
        <p:spPr>
          <a:xfrm>
            <a:off x="1140459" y="614023"/>
            <a:ext cx="10205721" cy="75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reference variable of a superclass can be assigned a reference to any subclass derived from that superclass.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4BD8D-8A03-5E32-9605-805269107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0" y="1436983"/>
            <a:ext cx="5149439" cy="46590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ED8D70-C15F-5BE8-FCDD-484ED90AC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072" y="1436983"/>
            <a:ext cx="6389528" cy="34209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BC2B2A-7FD0-F9B8-1681-D297530B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805" y="5547237"/>
            <a:ext cx="3167674" cy="8812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B0E462B-330A-4F1C-6D51-9753F0B5620C}"/>
              </a:ext>
            </a:extLst>
          </p:cNvPr>
          <p:cNvSpPr txBox="1">
            <a:spLocks/>
          </p:cNvSpPr>
          <p:nvPr/>
        </p:nvSpPr>
        <p:spPr>
          <a:xfrm>
            <a:off x="8132274" y="5012625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436049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1CD09-BA86-A38A-7E91-F2683E19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8811C4-B79E-D4CA-97CE-CE795ADC7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37817"/>
            <a:ext cx="1106424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 Superclass Variable Can Reference a Subclass Object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74B0DB-C3D1-C3F6-8FA5-815475A7F1A3}"/>
              </a:ext>
            </a:extLst>
          </p:cNvPr>
          <p:cNvSpPr txBox="1">
            <a:spLocks/>
          </p:cNvSpPr>
          <p:nvPr/>
        </p:nvSpPr>
        <p:spPr>
          <a:xfrm>
            <a:off x="711200" y="1158240"/>
            <a:ext cx="10871200" cy="5455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It is important to understand that it is the type of the reference variable — not the type of the object that it refers to — that determines what members can be accessed.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That is, when a reference to a subclass object is assigned to a superclass reference variable, we will have access only to those parts of the object defined by the superclass.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is why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plainbox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can't access weight even when it refers to a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object.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makes sense because the superclass has no knowledge of what a subclass adds to it.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is why the last line of code in the previous slide is commented out.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It is not possible for a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reference to access the weight field because the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class does not define the weight field.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approach has some important practical applications, which are discussed later.</a:t>
            </a:r>
          </a:p>
        </p:txBody>
      </p:sp>
    </p:spTree>
    <p:extLst>
      <p:ext uri="{BB962C8B-B14F-4D97-AF65-F5344CB8AC3E}">
        <p14:creationId xmlns:p14="http://schemas.microsoft.com/office/powerpoint/2010/main" val="257827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24409</TotalTime>
  <Words>571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Garamond</vt:lpstr>
      <vt:lpstr>TimesLTStd-Roman</vt:lpstr>
      <vt:lpstr>Office Theme</vt:lpstr>
      <vt:lpstr>Inheritance Part 1  Java - The Complete Reference  Herbert Schildt Chapter 8 </vt:lpstr>
      <vt:lpstr>Outline</vt:lpstr>
      <vt:lpstr>PowerPoint Presentation</vt:lpstr>
      <vt:lpstr>Inheritance Basics</vt:lpstr>
      <vt:lpstr>Inheritance Basics</vt:lpstr>
      <vt:lpstr>Example: Simple Inheritance</vt:lpstr>
      <vt:lpstr>Inheritance Rules</vt:lpstr>
      <vt:lpstr>Member Access and Inheritance</vt:lpstr>
      <vt:lpstr>A More Practical Example</vt:lpstr>
      <vt:lpstr>A More Practical Example</vt:lpstr>
      <vt:lpstr>A Superclass Variable Can Reference a Subclass Object</vt:lpstr>
      <vt:lpstr>A Superclass Variable Can Reference a Subclass Object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3260</cp:revision>
  <dcterms:created xsi:type="dcterms:W3CDTF">2023-02-09T14:28:53Z</dcterms:created>
  <dcterms:modified xsi:type="dcterms:W3CDTF">2025-11-23T18:26:27Z</dcterms:modified>
</cp:coreProperties>
</file>