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314" r:id="rId2"/>
    <p:sldId id="332" r:id="rId3"/>
    <p:sldId id="430" r:id="rId4"/>
    <p:sldId id="426" r:id="rId5"/>
    <p:sldId id="431" r:id="rId6"/>
    <p:sldId id="432" r:id="rId7"/>
    <p:sldId id="434" r:id="rId8"/>
    <p:sldId id="433" r:id="rId9"/>
    <p:sldId id="436" r:id="rId10"/>
    <p:sldId id="435" r:id="rId11"/>
    <p:sldId id="437" r:id="rId12"/>
    <p:sldId id="438" r:id="rId13"/>
    <p:sldId id="439" r:id="rId14"/>
    <p:sldId id="440" r:id="rId15"/>
    <p:sldId id="441" r:id="rId16"/>
    <p:sldId id="443" r:id="rId17"/>
    <p:sldId id="442" r:id="rId18"/>
    <p:sldId id="444" r:id="rId19"/>
    <p:sldId id="445" r:id="rId20"/>
    <p:sldId id="446" r:id="rId21"/>
    <p:sldId id="448" r:id="rId22"/>
    <p:sldId id="44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/>
              <a:t>Introducing Classes</a:t>
            </a:r>
            <a:br>
              <a:rPr lang="en-US" b="1" dirty="0"/>
            </a:br>
            <a:r>
              <a:rPr lang="en-US" sz="4000" b="1" dirty="0"/>
              <a:t>Part 2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6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254475" y="1239520"/>
            <a:ext cx="10653045" cy="54559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Constructors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Default Constructor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Parameterized Constructors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keyword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Instance Variable Hiding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Garbage Collection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method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A Stack Class</a:t>
            </a: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Constructors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09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Constructors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constructor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is a 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special method that 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initializes an object immediately upon creation.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It has the </a:t>
            </a:r>
            <a:r>
              <a:rPr lang="en-US" sz="2400" i="1" u="none" strike="noStrike" baseline="0" dirty="0">
                <a:solidFill>
                  <a:srgbClr val="000000"/>
                </a:solidFill>
                <a:latin typeface="TimesLTStd-Roman"/>
              </a:rPr>
              <a:t>same name as the class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in which it resides and is syntactically similar to a method.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Once defined, the constructor is </a:t>
            </a:r>
            <a:r>
              <a:rPr lang="en-US" sz="2400" i="1" u="none" strike="noStrike" baseline="0" dirty="0">
                <a:solidFill>
                  <a:srgbClr val="000000"/>
                </a:solidFill>
                <a:latin typeface="TimesLTStd-Roman"/>
              </a:rPr>
              <a:t>automatically called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when the object is created, before the new operator completes.</a:t>
            </a:r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i="1" u="none" strike="noStrike" baseline="0" dirty="0">
                <a:solidFill>
                  <a:srgbClr val="000000"/>
                </a:solidFill>
                <a:latin typeface="TimesLTStd-Roman"/>
              </a:rPr>
              <a:t>Constructors do not have any return type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, not even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lvl="1"/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implicit return type of a </a:t>
            </a:r>
            <a:r>
              <a:rPr lang="en-US" u="none" strike="noStrike" baseline="0" dirty="0" err="1">
                <a:solidFill>
                  <a:srgbClr val="000000"/>
                </a:solidFill>
                <a:latin typeface="TimesLTStd-Roman"/>
              </a:rPr>
              <a:t>class’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constructor is the class type itself.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It is the constructor’s job to initialize the internal state of an object so that the code creating an instance will have a fully initialized, usable object immediately.</a:t>
            </a:r>
          </a:p>
        </p:txBody>
      </p:sp>
    </p:spTree>
    <p:extLst>
      <p:ext uri="{BB962C8B-B14F-4D97-AF65-F5344CB8AC3E}">
        <p14:creationId xmlns:p14="http://schemas.microsoft.com/office/powerpoint/2010/main" val="148784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0C8B-F240-61EF-D704-F3F7DB5C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627DDC-C0DC-E567-0035-7A48A275C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Constructors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B9EB448-B519-82F5-6FD5-03193DBC43DA}"/>
              </a:ext>
            </a:extLst>
          </p:cNvPr>
          <p:cNvSpPr txBox="1">
            <a:spLocks/>
          </p:cNvSpPr>
          <p:nvPr/>
        </p:nvSpPr>
        <p:spPr>
          <a:xfrm>
            <a:off x="7857905" y="1046480"/>
            <a:ext cx="2850734" cy="467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AEC19-A602-BC5C-C992-14035FD05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736289"/>
            <a:ext cx="4941035" cy="60201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282A96-34DA-3030-D0DF-02DE6961F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904" y="1513840"/>
            <a:ext cx="2850735" cy="13732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9517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7663-9E41-50D0-6FCE-EC3AC50E8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CE01B1-F7D4-1C40-EBA8-3B864700A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Default Constructor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65EBDD8-97D2-0ACA-0AF1-28D789933160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we do not explicitly define a constructor for a class, Java creates a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default constructor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for the class.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default constructor automatically initializes all instance variables to their default values, which are as follows: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default constructor is often sufficient for simple classes, but it usually won’t do for more sophisticated ones.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Once you define your own constructor, the default constructor is no longer used.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1DFA8D-F4E6-A0E1-CFC2-7BD2E4018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1822"/>
              </p:ext>
            </p:extLst>
          </p:nvPr>
        </p:nvGraphicFramePr>
        <p:xfrm>
          <a:off x="1658192" y="3139440"/>
          <a:ext cx="8481489" cy="1209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27163">
                  <a:extLst>
                    <a:ext uri="{9D8B030D-6E8A-4147-A177-3AD203B41FA5}">
                      <a16:colId xmlns:a16="http://schemas.microsoft.com/office/drawing/2014/main" val="2155569226"/>
                    </a:ext>
                  </a:extLst>
                </a:gridCol>
                <a:gridCol w="2827163">
                  <a:extLst>
                    <a:ext uri="{9D8B030D-6E8A-4147-A177-3AD203B41FA5}">
                      <a16:colId xmlns:a16="http://schemas.microsoft.com/office/drawing/2014/main" val="2143454591"/>
                    </a:ext>
                  </a:extLst>
                </a:gridCol>
                <a:gridCol w="2827163">
                  <a:extLst>
                    <a:ext uri="{9D8B030D-6E8A-4147-A177-3AD203B41FA5}">
                      <a16:colId xmlns:a16="http://schemas.microsoft.com/office/drawing/2014/main" val="639653551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Reference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7657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27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600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E8D3-A4D6-667B-8549-ED39DD56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623F-13E6-83C9-6504-FC867CEEA85F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Parameterized Constructors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35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EC46-D6A0-D96E-01F7-2FD554060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181D81-F120-A735-7CA4-6A3F12499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Parameterized Constructors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BCFF65-618C-7528-5AF4-69465E9A07B1}"/>
              </a:ext>
            </a:extLst>
          </p:cNvPr>
          <p:cNvSpPr txBox="1">
            <a:spLocks/>
          </p:cNvSpPr>
          <p:nvPr/>
        </p:nvSpPr>
        <p:spPr>
          <a:xfrm>
            <a:off x="695391" y="1158240"/>
            <a:ext cx="5197126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Parameters can be passed to constructors to initialize each object separately.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Parameterized constructors are very common in Java programs.</a:t>
            </a:r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36311-A7DB-4F99-9EFA-3A9404FDF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90" y="721547"/>
            <a:ext cx="5197125" cy="59737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69866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AC38D-2C49-F677-4FB2-1AECC87B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7490A3-0EC7-EDF8-989C-9CA6220C346B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The </a:t>
            </a:r>
            <a:r>
              <a:rPr lang="en-US" sz="4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4800" b="1" dirty="0">
                <a:solidFill>
                  <a:srgbClr val="0070C0"/>
                </a:solidFill>
              </a:rPr>
              <a:t> keyword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56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63D3-5814-2F79-0BF6-1EF756FF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769E1E-9273-6EF4-B8D7-6F4DF94ED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4000" b="1" dirty="0">
                <a:solidFill>
                  <a:schemeClr val="bg1"/>
                </a:solidFill>
              </a:rPr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34BA5-2CE9-0A68-792E-BDFC3162B610}"/>
              </a:ext>
            </a:extLst>
          </p:cNvPr>
          <p:cNvSpPr txBox="1">
            <a:spLocks/>
          </p:cNvSpPr>
          <p:nvPr/>
        </p:nvSpPr>
        <p:spPr>
          <a:xfrm>
            <a:off x="1254475" y="985520"/>
            <a:ext cx="10693969" cy="318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Sometimes a method will need to refer to the object that invoked it.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To allow this, Java defines the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keyword. </a:t>
            </a:r>
          </a:p>
          <a:p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can be used inside any method to refer to the current object.</a:t>
            </a:r>
          </a:p>
          <a:p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is always a reference to the object on which the method was invoked.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We can use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anywhere a reference to an object of the current </a:t>
            </a:r>
            <a:r>
              <a:rPr lang="en-US" sz="2400" u="none" strike="noStrike" baseline="0" dirty="0" err="1">
                <a:solidFill>
                  <a:srgbClr val="000000"/>
                </a:solidFill>
                <a:latin typeface="TimesLTStd-Roman"/>
              </a:rPr>
              <a:t>class’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type is permitted.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FEC0BD-384D-A8DA-15BE-AFF2C2A9D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4537097"/>
            <a:ext cx="5731652" cy="16973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2D164-48DE-246E-1054-D5D6D031CDE1}"/>
              </a:ext>
            </a:extLst>
          </p:cNvPr>
          <p:cNvSpPr txBox="1">
            <a:spLocks/>
          </p:cNvSpPr>
          <p:nvPr/>
        </p:nvSpPr>
        <p:spPr>
          <a:xfrm>
            <a:off x="7715950" y="4537097"/>
            <a:ext cx="3581685" cy="1948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the code, the use of this is redundant, but perfectly correct.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655054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5078-68D7-BA97-9199-0898C14F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A53B9C-3059-C78F-9A54-4964ABC4B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Variable Hiding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F9CF8-809D-EC83-9AE7-4C349AE38377}"/>
              </a:ext>
            </a:extLst>
          </p:cNvPr>
          <p:cNvSpPr txBox="1">
            <a:spLocks/>
          </p:cNvSpPr>
          <p:nvPr/>
        </p:nvSpPr>
        <p:spPr>
          <a:xfrm>
            <a:off x="898306" y="985520"/>
            <a:ext cx="10693969" cy="318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Java, it is illegal to declare two local variables with the same name inside the same or enclosing scopes.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However, we can have local variables, including formal parameters to methods, which overlap with the names of the </a:t>
            </a:r>
            <a:r>
              <a:rPr lang="en-US" sz="2400" u="none" strike="noStrike" baseline="0" dirty="0" err="1">
                <a:solidFill>
                  <a:srgbClr val="000000"/>
                </a:solidFill>
                <a:latin typeface="TimesLTStd-Roman"/>
              </a:rPr>
              <a:t>class’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instance variables.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a local variable has the same name as an instance variable, the local variable hides the instance variable.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E6014B-7EA9-F037-38A3-86E9CB985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3639706"/>
            <a:ext cx="5386316" cy="30455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DD94669-E86B-D8C7-C5E6-3A6E3F52F05C}"/>
              </a:ext>
            </a:extLst>
          </p:cNvPr>
          <p:cNvSpPr txBox="1">
            <a:spLocks/>
          </p:cNvSpPr>
          <p:nvPr/>
        </p:nvSpPr>
        <p:spPr>
          <a:xfrm>
            <a:off x="7284720" y="3724296"/>
            <a:ext cx="4185920" cy="271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the code,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refers to the formal parameter, hiding the instance variable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So, Java compiler provides warning.</a:t>
            </a:r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518829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75A7-2424-7750-5FB2-BE3C89B0C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67BE0E-3404-B57E-842F-02475C955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Solution to Instance Variable Hiding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96A7-8F66-6BAF-4854-1799EE5C40C1}"/>
              </a:ext>
            </a:extLst>
          </p:cNvPr>
          <p:cNvSpPr txBox="1">
            <a:spLocks/>
          </p:cNvSpPr>
          <p:nvPr/>
        </p:nvSpPr>
        <p:spPr>
          <a:xfrm>
            <a:off x="898306" y="985520"/>
            <a:ext cx="10693969" cy="318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One solution is to use different names.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Another solution is to use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keyword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Because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lets us refer directly to the object, we can use it to resolve any namespace collisions that might occur between instance variables and local variables.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4C425D6-CED7-19DF-5FFB-57426E179A8E}"/>
              </a:ext>
            </a:extLst>
          </p:cNvPr>
          <p:cNvSpPr txBox="1">
            <a:spLocks/>
          </p:cNvSpPr>
          <p:nvPr/>
        </p:nvSpPr>
        <p:spPr>
          <a:xfrm>
            <a:off x="7284720" y="3724296"/>
            <a:ext cx="4541520" cy="271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the code,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refers to the formal parameter and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this.width 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refers to the instance variable.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Some programmers prefer to use different names, others prefer using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keyword.</a:t>
            </a:r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2D672-AC38-8A59-7DBB-4D664D0AD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3429000"/>
            <a:ext cx="5871219" cy="32867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95174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978A9-5D01-F84A-A3D6-F7615890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6E4D3E-2541-F159-83AF-B0C9C670A3A2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Garbage Collection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66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3E802-9548-39C1-6571-22E0B50B7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FE2333-5BE5-4868-4282-B582C9D4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Garbage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D36ED-2F8F-EEDE-EF02-B226A98DAA6B}"/>
              </a:ext>
            </a:extLst>
          </p:cNvPr>
          <p:cNvSpPr txBox="1">
            <a:spLocks/>
          </p:cNvSpPr>
          <p:nvPr/>
        </p:nvSpPr>
        <p:spPr>
          <a:xfrm>
            <a:off x="762000" y="1270000"/>
            <a:ext cx="10830275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Java, objects are dynamically allocated by using the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operator.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So, how objects are destroyed, and their memory released for later allocation? </a:t>
            </a:r>
          </a:p>
          <a:p>
            <a:pPr lvl="1"/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In C,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function is used. In C++,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operator is used.</a:t>
            </a:r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 uses a mechanism called </a:t>
            </a:r>
            <a:r>
              <a:rPr lang="en-US" sz="2400" b="1" i="1" dirty="0">
                <a:solidFill>
                  <a:srgbClr val="000000"/>
                </a:solidFill>
                <a:latin typeface="TimesLTStd-Roman"/>
              </a:rPr>
              <a:t>Garbage Collection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to handle deallocation automatically for programmers.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When no references to an object exist, that object is assumed to be no longer needed, and the memory occupied by the object can be reclaimed.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Garbage Collector only runs sporadically (if at all) during the execution of your program.</a:t>
            </a:r>
          </a:p>
        </p:txBody>
      </p:sp>
    </p:spTree>
    <p:extLst>
      <p:ext uri="{BB962C8B-B14F-4D97-AF65-F5344CB8AC3E}">
        <p14:creationId xmlns:p14="http://schemas.microsoft.com/office/powerpoint/2010/main" val="963486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1E91-0A0B-1D95-92E6-4EE2E407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DE251B-33E1-010B-5236-078C9E28F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Garbage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185E2-69A3-3FDD-B1EF-297557AF594D}"/>
              </a:ext>
            </a:extLst>
          </p:cNvPr>
          <p:cNvSpPr txBox="1">
            <a:spLocks/>
          </p:cNvSpPr>
          <p:nvPr/>
        </p:nvSpPr>
        <p:spPr>
          <a:xfrm>
            <a:off x="762000" y="1117600"/>
            <a:ext cx="10830275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JVM monitors the program's memory usage and runs the garbage collector when certain conditions are met.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It can depend on the following factors: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JVM implementation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Available system resources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Amount of memory allocated by the program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Size of the heap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The age of objects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The amount of garbage present in memory</a:t>
            </a:r>
          </a:p>
          <a:p>
            <a:pPr lvl="1"/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Advantage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: It remove the burden of releasing memory from programmers.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676192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C959C-66C2-DB27-6024-D617DD40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612B4B-F97C-4D6E-79CC-A89D4E235C22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The </a:t>
            </a:r>
            <a:r>
              <a:rPr lang="en-US" sz="4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sz="4800" b="1" dirty="0">
                <a:solidFill>
                  <a:srgbClr val="0070C0"/>
                </a:solidFill>
              </a:rPr>
              <a:t> method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006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97E75-EB03-C831-63C1-216153714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39671B-7887-B7E1-3BD1-C39104684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sz="4000" b="1" dirty="0">
                <a:solidFill>
                  <a:schemeClr val="bg1"/>
                </a:solidFill>
              </a:rPr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2B59-A79C-FEEE-49F1-70FFE5BCD2C0}"/>
              </a:ext>
            </a:extLst>
          </p:cNvPr>
          <p:cNvSpPr txBox="1">
            <a:spLocks/>
          </p:cNvSpPr>
          <p:nvPr/>
        </p:nvSpPr>
        <p:spPr>
          <a:xfrm>
            <a:off x="762000" y="1117600"/>
            <a:ext cx="11084560" cy="565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Sometimes an object will need to perform some action when it is destroyed.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Releasing non-Java resource such as a file handle or database connections.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Java provides a mechanism called finalization.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We simply need to define the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method for the class.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Java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Garbage Collection 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calls the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method whenever it is about to recycle an object of that class.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Inside the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method, we need to specify those actions that must be performed before an object is destroyed.</a:t>
            </a:r>
          </a:p>
        </p:txBody>
      </p:sp>
    </p:spTree>
    <p:extLst>
      <p:ext uri="{BB962C8B-B14F-4D97-AF65-F5344CB8AC3E}">
        <p14:creationId xmlns:p14="http://schemas.microsoft.com/office/powerpoint/2010/main" val="2513844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A82AF-B777-6BCF-5DB2-668F8C0E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577FA3-596D-936D-64C6-4CB852520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sz="4000" b="1" dirty="0">
                <a:solidFill>
                  <a:schemeClr val="bg1"/>
                </a:solidFill>
              </a:rPr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C162-060D-E29C-2CC0-BE2156CACDD2}"/>
              </a:ext>
            </a:extLst>
          </p:cNvPr>
          <p:cNvSpPr txBox="1">
            <a:spLocks/>
          </p:cNvSpPr>
          <p:nvPr/>
        </p:nvSpPr>
        <p:spPr>
          <a:xfrm>
            <a:off x="762000" y="1117600"/>
            <a:ext cx="11084560" cy="565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General form: </a:t>
            </a: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method is somewhat similar to the destructor function in C++.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As of Java 9, the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finalize()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method has been deprecated.</a:t>
            </a:r>
          </a:p>
          <a:p>
            <a:pPr lvl="1"/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Better mechanisms for resource management, such as </a:t>
            </a:r>
            <a:r>
              <a:rPr lang="en-US" sz="2800" i="1" u="none" strike="noStrike" baseline="0" dirty="0">
                <a:solidFill>
                  <a:srgbClr val="000000"/>
                </a:solidFill>
                <a:latin typeface="TimesLTStd-Roman"/>
              </a:rPr>
              <a:t>try-with-resources</a:t>
            </a:r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sz="2800" b="1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AutoCloseable</a:t>
            </a:r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 interface, should be used.</a:t>
            </a: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0F076-1E93-4C87-DE34-EB6B7464E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969" y="1773541"/>
            <a:ext cx="6006664" cy="13658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12425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D46B-59BB-0AFF-8AFF-86A90F715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15D2F9-FBCC-CAF5-D231-A33C110C2A6B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 Stack Class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536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3C582-5B42-E170-789A-38D44000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E446D3-D6AA-9E77-C2E6-216E515F5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Stack 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A898B-6639-7128-0E89-A4B230BB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86" y="1026688"/>
            <a:ext cx="5393793" cy="55735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9C1A80-FDAB-467D-A853-5980E6F91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75" y="1026688"/>
            <a:ext cx="5413575" cy="45409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583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961F4-CDE0-AE9B-B5AE-67A1CACAF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33CD65-039B-5669-28E0-8D11F5930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Stack Class: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4990-F2B9-B06E-A638-FB06802ECFDD}"/>
              </a:ext>
            </a:extLst>
          </p:cNvPr>
          <p:cNvSpPr txBox="1">
            <a:spLocks/>
          </p:cNvSpPr>
          <p:nvPr/>
        </p:nvSpPr>
        <p:spPr>
          <a:xfrm>
            <a:off x="762000" y="1117600"/>
            <a:ext cx="11084560" cy="565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stack stores data using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first-in, last-out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(LIFO)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ordering.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Stacks are controlled through two operations traditionally called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push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pop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As we can see in the code, 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class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encapsulates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the entire stack mechanism and its associated data.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We can use the class through its methods without having to worry about the details of its implementation or how the data is actually managed within the 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a sense, a class is like a “data engine.”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No knowledge of what goes on inside the engine is required to use the engine through its controls.</a:t>
            </a:r>
          </a:p>
        </p:txBody>
      </p:sp>
    </p:spTree>
    <p:extLst>
      <p:ext uri="{BB962C8B-B14F-4D97-AF65-F5344CB8AC3E}">
        <p14:creationId xmlns:p14="http://schemas.microsoft.com/office/powerpoint/2010/main" val="1625365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60F6A-55B9-D3E6-0006-C296D9B3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33E592-A4A2-4AF3-FBF5-F25BA12AC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Stack Class: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81D17-92A3-773A-806C-C99393823747}"/>
              </a:ext>
            </a:extLst>
          </p:cNvPr>
          <p:cNvSpPr txBox="1">
            <a:spLocks/>
          </p:cNvSpPr>
          <p:nvPr/>
        </p:nvSpPr>
        <p:spPr>
          <a:xfrm>
            <a:off x="762000" y="1117600"/>
            <a:ext cx="11084560" cy="565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Since access to the stack is through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the fact that the stack is held in an array is actually not relevant to using the stack.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For example, the stack could be held in a more complicated data structure, such as a linked list, yet the interface defined by push( ) and pop( ) would remain the same.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Last point: It is possible for the array that holds the stack,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stck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to be altered by code outside of the Stack class.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This leaves Stack open to misuse or mischief.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We can use </a:t>
            </a:r>
            <a:r>
              <a:rPr lang="en-US" sz="2800" b="1" i="1" dirty="0">
                <a:solidFill>
                  <a:srgbClr val="000000"/>
                </a:solidFill>
                <a:latin typeface="TimesLTStd-Roman"/>
              </a:rPr>
              <a:t>Access Modifiers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 to solve this issue.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3241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22041</TotalTime>
  <Words>1101</Words>
  <Application>Microsoft Office PowerPoint</Application>
  <PresentationFormat>Widescreen</PresentationFormat>
  <Paragraphs>109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Courier New</vt:lpstr>
      <vt:lpstr>Garamond</vt:lpstr>
      <vt:lpstr>Times New Roman</vt:lpstr>
      <vt:lpstr>TimesLTStd-Roman</vt:lpstr>
      <vt:lpstr>Office Theme</vt:lpstr>
      <vt:lpstr>Introducing Classes Part 2  Java - The Complete Reference  Herbert Schildt Chapter 6 </vt:lpstr>
      <vt:lpstr>Outline</vt:lpstr>
      <vt:lpstr>PowerPoint Presentation</vt:lpstr>
      <vt:lpstr>Constructors</vt:lpstr>
      <vt:lpstr>Constructors</vt:lpstr>
      <vt:lpstr>Default Constructor</vt:lpstr>
      <vt:lpstr>PowerPoint Presentation</vt:lpstr>
      <vt:lpstr>Parameterized Constructors</vt:lpstr>
      <vt:lpstr>PowerPoint Presentation</vt:lpstr>
      <vt:lpstr>The this keyword</vt:lpstr>
      <vt:lpstr>Instance Variable Hiding</vt:lpstr>
      <vt:lpstr>Solution to Instance Variable Hiding</vt:lpstr>
      <vt:lpstr>PowerPoint Presentation</vt:lpstr>
      <vt:lpstr>Garbage Collection</vt:lpstr>
      <vt:lpstr>Garbage Collection</vt:lpstr>
      <vt:lpstr>PowerPoint Presentation</vt:lpstr>
      <vt:lpstr>The finalize() Method</vt:lpstr>
      <vt:lpstr>The finalize() Method</vt:lpstr>
      <vt:lpstr>PowerPoint Presentation</vt:lpstr>
      <vt:lpstr>A Stack Class</vt:lpstr>
      <vt:lpstr>A Stack Class: Analysis</vt:lpstr>
      <vt:lpstr>A Stack Class: Analysis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2908</cp:revision>
  <dcterms:created xsi:type="dcterms:W3CDTF">2023-02-09T14:28:53Z</dcterms:created>
  <dcterms:modified xsi:type="dcterms:W3CDTF">2025-10-14T20:43:35Z</dcterms:modified>
</cp:coreProperties>
</file>