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9"/>
  </p:notesMasterIdLst>
  <p:sldIdLst>
    <p:sldId id="314" r:id="rId2"/>
    <p:sldId id="332" r:id="rId3"/>
    <p:sldId id="440" r:id="rId4"/>
    <p:sldId id="439" r:id="rId5"/>
    <p:sldId id="464" r:id="rId6"/>
    <p:sldId id="441" r:id="rId7"/>
    <p:sldId id="442" r:id="rId8"/>
    <p:sldId id="465" r:id="rId9"/>
    <p:sldId id="443" r:id="rId10"/>
    <p:sldId id="466" r:id="rId11"/>
    <p:sldId id="342" r:id="rId12"/>
    <p:sldId id="341" r:id="rId13"/>
    <p:sldId id="335" r:id="rId14"/>
    <p:sldId id="337" r:id="rId15"/>
    <p:sldId id="338" r:id="rId16"/>
    <p:sldId id="339" r:id="rId17"/>
    <p:sldId id="340" r:id="rId18"/>
    <p:sldId id="467" r:id="rId19"/>
    <p:sldId id="468" r:id="rId20"/>
    <p:sldId id="470" r:id="rId21"/>
    <p:sldId id="471" r:id="rId22"/>
    <p:sldId id="472" r:id="rId23"/>
    <p:sldId id="473" r:id="rId24"/>
    <p:sldId id="474" r:id="rId25"/>
    <p:sldId id="475" r:id="rId26"/>
    <p:sldId id="476" r:id="rId27"/>
    <p:sldId id="47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35" autoAdjust="0"/>
    <p:restoredTop sz="94660"/>
  </p:normalViewPr>
  <p:slideViewPr>
    <p:cSldViewPr snapToGrid="0">
      <p:cViewPr varScale="1">
        <p:scale>
          <a:sx n="63" d="100"/>
          <a:sy n="63" d="100"/>
        </p:scale>
        <p:origin x="90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C7A54E-7FBF-484C-A6C4-F49DDEB3D82F}"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253559-EDE7-4C02-BA95-DAA1E537C5EE}" type="slidenum">
              <a:rPr lang="en-US" smtClean="0"/>
              <a:t>‹#›</a:t>
            </a:fld>
            <a:endParaRPr lang="en-US"/>
          </a:p>
        </p:txBody>
      </p:sp>
    </p:spTree>
    <p:extLst>
      <p:ext uri="{BB962C8B-B14F-4D97-AF65-F5344CB8AC3E}">
        <p14:creationId xmlns:p14="http://schemas.microsoft.com/office/powerpoint/2010/main" val="1237220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EAB8B-5C76-C722-00D1-DAC7530428F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F06F68D-C497-AEB7-900B-72F9DF70FE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AEBD540-8471-3CC1-489E-8B29ACFBF8F5}"/>
              </a:ext>
            </a:extLst>
          </p:cNvPr>
          <p:cNvSpPr>
            <a:spLocks noGrp="1"/>
          </p:cNvSpPr>
          <p:nvPr>
            <p:ph type="dt" sz="half" idx="10"/>
          </p:nvPr>
        </p:nvSpPr>
        <p:spPr/>
        <p:txBody>
          <a:bodyPr/>
          <a:lstStyle/>
          <a:p>
            <a:fld id="{BBF673B2-6760-460E-8AB2-1B6346B18A84}" type="datetime1">
              <a:rPr lang="en-US" smtClean="0"/>
              <a:t>12/2/2025</a:t>
            </a:fld>
            <a:endParaRPr lang="en-US"/>
          </a:p>
        </p:txBody>
      </p:sp>
      <p:sp>
        <p:nvSpPr>
          <p:cNvPr id="5" name="Footer Placeholder 4">
            <a:extLst>
              <a:ext uri="{FF2B5EF4-FFF2-40B4-BE49-F238E27FC236}">
                <a16:creationId xmlns:a16="http://schemas.microsoft.com/office/drawing/2014/main" id="{BF1B27AA-417E-A12A-CDA3-F5C9BB1AD4E7}"/>
              </a:ext>
            </a:extLst>
          </p:cNvPr>
          <p:cNvSpPr>
            <a:spLocks noGrp="1"/>
          </p:cNvSpPr>
          <p:nvPr>
            <p:ph type="ftr" sz="quarter" idx="11"/>
          </p:nvPr>
        </p:nvSpPr>
        <p:spPr/>
        <p:txBody>
          <a:bodyPr/>
          <a:lstStyle/>
          <a:p>
            <a:r>
              <a:rPr lang="en-US"/>
              <a:t>Dr Md Hasanul Ferdaus</a:t>
            </a:r>
          </a:p>
        </p:txBody>
      </p:sp>
      <p:sp>
        <p:nvSpPr>
          <p:cNvPr id="6" name="Slide Number Placeholder 5">
            <a:extLst>
              <a:ext uri="{FF2B5EF4-FFF2-40B4-BE49-F238E27FC236}">
                <a16:creationId xmlns:a16="http://schemas.microsoft.com/office/drawing/2014/main" id="{1E2A8113-F6A5-484E-5494-0615EF5A21E2}"/>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2692389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26495-0061-5791-5A38-5A0AFC9BE25D}"/>
              </a:ext>
            </a:extLst>
          </p:cNvPr>
          <p:cNvSpPr>
            <a:spLocks noGrp="1"/>
          </p:cNvSpPr>
          <p:nvPr>
            <p:ph type="title"/>
          </p:nvPr>
        </p:nvSpPr>
        <p:spPr>
          <a:xfrm>
            <a:off x="838200" y="345247"/>
            <a:ext cx="10515600" cy="1325563"/>
          </a:xfrm>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272F634-39BC-CD34-D2B7-D59AC08EA50F}"/>
              </a:ext>
            </a:extLst>
          </p:cNvPr>
          <p:cNvSpPr>
            <a:spLocks noGrp="1"/>
          </p:cNvSpPr>
          <p:nvPr>
            <p:ph idx="1"/>
          </p:nvPr>
        </p:nvSpPr>
        <p:spPr/>
        <p:txBody>
          <a:bodyPr/>
          <a:lstStyle>
            <a:lvl1pPr>
              <a:spcBef>
                <a:spcPts val="2000"/>
              </a:spcBef>
              <a:defRPr/>
            </a:lvl1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36F51E01-2F17-6C27-DD5D-FB487D781991}"/>
              </a:ext>
            </a:extLst>
          </p:cNvPr>
          <p:cNvSpPr>
            <a:spLocks noGrp="1"/>
          </p:cNvSpPr>
          <p:nvPr>
            <p:ph type="dt" sz="half" idx="10"/>
          </p:nvPr>
        </p:nvSpPr>
        <p:spPr/>
        <p:txBody>
          <a:bodyPr/>
          <a:lstStyle/>
          <a:p>
            <a:fld id="{0964B1D3-9AAB-42E9-AB25-5F62B3993181}" type="datetime1">
              <a:rPr lang="en-US" smtClean="0"/>
              <a:t>12/2/2025</a:t>
            </a:fld>
            <a:endParaRPr lang="en-US"/>
          </a:p>
        </p:txBody>
      </p:sp>
      <p:sp>
        <p:nvSpPr>
          <p:cNvPr id="5" name="Footer Placeholder 4">
            <a:extLst>
              <a:ext uri="{FF2B5EF4-FFF2-40B4-BE49-F238E27FC236}">
                <a16:creationId xmlns:a16="http://schemas.microsoft.com/office/drawing/2014/main" id="{C32811C3-DD84-2EDE-7E67-992548CCA0C7}"/>
              </a:ext>
            </a:extLst>
          </p:cNvPr>
          <p:cNvSpPr>
            <a:spLocks noGrp="1"/>
          </p:cNvSpPr>
          <p:nvPr>
            <p:ph type="ftr" sz="quarter" idx="11"/>
          </p:nvPr>
        </p:nvSpPr>
        <p:spPr/>
        <p:txBody>
          <a:bodyPr/>
          <a:lstStyle/>
          <a:p>
            <a:r>
              <a:rPr lang="en-US"/>
              <a:t>Dr Md Hasanul Ferdaus</a:t>
            </a:r>
          </a:p>
        </p:txBody>
      </p:sp>
      <p:sp>
        <p:nvSpPr>
          <p:cNvPr id="6" name="Slide Number Placeholder 5">
            <a:extLst>
              <a:ext uri="{FF2B5EF4-FFF2-40B4-BE49-F238E27FC236}">
                <a16:creationId xmlns:a16="http://schemas.microsoft.com/office/drawing/2014/main" id="{15665F33-AE4E-249C-027B-140C0A1EAAB0}"/>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1591236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D37C1-B2F4-BC78-D77F-B4E7274A534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1284A79-9A15-99B9-D8D8-EDE5518E53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8116644-FD0E-9D40-6531-6A53287479F2}"/>
              </a:ext>
            </a:extLst>
          </p:cNvPr>
          <p:cNvSpPr>
            <a:spLocks noGrp="1"/>
          </p:cNvSpPr>
          <p:nvPr>
            <p:ph type="dt" sz="half" idx="10"/>
          </p:nvPr>
        </p:nvSpPr>
        <p:spPr/>
        <p:txBody>
          <a:bodyPr/>
          <a:lstStyle/>
          <a:p>
            <a:fld id="{0CE996A2-8E33-4AA5-9781-C6800CE55457}" type="datetime1">
              <a:rPr lang="en-US" smtClean="0"/>
              <a:t>12/2/2025</a:t>
            </a:fld>
            <a:endParaRPr lang="en-US"/>
          </a:p>
        </p:txBody>
      </p:sp>
      <p:sp>
        <p:nvSpPr>
          <p:cNvPr id="5" name="Footer Placeholder 4">
            <a:extLst>
              <a:ext uri="{FF2B5EF4-FFF2-40B4-BE49-F238E27FC236}">
                <a16:creationId xmlns:a16="http://schemas.microsoft.com/office/drawing/2014/main" id="{2B8D77DA-16F7-0F88-6569-ED49E4BCA51B}"/>
              </a:ext>
            </a:extLst>
          </p:cNvPr>
          <p:cNvSpPr>
            <a:spLocks noGrp="1"/>
          </p:cNvSpPr>
          <p:nvPr>
            <p:ph type="ftr" sz="quarter" idx="11"/>
          </p:nvPr>
        </p:nvSpPr>
        <p:spPr/>
        <p:txBody>
          <a:bodyPr/>
          <a:lstStyle/>
          <a:p>
            <a:r>
              <a:rPr lang="en-US"/>
              <a:t>Dr Md Hasanul Ferdaus</a:t>
            </a:r>
          </a:p>
        </p:txBody>
      </p:sp>
      <p:sp>
        <p:nvSpPr>
          <p:cNvPr id="6" name="Slide Number Placeholder 5">
            <a:extLst>
              <a:ext uri="{FF2B5EF4-FFF2-40B4-BE49-F238E27FC236}">
                <a16:creationId xmlns:a16="http://schemas.microsoft.com/office/drawing/2014/main" id="{2EC7B42E-ECD0-B9B5-10EF-56F6A04427DB}"/>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400043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ABE06-074E-745A-EA35-B8623E5A651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D1005C4-6760-E9B2-E4C9-8E838AE1553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BEDAECE-5C9F-BC28-1E10-2C65B4BF577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0B9E206-6B24-5286-9583-7B4CEA9533CF}"/>
              </a:ext>
            </a:extLst>
          </p:cNvPr>
          <p:cNvSpPr>
            <a:spLocks noGrp="1"/>
          </p:cNvSpPr>
          <p:nvPr>
            <p:ph type="dt" sz="half" idx="10"/>
          </p:nvPr>
        </p:nvSpPr>
        <p:spPr/>
        <p:txBody>
          <a:bodyPr/>
          <a:lstStyle/>
          <a:p>
            <a:fld id="{07490BE7-B07C-4974-811F-F976B1E00FA0}" type="datetime1">
              <a:rPr lang="en-US" smtClean="0"/>
              <a:t>12/2/2025</a:t>
            </a:fld>
            <a:endParaRPr lang="en-US"/>
          </a:p>
        </p:txBody>
      </p:sp>
      <p:sp>
        <p:nvSpPr>
          <p:cNvPr id="6" name="Footer Placeholder 5">
            <a:extLst>
              <a:ext uri="{FF2B5EF4-FFF2-40B4-BE49-F238E27FC236}">
                <a16:creationId xmlns:a16="http://schemas.microsoft.com/office/drawing/2014/main" id="{1981EB8B-B73E-C71D-9856-97E87AF532F1}"/>
              </a:ext>
            </a:extLst>
          </p:cNvPr>
          <p:cNvSpPr>
            <a:spLocks noGrp="1"/>
          </p:cNvSpPr>
          <p:nvPr>
            <p:ph type="ftr" sz="quarter" idx="11"/>
          </p:nvPr>
        </p:nvSpPr>
        <p:spPr/>
        <p:txBody>
          <a:bodyPr/>
          <a:lstStyle/>
          <a:p>
            <a:r>
              <a:rPr lang="en-US"/>
              <a:t>Dr Md Hasanul Ferdaus</a:t>
            </a:r>
          </a:p>
        </p:txBody>
      </p:sp>
      <p:sp>
        <p:nvSpPr>
          <p:cNvPr id="7" name="Slide Number Placeholder 6">
            <a:extLst>
              <a:ext uri="{FF2B5EF4-FFF2-40B4-BE49-F238E27FC236}">
                <a16:creationId xmlns:a16="http://schemas.microsoft.com/office/drawing/2014/main" id="{5B405416-485A-C7C9-02B7-70BEA04A7566}"/>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1547732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3EBAD-D597-C90E-60AC-2817F9AFC72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B76C801-BED4-EF07-E88E-D5E1583F4E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D91183F-AF00-7B8B-D8E7-1EEA8E381A3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48281FD7-558D-9B40-28E0-42ECB2AF18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1D580E1-304B-978B-6362-40CEE8C7497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922AA01-469C-6B5F-9F6E-4691CB54EF06}"/>
              </a:ext>
            </a:extLst>
          </p:cNvPr>
          <p:cNvSpPr>
            <a:spLocks noGrp="1"/>
          </p:cNvSpPr>
          <p:nvPr>
            <p:ph type="dt" sz="half" idx="10"/>
          </p:nvPr>
        </p:nvSpPr>
        <p:spPr/>
        <p:txBody>
          <a:bodyPr/>
          <a:lstStyle/>
          <a:p>
            <a:fld id="{E47A41B3-369F-43A4-8A97-D2A32ED460A2}" type="datetime1">
              <a:rPr lang="en-US" smtClean="0"/>
              <a:t>12/2/2025</a:t>
            </a:fld>
            <a:endParaRPr lang="en-US"/>
          </a:p>
        </p:txBody>
      </p:sp>
      <p:sp>
        <p:nvSpPr>
          <p:cNvPr id="8" name="Footer Placeholder 7">
            <a:extLst>
              <a:ext uri="{FF2B5EF4-FFF2-40B4-BE49-F238E27FC236}">
                <a16:creationId xmlns:a16="http://schemas.microsoft.com/office/drawing/2014/main" id="{8F2E6341-BFA5-5BA6-EED9-86CBEAD7929B}"/>
              </a:ext>
            </a:extLst>
          </p:cNvPr>
          <p:cNvSpPr>
            <a:spLocks noGrp="1"/>
          </p:cNvSpPr>
          <p:nvPr>
            <p:ph type="ftr" sz="quarter" idx="11"/>
          </p:nvPr>
        </p:nvSpPr>
        <p:spPr/>
        <p:txBody>
          <a:bodyPr/>
          <a:lstStyle/>
          <a:p>
            <a:r>
              <a:rPr lang="en-US"/>
              <a:t>Dr Md Hasanul Ferdaus</a:t>
            </a:r>
          </a:p>
        </p:txBody>
      </p:sp>
      <p:sp>
        <p:nvSpPr>
          <p:cNvPr id="9" name="Slide Number Placeholder 8">
            <a:extLst>
              <a:ext uri="{FF2B5EF4-FFF2-40B4-BE49-F238E27FC236}">
                <a16:creationId xmlns:a16="http://schemas.microsoft.com/office/drawing/2014/main" id="{F2B04440-B40B-E518-3E1C-ACD9FAD59BA6}"/>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3589046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7C700-C47C-9B28-D3CF-4238312F698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55E8077-BC92-BB8B-F545-54682C304C3E}"/>
              </a:ext>
            </a:extLst>
          </p:cNvPr>
          <p:cNvSpPr>
            <a:spLocks noGrp="1"/>
          </p:cNvSpPr>
          <p:nvPr>
            <p:ph type="dt" sz="half" idx="10"/>
          </p:nvPr>
        </p:nvSpPr>
        <p:spPr/>
        <p:txBody>
          <a:bodyPr/>
          <a:lstStyle/>
          <a:p>
            <a:fld id="{AD45618E-2637-45D6-B9DC-BEC5E50A78A2}" type="datetime1">
              <a:rPr lang="en-US" smtClean="0"/>
              <a:t>12/2/2025</a:t>
            </a:fld>
            <a:endParaRPr lang="en-US"/>
          </a:p>
        </p:txBody>
      </p:sp>
      <p:sp>
        <p:nvSpPr>
          <p:cNvPr id="4" name="Footer Placeholder 3">
            <a:extLst>
              <a:ext uri="{FF2B5EF4-FFF2-40B4-BE49-F238E27FC236}">
                <a16:creationId xmlns:a16="http://schemas.microsoft.com/office/drawing/2014/main" id="{29E7AEA1-0EE9-7275-1F81-B990559758DE}"/>
              </a:ext>
            </a:extLst>
          </p:cNvPr>
          <p:cNvSpPr>
            <a:spLocks noGrp="1"/>
          </p:cNvSpPr>
          <p:nvPr>
            <p:ph type="ftr" sz="quarter" idx="11"/>
          </p:nvPr>
        </p:nvSpPr>
        <p:spPr/>
        <p:txBody>
          <a:bodyPr/>
          <a:lstStyle/>
          <a:p>
            <a:r>
              <a:rPr lang="en-US"/>
              <a:t>Dr Md Hasanul Ferdaus</a:t>
            </a:r>
          </a:p>
        </p:txBody>
      </p:sp>
      <p:sp>
        <p:nvSpPr>
          <p:cNvPr id="5" name="Slide Number Placeholder 4">
            <a:extLst>
              <a:ext uri="{FF2B5EF4-FFF2-40B4-BE49-F238E27FC236}">
                <a16:creationId xmlns:a16="http://schemas.microsoft.com/office/drawing/2014/main" id="{C62E5035-8BC5-52BF-3CA3-9927BD086BBF}"/>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958586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E3BFBF-E3C0-226C-AC1E-4FE521BF8B9E}"/>
              </a:ext>
            </a:extLst>
          </p:cNvPr>
          <p:cNvSpPr>
            <a:spLocks noGrp="1"/>
          </p:cNvSpPr>
          <p:nvPr>
            <p:ph type="dt" sz="half" idx="10"/>
          </p:nvPr>
        </p:nvSpPr>
        <p:spPr/>
        <p:txBody>
          <a:bodyPr/>
          <a:lstStyle/>
          <a:p>
            <a:fld id="{47EAB262-ECF8-4B6F-BF55-2A05210DA752}" type="datetime1">
              <a:rPr lang="en-US" smtClean="0"/>
              <a:t>12/2/2025</a:t>
            </a:fld>
            <a:endParaRPr lang="en-US"/>
          </a:p>
        </p:txBody>
      </p:sp>
      <p:sp>
        <p:nvSpPr>
          <p:cNvPr id="3" name="Footer Placeholder 2">
            <a:extLst>
              <a:ext uri="{FF2B5EF4-FFF2-40B4-BE49-F238E27FC236}">
                <a16:creationId xmlns:a16="http://schemas.microsoft.com/office/drawing/2014/main" id="{12976AD0-825E-15F6-A291-EA2E1C995129}"/>
              </a:ext>
            </a:extLst>
          </p:cNvPr>
          <p:cNvSpPr>
            <a:spLocks noGrp="1"/>
          </p:cNvSpPr>
          <p:nvPr>
            <p:ph type="ftr" sz="quarter" idx="11"/>
          </p:nvPr>
        </p:nvSpPr>
        <p:spPr/>
        <p:txBody>
          <a:bodyPr/>
          <a:lstStyle/>
          <a:p>
            <a:r>
              <a:rPr lang="en-US"/>
              <a:t>Dr Md Hasanul Ferdaus</a:t>
            </a:r>
          </a:p>
        </p:txBody>
      </p:sp>
      <p:sp>
        <p:nvSpPr>
          <p:cNvPr id="4" name="Slide Number Placeholder 3">
            <a:extLst>
              <a:ext uri="{FF2B5EF4-FFF2-40B4-BE49-F238E27FC236}">
                <a16:creationId xmlns:a16="http://schemas.microsoft.com/office/drawing/2014/main" id="{C243E901-4B4C-A93E-A23E-3FBB5B9154BA}"/>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4190495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7912C-9409-0B2C-3373-F987976386F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9CACE39-B0EF-6C74-C153-5E124A55EE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1F40C0A-774A-0624-9C5A-26D12FE62F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69A380C-6AD0-8B17-017C-58B0BB484385}"/>
              </a:ext>
            </a:extLst>
          </p:cNvPr>
          <p:cNvSpPr>
            <a:spLocks noGrp="1"/>
          </p:cNvSpPr>
          <p:nvPr>
            <p:ph type="dt" sz="half" idx="10"/>
          </p:nvPr>
        </p:nvSpPr>
        <p:spPr/>
        <p:txBody>
          <a:bodyPr/>
          <a:lstStyle/>
          <a:p>
            <a:fld id="{F0B2F33B-22BF-4177-90DF-BF8D0C456F5B}" type="datetime1">
              <a:rPr lang="en-US" smtClean="0"/>
              <a:t>12/2/2025</a:t>
            </a:fld>
            <a:endParaRPr lang="en-US"/>
          </a:p>
        </p:txBody>
      </p:sp>
      <p:sp>
        <p:nvSpPr>
          <p:cNvPr id="6" name="Footer Placeholder 5">
            <a:extLst>
              <a:ext uri="{FF2B5EF4-FFF2-40B4-BE49-F238E27FC236}">
                <a16:creationId xmlns:a16="http://schemas.microsoft.com/office/drawing/2014/main" id="{2B65EE64-6285-D945-9A89-68EBEDD3A074}"/>
              </a:ext>
            </a:extLst>
          </p:cNvPr>
          <p:cNvSpPr>
            <a:spLocks noGrp="1"/>
          </p:cNvSpPr>
          <p:nvPr>
            <p:ph type="ftr" sz="quarter" idx="11"/>
          </p:nvPr>
        </p:nvSpPr>
        <p:spPr/>
        <p:txBody>
          <a:bodyPr/>
          <a:lstStyle/>
          <a:p>
            <a:r>
              <a:rPr lang="en-US"/>
              <a:t>Dr Md Hasanul Ferdaus</a:t>
            </a:r>
          </a:p>
        </p:txBody>
      </p:sp>
      <p:sp>
        <p:nvSpPr>
          <p:cNvPr id="7" name="Slide Number Placeholder 6">
            <a:extLst>
              <a:ext uri="{FF2B5EF4-FFF2-40B4-BE49-F238E27FC236}">
                <a16:creationId xmlns:a16="http://schemas.microsoft.com/office/drawing/2014/main" id="{600B2E04-B2E2-8A7F-D973-1A673E4AB421}"/>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2117096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6B042-4F79-C24C-8C42-CAD35CB0C65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E9C3C56-A188-FBFF-5415-A692051528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70A565-6F27-1F77-D869-2B2A21BBC7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17B854-BDF6-DC3F-562B-C99DC19A4A38}"/>
              </a:ext>
            </a:extLst>
          </p:cNvPr>
          <p:cNvSpPr>
            <a:spLocks noGrp="1"/>
          </p:cNvSpPr>
          <p:nvPr>
            <p:ph type="dt" sz="half" idx="10"/>
          </p:nvPr>
        </p:nvSpPr>
        <p:spPr/>
        <p:txBody>
          <a:bodyPr/>
          <a:lstStyle/>
          <a:p>
            <a:fld id="{CCE0386F-1449-4FB9-879F-2818E7EE9A3C}" type="datetime1">
              <a:rPr lang="en-US" smtClean="0"/>
              <a:t>12/2/2025</a:t>
            </a:fld>
            <a:endParaRPr lang="en-US"/>
          </a:p>
        </p:txBody>
      </p:sp>
      <p:sp>
        <p:nvSpPr>
          <p:cNvPr id="6" name="Footer Placeholder 5">
            <a:extLst>
              <a:ext uri="{FF2B5EF4-FFF2-40B4-BE49-F238E27FC236}">
                <a16:creationId xmlns:a16="http://schemas.microsoft.com/office/drawing/2014/main" id="{5C36EA7F-F589-F4EA-6EF6-E63906939B65}"/>
              </a:ext>
            </a:extLst>
          </p:cNvPr>
          <p:cNvSpPr>
            <a:spLocks noGrp="1"/>
          </p:cNvSpPr>
          <p:nvPr>
            <p:ph type="ftr" sz="quarter" idx="11"/>
          </p:nvPr>
        </p:nvSpPr>
        <p:spPr/>
        <p:txBody>
          <a:bodyPr/>
          <a:lstStyle/>
          <a:p>
            <a:r>
              <a:rPr lang="en-US"/>
              <a:t>Dr Md Hasanul Ferdaus</a:t>
            </a:r>
          </a:p>
        </p:txBody>
      </p:sp>
      <p:sp>
        <p:nvSpPr>
          <p:cNvPr id="7" name="Slide Number Placeholder 6">
            <a:extLst>
              <a:ext uri="{FF2B5EF4-FFF2-40B4-BE49-F238E27FC236}">
                <a16:creationId xmlns:a16="http://schemas.microsoft.com/office/drawing/2014/main" id="{F689BCE2-E1AC-ACFB-47B8-2233376BFA21}"/>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1498467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C2272-A2D3-67E5-DF8A-0CC2AA84E29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6508F4B-4649-A77B-1CE8-5D78FA02286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25B2D52-D425-B903-CC42-2CE1988E77BB}"/>
              </a:ext>
            </a:extLst>
          </p:cNvPr>
          <p:cNvSpPr>
            <a:spLocks noGrp="1"/>
          </p:cNvSpPr>
          <p:nvPr>
            <p:ph type="dt" sz="half" idx="10"/>
          </p:nvPr>
        </p:nvSpPr>
        <p:spPr/>
        <p:txBody>
          <a:bodyPr/>
          <a:lstStyle/>
          <a:p>
            <a:fld id="{896B072F-FD1D-4BA2-BB79-3257390C4608}" type="datetime1">
              <a:rPr lang="en-US" smtClean="0"/>
              <a:t>12/2/2025</a:t>
            </a:fld>
            <a:endParaRPr lang="en-US"/>
          </a:p>
        </p:txBody>
      </p:sp>
      <p:sp>
        <p:nvSpPr>
          <p:cNvPr id="5" name="Footer Placeholder 4">
            <a:extLst>
              <a:ext uri="{FF2B5EF4-FFF2-40B4-BE49-F238E27FC236}">
                <a16:creationId xmlns:a16="http://schemas.microsoft.com/office/drawing/2014/main" id="{10251FB8-BDE5-046A-5B22-8E2DA40E954D}"/>
              </a:ext>
            </a:extLst>
          </p:cNvPr>
          <p:cNvSpPr>
            <a:spLocks noGrp="1"/>
          </p:cNvSpPr>
          <p:nvPr>
            <p:ph type="ftr" sz="quarter" idx="11"/>
          </p:nvPr>
        </p:nvSpPr>
        <p:spPr/>
        <p:txBody>
          <a:bodyPr/>
          <a:lstStyle/>
          <a:p>
            <a:r>
              <a:rPr lang="en-US"/>
              <a:t>Dr Md Hasanul Ferdaus</a:t>
            </a:r>
          </a:p>
        </p:txBody>
      </p:sp>
      <p:sp>
        <p:nvSpPr>
          <p:cNvPr id="6" name="Slide Number Placeholder 5">
            <a:extLst>
              <a:ext uri="{FF2B5EF4-FFF2-40B4-BE49-F238E27FC236}">
                <a16:creationId xmlns:a16="http://schemas.microsoft.com/office/drawing/2014/main" id="{1BFC83CE-4FD3-C3F7-22DE-2EC13C325E94}"/>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992569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B6A0F6-E6DF-8630-5AE5-B54FBA2E6CD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B7B37CA-3EDB-8ABA-5A94-364646868EE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808AD5A-E400-040E-2104-10876C147803}"/>
              </a:ext>
            </a:extLst>
          </p:cNvPr>
          <p:cNvSpPr>
            <a:spLocks noGrp="1"/>
          </p:cNvSpPr>
          <p:nvPr>
            <p:ph type="dt" sz="half" idx="10"/>
          </p:nvPr>
        </p:nvSpPr>
        <p:spPr/>
        <p:txBody>
          <a:bodyPr/>
          <a:lstStyle/>
          <a:p>
            <a:fld id="{FFA7AF11-6F97-41CD-85DB-F04148D1C584}" type="datetime1">
              <a:rPr lang="en-US" smtClean="0"/>
              <a:t>12/2/2025</a:t>
            </a:fld>
            <a:endParaRPr lang="en-US"/>
          </a:p>
        </p:txBody>
      </p:sp>
      <p:sp>
        <p:nvSpPr>
          <p:cNvPr id="5" name="Footer Placeholder 4">
            <a:extLst>
              <a:ext uri="{FF2B5EF4-FFF2-40B4-BE49-F238E27FC236}">
                <a16:creationId xmlns:a16="http://schemas.microsoft.com/office/drawing/2014/main" id="{7C959033-9D10-6508-99A4-A0E9705AC822}"/>
              </a:ext>
            </a:extLst>
          </p:cNvPr>
          <p:cNvSpPr>
            <a:spLocks noGrp="1"/>
          </p:cNvSpPr>
          <p:nvPr>
            <p:ph type="ftr" sz="quarter" idx="11"/>
          </p:nvPr>
        </p:nvSpPr>
        <p:spPr/>
        <p:txBody>
          <a:bodyPr/>
          <a:lstStyle/>
          <a:p>
            <a:r>
              <a:rPr lang="en-US"/>
              <a:t>Dr Md Hasanul Ferdaus</a:t>
            </a:r>
          </a:p>
        </p:txBody>
      </p:sp>
      <p:sp>
        <p:nvSpPr>
          <p:cNvPr id="6" name="Slide Number Placeholder 5">
            <a:extLst>
              <a:ext uri="{FF2B5EF4-FFF2-40B4-BE49-F238E27FC236}">
                <a16:creationId xmlns:a16="http://schemas.microsoft.com/office/drawing/2014/main" id="{E08B28FE-098F-AF6D-2A0A-74FD084F0249}"/>
              </a:ext>
            </a:extLst>
          </p:cNvPr>
          <p:cNvSpPr>
            <a:spLocks noGrp="1"/>
          </p:cNvSpPr>
          <p:nvPr>
            <p:ph type="sldNum" sz="quarter" idx="12"/>
          </p:nvPr>
        </p:nvSpPr>
        <p:spPr/>
        <p:txBody>
          <a:bodyPr/>
          <a:lstStyle/>
          <a:p>
            <a:fld id="{CC7C6C01-0E18-4E34-9A22-FD2CDEAB0997}" type="slidenum">
              <a:rPr lang="en-US" smtClean="0"/>
              <a:t>‹#›</a:t>
            </a:fld>
            <a:endParaRPr lang="en-US"/>
          </a:p>
        </p:txBody>
      </p:sp>
    </p:spTree>
    <p:extLst>
      <p:ext uri="{BB962C8B-B14F-4D97-AF65-F5344CB8AC3E}">
        <p14:creationId xmlns:p14="http://schemas.microsoft.com/office/powerpoint/2010/main" val="2218428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D9A967-8F3E-E0CF-AD1B-50B077819F0B}"/>
              </a:ext>
            </a:extLst>
          </p:cNvPr>
          <p:cNvPicPr>
            <a:picLocks noChangeAspect="1"/>
          </p:cNvPicPr>
          <p:nvPr userDrawn="1"/>
        </p:nvPicPr>
        <p:blipFill>
          <a:blip r:embed="rId13"/>
          <a:stretch>
            <a:fillRect/>
          </a:stretch>
        </p:blipFill>
        <p:spPr>
          <a:xfrm>
            <a:off x="361259" y="-10821"/>
            <a:ext cx="11486184" cy="974917"/>
          </a:xfrm>
          <a:prstGeom prst="rect">
            <a:avLst/>
          </a:prstGeom>
        </p:spPr>
      </p:pic>
      <p:sp>
        <p:nvSpPr>
          <p:cNvPr id="2" name="Title Placeholder 1">
            <a:extLst>
              <a:ext uri="{FF2B5EF4-FFF2-40B4-BE49-F238E27FC236}">
                <a16:creationId xmlns:a16="http://schemas.microsoft.com/office/drawing/2014/main" id="{6029B6F3-4135-0E21-7250-CC4394497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DD98502-5B55-7F18-8B55-656DC90957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9471048-EE63-F593-9B43-21CA3F9362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DFF405-15DA-4E10-B87C-176BF076D254}" type="datetime1">
              <a:rPr lang="en-US" smtClean="0"/>
              <a:t>12/2/2025</a:t>
            </a:fld>
            <a:endParaRPr lang="en-US"/>
          </a:p>
        </p:txBody>
      </p:sp>
      <p:sp>
        <p:nvSpPr>
          <p:cNvPr id="5" name="Footer Placeholder 4">
            <a:extLst>
              <a:ext uri="{FF2B5EF4-FFF2-40B4-BE49-F238E27FC236}">
                <a16:creationId xmlns:a16="http://schemas.microsoft.com/office/drawing/2014/main" id="{143F5827-7C80-4A48-44F7-5AC8F3F328FF}"/>
              </a:ext>
            </a:extLst>
          </p:cNvPr>
          <p:cNvSpPr>
            <a:spLocks noGrp="1"/>
          </p:cNvSpPr>
          <p:nvPr>
            <p:ph type="ftr" sz="quarter" idx="3"/>
          </p:nvPr>
        </p:nvSpPr>
        <p:spPr>
          <a:xfrm>
            <a:off x="4046951" y="6465680"/>
            <a:ext cx="4114800" cy="365125"/>
          </a:xfrm>
          <a:prstGeom prst="rect">
            <a:avLst/>
          </a:prstGeom>
        </p:spPr>
        <p:txBody>
          <a:bodyPr vert="horz" lIns="91440" tIns="45720" rIns="91440" bIns="45720" rtlCol="0" anchor="ctr"/>
          <a:lstStyle>
            <a:lvl1pPr algn="ctr">
              <a:defRPr sz="1400" i="1">
                <a:solidFill>
                  <a:schemeClr val="tx1"/>
                </a:solidFill>
              </a:defRPr>
            </a:lvl1pPr>
          </a:lstStyle>
          <a:p>
            <a:r>
              <a:rPr lang="en-US"/>
              <a:t>Dr Md Hasanul Ferdaus</a:t>
            </a:r>
            <a:endParaRPr lang="en-US" dirty="0"/>
          </a:p>
        </p:txBody>
      </p:sp>
      <p:sp>
        <p:nvSpPr>
          <p:cNvPr id="6" name="Slide Number Placeholder 5">
            <a:extLst>
              <a:ext uri="{FF2B5EF4-FFF2-40B4-BE49-F238E27FC236}">
                <a16:creationId xmlns:a16="http://schemas.microsoft.com/office/drawing/2014/main" id="{716A239E-C2C4-B6B2-477D-3BFB38861A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7C6C01-0E18-4E34-9A22-FD2CDEAB0997}" type="slidenum">
              <a:rPr lang="en-US" smtClean="0"/>
              <a:t>‹#›</a:t>
            </a:fld>
            <a:endParaRPr lang="en-US"/>
          </a:p>
        </p:txBody>
      </p:sp>
    </p:spTree>
    <p:extLst>
      <p:ext uri="{BB962C8B-B14F-4D97-AF65-F5344CB8AC3E}">
        <p14:creationId xmlns:p14="http://schemas.microsoft.com/office/powerpoint/2010/main" val="904232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docs.oracle.com/javase/8/docs/api/java/lang/Object.html" TargetMode="External"/><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4958080" y="465328"/>
            <a:ext cx="6817360" cy="3740912"/>
          </a:xfrm>
        </p:spPr>
        <p:txBody>
          <a:bodyPr anchor="b">
            <a:normAutofit/>
          </a:bodyPr>
          <a:lstStyle/>
          <a:p>
            <a:r>
              <a:rPr lang="en-US" b="1" dirty="0"/>
              <a:t>Inheritance</a:t>
            </a:r>
            <a:br>
              <a:rPr lang="en-US" b="1" dirty="0"/>
            </a:br>
            <a:r>
              <a:rPr lang="en-US" sz="4000" b="1" dirty="0"/>
              <a:t>Part 3</a:t>
            </a:r>
            <a:br>
              <a:rPr lang="en-US" b="1" dirty="0"/>
            </a:br>
            <a:br>
              <a:rPr lang="en-US" sz="3400" b="1" dirty="0"/>
            </a:br>
            <a:r>
              <a:rPr lang="en-US" sz="3600" b="1" dirty="0"/>
              <a:t>Java - The Complete Reference </a:t>
            </a:r>
            <a:br>
              <a:rPr lang="en-US" sz="3600" b="1" dirty="0"/>
            </a:br>
            <a:r>
              <a:rPr lang="en-US" sz="2700" b="1" dirty="0"/>
              <a:t>Herbert Schildt</a:t>
            </a:r>
            <a:br>
              <a:rPr lang="en-US" sz="2700" b="1" dirty="0"/>
            </a:br>
            <a:r>
              <a:rPr lang="en-US" sz="2000" b="1" dirty="0"/>
              <a:t>Chapter 8</a:t>
            </a:r>
            <a:br>
              <a:rPr lang="en-US" sz="2000" b="1" dirty="0"/>
            </a:br>
            <a:endParaRPr lang="en-US" sz="3400" b="1" dirty="0"/>
          </a:p>
        </p:txBody>
      </p:sp>
      <p:pic>
        <p:nvPicPr>
          <p:cNvPr id="3" name="Picture 2" descr="A logo of a cup with a smoke&#10;&#10;Description automatically generated">
            <a:extLst>
              <a:ext uri="{FF2B5EF4-FFF2-40B4-BE49-F238E27FC236}">
                <a16:creationId xmlns:a16="http://schemas.microsoft.com/office/drawing/2014/main" id="{BDB8C381-3971-3988-FACF-7ABC0A6AD660}"/>
              </a:ext>
            </a:extLst>
          </p:cNvPr>
          <p:cNvPicPr>
            <a:picLocks noChangeAspect="1"/>
          </p:cNvPicPr>
          <p:nvPr/>
        </p:nvPicPr>
        <p:blipFill rotWithShape="1">
          <a:blip r:embed="rId2"/>
          <a:srcRect t="1710" r="-1"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3"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0466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Outline</a:t>
            </a:r>
            <a:endParaRPr lang="en-US" sz="3600" b="1" dirty="0">
              <a:solidFill>
                <a:schemeClr val="bg1"/>
              </a:solidFill>
            </a:endParaRPr>
          </a:p>
        </p:txBody>
      </p:sp>
      <p:sp>
        <p:nvSpPr>
          <p:cNvPr id="2" name="Content Placeholder 2">
            <a:extLst>
              <a:ext uri="{FF2B5EF4-FFF2-40B4-BE49-F238E27FC236}">
                <a16:creationId xmlns:a16="http://schemas.microsoft.com/office/drawing/2014/main" id="{BBC863AA-F1EF-A435-BFC0-99B577795194}"/>
              </a:ext>
            </a:extLst>
          </p:cNvPr>
          <p:cNvSpPr txBox="1">
            <a:spLocks/>
          </p:cNvSpPr>
          <p:nvPr/>
        </p:nvSpPr>
        <p:spPr>
          <a:xfrm>
            <a:off x="1254475" y="1229360"/>
            <a:ext cx="10546080" cy="50393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solidFill>
                  <a:srgbClr val="000000"/>
                </a:solidFill>
                <a:latin typeface="TimesLTStd-Roman"/>
              </a:rPr>
              <a:t>Dynamic Method Dispatch</a:t>
            </a:r>
          </a:p>
          <a:p>
            <a:pPr lvl="1"/>
            <a:r>
              <a:rPr lang="en-US" sz="2800" dirty="0">
                <a:solidFill>
                  <a:srgbClr val="000000"/>
                </a:solidFill>
                <a:latin typeface="TimesLTStd-Roman"/>
              </a:rPr>
              <a:t>Why Overridden Methods? </a:t>
            </a:r>
          </a:p>
          <a:p>
            <a:pPr lvl="1"/>
            <a:r>
              <a:rPr lang="en-US" sz="2800" dirty="0">
                <a:solidFill>
                  <a:srgbClr val="000000"/>
                </a:solidFill>
                <a:latin typeface="TimesLTStd-Roman"/>
              </a:rPr>
              <a:t>Applying Method Overriding</a:t>
            </a:r>
          </a:p>
          <a:p>
            <a:r>
              <a:rPr lang="en-US" sz="3200" dirty="0">
                <a:solidFill>
                  <a:srgbClr val="000000"/>
                </a:solidFill>
                <a:latin typeface="TimesLTStd-Roman"/>
              </a:rPr>
              <a:t>Using Abstract Classes</a:t>
            </a:r>
          </a:p>
          <a:p>
            <a:r>
              <a:rPr lang="en-US" sz="3200" dirty="0">
                <a:solidFill>
                  <a:srgbClr val="000000"/>
                </a:solidFill>
                <a:latin typeface="TimesLTStd-Roman"/>
              </a:rPr>
              <a:t>Using </a:t>
            </a:r>
            <a:r>
              <a:rPr lang="en-US" sz="3200" b="1" dirty="0">
                <a:solidFill>
                  <a:srgbClr val="000000"/>
                </a:solidFill>
                <a:latin typeface="Courier New" panose="02070309020205020404" pitchFamily="49" charset="0"/>
                <a:cs typeface="Courier New" panose="02070309020205020404" pitchFamily="49" charset="0"/>
              </a:rPr>
              <a:t>final</a:t>
            </a:r>
            <a:r>
              <a:rPr lang="en-US" sz="3200" dirty="0">
                <a:solidFill>
                  <a:srgbClr val="000000"/>
                </a:solidFill>
                <a:latin typeface="TimesLTStd-Roman"/>
              </a:rPr>
              <a:t> with Inheritance</a:t>
            </a:r>
          </a:p>
          <a:p>
            <a:pPr lvl="1"/>
            <a:r>
              <a:rPr lang="en-US" sz="2800" dirty="0">
                <a:solidFill>
                  <a:srgbClr val="000000"/>
                </a:solidFill>
                <a:latin typeface="TimesLTStd-Roman"/>
              </a:rPr>
              <a:t>Using </a:t>
            </a:r>
            <a:r>
              <a:rPr lang="en-US" sz="2800" b="1" dirty="0">
                <a:solidFill>
                  <a:srgbClr val="000000"/>
                </a:solidFill>
                <a:latin typeface="Courier New" panose="02070309020205020404" pitchFamily="49" charset="0"/>
                <a:cs typeface="Courier New" panose="02070309020205020404" pitchFamily="49" charset="0"/>
              </a:rPr>
              <a:t>final</a:t>
            </a:r>
            <a:r>
              <a:rPr lang="en-US" sz="2800" dirty="0">
                <a:solidFill>
                  <a:srgbClr val="000000"/>
                </a:solidFill>
                <a:latin typeface="TimesLTStd-Roman"/>
              </a:rPr>
              <a:t> to Prevent Overriding</a:t>
            </a:r>
          </a:p>
          <a:p>
            <a:pPr lvl="1"/>
            <a:r>
              <a:rPr lang="en-US" sz="2800" dirty="0">
                <a:solidFill>
                  <a:srgbClr val="000000"/>
                </a:solidFill>
                <a:latin typeface="TimesLTStd-Roman"/>
              </a:rPr>
              <a:t>Using </a:t>
            </a:r>
            <a:r>
              <a:rPr lang="en-US" sz="2800" b="1" dirty="0">
                <a:solidFill>
                  <a:srgbClr val="000000"/>
                </a:solidFill>
                <a:latin typeface="Courier New" panose="02070309020205020404" pitchFamily="49" charset="0"/>
                <a:cs typeface="Courier New" panose="02070309020205020404" pitchFamily="49" charset="0"/>
              </a:rPr>
              <a:t>final</a:t>
            </a:r>
            <a:r>
              <a:rPr lang="en-US" sz="2800" dirty="0">
                <a:solidFill>
                  <a:srgbClr val="000000"/>
                </a:solidFill>
                <a:latin typeface="TimesLTStd-Roman"/>
              </a:rPr>
              <a:t> to Prevent Inheritance</a:t>
            </a:r>
          </a:p>
          <a:p>
            <a:r>
              <a:rPr lang="en-US" sz="3200" dirty="0">
                <a:solidFill>
                  <a:srgbClr val="000000"/>
                </a:solidFill>
                <a:latin typeface="TimesLTStd-Roman"/>
              </a:rPr>
              <a:t>The </a:t>
            </a:r>
            <a:r>
              <a:rPr lang="en-US" sz="3200" b="1" dirty="0">
                <a:solidFill>
                  <a:srgbClr val="000000"/>
                </a:solidFill>
                <a:latin typeface="Courier New" panose="02070309020205020404" pitchFamily="49" charset="0"/>
                <a:cs typeface="Courier New" panose="02070309020205020404" pitchFamily="49" charset="0"/>
              </a:rPr>
              <a:t>Object</a:t>
            </a:r>
            <a:r>
              <a:rPr lang="en-US" sz="3200" dirty="0">
                <a:solidFill>
                  <a:srgbClr val="000000"/>
                </a:solidFill>
                <a:latin typeface="TimesLTStd-Roman"/>
              </a:rPr>
              <a:t> Class</a:t>
            </a:r>
          </a:p>
        </p:txBody>
      </p:sp>
    </p:spTree>
    <p:extLst>
      <p:ext uri="{BB962C8B-B14F-4D97-AF65-F5344CB8AC3E}">
        <p14:creationId xmlns:p14="http://schemas.microsoft.com/office/powerpoint/2010/main" val="30025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48E64-A87A-09C9-A7B1-11F911E59FE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62F25BE-F280-265F-4CBD-409021574BF3}"/>
              </a:ext>
            </a:extLst>
          </p:cNvPr>
          <p:cNvSpPr txBox="1"/>
          <p:nvPr/>
        </p:nvSpPr>
        <p:spPr>
          <a:xfrm>
            <a:off x="934720" y="2314694"/>
            <a:ext cx="10363200" cy="1569660"/>
          </a:xfrm>
          <a:prstGeom prst="rect">
            <a:avLst/>
          </a:prstGeom>
          <a:noFill/>
        </p:spPr>
        <p:txBody>
          <a:bodyPr wrap="square">
            <a:spAutoFit/>
          </a:bodyPr>
          <a:lstStyle/>
          <a:p>
            <a:pPr algn="ctr"/>
            <a:r>
              <a:rPr lang="en-US" sz="4800" b="1" dirty="0">
                <a:solidFill>
                  <a:srgbClr val="0070C0"/>
                </a:solidFill>
              </a:rPr>
              <a:t>Dynamic Method Dispatch</a:t>
            </a:r>
          </a:p>
          <a:p>
            <a:pPr algn="ctr"/>
            <a:r>
              <a:rPr lang="en-US" sz="4800" b="1" dirty="0">
                <a:solidFill>
                  <a:srgbClr val="0070C0"/>
                </a:solidFill>
              </a:rPr>
              <a:t>(Late Binding)</a:t>
            </a:r>
          </a:p>
        </p:txBody>
      </p:sp>
    </p:spTree>
    <p:extLst>
      <p:ext uri="{BB962C8B-B14F-4D97-AF65-F5344CB8AC3E}">
        <p14:creationId xmlns:p14="http://schemas.microsoft.com/office/powerpoint/2010/main" val="1117130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B4251-E36B-BF39-2C3C-1BD8F0E1783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04726DA-5A37-0E2C-04F6-DC5DA5B16AA0}"/>
              </a:ext>
            </a:extLst>
          </p:cNvPr>
          <p:cNvSpPr>
            <a:spLocks noGrp="1"/>
          </p:cNvSpPr>
          <p:nvPr>
            <p:ph type="ctrTitle"/>
          </p:nvPr>
        </p:nvSpPr>
        <p:spPr>
          <a:xfrm>
            <a:off x="711200" y="-1"/>
            <a:ext cx="11064240" cy="614023"/>
          </a:xfrm>
        </p:spPr>
        <p:txBody>
          <a:bodyPr>
            <a:noAutofit/>
          </a:bodyPr>
          <a:lstStyle/>
          <a:p>
            <a:r>
              <a:rPr lang="en-US" sz="4000" b="1" dirty="0">
                <a:solidFill>
                  <a:schemeClr val="bg1"/>
                </a:solidFill>
              </a:rPr>
              <a:t>Dynamic Method Dispatch</a:t>
            </a:r>
            <a:endParaRPr lang="en-US" sz="4000" b="1" dirty="0">
              <a:solidFill>
                <a:schemeClr val="bg1"/>
              </a:solidFill>
              <a:latin typeface="Courier New" panose="02070309020205020404" pitchFamily="49" charset="0"/>
              <a:cs typeface="Courier New" panose="02070309020205020404" pitchFamily="49" charset="0"/>
            </a:endParaRPr>
          </a:p>
        </p:txBody>
      </p:sp>
      <p:sp>
        <p:nvSpPr>
          <p:cNvPr id="2" name="Content Placeholder 2">
            <a:extLst>
              <a:ext uri="{FF2B5EF4-FFF2-40B4-BE49-F238E27FC236}">
                <a16:creationId xmlns:a16="http://schemas.microsoft.com/office/drawing/2014/main" id="{BBA912B8-F963-E94E-BBB7-3A272AF2DA14}"/>
              </a:ext>
            </a:extLst>
          </p:cNvPr>
          <p:cNvSpPr txBox="1">
            <a:spLocks/>
          </p:cNvSpPr>
          <p:nvPr/>
        </p:nvSpPr>
        <p:spPr>
          <a:xfrm>
            <a:off x="711200" y="1158240"/>
            <a:ext cx="10871200" cy="545592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solidFill>
                  <a:srgbClr val="000000"/>
                </a:solidFill>
                <a:latin typeface="TimesLTStd-Roman"/>
              </a:rPr>
              <a:t>Method overriding forms the basis for one of Java's most powerful concepts: dynamic method dispatch.</a:t>
            </a:r>
          </a:p>
          <a:p>
            <a:r>
              <a:rPr lang="en-US" sz="3200" b="1" i="1" dirty="0">
                <a:solidFill>
                  <a:srgbClr val="000000"/>
                </a:solidFill>
                <a:latin typeface="TimesLTStd-Roman"/>
              </a:rPr>
              <a:t>Dynamic Method Dispatch (DMD)</a:t>
            </a:r>
            <a:r>
              <a:rPr lang="en-US" sz="3200" dirty="0">
                <a:solidFill>
                  <a:srgbClr val="000000"/>
                </a:solidFill>
                <a:latin typeface="TimesLTStd-Roman"/>
              </a:rPr>
              <a:t> or </a:t>
            </a:r>
            <a:r>
              <a:rPr lang="en-US" sz="3200" b="1" i="1" dirty="0">
                <a:solidFill>
                  <a:srgbClr val="000000"/>
                </a:solidFill>
                <a:latin typeface="TimesLTStd-Roman"/>
              </a:rPr>
              <a:t>Late Binding</a:t>
            </a:r>
            <a:r>
              <a:rPr lang="en-US" sz="3200" dirty="0">
                <a:solidFill>
                  <a:srgbClr val="000000"/>
                </a:solidFill>
                <a:latin typeface="TimesLTStd-Roman"/>
              </a:rPr>
              <a:t> is the mechanism by which a call to an overridden method is resolved at </a:t>
            </a:r>
            <a:r>
              <a:rPr lang="en-US" sz="3200" i="1" dirty="0">
                <a:solidFill>
                  <a:srgbClr val="000000"/>
                </a:solidFill>
                <a:latin typeface="TimesLTStd-Roman"/>
              </a:rPr>
              <a:t>run time</a:t>
            </a:r>
            <a:r>
              <a:rPr lang="en-US" sz="3200" dirty="0">
                <a:solidFill>
                  <a:srgbClr val="000000"/>
                </a:solidFill>
                <a:latin typeface="TimesLTStd-Roman"/>
              </a:rPr>
              <a:t>, rather than </a:t>
            </a:r>
            <a:r>
              <a:rPr lang="en-US" sz="3200" i="1" dirty="0">
                <a:solidFill>
                  <a:srgbClr val="000000"/>
                </a:solidFill>
                <a:latin typeface="TimesLTStd-Roman"/>
              </a:rPr>
              <a:t>compile time (</a:t>
            </a:r>
            <a:r>
              <a:rPr lang="en-US" sz="3200" b="1" i="1" dirty="0">
                <a:solidFill>
                  <a:srgbClr val="000000"/>
                </a:solidFill>
                <a:latin typeface="TimesLTStd-Roman"/>
              </a:rPr>
              <a:t>Early Binding</a:t>
            </a:r>
            <a:r>
              <a:rPr lang="en-US" sz="3200" i="1" dirty="0">
                <a:solidFill>
                  <a:srgbClr val="000000"/>
                </a:solidFill>
                <a:latin typeface="TimesLTStd-Roman"/>
              </a:rPr>
              <a:t>)</a:t>
            </a:r>
            <a:r>
              <a:rPr lang="en-US" sz="3200" dirty="0">
                <a:solidFill>
                  <a:srgbClr val="000000"/>
                </a:solidFill>
                <a:latin typeface="TimesLTStd-Roman"/>
              </a:rPr>
              <a:t>.</a:t>
            </a:r>
          </a:p>
          <a:p>
            <a:r>
              <a:rPr lang="en-US" sz="3200" dirty="0">
                <a:solidFill>
                  <a:srgbClr val="000000"/>
                </a:solidFill>
                <a:latin typeface="TimesLTStd-Roman"/>
              </a:rPr>
              <a:t>Dynamic method dispatch is important because this is how Java implements </a:t>
            </a:r>
            <a:r>
              <a:rPr lang="en-US" sz="3200" b="1" i="1" dirty="0">
                <a:solidFill>
                  <a:srgbClr val="000000"/>
                </a:solidFill>
                <a:latin typeface="TimesLTStd-Roman"/>
              </a:rPr>
              <a:t>run-time polymorphism</a:t>
            </a:r>
            <a:r>
              <a:rPr lang="en-US" sz="3200" dirty="0">
                <a:solidFill>
                  <a:srgbClr val="000000"/>
                </a:solidFill>
                <a:latin typeface="TimesLTStd-Roman"/>
              </a:rPr>
              <a:t>.</a:t>
            </a:r>
          </a:p>
          <a:p>
            <a:r>
              <a:rPr lang="en-US" sz="3200" dirty="0">
                <a:solidFill>
                  <a:srgbClr val="000000"/>
                </a:solidFill>
                <a:latin typeface="TimesLTStd-Roman"/>
              </a:rPr>
              <a:t>An important principle in Java: </a:t>
            </a:r>
            <a:r>
              <a:rPr lang="en-US" sz="3200" b="1" i="1" dirty="0">
                <a:solidFill>
                  <a:srgbClr val="000000"/>
                </a:solidFill>
                <a:latin typeface="TimesLTStd-Roman"/>
              </a:rPr>
              <a:t>A superclass reference variable can refer to a subclass object.</a:t>
            </a:r>
          </a:p>
          <a:p>
            <a:r>
              <a:rPr lang="en-US" sz="3200" dirty="0">
                <a:solidFill>
                  <a:srgbClr val="000000"/>
                </a:solidFill>
                <a:latin typeface="TimesLTStd-Roman"/>
              </a:rPr>
              <a:t>Java uses this fact to resolve calls to overridden methods at run time.</a:t>
            </a:r>
          </a:p>
        </p:txBody>
      </p:sp>
    </p:spTree>
    <p:extLst>
      <p:ext uri="{BB962C8B-B14F-4D97-AF65-F5344CB8AC3E}">
        <p14:creationId xmlns:p14="http://schemas.microsoft.com/office/powerpoint/2010/main" val="2937944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41957-AF7C-AA5F-2E26-735C3AEA523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66E5E26-D0FC-FF7D-823D-BEFE4DE3FD19}"/>
              </a:ext>
            </a:extLst>
          </p:cNvPr>
          <p:cNvSpPr>
            <a:spLocks noGrp="1"/>
          </p:cNvSpPr>
          <p:nvPr>
            <p:ph type="ctrTitle"/>
          </p:nvPr>
        </p:nvSpPr>
        <p:spPr>
          <a:xfrm>
            <a:off x="711200" y="-1"/>
            <a:ext cx="11064240" cy="614023"/>
          </a:xfrm>
        </p:spPr>
        <p:txBody>
          <a:bodyPr>
            <a:noAutofit/>
          </a:bodyPr>
          <a:lstStyle/>
          <a:p>
            <a:r>
              <a:rPr lang="en-US" sz="4000" b="1" dirty="0">
                <a:solidFill>
                  <a:schemeClr val="bg1"/>
                </a:solidFill>
              </a:rPr>
              <a:t>Dynamic Method Dispatch</a:t>
            </a:r>
            <a:endParaRPr lang="en-US" sz="4000" b="1" dirty="0">
              <a:solidFill>
                <a:schemeClr val="bg1"/>
              </a:solidFill>
              <a:latin typeface="Courier New" panose="02070309020205020404" pitchFamily="49" charset="0"/>
              <a:cs typeface="Courier New" panose="02070309020205020404" pitchFamily="49" charset="0"/>
            </a:endParaRPr>
          </a:p>
        </p:txBody>
      </p:sp>
      <p:sp>
        <p:nvSpPr>
          <p:cNvPr id="2" name="Content Placeholder 2">
            <a:extLst>
              <a:ext uri="{FF2B5EF4-FFF2-40B4-BE49-F238E27FC236}">
                <a16:creationId xmlns:a16="http://schemas.microsoft.com/office/drawing/2014/main" id="{EF12E6BA-C92B-C3AD-C4EE-ADB7280AE474}"/>
              </a:ext>
            </a:extLst>
          </p:cNvPr>
          <p:cNvSpPr txBox="1">
            <a:spLocks/>
          </p:cNvSpPr>
          <p:nvPr/>
        </p:nvSpPr>
        <p:spPr>
          <a:xfrm>
            <a:off x="711200" y="1158240"/>
            <a:ext cx="10871200" cy="5455920"/>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solidFill>
                  <a:srgbClr val="000000"/>
                </a:solidFill>
                <a:latin typeface="TimesLTStd-Roman"/>
              </a:rPr>
              <a:t>When an overridden method is called through a superclass reference, Java determines which version of that method to execute based upon the </a:t>
            </a:r>
            <a:r>
              <a:rPr lang="en-US" sz="3200" b="1" i="1" dirty="0">
                <a:solidFill>
                  <a:srgbClr val="000000"/>
                </a:solidFill>
                <a:latin typeface="TimesLTStd-Roman"/>
              </a:rPr>
              <a:t>type of the object being referred to at the time the call occurs</a:t>
            </a:r>
            <a:r>
              <a:rPr lang="en-US" sz="3200" dirty="0">
                <a:solidFill>
                  <a:srgbClr val="000000"/>
                </a:solidFill>
                <a:latin typeface="TimesLTStd-Roman"/>
              </a:rPr>
              <a:t>. </a:t>
            </a:r>
          </a:p>
          <a:p>
            <a:r>
              <a:rPr lang="en-US" sz="3200" dirty="0">
                <a:solidFill>
                  <a:srgbClr val="000000"/>
                </a:solidFill>
                <a:latin typeface="TimesLTStd-Roman"/>
              </a:rPr>
              <a:t>Thus, </a:t>
            </a:r>
            <a:r>
              <a:rPr lang="en-US" sz="3200" b="1" i="1" dirty="0">
                <a:solidFill>
                  <a:srgbClr val="000000"/>
                </a:solidFill>
                <a:latin typeface="TimesLTStd-Roman"/>
              </a:rPr>
              <a:t>this determination is made at run time</a:t>
            </a:r>
            <a:r>
              <a:rPr lang="en-US" sz="3200" dirty="0">
                <a:solidFill>
                  <a:srgbClr val="000000"/>
                </a:solidFill>
                <a:latin typeface="TimesLTStd-Roman"/>
              </a:rPr>
              <a:t>. </a:t>
            </a:r>
          </a:p>
          <a:p>
            <a:r>
              <a:rPr lang="en-US" sz="3200" dirty="0">
                <a:solidFill>
                  <a:srgbClr val="000000"/>
                </a:solidFill>
                <a:latin typeface="TimesLTStd-Roman"/>
              </a:rPr>
              <a:t>When different types of objects are referred to, </a:t>
            </a:r>
            <a:r>
              <a:rPr lang="en-US" sz="3200" b="1" i="1" dirty="0">
                <a:solidFill>
                  <a:srgbClr val="000000"/>
                </a:solidFill>
                <a:latin typeface="TimesLTStd-Roman"/>
              </a:rPr>
              <a:t>different versions of an overridden method will be called</a:t>
            </a:r>
            <a:r>
              <a:rPr lang="en-US" sz="3200" dirty="0">
                <a:solidFill>
                  <a:srgbClr val="000000"/>
                </a:solidFill>
                <a:latin typeface="TimesLTStd-Roman"/>
              </a:rPr>
              <a:t>. </a:t>
            </a:r>
          </a:p>
          <a:p>
            <a:r>
              <a:rPr lang="en-US" sz="3200" dirty="0">
                <a:solidFill>
                  <a:srgbClr val="000000"/>
                </a:solidFill>
                <a:latin typeface="TimesLTStd-Roman"/>
              </a:rPr>
              <a:t>In other words, it is </a:t>
            </a:r>
            <a:r>
              <a:rPr lang="en-US" sz="3200" b="1" i="1" dirty="0">
                <a:solidFill>
                  <a:srgbClr val="000000"/>
                </a:solidFill>
                <a:latin typeface="TimesLTStd-Roman"/>
              </a:rPr>
              <a:t>the type of the object being referred to</a:t>
            </a:r>
            <a:r>
              <a:rPr lang="en-US" sz="3200" dirty="0">
                <a:solidFill>
                  <a:srgbClr val="000000"/>
                </a:solidFill>
                <a:latin typeface="TimesLTStd-Roman"/>
              </a:rPr>
              <a:t> (not the type of the reference variable) that determines which version of an overridden method will be executed.</a:t>
            </a:r>
          </a:p>
          <a:p>
            <a:r>
              <a:rPr lang="en-US" sz="3200" dirty="0">
                <a:solidFill>
                  <a:srgbClr val="000000"/>
                </a:solidFill>
                <a:latin typeface="TimesLTStd-Roman"/>
              </a:rPr>
              <a:t>Therefore, if a superclass contains a method that is overridden by a subclass, then when different types of objects are referred to through a superclass reference variable, different versions of the method are executed.</a:t>
            </a:r>
          </a:p>
        </p:txBody>
      </p:sp>
    </p:spTree>
    <p:extLst>
      <p:ext uri="{BB962C8B-B14F-4D97-AF65-F5344CB8AC3E}">
        <p14:creationId xmlns:p14="http://schemas.microsoft.com/office/powerpoint/2010/main" val="2881060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87959-B2AB-775F-2340-705984E7D1E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39A75E8-AE88-84FA-479B-712FE001293B}"/>
              </a:ext>
            </a:extLst>
          </p:cNvPr>
          <p:cNvSpPr>
            <a:spLocks noGrp="1"/>
          </p:cNvSpPr>
          <p:nvPr>
            <p:ph type="ctrTitle"/>
          </p:nvPr>
        </p:nvSpPr>
        <p:spPr>
          <a:xfrm>
            <a:off x="772160" y="-137817"/>
            <a:ext cx="10820115" cy="751840"/>
          </a:xfrm>
        </p:spPr>
        <p:txBody>
          <a:bodyPr>
            <a:noAutofit/>
          </a:bodyPr>
          <a:lstStyle/>
          <a:p>
            <a:r>
              <a:rPr lang="en-US" sz="3600" b="1" dirty="0">
                <a:solidFill>
                  <a:schemeClr val="bg1"/>
                </a:solidFill>
              </a:rPr>
              <a:t>Example: Dynamic Method Dispatch</a:t>
            </a:r>
            <a:endParaRPr lang="en-US" sz="3600" b="1" dirty="0">
              <a:solidFill>
                <a:schemeClr val="bg1"/>
              </a:solidFill>
              <a:latin typeface="Courier New" panose="02070309020205020404" pitchFamily="49" charset="0"/>
              <a:cs typeface="Courier New" panose="02070309020205020404" pitchFamily="49" charset="0"/>
            </a:endParaRPr>
          </a:p>
        </p:txBody>
      </p:sp>
      <p:sp>
        <p:nvSpPr>
          <p:cNvPr id="10" name="Content Placeholder 2">
            <a:extLst>
              <a:ext uri="{FF2B5EF4-FFF2-40B4-BE49-F238E27FC236}">
                <a16:creationId xmlns:a16="http://schemas.microsoft.com/office/drawing/2014/main" id="{05D4313A-E64D-0331-396B-87A710D78243}"/>
              </a:ext>
            </a:extLst>
          </p:cNvPr>
          <p:cNvSpPr txBox="1">
            <a:spLocks/>
          </p:cNvSpPr>
          <p:nvPr/>
        </p:nvSpPr>
        <p:spPr>
          <a:xfrm>
            <a:off x="8038422" y="891032"/>
            <a:ext cx="1425124" cy="379912"/>
          </a:xfrm>
          <a:prstGeom prst="rect">
            <a:avLst/>
          </a:prstGeom>
          <a:solidFill>
            <a:schemeClr val="accent6">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solidFill>
                  <a:srgbClr val="000000"/>
                </a:solidFill>
                <a:latin typeface="TimesLTStd-Roman"/>
              </a:rPr>
              <a:t>OUTPUT</a:t>
            </a:r>
          </a:p>
        </p:txBody>
      </p:sp>
      <p:pic>
        <p:nvPicPr>
          <p:cNvPr id="4" name="Picture 3">
            <a:extLst>
              <a:ext uri="{FF2B5EF4-FFF2-40B4-BE49-F238E27FC236}">
                <a16:creationId xmlns:a16="http://schemas.microsoft.com/office/drawing/2014/main" id="{7AFF634F-13F8-ADDA-12AD-F0C33231611C}"/>
              </a:ext>
            </a:extLst>
          </p:cNvPr>
          <p:cNvPicPr>
            <a:picLocks noChangeAspect="1"/>
          </p:cNvPicPr>
          <p:nvPr/>
        </p:nvPicPr>
        <p:blipFill>
          <a:blip r:embed="rId2"/>
          <a:stretch>
            <a:fillRect/>
          </a:stretch>
        </p:blipFill>
        <p:spPr>
          <a:xfrm>
            <a:off x="1826684" y="738632"/>
            <a:ext cx="4895058" cy="5966968"/>
          </a:xfrm>
          <a:prstGeom prst="rect">
            <a:avLst/>
          </a:prstGeom>
          <a:ln>
            <a:solidFill>
              <a:schemeClr val="bg1">
                <a:lumMod val="85000"/>
              </a:schemeClr>
            </a:solidFill>
          </a:ln>
        </p:spPr>
      </p:pic>
      <p:pic>
        <p:nvPicPr>
          <p:cNvPr id="7" name="Picture 6">
            <a:extLst>
              <a:ext uri="{FF2B5EF4-FFF2-40B4-BE49-F238E27FC236}">
                <a16:creationId xmlns:a16="http://schemas.microsoft.com/office/drawing/2014/main" id="{03071D4F-DEFA-7E09-AA8A-EBA936F088A0}"/>
              </a:ext>
            </a:extLst>
          </p:cNvPr>
          <p:cNvPicPr>
            <a:picLocks noChangeAspect="1"/>
          </p:cNvPicPr>
          <p:nvPr/>
        </p:nvPicPr>
        <p:blipFill>
          <a:blip r:embed="rId3"/>
          <a:stretch>
            <a:fillRect/>
          </a:stretch>
        </p:blipFill>
        <p:spPr>
          <a:xfrm>
            <a:off x="7160635" y="1270944"/>
            <a:ext cx="3385445" cy="846361"/>
          </a:xfrm>
          <a:prstGeom prst="rect">
            <a:avLst/>
          </a:prstGeom>
          <a:ln>
            <a:solidFill>
              <a:schemeClr val="bg1">
                <a:lumMod val="85000"/>
              </a:schemeClr>
            </a:solidFill>
          </a:ln>
        </p:spPr>
      </p:pic>
      <p:sp>
        <p:nvSpPr>
          <p:cNvPr id="9" name="Content Placeholder 2">
            <a:extLst>
              <a:ext uri="{FF2B5EF4-FFF2-40B4-BE49-F238E27FC236}">
                <a16:creationId xmlns:a16="http://schemas.microsoft.com/office/drawing/2014/main" id="{1CAEA956-65FA-A7F7-3772-CB96A5A190A3}"/>
              </a:ext>
            </a:extLst>
          </p:cNvPr>
          <p:cNvSpPr txBox="1">
            <a:spLocks/>
          </p:cNvSpPr>
          <p:nvPr/>
        </p:nvSpPr>
        <p:spPr>
          <a:xfrm>
            <a:off x="6908163" y="5587056"/>
            <a:ext cx="5110766" cy="8463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rgbClr val="000000"/>
                </a:solidFill>
                <a:latin typeface="TimesLTStd-Roman"/>
              </a:rPr>
              <a:t>NOTE: In C++ and C#, virtual functions are similar to the overridden methods in Java.</a:t>
            </a:r>
          </a:p>
        </p:txBody>
      </p:sp>
    </p:spTree>
    <p:extLst>
      <p:ext uri="{BB962C8B-B14F-4D97-AF65-F5344CB8AC3E}">
        <p14:creationId xmlns:p14="http://schemas.microsoft.com/office/powerpoint/2010/main" val="3552083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3C939-EAB8-ED5D-BD05-3F939051A4F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F6C0425-95D0-FBD6-ECA5-7ED19E6DE9F6}"/>
              </a:ext>
            </a:extLst>
          </p:cNvPr>
          <p:cNvSpPr>
            <a:spLocks noGrp="1"/>
          </p:cNvSpPr>
          <p:nvPr>
            <p:ph type="ctrTitle"/>
          </p:nvPr>
        </p:nvSpPr>
        <p:spPr>
          <a:xfrm>
            <a:off x="711200" y="-1"/>
            <a:ext cx="11064240" cy="614023"/>
          </a:xfrm>
        </p:spPr>
        <p:txBody>
          <a:bodyPr>
            <a:noAutofit/>
          </a:bodyPr>
          <a:lstStyle/>
          <a:p>
            <a:r>
              <a:rPr lang="en-US" sz="4000" b="1" dirty="0">
                <a:solidFill>
                  <a:schemeClr val="bg1"/>
                </a:solidFill>
              </a:rPr>
              <a:t>Why Overridden Methods?</a:t>
            </a:r>
            <a:endParaRPr lang="en-US" sz="4000" b="1" dirty="0">
              <a:solidFill>
                <a:schemeClr val="bg1"/>
              </a:solidFill>
              <a:latin typeface="Courier New" panose="02070309020205020404" pitchFamily="49" charset="0"/>
              <a:cs typeface="Courier New" panose="02070309020205020404" pitchFamily="49" charset="0"/>
            </a:endParaRPr>
          </a:p>
        </p:txBody>
      </p:sp>
      <p:sp>
        <p:nvSpPr>
          <p:cNvPr id="2" name="Content Placeholder 2">
            <a:extLst>
              <a:ext uri="{FF2B5EF4-FFF2-40B4-BE49-F238E27FC236}">
                <a16:creationId xmlns:a16="http://schemas.microsoft.com/office/drawing/2014/main" id="{DF92D44A-6B96-F5BF-DC38-43D5BD2A0C27}"/>
              </a:ext>
            </a:extLst>
          </p:cNvPr>
          <p:cNvSpPr txBox="1">
            <a:spLocks/>
          </p:cNvSpPr>
          <p:nvPr/>
        </p:nvSpPr>
        <p:spPr>
          <a:xfrm>
            <a:off x="711200" y="1137920"/>
            <a:ext cx="10871200" cy="547624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solidFill>
                  <a:srgbClr val="000000"/>
                </a:solidFill>
                <a:latin typeface="TimesLTStd-Roman"/>
              </a:rPr>
              <a:t>Polymorphism is essential to object-oriented programming for one reason: it allows a general class to specify methods that will be common to all of its subclasses, while allowing subclasses to define the specific implementation of some or all of those methods.</a:t>
            </a:r>
          </a:p>
          <a:p>
            <a:r>
              <a:rPr lang="en-US" sz="3200" dirty="0">
                <a:solidFill>
                  <a:srgbClr val="000000"/>
                </a:solidFill>
                <a:latin typeface="TimesLTStd-Roman"/>
              </a:rPr>
              <a:t>Overridden methods are another way that Java implements the </a:t>
            </a:r>
            <a:r>
              <a:rPr lang="en-US" sz="3200" b="1" i="1" dirty="0">
                <a:solidFill>
                  <a:srgbClr val="000000"/>
                </a:solidFill>
                <a:latin typeface="TimesLTStd-Roman"/>
              </a:rPr>
              <a:t>One Interface, Multiple Methods</a:t>
            </a:r>
            <a:r>
              <a:rPr lang="en-US" sz="3200" dirty="0">
                <a:solidFill>
                  <a:srgbClr val="000000"/>
                </a:solidFill>
                <a:latin typeface="TimesLTStd-Roman"/>
              </a:rPr>
              <a:t> aspect of polymorphism.</a:t>
            </a:r>
          </a:p>
          <a:p>
            <a:r>
              <a:rPr lang="en-US" sz="3200" dirty="0">
                <a:solidFill>
                  <a:srgbClr val="000000"/>
                </a:solidFill>
                <a:latin typeface="TimesLTStd-Roman"/>
              </a:rPr>
              <a:t>Part of the key to successfully applying polymorphism is understanding that the </a:t>
            </a:r>
            <a:r>
              <a:rPr lang="en-US" sz="3200" dirty="0" err="1">
                <a:solidFill>
                  <a:srgbClr val="000000"/>
                </a:solidFill>
                <a:latin typeface="TimesLTStd-Roman"/>
              </a:rPr>
              <a:t>superclasses</a:t>
            </a:r>
            <a:r>
              <a:rPr lang="en-US" sz="3200" dirty="0">
                <a:solidFill>
                  <a:srgbClr val="000000"/>
                </a:solidFill>
                <a:latin typeface="TimesLTStd-Roman"/>
              </a:rPr>
              <a:t> and subclasses form a hierarchy which moves from lesser to greater specialization. </a:t>
            </a:r>
          </a:p>
          <a:p>
            <a:r>
              <a:rPr lang="en-US" sz="3200" dirty="0">
                <a:solidFill>
                  <a:srgbClr val="000000"/>
                </a:solidFill>
                <a:latin typeface="TimesLTStd-Roman"/>
              </a:rPr>
              <a:t>Used correctly, the superclass provides all elements that a subclass can use directly. </a:t>
            </a:r>
          </a:p>
        </p:txBody>
      </p:sp>
    </p:spTree>
    <p:extLst>
      <p:ext uri="{BB962C8B-B14F-4D97-AF65-F5344CB8AC3E}">
        <p14:creationId xmlns:p14="http://schemas.microsoft.com/office/powerpoint/2010/main" val="3493348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67919-B382-15C4-A407-0714B996E39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347BB0A-E34B-107F-CB9E-965ABFCAB34C}"/>
              </a:ext>
            </a:extLst>
          </p:cNvPr>
          <p:cNvSpPr>
            <a:spLocks noGrp="1"/>
          </p:cNvSpPr>
          <p:nvPr>
            <p:ph type="ctrTitle"/>
          </p:nvPr>
        </p:nvSpPr>
        <p:spPr>
          <a:xfrm>
            <a:off x="711200" y="-1"/>
            <a:ext cx="11064240" cy="614023"/>
          </a:xfrm>
        </p:spPr>
        <p:txBody>
          <a:bodyPr>
            <a:noAutofit/>
          </a:bodyPr>
          <a:lstStyle/>
          <a:p>
            <a:r>
              <a:rPr lang="en-US" sz="4000" b="1" dirty="0">
                <a:solidFill>
                  <a:schemeClr val="bg1"/>
                </a:solidFill>
              </a:rPr>
              <a:t>Why Overridden Methods?</a:t>
            </a:r>
            <a:endParaRPr lang="en-US" sz="4000" b="1" dirty="0">
              <a:solidFill>
                <a:schemeClr val="bg1"/>
              </a:solidFill>
              <a:latin typeface="Courier New" panose="02070309020205020404" pitchFamily="49" charset="0"/>
              <a:cs typeface="Courier New" panose="02070309020205020404" pitchFamily="49" charset="0"/>
            </a:endParaRPr>
          </a:p>
        </p:txBody>
      </p:sp>
      <p:sp>
        <p:nvSpPr>
          <p:cNvPr id="2" name="Content Placeholder 2">
            <a:extLst>
              <a:ext uri="{FF2B5EF4-FFF2-40B4-BE49-F238E27FC236}">
                <a16:creationId xmlns:a16="http://schemas.microsoft.com/office/drawing/2014/main" id="{380C19E9-D05A-0569-146B-DC733BA03269}"/>
              </a:ext>
            </a:extLst>
          </p:cNvPr>
          <p:cNvSpPr txBox="1">
            <a:spLocks/>
          </p:cNvSpPr>
          <p:nvPr/>
        </p:nvSpPr>
        <p:spPr>
          <a:xfrm>
            <a:off x="711200" y="1137920"/>
            <a:ext cx="10871200" cy="54762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solidFill>
                  <a:srgbClr val="000000"/>
                </a:solidFill>
                <a:latin typeface="TimesLTStd-Roman"/>
              </a:rPr>
              <a:t>It also defines those methods that the subclass must implement on its own.</a:t>
            </a:r>
          </a:p>
          <a:p>
            <a:r>
              <a:rPr lang="en-US" sz="3200" dirty="0">
                <a:solidFill>
                  <a:srgbClr val="000000"/>
                </a:solidFill>
                <a:latin typeface="TimesLTStd-Roman"/>
              </a:rPr>
              <a:t>This allows the subclass the flexibility to define its own methods, yet still enforces a consistent interface. </a:t>
            </a:r>
          </a:p>
          <a:p>
            <a:r>
              <a:rPr lang="en-US" sz="3200" dirty="0">
                <a:solidFill>
                  <a:srgbClr val="000000"/>
                </a:solidFill>
                <a:latin typeface="TimesLTStd-Roman"/>
              </a:rPr>
              <a:t>Dynamic, run-time polymorphism is one of the most powerful mechanisms that object-oriented design brings to bear on code reuse and robustness. </a:t>
            </a:r>
          </a:p>
          <a:p>
            <a:r>
              <a:rPr lang="en-US" sz="3200" dirty="0">
                <a:solidFill>
                  <a:srgbClr val="000000"/>
                </a:solidFill>
                <a:latin typeface="TimesLTStd-Roman"/>
              </a:rPr>
              <a:t>The ability of existing code libraries to call methods on instances of new classes without recompiling while maintaining a clean abstract interface is a profoundly powerful tool.</a:t>
            </a:r>
          </a:p>
        </p:txBody>
      </p:sp>
    </p:spTree>
    <p:extLst>
      <p:ext uri="{BB962C8B-B14F-4D97-AF65-F5344CB8AC3E}">
        <p14:creationId xmlns:p14="http://schemas.microsoft.com/office/powerpoint/2010/main" val="1476257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B50B2-7D68-02AA-8212-E89143F96A0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6B48B53-2719-332B-CE35-18339E56BF72}"/>
              </a:ext>
            </a:extLst>
          </p:cNvPr>
          <p:cNvSpPr>
            <a:spLocks noGrp="1"/>
          </p:cNvSpPr>
          <p:nvPr>
            <p:ph type="ctrTitle"/>
          </p:nvPr>
        </p:nvSpPr>
        <p:spPr>
          <a:xfrm>
            <a:off x="711200" y="-1"/>
            <a:ext cx="11064240" cy="614023"/>
          </a:xfrm>
        </p:spPr>
        <p:txBody>
          <a:bodyPr>
            <a:noAutofit/>
          </a:bodyPr>
          <a:lstStyle/>
          <a:p>
            <a:r>
              <a:rPr lang="en-US" sz="4000" b="1" dirty="0">
                <a:solidFill>
                  <a:schemeClr val="bg1"/>
                </a:solidFill>
              </a:rPr>
              <a:t>Applying Method Overriding</a:t>
            </a:r>
            <a:endParaRPr lang="en-US" sz="4000" b="1" dirty="0">
              <a:solidFill>
                <a:schemeClr val="bg1"/>
              </a:solidFill>
              <a:latin typeface="Courier New" panose="020703090202050204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E3AD5FC6-B4FD-F4AC-0807-646A08BEF4C4}"/>
              </a:ext>
            </a:extLst>
          </p:cNvPr>
          <p:cNvPicPr>
            <a:picLocks noChangeAspect="1"/>
          </p:cNvPicPr>
          <p:nvPr/>
        </p:nvPicPr>
        <p:blipFill>
          <a:blip r:embed="rId2"/>
          <a:stretch>
            <a:fillRect/>
          </a:stretch>
        </p:blipFill>
        <p:spPr>
          <a:xfrm>
            <a:off x="853921" y="1083279"/>
            <a:ext cx="5242079" cy="4565681"/>
          </a:xfrm>
          <a:prstGeom prst="rect">
            <a:avLst/>
          </a:prstGeom>
          <a:ln>
            <a:solidFill>
              <a:schemeClr val="bg1">
                <a:lumMod val="85000"/>
              </a:schemeClr>
            </a:solidFill>
          </a:ln>
        </p:spPr>
      </p:pic>
      <p:pic>
        <p:nvPicPr>
          <p:cNvPr id="7" name="Picture 6">
            <a:extLst>
              <a:ext uri="{FF2B5EF4-FFF2-40B4-BE49-F238E27FC236}">
                <a16:creationId xmlns:a16="http://schemas.microsoft.com/office/drawing/2014/main" id="{9BFD0405-F085-56BF-CE04-5677C9DB2E94}"/>
              </a:ext>
            </a:extLst>
          </p:cNvPr>
          <p:cNvPicPr>
            <a:picLocks noChangeAspect="1"/>
          </p:cNvPicPr>
          <p:nvPr/>
        </p:nvPicPr>
        <p:blipFill>
          <a:blip r:embed="rId3"/>
          <a:stretch>
            <a:fillRect/>
          </a:stretch>
        </p:blipFill>
        <p:spPr>
          <a:xfrm>
            <a:off x="6456665" y="1083279"/>
            <a:ext cx="4428678" cy="4312304"/>
          </a:xfrm>
          <a:prstGeom prst="rect">
            <a:avLst/>
          </a:prstGeom>
          <a:ln>
            <a:solidFill>
              <a:schemeClr val="bg1">
                <a:lumMod val="85000"/>
              </a:schemeClr>
            </a:solidFill>
          </a:ln>
        </p:spPr>
      </p:pic>
      <p:pic>
        <p:nvPicPr>
          <p:cNvPr id="9" name="Picture 8">
            <a:extLst>
              <a:ext uri="{FF2B5EF4-FFF2-40B4-BE49-F238E27FC236}">
                <a16:creationId xmlns:a16="http://schemas.microsoft.com/office/drawing/2014/main" id="{01B8745A-95A6-5A11-7F9C-94ECB03EE534}"/>
              </a:ext>
            </a:extLst>
          </p:cNvPr>
          <p:cNvPicPr>
            <a:picLocks noChangeAspect="1"/>
          </p:cNvPicPr>
          <p:nvPr/>
        </p:nvPicPr>
        <p:blipFill>
          <a:blip r:embed="rId4"/>
          <a:stretch>
            <a:fillRect/>
          </a:stretch>
        </p:blipFill>
        <p:spPr>
          <a:xfrm>
            <a:off x="7455266" y="5648960"/>
            <a:ext cx="2431475" cy="990114"/>
          </a:xfrm>
          <a:prstGeom prst="rect">
            <a:avLst/>
          </a:prstGeom>
          <a:ln>
            <a:solidFill>
              <a:schemeClr val="bg1">
                <a:lumMod val="85000"/>
              </a:schemeClr>
            </a:solidFill>
          </a:ln>
        </p:spPr>
      </p:pic>
      <p:sp>
        <p:nvSpPr>
          <p:cNvPr id="10" name="Content Placeholder 2">
            <a:extLst>
              <a:ext uri="{FF2B5EF4-FFF2-40B4-BE49-F238E27FC236}">
                <a16:creationId xmlns:a16="http://schemas.microsoft.com/office/drawing/2014/main" id="{34F526A3-205A-A253-4F4B-6567F7F2BBF1}"/>
              </a:ext>
            </a:extLst>
          </p:cNvPr>
          <p:cNvSpPr txBox="1">
            <a:spLocks/>
          </p:cNvSpPr>
          <p:nvPr/>
        </p:nvSpPr>
        <p:spPr>
          <a:xfrm>
            <a:off x="5894662" y="5928261"/>
            <a:ext cx="1425124" cy="379912"/>
          </a:xfrm>
          <a:prstGeom prst="rect">
            <a:avLst/>
          </a:prstGeom>
          <a:solidFill>
            <a:schemeClr val="accent6">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solidFill>
                  <a:srgbClr val="000000"/>
                </a:solidFill>
                <a:latin typeface="TimesLTStd-Roman"/>
              </a:rPr>
              <a:t>OUTPUT</a:t>
            </a:r>
          </a:p>
        </p:txBody>
      </p:sp>
    </p:spTree>
    <p:extLst>
      <p:ext uri="{BB962C8B-B14F-4D97-AF65-F5344CB8AC3E}">
        <p14:creationId xmlns:p14="http://schemas.microsoft.com/office/powerpoint/2010/main" val="1226189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0F295-6DEB-0659-D62D-DB777FEF6D5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E532F77-1537-5AD3-0098-8AC8E1535110}"/>
              </a:ext>
            </a:extLst>
          </p:cNvPr>
          <p:cNvSpPr>
            <a:spLocks noGrp="1"/>
          </p:cNvSpPr>
          <p:nvPr>
            <p:ph type="ctrTitle"/>
          </p:nvPr>
        </p:nvSpPr>
        <p:spPr>
          <a:xfrm>
            <a:off x="711200" y="-1"/>
            <a:ext cx="11064240" cy="614023"/>
          </a:xfrm>
        </p:spPr>
        <p:txBody>
          <a:bodyPr>
            <a:noAutofit/>
          </a:bodyPr>
          <a:lstStyle/>
          <a:p>
            <a:r>
              <a:rPr lang="en-US" sz="4000" b="1" dirty="0">
                <a:solidFill>
                  <a:schemeClr val="bg1"/>
                </a:solidFill>
              </a:rPr>
              <a:t>Applying Method Overriding</a:t>
            </a:r>
            <a:endParaRPr lang="en-US" sz="4000" b="1" dirty="0">
              <a:solidFill>
                <a:schemeClr val="bg1"/>
              </a:solidFill>
              <a:latin typeface="Courier New" panose="02070309020205020404" pitchFamily="49" charset="0"/>
              <a:cs typeface="Courier New" panose="02070309020205020404" pitchFamily="49" charset="0"/>
            </a:endParaRPr>
          </a:p>
        </p:txBody>
      </p:sp>
      <p:sp>
        <p:nvSpPr>
          <p:cNvPr id="2" name="Content Placeholder 2">
            <a:extLst>
              <a:ext uri="{FF2B5EF4-FFF2-40B4-BE49-F238E27FC236}">
                <a16:creationId xmlns:a16="http://schemas.microsoft.com/office/drawing/2014/main" id="{DED639A3-9A17-F166-8C25-A0C098C742B8}"/>
              </a:ext>
            </a:extLst>
          </p:cNvPr>
          <p:cNvSpPr txBox="1">
            <a:spLocks/>
          </p:cNvSpPr>
          <p:nvPr/>
        </p:nvSpPr>
        <p:spPr>
          <a:xfrm>
            <a:off x="711200" y="1087120"/>
            <a:ext cx="10871200" cy="5648960"/>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solidFill>
                  <a:srgbClr val="000000"/>
                </a:solidFill>
                <a:latin typeface="TimesLTStd-Roman"/>
              </a:rPr>
              <a:t>The preceding program creates a superclass called </a:t>
            </a:r>
            <a:r>
              <a:rPr lang="en-US" sz="3200" dirty="0">
                <a:solidFill>
                  <a:srgbClr val="000000"/>
                </a:solidFill>
                <a:latin typeface="Courier New" panose="02070309020205020404" pitchFamily="49" charset="0"/>
                <a:cs typeface="Courier New" panose="02070309020205020404" pitchFamily="49" charset="0"/>
              </a:rPr>
              <a:t>Figure</a:t>
            </a:r>
            <a:r>
              <a:rPr lang="en-US" sz="3200" dirty="0">
                <a:solidFill>
                  <a:srgbClr val="000000"/>
                </a:solidFill>
                <a:latin typeface="TimesLTStd-Roman"/>
              </a:rPr>
              <a:t> that stores the dimensions of a two-dimensional object. </a:t>
            </a:r>
          </a:p>
          <a:p>
            <a:r>
              <a:rPr lang="en-US" sz="3200" dirty="0">
                <a:solidFill>
                  <a:srgbClr val="000000"/>
                </a:solidFill>
                <a:latin typeface="TimesLTStd-Roman"/>
              </a:rPr>
              <a:t>It also defines a method called </a:t>
            </a:r>
            <a:r>
              <a:rPr lang="en-US" sz="3200" dirty="0">
                <a:solidFill>
                  <a:srgbClr val="000000"/>
                </a:solidFill>
                <a:latin typeface="Courier New" panose="02070309020205020404" pitchFamily="49" charset="0"/>
                <a:cs typeface="Courier New" panose="02070309020205020404" pitchFamily="49" charset="0"/>
              </a:rPr>
              <a:t>area()</a:t>
            </a:r>
            <a:r>
              <a:rPr lang="en-US" sz="3200" dirty="0">
                <a:solidFill>
                  <a:srgbClr val="000000"/>
                </a:solidFill>
                <a:latin typeface="TimesLTStd-Roman"/>
              </a:rPr>
              <a:t> that computes the area of an object. </a:t>
            </a:r>
          </a:p>
          <a:p>
            <a:r>
              <a:rPr lang="en-US" sz="3200" dirty="0">
                <a:solidFill>
                  <a:srgbClr val="000000"/>
                </a:solidFill>
                <a:latin typeface="TimesLTStd-Roman"/>
              </a:rPr>
              <a:t>The program derives two subclasses from </a:t>
            </a:r>
            <a:r>
              <a:rPr lang="en-US" sz="3200" dirty="0">
                <a:solidFill>
                  <a:srgbClr val="000000"/>
                </a:solidFill>
                <a:latin typeface="Courier New" panose="02070309020205020404" pitchFamily="49" charset="0"/>
                <a:cs typeface="Courier New" panose="02070309020205020404" pitchFamily="49" charset="0"/>
              </a:rPr>
              <a:t>Figure</a:t>
            </a:r>
            <a:r>
              <a:rPr lang="en-US" sz="3200" dirty="0">
                <a:solidFill>
                  <a:srgbClr val="000000"/>
                </a:solidFill>
                <a:latin typeface="TimesLTStd-Roman"/>
              </a:rPr>
              <a:t>. </a:t>
            </a:r>
          </a:p>
          <a:p>
            <a:r>
              <a:rPr lang="en-US" sz="3200" dirty="0">
                <a:solidFill>
                  <a:srgbClr val="000000"/>
                </a:solidFill>
                <a:latin typeface="TimesLTStd-Roman"/>
              </a:rPr>
              <a:t>The first is </a:t>
            </a:r>
            <a:r>
              <a:rPr lang="en-US" sz="3200" dirty="0">
                <a:solidFill>
                  <a:srgbClr val="000000"/>
                </a:solidFill>
                <a:latin typeface="Courier New" panose="02070309020205020404" pitchFamily="49" charset="0"/>
                <a:cs typeface="Courier New" panose="02070309020205020404" pitchFamily="49" charset="0"/>
              </a:rPr>
              <a:t>Rectangle</a:t>
            </a:r>
            <a:r>
              <a:rPr lang="en-US" sz="3200" dirty="0">
                <a:solidFill>
                  <a:srgbClr val="000000"/>
                </a:solidFill>
                <a:latin typeface="TimesLTStd-Roman"/>
              </a:rPr>
              <a:t> and the second is </a:t>
            </a:r>
            <a:r>
              <a:rPr lang="en-US" sz="3200" dirty="0">
                <a:solidFill>
                  <a:srgbClr val="000000"/>
                </a:solidFill>
                <a:latin typeface="Courier New" panose="02070309020205020404" pitchFamily="49" charset="0"/>
                <a:cs typeface="Courier New" panose="02070309020205020404" pitchFamily="49" charset="0"/>
              </a:rPr>
              <a:t>Triangle</a:t>
            </a:r>
            <a:r>
              <a:rPr lang="en-US" sz="3200" dirty="0">
                <a:solidFill>
                  <a:srgbClr val="000000"/>
                </a:solidFill>
                <a:latin typeface="TimesLTStd-Roman"/>
              </a:rPr>
              <a:t>. </a:t>
            </a:r>
          </a:p>
          <a:p>
            <a:r>
              <a:rPr lang="en-US" sz="3200" dirty="0">
                <a:solidFill>
                  <a:srgbClr val="000000"/>
                </a:solidFill>
                <a:latin typeface="TimesLTStd-Roman"/>
              </a:rPr>
              <a:t>Each of these subclasses overrides </a:t>
            </a:r>
            <a:r>
              <a:rPr lang="en-US" sz="3200" dirty="0">
                <a:solidFill>
                  <a:srgbClr val="000000"/>
                </a:solidFill>
                <a:latin typeface="Courier New" panose="02070309020205020404" pitchFamily="49" charset="0"/>
                <a:cs typeface="Courier New" panose="02070309020205020404" pitchFamily="49" charset="0"/>
              </a:rPr>
              <a:t>area()</a:t>
            </a:r>
            <a:r>
              <a:rPr lang="en-US" sz="3200" dirty="0">
                <a:solidFill>
                  <a:srgbClr val="000000"/>
                </a:solidFill>
                <a:latin typeface="TimesLTStd-Roman"/>
              </a:rPr>
              <a:t> so that it returns the area of a rectangle and a triangle, respectively.</a:t>
            </a:r>
          </a:p>
          <a:p>
            <a:r>
              <a:rPr lang="en-US" sz="3200" dirty="0">
                <a:solidFill>
                  <a:srgbClr val="000000"/>
                </a:solidFill>
                <a:latin typeface="TimesLTStd-Roman"/>
              </a:rPr>
              <a:t>Through the dual mechanisms of inheritance and run-time polymorphism, it is possible to define one consistent interface that is used by several different, yet related, types of objects. </a:t>
            </a:r>
          </a:p>
          <a:p>
            <a:r>
              <a:rPr lang="en-US" sz="3200" dirty="0">
                <a:solidFill>
                  <a:srgbClr val="000000"/>
                </a:solidFill>
                <a:latin typeface="TimesLTStd-Roman"/>
              </a:rPr>
              <a:t>In this case, if an object is derived from </a:t>
            </a:r>
            <a:r>
              <a:rPr lang="en-US" sz="3200" dirty="0">
                <a:solidFill>
                  <a:srgbClr val="000000"/>
                </a:solidFill>
                <a:latin typeface="Courier New" panose="02070309020205020404" pitchFamily="49" charset="0"/>
                <a:cs typeface="Courier New" panose="02070309020205020404" pitchFamily="49" charset="0"/>
              </a:rPr>
              <a:t>Figure</a:t>
            </a:r>
            <a:r>
              <a:rPr lang="en-US" sz="3200" dirty="0">
                <a:solidFill>
                  <a:srgbClr val="000000"/>
                </a:solidFill>
                <a:latin typeface="TimesLTStd-Roman"/>
              </a:rPr>
              <a:t>, then its area can be obtained by calling </a:t>
            </a:r>
            <a:r>
              <a:rPr lang="en-US" sz="3200" dirty="0">
                <a:solidFill>
                  <a:srgbClr val="000000"/>
                </a:solidFill>
                <a:latin typeface="Courier New" panose="02070309020205020404" pitchFamily="49" charset="0"/>
                <a:cs typeface="Courier New" panose="02070309020205020404" pitchFamily="49" charset="0"/>
              </a:rPr>
              <a:t>area()</a:t>
            </a:r>
            <a:r>
              <a:rPr lang="en-US" sz="3200" dirty="0">
                <a:solidFill>
                  <a:srgbClr val="000000"/>
                </a:solidFill>
                <a:latin typeface="TimesLTStd-Roman"/>
              </a:rPr>
              <a:t>. </a:t>
            </a:r>
          </a:p>
          <a:p>
            <a:r>
              <a:rPr lang="en-US" sz="3200" dirty="0">
                <a:solidFill>
                  <a:srgbClr val="000000"/>
                </a:solidFill>
                <a:latin typeface="TimesLTStd-Roman"/>
              </a:rPr>
              <a:t>The interface to this operation is the same no matter what type of figure is being used.</a:t>
            </a:r>
          </a:p>
        </p:txBody>
      </p:sp>
    </p:spTree>
    <p:extLst>
      <p:ext uri="{BB962C8B-B14F-4D97-AF65-F5344CB8AC3E}">
        <p14:creationId xmlns:p14="http://schemas.microsoft.com/office/powerpoint/2010/main" val="3362936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754380" y="2092960"/>
            <a:ext cx="10337800" cy="1899920"/>
          </a:xfrm>
        </p:spPr>
        <p:txBody>
          <a:bodyPr>
            <a:noAutofit/>
          </a:bodyPr>
          <a:lstStyle/>
          <a:p>
            <a:r>
              <a:rPr lang="en-US" sz="5400" b="1" dirty="0">
                <a:solidFill>
                  <a:schemeClr val="accent1"/>
                </a:solidFill>
              </a:rPr>
              <a:t>Abstract Classes</a:t>
            </a:r>
            <a:br>
              <a:rPr lang="en-US" sz="4400" b="1" dirty="0">
                <a:solidFill>
                  <a:schemeClr val="accent1"/>
                </a:solidFill>
              </a:rPr>
            </a:br>
            <a:br>
              <a:rPr lang="en-US" sz="4000" b="1" dirty="0">
                <a:solidFill>
                  <a:schemeClr val="accent1"/>
                </a:solidFill>
              </a:rPr>
            </a:br>
            <a:endParaRPr lang="en-US" sz="3600" b="1" dirty="0">
              <a:solidFill>
                <a:schemeClr val="accent1"/>
              </a:solidFill>
            </a:endParaRPr>
          </a:p>
        </p:txBody>
      </p:sp>
    </p:spTree>
    <p:extLst>
      <p:ext uri="{BB962C8B-B14F-4D97-AF65-F5344CB8AC3E}">
        <p14:creationId xmlns:p14="http://schemas.microsoft.com/office/powerpoint/2010/main" val="3806125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Abstract Classes: Introduction</a:t>
            </a:r>
            <a:endParaRPr lang="en-US" sz="3600" b="1" dirty="0">
              <a:solidFill>
                <a:schemeClr val="bg1"/>
              </a:solidFill>
            </a:endParaRPr>
          </a:p>
        </p:txBody>
      </p:sp>
      <p:sp>
        <p:nvSpPr>
          <p:cNvPr id="2" name="Content Placeholder 2">
            <a:extLst>
              <a:ext uri="{FF2B5EF4-FFF2-40B4-BE49-F238E27FC236}">
                <a16:creationId xmlns:a16="http://schemas.microsoft.com/office/drawing/2014/main" id="{BBC863AA-F1EF-A435-BFC0-99B577795194}"/>
              </a:ext>
            </a:extLst>
          </p:cNvPr>
          <p:cNvSpPr txBox="1">
            <a:spLocks/>
          </p:cNvSpPr>
          <p:nvPr/>
        </p:nvSpPr>
        <p:spPr>
          <a:xfrm>
            <a:off x="711199" y="1056640"/>
            <a:ext cx="11196321" cy="556768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i="0" u="none" strike="noStrike" baseline="0" dirty="0">
                <a:solidFill>
                  <a:srgbClr val="000000"/>
                </a:solidFill>
                <a:latin typeface="TimesLTStd-Roman"/>
              </a:rPr>
              <a:t>There are situations in which you will want to define a superclass that declares the </a:t>
            </a:r>
            <a:r>
              <a:rPr lang="en-US" b="1" i="1" u="none" strike="noStrike" baseline="0" dirty="0">
                <a:solidFill>
                  <a:srgbClr val="000000"/>
                </a:solidFill>
                <a:latin typeface="TimesLTStd-Roman"/>
              </a:rPr>
              <a:t>structure of a given abstraction</a:t>
            </a:r>
            <a:r>
              <a:rPr lang="en-US" b="0" i="0" u="none" strike="noStrike" baseline="0" dirty="0">
                <a:solidFill>
                  <a:srgbClr val="000000"/>
                </a:solidFill>
                <a:latin typeface="TimesLTStd-Roman"/>
              </a:rPr>
              <a:t> without providing a complete implementation of every method.</a:t>
            </a:r>
          </a:p>
          <a:p>
            <a:r>
              <a:rPr lang="en-US" b="0" i="0" u="none" strike="noStrike" baseline="0" dirty="0">
                <a:solidFill>
                  <a:srgbClr val="000000"/>
                </a:solidFill>
                <a:latin typeface="TimesLTStd-Roman"/>
              </a:rPr>
              <a:t>That is, sometimes you will want to create a superclass that only defines a generalized form that will be shared by all of its subclasses, leaving it to </a:t>
            </a:r>
            <a:r>
              <a:rPr lang="en-US" b="1" i="1" u="none" strike="noStrike" baseline="0" dirty="0">
                <a:solidFill>
                  <a:srgbClr val="000000"/>
                </a:solidFill>
                <a:latin typeface="TimesLTStd-Roman"/>
              </a:rPr>
              <a:t>each subclass to fill in the details</a:t>
            </a:r>
            <a:r>
              <a:rPr lang="en-US" b="0" i="0" u="none" strike="noStrike" baseline="0" dirty="0">
                <a:solidFill>
                  <a:srgbClr val="000000"/>
                </a:solidFill>
                <a:latin typeface="TimesLTStd-Roman"/>
              </a:rPr>
              <a:t>.</a:t>
            </a:r>
          </a:p>
          <a:p>
            <a:r>
              <a:rPr lang="en-US" b="0" i="0" u="none" strike="noStrike" baseline="0" dirty="0">
                <a:solidFill>
                  <a:srgbClr val="000000"/>
                </a:solidFill>
                <a:latin typeface="TimesLTStd-Roman"/>
              </a:rPr>
              <a:t>Such a class determines the </a:t>
            </a:r>
            <a:r>
              <a:rPr lang="en-US" b="1" i="1" u="none" strike="noStrike" baseline="0" dirty="0">
                <a:solidFill>
                  <a:srgbClr val="000000"/>
                </a:solidFill>
                <a:latin typeface="TimesLTStd-Roman"/>
              </a:rPr>
              <a:t>nature of the methods that the subclasses must implement</a:t>
            </a:r>
            <a:r>
              <a:rPr lang="en-US" b="0" i="0" u="none" strike="noStrike" baseline="0" dirty="0">
                <a:solidFill>
                  <a:srgbClr val="000000"/>
                </a:solidFill>
                <a:latin typeface="TimesLTStd-Roman"/>
              </a:rPr>
              <a:t>.</a:t>
            </a:r>
          </a:p>
          <a:p>
            <a:r>
              <a:rPr lang="en-US" b="0" i="0" u="none" strike="noStrike" baseline="0" dirty="0">
                <a:solidFill>
                  <a:srgbClr val="000000"/>
                </a:solidFill>
                <a:latin typeface="TimesLTStd-Roman"/>
              </a:rPr>
              <a:t>One way this situation can occur is when a superclass is unable to create a meaningful implementation for a method</a:t>
            </a:r>
            <a:r>
              <a:rPr lang="en-US" dirty="0">
                <a:solidFill>
                  <a:srgbClr val="000000"/>
                </a:solidFill>
                <a:latin typeface="TimesLTStd-Roman"/>
              </a:rPr>
              <a:t> (as in the case of </a:t>
            </a:r>
            <a:r>
              <a:rPr lang="en-US" dirty="0" err="1">
                <a:solidFill>
                  <a:srgbClr val="000000"/>
                </a:solidFill>
                <a:latin typeface="Courier New" panose="02070309020205020404" pitchFamily="49" charset="0"/>
                <a:cs typeface="Courier New" panose="02070309020205020404" pitchFamily="49" charset="0"/>
              </a:rPr>
              <a:t>makeSound</a:t>
            </a:r>
            <a:r>
              <a:rPr lang="en-US" dirty="0">
                <a:solidFill>
                  <a:srgbClr val="000000"/>
                </a:solidFill>
                <a:latin typeface="Courier New" panose="02070309020205020404" pitchFamily="49" charset="0"/>
                <a:cs typeface="Courier New" panose="02070309020205020404" pitchFamily="49" charset="0"/>
              </a:rPr>
              <a:t>()</a:t>
            </a:r>
            <a:r>
              <a:rPr lang="en-US" dirty="0">
                <a:solidFill>
                  <a:srgbClr val="000000"/>
                </a:solidFill>
                <a:latin typeface="TimesLTStd-Roman"/>
              </a:rPr>
              <a:t> method in the </a:t>
            </a:r>
            <a:r>
              <a:rPr lang="en-US" dirty="0">
                <a:solidFill>
                  <a:srgbClr val="000000"/>
                </a:solidFill>
                <a:latin typeface="Courier New" panose="02070309020205020404" pitchFamily="49" charset="0"/>
                <a:cs typeface="Courier New" panose="02070309020205020404" pitchFamily="49" charset="0"/>
              </a:rPr>
              <a:t>Animal</a:t>
            </a:r>
            <a:r>
              <a:rPr lang="en-US" dirty="0">
                <a:solidFill>
                  <a:srgbClr val="000000"/>
                </a:solidFill>
                <a:latin typeface="TimesLTStd-Roman"/>
              </a:rPr>
              <a:t> class in the following example)</a:t>
            </a:r>
            <a:r>
              <a:rPr lang="en-US" b="0" i="0" u="none" strike="noStrike" baseline="0" dirty="0">
                <a:solidFill>
                  <a:srgbClr val="000000"/>
                </a:solidFill>
                <a:latin typeface="TimesLTStd-Roman"/>
              </a:rPr>
              <a:t>.</a:t>
            </a:r>
          </a:p>
          <a:p>
            <a:r>
              <a:rPr lang="en-US" dirty="0">
                <a:solidFill>
                  <a:srgbClr val="000000"/>
                </a:solidFill>
                <a:latin typeface="TimesLTStd-Roman"/>
              </a:rPr>
              <a:t>Abstract classes in Java provide a solution to these types of requirements.</a:t>
            </a:r>
            <a:endParaRPr lang="en-US" sz="3600" dirty="0">
              <a:solidFill>
                <a:srgbClr val="000000"/>
              </a:solidFill>
              <a:latin typeface="TimesLTStd-Roman"/>
            </a:endParaRPr>
          </a:p>
        </p:txBody>
      </p:sp>
    </p:spTree>
    <p:extLst>
      <p:ext uri="{BB962C8B-B14F-4D97-AF65-F5344CB8AC3E}">
        <p14:creationId xmlns:p14="http://schemas.microsoft.com/office/powerpoint/2010/main" val="3734466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An Example of </a:t>
            </a:r>
            <a:r>
              <a:rPr lang="en-US" sz="3600" b="1" dirty="0">
                <a:solidFill>
                  <a:schemeClr val="bg1"/>
                </a:solidFill>
              </a:rPr>
              <a:t>Abstract Class</a:t>
            </a:r>
          </a:p>
        </p:txBody>
      </p:sp>
      <p:pic>
        <p:nvPicPr>
          <p:cNvPr id="3" name="Picture 2">
            <a:extLst>
              <a:ext uri="{FF2B5EF4-FFF2-40B4-BE49-F238E27FC236}">
                <a16:creationId xmlns:a16="http://schemas.microsoft.com/office/drawing/2014/main" id="{F0E1D135-C8EE-0F09-E60F-12525AE70D49}"/>
              </a:ext>
            </a:extLst>
          </p:cNvPr>
          <p:cNvPicPr>
            <a:picLocks noChangeAspect="1"/>
          </p:cNvPicPr>
          <p:nvPr/>
        </p:nvPicPr>
        <p:blipFill>
          <a:blip r:embed="rId2"/>
          <a:stretch>
            <a:fillRect/>
          </a:stretch>
        </p:blipFill>
        <p:spPr>
          <a:xfrm>
            <a:off x="1254475" y="823685"/>
            <a:ext cx="5228166" cy="5704948"/>
          </a:xfrm>
          <a:prstGeom prst="rect">
            <a:avLst/>
          </a:prstGeom>
          <a:ln>
            <a:solidFill>
              <a:schemeClr val="bg1">
                <a:lumMod val="85000"/>
              </a:schemeClr>
            </a:solidFill>
          </a:ln>
        </p:spPr>
      </p:pic>
      <p:pic>
        <p:nvPicPr>
          <p:cNvPr id="9" name="Picture 8">
            <a:extLst>
              <a:ext uri="{FF2B5EF4-FFF2-40B4-BE49-F238E27FC236}">
                <a16:creationId xmlns:a16="http://schemas.microsoft.com/office/drawing/2014/main" id="{57FC54BC-A456-FA41-A639-9B7C77845343}"/>
              </a:ext>
            </a:extLst>
          </p:cNvPr>
          <p:cNvPicPr>
            <a:picLocks noChangeAspect="1"/>
          </p:cNvPicPr>
          <p:nvPr/>
        </p:nvPicPr>
        <p:blipFill>
          <a:blip r:embed="rId3"/>
          <a:stretch>
            <a:fillRect/>
          </a:stretch>
        </p:blipFill>
        <p:spPr>
          <a:xfrm>
            <a:off x="6644722" y="823685"/>
            <a:ext cx="5039278" cy="5006872"/>
          </a:xfrm>
          <a:prstGeom prst="rect">
            <a:avLst/>
          </a:prstGeom>
          <a:ln>
            <a:solidFill>
              <a:schemeClr val="bg1">
                <a:lumMod val="85000"/>
              </a:schemeClr>
            </a:solidFill>
          </a:ln>
        </p:spPr>
      </p:pic>
      <p:sp>
        <p:nvSpPr>
          <p:cNvPr id="12" name="Content Placeholder 2">
            <a:extLst>
              <a:ext uri="{FF2B5EF4-FFF2-40B4-BE49-F238E27FC236}">
                <a16:creationId xmlns:a16="http://schemas.microsoft.com/office/drawing/2014/main" id="{D479889D-2B91-CF3E-375E-AF055B749D8C}"/>
              </a:ext>
            </a:extLst>
          </p:cNvPr>
          <p:cNvSpPr txBox="1">
            <a:spLocks/>
          </p:cNvSpPr>
          <p:nvPr/>
        </p:nvSpPr>
        <p:spPr>
          <a:xfrm>
            <a:off x="7093542" y="6148721"/>
            <a:ext cx="1425124" cy="379912"/>
          </a:xfrm>
          <a:prstGeom prst="rect">
            <a:avLst/>
          </a:prstGeom>
          <a:solidFill>
            <a:schemeClr val="accent6">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solidFill>
                  <a:srgbClr val="000000"/>
                </a:solidFill>
                <a:latin typeface="TimesLTStd-Roman"/>
              </a:rPr>
              <a:t>OUTPUT</a:t>
            </a:r>
          </a:p>
        </p:txBody>
      </p:sp>
      <p:pic>
        <p:nvPicPr>
          <p:cNvPr id="14" name="Picture 13">
            <a:extLst>
              <a:ext uri="{FF2B5EF4-FFF2-40B4-BE49-F238E27FC236}">
                <a16:creationId xmlns:a16="http://schemas.microsoft.com/office/drawing/2014/main" id="{FF5159DC-D37B-A7E6-F109-F9528D217B84}"/>
              </a:ext>
            </a:extLst>
          </p:cNvPr>
          <p:cNvPicPr>
            <a:picLocks noChangeAspect="1"/>
          </p:cNvPicPr>
          <p:nvPr/>
        </p:nvPicPr>
        <p:blipFill>
          <a:blip r:embed="rId4"/>
          <a:stretch>
            <a:fillRect/>
          </a:stretch>
        </p:blipFill>
        <p:spPr>
          <a:xfrm>
            <a:off x="8659867" y="5998110"/>
            <a:ext cx="1886213" cy="681133"/>
          </a:xfrm>
          <a:prstGeom prst="rect">
            <a:avLst/>
          </a:prstGeom>
          <a:ln>
            <a:solidFill>
              <a:schemeClr val="bg1">
                <a:lumMod val="85000"/>
              </a:schemeClr>
            </a:solidFill>
          </a:ln>
        </p:spPr>
      </p:pic>
    </p:spTree>
    <p:extLst>
      <p:ext uri="{BB962C8B-B14F-4D97-AF65-F5344CB8AC3E}">
        <p14:creationId xmlns:p14="http://schemas.microsoft.com/office/powerpoint/2010/main" val="3076166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Abstract Classes: Definitions</a:t>
            </a:r>
            <a:endParaRPr lang="en-US" sz="3600" b="1" dirty="0">
              <a:solidFill>
                <a:schemeClr val="bg1"/>
              </a:solidFill>
            </a:endParaRPr>
          </a:p>
        </p:txBody>
      </p:sp>
      <p:sp>
        <p:nvSpPr>
          <p:cNvPr id="2" name="Content Placeholder 2">
            <a:extLst>
              <a:ext uri="{FF2B5EF4-FFF2-40B4-BE49-F238E27FC236}">
                <a16:creationId xmlns:a16="http://schemas.microsoft.com/office/drawing/2014/main" id="{BBC863AA-F1EF-A435-BFC0-99B577795194}"/>
              </a:ext>
            </a:extLst>
          </p:cNvPr>
          <p:cNvSpPr txBox="1">
            <a:spLocks/>
          </p:cNvSpPr>
          <p:nvPr/>
        </p:nvSpPr>
        <p:spPr>
          <a:xfrm>
            <a:off x="599439" y="1188720"/>
            <a:ext cx="11196321" cy="55575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i="0" u="none" strike="noStrike" baseline="0" dirty="0">
                <a:solidFill>
                  <a:srgbClr val="000000"/>
                </a:solidFill>
                <a:latin typeface="TimesLTStd-Roman"/>
              </a:rPr>
              <a:t>An </a:t>
            </a:r>
            <a:r>
              <a:rPr lang="en-US" b="1" i="0" u="none" strike="noStrike" baseline="0" dirty="0">
                <a:solidFill>
                  <a:srgbClr val="000000"/>
                </a:solidFill>
                <a:latin typeface="TimesLTStd-Roman"/>
              </a:rPr>
              <a:t>Abstract class</a:t>
            </a:r>
            <a:r>
              <a:rPr lang="en-US" b="0" i="0" u="none" strike="noStrike" baseline="0" dirty="0">
                <a:solidFill>
                  <a:srgbClr val="000000"/>
                </a:solidFill>
                <a:latin typeface="TimesLTStd-Roman"/>
              </a:rPr>
              <a:t> in Java is a class that cannot be instantiated on its own; it serves as a </a:t>
            </a:r>
            <a:r>
              <a:rPr lang="en-US" b="1" i="1" u="none" strike="noStrike" baseline="0" dirty="0">
                <a:solidFill>
                  <a:srgbClr val="000000"/>
                </a:solidFill>
                <a:latin typeface="TimesLTStd-Roman"/>
              </a:rPr>
              <a:t>blueprint</a:t>
            </a:r>
            <a:r>
              <a:rPr lang="en-US" b="0" i="0" u="none" strike="noStrike" baseline="0" dirty="0">
                <a:solidFill>
                  <a:srgbClr val="000000"/>
                </a:solidFill>
                <a:latin typeface="TimesLTStd-Roman"/>
              </a:rPr>
              <a:t> for other classes (that is, its subclasses). </a:t>
            </a:r>
          </a:p>
          <a:p>
            <a:r>
              <a:rPr lang="en-US" b="0" i="0" u="none" strike="noStrike" baseline="0" dirty="0">
                <a:solidFill>
                  <a:srgbClr val="000000"/>
                </a:solidFill>
                <a:latin typeface="TimesLTStd-Roman"/>
              </a:rPr>
              <a:t>Abstract classes can contain </a:t>
            </a:r>
            <a:r>
              <a:rPr lang="en-US" b="1" i="0" u="none" strike="noStrike" baseline="0" dirty="0">
                <a:solidFill>
                  <a:srgbClr val="000000"/>
                </a:solidFill>
                <a:latin typeface="TimesLTStd-Roman"/>
              </a:rPr>
              <a:t>Abstract methods</a:t>
            </a:r>
            <a:r>
              <a:rPr lang="en-US" b="0" i="0" u="none" strike="noStrike" baseline="0" dirty="0">
                <a:solidFill>
                  <a:srgbClr val="000000"/>
                </a:solidFill>
                <a:latin typeface="TimesLTStd-Roman"/>
              </a:rPr>
              <a:t> (methods without a body) as well as </a:t>
            </a:r>
            <a:r>
              <a:rPr lang="en-US" b="1" i="0" u="none" strike="noStrike" baseline="0" dirty="0">
                <a:solidFill>
                  <a:srgbClr val="000000"/>
                </a:solidFill>
                <a:latin typeface="TimesLTStd-Roman"/>
              </a:rPr>
              <a:t>Concrete methods</a:t>
            </a:r>
            <a:r>
              <a:rPr lang="en-US" b="0" i="0" u="none" strike="noStrike" baseline="0" dirty="0">
                <a:solidFill>
                  <a:srgbClr val="000000"/>
                </a:solidFill>
                <a:latin typeface="TimesLTStd-Roman"/>
              </a:rPr>
              <a:t> (methods with a body). </a:t>
            </a:r>
          </a:p>
          <a:p>
            <a:r>
              <a:rPr lang="en-US" b="0" i="0" u="none" strike="noStrike" baseline="0" dirty="0">
                <a:solidFill>
                  <a:srgbClr val="000000"/>
                </a:solidFill>
                <a:latin typeface="TimesLTStd-Roman"/>
              </a:rPr>
              <a:t>Abstract methods defined in an abstract class must be implemented by any concrete (i.e., non-abstract) subclass that extends the abstract class.</a:t>
            </a:r>
          </a:p>
          <a:p>
            <a:r>
              <a:rPr lang="en-US" dirty="0">
                <a:solidFill>
                  <a:srgbClr val="000000"/>
                </a:solidFill>
                <a:latin typeface="TimesLTStd-Roman"/>
              </a:rPr>
              <a:t>The general form of abstract methods is: </a:t>
            </a:r>
          </a:p>
          <a:p>
            <a:endParaRPr lang="en-US" dirty="0">
              <a:solidFill>
                <a:srgbClr val="000000"/>
              </a:solidFill>
              <a:latin typeface="TimesLTStd-Roman"/>
            </a:endParaRPr>
          </a:p>
          <a:p>
            <a:pPr marL="0" indent="0">
              <a:buNone/>
            </a:pPr>
            <a:endParaRPr lang="en-US" dirty="0">
              <a:solidFill>
                <a:srgbClr val="000000"/>
              </a:solidFill>
              <a:latin typeface="TimesLTStd-Roman"/>
            </a:endParaRPr>
          </a:p>
          <a:p>
            <a:pPr marL="0" indent="0">
              <a:buNone/>
            </a:pPr>
            <a:endParaRPr lang="en-US" dirty="0">
              <a:solidFill>
                <a:srgbClr val="000000"/>
              </a:solidFill>
              <a:latin typeface="TimesLTStd-Roman"/>
            </a:endParaRPr>
          </a:p>
          <a:p>
            <a:endParaRPr lang="en-US" sz="3600" dirty="0">
              <a:solidFill>
                <a:srgbClr val="000000"/>
              </a:solidFill>
              <a:latin typeface="TimesLTStd-Roman"/>
            </a:endParaRPr>
          </a:p>
        </p:txBody>
      </p:sp>
      <p:pic>
        <p:nvPicPr>
          <p:cNvPr id="4" name="Picture 3">
            <a:extLst>
              <a:ext uri="{FF2B5EF4-FFF2-40B4-BE49-F238E27FC236}">
                <a16:creationId xmlns:a16="http://schemas.microsoft.com/office/drawing/2014/main" id="{941315E1-1548-0E0E-126A-F7BECBDF3D2A}"/>
              </a:ext>
            </a:extLst>
          </p:cNvPr>
          <p:cNvPicPr>
            <a:picLocks noChangeAspect="1"/>
          </p:cNvPicPr>
          <p:nvPr/>
        </p:nvPicPr>
        <p:blipFill>
          <a:blip r:embed="rId2"/>
          <a:stretch>
            <a:fillRect/>
          </a:stretch>
        </p:blipFill>
        <p:spPr>
          <a:xfrm>
            <a:off x="2493985" y="4902824"/>
            <a:ext cx="4549150" cy="471816"/>
          </a:xfrm>
          <a:prstGeom prst="rect">
            <a:avLst/>
          </a:prstGeom>
        </p:spPr>
      </p:pic>
    </p:spTree>
    <p:extLst>
      <p:ext uri="{BB962C8B-B14F-4D97-AF65-F5344CB8AC3E}">
        <p14:creationId xmlns:p14="http://schemas.microsoft.com/office/powerpoint/2010/main" val="26602054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Rules of Abstract Classes</a:t>
            </a:r>
            <a:endParaRPr lang="en-US" sz="3600" b="1" dirty="0">
              <a:solidFill>
                <a:schemeClr val="bg1"/>
              </a:solidFill>
            </a:endParaRPr>
          </a:p>
        </p:txBody>
      </p:sp>
      <p:sp>
        <p:nvSpPr>
          <p:cNvPr id="2" name="Content Placeholder 2">
            <a:extLst>
              <a:ext uri="{FF2B5EF4-FFF2-40B4-BE49-F238E27FC236}">
                <a16:creationId xmlns:a16="http://schemas.microsoft.com/office/drawing/2014/main" id="{BBC863AA-F1EF-A435-BFC0-99B577795194}"/>
              </a:ext>
            </a:extLst>
          </p:cNvPr>
          <p:cNvSpPr txBox="1">
            <a:spLocks/>
          </p:cNvSpPr>
          <p:nvPr/>
        </p:nvSpPr>
        <p:spPr>
          <a:xfrm>
            <a:off x="589279" y="1016000"/>
            <a:ext cx="11196321" cy="555752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TimesLTStd-Roman"/>
              </a:rPr>
              <a:t>Rules of Abstract Classes</a:t>
            </a:r>
          </a:p>
          <a:p>
            <a:r>
              <a:rPr lang="en-US" sz="2400" b="1" i="1" dirty="0">
                <a:solidFill>
                  <a:srgbClr val="000000"/>
                </a:solidFill>
                <a:latin typeface="TimesLTStd-Roman"/>
              </a:rPr>
              <a:t>Any class that contains one or more abstract methods must also be declared abstract.</a:t>
            </a:r>
          </a:p>
          <a:p>
            <a:r>
              <a:rPr lang="en-US" sz="2400" b="1" i="1" dirty="0">
                <a:solidFill>
                  <a:srgbClr val="000000"/>
                </a:solidFill>
                <a:latin typeface="TimesLTStd-Roman"/>
              </a:rPr>
              <a:t>There can be no objects of an abstract class.</a:t>
            </a:r>
          </a:p>
          <a:p>
            <a:pPr lvl="1"/>
            <a:r>
              <a:rPr lang="en-US" sz="2000" dirty="0">
                <a:solidFill>
                  <a:srgbClr val="000000"/>
                </a:solidFill>
                <a:latin typeface="TimesLTStd-Roman"/>
              </a:rPr>
              <a:t>That is, an abstract class cannot be directly instantiated with the </a:t>
            </a:r>
            <a:r>
              <a:rPr lang="en-US" sz="2000" b="1" dirty="0">
                <a:solidFill>
                  <a:srgbClr val="000000"/>
                </a:solidFill>
                <a:latin typeface="Courier New" panose="02070309020205020404" pitchFamily="49" charset="0"/>
                <a:cs typeface="Courier New" panose="02070309020205020404" pitchFamily="49" charset="0"/>
              </a:rPr>
              <a:t>new</a:t>
            </a:r>
            <a:r>
              <a:rPr lang="en-US" sz="2000" dirty="0">
                <a:solidFill>
                  <a:srgbClr val="000000"/>
                </a:solidFill>
                <a:latin typeface="TimesLTStd-Roman"/>
              </a:rPr>
              <a:t> operator.</a:t>
            </a:r>
          </a:p>
          <a:p>
            <a:pPr lvl="1"/>
            <a:r>
              <a:rPr lang="en-US" sz="2000" dirty="0">
                <a:solidFill>
                  <a:srgbClr val="000000"/>
                </a:solidFill>
                <a:latin typeface="TimesLTStd-Roman"/>
              </a:rPr>
              <a:t>Such objects would be useless, because an abstract class is not fully defined.</a:t>
            </a:r>
          </a:p>
          <a:p>
            <a:r>
              <a:rPr lang="en-US" sz="2400" b="1" i="1" u="none" strike="noStrike" baseline="0" dirty="0">
                <a:solidFill>
                  <a:srgbClr val="000000"/>
                </a:solidFill>
                <a:latin typeface="TimesLTStd-Roman"/>
              </a:rPr>
              <a:t>You cannot declare abstract constructors </a:t>
            </a:r>
            <a:r>
              <a:rPr lang="en-US" sz="2400" u="none" strike="noStrike" baseline="0" dirty="0">
                <a:solidFill>
                  <a:srgbClr val="000000"/>
                </a:solidFill>
                <a:latin typeface="TimesLTStd-Roman"/>
              </a:rPr>
              <a:t>(as constructors are related to object creation, not method overriding) </a:t>
            </a:r>
            <a:r>
              <a:rPr lang="en-US" sz="2400" b="1" i="1" u="none" strike="noStrike" baseline="0" dirty="0">
                <a:solidFill>
                  <a:srgbClr val="000000"/>
                </a:solidFill>
                <a:latin typeface="TimesLTStd-Roman"/>
              </a:rPr>
              <a:t>or abstract static methods</a:t>
            </a:r>
            <a:r>
              <a:rPr lang="en-US" sz="2400" u="none" strike="noStrike" baseline="0" dirty="0">
                <a:solidFill>
                  <a:srgbClr val="000000"/>
                </a:solidFill>
                <a:latin typeface="TimesLTStd-Roman"/>
              </a:rPr>
              <a:t> (as static methods are not related to inheritance and method overriding)</a:t>
            </a:r>
            <a:r>
              <a:rPr lang="en-US" sz="2400" b="1" i="1" u="none" strike="noStrike" baseline="0" dirty="0">
                <a:solidFill>
                  <a:srgbClr val="000000"/>
                </a:solidFill>
                <a:latin typeface="TimesLTStd-Roman"/>
              </a:rPr>
              <a:t>.</a:t>
            </a:r>
          </a:p>
          <a:p>
            <a:r>
              <a:rPr lang="en-US" sz="2400" b="1" i="1" u="none" strike="noStrike" baseline="0" dirty="0">
                <a:solidFill>
                  <a:srgbClr val="000000"/>
                </a:solidFill>
                <a:latin typeface="TimesLTStd-Roman"/>
              </a:rPr>
              <a:t>Any subclass of an abstract class must either implement all of the abstract methods in the superclass or be declared abstract itself.</a:t>
            </a:r>
          </a:p>
          <a:p>
            <a:r>
              <a:rPr lang="en-US" sz="2400" b="1" i="1" dirty="0">
                <a:solidFill>
                  <a:srgbClr val="000000"/>
                </a:solidFill>
                <a:latin typeface="TimesLTStd-Roman"/>
              </a:rPr>
              <a:t>Abstract classes can be used to create object references.</a:t>
            </a:r>
          </a:p>
          <a:p>
            <a:pPr lvl="1"/>
            <a:r>
              <a:rPr lang="en-US" sz="2000" dirty="0">
                <a:solidFill>
                  <a:srgbClr val="000000"/>
                </a:solidFill>
                <a:latin typeface="TimesLTStd-Roman"/>
              </a:rPr>
              <a:t>Because Java’s approach to run-time polymorphism is implemented through the use of superclass references.</a:t>
            </a:r>
          </a:p>
          <a:p>
            <a:pPr lvl="1"/>
            <a:r>
              <a:rPr lang="en-US" sz="2000" dirty="0">
                <a:solidFill>
                  <a:srgbClr val="000000"/>
                </a:solidFill>
                <a:latin typeface="TimesLTStd-Roman"/>
              </a:rPr>
              <a:t>Thus, it must be possible to create a reference to an abstract class so that it can be used to point to a subclass object.</a:t>
            </a:r>
          </a:p>
          <a:p>
            <a:pPr lvl="1"/>
            <a:r>
              <a:rPr lang="en-US" sz="2000" dirty="0">
                <a:solidFill>
                  <a:srgbClr val="000000"/>
                </a:solidFill>
                <a:latin typeface="TimesLTStd-Roman"/>
              </a:rPr>
              <a:t>The next example demonstrates this feature.</a:t>
            </a:r>
          </a:p>
          <a:p>
            <a:endParaRPr lang="en-US" sz="2400" b="1" i="1" dirty="0">
              <a:solidFill>
                <a:srgbClr val="000000"/>
              </a:solidFill>
              <a:latin typeface="TimesLTStd-Roman"/>
            </a:endParaRPr>
          </a:p>
          <a:p>
            <a:endParaRPr lang="en-US" sz="2400" b="1" i="1" u="none" strike="noStrike" baseline="0" dirty="0">
              <a:solidFill>
                <a:srgbClr val="000000"/>
              </a:solidFill>
              <a:latin typeface="TimesLTStd-Roman"/>
            </a:endParaRPr>
          </a:p>
        </p:txBody>
      </p:sp>
    </p:spTree>
    <p:extLst>
      <p:ext uri="{BB962C8B-B14F-4D97-AF65-F5344CB8AC3E}">
        <p14:creationId xmlns:p14="http://schemas.microsoft.com/office/powerpoint/2010/main" val="1192279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Another Example of an </a:t>
            </a:r>
            <a:r>
              <a:rPr lang="en-US" sz="3600" b="1" dirty="0">
                <a:solidFill>
                  <a:schemeClr val="bg1"/>
                </a:solidFill>
              </a:rPr>
              <a:t>Abstract Class</a:t>
            </a:r>
          </a:p>
        </p:txBody>
      </p:sp>
      <p:pic>
        <p:nvPicPr>
          <p:cNvPr id="3" name="Picture 2">
            <a:extLst>
              <a:ext uri="{FF2B5EF4-FFF2-40B4-BE49-F238E27FC236}">
                <a16:creationId xmlns:a16="http://schemas.microsoft.com/office/drawing/2014/main" id="{0040A4E9-CDA5-1560-AD14-A35D6BBB0AB5}"/>
              </a:ext>
            </a:extLst>
          </p:cNvPr>
          <p:cNvPicPr>
            <a:picLocks noChangeAspect="1"/>
          </p:cNvPicPr>
          <p:nvPr/>
        </p:nvPicPr>
        <p:blipFill>
          <a:blip r:embed="rId2"/>
          <a:stretch>
            <a:fillRect/>
          </a:stretch>
        </p:blipFill>
        <p:spPr>
          <a:xfrm>
            <a:off x="8762514" y="5316183"/>
            <a:ext cx="2177847" cy="647588"/>
          </a:xfrm>
          <a:prstGeom prst="rect">
            <a:avLst/>
          </a:prstGeom>
          <a:ln>
            <a:solidFill>
              <a:schemeClr val="bg1">
                <a:lumMod val="85000"/>
              </a:schemeClr>
            </a:solidFill>
          </a:ln>
        </p:spPr>
      </p:pic>
      <p:pic>
        <p:nvPicPr>
          <p:cNvPr id="9" name="Picture 8">
            <a:extLst>
              <a:ext uri="{FF2B5EF4-FFF2-40B4-BE49-F238E27FC236}">
                <a16:creationId xmlns:a16="http://schemas.microsoft.com/office/drawing/2014/main" id="{228EED76-DBA7-6D33-4665-8DD68E12D5D4}"/>
              </a:ext>
            </a:extLst>
          </p:cNvPr>
          <p:cNvPicPr>
            <a:picLocks noChangeAspect="1"/>
          </p:cNvPicPr>
          <p:nvPr/>
        </p:nvPicPr>
        <p:blipFill>
          <a:blip r:embed="rId3"/>
          <a:stretch>
            <a:fillRect/>
          </a:stretch>
        </p:blipFill>
        <p:spPr>
          <a:xfrm>
            <a:off x="783027" y="1187026"/>
            <a:ext cx="5201789" cy="4248005"/>
          </a:xfrm>
          <a:prstGeom prst="rect">
            <a:avLst/>
          </a:prstGeom>
          <a:ln>
            <a:solidFill>
              <a:schemeClr val="bg1">
                <a:lumMod val="85000"/>
              </a:schemeClr>
            </a:solidFill>
          </a:ln>
        </p:spPr>
      </p:pic>
      <p:pic>
        <p:nvPicPr>
          <p:cNvPr id="11" name="Picture 10">
            <a:extLst>
              <a:ext uri="{FF2B5EF4-FFF2-40B4-BE49-F238E27FC236}">
                <a16:creationId xmlns:a16="http://schemas.microsoft.com/office/drawing/2014/main" id="{6A724AB0-4029-BB1F-11AA-CA76DEE05896}"/>
              </a:ext>
            </a:extLst>
          </p:cNvPr>
          <p:cNvPicPr>
            <a:picLocks noChangeAspect="1"/>
          </p:cNvPicPr>
          <p:nvPr/>
        </p:nvPicPr>
        <p:blipFill>
          <a:blip r:embed="rId4"/>
          <a:stretch>
            <a:fillRect/>
          </a:stretch>
        </p:blipFill>
        <p:spPr>
          <a:xfrm>
            <a:off x="6207186" y="1187026"/>
            <a:ext cx="4733175" cy="3957571"/>
          </a:xfrm>
          <a:prstGeom prst="rect">
            <a:avLst/>
          </a:prstGeom>
          <a:ln>
            <a:solidFill>
              <a:schemeClr val="bg1">
                <a:lumMod val="85000"/>
              </a:schemeClr>
            </a:solidFill>
          </a:ln>
        </p:spPr>
      </p:pic>
      <p:sp>
        <p:nvSpPr>
          <p:cNvPr id="12" name="Content Placeholder 2">
            <a:extLst>
              <a:ext uri="{FF2B5EF4-FFF2-40B4-BE49-F238E27FC236}">
                <a16:creationId xmlns:a16="http://schemas.microsoft.com/office/drawing/2014/main" id="{934E4529-7290-A57D-9272-50BE1DA59FF6}"/>
              </a:ext>
            </a:extLst>
          </p:cNvPr>
          <p:cNvSpPr txBox="1">
            <a:spLocks/>
          </p:cNvSpPr>
          <p:nvPr/>
        </p:nvSpPr>
        <p:spPr>
          <a:xfrm>
            <a:off x="7229008" y="5435031"/>
            <a:ext cx="1425124" cy="379912"/>
          </a:xfrm>
          <a:prstGeom prst="rect">
            <a:avLst/>
          </a:prstGeom>
          <a:solidFill>
            <a:schemeClr val="accent6">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rgbClr val="000000"/>
                </a:solidFill>
                <a:latin typeface="TimesLTStd-Roman"/>
              </a:rPr>
              <a:t>OUTPUT</a:t>
            </a:r>
          </a:p>
        </p:txBody>
      </p:sp>
    </p:spTree>
    <p:extLst>
      <p:ext uri="{BB962C8B-B14F-4D97-AF65-F5344CB8AC3E}">
        <p14:creationId xmlns:p14="http://schemas.microsoft.com/office/powerpoint/2010/main" val="1583640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E11D59-6220-B670-D7BF-CD034376F3D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Explanation of Example</a:t>
            </a:r>
            <a:endParaRPr lang="en-US" sz="3600" b="1" dirty="0">
              <a:solidFill>
                <a:schemeClr val="bg1"/>
              </a:solidFill>
            </a:endParaRPr>
          </a:p>
        </p:txBody>
      </p:sp>
      <p:sp>
        <p:nvSpPr>
          <p:cNvPr id="2" name="Content Placeholder 2">
            <a:extLst>
              <a:ext uri="{FF2B5EF4-FFF2-40B4-BE49-F238E27FC236}">
                <a16:creationId xmlns:a16="http://schemas.microsoft.com/office/drawing/2014/main" id="{BBC863AA-F1EF-A435-BFC0-99B577795194}"/>
              </a:ext>
            </a:extLst>
          </p:cNvPr>
          <p:cNvSpPr txBox="1">
            <a:spLocks/>
          </p:cNvSpPr>
          <p:nvPr/>
        </p:nvSpPr>
        <p:spPr>
          <a:xfrm>
            <a:off x="589279" y="1016000"/>
            <a:ext cx="11196321" cy="56083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u="none" strike="noStrike" baseline="0" dirty="0">
                <a:solidFill>
                  <a:srgbClr val="000000"/>
                </a:solidFill>
                <a:latin typeface="TimesLTStd-Roman"/>
              </a:rPr>
              <a:t>As the comment inside </a:t>
            </a:r>
            <a:r>
              <a:rPr lang="en-US" u="none" strike="noStrike" baseline="0" dirty="0">
                <a:solidFill>
                  <a:srgbClr val="000000"/>
                </a:solidFill>
                <a:latin typeface="Courier New" panose="02070309020205020404" pitchFamily="49" charset="0"/>
                <a:cs typeface="Courier New" panose="02070309020205020404" pitchFamily="49" charset="0"/>
              </a:rPr>
              <a:t>main()</a:t>
            </a:r>
            <a:r>
              <a:rPr lang="en-US" u="none" strike="noStrike" baseline="0" dirty="0">
                <a:solidFill>
                  <a:srgbClr val="000000"/>
                </a:solidFill>
                <a:latin typeface="TimesLTStd-Roman"/>
              </a:rPr>
              <a:t> indicates, it is no longer possible to declare objects of type </a:t>
            </a:r>
            <a:r>
              <a:rPr lang="en-US" u="none" strike="noStrike" baseline="0" dirty="0">
                <a:solidFill>
                  <a:srgbClr val="000000"/>
                </a:solidFill>
                <a:latin typeface="Courier New" panose="02070309020205020404" pitchFamily="49" charset="0"/>
                <a:cs typeface="Courier New" panose="02070309020205020404" pitchFamily="49" charset="0"/>
              </a:rPr>
              <a:t>Figure</a:t>
            </a:r>
            <a:r>
              <a:rPr lang="en-US" u="none" strike="noStrike" baseline="0" dirty="0">
                <a:solidFill>
                  <a:srgbClr val="000000"/>
                </a:solidFill>
                <a:latin typeface="TimesLTStd-Roman"/>
              </a:rPr>
              <a:t>, since it is now abstract. </a:t>
            </a:r>
          </a:p>
          <a:p>
            <a:r>
              <a:rPr lang="en-US" u="none" strike="noStrike" baseline="0" dirty="0">
                <a:solidFill>
                  <a:srgbClr val="000000"/>
                </a:solidFill>
                <a:latin typeface="TimesLTStd-Roman"/>
              </a:rPr>
              <a:t>All subclasses of </a:t>
            </a:r>
            <a:r>
              <a:rPr lang="en-US" dirty="0">
                <a:solidFill>
                  <a:srgbClr val="000000"/>
                </a:solidFill>
                <a:latin typeface="Courier New" panose="02070309020205020404" pitchFamily="49" charset="0"/>
                <a:cs typeface="Courier New" panose="02070309020205020404" pitchFamily="49" charset="0"/>
              </a:rPr>
              <a:t>Figure</a:t>
            </a:r>
            <a:r>
              <a:rPr lang="en-US" u="none" strike="noStrike" baseline="0" dirty="0">
                <a:solidFill>
                  <a:srgbClr val="000000"/>
                </a:solidFill>
                <a:latin typeface="TimesLTStd-Roman"/>
              </a:rPr>
              <a:t> must override </a:t>
            </a:r>
            <a:r>
              <a:rPr lang="en-US" u="none" strike="noStrike" baseline="0" dirty="0">
                <a:solidFill>
                  <a:srgbClr val="000000"/>
                </a:solidFill>
                <a:latin typeface="Courier New" panose="02070309020205020404" pitchFamily="49" charset="0"/>
                <a:cs typeface="Courier New" panose="02070309020205020404" pitchFamily="49" charset="0"/>
              </a:rPr>
              <a:t>area()</a:t>
            </a:r>
            <a:r>
              <a:rPr lang="en-US" u="none" strike="noStrike" baseline="0" dirty="0">
                <a:solidFill>
                  <a:srgbClr val="000000"/>
                </a:solidFill>
                <a:latin typeface="TimesLTStd-Roman"/>
              </a:rPr>
              <a:t>. </a:t>
            </a:r>
          </a:p>
          <a:p>
            <a:r>
              <a:rPr lang="en-US" u="none" strike="noStrike" baseline="0" dirty="0">
                <a:solidFill>
                  <a:srgbClr val="000000"/>
                </a:solidFill>
                <a:latin typeface="TimesLTStd-Roman"/>
              </a:rPr>
              <a:t>To prove this, we can try creating a subclass that does not override </a:t>
            </a:r>
            <a:r>
              <a:rPr lang="en-US" u="none" strike="noStrike" baseline="0" dirty="0">
                <a:solidFill>
                  <a:srgbClr val="000000"/>
                </a:solidFill>
                <a:latin typeface="Courier New" panose="02070309020205020404" pitchFamily="49" charset="0"/>
                <a:cs typeface="Courier New" panose="02070309020205020404" pitchFamily="49" charset="0"/>
              </a:rPr>
              <a:t>area()</a:t>
            </a:r>
            <a:r>
              <a:rPr lang="en-US" u="none" strike="noStrike" baseline="0" dirty="0">
                <a:solidFill>
                  <a:srgbClr val="000000"/>
                </a:solidFill>
                <a:latin typeface="TimesLTStd-Roman"/>
              </a:rPr>
              <a:t>. We will receive a compile-time error.</a:t>
            </a:r>
          </a:p>
          <a:p>
            <a:r>
              <a:rPr lang="en-US" u="none" strike="noStrike" baseline="0" dirty="0">
                <a:solidFill>
                  <a:srgbClr val="000000"/>
                </a:solidFill>
                <a:latin typeface="TimesLTStd-Roman"/>
              </a:rPr>
              <a:t>Although it is not possible to create an object of type </a:t>
            </a:r>
            <a:r>
              <a:rPr lang="en-US" dirty="0">
                <a:solidFill>
                  <a:srgbClr val="000000"/>
                </a:solidFill>
                <a:latin typeface="Courier New" panose="02070309020205020404" pitchFamily="49" charset="0"/>
                <a:cs typeface="Courier New" panose="02070309020205020404" pitchFamily="49" charset="0"/>
              </a:rPr>
              <a:t>Figure</a:t>
            </a:r>
            <a:r>
              <a:rPr lang="en-US" u="none" strike="noStrike" baseline="0" dirty="0">
                <a:solidFill>
                  <a:srgbClr val="000000"/>
                </a:solidFill>
                <a:latin typeface="TimesLTStd-Roman"/>
              </a:rPr>
              <a:t>, we can create a reference variable of type </a:t>
            </a:r>
            <a:r>
              <a:rPr lang="en-US" dirty="0">
                <a:solidFill>
                  <a:srgbClr val="000000"/>
                </a:solidFill>
                <a:latin typeface="Courier New" panose="02070309020205020404" pitchFamily="49" charset="0"/>
                <a:cs typeface="Courier New" panose="02070309020205020404" pitchFamily="49" charset="0"/>
              </a:rPr>
              <a:t>Figure</a:t>
            </a:r>
            <a:r>
              <a:rPr lang="en-US" u="none" strike="noStrike" baseline="0" dirty="0">
                <a:solidFill>
                  <a:srgbClr val="000000"/>
                </a:solidFill>
                <a:latin typeface="TimesLTStd-Roman"/>
              </a:rPr>
              <a:t>. </a:t>
            </a:r>
          </a:p>
          <a:p>
            <a:pPr lvl="1"/>
            <a:r>
              <a:rPr lang="en-US" u="none" strike="noStrike" baseline="0" dirty="0">
                <a:solidFill>
                  <a:srgbClr val="000000"/>
                </a:solidFill>
                <a:latin typeface="TimesLTStd-Roman"/>
              </a:rPr>
              <a:t>The variable </a:t>
            </a:r>
            <a:r>
              <a:rPr lang="en-US" i="1" u="none" strike="noStrike" baseline="0" dirty="0" err="1">
                <a:solidFill>
                  <a:srgbClr val="000000"/>
                </a:solidFill>
                <a:latin typeface="Courier New" panose="02070309020205020404" pitchFamily="49" charset="0"/>
                <a:cs typeface="Courier New" panose="02070309020205020404" pitchFamily="49" charset="0"/>
              </a:rPr>
              <a:t>figref</a:t>
            </a:r>
            <a:r>
              <a:rPr lang="en-US" u="none" strike="noStrike" baseline="0" dirty="0">
                <a:solidFill>
                  <a:srgbClr val="000000"/>
                </a:solidFill>
                <a:latin typeface="TimesLTStd-Roman"/>
              </a:rPr>
              <a:t> is declared as a reference to </a:t>
            </a:r>
            <a:r>
              <a:rPr lang="en-US" dirty="0">
                <a:solidFill>
                  <a:srgbClr val="000000"/>
                </a:solidFill>
                <a:latin typeface="Courier New" panose="02070309020205020404" pitchFamily="49" charset="0"/>
                <a:cs typeface="Courier New" panose="02070309020205020404" pitchFamily="49" charset="0"/>
              </a:rPr>
              <a:t>Figure</a:t>
            </a:r>
            <a:r>
              <a:rPr lang="en-US" u="none" strike="noStrike" baseline="0" dirty="0">
                <a:solidFill>
                  <a:srgbClr val="000000"/>
                </a:solidFill>
                <a:latin typeface="TimesLTStd-Roman"/>
              </a:rPr>
              <a:t>, which means that it can be used to refer to an object of any class derived (subclass) from Figure. </a:t>
            </a:r>
          </a:p>
          <a:p>
            <a:r>
              <a:rPr lang="en-US" u="none" strike="noStrike" baseline="0" dirty="0">
                <a:solidFill>
                  <a:srgbClr val="000000"/>
                </a:solidFill>
                <a:latin typeface="TimesLTStd-Roman"/>
              </a:rPr>
              <a:t>As explained, it is through superclass reference variables that overridden methods are resolved at run time (that is, </a:t>
            </a:r>
            <a:r>
              <a:rPr lang="en-US" b="1" i="1" u="none" strike="noStrike" baseline="0" dirty="0">
                <a:solidFill>
                  <a:srgbClr val="000000"/>
                </a:solidFill>
                <a:latin typeface="TimesLTStd-Roman"/>
              </a:rPr>
              <a:t>run-time polymorphism</a:t>
            </a:r>
            <a:r>
              <a:rPr lang="en-US" u="none" strike="noStrike" baseline="0" dirty="0">
                <a:solidFill>
                  <a:srgbClr val="000000"/>
                </a:solidFill>
                <a:latin typeface="TimesLTStd-Roman"/>
              </a:rPr>
              <a:t>).</a:t>
            </a:r>
          </a:p>
        </p:txBody>
      </p:sp>
    </p:spTree>
    <p:extLst>
      <p:ext uri="{BB962C8B-B14F-4D97-AF65-F5344CB8AC3E}">
        <p14:creationId xmlns:p14="http://schemas.microsoft.com/office/powerpoint/2010/main" val="2147892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D1693-CDD4-686A-F0FC-4780258F1C3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6C1EC30-F53B-6902-C39D-0EE36658BCAF}"/>
              </a:ext>
            </a:extLst>
          </p:cNvPr>
          <p:cNvSpPr>
            <a:spLocks noGrp="1"/>
          </p:cNvSpPr>
          <p:nvPr>
            <p:ph type="ctrTitle"/>
          </p:nvPr>
        </p:nvSpPr>
        <p:spPr>
          <a:xfrm>
            <a:off x="754380" y="2092960"/>
            <a:ext cx="10337800" cy="934720"/>
          </a:xfrm>
        </p:spPr>
        <p:txBody>
          <a:bodyPr>
            <a:noAutofit/>
          </a:bodyPr>
          <a:lstStyle/>
          <a:p>
            <a:r>
              <a:rPr lang="en-US" sz="5400" b="1" dirty="0">
                <a:solidFill>
                  <a:schemeClr val="accent1"/>
                </a:solidFill>
              </a:rPr>
              <a:t>Using </a:t>
            </a:r>
            <a:r>
              <a:rPr lang="en-US" sz="5400" b="1" dirty="0">
                <a:solidFill>
                  <a:schemeClr val="accent1"/>
                </a:solidFill>
                <a:latin typeface="Courier New" panose="02070309020205020404" pitchFamily="49" charset="0"/>
                <a:cs typeface="Courier New" panose="02070309020205020404" pitchFamily="49" charset="0"/>
              </a:rPr>
              <a:t>final</a:t>
            </a:r>
            <a:r>
              <a:rPr lang="en-US" sz="5400" b="1" dirty="0">
                <a:solidFill>
                  <a:schemeClr val="accent1"/>
                </a:solidFill>
              </a:rPr>
              <a:t> with Inheritance</a:t>
            </a:r>
            <a:endParaRPr lang="en-US" sz="3600" b="1" dirty="0">
              <a:solidFill>
                <a:schemeClr val="accent1"/>
              </a:solidFill>
            </a:endParaRPr>
          </a:p>
        </p:txBody>
      </p:sp>
    </p:spTree>
    <p:extLst>
      <p:ext uri="{BB962C8B-B14F-4D97-AF65-F5344CB8AC3E}">
        <p14:creationId xmlns:p14="http://schemas.microsoft.com/office/powerpoint/2010/main" val="2057439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B9106-FCE7-B938-6E8A-AA94BC1748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3D4FE51-3ED0-25C4-DA76-C49911EDB224}"/>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Using </a:t>
            </a:r>
            <a:r>
              <a:rPr lang="en-US" sz="4000" b="1" dirty="0">
                <a:solidFill>
                  <a:schemeClr val="bg1"/>
                </a:solidFill>
                <a:latin typeface="Courier New" panose="02070309020205020404" pitchFamily="49" charset="0"/>
                <a:cs typeface="Courier New" panose="02070309020205020404" pitchFamily="49" charset="0"/>
              </a:rPr>
              <a:t>final</a:t>
            </a:r>
            <a:r>
              <a:rPr lang="en-US" sz="4000" b="1" dirty="0">
                <a:solidFill>
                  <a:schemeClr val="bg1"/>
                </a:solidFill>
              </a:rPr>
              <a:t> with Inheritance</a:t>
            </a:r>
            <a:endParaRPr lang="en-US" sz="3600" b="1" dirty="0">
              <a:solidFill>
                <a:schemeClr val="bg1"/>
              </a:solidFill>
            </a:endParaRPr>
          </a:p>
        </p:txBody>
      </p:sp>
      <p:sp>
        <p:nvSpPr>
          <p:cNvPr id="2" name="Content Placeholder 2">
            <a:extLst>
              <a:ext uri="{FF2B5EF4-FFF2-40B4-BE49-F238E27FC236}">
                <a16:creationId xmlns:a16="http://schemas.microsoft.com/office/drawing/2014/main" id="{D8C608E1-8DF8-8C94-0214-44CF0610A8B3}"/>
              </a:ext>
            </a:extLst>
          </p:cNvPr>
          <p:cNvSpPr txBox="1">
            <a:spLocks/>
          </p:cNvSpPr>
          <p:nvPr/>
        </p:nvSpPr>
        <p:spPr>
          <a:xfrm>
            <a:off x="711199" y="1422400"/>
            <a:ext cx="11196321" cy="52019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000000"/>
                </a:solidFill>
                <a:latin typeface="TimesLTStd-Roman"/>
              </a:rPr>
              <a:t>The keyword </a:t>
            </a:r>
            <a:r>
              <a:rPr lang="en-US" b="1" dirty="0">
                <a:solidFill>
                  <a:srgbClr val="000000"/>
                </a:solidFill>
                <a:latin typeface="Courier New" panose="02070309020205020404" pitchFamily="49" charset="0"/>
                <a:cs typeface="Courier New" panose="02070309020205020404" pitchFamily="49" charset="0"/>
              </a:rPr>
              <a:t>final</a:t>
            </a:r>
            <a:r>
              <a:rPr lang="en-US" dirty="0">
                <a:solidFill>
                  <a:srgbClr val="000000"/>
                </a:solidFill>
                <a:latin typeface="TimesLTStd-Roman"/>
              </a:rPr>
              <a:t> has three uses. </a:t>
            </a:r>
          </a:p>
          <a:p>
            <a:r>
              <a:rPr lang="en-US" dirty="0">
                <a:solidFill>
                  <a:srgbClr val="000000"/>
                </a:solidFill>
                <a:latin typeface="TimesLTStd-Roman"/>
              </a:rPr>
              <a:t>First, it can be used to create the equivalent of a named constant. </a:t>
            </a:r>
          </a:p>
          <a:p>
            <a:r>
              <a:rPr lang="en-US" dirty="0">
                <a:solidFill>
                  <a:srgbClr val="000000"/>
                </a:solidFill>
                <a:latin typeface="TimesLTStd-Roman"/>
              </a:rPr>
              <a:t>The other two uses of final apply to inheritance. </a:t>
            </a:r>
          </a:p>
        </p:txBody>
      </p:sp>
    </p:spTree>
    <p:extLst>
      <p:ext uri="{BB962C8B-B14F-4D97-AF65-F5344CB8AC3E}">
        <p14:creationId xmlns:p14="http://schemas.microsoft.com/office/powerpoint/2010/main" val="39271285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99D71-167F-0B45-76C4-FB9151C09F8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8CB69E3-63D8-F87F-57EE-62C5C7FAF9E5}"/>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Using </a:t>
            </a:r>
            <a:r>
              <a:rPr lang="en-US" sz="4000" b="1" dirty="0">
                <a:solidFill>
                  <a:schemeClr val="bg1"/>
                </a:solidFill>
                <a:latin typeface="Courier New" panose="02070309020205020404" pitchFamily="49" charset="0"/>
                <a:cs typeface="Courier New" panose="02070309020205020404" pitchFamily="49" charset="0"/>
              </a:rPr>
              <a:t>final</a:t>
            </a:r>
            <a:r>
              <a:rPr lang="en-US" sz="4000" b="1" dirty="0">
                <a:solidFill>
                  <a:schemeClr val="bg1"/>
                </a:solidFill>
              </a:rPr>
              <a:t> to Prevent Method Overriding</a:t>
            </a:r>
            <a:endParaRPr lang="en-US" sz="3600" b="1" dirty="0">
              <a:solidFill>
                <a:schemeClr val="bg1"/>
              </a:solidFill>
            </a:endParaRPr>
          </a:p>
        </p:txBody>
      </p:sp>
      <p:sp>
        <p:nvSpPr>
          <p:cNvPr id="2" name="Content Placeholder 2">
            <a:extLst>
              <a:ext uri="{FF2B5EF4-FFF2-40B4-BE49-F238E27FC236}">
                <a16:creationId xmlns:a16="http://schemas.microsoft.com/office/drawing/2014/main" id="{CFCC4AF0-0DC4-8671-2B7C-74B88C0CA226}"/>
              </a:ext>
            </a:extLst>
          </p:cNvPr>
          <p:cNvSpPr txBox="1">
            <a:spLocks/>
          </p:cNvSpPr>
          <p:nvPr/>
        </p:nvSpPr>
        <p:spPr>
          <a:xfrm>
            <a:off x="711199" y="1259840"/>
            <a:ext cx="11196321" cy="53644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000000"/>
                </a:solidFill>
                <a:latin typeface="TimesLTStd-Roman"/>
              </a:rPr>
              <a:t>There could be times when we will want to prevent method overriding from occurring. </a:t>
            </a:r>
          </a:p>
          <a:p>
            <a:r>
              <a:rPr lang="en-US" dirty="0">
                <a:solidFill>
                  <a:srgbClr val="000000"/>
                </a:solidFill>
                <a:latin typeface="TimesLTStd-Roman"/>
              </a:rPr>
              <a:t>To disallow a method from being overridden, we need to specify </a:t>
            </a:r>
            <a:r>
              <a:rPr lang="en-US" b="1" dirty="0">
                <a:solidFill>
                  <a:srgbClr val="000000"/>
                </a:solidFill>
                <a:latin typeface="Courier New" panose="02070309020205020404" pitchFamily="49" charset="0"/>
                <a:cs typeface="Courier New" panose="02070309020205020404" pitchFamily="49" charset="0"/>
              </a:rPr>
              <a:t>final</a:t>
            </a:r>
            <a:r>
              <a:rPr lang="en-US" dirty="0">
                <a:solidFill>
                  <a:srgbClr val="000000"/>
                </a:solidFill>
                <a:latin typeface="TimesLTStd-Roman"/>
              </a:rPr>
              <a:t> as a modifier at the start of its declaration. </a:t>
            </a:r>
          </a:p>
          <a:p>
            <a:r>
              <a:rPr lang="en-US" dirty="0">
                <a:solidFill>
                  <a:srgbClr val="000000"/>
                </a:solidFill>
                <a:latin typeface="TimesLTStd-Roman"/>
              </a:rPr>
              <a:t>Methods declared as </a:t>
            </a:r>
            <a:r>
              <a:rPr lang="en-US" b="1" dirty="0">
                <a:solidFill>
                  <a:srgbClr val="000000"/>
                </a:solidFill>
                <a:latin typeface="Courier New" panose="02070309020205020404" pitchFamily="49" charset="0"/>
                <a:cs typeface="Courier New" panose="02070309020205020404" pitchFamily="49" charset="0"/>
              </a:rPr>
              <a:t>final</a:t>
            </a:r>
            <a:r>
              <a:rPr lang="en-US" dirty="0">
                <a:solidFill>
                  <a:srgbClr val="000000"/>
                </a:solidFill>
                <a:latin typeface="TimesLTStd-Roman"/>
              </a:rPr>
              <a:t> cannot be overridden. </a:t>
            </a:r>
          </a:p>
        </p:txBody>
      </p:sp>
      <p:pic>
        <p:nvPicPr>
          <p:cNvPr id="4" name="Picture 3">
            <a:extLst>
              <a:ext uri="{FF2B5EF4-FFF2-40B4-BE49-F238E27FC236}">
                <a16:creationId xmlns:a16="http://schemas.microsoft.com/office/drawing/2014/main" id="{35FCBA81-15E9-FE45-49D4-B98B938A8E10}"/>
              </a:ext>
            </a:extLst>
          </p:cNvPr>
          <p:cNvPicPr>
            <a:picLocks noChangeAspect="1"/>
          </p:cNvPicPr>
          <p:nvPr/>
        </p:nvPicPr>
        <p:blipFill>
          <a:blip r:embed="rId2"/>
          <a:stretch>
            <a:fillRect/>
          </a:stretch>
        </p:blipFill>
        <p:spPr>
          <a:xfrm>
            <a:off x="2890390" y="3942080"/>
            <a:ext cx="6411220" cy="2419688"/>
          </a:xfrm>
          <a:prstGeom prst="rect">
            <a:avLst/>
          </a:prstGeom>
          <a:ln>
            <a:solidFill>
              <a:schemeClr val="bg1">
                <a:lumMod val="85000"/>
              </a:schemeClr>
            </a:solidFill>
          </a:ln>
        </p:spPr>
      </p:pic>
    </p:spTree>
    <p:extLst>
      <p:ext uri="{BB962C8B-B14F-4D97-AF65-F5344CB8AC3E}">
        <p14:creationId xmlns:p14="http://schemas.microsoft.com/office/powerpoint/2010/main" val="29218181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E69D7-DB5C-BEA9-EA98-4AC4F55D54B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3A2ED8-5519-F3FF-D7E4-25E1CB4510AA}"/>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Using </a:t>
            </a:r>
            <a:r>
              <a:rPr lang="en-US" sz="4000" b="1" dirty="0">
                <a:solidFill>
                  <a:schemeClr val="bg1"/>
                </a:solidFill>
                <a:latin typeface="Courier New" panose="02070309020205020404" pitchFamily="49" charset="0"/>
                <a:cs typeface="Courier New" panose="02070309020205020404" pitchFamily="49" charset="0"/>
              </a:rPr>
              <a:t>final</a:t>
            </a:r>
            <a:r>
              <a:rPr lang="en-US" sz="4000" b="1" dirty="0">
                <a:solidFill>
                  <a:schemeClr val="bg1"/>
                </a:solidFill>
              </a:rPr>
              <a:t> to Prevent Method Overriding</a:t>
            </a:r>
            <a:endParaRPr lang="en-US" sz="3600" b="1" dirty="0">
              <a:solidFill>
                <a:schemeClr val="bg1"/>
              </a:solidFill>
            </a:endParaRPr>
          </a:p>
        </p:txBody>
      </p:sp>
      <p:sp>
        <p:nvSpPr>
          <p:cNvPr id="2" name="Content Placeholder 2">
            <a:extLst>
              <a:ext uri="{FF2B5EF4-FFF2-40B4-BE49-F238E27FC236}">
                <a16:creationId xmlns:a16="http://schemas.microsoft.com/office/drawing/2014/main" id="{068B16F7-1694-5CD7-CE00-F14CF2CDC7EB}"/>
              </a:ext>
            </a:extLst>
          </p:cNvPr>
          <p:cNvSpPr txBox="1">
            <a:spLocks/>
          </p:cNvSpPr>
          <p:nvPr/>
        </p:nvSpPr>
        <p:spPr>
          <a:xfrm>
            <a:off x="711199" y="1107440"/>
            <a:ext cx="11196321" cy="547624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rgbClr val="000000"/>
                </a:solidFill>
                <a:latin typeface="TimesLTStd-Roman"/>
              </a:rPr>
              <a:t>Significance</a:t>
            </a:r>
          </a:p>
          <a:p>
            <a:r>
              <a:rPr lang="en-US" dirty="0">
                <a:solidFill>
                  <a:srgbClr val="000000"/>
                </a:solidFill>
                <a:latin typeface="TimesLTStd-Roman"/>
              </a:rPr>
              <a:t>Methods declared as </a:t>
            </a:r>
            <a:r>
              <a:rPr lang="en-US" b="1" dirty="0">
                <a:solidFill>
                  <a:srgbClr val="000000"/>
                </a:solidFill>
                <a:latin typeface="Courier New" panose="02070309020205020404" pitchFamily="49" charset="0"/>
                <a:cs typeface="Courier New" panose="02070309020205020404" pitchFamily="49" charset="0"/>
              </a:rPr>
              <a:t>final</a:t>
            </a:r>
            <a:r>
              <a:rPr lang="en-US" dirty="0">
                <a:solidFill>
                  <a:srgbClr val="000000"/>
                </a:solidFill>
                <a:latin typeface="TimesLTStd-Roman"/>
              </a:rPr>
              <a:t> can sometimes provide a performance enhancement: The compiler is free to </a:t>
            </a:r>
            <a:r>
              <a:rPr lang="en-US" b="1" i="1" dirty="0">
                <a:solidFill>
                  <a:srgbClr val="000000"/>
                </a:solidFill>
                <a:latin typeface="TimesLTStd-Roman"/>
              </a:rPr>
              <a:t>inline</a:t>
            </a:r>
            <a:r>
              <a:rPr lang="en-US" dirty="0">
                <a:solidFill>
                  <a:srgbClr val="000000"/>
                </a:solidFill>
                <a:latin typeface="TimesLTStd-Roman"/>
              </a:rPr>
              <a:t> calls to them because it </a:t>
            </a:r>
            <a:r>
              <a:rPr lang="en-US" i="1" dirty="0">
                <a:solidFill>
                  <a:srgbClr val="000000"/>
                </a:solidFill>
                <a:latin typeface="TimesLTStd-Roman"/>
              </a:rPr>
              <a:t>knows</a:t>
            </a:r>
            <a:r>
              <a:rPr lang="en-US" dirty="0">
                <a:solidFill>
                  <a:srgbClr val="000000"/>
                </a:solidFill>
                <a:latin typeface="TimesLTStd-Roman"/>
              </a:rPr>
              <a:t> they will not be overridden by a subclass. </a:t>
            </a:r>
          </a:p>
          <a:p>
            <a:r>
              <a:rPr lang="en-US" dirty="0">
                <a:solidFill>
                  <a:srgbClr val="000000"/>
                </a:solidFill>
                <a:latin typeface="TimesLTStd-Roman"/>
              </a:rPr>
              <a:t>When a small </a:t>
            </a:r>
            <a:r>
              <a:rPr lang="en-US" b="1" dirty="0">
                <a:solidFill>
                  <a:srgbClr val="000000"/>
                </a:solidFill>
                <a:latin typeface="Courier New" panose="02070309020205020404" pitchFamily="49" charset="0"/>
                <a:cs typeface="Courier New" panose="02070309020205020404" pitchFamily="49" charset="0"/>
              </a:rPr>
              <a:t>final</a:t>
            </a:r>
            <a:r>
              <a:rPr lang="en-US" dirty="0">
                <a:solidFill>
                  <a:srgbClr val="000000"/>
                </a:solidFill>
                <a:latin typeface="TimesLTStd-Roman"/>
              </a:rPr>
              <a:t> method is called, often the Java compiler can copy the bytecode for the subroutine directly inline with the compiled code of the calling method, thus eliminating the costly overhead associated with a method call. </a:t>
            </a:r>
          </a:p>
          <a:p>
            <a:r>
              <a:rPr lang="en-US" dirty="0">
                <a:solidFill>
                  <a:srgbClr val="000000"/>
                </a:solidFill>
                <a:latin typeface="TimesLTStd-Roman"/>
              </a:rPr>
              <a:t>Inlining is an option only with </a:t>
            </a:r>
            <a:r>
              <a:rPr lang="en-US" b="1" dirty="0">
                <a:solidFill>
                  <a:srgbClr val="000000"/>
                </a:solidFill>
                <a:latin typeface="Courier New" panose="02070309020205020404" pitchFamily="49" charset="0"/>
                <a:cs typeface="Courier New" panose="02070309020205020404" pitchFamily="49" charset="0"/>
              </a:rPr>
              <a:t>final</a:t>
            </a:r>
            <a:r>
              <a:rPr lang="en-US" dirty="0">
                <a:solidFill>
                  <a:srgbClr val="000000"/>
                </a:solidFill>
                <a:latin typeface="TimesLTStd-Roman"/>
              </a:rPr>
              <a:t> methods. </a:t>
            </a:r>
          </a:p>
          <a:p>
            <a:r>
              <a:rPr lang="en-US" dirty="0">
                <a:solidFill>
                  <a:srgbClr val="000000"/>
                </a:solidFill>
                <a:latin typeface="TimesLTStd-Roman"/>
              </a:rPr>
              <a:t>Normally, Java resolves calls to methods </a:t>
            </a:r>
            <a:r>
              <a:rPr lang="en-US" i="1" dirty="0">
                <a:solidFill>
                  <a:srgbClr val="000000"/>
                </a:solidFill>
                <a:latin typeface="TimesLTStd-Roman"/>
              </a:rPr>
              <a:t>dynamically</a:t>
            </a:r>
            <a:r>
              <a:rPr lang="en-US" dirty="0">
                <a:solidFill>
                  <a:srgbClr val="000000"/>
                </a:solidFill>
                <a:latin typeface="TimesLTStd-Roman"/>
              </a:rPr>
              <a:t>, at </a:t>
            </a:r>
            <a:r>
              <a:rPr lang="en-US" i="1" dirty="0">
                <a:solidFill>
                  <a:srgbClr val="000000"/>
                </a:solidFill>
                <a:latin typeface="TimesLTStd-Roman"/>
              </a:rPr>
              <a:t>run time</a:t>
            </a:r>
            <a:r>
              <a:rPr lang="en-US" dirty="0">
                <a:solidFill>
                  <a:srgbClr val="000000"/>
                </a:solidFill>
                <a:latin typeface="TimesLTStd-Roman"/>
              </a:rPr>
              <a:t>. This is called </a:t>
            </a:r>
            <a:r>
              <a:rPr lang="en-US" i="1" dirty="0">
                <a:solidFill>
                  <a:srgbClr val="000000"/>
                </a:solidFill>
                <a:latin typeface="TimesLTStd-Roman"/>
              </a:rPr>
              <a:t>late binding</a:t>
            </a:r>
            <a:r>
              <a:rPr lang="en-US" dirty="0">
                <a:solidFill>
                  <a:srgbClr val="000000"/>
                </a:solidFill>
                <a:latin typeface="TimesLTStd-Roman"/>
              </a:rPr>
              <a:t>. </a:t>
            </a:r>
          </a:p>
          <a:p>
            <a:r>
              <a:rPr lang="en-US" dirty="0">
                <a:solidFill>
                  <a:srgbClr val="000000"/>
                </a:solidFill>
                <a:latin typeface="TimesLTStd-Roman"/>
              </a:rPr>
              <a:t>However, since final methods cannot be overridden, a call to one can be resolved at </a:t>
            </a:r>
            <a:r>
              <a:rPr lang="en-US" i="1" dirty="0">
                <a:solidFill>
                  <a:srgbClr val="000000"/>
                </a:solidFill>
                <a:latin typeface="TimesLTStd-Roman"/>
              </a:rPr>
              <a:t>compile time</a:t>
            </a:r>
            <a:r>
              <a:rPr lang="en-US" dirty="0">
                <a:solidFill>
                  <a:srgbClr val="000000"/>
                </a:solidFill>
                <a:latin typeface="TimesLTStd-Roman"/>
              </a:rPr>
              <a:t>. This is called </a:t>
            </a:r>
            <a:r>
              <a:rPr lang="en-US" i="1" dirty="0">
                <a:solidFill>
                  <a:srgbClr val="000000"/>
                </a:solidFill>
                <a:latin typeface="TimesLTStd-Roman"/>
              </a:rPr>
              <a:t>early binding</a:t>
            </a:r>
            <a:r>
              <a:rPr lang="en-US" dirty="0">
                <a:solidFill>
                  <a:srgbClr val="000000"/>
                </a:solidFill>
                <a:latin typeface="TimesLTStd-Roman"/>
              </a:rPr>
              <a:t>.</a:t>
            </a:r>
          </a:p>
        </p:txBody>
      </p:sp>
    </p:spTree>
    <p:extLst>
      <p:ext uri="{BB962C8B-B14F-4D97-AF65-F5344CB8AC3E}">
        <p14:creationId xmlns:p14="http://schemas.microsoft.com/office/powerpoint/2010/main" val="1075093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55D0C-37D9-1DC3-5673-17FBA40708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37C58C3-3C5D-D90A-2921-B61CA32B82DB}"/>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Using </a:t>
            </a:r>
            <a:r>
              <a:rPr lang="en-US" sz="4000" b="1" dirty="0">
                <a:solidFill>
                  <a:schemeClr val="bg1"/>
                </a:solidFill>
                <a:latin typeface="Courier New" panose="02070309020205020404" pitchFamily="49" charset="0"/>
                <a:cs typeface="Courier New" panose="02070309020205020404" pitchFamily="49" charset="0"/>
              </a:rPr>
              <a:t>final</a:t>
            </a:r>
            <a:r>
              <a:rPr lang="en-US" sz="4000" b="1" dirty="0">
                <a:solidFill>
                  <a:schemeClr val="bg1"/>
                </a:solidFill>
              </a:rPr>
              <a:t> to Prevent Inheritance</a:t>
            </a:r>
            <a:endParaRPr lang="en-US" sz="3600" b="1" dirty="0">
              <a:solidFill>
                <a:schemeClr val="bg1"/>
              </a:solidFill>
            </a:endParaRPr>
          </a:p>
        </p:txBody>
      </p:sp>
      <p:sp>
        <p:nvSpPr>
          <p:cNvPr id="2" name="Content Placeholder 2">
            <a:extLst>
              <a:ext uri="{FF2B5EF4-FFF2-40B4-BE49-F238E27FC236}">
                <a16:creationId xmlns:a16="http://schemas.microsoft.com/office/drawing/2014/main" id="{CF138669-AA1A-538D-E5C3-E993E0B0108B}"/>
              </a:ext>
            </a:extLst>
          </p:cNvPr>
          <p:cNvSpPr txBox="1">
            <a:spLocks/>
          </p:cNvSpPr>
          <p:nvPr/>
        </p:nvSpPr>
        <p:spPr>
          <a:xfrm>
            <a:off x="711199" y="1107440"/>
            <a:ext cx="11196321" cy="54762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000000"/>
                </a:solidFill>
                <a:latin typeface="TimesLTStd-Roman"/>
              </a:rPr>
              <a:t>Sometimes we will want to prevent a class from being inherited. </a:t>
            </a:r>
          </a:p>
          <a:p>
            <a:r>
              <a:rPr lang="en-US" dirty="0">
                <a:solidFill>
                  <a:srgbClr val="000000"/>
                </a:solidFill>
                <a:latin typeface="TimesLTStd-Roman"/>
              </a:rPr>
              <a:t>To do this, we need to precede the class declaration with </a:t>
            </a:r>
            <a:r>
              <a:rPr lang="en-US" b="1" dirty="0">
                <a:solidFill>
                  <a:srgbClr val="000000"/>
                </a:solidFill>
                <a:latin typeface="Courier New" panose="02070309020205020404" pitchFamily="49" charset="0"/>
                <a:cs typeface="Courier New" panose="02070309020205020404" pitchFamily="49" charset="0"/>
              </a:rPr>
              <a:t>final</a:t>
            </a:r>
            <a:r>
              <a:rPr lang="en-US" dirty="0">
                <a:solidFill>
                  <a:srgbClr val="000000"/>
                </a:solidFill>
                <a:latin typeface="TimesLTStd-Roman"/>
              </a:rPr>
              <a:t>. </a:t>
            </a:r>
          </a:p>
          <a:p>
            <a:r>
              <a:rPr lang="en-US" dirty="0">
                <a:solidFill>
                  <a:srgbClr val="000000"/>
                </a:solidFill>
                <a:latin typeface="TimesLTStd-Roman"/>
              </a:rPr>
              <a:t>Declaring a class as </a:t>
            </a:r>
            <a:r>
              <a:rPr lang="en-US" b="1" dirty="0">
                <a:solidFill>
                  <a:srgbClr val="000000"/>
                </a:solidFill>
                <a:latin typeface="Courier New" panose="02070309020205020404" pitchFamily="49" charset="0"/>
                <a:cs typeface="Courier New" panose="02070309020205020404" pitchFamily="49" charset="0"/>
              </a:rPr>
              <a:t>final</a:t>
            </a:r>
            <a:r>
              <a:rPr lang="en-US" dirty="0">
                <a:solidFill>
                  <a:srgbClr val="000000"/>
                </a:solidFill>
                <a:latin typeface="TimesLTStd-Roman"/>
              </a:rPr>
              <a:t> implicitly declares all of its methods as </a:t>
            </a:r>
            <a:r>
              <a:rPr lang="en-US" b="1" dirty="0">
                <a:solidFill>
                  <a:srgbClr val="000000"/>
                </a:solidFill>
                <a:latin typeface="Courier New" panose="02070309020205020404" pitchFamily="49" charset="0"/>
                <a:cs typeface="Courier New" panose="02070309020205020404" pitchFamily="49" charset="0"/>
              </a:rPr>
              <a:t>final</a:t>
            </a:r>
            <a:r>
              <a:rPr lang="en-US" dirty="0">
                <a:solidFill>
                  <a:srgbClr val="000000"/>
                </a:solidFill>
                <a:latin typeface="TimesLTStd-Roman"/>
              </a:rPr>
              <a:t>, too. </a:t>
            </a:r>
          </a:p>
          <a:p>
            <a:r>
              <a:rPr lang="en-US" dirty="0">
                <a:solidFill>
                  <a:srgbClr val="000000"/>
                </a:solidFill>
                <a:latin typeface="TimesLTStd-Roman"/>
              </a:rPr>
              <a:t>Therefore, it is illegal to declare a class as both </a:t>
            </a:r>
            <a:r>
              <a:rPr lang="en-US" b="1" dirty="0">
                <a:solidFill>
                  <a:srgbClr val="000000"/>
                </a:solidFill>
                <a:latin typeface="Courier New" panose="02070309020205020404" pitchFamily="49" charset="0"/>
                <a:cs typeface="Courier New" panose="02070309020205020404" pitchFamily="49" charset="0"/>
              </a:rPr>
              <a:t>abstract</a:t>
            </a:r>
            <a:r>
              <a:rPr lang="en-US" dirty="0">
                <a:solidFill>
                  <a:srgbClr val="000000"/>
                </a:solidFill>
                <a:latin typeface="TimesLTStd-Roman"/>
              </a:rPr>
              <a:t> and </a:t>
            </a:r>
            <a:r>
              <a:rPr lang="en-US" b="1" dirty="0">
                <a:solidFill>
                  <a:srgbClr val="000000"/>
                </a:solidFill>
                <a:latin typeface="Courier New" panose="02070309020205020404" pitchFamily="49" charset="0"/>
                <a:cs typeface="Courier New" panose="02070309020205020404" pitchFamily="49" charset="0"/>
              </a:rPr>
              <a:t>final</a:t>
            </a:r>
            <a:r>
              <a:rPr lang="en-US" dirty="0">
                <a:solidFill>
                  <a:srgbClr val="000000"/>
                </a:solidFill>
                <a:latin typeface="TimesLTStd-Roman"/>
              </a:rPr>
              <a:t> since an </a:t>
            </a:r>
            <a:r>
              <a:rPr lang="en-US" b="1" dirty="0">
                <a:solidFill>
                  <a:srgbClr val="000000"/>
                </a:solidFill>
                <a:latin typeface="Courier New" panose="02070309020205020404" pitchFamily="49" charset="0"/>
                <a:cs typeface="Courier New" panose="02070309020205020404" pitchFamily="49" charset="0"/>
              </a:rPr>
              <a:t>abstract</a:t>
            </a:r>
            <a:r>
              <a:rPr lang="en-US" dirty="0">
                <a:solidFill>
                  <a:srgbClr val="000000"/>
                </a:solidFill>
                <a:latin typeface="TimesLTStd-Roman"/>
              </a:rPr>
              <a:t> class is incomplete by itself and relies upon its subclasses to provide complete implementations.</a:t>
            </a:r>
          </a:p>
        </p:txBody>
      </p:sp>
      <p:pic>
        <p:nvPicPr>
          <p:cNvPr id="4" name="Picture 3">
            <a:extLst>
              <a:ext uri="{FF2B5EF4-FFF2-40B4-BE49-F238E27FC236}">
                <a16:creationId xmlns:a16="http://schemas.microsoft.com/office/drawing/2014/main" id="{5D583FB3-177E-75E6-FFBE-6831BA04E103}"/>
              </a:ext>
            </a:extLst>
          </p:cNvPr>
          <p:cNvPicPr>
            <a:picLocks noChangeAspect="1"/>
          </p:cNvPicPr>
          <p:nvPr/>
        </p:nvPicPr>
        <p:blipFill>
          <a:blip r:embed="rId2"/>
          <a:stretch>
            <a:fillRect/>
          </a:stretch>
        </p:blipFill>
        <p:spPr>
          <a:xfrm>
            <a:off x="3156105" y="4821309"/>
            <a:ext cx="5620534" cy="1762371"/>
          </a:xfrm>
          <a:prstGeom prst="rect">
            <a:avLst/>
          </a:prstGeom>
          <a:ln>
            <a:solidFill>
              <a:schemeClr val="bg1">
                <a:lumMod val="85000"/>
              </a:schemeClr>
            </a:solidFill>
          </a:ln>
        </p:spPr>
      </p:pic>
    </p:spTree>
    <p:extLst>
      <p:ext uri="{BB962C8B-B14F-4D97-AF65-F5344CB8AC3E}">
        <p14:creationId xmlns:p14="http://schemas.microsoft.com/office/powerpoint/2010/main" val="15178329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B5AFB-652C-0739-66FC-04DCA5A1806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F64397-732C-D8D8-4AB6-E7FFFCE1305A}"/>
              </a:ext>
            </a:extLst>
          </p:cNvPr>
          <p:cNvSpPr>
            <a:spLocks noGrp="1"/>
          </p:cNvSpPr>
          <p:nvPr>
            <p:ph type="ctrTitle"/>
          </p:nvPr>
        </p:nvSpPr>
        <p:spPr>
          <a:xfrm>
            <a:off x="754380" y="2092960"/>
            <a:ext cx="10337800" cy="934720"/>
          </a:xfrm>
        </p:spPr>
        <p:txBody>
          <a:bodyPr>
            <a:noAutofit/>
          </a:bodyPr>
          <a:lstStyle/>
          <a:p>
            <a:r>
              <a:rPr lang="en-US" sz="5400" b="1" dirty="0">
                <a:solidFill>
                  <a:schemeClr val="accent1"/>
                </a:solidFill>
              </a:rPr>
              <a:t>The </a:t>
            </a:r>
            <a:r>
              <a:rPr lang="en-US" sz="5400" b="1" dirty="0">
                <a:solidFill>
                  <a:schemeClr val="accent1"/>
                </a:solidFill>
                <a:latin typeface="Courier New" panose="02070309020205020404" pitchFamily="49" charset="0"/>
                <a:cs typeface="Courier New" panose="02070309020205020404" pitchFamily="49" charset="0"/>
              </a:rPr>
              <a:t>Object</a:t>
            </a:r>
            <a:r>
              <a:rPr lang="en-US" sz="5400" b="1" dirty="0">
                <a:solidFill>
                  <a:schemeClr val="accent1"/>
                </a:solidFill>
              </a:rPr>
              <a:t> Class</a:t>
            </a:r>
            <a:endParaRPr lang="en-US" sz="3600" b="1" dirty="0">
              <a:solidFill>
                <a:schemeClr val="accent1"/>
              </a:solidFill>
            </a:endParaRPr>
          </a:p>
        </p:txBody>
      </p:sp>
    </p:spTree>
    <p:extLst>
      <p:ext uri="{BB962C8B-B14F-4D97-AF65-F5344CB8AC3E}">
        <p14:creationId xmlns:p14="http://schemas.microsoft.com/office/powerpoint/2010/main" val="439054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08167-3334-AB6C-7CF1-22F57F7B7BE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BAB2CE9-F674-C2B1-C3FE-CC7839101007}"/>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The </a:t>
            </a:r>
            <a:r>
              <a:rPr lang="en-US" sz="4000" b="1" dirty="0">
                <a:solidFill>
                  <a:schemeClr val="bg1"/>
                </a:solidFill>
                <a:latin typeface="Courier New" panose="02070309020205020404" pitchFamily="49" charset="0"/>
                <a:cs typeface="Courier New" panose="02070309020205020404" pitchFamily="49" charset="0"/>
              </a:rPr>
              <a:t>Object</a:t>
            </a:r>
            <a:r>
              <a:rPr lang="en-US" sz="4000" b="1" dirty="0">
                <a:solidFill>
                  <a:schemeClr val="bg1"/>
                </a:solidFill>
              </a:rPr>
              <a:t> Class</a:t>
            </a:r>
            <a:endParaRPr lang="en-US" sz="3600" b="1" dirty="0">
              <a:solidFill>
                <a:schemeClr val="bg1"/>
              </a:solidFill>
            </a:endParaRPr>
          </a:p>
        </p:txBody>
      </p:sp>
      <p:sp>
        <p:nvSpPr>
          <p:cNvPr id="2" name="Content Placeholder 2">
            <a:extLst>
              <a:ext uri="{FF2B5EF4-FFF2-40B4-BE49-F238E27FC236}">
                <a16:creationId xmlns:a16="http://schemas.microsoft.com/office/drawing/2014/main" id="{F0F92FF4-6527-EDE1-68AB-4AB28E293679}"/>
              </a:ext>
            </a:extLst>
          </p:cNvPr>
          <p:cNvSpPr txBox="1">
            <a:spLocks/>
          </p:cNvSpPr>
          <p:nvPr/>
        </p:nvSpPr>
        <p:spPr>
          <a:xfrm>
            <a:off x="711199" y="1198880"/>
            <a:ext cx="11196321" cy="54254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000000"/>
                </a:solidFill>
                <a:latin typeface="TimesLTStd-Roman"/>
              </a:rPr>
              <a:t>There is one special class, </a:t>
            </a:r>
            <a:r>
              <a:rPr lang="en-US" b="1" dirty="0">
                <a:solidFill>
                  <a:srgbClr val="000000"/>
                </a:solidFill>
                <a:latin typeface="Courier New" panose="02070309020205020404" pitchFamily="49" charset="0"/>
                <a:cs typeface="Courier New" panose="02070309020205020404" pitchFamily="49" charset="0"/>
              </a:rPr>
              <a:t>Object</a:t>
            </a:r>
            <a:r>
              <a:rPr lang="en-US" dirty="0">
                <a:solidFill>
                  <a:srgbClr val="000000"/>
                </a:solidFill>
                <a:latin typeface="TimesLTStd-Roman"/>
              </a:rPr>
              <a:t>, defined by the Java Standard Library. </a:t>
            </a:r>
          </a:p>
          <a:p>
            <a:r>
              <a:rPr lang="en-US" dirty="0">
                <a:solidFill>
                  <a:srgbClr val="000000"/>
                </a:solidFill>
                <a:latin typeface="TimesLTStd-Roman"/>
              </a:rPr>
              <a:t>All other classes are subclasses of the </a:t>
            </a:r>
            <a:r>
              <a:rPr lang="en-US" b="1" dirty="0">
                <a:solidFill>
                  <a:srgbClr val="000000"/>
                </a:solidFill>
                <a:latin typeface="Courier New" panose="02070309020205020404" pitchFamily="49" charset="0"/>
                <a:cs typeface="Courier New" panose="02070309020205020404" pitchFamily="49" charset="0"/>
              </a:rPr>
              <a:t>Object</a:t>
            </a:r>
            <a:r>
              <a:rPr lang="en-US" dirty="0">
                <a:solidFill>
                  <a:srgbClr val="000000"/>
                </a:solidFill>
                <a:latin typeface="TimesLTStd-Roman"/>
              </a:rPr>
              <a:t> class.</a:t>
            </a:r>
          </a:p>
          <a:p>
            <a:r>
              <a:rPr lang="en-US" dirty="0">
                <a:solidFill>
                  <a:srgbClr val="000000"/>
                </a:solidFill>
                <a:latin typeface="TimesLTStd-Roman"/>
              </a:rPr>
              <a:t>That is, the </a:t>
            </a:r>
            <a:r>
              <a:rPr lang="en-US" b="1" dirty="0">
                <a:solidFill>
                  <a:srgbClr val="000000"/>
                </a:solidFill>
                <a:latin typeface="Courier New" panose="02070309020205020404" pitchFamily="49" charset="0"/>
                <a:cs typeface="Courier New" panose="02070309020205020404" pitchFamily="49" charset="0"/>
              </a:rPr>
              <a:t>Object</a:t>
            </a:r>
            <a:r>
              <a:rPr lang="en-US" dirty="0">
                <a:solidFill>
                  <a:srgbClr val="000000"/>
                </a:solidFill>
                <a:latin typeface="TimesLTStd-Roman"/>
              </a:rPr>
              <a:t> class is a superclass of all other classes. </a:t>
            </a:r>
          </a:p>
          <a:p>
            <a:r>
              <a:rPr lang="en-US" dirty="0">
                <a:solidFill>
                  <a:srgbClr val="000000"/>
                </a:solidFill>
                <a:latin typeface="TimesLTStd-Roman"/>
              </a:rPr>
              <a:t>This means that a reference variable of type </a:t>
            </a:r>
            <a:r>
              <a:rPr lang="en-US" b="1" dirty="0">
                <a:solidFill>
                  <a:srgbClr val="000000"/>
                </a:solidFill>
                <a:latin typeface="Courier New" panose="02070309020205020404" pitchFamily="49" charset="0"/>
                <a:cs typeface="Courier New" panose="02070309020205020404" pitchFamily="49" charset="0"/>
              </a:rPr>
              <a:t>Object</a:t>
            </a:r>
            <a:r>
              <a:rPr lang="en-US" dirty="0">
                <a:solidFill>
                  <a:srgbClr val="000000"/>
                </a:solidFill>
                <a:latin typeface="TimesLTStd-Roman"/>
              </a:rPr>
              <a:t> can refer to an object of any other class. </a:t>
            </a:r>
          </a:p>
          <a:p>
            <a:r>
              <a:rPr lang="en-US" dirty="0">
                <a:solidFill>
                  <a:srgbClr val="000000"/>
                </a:solidFill>
                <a:latin typeface="TimesLTStd-Roman"/>
              </a:rPr>
              <a:t>Also, since arrays are implemented as classes, a variable of type </a:t>
            </a:r>
            <a:r>
              <a:rPr lang="en-US" b="1" dirty="0">
                <a:solidFill>
                  <a:srgbClr val="000000"/>
                </a:solidFill>
                <a:latin typeface="Courier New" panose="02070309020205020404" pitchFamily="49" charset="0"/>
                <a:cs typeface="Courier New" panose="02070309020205020404" pitchFamily="49" charset="0"/>
              </a:rPr>
              <a:t>Object</a:t>
            </a:r>
            <a:r>
              <a:rPr lang="en-US" dirty="0">
                <a:solidFill>
                  <a:srgbClr val="000000"/>
                </a:solidFill>
                <a:latin typeface="TimesLTStd-Roman"/>
              </a:rPr>
              <a:t> can also refer to any array.</a:t>
            </a:r>
          </a:p>
          <a:p>
            <a:endParaRPr lang="en-US" dirty="0">
              <a:solidFill>
                <a:srgbClr val="000000"/>
              </a:solidFill>
              <a:latin typeface="TimesLTStd-Roman"/>
            </a:endParaRPr>
          </a:p>
        </p:txBody>
      </p:sp>
    </p:spTree>
    <p:extLst>
      <p:ext uri="{BB962C8B-B14F-4D97-AF65-F5344CB8AC3E}">
        <p14:creationId xmlns:p14="http://schemas.microsoft.com/office/powerpoint/2010/main" val="2560800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80D2C-698D-A2CE-9FC7-F13C00A7ABB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EAD7F9C-6F7A-B220-0172-E8BCDB3872A6}"/>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Methods Defined by </a:t>
            </a:r>
            <a:r>
              <a:rPr lang="en-US" sz="4000" b="1" dirty="0">
                <a:solidFill>
                  <a:schemeClr val="bg1"/>
                </a:solidFill>
                <a:latin typeface="Courier New" panose="02070309020205020404" pitchFamily="49" charset="0"/>
                <a:cs typeface="Courier New" panose="02070309020205020404" pitchFamily="49" charset="0"/>
              </a:rPr>
              <a:t>Object</a:t>
            </a:r>
            <a:r>
              <a:rPr lang="en-US" sz="4000" b="1" dirty="0">
                <a:solidFill>
                  <a:schemeClr val="bg1"/>
                </a:solidFill>
              </a:rPr>
              <a:t> Class</a:t>
            </a:r>
            <a:endParaRPr lang="en-US" sz="3600" b="1" dirty="0">
              <a:solidFill>
                <a:schemeClr val="bg1"/>
              </a:solidFill>
            </a:endParaRPr>
          </a:p>
        </p:txBody>
      </p:sp>
      <p:sp>
        <p:nvSpPr>
          <p:cNvPr id="2" name="Content Placeholder 2">
            <a:extLst>
              <a:ext uri="{FF2B5EF4-FFF2-40B4-BE49-F238E27FC236}">
                <a16:creationId xmlns:a16="http://schemas.microsoft.com/office/drawing/2014/main" id="{AFA4E6E7-8E4C-B884-6C03-6EB082760957}"/>
              </a:ext>
            </a:extLst>
          </p:cNvPr>
          <p:cNvSpPr txBox="1">
            <a:spLocks/>
          </p:cNvSpPr>
          <p:nvPr/>
        </p:nvSpPr>
        <p:spPr>
          <a:xfrm>
            <a:off x="1254475" y="716280"/>
            <a:ext cx="10048241" cy="9194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rgbClr val="000000"/>
                </a:solidFill>
                <a:latin typeface="TimesLTStd-Roman"/>
              </a:rPr>
              <a:t>The class </a:t>
            </a:r>
            <a:r>
              <a:rPr lang="en-US" sz="2400" b="1" dirty="0">
                <a:solidFill>
                  <a:srgbClr val="000000"/>
                </a:solidFill>
                <a:latin typeface="Courier New" panose="02070309020205020404" pitchFamily="49" charset="0"/>
                <a:cs typeface="Courier New" panose="02070309020205020404" pitchFamily="49" charset="0"/>
              </a:rPr>
              <a:t>Object</a:t>
            </a:r>
            <a:r>
              <a:rPr lang="en-US" sz="2400" dirty="0">
                <a:solidFill>
                  <a:srgbClr val="000000"/>
                </a:solidFill>
                <a:latin typeface="TimesLTStd-Roman"/>
              </a:rPr>
              <a:t> defines the following methods, which means that they are available in every object.</a:t>
            </a:r>
          </a:p>
        </p:txBody>
      </p:sp>
      <p:pic>
        <p:nvPicPr>
          <p:cNvPr id="4" name="Picture 3">
            <a:extLst>
              <a:ext uri="{FF2B5EF4-FFF2-40B4-BE49-F238E27FC236}">
                <a16:creationId xmlns:a16="http://schemas.microsoft.com/office/drawing/2014/main" id="{540463C9-BDD3-BB5F-CC84-5CAC767905D0}"/>
              </a:ext>
            </a:extLst>
          </p:cNvPr>
          <p:cNvPicPr>
            <a:picLocks noChangeAspect="1"/>
          </p:cNvPicPr>
          <p:nvPr/>
        </p:nvPicPr>
        <p:blipFill>
          <a:blip r:embed="rId2"/>
          <a:stretch>
            <a:fillRect/>
          </a:stretch>
        </p:blipFill>
        <p:spPr>
          <a:xfrm>
            <a:off x="2166854" y="1509862"/>
            <a:ext cx="8513041" cy="4952627"/>
          </a:xfrm>
          <a:prstGeom prst="rect">
            <a:avLst/>
          </a:prstGeom>
        </p:spPr>
      </p:pic>
      <p:sp>
        <p:nvSpPr>
          <p:cNvPr id="7" name="TextBox 6">
            <a:extLst>
              <a:ext uri="{FF2B5EF4-FFF2-40B4-BE49-F238E27FC236}">
                <a16:creationId xmlns:a16="http://schemas.microsoft.com/office/drawing/2014/main" id="{A75A50CF-F8FC-3DE7-5F4A-F8DD471EA733}"/>
              </a:ext>
            </a:extLst>
          </p:cNvPr>
          <p:cNvSpPr txBox="1"/>
          <p:nvPr/>
        </p:nvSpPr>
        <p:spPr>
          <a:xfrm>
            <a:off x="1254475" y="6432738"/>
            <a:ext cx="8177840" cy="369332"/>
          </a:xfrm>
          <a:prstGeom prst="rect">
            <a:avLst/>
          </a:prstGeom>
          <a:noFill/>
        </p:spPr>
        <p:txBody>
          <a:bodyPr wrap="square">
            <a:spAutoFit/>
          </a:bodyPr>
          <a:lstStyle/>
          <a:p>
            <a:pPr marL="285750" indent="-285750">
              <a:buFont typeface="Arial" panose="020B0604020202020204" pitchFamily="34" charset="0"/>
              <a:buChar char="•"/>
            </a:pPr>
            <a:r>
              <a:rPr lang="en-US" b="1" dirty="0"/>
              <a:t>Java Docs: </a:t>
            </a:r>
            <a:r>
              <a:rPr lang="en-US" dirty="0">
                <a:hlinkClick r:id="rId3"/>
              </a:rPr>
              <a:t>https://docs.oracle.com/javase/8/docs/api/java/lang/Object.html</a:t>
            </a:r>
            <a:endParaRPr lang="en-US" dirty="0"/>
          </a:p>
        </p:txBody>
      </p:sp>
    </p:spTree>
    <p:extLst>
      <p:ext uri="{BB962C8B-B14F-4D97-AF65-F5344CB8AC3E}">
        <p14:creationId xmlns:p14="http://schemas.microsoft.com/office/powerpoint/2010/main" val="31725040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BB3A5-BDF6-F5B2-410A-63BA6F5678A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5E4AD31-C1C0-56F6-377B-559A87796732}"/>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Methods Defined by </a:t>
            </a:r>
            <a:r>
              <a:rPr lang="en-US" sz="4000" b="1" dirty="0">
                <a:solidFill>
                  <a:schemeClr val="bg1"/>
                </a:solidFill>
                <a:latin typeface="Courier New" panose="02070309020205020404" pitchFamily="49" charset="0"/>
                <a:cs typeface="Courier New" panose="02070309020205020404" pitchFamily="49" charset="0"/>
              </a:rPr>
              <a:t>Object</a:t>
            </a:r>
            <a:r>
              <a:rPr lang="en-US" sz="4000" b="1" dirty="0">
                <a:solidFill>
                  <a:schemeClr val="bg1"/>
                </a:solidFill>
              </a:rPr>
              <a:t> Class</a:t>
            </a:r>
            <a:endParaRPr lang="en-US" sz="3600" b="1" dirty="0">
              <a:solidFill>
                <a:schemeClr val="bg1"/>
              </a:solidFill>
            </a:endParaRPr>
          </a:p>
        </p:txBody>
      </p:sp>
      <p:sp>
        <p:nvSpPr>
          <p:cNvPr id="2" name="Content Placeholder 2">
            <a:extLst>
              <a:ext uri="{FF2B5EF4-FFF2-40B4-BE49-F238E27FC236}">
                <a16:creationId xmlns:a16="http://schemas.microsoft.com/office/drawing/2014/main" id="{A214C163-8705-5887-1942-DC9B063CACDA}"/>
              </a:ext>
            </a:extLst>
          </p:cNvPr>
          <p:cNvSpPr txBox="1">
            <a:spLocks/>
          </p:cNvSpPr>
          <p:nvPr/>
        </p:nvSpPr>
        <p:spPr>
          <a:xfrm>
            <a:off x="949675" y="1107440"/>
            <a:ext cx="10642600" cy="544576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000" b="1" dirty="0">
                <a:solidFill>
                  <a:srgbClr val="000000"/>
                </a:solidFill>
                <a:latin typeface="Courier New" panose="02070309020205020404" pitchFamily="49" charset="0"/>
                <a:cs typeface="Courier New" panose="02070309020205020404" pitchFamily="49" charset="0"/>
              </a:rPr>
              <a:t>equals() </a:t>
            </a:r>
            <a:endParaRPr lang="en-US" sz="3000" dirty="0">
              <a:solidFill>
                <a:srgbClr val="000000"/>
              </a:solidFill>
              <a:latin typeface="TimesLTStd-Roman"/>
            </a:endParaRPr>
          </a:p>
          <a:p>
            <a:r>
              <a:rPr lang="en-US" sz="2400" dirty="0">
                <a:solidFill>
                  <a:srgbClr val="000000"/>
                </a:solidFill>
                <a:latin typeface="TimesLTStd-Roman"/>
              </a:rPr>
              <a:t>The </a:t>
            </a:r>
            <a:r>
              <a:rPr lang="en-US" sz="2400" b="1" dirty="0">
                <a:solidFill>
                  <a:srgbClr val="000000"/>
                </a:solidFill>
                <a:latin typeface="Courier New" panose="02070309020205020404" pitchFamily="49" charset="0"/>
                <a:cs typeface="Courier New" panose="02070309020205020404" pitchFamily="49" charset="0"/>
              </a:rPr>
              <a:t>equals()</a:t>
            </a:r>
            <a:r>
              <a:rPr lang="en-US" sz="2400" dirty="0">
                <a:solidFill>
                  <a:srgbClr val="000000"/>
                </a:solidFill>
                <a:latin typeface="TimesLTStd-Roman"/>
              </a:rPr>
              <a:t> method compares two objects. </a:t>
            </a:r>
          </a:p>
          <a:p>
            <a:r>
              <a:rPr lang="en-US" sz="2400" dirty="0">
                <a:solidFill>
                  <a:srgbClr val="000000"/>
                </a:solidFill>
                <a:latin typeface="TimesLTStd-Roman"/>
              </a:rPr>
              <a:t>It returns </a:t>
            </a:r>
            <a:r>
              <a:rPr lang="en-US" sz="2400" b="1" dirty="0">
                <a:solidFill>
                  <a:srgbClr val="000000"/>
                </a:solidFill>
                <a:latin typeface="Courier New" panose="02070309020205020404" pitchFamily="49" charset="0"/>
                <a:cs typeface="Courier New" panose="02070309020205020404" pitchFamily="49" charset="0"/>
              </a:rPr>
              <a:t>true</a:t>
            </a:r>
            <a:r>
              <a:rPr lang="en-US" sz="2400" dirty="0">
                <a:solidFill>
                  <a:srgbClr val="000000"/>
                </a:solidFill>
                <a:latin typeface="TimesLTStd-Roman"/>
              </a:rPr>
              <a:t> if the objects are equal, and </a:t>
            </a:r>
            <a:r>
              <a:rPr lang="en-US" sz="2400" b="1" dirty="0">
                <a:solidFill>
                  <a:srgbClr val="000000"/>
                </a:solidFill>
                <a:latin typeface="Courier New" panose="02070309020205020404" pitchFamily="49" charset="0"/>
                <a:cs typeface="Courier New" panose="02070309020205020404" pitchFamily="49" charset="0"/>
              </a:rPr>
              <a:t>false</a:t>
            </a:r>
            <a:r>
              <a:rPr lang="en-US" sz="2400" dirty="0">
                <a:solidFill>
                  <a:srgbClr val="000000"/>
                </a:solidFill>
                <a:latin typeface="TimesLTStd-Roman"/>
              </a:rPr>
              <a:t> otherwise. </a:t>
            </a:r>
          </a:p>
          <a:p>
            <a:r>
              <a:rPr lang="en-US" sz="2400" dirty="0">
                <a:solidFill>
                  <a:srgbClr val="000000"/>
                </a:solidFill>
                <a:latin typeface="TimesLTStd-Roman"/>
              </a:rPr>
              <a:t>The precise definition of equality can vary, depending on the type of objects being compared. </a:t>
            </a:r>
          </a:p>
          <a:p>
            <a:pPr marL="0" indent="0">
              <a:buNone/>
            </a:pPr>
            <a:r>
              <a:rPr lang="en-US" sz="3000" b="1" dirty="0" err="1">
                <a:solidFill>
                  <a:srgbClr val="000000"/>
                </a:solidFill>
                <a:latin typeface="Courier New" panose="02070309020205020404" pitchFamily="49" charset="0"/>
                <a:cs typeface="Courier New" panose="02070309020205020404" pitchFamily="49" charset="0"/>
              </a:rPr>
              <a:t>toString</a:t>
            </a:r>
            <a:r>
              <a:rPr lang="en-US" sz="3000" b="1" dirty="0">
                <a:solidFill>
                  <a:srgbClr val="000000"/>
                </a:solidFill>
                <a:latin typeface="Courier New" panose="02070309020205020404" pitchFamily="49" charset="0"/>
                <a:cs typeface="Courier New" panose="02070309020205020404" pitchFamily="49" charset="0"/>
              </a:rPr>
              <a:t>()</a:t>
            </a:r>
          </a:p>
          <a:p>
            <a:r>
              <a:rPr lang="en-US" sz="2400" dirty="0">
                <a:solidFill>
                  <a:srgbClr val="000000"/>
                </a:solidFill>
                <a:latin typeface="TimesLTStd-Roman"/>
              </a:rPr>
              <a:t>The </a:t>
            </a:r>
            <a:r>
              <a:rPr lang="en-US" sz="2400" b="1" dirty="0" err="1">
                <a:solidFill>
                  <a:srgbClr val="000000"/>
                </a:solidFill>
                <a:latin typeface="Courier New" panose="02070309020205020404" pitchFamily="49" charset="0"/>
                <a:cs typeface="Courier New" panose="02070309020205020404" pitchFamily="49" charset="0"/>
              </a:rPr>
              <a:t>toString</a:t>
            </a:r>
            <a:r>
              <a:rPr lang="en-US" sz="2400" b="1" dirty="0">
                <a:solidFill>
                  <a:srgbClr val="000000"/>
                </a:solidFill>
                <a:latin typeface="Courier New" panose="02070309020205020404" pitchFamily="49" charset="0"/>
                <a:cs typeface="Courier New" panose="02070309020205020404" pitchFamily="49" charset="0"/>
              </a:rPr>
              <a:t>()</a:t>
            </a:r>
            <a:r>
              <a:rPr lang="en-US" sz="2400" dirty="0">
                <a:solidFill>
                  <a:srgbClr val="000000"/>
                </a:solidFill>
                <a:latin typeface="TimesLTStd-Roman"/>
              </a:rPr>
              <a:t> method returns a string that contains a description of the object on which it is called. </a:t>
            </a:r>
          </a:p>
          <a:p>
            <a:r>
              <a:rPr lang="en-US" sz="2400" dirty="0">
                <a:solidFill>
                  <a:srgbClr val="000000"/>
                </a:solidFill>
                <a:latin typeface="TimesLTStd-Roman"/>
              </a:rPr>
              <a:t>Also, this method is automatically called when an object is output using </a:t>
            </a:r>
            <a:r>
              <a:rPr lang="en-US" sz="2400" b="1" dirty="0" err="1">
                <a:solidFill>
                  <a:srgbClr val="000000"/>
                </a:solidFill>
                <a:latin typeface="Courier New" panose="02070309020205020404" pitchFamily="49" charset="0"/>
                <a:cs typeface="Courier New" panose="02070309020205020404" pitchFamily="49" charset="0"/>
              </a:rPr>
              <a:t>println</a:t>
            </a:r>
            <a:r>
              <a:rPr lang="en-US" sz="2400" b="1" dirty="0">
                <a:solidFill>
                  <a:srgbClr val="000000"/>
                </a:solidFill>
                <a:latin typeface="Courier New" panose="02070309020205020404" pitchFamily="49" charset="0"/>
                <a:cs typeface="Courier New" panose="02070309020205020404" pitchFamily="49" charset="0"/>
              </a:rPr>
              <a:t>()</a:t>
            </a:r>
            <a:r>
              <a:rPr lang="en-US" sz="2400" dirty="0">
                <a:solidFill>
                  <a:srgbClr val="000000"/>
                </a:solidFill>
                <a:latin typeface="TimesLTStd-Roman"/>
              </a:rPr>
              <a:t>. </a:t>
            </a:r>
          </a:p>
          <a:p>
            <a:r>
              <a:rPr lang="en-US" sz="2400" dirty="0">
                <a:solidFill>
                  <a:srgbClr val="000000"/>
                </a:solidFill>
                <a:latin typeface="TimesLTStd-Roman"/>
              </a:rPr>
              <a:t>Many classes override this method. </a:t>
            </a:r>
          </a:p>
          <a:p>
            <a:r>
              <a:rPr lang="en-US" sz="2400" dirty="0">
                <a:solidFill>
                  <a:srgbClr val="000000"/>
                </a:solidFill>
                <a:latin typeface="TimesLTStd-Roman"/>
              </a:rPr>
              <a:t>Doing so allows them to tailor a description specifically for the types of objects that they create.</a:t>
            </a:r>
          </a:p>
        </p:txBody>
      </p:sp>
    </p:spTree>
    <p:extLst>
      <p:ext uri="{BB962C8B-B14F-4D97-AF65-F5344CB8AC3E}">
        <p14:creationId xmlns:p14="http://schemas.microsoft.com/office/powerpoint/2010/main" val="8686005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3AD4D-9EEE-9BCB-33C9-E588E26B3A6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AFFD598-C305-DF39-1B07-AF1C40FFF747}"/>
              </a:ext>
            </a:extLst>
          </p:cNvPr>
          <p:cNvSpPr>
            <a:spLocks noGrp="1"/>
          </p:cNvSpPr>
          <p:nvPr>
            <p:ph type="ctrTitle"/>
          </p:nvPr>
        </p:nvSpPr>
        <p:spPr>
          <a:xfrm>
            <a:off x="1254475" y="-137817"/>
            <a:ext cx="10337800" cy="751840"/>
          </a:xfrm>
        </p:spPr>
        <p:txBody>
          <a:bodyPr>
            <a:noAutofit/>
          </a:bodyPr>
          <a:lstStyle/>
          <a:p>
            <a:r>
              <a:rPr lang="en-US" sz="4000" b="1" dirty="0">
                <a:solidFill>
                  <a:schemeClr val="bg1"/>
                </a:solidFill>
              </a:rPr>
              <a:t>Example: </a:t>
            </a:r>
            <a:r>
              <a:rPr lang="en-US" sz="4000" b="1" dirty="0">
                <a:solidFill>
                  <a:schemeClr val="bg1"/>
                </a:solidFill>
                <a:latin typeface="Courier New" panose="02070309020205020404" pitchFamily="49" charset="0"/>
                <a:cs typeface="Courier New" panose="02070309020205020404" pitchFamily="49" charset="0"/>
              </a:rPr>
              <a:t>equals()</a:t>
            </a:r>
            <a:r>
              <a:rPr lang="en-US" sz="4000" b="1" dirty="0">
                <a:solidFill>
                  <a:schemeClr val="bg1"/>
                </a:solidFill>
              </a:rPr>
              <a:t> and </a:t>
            </a:r>
            <a:r>
              <a:rPr lang="en-US" sz="4000" b="1" dirty="0" err="1">
                <a:solidFill>
                  <a:schemeClr val="bg1"/>
                </a:solidFill>
                <a:latin typeface="Courier New" panose="02070309020205020404" pitchFamily="49" charset="0"/>
                <a:cs typeface="Courier New" panose="02070309020205020404" pitchFamily="49" charset="0"/>
              </a:rPr>
              <a:t>toString</a:t>
            </a:r>
            <a:r>
              <a:rPr lang="en-US" sz="4000" b="1" dirty="0">
                <a:solidFill>
                  <a:schemeClr val="bg1"/>
                </a:solidFill>
                <a:latin typeface="Courier New" panose="02070309020205020404" pitchFamily="49" charset="0"/>
                <a:cs typeface="Courier New" panose="02070309020205020404" pitchFamily="49" charset="0"/>
              </a:rPr>
              <a:t>()</a:t>
            </a:r>
            <a:endParaRPr lang="en-US" sz="3600" b="1" dirty="0">
              <a:solidFill>
                <a:schemeClr val="bg1"/>
              </a:solidFill>
              <a:latin typeface="Courier New" panose="020703090202050204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E61D0D9C-6603-2806-0977-4CDD2C06CEB9}"/>
              </a:ext>
            </a:extLst>
          </p:cNvPr>
          <p:cNvPicPr>
            <a:picLocks noChangeAspect="1"/>
          </p:cNvPicPr>
          <p:nvPr/>
        </p:nvPicPr>
        <p:blipFill>
          <a:blip r:embed="rId2"/>
          <a:stretch>
            <a:fillRect/>
          </a:stretch>
        </p:blipFill>
        <p:spPr>
          <a:xfrm>
            <a:off x="308324" y="1160412"/>
            <a:ext cx="5787676" cy="4725381"/>
          </a:xfrm>
          <a:prstGeom prst="rect">
            <a:avLst/>
          </a:prstGeom>
          <a:ln>
            <a:solidFill>
              <a:schemeClr val="bg1">
                <a:lumMod val="85000"/>
              </a:schemeClr>
            </a:solidFill>
          </a:ln>
        </p:spPr>
      </p:pic>
      <p:pic>
        <p:nvPicPr>
          <p:cNvPr id="7" name="Picture 6">
            <a:extLst>
              <a:ext uri="{FF2B5EF4-FFF2-40B4-BE49-F238E27FC236}">
                <a16:creationId xmlns:a16="http://schemas.microsoft.com/office/drawing/2014/main" id="{68A90974-67A6-56D0-C001-778828FA88B5}"/>
              </a:ext>
            </a:extLst>
          </p:cNvPr>
          <p:cNvPicPr>
            <a:picLocks noChangeAspect="1"/>
          </p:cNvPicPr>
          <p:nvPr/>
        </p:nvPicPr>
        <p:blipFill>
          <a:blip r:embed="rId3"/>
          <a:stretch>
            <a:fillRect/>
          </a:stretch>
        </p:blipFill>
        <p:spPr>
          <a:xfrm>
            <a:off x="6217920" y="1160412"/>
            <a:ext cx="5760455" cy="2677088"/>
          </a:xfrm>
          <a:prstGeom prst="rect">
            <a:avLst/>
          </a:prstGeom>
          <a:ln>
            <a:solidFill>
              <a:schemeClr val="bg1">
                <a:lumMod val="85000"/>
              </a:schemeClr>
            </a:solidFill>
          </a:ln>
        </p:spPr>
      </p:pic>
      <p:pic>
        <p:nvPicPr>
          <p:cNvPr id="9" name="Picture 8">
            <a:extLst>
              <a:ext uri="{FF2B5EF4-FFF2-40B4-BE49-F238E27FC236}">
                <a16:creationId xmlns:a16="http://schemas.microsoft.com/office/drawing/2014/main" id="{1E390D3F-29ED-6FB6-113B-FBAB51F08716}"/>
              </a:ext>
            </a:extLst>
          </p:cNvPr>
          <p:cNvPicPr>
            <a:picLocks noChangeAspect="1"/>
          </p:cNvPicPr>
          <p:nvPr/>
        </p:nvPicPr>
        <p:blipFill>
          <a:blip r:embed="rId4"/>
          <a:stretch>
            <a:fillRect/>
          </a:stretch>
        </p:blipFill>
        <p:spPr>
          <a:xfrm>
            <a:off x="7030587" y="4814700"/>
            <a:ext cx="4135120" cy="1071093"/>
          </a:xfrm>
          <a:prstGeom prst="rect">
            <a:avLst/>
          </a:prstGeom>
          <a:ln>
            <a:solidFill>
              <a:schemeClr val="bg1">
                <a:lumMod val="85000"/>
              </a:schemeClr>
            </a:solidFill>
          </a:ln>
        </p:spPr>
      </p:pic>
      <p:sp>
        <p:nvSpPr>
          <p:cNvPr id="10" name="Content Placeholder 2">
            <a:extLst>
              <a:ext uri="{FF2B5EF4-FFF2-40B4-BE49-F238E27FC236}">
                <a16:creationId xmlns:a16="http://schemas.microsoft.com/office/drawing/2014/main" id="{B2761A3A-2D88-9D54-BA05-6DCDAADE8016}"/>
              </a:ext>
            </a:extLst>
          </p:cNvPr>
          <p:cNvSpPr txBox="1">
            <a:spLocks/>
          </p:cNvSpPr>
          <p:nvPr/>
        </p:nvSpPr>
        <p:spPr>
          <a:xfrm>
            <a:off x="8234848" y="4328926"/>
            <a:ext cx="1425124" cy="379912"/>
          </a:xfrm>
          <a:prstGeom prst="rect">
            <a:avLst/>
          </a:prstGeom>
          <a:solidFill>
            <a:schemeClr val="accent6">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2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rgbClr val="000000"/>
                </a:solidFill>
                <a:latin typeface="TimesLTStd-Roman"/>
              </a:rPr>
              <a:t>OUTPUT</a:t>
            </a:r>
          </a:p>
        </p:txBody>
      </p:sp>
    </p:spTree>
    <p:extLst>
      <p:ext uri="{BB962C8B-B14F-4D97-AF65-F5344CB8AC3E}">
        <p14:creationId xmlns:p14="http://schemas.microsoft.com/office/powerpoint/2010/main" val="1884245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25058</TotalTime>
  <Words>1789</Words>
  <Application>Microsoft Office PowerPoint</Application>
  <PresentationFormat>Widescreen</PresentationFormat>
  <Paragraphs>128</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Courier New</vt:lpstr>
      <vt:lpstr>Garamond</vt:lpstr>
      <vt:lpstr>TimesLTStd-Roman</vt:lpstr>
      <vt:lpstr>Office Theme</vt:lpstr>
      <vt:lpstr>Inheritance Part 3  Java - The Complete Reference  Herbert Schildt Chapter 8 </vt:lpstr>
      <vt:lpstr>Outline</vt:lpstr>
      <vt:lpstr>PowerPoint Presentation</vt:lpstr>
      <vt:lpstr>Dynamic Method Dispatch</vt:lpstr>
      <vt:lpstr>Dynamic Method Dispatch</vt:lpstr>
      <vt:lpstr>Example: Dynamic Method Dispatch</vt:lpstr>
      <vt:lpstr>Why Overridden Methods?</vt:lpstr>
      <vt:lpstr>Why Overridden Methods?</vt:lpstr>
      <vt:lpstr>Applying Method Overriding</vt:lpstr>
      <vt:lpstr>Applying Method Overriding</vt:lpstr>
      <vt:lpstr>Abstract Classes  </vt:lpstr>
      <vt:lpstr>Abstract Classes: Introduction</vt:lpstr>
      <vt:lpstr>An Example of Abstract Class</vt:lpstr>
      <vt:lpstr>Abstract Classes: Definitions</vt:lpstr>
      <vt:lpstr>Rules of Abstract Classes</vt:lpstr>
      <vt:lpstr>Another Example of an Abstract Class</vt:lpstr>
      <vt:lpstr>Explanation of Example</vt:lpstr>
      <vt:lpstr>Using final with Inheritance</vt:lpstr>
      <vt:lpstr>Using final with Inheritance</vt:lpstr>
      <vt:lpstr>Using final to Prevent Method Overriding</vt:lpstr>
      <vt:lpstr>Using final to Prevent Method Overriding</vt:lpstr>
      <vt:lpstr>Using final to Prevent Inheritance</vt:lpstr>
      <vt:lpstr>The Object Class</vt:lpstr>
      <vt:lpstr>The Object Class</vt:lpstr>
      <vt:lpstr>Methods Defined by Object Class</vt:lpstr>
      <vt:lpstr>Methods Defined by Object Class</vt:lpstr>
      <vt:lpstr>Example: equals() and toString()</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Symmetric Cryptography</dc:title>
  <dc:creator>Md Hasanul Ferdaus</dc:creator>
  <cp:lastModifiedBy>Md Hasanul Ferdaus</cp:lastModifiedBy>
  <cp:revision>3552</cp:revision>
  <dcterms:created xsi:type="dcterms:W3CDTF">2023-02-09T14:28:53Z</dcterms:created>
  <dcterms:modified xsi:type="dcterms:W3CDTF">2025-12-02T16:08:00Z</dcterms:modified>
</cp:coreProperties>
</file>