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7"/>
  </p:notesMasterIdLst>
  <p:sldIdLst>
    <p:sldId id="314" r:id="rId2"/>
    <p:sldId id="332" r:id="rId3"/>
    <p:sldId id="383" r:id="rId4"/>
    <p:sldId id="341" r:id="rId5"/>
    <p:sldId id="348" r:id="rId6"/>
    <p:sldId id="370" r:id="rId7"/>
    <p:sldId id="372" r:id="rId8"/>
    <p:sldId id="371" r:id="rId9"/>
    <p:sldId id="373" r:id="rId10"/>
    <p:sldId id="374" r:id="rId11"/>
    <p:sldId id="375" r:id="rId12"/>
    <p:sldId id="377" r:id="rId13"/>
    <p:sldId id="378" r:id="rId14"/>
    <p:sldId id="379" r:id="rId15"/>
    <p:sldId id="380" r:id="rId16"/>
    <p:sldId id="382" r:id="rId17"/>
    <p:sldId id="384" r:id="rId18"/>
    <p:sldId id="385" r:id="rId19"/>
    <p:sldId id="386" r:id="rId20"/>
    <p:sldId id="387" r:id="rId21"/>
    <p:sldId id="389" r:id="rId22"/>
    <p:sldId id="388" r:id="rId23"/>
    <p:sldId id="391" r:id="rId24"/>
    <p:sldId id="390" r:id="rId25"/>
    <p:sldId id="392" r:id="rId26"/>
    <p:sldId id="393" r:id="rId27"/>
    <p:sldId id="394" r:id="rId28"/>
    <p:sldId id="395" r:id="rId29"/>
    <p:sldId id="396" r:id="rId30"/>
    <p:sldId id="397" r:id="rId31"/>
    <p:sldId id="398" r:id="rId32"/>
    <p:sldId id="399" r:id="rId33"/>
    <p:sldId id="401" r:id="rId34"/>
    <p:sldId id="400" r:id="rId35"/>
    <p:sldId id="402" r:id="rId36"/>
    <p:sldId id="403" r:id="rId37"/>
    <p:sldId id="404" r:id="rId38"/>
    <p:sldId id="405" r:id="rId39"/>
    <p:sldId id="406" r:id="rId40"/>
    <p:sldId id="407" r:id="rId41"/>
    <p:sldId id="408" r:id="rId42"/>
    <p:sldId id="409" r:id="rId43"/>
    <p:sldId id="410" r:id="rId44"/>
    <p:sldId id="411" r:id="rId45"/>
    <p:sldId id="412" r:id="rId46"/>
    <p:sldId id="413" r:id="rId47"/>
    <p:sldId id="414" r:id="rId48"/>
    <p:sldId id="415" r:id="rId49"/>
    <p:sldId id="416" r:id="rId50"/>
    <p:sldId id="417" r:id="rId51"/>
    <p:sldId id="418" r:id="rId52"/>
    <p:sldId id="419" r:id="rId53"/>
    <p:sldId id="420" r:id="rId54"/>
    <p:sldId id="421" r:id="rId55"/>
    <p:sldId id="422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73B2-6760-460E-8AB2-1B6346B18A84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B1D3-9AAB-42E9-AB25-5F62B3993181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96A2-8E33-4AA5-9781-C6800CE55457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0BE7-B07C-4974-811F-F976B1E00FA0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41B3-369F-43A4-8A97-D2A32ED460A2}" type="datetime1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618E-2637-45D6-B9DC-BEC5E50A78A2}" type="datetime1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B262-ECF8-4B6F-BF55-2A05210DA752}" type="datetime1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F33B-22BF-4177-90DF-BF8D0C456F5B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386F-1449-4FB9-879F-2818E7EE9A3C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072F-FD1D-4BA2-BB79-3257390C4608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AF11-6F97-41CD-85DB-F04148D1C584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FF405-15DA-4E10-B87C-176BF076D254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6951" y="6465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1">
                <a:solidFill>
                  <a:schemeClr val="tx1"/>
                </a:solidFill>
              </a:defRPr>
            </a:lvl1pPr>
          </a:lstStyle>
          <a:p>
            <a:r>
              <a:rPr lang="en-US"/>
              <a:t>Dr Md Hasanul Ferdaus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unicode.org/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080" y="465328"/>
            <a:ext cx="6817360" cy="3740912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b="1" dirty="0"/>
              <a:t>Java Data Types, Variables, Arrays</a:t>
            </a:r>
            <a:br>
              <a:rPr lang="en-US" b="1" dirty="0"/>
            </a:br>
            <a:br>
              <a:rPr lang="en-US" sz="3400" b="1" dirty="0"/>
            </a:br>
            <a:r>
              <a:rPr lang="en-US" sz="3600" b="1" dirty="0"/>
              <a:t>Java - The Complete Reference </a:t>
            </a:r>
            <a:br>
              <a:rPr lang="en-US" sz="3600" b="1" dirty="0"/>
            </a:br>
            <a:r>
              <a:rPr lang="en-US" sz="2700" b="1" dirty="0"/>
              <a:t>Herbert </a:t>
            </a:r>
            <a:r>
              <a:rPr lang="en-US" sz="2700" b="1" dirty="0" err="1"/>
              <a:t>Schildt</a:t>
            </a:r>
            <a:br>
              <a:rPr lang="en-US" sz="2700" b="1" dirty="0"/>
            </a:br>
            <a:r>
              <a:rPr lang="en-US" sz="2000" b="1" dirty="0"/>
              <a:t>Chapter 3</a:t>
            </a:r>
            <a:br>
              <a:rPr lang="en-US" sz="2000" b="1" dirty="0"/>
            </a:br>
            <a:endParaRPr lang="en-US" sz="3400" b="1" dirty="0"/>
          </a:p>
        </p:txBody>
      </p:sp>
      <p:pic>
        <p:nvPicPr>
          <p:cNvPr id="3" name="Picture 2" descr="A logo of a cup with a smoke&#10;&#10;Description automatically generated">
            <a:extLst>
              <a:ext uri="{FF2B5EF4-FFF2-40B4-BE49-F238E27FC236}">
                <a16:creationId xmlns:a16="http://schemas.microsoft.com/office/drawing/2014/main" id="{BDB8C381-3971-3988-FACF-7ABC0A6AD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Outline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254475" y="1402080"/>
            <a:ext cx="10653045" cy="4480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Java Data Types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 Literals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 Variables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Type Casting and Type Promotion in Java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Arrays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002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E598F-10E5-E102-F691-9598D08E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3A65C0-EB16-EE81-2737-92BC633EB009}"/>
              </a:ext>
            </a:extLst>
          </p:cNvPr>
          <p:cNvSpPr txBox="1"/>
          <p:nvPr/>
        </p:nvSpPr>
        <p:spPr>
          <a:xfrm>
            <a:off x="2875280" y="231469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Java Data Types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364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Java is a Strongly Typed Language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711199" y="1219200"/>
            <a:ext cx="11196321" cy="54051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In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Strongly Typed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languages,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variable types are checked at compile time and cannot be changed at runtime.</a:t>
            </a:r>
          </a:p>
          <a:p>
            <a:pPr lvl="1"/>
            <a:r>
              <a:rPr lang="fi-FI" b="0" i="0" u="none" strike="noStrike" baseline="0" dirty="0">
                <a:solidFill>
                  <a:srgbClr val="000000"/>
                </a:solidFill>
                <a:latin typeface="TimesLTStd-Roman"/>
              </a:rPr>
              <a:t>Java, C#, C/C++, Swift, Kotlin</a:t>
            </a:r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In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TimesLTStd-Roman"/>
              </a:rPr>
              <a:t>Dynamically Typed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languages, variable types are determined at runtime and can change during execution.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JavaScript, Python, Ruby, Perl, PHP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Every variable in Java has a type, every expression has a type, and every type is strictly defined.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All assignments, whether explicit or via parameter passing in method calls, are checked for type compatibility.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Any type mismatches are errors that must be corrected before the compiler will finish compiling the class.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73446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D4C33-40D1-B3F3-7B7C-6F0C0C05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6E73E2-6E83-473E-AD07-37F4551F6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Primitive Data Types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2939E8B-DAA2-DE16-0BD9-0ACCE1F8A41D}"/>
              </a:ext>
            </a:extLst>
          </p:cNvPr>
          <p:cNvSpPr txBox="1">
            <a:spLocks/>
          </p:cNvSpPr>
          <p:nvPr/>
        </p:nvSpPr>
        <p:spPr>
          <a:xfrm>
            <a:off x="711199" y="1239520"/>
            <a:ext cx="11196321" cy="5350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Eight (8)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primitive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(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simple)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types can be grouped into four:</a:t>
            </a: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primitive types represent single values—not complex objects.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B0175-5876-471F-CD50-32ED7EA40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158960"/>
              </p:ext>
            </p:extLst>
          </p:nvPr>
        </p:nvGraphicFramePr>
        <p:xfrm>
          <a:off x="820419" y="1991360"/>
          <a:ext cx="10977880" cy="31458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44470">
                  <a:extLst>
                    <a:ext uri="{9D8B030D-6E8A-4147-A177-3AD203B41FA5}">
                      <a16:colId xmlns:a16="http://schemas.microsoft.com/office/drawing/2014/main" val="1483205216"/>
                    </a:ext>
                  </a:extLst>
                </a:gridCol>
                <a:gridCol w="2744470">
                  <a:extLst>
                    <a:ext uri="{9D8B030D-6E8A-4147-A177-3AD203B41FA5}">
                      <a16:colId xmlns:a16="http://schemas.microsoft.com/office/drawing/2014/main" val="3090737680"/>
                    </a:ext>
                  </a:extLst>
                </a:gridCol>
                <a:gridCol w="2744470">
                  <a:extLst>
                    <a:ext uri="{9D8B030D-6E8A-4147-A177-3AD203B41FA5}">
                      <a16:colId xmlns:a16="http://schemas.microsoft.com/office/drawing/2014/main" val="2882831433"/>
                    </a:ext>
                  </a:extLst>
                </a:gridCol>
                <a:gridCol w="2744470">
                  <a:extLst>
                    <a:ext uri="{9D8B030D-6E8A-4147-A177-3AD203B41FA5}">
                      <a16:colId xmlns:a16="http://schemas.microsoft.com/office/drawing/2014/main" val="22030843"/>
                    </a:ext>
                  </a:extLst>
                </a:gridCol>
              </a:tblGrid>
              <a:tr h="6502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Integers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Floating-points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Booleans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840167"/>
                  </a:ext>
                </a:extLst>
              </a:tr>
              <a:tr h="94116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byte, short, int, 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float, 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0515920"/>
                  </a:ext>
                </a:extLst>
              </a:tr>
              <a:tr h="122662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Used for whole-valued signed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Used for numbers with fractional precision.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Used for symbols in a character set, like letters, digits, special symbols,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Used for true/false values.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926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082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9EF39-D445-CF95-AE1C-18AD3B65A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B451517-2BFE-DDC8-AB37-12EC66AB2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Strictly Defined Range of Primitive Data Types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51F7AC-19DB-AC84-EE5E-11F1154520B4}"/>
              </a:ext>
            </a:extLst>
          </p:cNvPr>
          <p:cNvSpPr txBox="1">
            <a:spLocks/>
          </p:cNvSpPr>
          <p:nvPr/>
        </p:nvSpPr>
        <p:spPr>
          <a:xfrm>
            <a:off x="711199" y="1239520"/>
            <a:ext cx="11196321" cy="53506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The primitive types are defined to have an explicit range and mathematical behavior.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Languages such as C and C++ allow the size of an integer to vary based on the execution environment.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32-bit/64-bit systems,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usually 32 bits. (Windows, Linux, etc.)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16-bit systems (older systems or embedded platforms),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might be 16 bits (consumer electronics, automotive electronics, control systems).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Because of Java’s portability requirement, all data types have a strictly defined range.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For example, an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always 32 bits, regardless of the particular platform.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This allows programs to be written that are guaranteed to run without porting on any machine architecture. 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155323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CA5A5-3B90-F325-2E8B-F0E60597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4253CD-2D2B-0CA3-A72B-1DC262F7E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Integers (</a:t>
            </a: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byte, short, int, long</a:t>
            </a:r>
            <a:r>
              <a:rPr lang="en-US" sz="3600" b="1" dirty="0">
                <a:solidFill>
                  <a:schemeClr val="bg1"/>
                </a:solidFill>
              </a:rPr>
              <a:t>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33522FD-E5BF-11CE-4BB2-9DDF59CDFF7B}"/>
              </a:ext>
            </a:extLst>
          </p:cNvPr>
          <p:cNvSpPr txBox="1">
            <a:spLocks/>
          </p:cNvSpPr>
          <p:nvPr/>
        </p:nvSpPr>
        <p:spPr>
          <a:xfrm>
            <a:off x="711199" y="1239520"/>
            <a:ext cx="11196321" cy="5350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All of these are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signed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,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positive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negative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values. 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Java does not support unsigned, positive-only integers (as in C/C++, C#, Python).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A3500D-1D6A-2DF0-1E3D-0BBACA47E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948044"/>
              </p:ext>
            </p:extLst>
          </p:nvPr>
        </p:nvGraphicFramePr>
        <p:xfrm>
          <a:off x="802355" y="2507826"/>
          <a:ext cx="10789920" cy="3943773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696720">
                  <a:extLst>
                    <a:ext uri="{9D8B030D-6E8A-4147-A177-3AD203B41FA5}">
                      <a16:colId xmlns:a16="http://schemas.microsoft.com/office/drawing/2014/main" val="4063261911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3450942101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1183481800"/>
                    </a:ext>
                  </a:extLst>
                </a:gridCol>
              </a:tblGrid>
              <a:tr h="122392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Width (bytes)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39912"/>
                  </a:ext>
                </a:extLst>
              </a:tr>
              <a:tr h="67996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byte</a:t>
                      </a:r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–128 to 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038318"/>
                  </a:ext>
                </a:extLst>
              </a:tr>
              <a:tr h="67996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Short</a:t>
                      </a:r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–32,768 to 32,767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652048"/>
                  </a:ext>
                </a:extLst>
              </a:tr>
              <a:tr h="67996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int</a:t>
                      </a:r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–2,147,483,648 to 2,147,483,647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737014"/>
                  </a:ext>
                </a:extLst>
              </a:tr>
              <a:tr h="67996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long</a:t>
                      </a:r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–9,223,372,036,854,775,808 to 9,223,372,036,854,775,807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675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234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AAFCA-EE73-021F-A0CE-ECA94650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959B96D-7688-86E0-4E61-05DD39243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Integers (</a:t>
            </a: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byte, short, int, long</a:t>
            </a:r>
            <a:r>
              <a:rPr lang="en-US" sz="3600" b="1" dirty="0">
                <a:solidFill>
                  <a:schemeClr val="bg1"/>
                </a:solidFill>
              </a:rPr>
              <a:t>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106286-5D29-52ED-53B2-885879971253}"/>
              </a:ext>
            </a:extLst>
          </p:cNvPr>
          <p:cNvSpPr txBox="1">
            <a:spLocks/>
          </p:cNvSpPr>
          <p:nvPr/>
        </p:nvSpPr>
        <p:spPr>
          <a:xfrm>
            <a:off x="670559" y="1107440"/>
            <a:ext cx="11196321" cy="575056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Variables of type 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are especially useful when reading or writing with a stream of data from a file or network.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Also, useful when working with raw binary data that may not be directly compatible with Java’s other built-in types.</a:t>
            </a:r>
          </a:p>
          <a:p>
            <a:pPr marL="0" indent="0">
              <a:buNone/>
            </a:pPr>
            <a:r>
              <a:rPr lang="en-US" sz="3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short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It is probably the least used Java type.</a:t>
            </a:r>
          </a:p>
          <a:p>
            <a:pPr marL="0" indent="0">
              <a:buNone/>
            </a:pPr>
            <a:r>
              <a:rPr lang="en-US" sz="3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 addition to other uses, variables of type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are commonly employed to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control loops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and to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index arrays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pPr marL="0" indent="0">
              <a:buNone/>
            </a:pPr>
            <a:r>
              <a:rPr lang="en-US" sz="3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Useful for those occasions where an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type is not large enough to hold the desired value.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TimesLTStd-Roman"/>
              </a:rPr>
              <a:t>Code: LongExample.java</a:t>
            </a: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793904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70AE1-2B9D-3BE1-D5A4-1CDAC7290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AFDF64B-8A35-261F-FBE6-E4D9EBF90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Floating-point Types (</a:t>
            </a: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float, double</a:t>
            </a:r>
            <a:r>
              <a:rPr lang="en-US" sz="3600" b="1" dirty="0">
                <a:solidFill>
                  <a:schemeClr val="bg1"/>
                </a:solidFill>
              </a:rPr>
              <a:t>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0A85D61-4528-A128-8A55-B3DA1F66A966}"/>
              </a:ext>
            </a:extLst>
          </p:cNvPr>
          <p:cNvSpPr txBox="1">
            <a:spLocks/>
          </p:cNvSpPr>
          <p:nvPr/>
        </p:nvSpPr>
        <p:spPr>
          <a:xfrm>
            <a:off x="670559" y="1107440"/>
            <a:ext cx="11196321" cy="5350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Floating-point numbers, also known as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TimesLTStd-Roman"/>
              </a:rPr>
              <a:t>real numbers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, are used when evaluating expressions that require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TimesLTStd-Roman"/>
              </a:rPr>
              <a:t>fractional precision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Examples: calculations such as square root, or trigonometric functions such as sine and cosine.</a:t>
            </a: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C2092E-A9E2-0727-9E70-09EB61662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222405"/>
              </p:ext>
            </p:extLst>
          </p:nvPr>
        </p:nvGraphicFramePr>
        <p:xfrm>
          <a:off x="802355" y="3166709"/>
          <a:ext cx="10789920" cy="2583851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696720">
                  <a:extLst>
                    <a:ext uri="{9D8B030D-6E8A-4147-A177-3AD203B41FA5}">
                      <a16:colId xmlns:a16="http://schemas.microsoft.com/office/drawing/2014/main" val="4063261911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3450942101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1183481800"/>
                    </a:ext>
                  </a:extLst>
                </a:gridCol>
              </a:tblGrid>
              <a:tr h="122392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Width (bytes)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39912"/>
                  </a:ext>
                </a:extLst>
              </a:tr>
              <a:tr h="67996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1.4e–045 to 3.4e+038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038318"/>
                  </a:ext>
                </a:extLst>
              </a:tr>
              <a:tr h="67996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4.9e–324 to 1.8e+308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652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4744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F136F-44F8-5D89-0F95-6A5A2423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0D26BD-EFD2-72DA-B750-9387AA169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Floating-point Types (</a:t>
            </a: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float, double</a:t>
            </a:r>
            <a:r>
              <a:rPr lang="en-US" sz="3600" b="1" dirty="0">
                <a:solidFill>
                  <a:schemeClr val="bg1"/>
                </a:solidFill>
              </a:rPr>
              <a:t>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686B6C8-BB3F-0EE7-D0ED-E0D1B67615FE}"/>
              </a:ext>
            </a:extLst>
          </p:cNvPr>
          <p:cNvSpPr txBox="1">
            <a:spLocks/>
          </p:cNvSpPr>
          <p:nvPr/>
        </p:nvSpPr>
        <p:spPr>
          <a:xfrm>
            <a:off x="670559" y="1107440"/>
            <a:ext cx="11196321" cy="5588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Specifies a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single-precision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value.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Single precision is faster on some processors and takes half as much space as double precision.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But will become imprecise when the values are either very large or very small.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Variables of type float are useful when you need a fractional component, but don’t require a large degree of precision.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For example, float can be useful when representing dollars and cents.</a:t>
            </a:r>
          </a:p>
          <a:p>
            <a:pPr marL="0" indent="0">
              <a:buNone/>
            </a:pPr>
            <a:r>
              <a:rPr lang="en-US" sz="36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endParaRPr lang="en-US" b="1" i="0" u="none" strike="noStrike" baseline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i="1" u="none" strike="noStrike" baseline="0" dirty="0">
                <a:solidFill>
                  <a:srgbClr val="000000"/>
                </a:solidFill>
                <a:latin typeface="TimesLTStd-Roman"/>
              </a:rPr>
              <a:t>Double precision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is actually faster than single precision on some modern processors that have been optimized for high-speed mathematical calculations.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All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TimesLTStd-Roman"/>
              </a:rPr>
              <a:t>transcendental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math functions, such as </a:t>
            </a:r>
            <a:r>
              <a:rPr lang="en-US" b="0" u="none" strike="noStrike" baseline="0" dirty="0">
                <a:solidFill>
                  <a:srgbClr val="000000"/>
                </a:solidFill>
                <a:latin typeface="TimesLTStd-Roman"/>
              </a:rPr>
              <a:t>sin( )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, cos( ), and sqrt( ), return double values. 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When you need to maintain accuracy over many iterative calculations, or are manipulating large-valued numbers, double is the best choice.</a:t>
            </a: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57117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D1618-DD40-7C22-CA8B-F1B6E442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F47117-32FC-61C6-D267-45E204BDB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Floating-point Types (</a:t>
            </a: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float, double</a:t>
            </a:r>
            <a:r>
              <a:rPr lang="en-US" sz="3600" b="1" dirty="0">
                <a:solidFill>
                  <a:schemeClr val="bg1"/>
                </a:solidFill>
              </a:rPr>
              <a:t>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CB2EF3D-CF13-6A8B-107B-5D9E63BE2FFF}"/>
              </a:ext>
            </a:extLst>
          </p:cNvPr>
          <p:cNvSpPr txBox="1">
            <a:spLocks/>
          </p:cNvSpPr>
          <p:nvPr/>
        </p:nvSpPr>
        <p:spPr>
          <a:xfrm>
            <a:off x="670559" y="1107440"/>
            <a:ext cx="11196321" cy="567944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Specifies a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single-precision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value.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Single precision is faster on some processors and takes half as much space as double precision.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But will become imprecise when the values are either very large or very small.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Variables of type float are useful when you need a fractional component, but don’t require a large degree of precision.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For example, float can be useful when representing dollars and cents.</a:t>
            </a:r>
          </a:p>
          <a:p>
            <a:pPr marL="0" indent="0">
              <a:buNone/>
            </a:pPr>
            <a:r>
              <a:rPr lang="en-US" sz="36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endParaRPr lang="en-US" b="1" i="0" u="none" strike="noStrike" baseline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0" i="1" u="none" strike="noStrike" baseline="0" dirty="0">
                <a:solidFill>
                  <a:srgbClr val="000000"/>
                </a:solidFill>
                <a:latin typeface="TimesLTStd-Roman"/>
              </a:rPr>
              <a:t>Double precision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is actually faster than single precision on some modern processors that have been optimized for high-speed mathematical calculations.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All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TimesLTStd-Roman"/>
              </a:rPr>
              <a:t>transcendental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 math functions, such as </a:t>
            </a:r>
            <a:r>
              <a:rPr lang="en-US" b="0" u="none" strike="noStrike" baseline="0" dirty="0">
                <a:solidFill>
                  <a:srgbClr val="000000"/>
                </a:solidFill>
                <a:latin typeface="TimesLTStd-Roman"/>
              </a:rPr>
              <a:t>sin( )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, cos( ), and sqrt( ), return double values. 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When you need to maintain accuracy over many iterative calculations, or are manipulating large-valued numbers, double is the best choice.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TimesLTStd-Roman"/>
              </a:rPr>
              <a:t>Code: ComputeArea.java</a:t>
            </a:r>
            <a:endParaRPr lang="en-US" b="0" i="0" u="none" strike="noStrike" baseline="0" dirty="0">
              <a:solidFill>
                <a:srgbClr val="000000"/>
              </a:solidFill>
              <a:highlight>
                <a:srgbClr val="00FFFF"/>
              </a:highlight>
              <a:latin typeface="TimesLTStd-Roman"/>
            </a:endParaRPr>
          </a:p>
          <a:p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962792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E16AF-0C0A-2637-3DD1-EE1C25296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190128-1B5B-5834-7DB6-B02EB3B10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Characters (</a:t>
            </a: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3600" b="1" dirty="0">
                <a:solidFill>
                  <a:schemeClr val="bg1"/>
                </a:solidFill>
              </a:rPr>
              <a:t>)</a:t>
            </a:r>
            <a:endParaRPr lang="en-US" sz="32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5C7EF621-64C0-EEA5-90C1-9203FC8FFB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0559" y="1239520"/>
                <a:ext cx="11348721" cy="56184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rgbClr val="000000"/>
                    </a:solidFill>
                    <a:latin typeface="TimesLTStd-Roman"/>
                  </a:rPr>
                  <a:t>Data types to store characters. </a:t>
                </a:r>
              </a:p>
              <a:p>
                <a:r>
                  <a:rPr lang="en-US" b="1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char</a:t>
                </a:r>
                <a:r>
                  <a:rPr lang="en-US" dirty="0">
                    <a:solidFill>
                      <a:srgbClr val="000000"/>
                    </a:solidFill>
                    <a:latin typeface="TimesLTStd-Roman"/>
                  </a:rPr>
                  <a:t> in Java is not the same as char in C or C++.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TimesLTStd-Roman"/>
                  </a:rPr>
                  <a:t>In C/C++, char is 8 bits wide. This is not the case in Java. 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latin typeface="TimesLTStd-Roman"/>
                  </a:rPr>
                  <a:t>Java uses </a:t>
                </a:r>
                <a:r>
                  <a:rPr lang="en-US" b="1" i="1" dirty="0">
                    <a:solidFill>
                      <a:srgbClr val="000000"/>
                    </a:solidFill>
                    <a:latin typeface="TimesLTStd-Roman"/>
                  </a:rPr>
                  <a:t>Unicode</a:t>
                </a:r>
                <a:r>
                  <a:rPr lang="en-US" dirty="0">
                    <a:solidFill>
                      <a:srgbClr val="000000"/>
                    </a:solidFill>
                    <a:latin typeface="TimesLTStd-Roman"/>
                  </a:rPr>
                  <a:t> to represent characters.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TimesLTStd-Roman"/>
                  </a:rPr>
                  <a:t>Unicode defines a fully international character set that can represent all of the characters found in all human languages (such as Bengali, Arabic, Chinese, Greek, etc.).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TimesLTStd-Roman"/>
                  </a:rPr>
                  <a:t>At the time of Java's creation, Unicode required 16 bits.</a:t>
                </a:r>
              </a:p>
              <a:p>
                <a:pPr lvl="1"/>
                <a:r>
                  <a:rPr lang="en-US" dirty="0">
                    <a:solidFill>
                      <a:srgbClr val="000000"/>
                    </a:solidFill>
                    <a:latin typeface="TimesLTStd-Roman"/>
                  </a:rPr>
                  <a:t>More on Unicode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TimesLTStd-Roman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TimesLTStd-Roman"/>
                    <a:hlinkClick r:id="rId2"/>
                  </a:rPr>
                  <a:t>http://www.unicode.org</a:t>
                </a:r>
                <a:endParaRPr lang="en-US" dirty="0">
                  <a:solidFill>
                    <a:srgbClr val="000000"/>
                  </a:solidFill>
                  <a:latin typeface="TimesLTStd-Roman"/>
                </a:endParaRPr>
              </a:p>
              <a:p>
                <a:r>
                  <a:rPr lang="en-US" b="1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char</a:t>
                </a:r>
                <a:r>
                  <a:rPr lang="en-US" dirty="0">
                    <a:solidFill>
                      <a:srgbClr val="000000"/>
                    </a:solidFill>
                    <a:latin typeface="TimesLTStd-Roman"/>
                  </a:rPr>
                  <a:t> type uses 2 bytes (unsigned) with a range of 0 to 65,536.</a:t>
                </a:r>
              </a:p>
              <a:p>
                <a:endParaRPr lang="en-US" dirty="0">
                  <a:solidFill>
                    <a:srgbClr val="000000"/>
                  </a:solidFill>
                  <a:latin typeface="TimesLTStd-Roman"/>
                </a:endParaRPr>
              </a:p>
              <a:p>
                <a:endParaRPr lang="en-US" dirty="0">
                  <a:solidFill>
                    <a:srgbClr val="000000"/>
                  </a:solidFill>
                  <a:latin typeface="TimesLTStd-Roman"/>
                </a:endParaRPr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5C7EF621-64C0-EEA5-90C1-9203FC8FF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59" y="1239520"/>
                <a:ext cx="11348721" cy="5618480"/>
              </a:xfrm>
              <a:prstGeom prst="rect">
                <a:avLst/>
              </a:prstGeom>
              <a:blipFill>
                <a:blip r:embed="rId3"/>
                <a:stretch>
                  <a:fillRect l="-967" t="-1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71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82E5E-E3B4-19C6-27D1-ECE2C7940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5FDBD4C-2B57-1262-B482-E6A36B27E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Characters (</a:t>
            </a: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3600" b="1" dirty="0">
                <a:solidFill>
                  <a:schemeClr val="bg1"/>
                </a:solidFill>
              </a:rPr>
              <a:t>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F7D6643-505E-E8C0-7886-3EB03FC891C2}"/>
              </a:ext>
            </a:extLst>
          </p:cNvPr>
          <p:cNvSpPr txBox="1">
            <a:spLocks/>
          </p:cNvSpPr>
          <p:nvPr/>
        </p:nvSpPr>
        <p:spPr>
          <a:xfrm>
            <a:off x="670559" y="1026160"/>
            <a:ext cx="11348721" cy="583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standard set of characters known as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ASCII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still ranges from 0 to 127 as always, and the extended 8-bit character set,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ISO-Latin-1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ranges from 0 to 255.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Since Java is designed to allow programs to be written for worldwide use, it makes sense that it would use Unicode to represent characters.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TimesLTStd-Roman"/>
              </a:rPr>
              <a:t>Code: CharDemo.java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can also be used as an integer type on which you can perform arithmetic operations.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For example, you can add two characters together, or increment the value of a character variable.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TimesLTStd-Roman"/>
              </a:rPr>
              <a:t>Code: CharDemo2.java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4088509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3A3F-C108-0E5A-2C61-86C9A9D1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24EB0D0-1253-74B2-526E-FE6448724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Booleans (</a:t>
            </a: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3600" b="1" dirty="0">
                <a:solidFill>
                  <a:schemeClr val="bg1"/>
                </a:solidFill>
              </a:rPr>
              <a:t>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26E6515-2B0A-F9ED-35F0-AFD19660ABE9}"/>
              </a:ext>
            </a:extLst>
          </p:cNvPr>
          <p:cNvSpPr txBox="1">
            <a:spLocks/>
          </p:cNvSpPr>
          <p:nvPr/>
        </p:nvSpPr>
        <p:spPr>
          <a:xfrm>
            <a:off x="670559" y="1026160"/>
            <a:ext cx="11348721" cy="583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Primitive type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used for logical values.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Only one of two possible values: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or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This is the type returned by all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relational operators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as in the case of a &lt; b.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also the type required by the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conditional expressions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that govern the control statements such as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TimesLTStd-Roman"/>
              </a:rPr>
              <a:t>Code: BoolTest.java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When a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value is output by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or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displayed.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The value of a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variable is sufficient to control the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statement. There is no need to write an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statement like this: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if(b == true)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The outcome of a relational operator, such as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is a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value.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336087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68CA7-5CE0-7242-DC5C-7D35257B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14D2F0-ED00-717B-8A6C-CBEDF60AFE91}"/>
              </a:ext>
            </a:extLst>
          </p:cNvPr>
          <p:cNvSpPr txBox="1"/>
          <p:nvPr/>
        </p:nvSpPr>
        <p:spPr>
          <a:xfrm>
            <a:off x="2875280" y="231469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Java Literals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391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C482A-25B8-3074-8F11-AEE369C91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14E2DA-C851-B57B-B45A-6A7260F75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Integer Literals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D3E5E15-4F71-1D97-B515-DCBCDCC2CCA5}"/>
              </a:ext>
            </a:extLst>
          </p:cNvPr>
          <p:cNvSpPr txBox="1">
            <a:spLocks/>
          </p:cNvSpPr>
          <p:nvPr/>
        </p:nvSpPr>
        <p:spPr>
          <a:xfrm>
            <a:off x="670559" y="1026160"/>
            <a:ext cx="11348721" cy="5588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Any whole number value is an integer literal.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Three bases can be used: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Decimal (base 10): Written without leading 0. Examples </a:t>
            </a:r>
            <a:r>
              <a:rPr lang="en-US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1, 2, 3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and </a:t>
            </a:r>
            <a:r>
              <a:rPr lang="en-US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42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Octal (base 8): Written with a leading 0. Examples </a:t>
            </a:r>
            <a:r>
              <a:rPr lang="en-US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012, 0436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Hexadecimal (base 16): Written with a leading </a:t>
            </a:r>
            <a:r>
              <a:rPr lang="en-US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0x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or </a:t>
            </a:r>
            <a:r>
              <a:rPr lang="en-US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0X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 Examples </a:t>
            </a:r>
            <a:r>
              <a:rPr lang="en-US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0X2a, 0xCODE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Binary (base 2): </a:t>
            </a:r>
            <a:r>
              <a:rPr lang="en-US" dirty="0">
                <a:effectLst/>
                <a:latin typeface="TimesLTStd-Roman"/>
                <a:ea typeface="Calibri" panose="020F0502020204030204" pitchFamily="34" charset="0"/>
                <a:cs typeface="Times New Roman" panose="02020603050405020304" pitchFamily="18" charset="0"/>
              </a:rPr>
              <a:t>Written with a leading </a:t>
            </a:r>
            <a:r>
              <a:rPr lang="en-US" b="1" dirty="0">
                <a:effectLst/>
                <a:latin typeface="TimesLTStd-Roman"/>
                <a:ea typeface="Calibri" panose="020F0502020204030204" pitchFamily="34" charset="0"/>
                <a:cs typeface="Times New Roman" panose="02020603050405020304" pitchFamily="18" charset="0"/>
              </a:rPr>
              <a:t>0b</a:t>
            </a:r>
            <a:r>
              <a:rPr lang="en-US" dirty="0">
                <a:effectLst/>
                <a:latin typeface="TimesLTStd-Roman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effectLst/>
                <a:latin typeface="TimesLTStd-Roman"/>
                <a:ea typeface="Calibri" panose="020F0502020204030204" pitchFamily="34" charset="0"/>
                <a:cs typeface="Times New Roman" panose="02020603050405020304" pitchFamily="18" charset="0"/>
              </a:rPr>
              <a:t>0B</a:t>
            </a:r>
            <a:r>
              <a:rPr lang="en-US" dirty="0">
                <a:effectLst/>
                <a:latin typeface="TimesLTStd-Roman"/>
                <a:ea typeface="Calibri" panose="020F0502020204030204" pitchFamily="34" charset="0"/>
                <a:cs typeface="Times New Roman" panose="02020603050405020304" pitchFamily="18" charset="0"/>
              </a:rPr>
              <a:t>. Examples </a:t>
            </a:r>
            <a:r>
              <a:rPr lang="en-US" b="1" dirty="0">
                <a:effectLst/>
                <a:latin typeface="TimesLTStd-Roman"/>
                <a:ea typeface="Calibri" panose="020F0502020204030204" pitchFamily="34" charset="0"/>
                <a:cs typeface="Times New Roman" panose="02020603050405020304" pitchFamily="18" charset="0"/>
              </a:rPr>
              <a:t>0B1010, 0b11010</a:t>
            </a:r>
            <a:r>
              <a:rPr lang="en-US" dirty="0">
                <a:effectLst/>
                <a:latin typeface="TimesLTStd-Roman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Integer literals create a 32-bit integer value.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Since Java is strongly typed, how it is possible to assign an integer literal to one of Java’s other integer types (i.e.,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 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or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) without causing a type mismatch error?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When a literal value is assigned to a byte or short variable, no error is generated if the literal value is within the range of the target type.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An integer literal can always be assigned to a long variable.</a:t>
            </a:r>
          </a:p>
        </p:txBody>
      </p:sp>
    </p:spTree>
    <p:extLst>
      <p:ext uri="{BB962C8B-B14F-4D97-AF65-F5344CB8AC3E}">
        <p14:creationId xmlns:p14="http://schemas.microsoft.com/office/powerpoint/2010/main" val="1840026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78DAC-05AF-2760-F87F-AF19D3A2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44FB82-33F9-A29E-1ABA-7532EB713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Integer Literals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C58754-B9F6-7E7B-A96B-4A5E616232B6}"/>
              </a:ext>
            </a:extLst>
          </p:cNvPr>
          <p:cNvSpPr txBox="1">
            <a:spLocks/>
          </p:cNvSpPr>
          <p:nvPr/>
        </p:nvSpPr>
        <p:spPr>
          <a:xfrm>
            <a:off x="670559" y="1026160"/>
            <a:ext cx="11348721" cy="5588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long literal can be created by appending an upper- or lowercase L to the literal: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Examples: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0x7ffffffffffffffL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or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9223372036854775807L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(the largest long value).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An integer literal can also be assigned to a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as long as it is within range.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One or more underscores can be embedded  in an integer literal (for ease of reading of large integer literals) [compilation process discards underscores].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x = 123_456__789; </a:t>
            </a:r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// the value given to x will be 123456789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Underscores cannot come at the beginning or the end of a literal.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Underscores are useful for providing visual groupings when specifying binary literals.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x = 0b1101_0101_0001_1010;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253471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5C3EC-1FD1-11B2-2791-F59A88465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3B66F7-29D8-E027-DFD5-8D4463284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Floating-point Literals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25B458A-7C4B-C9F8-44BC-C22382311AAC}"/>
              </a:ext>
            </a:extLst>
          </p:cNvPr>
          <p:cNvSpPr txBox="1">
            <a:spLocks/>
          </p:cNvSpPr>
          <p:nvPr/>
        </p:nvSpPr>
        <p:spPr>
          <a:xfrm>
            <a:off x="670559" y="1026160"/>
            <a:ext cx="11348721" cy="5588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Floating-point numbers represent decimal values with a fractional component.</a:t>
            </a:r>
          </a:p>
          <a:p>
            <a:pPr lvl="1"/>
            <a:r>
              <a:rPr lang="en-US" i="1" dirty="0">
                <a:solidFill>
                  <a:srgbClr val="000000"/>
                </a:solidFill>
                <a:latin typeface="TimesLTStd-Roman"/>
              </a:rPr>
              <a:t>Standard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notation: Examples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2.0, 3.14159, </a:t>
            </a:r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and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0.6667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S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cientific notation: 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Examples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6.022E23, 314159E–05, </a:t>
            </a:r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and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2e+100.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Floating-point literals in Java default to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double precision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To specify a float literal, an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or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must be appended to the constant [consumes 32 bits].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To specify a double literal explicitly, a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or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must be appended to the constant (redundant) [consumes 64 bits].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Underscores can be embedded for ease of readability (like integer literals)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num1 = 9_423_497_862.0;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num2 = 9_423_497.1_0_9;</a:t>
            </a: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346310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AB98F-A4EE-1262-69B3-CDF68D3BB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547822-40DF-D566-DCC8-292C54DA0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Boolean Literals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803802-4B4C-36C4-4A34-B319B4F60D2D}"/>
              </a:ext>
            </a:extLst>
          </p:cNvPr>
          <p:cNvSpPr txBox="1">
            <a:spLocks/>
          </p:cNvSpPr>
          <p:nvPr/>
        </p:nvSpPr>
        <p:spPr>
          <a:xfrm>
            <a:off x="670559" y="1706880"/>
            <a:ext cx="11348721" cy="490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Only two logical values: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values of true and false do not convert into any numerical representation (unlike C/C++).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literal in Java does not equal 1, nor does the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literal equal 0.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 Java, the Boolean literals can only be assigned to variables declared as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or used in expressions with Boolean operators.</a:t>
            </a:r>
          </a:p>
        </p:txBody>
      </p:sp>
    </p:spTree>
    <p:extLst>
      <p:ext uri="{BB962C8B-B14F-4D97-AF65-F5344CB8AC3E}">
        <p14:creationId xmlns:p14="http://schemas.microsoft.com/office/powerpoint/2010/main" val="3296922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CAA90-B67F-667F-4CBD-F217F50CD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BBFF3CA-6085-CAF0-5347-2CD74E84D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Character Literals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F87E1F1-FF07-50A3-E4A0-EFC44EB9B03B}"/>
              </a:ext>
            </a:extLst>
          </p:cNvPr>
          <p:cNvSpPr txBox="1">
            <a:spLocks/>
          </p:cNvSpPr>
          <p:nvPr/>
        </p:nvSpPr>
        <p:spPr>
          <a:xfrm>
            <a:off x="538481" y="1076960"/>
            <a:ext cx="11480800" cy="5537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literal character is represented inside a pair of single quotes (like C/C++).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All of the visible ASCII characters can be directly entered inside the quotes, such as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'a', 'z'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and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'@'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i="1" dirty="0">
                <a:solidFill>
                  <a:srgbClr val="000000"/>
                </a:solidFill>
                <a:latin typeface="TimesLTStd-Roman"/>
              </a:rPr>
              <a:t>Escape Sequences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are used for characters that are impossible to enter directly.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'\''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for single-quote and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'\n'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for newline character.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For entering the value of a character in octal, use the backslash followed by the three-digit number.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'\141'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the letter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For entering the value of a character in hexadecimal, use the backslash-u (\u) followed by exactly four hexadecimal digits.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'\u0061'</a:t>
            </a:r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 is the ISO-Latin-1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Example: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'\ua432'</a:t>
            </a:r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 is the Japanese Katakana character </a:t>
            </a:r>
            <a:r>
              <a:rPr lang="en-US" dirty="0">
                <a:latin typeface="TimesLTStd-Roman"/>
                <a:cs typeface="Courier New" panose="02070309020205020404" pitchFamily="49" charset="0"/>
              </a:rPr>
              <a:t>(</a:t>
            </a:r>
            <a:r>
              <a:rPr lang="ja-JP" altLang="en-US" b="0" i="0" dirty="0">
                <a:effectLst/>
                <a:latin typeface="Söhne"/>
              </a:rPr>
              <a:t>フィ</a:t>
            </a:r>
            <a:r>
              <a:rPr lang="en-US" altLang="ja-JP" b="0" i="0" dirty="0">
                <a:effectLst/>
                <a:latin typeface="Söhne"/>
              </a:rPr>
              <a:t>) [fu </a:t>
            </a:r>
            <a:r>
              <a:rPr lang="en-US" altLang="ja-JP" b="0" i="0" dirty="0" err="1">
                <a:effectLst/>
                <a:latin typeface="Söhne"/>
              </a:rPr>
              <a:t>i</a:t>
            </a:r>
            <a:r>
              <a:rPr lang="en-US" altLang="ja-JP" b="0" i="0" dirty="0">
                <a:effectLst/>
                <a:latin typeface="Söhne"/>
              </a:rPr>
              <a:t>]</a:t>
            </a:r>
            <a:endParaRPr lang="en-US" dirty="0">
              <a:latin typeface="TimesLTStd-Roman"/>
              <a:cs typeface="Courier New" panose="02070309020205020404" pitchFamily="49" charset="0"/>
            </a:endParaRP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12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E3932-BED6-B934-985F-81EBF89A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858BBC-7ED5-881E-D7E1-80690DF3B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Escape Sequences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53D62F-61F0-AE1F-FD9D-D30D43458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19" y="1381760"/>
            <a:ext cx="11181561" cy="46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00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3FDF1-7F72-0788-AC48-325D6407B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428E53-BEA1-E5AE-6D26-0E44FABB0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String Literals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56CE535-3A91-2D29-1E7C-4920A4628AD5}"/>
              </a:ext>
            </a:extLst>
          </p:cNvPr>
          <p:cNvSpPr txBox="1">
            <a:spLocks/>
          </p:cNvSpPr>
          <p:nvPr/>
        </p:nvSpPr>
        <p:spPr>
          <a:xfrm>
            <a:off x="538481" y="1117600"/>
            <a:ext cx="11480800" cy="54965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String literals are specified by enclosing a sequence of characters between a pair of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double quotes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(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).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Examples: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 World"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,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"two\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nlines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,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"\"This is in quotes\""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escape sequences and octal/hexadecimal notations that were defined for character literals work the same way inside of string literals.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One important thing to note about Java strings is that they must begin and end on the same line.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There is no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line-continuation escape sequence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as there is in some other languages (as the backslash character \ in C/C++).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Unlike other languages (i.e., C/C++), strings in Java are not implemented as arrays of characters, rather Strings are actually object types.</a:t>
            </a:r>
          </a:p>
          <a:p>
            <a:pPr lvl="1"/>
            <a:r>
              <a:rPr lang="en-US" sz="2500" b="0" i="0" u="none" strike="noStrike" baseline="0" dirty="0">
                <a:latin typeface="TimesLTStd-Roman"/>
              </a:rPr>
              <a:t>As a result, Java includes extensive string-handling capabilities that are both powerful and easy to use.</a:t>
            </a:r>
            <a:endParaRPr lang="en-US" sz="2500" dirty="0">
              <a:solidFill>
                <a:srgbClr val="000000"/>
              </a:solidFill>
              <a:latin typeface="TimesLTStd-Roman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909091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12155-F530-4ECB-41A7-09A30FE09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E373A9-F88B-CA14-E29D-7DCC31416473}"/>
              </a:ext>
            </a:extLst>
          </p:cNvPr>
          <p:cNvSpPr txBox="1"/>
          <p:nvPr/>
        </p:nvSpPr>
        <p:spPr>
          <a:xfrm>
            <a:off x="2875280" y="231469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Variables in Java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717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ED221-DBAD-FB30-1464-A76750F7E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8FDDFB9-5F11-30E0-CA39-974A6CCA5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Variables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EAB9A3C-755F-D73A-C6EC-E7761968F4E2}"/>
              </a:ext>
            </a:extLst>
          </p:cNvPr>
          <p:cNvSpPr txBox="1">
            <a:spLocks/>
          </p:cNvSpPr>
          <p:nvPr/>
        </p:nvSpPr>
        <p:spPr>
          <a:xfrm>
            <a:off x="538481" y="1493520"/>
            <a:ext cx="114808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variable is the basic unit of storage in a Java program.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variable is defined by the combination of an identifier, a type, and an optional initializer.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All variables have a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scope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which defines their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visibility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and a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lifetime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6757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ED95E-7DCF-8A02-5C2C-AB87E35D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49751F-FE42-5479-E2BC-D0415263F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Variable Declaration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0927759-C782-4DC6-ED21-C8D9D5E89B0F}"/>
              </a:ext>
            </a:extLst>
          </p:cNvPr>
          <p:cNvSpPr txBox="1">
            <a:spLocks/>
          </p:cNvSpPr>
          <p:nvPr/>
        </p:nvSpPr>
        <p:spPr>
          <a:xfrm>
            <a:off x="538481" y="1117600"/>
            <a:ext cx="11480800" cy="5496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 Java, all variables must be declared before they can be used. (unlike JavaScript, Python, PHP, Ruby, Perl, R, Lua).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	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identifier [ = value ][, identifier [= value ] …];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Here, type is one of Java’s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atomic types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or the name of a class or interface.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3FDB64-69F1-23BE-F79D-BDEEDADAC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786244"/>
              </p:ext>
            </p:extLst>
          </p:nvPr>
        </p:nvGraphicFramePr>
        <p:xfrm>
          <a:off x="1452879" y="3439160"/>
          <a:ext cx="9804401" cy="188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4401">
                  <a:extLst>
                    <a:ext uri="{9D8B030D-6E8A-4147-A177-3AD203B41FA5}">
                      <a16:colId xmlns:a16="http://schemas.microsoft.com/office/drawing/2014/main" val="1707248346"/>
                    </a:ext>
                  </a:extLst>
                </a:gridCol>
              </a:tblGrid>
              <a:tr h="188468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a, b, c;         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LTStd-Roman"/>
                          <a:cs typeface="Courier New" panose="02070309020205020404" pitchFamily="49" charset="0"/>
                        </a:rPr>
                        <a:t>// declares three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TimesLTStd-Roman"/>
                          <a:cs typeface="Courier New" panose="02070309020205020404" pitchFamily="49" charset="0"/>
                        </a:rPr>
                        <a:t>ints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LTStd-Roman"/>
                          <a:cs typeface="Courier New" panose="02070309020205020404" pitchFamily="49" charset="0"/>
                        </a:rPr>
                        <a:t>, a, b, and c.</a:t>
                      </a:r>
                    </a:p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d = 3, e, f = 5; 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LTStd-Roman"/>
                          <a:cs typeface="Courier New" panose="02070309020205020404" pitchFamily="49" charset="0"/>
                        </a:rPr>
                        <a:t>// declares three more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TimesLTStd-Roman"/>
                          <a:cs typeface="Courier New" panose="02070309020205020404" pitchFamily="49" charset="0"/>
                        </a:rPr>
                        <a:t>ints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LTStd-Roman"/>
                          <a:cs typeface="Courier New" panose="02070309020205020404" pitchFamily="49" charset="0"/>
                        </a:rPr>
                        <a:t>, initializing d &amp; f</a:t>
                      </a:r>
                    </a:p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 z = 22;         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LTStd-Roman"/>
                          <a:cs typeface="Courier New" panose="02070309020205020404" pitchFamily="49" charset="0"/>
                        </a:rPr>
                        <a:t>// initializes z.</a:t>
                      </a:r>
                    </a:p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 pi = 3.14159; 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LTStd-Roman"/>
                          <a:cs typeface="Courier New" panose="02070309020205020404" pitchFamily="49" charset="0"/>
                        </a:rPr>
                        <a:t>// declares an approximation of pi.</a:t>
                      </a:r>
                    </a:p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char x = 'x’;        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LTStd-Roman"/>
                          <a:cs typeface="Courier New" panose="02070309020205020404" pitchFamily="49" charset="0"/>
                        </a:rPr>
                        <a:t>// the variable x has the value 'x'.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123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827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E623E-BA8C-09AF-2AE4-614FC1D10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B0381E-4432-1C86-037D-7382E4D5C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Dynamic Initialization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DB2D95E-5C91-9584-4386-69379090D680}"/>
              </a:ext>
            </a:extLst>
          </p:cNvPr>
          <p:cNvSpPr txBox="1">
            <a:spLocks/>
          </p:cNvSpPr>
          <p:nvPr/>
        </p:nvSpPr>
        <p:spPr>
          <a:xfrm>
            <a:off x="538481" y="1117600"/>
            <a:ext cx="11480800" cy="5496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 allows variables to be initialized dynamically, using any expression valid at the time the variable is declared.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sqrt()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a Java’s built-in method (a member of the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class), computes the square root of its argument.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initialization expression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may use any element valid at the time of the initialization, including calls to methods, other variables, or literals.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D28658-378E-4E10-B850-A9F750DE8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862" y="2123347"/>
            <a:ext cx="9354276" cy="2468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4137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CCF54-FED0-54C1-A558-99E42BF6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813C20-D83B-1391-CEC1-AB38F8E56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Scope and Lifetime of Variables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E1BD2D5-9313-7123-B7F0-E0FB173A7185}"/>
              </a:ext>
            </a:extLst>
          </p:cNvPr>
          <p:cNvSpPr txBox="1">
            <a:spLocks/>
          </p:cNvSpPr>
          <p:nvPr/>
        </p:nvSpPr>
        <p:spPr>
          <a:xfrm>
            <a:off x="538481" y="1117600"/>
            <a:ext cx="11480800" cy="54965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 allows variables to be declared within any block, not just at the beginning.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block is begun with an opening curly brace { and ended by a closing curly brace }.</a:t>
            </a:r>
          </a:p>
          <a:p>
            <a:r>
              <a:rPr lang="it-IT" dirty="0">
                <a:solidFill>
                  <a:srgbClr val="000000"/>
                </a:solidFill>
                <a:latin typeface="TimesLTStd-Roman"/>
              </a:rPr>
              <a:t>A block defines a </a:t>
            </a:r>
            <a:r>
              <a:rPr lang="it-IT" b="1" dirty="0">
                <a:solidFill>
                  <a:srgbClr val="000000"/>
                </a:solidFill>
                <a:latin typeface="TimesLTStd-Roman"/>
              </a:rPr>
              <a:t>scope</a:t>
            </a:r>
            <a:r>
              <a:rPr lang="it-IT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Thus, each time a new block is started, a new scope is created.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scope determines what objects are visible to other parts of your program.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It also determines the </a:t>
            </a:r>
            <a:r>
              <a:rPr lang="en-US" b="1" dirty="0">
                <a:solidFill>
                  <a:srgbClr val="000000"/>
                </a:solidFill>
                <a:latin typeface="TimesLTStd-Roman"/>
              </a:rPr>
              <a:t>lifetime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of those objects (including variables).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Many languages (including C/C++) create two main scopes: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global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local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 Java, the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two major scopes are those defined by a class 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and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 those defined by a method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9526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BE81B-38A2-456C-B794-856EA8CBF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56C2A6-0579-5BFC-A5B0-71228E02A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Scope Defined within a Method 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5CA583-3B63-F2E4-517E-0A52BBB5D3D0}"/>
              </a:ext>
            </a:extLst>
          </p:cNvPr>
          <p:cNvSpPr txBox="1">
            <a:spLocks/>
          </p:cNvSpPr>
          <p:nvPr/>
        </p:nvSpPr>
        <p:spPr>
          <a:xfrm>
            <a:off x="538481" y="1117600"/>
            <a:ext cx="11480800" cy="54965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The scope defined by a method begins with its opening curly brace.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TimesLTStd-Roman"/>
              </a:rPr>
              <a:t>This includes any parameters passed to the method.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As a general rule, variables declared inside a scope are not visible (that is, accessible) to code that is defined outside that scope.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Thus, when a variable is declared within a scope, it is localized and protected from unauthorized access and/or modification.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Scopes can be nested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TimesLTStd-Roman"/>
              </a:rPr>
              <a:t>Each time a block of code is created, a new, nested scope is created. 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TimesLTStd-Roman"/>
              </a:rPr>
              <a:t>When this occurs, the outer scope encloses the inner scope.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This means that objects declared in the outer scope will be visible to code within the inner scope. 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However, the reverse is not true. Objects declared within the inner scope will not be visible outside it.</a:t>
            </a:r>
          </a:p>
        </p:txBody>
      </p:sp>
    </p:spTree>
    <p:extLst>
      <p:ext uri="{BB962C8B-B14F-4D97-AF65-F5344CB8AC3E}">
        <p14:creationId xmlns:p14="http://schemas.microsoft.com/office/powerpoint/2010/main" val="2308274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48E6-F391-66AA-0782-284556BFE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9B5D87-DF61-9254-ECA1-43A6B4F4C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Nested Scope: Example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892BD1-4625-E9F9-6B40-B13D9CC22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397" y="904240"/>
            <a:ext cx="9647205" cy="537228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94734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70326-FAAB-C509-30B7-16F05450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924D131-813F-D7A6-34D7-ADAF8ED0E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Lifetime of a Variable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E2F8C5-2F2A-B586-E858-18D35B21DD3E}"/>
              </a:ext>
            </a:extLst>
          </p:cNvPr>
          <p:cNvSpPr txBox="1">
            <a:spLocks/>
          </p:cNvSpPr>
          <p:nvPr/>
        </p:nvSpPr>
        <p:spPr>
          <a:xfrm>
            <a:off x="538481" y="1341120"/>
            <a:ext cx="11480800" cy="52730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Variables are created when their scope is entered and destroyed when their scope is left.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This means that a variable will not hold its value once it has gone out of scope.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Therefore, variables declared within a method will not hold their values between calls to that method.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Also, a variable declared within a block will lose its value when the block is left.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Thus, the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lifetime of a variable is confined to its scope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If a variable declaration includes an initializer, then that variable will be reinitialized each time the block in which it is declared is entered.</a:t>
            </a:r>
          </a:p>
        </p:txBody>
      </p:sp>
    </p:spTree>
    <p:extLst>
      <p:ext uri="{BB962C8B-B14F-4D97-AF65-F5344CB8AC3E}">
        <p14:creationId xmlns:p14="http://schemas.microsoft.com/office/powerpoint/2010/main" val="34773852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C4EC-834E-3C64-916B-B508C4903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15212BB-637E-3087-20D2-CD0BB325F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Lifetime of a Variable: Example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198BBD-2CBD-3AAA-A57D-4B21D5FB8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278" y="1151828"/>
            <a:ext cx="9438202" cy="296561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33461E-1865-4779-276D-1C33C9160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77" y="4927600"/>
            <a:ext cx="3109659" cy="183896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A5422EF-E9C9-807B-EC15-555716BE088E}"/>
              </a:ext>
            </a:extLst>
          </p:cNvPr>
          <p:cNvSpPr txBox="1">
            <a:spLocks/>
          </p:cNvSpPr>
          <p:nvPr/>
        </p:nvSpPr>
        <p:spPr>
          <a:xfrm>
            <a:off x="1006277" y="4470400"/>
            <a:ext cx="10585997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4374278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4B95-A6B7-CDCF-ED25-F7E4D1DDD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3C149D6-079A-F355-E5F0-A433F0E72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Variable Names in Nested Scope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BBDE44C-A663-D1EB-C863-A228E5B6F7B9}"/>
              </a:ext>
            </a:extLst>
          </p:cNvPr>
          <p:cNvSpPr txBox="1">
            <a:spLocks/>
          </p:cNvSpPr>
          <p:nvPr/>
        </p:nvSpPr>
        <p:spPr>
          <a:xfrm>
            <a:off x="538481" y="1341120"/>
            <a:ext cx="11480800" cy="5273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Although blocks can be nested, a variable can not be declared to have the same name as one in an outer scope.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A09F0-5DC7-842E-2751-CD570AAA1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74" y="2741906"/>
            <a:ext cx="10532051" cy="254129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28527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4BC8D-8191-9CB2-BBB8-96D15D5ED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0CD23-F33C-239F-66A7-EC4BAC663086}"/>
              </a:ext>
            </a:extLst>
          </p:cNvPr>
          <p:cNvSpPr txBox="1"/>
          <p:nvPr/>
        </p:nvSpPr>
        <p:spPr>
          <a:xfrm>
            <a:off x="1493520" y="2314694"/>
            <a:ext cx="8950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Type Conversions and Casting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310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C996-1F5A-A199-BF8B-B67518475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1344E63-98A7-89DF-001F-E3FACFC52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Type Conversion Compatibility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DF2CAEC-7A5D-69A2-B570-3C7A374C7501}"/>
              </a:ext>
            </a:extLst>
          </p:cNvPr>
          <p:cNvSpPr txBox="1">
            <a:spLocks/>
          </p:cNvSpPr>
          <p:nvPr/>
        </p:nvSpPr>
        <p:spPr>
          <a:xfrm>
            <a:off x="538481" y="1341120"/>
            <a:ext cx="11480800" cy="52730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 programming, it is fairly common to assign a value of one type to a variable of another type.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If the two types are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compatible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then Java will perform the conversion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automatically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(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implicitly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).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Example: it is always possible to assign an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value to a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variable.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However, not all types are compatible, and thus, not all type conversions are implicitly allowed.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Example: there is no automatic conversion defined from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to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Fortunately, it is still possible to obtain a conversion between incompatible types using casting.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Type Casting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performs an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explicit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conversion between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incompatible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types.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422539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99F8-3A7E-102B-B76B-BCB446A0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5AB9813-F56C-1597-78F3-7A583CAB7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Java’s Automatic Conversions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E79675-CD20-992E-5F92-3BDA4FFDFD1A}"/>
              </a:ext>
            </a:extLst>
          </p:cNvPr>
          <p:cNvSpPr txBox="1">
            <a:spLocks/>
          </p:cNvSpPr>
          <p:nvPr/>
        </p:nvSpPr>
        <p:spPr>
          <a:xfrm>
            <a:off x="538481" y="1107440"/>
            <a:ext cx="11480800" cy="57505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When one type of data is assigned to another type of variable, an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automatic type conversion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will take place if the following two conditions are met: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rgbClr val="000000"/>
                </a:solidFill>
                <a:latin typeface="TimesLTStd-Roman"/>
              </a:rPr>
              <a:t>Compatibility: 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The two types are compatible.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solidFill>
                  <a:srgbClr val="000000"/>
                </a:solidFill>
                <a:latin typeface="TimesLTStd-Roman"/>
              </a:rPr>
              <a:t>Size: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The destination type is larger than the source type.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When these two conditions are met, a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widening conversion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takes place.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Example, the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type is always large enough to hold all valid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values, so no explicit cast statement is required.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For widening conversions, the numeric types, including integer and floating-point types, are compatible with each other.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However, there are no automatic conversions from the numeric types to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or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Also,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are not compatible with each other.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 also performs an automatic type conversion when storing a literal integer constant into variables of type byte, short, long, or char.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436751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290F4-97AA-CEE3-EEAC-D4D918AB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BDE3F0-82EE-4762-5045-3DE518996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Casting Incompatible Types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31EECA-8431-09EC-850A-E445A96C4524}"/>
              </a:ext>
            </a:extLst>
          </p:cNvPr>
          <p:cNvSpPr txBox="1">
            <a:spLocks/>
          </p:cNvSpPr>
          <p:nvPr/>
        </p:nvSpPr>
        <p:spPr>
          <a:xfrm>
            <a:off x="497841" y="995680"/>
            <a:ext cx="11480800" cy="575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What if we want to assign an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value to a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variable?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TimesLTStd-Roman"/>
              </a:rPr>
              <a:t>This conversion will not be performed automatically, because a byte is smaller than an int.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This is explicitly making the value narrower so that it will fit into the target type (</a:t>
            </a:r>
            <a:r>
              <a:rPr lang="en-US" sz="2400" b="1" i="1" dirty="0">
                <a:solidFill>
                  <a:srgbClr val="000000"/>
                </a:solidFill>
                <a:latin typeface="TimesLTStd-Roman"/>
              </a:rPr>
              <a:t>Narrowing Conversion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).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To create a conversion between two incompatible types, we must use a </a:t>
            </a: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cast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 cast is simply an explicit type conversion: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Example</a:t>
            </a:r>
            <a:r>
              <a:rPr lang="en-US" sz="2000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: 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If the integer’s value is larger than the range of a byte, it will be reduced modulo (the remainder of an integer division by the) byte’s range.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91F977-F515-C5A4-C321-67ACAD5E8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775" y="3916876"/>
            <a:ext cx="2786425" cy="153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20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FE0F8-338E-A767-DB4D-58F667C8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C48157-FB65-E9D8-201D-50B0A74C3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Casting Incompatible Types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10E4041-D442-78C1-9943-50E35F7314D4}"/>
              </a:ext>
            </a:extLst>
          </p:cNvPr>
          <p:cNvSpPr txBox="1">
            <a:spLocks/>
          </p:cNvSpPr>
          <p:nvPr/>
        </p:nvSpPr>
        <p:spPr>
          <a:xfrm>
            <a:off x="518161" y="1351280"/>
            <a:ext cx="11480800" cy="5049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 different type of conversion will occur when a floating-point value is assigned to an integer type: </a:t>
            </a:r>
            <a:r>
              <a:rPr lang="en-US" sz="2400" b="1" dirty="0">
                <a:solidFill>
                  <a:srgbClr val="000000"/>
                </a:solidFill>
                <a:latin typeface="TimesLTStd-Roman"/>
              </a:rPr>
              <a:t>truncation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- as integers do not have fractional components.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TimesLTStd-Roman"/>
              </a:rPr>
              <a:t>Example: if the value 1.23 is assigned to an integer, the resulting value will simply be 1.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If the size of the whole number component is too large to fit into the target integer type, then that value will be reduced modulo the target type’s range.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41138997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46E66-746F-93DA-9C61-1F421E75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E4D67D-893B-6AD2-696E-A9DFCA896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Casting Incompatible Types: Example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7379C2F-BEE6-D283-AAB6-16E1CF1D5972}"/>
              </a:ext>
            </a:extLst>
          </p:cNvPr>
          <p:cNvSpPr txBox="1">
            <a:spLocks/>
          </p:cNvSpPr>
          <p:nvPr/>
        </p:nvSpPr>
        <p:spPr>
          <a:xfrm>
            <a:off x="355600" y="5614478"/>
            <a:ext cx="11480800" cy="11419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to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conversion: 257 % 256 = 1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to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 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: 323 % 256 = 67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946DE-65E4-549B-16C7-8198D74A7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79" y="1285240"/>
            <a:ext cx="8290562" cy="40386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7963E-FCE5-BD47-74B7-D6CB9A8A3C41}"/>
              </a:ext>
            </a:extLst>
          </p:cNvPr>
          <p:cNvSpPr txBox="1">
            <a:spLocks/>
          </p:cNvSpPr>
          <p:nvPr/>
        </p:nvSpPr>
        <p:spPr>
          <a:xfrm>
            <a:off x="8740689" y="1574800"/>
            <a:ext cx="3095711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8DC276-255B-7479-3568-9CEBE1C12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689" y="2355448"/>
            <a:ext cx="3346622" cy="182889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536398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7D8F9-A1DD-3234-3E83-ACC1F379F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9E61619-D4D0-F359-BC1B-53C9A805B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Automatic Type Promotion in Expressions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10B75B4-38EF-23F3-2A37-41B15FEF7F30}"/>
              </a:ext>
            </a:extLst>
          </p:cNvPr>
          <p:cNvSpPr txBox="1">
            <a:spLocks/>
          </p:cNvSpPr>
          <p:nvPr/>
        </p:nvSpPr>
        <p:spPr>
          <a:xfrm>
            <a:off x="518161" y="1068657"/>
            <a:ext cx="11480800" cy="5718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Type conversions may also occur in </a:t>
            </a:r>
            <a:r>
              <a:rPr lang="en-US" sz="2400" i="1" dirty="0">
                <a:solidFill>
                  <a:srgbClr val="000000"/>
                </a:solidFill>
                <a:latin typeface="TimesLTStd-Roman"/>
              </a:rPr>
              <a:t>expressions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In an expression, the precision required of an intermediate value will sometimes exceed the range of either operand.	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TimesLTStd-Roman"/>
              </a:rPr>
              <a:t>Example: </a:t>
            </a:r>
          </a:p>
          <a:p>
            <a:pPr lvl="1"/>
            <a:endParaRPr lang="en-US" sz="2000" dirty="0">
              <a:solidFill>
                <a:srgbClr val="000000"/>
              </a:solidFill>
              <a:latin typeface="TimesLTStd-Roman"/>
            </a:endParaRPr>
          </a:p>
          <a:p>
            <a:pPr lvl="1"/>
            <a:endParaRPr lang="en-US" sz="2000" dirty="0">
              <a:solidFill>
                <a:srgbClr val="000000"/>
              </a:solidFill>
              <a:latin typeface="TimesLTStd-Roman"/>
            </a:endParaRPr>
          </a:p>
          <a:p>
            <a:pPr lvl="1"/>
            <a:endParaRPr lang="en-US" sz="2000" dirty="0">
              <a:solidFill>
                <a:srgbClr val="000000"/>
              </a:solidFill>
              <a:latin typeface="TimesLTStd-Roman"/>
            </a:endParaRPr>
          </a:p>
          <a:p>
            <a:pPr lvl="1"/>
            <a:r>
              <a:rPr lang="en-US" sz="2000" dirty="0">
                <a:solidFill>
                  <a:srgbClr val="000000"/>
                </a:solidFill>
                <a:latin typeface="TimesLTStd-Roman"/>
              </a:rPr>
              <a:t>The result of the intermediate term 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a*b</a:t>
            </a:r>
            <a:r>
              <a:rPr lang="en-US" sz="2000" dirty="0">
                <a:solidFill>
                  <a:srgbClr val="000000"/>
                </a:solidFill>
                <a:latin typeface="TimesLTStd-Roman"/>
              </a:rPr>
              <a:t> easily exceeds the range of either of its 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</a:t>
            </a:r>
            <a:r>
              <a:rPr lang="en-US" sz="2000" dirty="0">
                <a:solidFill>
                  <a:srgbClr val="000000"/>
                </a:solidFill>
                <a:latin typeface="TimesLTStd-Roman"/>
              </a:rPr>
              <a:t> operands. 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To handle this kind of problem, Java automatically promotes each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byte, short,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or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operand to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 when evaluating an expression.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However, the automatic promotions can sometime cause confusing compile-time errors.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TimesLTStd-Roman"/>
              </a:rPr>
              <a:t>Example: 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Solution is to use type casting: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DB48B-45F5-CA2E-1EC6-713C6A389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665" y="2431391"/>
            <a:ext cx="2734286" cy="115000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3401E7-4882-C5FA-ADB9-C9B44EDDE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764" y="5508553"/>
            <a:ext cx="6058211" cy="57788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F508B3-0CB8-F766-ACB7-531B34FA7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204" y="6235026"/>
            <a:ext cx="2095608" cy="48262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4553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BB161-519B-1841-66FC-F3A91B2F4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F58846D-13C9-DFAE-1267-467D06936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Automatic Type Promotion in Expressions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9361705-AEE6-DAC3-00AA-511D1DD841B6}"/>
              </a:ext>
            </a:extLst>
          </p:cNvPr>
          <p:cNvSpPr txBox="1">
            <a:spLocks/>
          </p:cNvSpPr>
          <p:nvPr/>
        </p:nvSpPr>
        <p:spPr>
          <a:xfrm>
            <a:off x="518161" y="1209040"/>
            <a:ext cx="11480800" cy="3769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 defines several type promotion rules that apply to expressions: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LTStd-Roman"/>
              </a:rPr>
              <a:t>First, all 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byte, short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, and 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 values are promoted to 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LTStd-Roman"/>
              </a:rPr>
              <a:t>Then, if one operand is a 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, the whole expression is promoted to 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LTStd-Roman"/>
              </a:rPr>
              <a:t>If one operand is a 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, the entire expression is promoted to 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LTStd-Roman"/>
              </a:rPr>
              <a:t>If any of the operands are 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, the result is 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pPr lvl="1"/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7939723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FD4C1-3C4D-2DB6-0F09-D7E1A6E2C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3C1F4D-76F3-7914-F431-3FBC1A349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Automatic Type Promotion in Expressions: Example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8F23AC4-AD0F-7A2C-068E-79B8D349D76F}"/>
              </a:ext>
            </a:extLst>
          </p:cNvPr>
          <p:cNvSpPr txBox="1">
            <a:spLocks/>
          </p:cNvSpPr>
          <p:nvPr/>
        </p:nvSpPr>
        <p:spPr>
          <a:xfrm>
            <a:off x="833120" y="4333897"/>
            <a:ext cx="11308080" cy="25241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000000"/>
                </a:solidFill>
                <a:latin typeface="TimesLTStd-Roman"/>
              </a:rPr>
              <a:t>In the first subexpression, f * b, b is promoted to a float and the result of the subexpression is float. </a:t>
            </a:r>
          </a:p>
          <a:p>
            <a:r>
              <a:rPr lang="en-US" sz="1800" dirty="0">
                <a:solidFill>
                  <a:srgbClr val="000000"/>
                </a:solidFill>
                <a:latin typeface="TimesLTStd-Roman"/>
              </a:rPr>
              <a:t>Next, in the subexpression </a:t>
            </a:r>
            <a:r>
              <a:rPr lang="en-US" sz="1800" dirty="0" err="1">
                <a:solidFill>
                  <a:srgbClr val="000000"/>
                </a:solidFill>
                <a:latin typeface="TimesLTStd-Roman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TimesLTStd-Roman"/>
              </a:rPr>
              <a:t>/c, c is promoted to int, and the result is of type int.</a:t>
            </a:r>
          </a:p>
          <a:p>
            <a:r>
              <a:rPr lang="en-US" sz="1800" dirty="0">
                <a:solidFill>
                  <a:srgbClr val="000000"/>
                </a:solidFill>
                <a:latin typeface="TimesLTStd-Roman"/>
              </a:rPr>
              <a:t>Then, in d * s, the value of s is promoted to double, and the type of the subexpression is double. </a:t>
            </a:r>
          </a:p>
          <a:p>
            <a:r>
              <a:rPr lang="en-US" sz="1800" dirty="0">
                <a:solidFill>
                  <a:srgbClr val="000000"/>
                </a:solidFill>
                <a:latin typeface="TimesLTStd-Roman"/>
              </a:rPr>
              <a:t>Finally, these three intermediate values, float, int, and double, are considered. </a:t>
            </a:r>
          </a:p>
          <a:p>
            <a:r>
              <a:rPr lang="en-US" sz="1800" dirty="0">
                <a:solidFill>
                  <a:srgbClr val="000000"/>
                </a:solidFill>
                <a:latin typeface="TimesLTStd-Roman"/>
              </a:rPr>
              <a:t>The outcome of float plus an int is a float. </a:t>
            </a:r>
          </a:p>
          <a:p>
            <a:r>
              <a:rPr lang="en-US" sz="1800" dirty="0">
                <a:solidFill>
                  <a:srgbClr val="000000"/>
                </a:solidFill>
                <a:latin typeface="TimesLTStd-Roman"/>
              </a:rPr>
              <a:t>Then the resultant float minus the last double is promoted to double, which is the type for the final result of the expression.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7CF3D2-6CE0-895D-3B33-F2B084B81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451" y="644503"/>
            <a:ext cx="10543417" cy="341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154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1D027-62AB-0C6B-4668-07FB69CF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BB426A-B846-24A0-7BF0-62936A2E0F48}"/>
              </a:ext>
            </a:extLst>
          </p:cNvPr>
          <p:cNvSpPr txBox="1"/>
          <p:nvPr/>
        </p:nvSpPr>
        <p:spPr>
          <a:xfrm>
            <a:off x="1493520" y="2314694"/>
            <a:ext cx="8950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Arrays</a:t>
            </a:r>
            <a:endParaRPr lang="en-US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92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E84E6-9CBB-4C49-E02E-DE2118FFA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BC8D50-2DC4-88C6-3213-66C2C1D62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Arrays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5AF62-AC91-8428-62FC-341772E831CB}"/>
              </a:ext>
            </a:extLst>
          </p:cNvPr>
          <p:cNvSpPr txBox="1">
            <a:spLocks/>
          </p:cNvSpPr>
          <p:nvPr/>
        </p:nvSpPr>
        <p:spPr>
          <a:xfrm>
            <a:off x="487680" y="1137918"/>
            <a:ext cx="11480800" cy="5019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An array is a group of like-typed variables that are referred to by a common name.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specific element in an array is accessed by its </a:t>
            </a:r>
            <a:r>
              <a:rPr lang="en-US" b="1" dirty="0">
                <a:solidFill>
                  <a:srgbClr val="000000"/>
                </a:solidFill>
                <a:latin typeface="TimesLTStd-Roman"/>
              </a:rPr>
              <a:t>index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Arrays offer a convenient means of grouping related information.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 Java, arrays are implemented as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objects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(unlike C/C++).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432910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9EEAC-FBEC-ABDF-6210-2BD6C75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018AD9-7269-369B-F6AA-1FA51D126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One-Dimensional Arrays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0F9BC-06F0-2AD4-43FC-493509F488FD}"/>
              </a:ext>
            </a:extLst>
          </p:cNvPr>
          <p:cNvSpPr txBox="1">
            <a:spLocks/>
          </p:cNvSpPr>
          <p:nvPr/>
        </p:nvSpPr>
        <p:spPr>
          <a:xfrm>
            <a:off x="487680" y="1137918"/>
            <a:ext cx="11480800" cy="55981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list of like-typed variables.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To create an array, first create an </a:t>
            </a:r>
            <a:r>
              <a:rPr lang="en-US" b="1" dirty="0">
                <a:solidFill>
                  <a:srgbClr val="000000"/>
                </a:solidFill>
                <a:latin typeface="TimesLTStd-Roman"/>
              </a:rPr>
              <a:t>array variable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of the desired type.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General form: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var-name[ ];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Example: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month_days[];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Note that, with the above declaration, no array is actually created.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To create the actual array, allocate the array using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keyword: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month_days = new int[12];   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endParaRPr lang="en-US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special operator that allocates memory. Here, the 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size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12.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6724733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1B960-FB9C-499C-B780-ACCF4B8A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DE3869C-12F6-F4CF-6518-C5CC57EED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One-Dimensional Arrays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A122-9C12-292A-9CA4-BD385777C634}"/>
              </a:ext>
            </a:extLst>
          </p:cNvPr>
          <p:cNvSpPr txBox="1">
            <a:spLocks/>
          </p:cNvSpPr>
          <p:nvPr/>
        </p:nvSpPr>
        <p:spPr>
          <a:xfrm>
            <a:off x="487680" y="1137918"/>
            <a:ext cx="11480800" cy="5598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When using new, the elements will automatically be initialized to - 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TimesLTStd-Roman"/>
              </a:rPr>
              <a:t>zero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for numeric types,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TimesLTStd-Roman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for boolean types, and 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TimesLTStd-Roman"/>
              </a:rPr>
              <a:t>null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for reference types.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Array index starts at 0.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 Java, all arrays are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dynamically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allocated.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TimesLTStd-Roman"/>
              </a:rPr>
              <a:t>Code: OneDArray.java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0980741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D9CB-9D3C-5FF7-B494-564864293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6CE9628-15C2-FB5F-DE77-7A0B364AF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Array Initialization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9B150-6BA2-9879-5D95-D3A08AD9D8FE}"/>
              </a:ext>
            </a:extLst>
          </p:cNvPr>
          <p:cNvSpPr txBox="1">
            <a:spLocks/>
          </p:cNvSpPr>
          <p:nvPr/>
        </p:nvSpPr>
        <p:spPr>
          <a:xfrm>
            <a:off x="487680" y="1137918"/>
            <a:ext cx="11480800" cy="5598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Arrays can be initialized when they are declared.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An array initializer is a list of comma-separated expressions surrounded by curly braces.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B08F8-F5DA-FFC9-7ADD-E94BB6F22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3336254"/>
            <a:ext cx="10922071" cy="177422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39158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3629-51A5-B3A8-0016-0560B739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87E7A7-98ED-009C-25A1-5A4B144E0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Indexing Array Out Of Bounds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7E89A-A96B-E2C7-1837-26F122926152}"/>
              </a:ext>
            </a:extLst>
          </p:cNvPr>
          <p:cNvSpPr txBox="1">
            <a:spLocks/>
          </p:cNvSpPr>
          <p:nvPr/>
        </p:nvSpPr>
        <p:spPr>
          <a:xfrm>
            <a:off x="487680" y="1137918"/>
            <a:ext cx="11480800" cy="5598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 strictly checks to make sure index value does not go out of the range.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When trying to access elements outside the range of the array (negative numbers or numbers greater than the length of the array), it causes a run-time error.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TimesLTStd-Roman"/>
              </a:rPr>
              <a:t>Code: IndexOutOfBounds.java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1987371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47EE0-32B7-4A2F-A29B-EE19FFDD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DDECEC-0154-F590-9B0F-EEFB92FE9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Multidimensional Arrays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B2E12-7741-D0A6-BC1E-200D5C1F06DA}"/>
              </a:ext>
            </a:extLst>
          </p:cNvPr>
          <p:cNvSpPr txBox="1">
            <a:spLocks/>
          </p:cNvSpPr>
          <p:nvPr/>
        </p:nvSpPr>
        <p:spPr>
          <a:xfrm>
            <a:off x="487680" y="1137918"/>
            <a:ext cx="11480800" cy="5598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 Java, multidimensional arrays are actually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arrays of arrays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They look and act like regular multidimensional arrays (as in C/C++), but there are a couple of subtle differences.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Example: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twoD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[][] = new int[4][5];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1D9F26-FB2C-17D5-2BB4-4AD7C67F7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465" y="2614829"/>
            <a:ext cx="6204269" cy="392450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50209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26E39-EDA6-FEA9-98FA-C1CC1A15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CC030A5-C329-3DD5-2B14-5C59624EB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Two-dimensional Array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34CC1-75FE-63A6-1928-F6E3512CDC20}"/>
              </a:ext>
            </a:extLst>
          </p:cNvPr>
          <p:cNvSpPr txBox="1">
            <a:spLocks/>
          </p:cNvSpPr>
          <p:nvPr/>
        </p:nvSpPr>
        <p:spPr>
          <a:xfrm>
            <a:off x="711200" y="995678"/>
            <a:ext cx="11480800" cy="853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The following program assigns numbers each element in the array from left to right, top to bottom, and then displays these values.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501C7-6297-DD23-3684-F2575FF36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598" y="1849120"/>
            <a:ext cx="8288803" cy="490001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72808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8D7F7-D82B-81CB-3951-DD6EA647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9BB6661-8674-995A-271F-5D8203C9E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More on Multidimensional Array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C979-4319-D314-8FE3-EAAE4B983480}"/>
              </a:ext>
            </a:extLst>
          </p:cNvPr>
          <p:cNvSpPr txBox="1">
            <a:spLocks/>
          </p:cNvSpPr>
          <p:nvPr/>
        </p:nvSpPr>
        <p:spPr>
          <a:xfrm>
            <a:off x="802640" y="1036318"/>
            <a:ext cx="10993120" cy="5699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For a multidimensional array, we need only specify the memory for the first (leftmost) dimension.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We can allocate the remaining dimensions separately.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When allocating manually, each dimension can have different number of elements. Such arrays are called </a:t>
            </a:r>
            <a:r>
              <a:rPr lang="en-US" sz="2400" b="1" i="1" dirty="0">
                <a:solidFill>
                  <a:srgbClr val="000000"/>
                </a:solidFill>
                <a:latin typeface="TimesLTStd-Roman"/>
              </a:rPr>
              <a:t>Irregular/Ragged Arrays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Irregular arrays can be used effectively in some situations. Example, if you need a very large two-dimensional array that is sparsely populated (that is, one in which not all of the elements will be used).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24E77-8EA3-5115-267D-451898189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402" y="2114337"/>
            <a:ext cx="3980930" cy="135067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F57A53-5089-6B8F-7AA4-960136890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402" y="4281686"/>
            <a:ext cx="4221904" cy="138756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650E6F-D0B1-3E0E-8652-CD691AC67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0" y="4062040"/>
            <a:ext cx="2229393" cy="175964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68827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13E1B-12D5-8BA0-9AE0-D749B8319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6E5F60B-3FFA-FE67-FFB2-231E92F50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Initializing Multidimensional Array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D4413-E815-3FB7-687B-64FE5C482760}"/>
              </a:ext>
            </a:extLst>
          </p:cNvPr>
          <p:cNvSpPr txBox="1">
            <a:spLocks/>
          </p:cNvSpPr>
          <p:nvPr/>
        </p:nvSpPr>
        <p:spPr>
          <a:xfrm>
            <a:off x="802640" y="1036318"/>
            <a:ext cx="10993120" cy="5699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Simply enclose each dimension’s initializer within its own set of curly braces.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2323D-1E9C-CD1B-85AF-EA874DDED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312" y="1615368"/>
            <a:ext cx="9760167" cy="32289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97CB5E-7979-9D40-F2A0-1E450FEAC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312" y="5525021"/>
            <a:ext cx="2742048" cy="12855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8680232-C350-4520-2F86-CE073DC3763F}"/>
              </a:ext>
            </a:extLst>
          </p:cNvPr>
          <p:cNvSpPr txBox="1">
            <a:spLocks/>
          </p:cNvSpPr>
          <p:nvPr/>
        </p:nvSpPr>
        <p:spPr>
          <a:xfrm>
            <a:off x="1107877" y="4993313"/>
            <a:ext cx="10585997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0960476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E36FF-BB34-7730-1DF3-16DE7402F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7BB5BD-3E5B-527C-3D6D-F6F759F6D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Three-dimensional Array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8124A4A-60C9-29FF-56AA-A845053D49CC}"/>
              </a:ext>
            </a:extLst>
          </p:cNvPr>
          <p:cNvSpPr txBox="1">
            <a:spLocks/>
          </p:cNvSpPr>
          <p:nvPr/>
        </p:nvSpPr>
        <p:spPr>
          <a:xfrm>
            <a:off x="9814560" y="1579553"/>
            <a:ext cx="1981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3C87A5-86A9-8B04-6AFE-4FABCAE3F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" y="1073686"/>
            <a:ext cx="8665094" cy="527631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FA38BB-5735-42FF-F897-503776020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560" y="2164483"/>
            <a:ext cx="1923076" cy="418551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90323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A7CD-DEB8-8A32-D3C0-76AAF87A9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2D4DB2-8255-205F-87F6-734621480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Alternative Array Declaration Syntax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31CD5-54E7-D856-D138-BC4CE9ED9064}"/>
              </a:ext>
            </a:extLst>
          </p:cNvPr>
          <p:cNvSpPr txBox="1">
            <a:spLocks/>
          </p:cNvSpPr>
          <p:nvPr/>
        </p:nvSpPr>
        <p:spPr>
          <a:xfrm>
            <a:off x="802640" y="1036318"/>
            <a:ext cx="10993120" cy="5699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General form: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LTStd-Roman"/>
              </a:rPr>
              <a:t>	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type[] var-name;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The following two declarations are equivalent: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al[] = new int[3];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LTStd-Roman"/>
              </a:rPr>
              <a:t>	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int[] a2 = new int[3];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The following declarations are also equivalent: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	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twod1[][] = new char[3][4];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char[][] twod2 = new char[3][4];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This alternative declaration form offers convenience when declaring several arrays at the same time.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LTStd-Roman"/>
              </a:rPr>
              <a:t>	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int[] nums1, nums2, nums3;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The alternative declaration form is also useful when specifying an array as a return type for a method: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	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int[] </a:t>
            </a:r>
            <a:r>
              <a:rPr lang="en-US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8225373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13CE1-1A3A-400D-260C-9AACE939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5671C84-224A-B4ED-F80C-D25F10B05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 Few Words About Strings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74006-AC30-DE09-0A71-DD021AA8F512}"/>
              </a:ext>
            </a:extLst>
          </p:cNvPr>
          <p:cNvSpPr txBox="1">
            <a:spLocks/>
          </p:cNvSpPr>
          <p:nvPr/>
        </p:nvSpPr>
        <p:spPr>
          <a:xfrm>
            <a:off x="802640" y="1036318"/>
            <a:ext cx="10993120" cy="5699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Java’s string type, called </a:t>
            </a:r>
            <a:r>
              <a:rPr lang="en-US" sz="2400" i="1" dirty="0">
                <a:solidFill>
                  <a:srgbClr val="000000"/>
                </a:solidFill>
                <a:latin typeface="TimesLTStd-Roman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, is not a primitive type.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Nor is it simply an array of characters.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String is a class defined in Java Standard Library and is used to create string objects (or variables).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We can also declare arrays of strings.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 quoted string constant can be assigned to a String variable.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 variable of type String can be assigned to another variable of type String.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You can use an object of type String as an argument to </a:t>
            </a:r>
            <a:r>
              <a:rPr lang="en-US" sz="2400" dirty="0" err="1">
                <a:solidFill>
                  <a:srgbClr val="000000"/>
                </a:solidFill>
                <a:latin typeface="TimesLTStd-Roman"/>
              </a:rPr>
              <a:t>println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( ) method: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String str = "this is a test";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here str is an object of type String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(str);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2024463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E575C-7477-DF7D-282B-1723D5E46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B5BECA-A845-CEC3-F643-8AABA1ED0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-137817"/>
            <a:ext cx="1113536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 Note to C/C++ Programmers About Pointers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A0886-F8E0-013B-EDD2-806C6567DA4B}"/>
              </a:ext>
            </a:extLst>
          </p:cNvPr>
          <p:cNvSpPr txBox="1">
            <a:spLocks/>
          </p:cNvSpPr>
          <p:nvPr/>
        </p:nvSpPr>
        <p:spPr>
          <a:xfrm>
            <a:off x="802640" y="1036318"/>
            <a:ext cx="10993120" cy="5699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Java does not support or allow pointers. 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More properly, Java does not support pointers that can be accessed and/or modified by the programmer.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Java cannot allow pointers, because doing so would allow Java programs to breach the firewall between the Java execution environment (JVM) and the host computer.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Note that a pointer can be given any address in memory — even addresses that might be outside the Java run-time system.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Since C/C++ make extensive use of pointers, one might think that their loss is a significant disadvantage to Java.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However, this is not true. Java is designed in such a way that as long as we stay within the confines of the execution environment, you will never need to use a pointer, nor would there be any benefit in using one.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253495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16892</TotalTime>
  <Words>4449</Words>
  <Application>Microsoft Office PowerPoint</Application>
  <PresentationFormat>Widescreen</PresentationFormat>
  <Paragraphs>407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Arial</vt:lpstr>
      <vt:lpstr>Calibri</vt:lpstr>
      <vt:lpstr>Cambria Math</vt:lpstr>
      <vt:lpstr>Courier New</vt:lpstr>
      <vt:lpstr>Garamond</vt:lpstr>
      <vt:lpstr>Söhne</vt:lpstr>
      <vt:lpstr>Times New Roman</vt:lpstr>
      <vt:lpstr>TimesLTStd-Roman</vt:lpstr>
      <vt:lpstr>Office Theme</vt:lpstr>
      <vt:lpstr>Java Data Types, Variables, Arrays  Java - The Complete Reference  Herbert Schildt Chapter 3 </vt:lpstr>
      <vt:lpstr>Outline</vt:lpstr>
      <vt:lpstr>PowerPoint Presentation</vt:lpstr>
      <vt:lpstr>Java is a Strongly Typed Language</vt:lpstr>
      <vt:lpstr>Primitive Data Types</vt:lpstr>
      <vt:lpstr>Strictly Defined Range of Primitive Data Types</vt:lpstr>
      <vt:lpstr>Integers (byte, short, int, long)</vt:lpstr>
      <vt:lpstr>Integers (byte, short, int, long)</vt:lpstr>
      <vt:lpstr>Floating-point Types (float, double)</vt:lpstr>
      <vt:lpstr>Floating-point Types (float, double)</vt:lpstr>
      <vt:lpstr>Floating-point Types (float, double)</vt:lpstr>
      <vt:lpstr>Characters (char)</vt:lpstr>
      <vt:lpstr>Characters (char)</vt:lpstr>
      <vt:lpstr>Booleans (boolean)</vt:lpstr>
      <vt:lpstr>PowerPoint Presentation</vt:lpstr>
      <vt:lpstr>Integer Literals</vt:lpstr>
      <vt:lpstr>Integer Literals</vt:lpstr>
      <vt:lpstr>Floating-point Literals</vt:lpstr>
      <vt:lpstr>Boolean Literals</vt:lpstr>
      <vt:lpstr>Character Literals</vt:lpstr>
      <vt:lpstr>Escape Sequences</vt:lpstr>
      <vt:lpstr>String Literals</vt:lpstr>
      <vt:lpstr>PowerPoint Presentation</vt:lpstr>
      <vt:lpstr>Variables</vt:lpstr>
      <vt:lpstr>Variable Declaration</vt:lpstr>
      <vt:lpstr>Dynamic Initialization</vt:lpstr>
      <vt:lpstr>Scope and Lifetime of Variables</vt:lpstr>
      <vt:lpstr>Scope Defined within a Method </vt:lpstr>
      <vt:lpstr>Nested Scope: Example</vt:lpstr>
      <vt:lpstr>Lifetime of a Variable</vt:lpstr>
      <vt:lpstr>Lifetime of a Variable: Example</vt:lpstr>
      <vt:lpstr>Variable Names in Nested Scope</vt:lpstr>
      <vt:lpstr>PowerPoint Presentation</vt:lpstr>
      <vt:lpstr>Type Conversion Compatibility</vt:lpstr>
      <vt:lpstr>Java’s Automatic Conversions</vt:lpstr>
      <vt:lpstr>Casting Incompatible Types</vt:lpstr>
      <vt:lpstr>Casting Incompatible Types</vt:lpstr>
      <vt:lpstr>Casting Incompatible Types: Example</vt:lpstr>
      <vt:lpstr>Automatic Type Promotion in Expressions</vt:lpstr>
      <vt:lpstr>Automatic Type Promotion in Expressions</vt:lpstr>
      <vt:lpstr>Automatic Type Promotion in Expressions: Example</vt:lpstr>
      <vt:lpstr>PowerPoint Presentation</vt:lpstr>
      <vt:lpstr>Arrays</vt:lpstr>
      <vt:lpstr>One-Dimensional Arrays</vt:lpstr>
      <vt:lpstr>One-Dimensional Arrays</vt:lpstr>
      <vt:lpstr>Array Initialization</vt:lpstr>
      <vt:lpstr>Indexing Array Out Of Bounds</vt:lpstr>
      <vt:lpstr>Multidimensional Arrays</vt:lpstr>
      <vt:lpstr>Two-dimensional Array</vt:lpstr>
      <vt:lpstr>More on Multidimensional Array</vt:lpstr>
      <vt:lpstr>Initializing Multidimensional Array</vt:lpstr>
      <vt:lpstr>Three-dimensional Array</vt:lpstr>
      <vt:lpstr>Alternative Array Declaration Syntax</vt:lpstr>
      <vt:lpstr>A Few Words About Strings</vt:lpstr>
      <vt:lpstr>A Note to C/C++ Programmers About Pointers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2062</cp:revision>
  <dcterms:created xsi:type="dcterms:W3CDTF">2023-02-09T14:28:53Z</dcterms:created>
  <dcterms:modified xsi:type="dcterms:W3CDTF">2025-10-04T19:18:33Z</dcterms:modified>
</cp:coreProperties>
</file>