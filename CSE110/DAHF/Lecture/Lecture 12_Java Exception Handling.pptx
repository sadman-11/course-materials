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14" r:id="rId2"/>
    <p:sldId id="331" r:id="rId3"/>
    <p:sldId id="332" r:id="rId4"/>
    <p:sldId id="333" r:id="rId5"/>
    <p:sldId id="334" r:id="rId6"/>
    <p:sldId id="335" r:id="rId7"/>
    <p:sldId id="337" r:id="rId8"/>
    <p:sldId id="336" r:id="rId9"/>
    <p:sldId id="338" r:id="rId10"/>
    <p:sldId id="339" r:id="rId11"/>
    <p:sldId id="341" r:id="rId12"/>
    <p:sldId id="342" r:id="rId13"/>
    <p:sldId id="343" r:id="rId14"/>
    <p:sldId id="344" r:id="rId15"/>
    <p:sldId id="345" r:id="rId16"/>
    <p:sldId id="347" r:id="rId17"/>
    <p:sldId id="346" r:id="rId18"/>
    <p:sldId id="348" r:id="rId19"/>
    <p:sldId id="349" r:id="rId20"/>
    <p:sldId id="350" r:id="rId21"/>
    <p:sldId id="351" r:id="rId22"/>
    <p:sldId id="35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35" autoAdjust="0"/>
    <p:restoredTop sz="93447" autoAdjust="0"/>
  </p:normalViewPr>
  <p:slideViewPr>
    <p:cSldViewPr snapToGrid="0">
      <p:cViewPr varScale="1">
        <p:scale>
          <a:sx n="63" d="100"/>
          <a:sy n="63" d="100"/>
        </p:scale>
        <p:origin x="900"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A54E-7FBF-484C-A6C4-F49DDEB3D82F}"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253559-EDE7-4C02-BA95-DAA1E537C5EE}" type="slidenum">
              <a:rPr lang="en-US" smtClean="0"/>
              <a:t>‹#›</a:t>
            </a:fld>
            <a:endParaRPr lang="en-US"/>
          </a:p>
        </p:txBody>
      </p:sp>
    </p:spTree>
    <p:extLst>
      <p:ext uri="{BB962C8B-B14F-4D97-AF65-F5344CB8AC3E}">
        <p14:creationId xmlns:p14="http://schemas.microsoft.com/office/powerpoint/2010/main" val="1237220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EAB8B-5C76-C722-00D1-DAC7530428F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F06F68D-C497-AEB7-900B-72F9DF70FE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AEBD540-8471-3CC1-489E-8B29ACFBF8F5}"/>
              </a:ext>
            </a:extLst>
          </p:cNvPr>
          <p:cNvSpPr>
            <a:spLocks noGrp="1"/>
          </p:cNvSpPr>
          <p:nvPr>
            <p:ph type="dt" sz="half" idx="10"/>
          </p:nvPr>
        </p:nvSpPr>
        <p:spPr/>
        <p:txBody>
          <a:bodyPr/>
          <a:lstStyle/>
          <a:p>
            <a:fld id="{86D98317-623C-4883-B4AD-1E295C46C634}" type="datetime1">
              <a:rPr lang="en-US" smtClean="0"/>
              <a:t>12/9/2025</a:t>
            </a:fld>
            <a:endParaRPr lang="en-US"/>
          </a:p>
        </p:txBody>
      </p:sp>
      <p:sp>
        <p:nvSpPr>
          <p:cNvPr id="5" name="Footer Placeholder 4">
            <a:extLst>
              <a:ext uri="{FF2B5EF4-FFF2-40B4-BE49-F238E27FC236}">
                <a16:creationId xmlns:a16="http://schemas.microsoft.com/office/drawing/2014/main" id="{BF1B27AA-417E-A12A-CDA3-F5C9BB1AD4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2A8113-F6A5-484E-5494-0615EF5A21E2}"/>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2692389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26495-0061-5791-5A38-5A0AFC9BE25D}"/>
              </a:ext>
            </a:extLst>
          </p:cNvPr>
          <p:cNvSpPr>
            <a:spLocks noGrp="1"/>
          </p:cNvSpPr>
          <p:nvPr>
            <p:ph type="title"/>
          </p:nvPr>
        </p:nvSpPr>
        <p:spPr>
          <a:xfrm>
            <a:off x="838200" y="345247"/>
            <a:ext cx="10515600" cy="1325563"/>
          </a:xfr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272F634-39BC-CD34-D2B7-D59AC08EA50F}"/>
              </a:ext>
            </a:extLst>
          </p:cNvPr>
          <p:cNvSpPr>
            <a:spLocks noGrp="1"/>
          </p:cNvSpPr>
          <p:nvPr>
            <p:ph idx="1"/>
          </p:nvPr>
        </p:nvSpPr>
        <p:spPr/>
        <p:txBody>
          <a:bodyPr/>
          <a:lstStyle>
            <a:lvl1pPr>
              <a:spcBef>
                <a:spcPts val="2000"/>
              </a:spcBef>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36F51E01-2F17-6C27-DD5D-FB487D781991}"/>
              </a:ext>
            </a:extLst>
          </p:cNvPr>
          <p:cNvSpPr>
            <a:spLocks noGrp="1"/>
          </p:cNvSpPr>
          <p:nvPr>
            <p:ph type="dt" sz="half" idx="10"/>
          </p:nvPr>
        </p:nvSpPr>
        <p:spPr/>
        <p:txBody>
          <a:bodyPr/>
          <a:lstStyle/>
          <a:p>
            <a:fld id="{814FDA18-703C-41F4-A31A-FBA9B10C8D2E}" type="datetime1">
              <a:rPr lang="en-US" smtClean="0"/>
              <a:t>12/9/2025</a:t>
            </a:fld>
            <a:endParaRPr lang="en-US"/>
          </a:p>
        </p:txBody>
      </p:sp>
      <p:sp>
        <p:nvSpPr>
          <p:cNvPr id="5" name="Footer Placeholder 4">
            <a:extLst>
              <a:ext uri="{FF2B5EF4-FFF2-40B4-BE49-F238E27FC236}">
                <a16:creationId xmlns:a16="http://schemas.microsoft.com/office/drawing/2014/main" id="{C32811C3-DD84-2EDE-7E67-992548CCA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665F33-AE4E-249C-027B-140C0A1EAAB0}"/>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1591236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D37C1-B2F4-BC78-D77F-B4E7274A534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1284A79-9A15-99B9-D8D8-EDE5518E53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8116644-FD0E-9D40-6531-6A53287479F2}"/>
              </a:ext>
            </a:extLst>
          </p:cNvPr>
          <p:cNvSpPr>
            <a:spLocks noGrp="1"/>
          </p:cNvSpPr>
          <p:nvPr>
            <p:ph type="dt" sz="half" idx="10"/>
          </p:nvPr>
        </p:nvSpPr>
        <p:spPr/>
        <p:txBody>
          <a:bodyPr/>
          <a:lstStyle/>
          <a:p>
            <a:fld id="{58D018D0-63ED-46DE-A08D-E622FB3A899E}" type="datetime1">
              <a:rPr lang="en-US" smtClean="0"/>
              <a:t>12/9/2025</a:t>
            </a:fld>
            <a:endParaRPr lang="en-US"/>
          </a:p>
        </p:txBody>
      </p:sp>
      <p:sp>
        <p:nvSpPr>
          <p:cNvPr id="5" name="Footer Placeholder 4">
            <a:extLst>
              <a:ext uri="{FF2B5EF4-FFF2-40B4-BE49-F238E27FC236}">
                <a16:creationId xmlns:a16="http://schemas.microsoft.com/office/drawing/2014/main" id="{2B8D77DA-16F7-0F88-6569-ED49E4BCA5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C7B42E-ECD0-B9B5-10EF-56F6A04427DB}"/>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40004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ABE06-074E-745A-EA35-B8623E5A651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D1005C4-6760-E9B2-E4C9-8E838AE1553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BEDAECE-5C9F-BC28-1E10-2C65B4BF577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0B9E206-6B24-5286-9583-7B4CEA9533CF}"/>
              </a:ext>
            </a:extLst>
          </p:cNvPr>
          <p:cNvSpPr>
            <a:spLocks noGrp="1"/>
          </p:cNvSpPr>
          <p:nvPr>
            <p:ph type="dt" sz="half" idx="10"/>
          </p:nvPr>
        </p:nvSpPr>
        <p:spPr/>
        <p:txBody>
          <a:bodyPr/>
          <a:lstStyle/>
          <a:p>
            <a:fld id="{4B5BE250-FEB3-4DD2-9052-B6062BC27032}" type="datetime1">
              <a:rPr lang="en-US" smtClean="0"/>
              <a:t>12/9/2025</a:t>
            </a:fld>
            <a:endParaRPr lang="en-US"/>
          </a:p>
        </p:txBody>
      </p:sp>
      <p:sp>
        <p:nvSpPr>
          <p:cNvPr id="6" name="Footer Placeholder 5">
            <a:extLst>
              <a:ext uri="{FF2B5EF4-FFF2-40B4-BE49-F238E27FC236}">
                <a16:creationId xmlns:a16="http://schemas.microsoft.com/office/drawing/2014/main" id="{1981EB8B-B73E-C71D-9856-97E87AF532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405416-485A-C7C9-02B7-70BEA04A7566}"/>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1547732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3EBAD-D597-C90E-60AC-2817F9AFC72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B76C801-BED4-EF07-E88E-D5E1583F4E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D91183F-AF00-7B8B-D8E7-1EEA8E381A3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8281FD7-558D-9B40-28E0-42ECB2AF18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1D580E1-304B-978B-6362-40CEE8C7497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922AA01-469C-6B5F-9F6E-4691CB54EF06}"/>
              </a:ext>
            </a:extLst>
          </p:cNvPr>
          <p:cNvSpPr>
            <a:spLocks noGrp="1"/>
          </p:cNvSpPr>
          <p:nvPr>
            <p:ph type="dt" sz="half" idx="10"/>
          </p:nvPr>
        </p:nvSpPr>
        <p:spPr/>
        <p:txBody>
          <a:bodyPr/>
          <a:lstStyle/>
          <a:p>
            <a:fld id="{CC96C8DC-0449-45F4-AFBA-7979DF7CA5D5}" type="datetime1">
              <a:rPr lang="en-US" smtClean="0"/>
              <a:t>12/9/2025</a:t>
            </a:fld>
            <a:endParaRPr lang="en-US"/>
          </a:p>
        </p:txBody>
      </p:sp>
      <p:sp>
        <p:nvSpPr>
          <p:cNvPr id="8" name="Footer Placeholder 7">
            <a:extLst>
              <a:ext uri="{FF2B5EF4-FFF2-40B4-BE49-F238E27FC236}">
                <a16:creationId xmlns:a16="http://schemas.microsoft.com/office/drawing/2014/main" id="{8F2E6341-BFA5-5BA6-EED9-86CBEAD792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B04440-B40B-E518-3E1C-ACD9FAD59BA6}"/>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3589046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7C700-C47C-9B28-D3CF-4238312F698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55E8077-BC92-BB8B-F545-54682C304C3E}"/>
              </a:ext>
            </a:extLst>
          </p:cNvPr>
          <p:cNvSpPr>
            <a:spLocks noGrp="1"/>
          </p:cNvSpPr>
          <p:nvPr>
            <p:ph type="dt" sz="half" idx="10"/>
          </p:nvPr>
        </p:nvSpPr>
        <p:spPr/>
        <p:txBody>
          <a:bodyPr/>
          <a:lstStyle/>
          <a:p>
            <a:fld id="{A8BC47AC-9E37-4986-8D3D-D024A0051A3D}" type="datetime1">
              <a:rPr lang="en-US" smtClean="0"/>
              <a:t>12/9/2025</a:t>
            </a:fld>
            <a:endParaRPr lang="en-US"/>
          </a:p>
        </p:txBody>
      </p:sp>
      <p:sp>
        <p:nvSpPr>
          <p:cNvPr id="4" name="Footer Placeholder 3">
            <a:extLst>
              <a:ext uri="{FF2B5EF4-FFF2-40B4-BE49-F238E27FC236}">
                <a16:creationId xmlns:a16="http://schemas.microsoft.com/office/drawing/2014/main" id="{29E7AEA1-0EE9-7275-1F81-B990559758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2E5035-8BC5-52BF-3CA3-9927BD086BBF}"/>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958586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3BFBF-E3C0-226C-AC1E-4FE521BF8B9E}"/>
              </a:ext>
            </a:extLst>
          </p:cNvPr>
          <p:cNvSpPr>
            <a:spLocks noGrp="1"/>
          </p:cNvSpPr>
          <p:nvPr>
            <p:ph type="dt" sz="half" idx="10"/>
          </p:nvPr>
        </p:nvSpPr>
        <p:spPr/>
        <p:txBody>
          <a:bodyPr/>
          <a:lstStyle/>
          <a:p>
            <a:fld id="{FCA2B43A-75F1-45AC-AF22-611DAA98945F}" type="datetime1">
              <a:rPr lang="en-US" smtClean="0"/>
              <a:t>12/9/2025</a:t>
            </a:fld>
            <a:endParaRPr lang="en-US"/>
          </a:p>
        </p:txBody>
      </p:sp>
      <p:sp>
        <p:nvSpPr>
          <p:cNvPr id="3" name="Footer Placeholder 2">
            <a:extLst>
              <a:ext uri="{FF2B5EF4-FFF2-40B4-BE49-F238E27FC236}">
                <a16:creationId xmlns:a16="http://schemas.microsoft.com/office/drawing/2014/main" id="{12976AD0-825E-15F6-A291-EA2E1C9951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43E901-4B4C-A93E-A23E-3FBB5B9154BA}"/>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4190495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7912C-9409-0B2C-3373-F987976386F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9CACE39-B0EF-6C74-C153-5E124A55EE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1F40C0A-774A-0624-9C5A-26D12FE62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69A380C-6AD0-8B17-017C-58B0BB484385}"/>
              </a:ext>
            </a:extLst>
          </p:cNvPr>
          <p:cNvSpPr>
            <a:spLocks noGrp="1"/>
          </p:cNvSpPr>
          <p:nvPr>
            <p:ph type="dt" sz="half" idx="10"/>
          </p:nvPr>
        </p:nvSpPr>
        <p:spPr/>
        <p:txBody>
          <a:bodyPr/>
          <a:lstStyle/>
          <a:p>
            <a:fld id="{D95D6E55-D0AD-40F6-B05B-B5DB2C32EDA7}" type="datetime1">
              <a:rPr lang="en-US" smtClean="0"/>
              <a:t>12/9/2025</a:t>
            </a:fld>
            <a:endParaRPr lang="en-US"/>
          </a:p>
        </p:txBody>
      </p:sp>
      <p:sp>
        <p:nvSpPr>
          <p:cNvPr id="6" name="Footer Placeholder 5">
            <a:extLst>
              <a:ext uri="{FF2B5EF4-FFF2-40B4-BE49-F238E27FC236}">
                <a16:creationId xmlns:a16="http://schemas.microsoft.com/office/drawing/2014/main" id="{2B65EE64-6285-D945-9A89-68EBEDD3A0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0B2E04-B2E2-8A7F-D973-1A673E4AB421}"/>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2117096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6B042-4F79-C24C-8C42-CAD35CB0C65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E9C3C56-A188-FBFF-5415-A692051528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70A565-6F27-1F77-D869-2B2A21BBC7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17B854-BDF6-DC3F-562B-C99DC19A4A38}"/>
              </a:ext>
            </a:extLst>
          </p:cNvPr>
          <p:cNvSpPr>
            <a:spLocks noGrp="1"/>
          </p:cNvSpPr>
          <p:nvPr>
            <p:ph type="dt" sz="half" idx="10"/>
          </p:nvPr>
        </p:nvSpPr>
        <p:spPr/>
        <p:txBody>
          <a:bodyPr/>
          <a:lstStyle/>
          <a:p>
            <a:fld id="{228B8391-A988-45C0-9910-040D87DDCA2E}" type="datetime1">
              <a:rPr lang="en-US" smtClean="0"/>
              <a:t>12/9/2025</a:t>
            </a:fld>
            <a:endParaRPr lang="en-US"/>
          </a:p>
        </p:txBody>
      </p:sp>
      <p:sp>
        <p:nvSpPr>
          <p:cNvPr id="6" name="Footer Placeholder 5">
            <a:extLst>
              <a:ext uri="{FF2B5EF4-FFF2-40B4-BE49-F238E27FC236}">
                <a16:creationId xmlns:a16="http://schemas.microsoft.com/office/drawing/2014/main" id="{5C36EA7F-F589-F4EA-6EF6-E63906939B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9BCE2-E1AC-ACFB-47B8-2233376BFA21}"/>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1498467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C2272-A2D3-67E5-DF8A-0CC2AA84E29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6508F4B-4649-A77B-1CE8-5D78FA02286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25B2D52-D425-B903-CC42-2CE1988E77BB}"/>
              </a:ext>
            </a:extLst>
          </p:cNvPr>
          <p:cNvSpPr>
            <a:spLocks noGrp="1"/>
          </p:cNvSpPr>
          <p:nvPr>
            <p:ph type="dt" sz="half" idx="10"/>
          </p:nvPr>
        </p:nvSpPr>
        <p:spPr/>
        <p:txBody>
          <a:bodyPr/>
          <a:lstStyle/>
          <a:p>
            <a:fld id="{A7BEA199-0764-418B-A66D-D876F64CE834}" type="datetime1">
              <a:rPr lang="en-US" smtClean="0"/>
              <a:t>12/9/2025</a:t>
            </a:fld>
            <a:endParaRPr lang="en-US"/>
          </a:p>
        </p:txBody>
      </p:sp>
      <p:sp>
        <p:nvSpPr>
          <p:cNvPr id="5" name="Footer Placeholder 4">
            <a:extLst>
              <a:ext uri="{FF2B5EF4-FFF2-40B4-BE49-F238E27FC236}">
                <a16:creationId xmlns:a16="http://schemas.microsoft.com/office/drawing/2014/main" id="{10251FB8-BDE5-046A-5B22-8E2DA40E9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C83CE-4FD3-C3F7-22DE-2EC13C325E94}"/>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992569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B6A0F6-E6DF-8630-5AE5-B54FBA2E6CD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B7B37CA-3EDB-8ABA-5A94-364646868EE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808AD5A-E400-040E-2104-10876C147803}"/>
              </a:ext>
            </a:extLst>
          </p:cNvPr>
          <p:cNvSpPr>
            <a:spLocks noGrp="1"/>
          </p:cNvSpPr>
          <p:nvPr>
            <p:ph type="dt" sz="half" idx="10"/>
          </p:nvPr>
        </p:nvSpPr>
        <p:spPr/>
        <p:txBody>
          <a:bodyPr/>
          <a:lstStyle/>
          <a:p>
            <a:fld id="{87E7624A-87B1-4D68-8D22-236F2F55ED43}" type="datetime1">
              <a:rPr lang="en-US" smtClean="0"/>
              <a:t>12/9/2025</a:t>
            </a:fld>
            <a:endParaRPr lang="en-US"/>
          </a:p>
        </p:txBody>
      </p:sp>
      <p:sp>
        <p:nvSpPr>
          <p:cNvPr id="5" name="Footer Placeholder 4">
            <a:extLst>
              <a:ext uri="{FF2B5EF4-FFF2-40B4-BE49-F238E27FC236}">
                <a16:creationId xmlns:a16="http://schemas.microsoft.com/office/drawing/2014/main" id="{7C959033-9D10-6508-99A4-A0E9705AC8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8B28FE-098F-AF6D-2A0A-74FD084F0249}"/>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2218428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D9A967-8F3E-E0CF-AD1B-50B077819F0B}"/>
              </a:ext>
            </a:extLst>
          </p:cNvPr>
          <p:cNvPicPr>
            <a:picLocks noChangeAspect="1"/>
          </p:cNvPicPr>
          <p:nvPr userDrawn="1"/>
        </p:nvPicPr>
        <p:blipFill>
          <a:blip r:embed="rId13"/>
          <a:stretch>
            <a:fillRect/>
          </a:stretch>
        </p:blipFill>
        <p:spPr>
          <a:xfrm>
            <a:off x="361259" y="-10821"/>
            <a:ext cx="11486184" cy="974917"/>
          </a:xfrm>
          <a:prstGeom prst="rect">
            <a:avLst/>
          </a:prstGeom>
        </p:spPr>
      </p:pic>
      <p:sp>
        <p:nvSpPr>
          <p:cNvPr id="2" name="Title Placeholder 1">
            <a:extLst>
              <a:ext uri="{FF2B5EF4-FFF2-40B4-BE49-F238E27FC236}">
                <a16:creationId xmlns:a16="http://schemas.microsoft.com/office/drawing/2014/main" id="{6029B6F3-4135-0E21-7250-CC4394497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DD98502-5B55-7F18-8B55-656DC9095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9471048-EE63-F593-9B43-21CA3F9362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327700-82ED-4E52-93AE-412B36EDC3FC}" type="datetime1">
              <a:rPr lang="en-US" smtClean="0"/>
              <a:t>12/9/2025</a:t>
            </a:fld>
            <a:endParaRPr lang="en-US"/>
          </a:p>
        </p:txBody>
      </p:sp>
      <p:sp>
        <p:nvSpPr>
          <p:cNvPr id="5" name="Footer Placeholder 4">
            <a:extLst>
              <a:ext uri="{FF2B5EF4-FFF2-40B4-BE49-F238E27FC236}">
                <a16:creationId xmlns:a16="http://schemas.microsoft.com/office/drawing/2014/main" id="{143F5827-7C80-4A48-44F7-5AC8F3F328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16A239E-C2C4-B6B2-477D-3BFB38861A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7C6C01-0E18-4E34-9A22-FD2CDEAB0997}" type="slidenum">
              <a:rPr lang="en-US" smtClean="0"/>
              <a:t>‹#›</a:t>
            </a:fld>
            <a:endParaRPr lang="en-US"/>
          </a:p>
        </p:txBody>
      </p:sp>
    </p:spTree>
    <p:extLst>
      <p:ext uri="{BB962C8B-B14F-4D97-AF65-F5344CB8AC3E}">
        <p14:creationId xmlns:p14="http://schemas.microsoft.com/office/powerpoint/2010/main" val="90423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0" y="975360"/>
            <a:ext cx="12192000" cy="4805680"/>
          </a:xfrm>
        </p:spPr>
        <p:txBody>
          <a:bodyPr>
            <a:noAutofit/>
          </a:bodyPr>
          <a:lstStyle/>
          <a:p>
            <a:r>
              <a:rPr lang="en-US" sz="4800" b="1" dirty="0">
                <a:solidFill>
                  <a:schemeClr val="accent1"/>
                </a:solidFill>
                <a:effectLst>
                  <a:outerShdw blurRad="38100" dist="38100" dir="2700000" algn="tl">
                    <a:srgbClr val="000000">
                      <a:alpha val="43137"/>
                    </a:srgbClr>
                  </a:outerShdw>
                </a:effectLst>
              </a:rPr>
              <a:t>Java Exception Handling</a:t>
            </a:r>
            <a:br>
              <a:rPr lang="en-US" sz="4000" b="1" dirty="0">
                <a:solidFill>
                  <a:schemeClr val="accent1"/>
                </a:solidFill>
                <a:effectLst>
                  <a:outerShdw blurRad="38100" dist="38100" dir="2700000" algn="tl">
                    <a:srgbClr val="000000">
                      <a:alpha val="43137"/>
                    </a:srgbClr>
                  </a:outerShdw>
                </a:effectLst>
              </a:rPr>
            </a:br>
            <a:r>
              <a:rPr lang="en-US" sz="4000" b="1" dirty="0">
                <a:solidFill>
                  <a:schemeClr val="accent1"/>
                </a:solidFill>
                <a:effectLst>
                  <a:outerShdw blurRad="38100" dist="38100" dir="2700000" algn="tl">
                    <a:srgbClr val="000000">
                      <a:alpha val="43137"/>
                    </a:srgbClr>
                  </a:outerShdw>
                </a:effectLst>
              </a:rPr>
              <a:t>Chapter 12</a:t>
            </a:r>
            <a:br>
              <a:rPr lang="en-US" sz="4000" b="1" dirty="0">
                <a:solidFill>
                  <a:schemeClr val="accent1"/>
                </a:solidFill>
                <a:effectLst>
                  <a:outerShdw blurRad="38100" dist="38100" dir="2700000" algn="tl">
                    <a:srgbClr val="000000">
                      <a:alpha val="43137"/>
                    </a:srgbClr>
                  </a:outerShdw>
                </a:effectLst>
              </a:rPr>
            </a:br>
            <a:br>
              <a:rPr lang="en-US" sz="4000" b="1" dirty="0">
                <a:solidFill>
                  <a:schemeClr val="accent1"/>
                </a:solidFill>
                <a:effectLst>
                  <a:outerShdw blurRad="38100" dist="38100" dir="2700000" algn="tl">
                    <a:srgbClr val="000000">
                      <a:alpha val="43137"/>
                    </a:srgbClr>
                  </a:outerShdw>
                </a:effectLst>
              </a:rPr>
            </a:br>
            <a:r>
              <a:rPr lang="it-IT" sz="3200" b="1" dirty="0">
                <a:effectLst>
                  <a:outerShdw blurRad="38100" dist="38100" dir="2700000" algn="tl">
                    <a:srgbClr val="000000">
                      <a:alpha val="43137"/>
                    </a:srgbClr>
                  </a:outerShdw>
                </a:effectLst>
              </a:rPr>
              <a:t>Introduction to Java Programming – Comprehensive Version</a:t>
            </a:r>
            <a:br>
              <a:rPr lang="en-US" sz="3200" b="1" dirty="0">
                <a:effectLst>
                  <a:outerShdw blurRad="38100" dist="38100" dir="2700000" algn="tl">
                    <a:srgbClr val="000000">
                      <a:alpha val="43137"/>
                    </a:srgbClr>
                  </a:outerShdw>
                </a:effectLst>
              </a:rPr>
            </a:br>
            <a:r>
              <a:rPr lang="en-US" sz="2600" b="1" dirty="0">
                <a:effectLst>
                  <a:outerShdw blurRad="38100" dist="38100" dir="2700000" algn="tl">
                    <a:srgbClr val="000000">
                      <a:alpha val="43137"/>
                    </a:srgbClr>
                  </a:outerShdw>
                </a:effectLst>
              </a:rPr>
              <a:t>Y. Daniel Liang</a:t>
            </a:r>
            <a:br>
              <a:rPr lang="en-US" sz="3600" b="1" dirty="0">
                <a:effectLst>
                  <a:outerShdw blurRad="38100" dist="38100" dir="2700000" algn="tl">
                    <a:srgbClr val="000000">
                      <a:alpha val="43137"/>
                    </a:srgbClr>
                  </a:outerShdw>
                </a:effectLst>
              </a:rPr>
            </a:br>
            <a:br>
              <a:rPr lang="en-US" sz="4000" b="1" dirty="0">
                <a:solidFill>
                  <a:schemeClr val="accent1"/>
                </a:solidFill>
              </a:rPr>
            </a:br>
            <a:br>
              <a:rPr lang="en-US" sz="4000" b="1" dirty="0">
                <a:solidFill>
                  <a:schemeClr val="accent1"/>
                </a:solidFill>
              </a:rPr>
            </a:br>
            <a:endParaRPr lang="en-US" sz="3600" b="1" dirty="0">
              <a:solidFill>
                <a:schemeClr val="accent1"/>
              </a:solidFill>
            </a:endParaRPr>
          </a:p>
        </p:txBody>
      </p:sp>
    </p:spTree>
    <p:extLst>
      <p:ext uri="{BB962C8B-B14F-4D97-AF65-F5344CB8AC3E}">
        <p14:creationId xmlns:p14="http://schemas.microsoft.com/office/powerpoint/2010/main" val="2960466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Introduction</a:t>
            </a:r>
            <a:endParaRPr lang="en-US" sz="3600" b="1" dirty="0">
              <a:solidFill>
                <a:schemeClr val="bg1"/>
              </a:solidFill>
            </a:endParaRPr>
          </a:p>
        </p:txBody>
      </p:sp>
      <p:sp>
        <p:nvSpPr>
          <p:cNvPr id="2" name="Content Placeholder 2">
            <a:extLst>
              <a:ext uri="{FF2B5EF4-FFF2-40B4-BE49-F238E27FC236}">
                <a16:creationId xmlns:a16="http://schemas.microsoft.com/office/drawing/2014/main" id="{BBC863AA-F1EF-A435-BFC0-99B577795194}"/>
              </a:ext>
            </a:extLst>
          </p:cNvPr>
          <p:cNvSpPr txBox="1">
            <a:spLocks/>
          </p:cNvSpPr>
          <p:nvPr/>
        </p:nvSpPr>
        <p:spPr>
          <a:xfrm>
            <a:off x="568959" y="1076960"/>
            <a:ext cx="11196321" cy="53644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i="1" u="none" strike="noStrike" baseline="0" dirty="0">
                <a:solidFill>
                  <a:srgbClr val="000000"/>
                </a:solidFill>
                <a:latin typeface="TimesLTStd-Roman"/>
              </a:rPr>
              <a:t>Exception handling enables a program to deal with exceptional situations and continue its normal execution.</a:t>
            </a:r>
          </a:p>
          <a:p>
            <a:r>
              <a:rPr lang="en-US" sz="2400" b="0" i="0" u="none" strike="noStrike" baseline="0" dirty="0">
                <a:latin typeface="TimesLTStd-Roman"/>
              </a:rPr>
              <a:t>Runtime errors occur while a program is running if the JVM (JRE) detects an operation that is impossible to carry out. For example:</a:t>
            </a:r>
          </a:p>
          <a:p>
            <a:pPr lvl="1"/>
            <a:r>
              <a:rPr lang="en-US" sz="2000" dirty="0">
                <a:latin typeface="TimesLTStd-Roman"/>
              </a:rPr>
              <a:t>I</a:t>
            </a:r>
            <a:r>
              <a:rPr lang="en-US" sz="2000" b="0" i="0" u="none" strike="noStrike" baseline="0" dirty="0">
                <a:latin typeface="TimesLTStd-Roman"/>
              </a:rPr>
              <a:t>f you access an array using an index that is out of bounds, you will get a runtime error with an </a:t>
            </a:r>
            <a:r>
              <a:rPr lang="en-US" sz="2000" b="1" i="0" u="none" strike="noStrike" baseline="0" dirty="0" err="1">
                <a:latin typeface="Courier New" panose="02070309020205020404" pitchFamily="49" charset="0"/>
                <a:cs typeface="Courier New" panose="02070309020205020404" pitchFamily="49" charset="0"/>
              </a:rPr>
              <a:t>ArrayIndexOutOfBoundsException</a:t>
            </a:r>
            <a:r>
              <a:rPr lang="en-US" sz="2000" b="0" i="0" u="none" strike="noStrike" baseline="0" dirty="0">
                <a:latin typeface="TimesLTStd-Roman"/>
              </a:rPr>
              <a:t>.</a:t>
            </a:r>
          </a:p>
          <a:p>
            <a:pPr lvl="1"/>
            <a:r>
              <a:rPr lang="en-US" sz="2000" b="0" i="0" u="none" strike="noStrike" baseline="0" dirty="0">
                <a:latin typeface="TimesLTStd-Roman"/>
              </a:rPr>
              <a:t>If you enter a double value when your program expects an integer, you will get a runtime error with an </a:t>
            </a:r>
            <a:r>
              <a:rPr lang="en-US" sz="2000" b="1" i="0" u="none" strike="noStrike" baseline="0" dirty="0" err="1">
                <a:latin typeface="Courier New" panose="02070309020205020404" pitchFamily="49" charset="0"/>
                <a:cs typeface="Courier New" panose="02070309020205020404" pitchFamily="49" charset="0"/>
              </a:rPr>
              <a:t>InputMismatchException</a:t>
            </a:r>
            <a:r>
              <a:rPr lang="en-US" sz="2000" b="0" i="0" u="none" strike="noStrike" baseline="0" dirty="0">
                <a:latin typeface="TimesLTStd-Roman"/>
              </a:rPr>
              <a:t>.</a:t>
            </a:r>
          </a:p>
          <a:p>
            <a:r>
              <a:rPr lang="en-US" sz="2400" dirty="0">
                <a:latin typeface="TimesLTStd-Roman"/>
              </a:rPr>
              <a:t>In Java, runtime errors are thrown as exceptions. </a:t>
            </a:r>
          </a:p>
          <a:p>
            <a:r>
              <a:rPr lang="en-US" sz="2400" dirty="0">
                <a:latin typeface="TimesLTStd-Roman"/>
              </a:rPr>
              <a:t>An </a:t>
            </a:r>
            <a:r>
              <a:rPr lang="en-US" sz="2400" b="1" i="1" dirty="0">
                <a:latin typeface="TimesLTStd-Roman"/>
              </a:rPr>
              <a:t>exception</a:t>
            </a:r>
            <a:r>
              <a:rPr lang="en-US" sz="2400" dirty="0">
                <a:latin typeface="TimesLTStd-Roman"/>
              </a:rPr>
              <a:t> is an object that represents an </a:t>
            </a:r>
            <a:r>
              <a:rPr lang="en-US" sz="2400" b="1" i="1" dirty="0">
                <a:latin typeface="TimesLTStd-Roman"/>
              </a:rPr>
              <a:t>error</a:t>
            </a:r>
            <a:r>
              <a:rPr lang="en-US" sz="2400" dirty="0">
                <a:latin typeface="TimesLTStd-Roman"/>
              </a:rPr>
              <a:t> or a </a:t>
            </a:r>
            <a:r>
              <a:rPr lang="en-US" sz="2400" b="1" i="1" dirty="0">
                <a:latin typeface="TimesLTStd-Roman"/>
              </a:rPr>
              <a:t>condition that prevents execution from proceeding normally</a:t>
            </a:r>
            <a:r>
              <a:rPr lang="en-US" sz="2400" dirty="0">
                <a:latin typeface="TimesLTStd-Roman"/>
              </a:rPr>
              <a:t>. </a:t>
            </a:r>
          </a:p>
          <a:p>
            <a:r>
              <a:rPr lang="en-US" sz="2400" dirty="0">
                <a:latin typeface="TimesLTStd-Roman"/>
              </a:rPr>
              <a:t>If the exception is not handled, the program will terminate abnormally</a:t>
            </a:r>
            <a:endParaRPr lang="en-US" sz="2400" b="0" i="0" u="none" strike="noStrike" baseline="0" dirty="0">
              <a:latin typeface="TimesLTStd-Roman"/>
            </a:endParaRPr>
          </a:p>
          <a:p>
            <a:endParaRPr lang="en-US" sz="3200" dirty="0">
              <a:solidFill>
                <a:srgbClr val="000000"/>
              </a:solidFill>
              <a:latin typeface="TimesLTStd-Roman"/>
            </a:endParaRPr>
          </a:p>
          <a:p>
            <a:endParaRPr lang="en-US" sz="3200" dirty="0">
              <a:solidFill>
                <a:srgbClr val="000000"/>
              </a:solidFill>
              <a:latin typeface="TimesLTStd-Roman"/>
            </a:endParaRPr>
          </a:p>
        </p:txBody>
      </p:sp>
    </p:spTree>
    <p:extLst>
      <p:ext uri="{BB962C8B-B14F-4D97-AF65-F5344CB8AC3E}">
        <p14:creationId xmlns:p14="http://schemas.microsoft.com/office/powerpoint/2010/main" val="2573174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Exception Handling Overview</a:t>
            </a:r>
            <a:endParaRPr lang="en-US" sz="3600" b="1" dirty="0">
              <a:solidFill>
                <a:schemeClr val="bg1"/>
              </a:solidFill>
            </a:endParaRPr>
          </a:p>
        </p:txBody>
      </p:sp>
      <p:sp>
        <p:nvSpPr>
          <p:cNvPr id="2" name="Content Placeholder 2">
            <a:extLst>
              <a:ext uri="{FF2B5EF4-FFF2-40B4-BE49-F238E27FC236}">
                <a16:creationId xmlns:a16="http://schemas.microsoft.com/office/drawing/2014/main" id="{BBC863AA-F1EF-A435-BFC0-99B577795194}"/>
              </a:ext>
            </a:extLst>
          </p:cNvPr>
          <p:cNvSpPr txBox="1">
            <a:spLocks/>
          </p:cNvSpPr>
          <p:nvPr/>
        </p:nvSpPr>
        <p:spPr>
          <a:xfrm>
            <a:off x="1223995" y="683693"/>
            <a:ext cx="10825766" cy="415074"/>
          </a:xfrm>
          <a:prstGeom prst="rect">
            <a:avLst/>
          </a:prstGeom>
          <a:noFill/>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i="1" u="none" strike="noStrike" baseline="0" dirty="0">
                <a:solidFill>
                  <a:srgbClr val="000000"/>
                </a:solidFill>
                <a:latin typeface="TimesLTStd-Roman"/>
              </a:rPr>
              <a:t>  Exceptions are thrown from a method. The caller of the method can catch and handle the exception.</a:t>
            </a:r>
          </a:p>
          <a:p>
            <a:endParaRPr lang="en-US" sz="2400" u="none" strike="noStrike" baseline="0" dirty="0">
              <a:solidFill>
                <a:srgbClr val="000000"/>
              </a:solidFill>
              <a:latin typeface="TimesLTStd-Roman"/>
            </a:endParaRPr>
          </a:p>
        </p:txBody>
      </p:sp>
      <p:pic>
        <p:nvPicPr>
          <p:cNvPr id="7" name="Picture 6">
            <a:extLst>
              <a:ext uri="{FF2B5EF4-FFF2-40B4-BE49-F238E27FC236}">
                <a16:creationId xmlns:a16="http://schemas.microsoft.com/office/drawing/2014/main" id="{2AB03B14-7B74-1218-9A11-9145898D1854}"/>
              </a:ext>
            </a:extLst>
          </p:cNvPr>
          <p:cNvPicPr>
            <a:picLocks noChangeAspect="1"/>
          </p:cNvPicPr>
          <p:nvPr/>
        </p:nvPicPr>
        <p:blipFill>
          <a:blip r:embed="rId2"/>
          <a:stretch>
            <a:fillRect/>
          </a:stretch>
        </p:blipFill>
        <p:spPr>
          <a:xfrm>
            <a:off x="1066801" y="1197430"/>
            <a:ext cx="7934132" cy="5660570"/>
          </a:xfrm>
          <a:prstGeom prst="rect">
            <a:avLst/>
          </a:prstGeom>
          <a:ln>
            <a:solidFill>
              <a:schemeClr val="bg1">
                <a:lumMod val="85000"/>
              </a:schemeClr>
            </a:solidFill>
          </a:ln>
        </p:spPr>
      </p:pic>
      <p:sp>
        <p:nvSpPr>
          <p:cNvPr id="8" name="Content Placeholder 2">
            <a:extLst>
              <a:ext uri="{FF2B5EF4-FFF2-40B4-BE49-F238E27FC236}">
                <a16:creationId xmlns:a16="http://schemas.microsoft.com/office/drawing/2014/main" id="{28F9B64D-0348-9662-5484-25909C9F2A1A}"/>
              </a:ext>
            </a:extLst>
          </p:cNvPr>
          <p:cNvSpPr txBox="1">
            <a:spLocks/>
          </p:cNvSpPr>
          <p:nvPr/>
        </p:nvSpPr>
        <p:spPr>
          <a:xfrm>
            <a:off x="9555481" y="5339080"/>
            <a:ext cx="2524760" cy="1407160"/>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800" b="0" i="1" u="none" strike="noStrike" baseline="0" dirty="0">
                <a:solidFill>
                  <a:srgbClr val="000000"/>
                </a:solidFill>
                <a:latin typeface="TimesLTStd-Italic"/>
              </a:rPr>
              <a:t>Note that a floating-point number divided by </a:t>
            </a:r>
            <a:r>
              <a:rPr lang="en-US" sz="1800" b="1" i="1" u="none" strike="noStrike" baseline="0" dirty="0">
                <a:solidFill>
                  <a:srgbClr val="00AFF0"/>
                </a:solidFill>
                <a:latin typeface="LucidaSansTypewriterStd-BOb"/>
              </a:rPr>
              <a:t>0 </a:t>
            </a:r>
            <a:r>
              <a:rPr lang="en-US" sz="1800" b="0" i="1" u="none" strike="noStrike" baseline="0" dirty="0">
                <a:solidFill>
                  <a:srgbClr val="000000"/>
                </a:solidFill>
                <a:latin typeface="TimesLTStd-Italic"/>
              </a:rPr>
              <a:t>does not raise an exception</a:t>
            </a:r>
            <a:endParaRPr lang="en-US" sz="2400" u="none" strike="noStrike" baseline="0" dirty="0">
              <a:solidFill>
                <a:srgbClr val="000000"/>
              </a:solidFill>
              <a:latin typeface="TimesLTStd-Roman"/>
            </a:endParaRPr>
          </a:p>
        </p:txBody>
      </p:sp>
    </p:spTree>
    <p:extLst>
      <p:ext uri="{BB962C8B-B14F-4D97-AF65-F5344CB8AC3E}">
        <p14:creationId xmlns:p14="http://schemas.microsoft.com/office/powerpoint/2010/main" val="2041144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Exception Handling Overview</a:t>
            </a:r>
            <a:endParaRPr lang="en-US" sz="3600" b="1" dirty="0">
              <a:solidFill>
                <a:schemeClr val="bg1"/>
              </a:solidFill>
            </a:endParaRPr>
          </a:p>
        </p:txBody>
      </p:sp>
      <p:sp>
        <p:nvSpPr>
          <p:cNvPr id="2" name="Content Placeholder 2">
            <a:extLst>
              <a:ext uri="{FF2B5EF4-FFF2-40B4-BE49-F238E27FC236}">
                <a16:creationId xmlns:a16="http://schemas.microsoft.com/office/drawing/2014/main" id="{BBC863AA-F1EF-A435-BFC0-99B577795194}"/>
              </a:ext>
            </a:extLst>
          </p:cNvPr>
          <p:cNvSpPr txBox="1">
            <a:spLocks/>
          </p:cNvSpPr>
          <p:nvPr/>
        </p:nvSpPr>
        <p:spPr>
          <a:xfrm>
            <a:off x="825214" y="965200"/>
            <a:ext cx="11196321" cy="751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u="none" strike="noStrike" baseline="0" dirty="0">
                <a:solidFill>
                  <a:srgbClr val="000000"/>
                </a:solidFill>
                <a:latin typeface="TimesLTStd-Roman"/>
              </a:rPr>
              <a:t>A simple way to fix this error is to add an </a:t>
            </a:r>
            <a:r>
              <a:rPr lang="en-US" sz="2000" b="1" i="1" u="none" strike="noStrike" baseline="0" dirty="0">
                <a:solidFill>
                  <a:srgbClr val="000000"/>
                </a:solidFill>
                <a:latin typeface="TimesLTStd-Roman"/>
              </a:rPr>
              <a:t>if statement</a:t>
            </a:r>
            <a:r>
              <a:rPr lang="en-US" sz="2000" u="none" strike="noStrike" baseline="0" dirty="0">
                <a:solidFill>
                  <a:srgbClr val="000000"/>
                </a:solidFill>
                <a:latin typeface="TimesLTStd-Roman"/>
              </a:rPr>
              <a:t> to test the second number, as shown in Listing 12.2.</a:t>
            </a:r>
          </a:p>
        </p:txBody>
      </p:sp>
      <p:pic>
        <p:nvPicPr>
          <p:cNvPr id="4" name="Picture 3">
            <a:extLst>
              <a:ext uri="{FF2B5EF4-FFF2-40B4-BE49-F238E27FC236}">
                <a16:creationId xmlns:a16="http://schemas.microsoft.com/office/drawing/2014/main" id="{755B00C7-3118-877E-7E03-A58EA4BEF263}"/>
              </a:ext>
            </a:extLst>
          </p:cNvPr>
          <p:cNvPicPr>
            <a:picLocks noChangeAspect="1"/>
          </p:cNvPicPr>
          <p:nvPr/>
        </p:nvPicPr>
        <p:blipFill>
          <a:blip r:embed="rId2"/>
          <a:stretch>
            <a:fillRect/>
          </a:stretch>
        </p:blipFill>
        <p:spPr>
          <a:xfrm>
            <a:off x="2187324" y="1493520"/>
            <a:ext cx="8439324" cy="5364480"/>
          </a:xfrm>
          <a:prstGeom prst="rect">
            <a:avLst/>
          </a:prstGeom>
          <a:ln>
            <a:solidFill>
              <a:schemeClr val="bg1">
                <a:lumMod val="85000"/>
              </a:schemeClr>
            </a:solidFill>
          </a:ln>
        </p:spPr>
      </p:pic>
    </p:spTree>
    <p:extLst>
      <p:ext uri="{BB962C8B-B14F-4D97-AF65-F5344CB8AC3E}">
        <p14:creationId xmlns:p14="http://schemas.microsoft.com/office/powerpoint/2010/main" val="806799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Exception Handling Overview</a:t>
            </a:r>
            <a:endParaRPr lang="en-US" sz="3600" b="1" dirty="0">
              <a:solidFill>
                <a:schemeClr val="bg1"/>
              </a:solidFill>
            </a:endParaRPr>
          </a:p>
        </p:txBody>
      </p:sp>
      <p:sp>
        <p:nvSpPr>
          <p:cNvPr id="2" name="Content Placeholder 2">
            <a:extLst>
              <a:ext uri="{FF2B5EF4-FFF2-40B4-BE49-F238E27FC236}">
                <a16:creationId xmlns:a16="http://schemas.microsoft.com/office/drawing/2014/main" id="{BBC863AA-F1EF-A435-BFC0-99B577795194}"/>
              </a:ext>
            </a:extLst>
          </p:cNvPr>
          <p:cNvSpPr txBox="1">
            <a:spLocks/>
          </p:cNvSpPr>
          <p:nvPr/>
        </p:nvSpPr>
        <p:spPr>
          <a:xfrm>
            <a:off x="1254474" y="695500"/>
            <a:ext cx="10337801" cy="751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u="none" strike="noStrike" baseline="0" dirty="0">
                <a:solidFill>
                  <a:srgbClr val="000000"/>
                </a:solidFill>
                <a:latin typeface="TimesLTStd-Roman"/>
              </a:rPr>
              <a:t>Before introducing exception handling, let us rewrite Listing 12.2 to compute a quotient using a method, as shown in Listing 12.3.</a:t>
            </a:r>
          </a:p>
        </p:txBody>
      </p:sp>
      <p:pic>
        <p:nvPicPr>
          <p:cNvPr id="8" name="Picture 7">
            <a:extLst>
              <a:ext uri="{FF2B5EF4-FFF2-40B4-BE49-F238E27FC236}">
                <a16:creationId xmlns:a16="http://schemas.microsoft.com/office/drawing/2014/main" id="{C067D407-A5FB-2243-60E0-60C595480822}"/>
              </a:ext>
            </a:extLst>
          </p:cNvPr>
          <p:cNvPicPr>
            <a:picLocks noChangeAspect="1"/>
          </p:cNvPicPr>
          <p:nvPr/>
        </p:nvPicPr>
        <p:blipFill>
          <a:blip r:embed="rId2"/>
          <a:stretch>
            <a:fillRect/>
          </a:stretch>
        </p:blipFill>
        <p:spPr>
          <a:xfrm>
            <a:off x="957294" y="1622928"/>
            <a:ext cx="5759746" cy="5156465"/>
          </a:xfrm>
          <a:prstGeom prst="rect">
            <a:avLst/>
          </a:prstGeom>
        </p:spPr>
      </p:pic>
      <p:pic>
        <p:nvPicPr>
          <p:cNvPr id="10" name="Picture 9">
            <a:extLst>
              <a:ext uri="{FF2B5EF4-FFF2-40B4-BE49-F238E27FC236}">
                <a16:creationId xmlns:a16="http://schemas.microsoft.com/office/drawing/2014/main" id="{530A2FEA-4E28-449D-DF71-2915D637B67C}"/>
              </a:ext>
            </a:extLst>
          </p:cNvPr>
          <p:cNvPicPr>
            <a:picLocks noChangeAspect="1"/>
          </p:cNvPicPr>
          <p:nvPr/>
        </p:nvPicPr>
        <p:blipFill>
          <a:blip r:embed="rId3"/>
          <a:stretch>
            <a:fillRect/>
          </a:stretch>
        </p:blipFill>
        <p:spPr>
          <a:xfrm>
            <a:off x="7886606" y="1554217"/>
            <a:ext cx="3632387" cy="2063856"/>
          </a:xfrm>
          <a:prstGeom prst="rect">
            <a:avLst/>
          </a:prstGeom>
        </p:spPr>
      </p:pic>
      <p:cxnSp>
        <p:nvCxnSpPr>
          <p:cNvPr id="12" name="Straight Connector 11">
            <a:extLst>
              <a:ext uri="{FF2B5EF4-FFF2-40B4-BE49-F238E27FC236}">
                <a16:creationId xmlns:a16="http://schemas.microsoft.com/office/drawing/2014/main" id="{23242496-A262-5099-9E9B-6769E08B3878}"/>
              </a:ext>
            </a:extLst>
          </p:cNvPr>
          <p:cNvCxnSpPr>
            <a:cxnSpLocks/>
          </p:cNvCxnSpPr>
          <p:nvPr/>
        </p:nvCxnSpPr>
        <p:spPr>
          <a:xfrm>
            <a:off x="7366000" y="1564640"/>
            <a:ext cx="0" cy="512064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7652388" y="4119420"/>
            <a:ext cx="4100821" cy="2565860"/>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u="none" strike="noStrike" baseline="0" dirty="0">
                <a:solidFill>
                  <a:srgbClr val="000000"/>
                </a:solidFill>
                <a:latin typeface="TimesLTStd-Roman"/>
              </a:rPr>
              <a:t>Note that this approach is problematic. You should not let the method terminate the program—the caller should decide whether to terminate the program.</a:t>
            </a:r>
          </a:p>
          <a:p>
            <a:r>
              <a:rPr lang="en-US" sz="2000" u="none" strike="noStrike" baseline="0" dirty="0">
                <a:solidFill>
                  <a:srgbClr val="000000"/>
                </a:solidFill>
                <a:latin typeface="TimesLTStd-Roman"/>
              </a:rPr>
              <a:t>How can a method notify its caller an exception has occurred?</a:t>
            </a:r>
          </a:p>
        </p:txBody>
      </p:sp>
    </p:spTree>
    <p:extLst>
      <p:ext uri="{BB962C8B-B14F-4D97-AF65-F5344CB8AC3E}">
        <p14:creationId xmlns:p14="http://schemas.microsoft.com/office/powerpoint/2010/main" val="3842215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Exception Handling Overview</a:t>
            </a:r>
            <a:endParaRPr lang="en-US" sz="3600" b="1" dirty="0">
              <a:solidFill>
                <a:schemeClr val="bg1"/>
              </a:solidFill>
            </a:endParaRPr>
          </a:p>
        </p:txBody>
      </p:sp>
      <p:sp>
        <p:nvSpPr>
          <p:cNvPr id="2" name="Content Placeholder 2">
            <a:extLst>
              <a:ext uri="{FF2B5EF4-FFF2-40B4-BE49-F238E27FC236}">
                <a16:creationId xmlns:a16="http://schemas.microsoft.com/office/drawing/2014/main" id="{BBC863AA-F1EF-A435-BFC0-99B577795194}"/>
              </a:ext>
            </a:extLst>
          </p:cNvPr>
          <p:cNvSpPr txBox="1">
            <a:spLocks/>
          </p:cNvSpPr>
          <p:nvPr/>
        </p:nvSpPr>
        <p:spPr>
          <a:xfrm>
            <a:off x="1244314" y="705660"/>
            <a:ext cx="10337801" cy="4932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u="none" strike="noStrike" baseline="0" dirty="0">
                <a:solidFill>
                  <a:srgbClr val="000000"/>
                </a:solidFill>
                <a:latin typeface="TimesLTStd-Roman"/>
              </a:rPr>
              <a:t>Java enables a method to throw an exception that can be caught and handled by the caller.</a:t>
            </a:r>
          </a:p>
        </p:txBody>
      </p:sp>
      <p:cxnSp>
        <p:nvCxnSpPr>
          <p:cNvPr id="12" name="Straight Connector 11">
            <a:extLst>
              <a:ext uri="{FF2B5EF4-FFF2-40B4-BE49-F238E27FC236}">
                <a16:creationId xmlns:a16="http://schemas.microsoft.com/office/drawing/2014/main" id="{23242496-A262-5099-9E9B-6769E08B3878}"/>
              </a:ext>
            </a:extLst>
          </p:cNvPr>
          <p:cNvCxnSpPr>
            <a:cxnSpLocks/>
          </p:cNvCxnSpPr>
          <p:nvPr/>
        </p:nvCxnSpPr>
        <p:spPr>
          <a:xfrm>
            <a:off x="8124888" y="1290517"/>
            <a:ext cx="0" cy="5169996"/>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8161EC4C-F937-E127-CB17-7E4BC0487444}"/>
              </a:ext>
            </a:extLst>
          </p:cNvPr>
          <p:cNvGrpSpPr/>
          <p:nvPr/>
        </p:nvGrpSpPr>
        <p:grpSpPr>
          <a:xfrm>
            <a:off x="8277288" y="2252150"/>
            <a:ext cx="3754786" cy="1888050"/>
            <a:chOff x="7539285" y="1306448"/>
            <a:chExt cx="4320069" cy="2064962"/>
          </a:xfrm>
        </p:grpSpPr>
        <p:pic>
          <p:nvPicPr>
            <p:cNvPr id="7" name="Picture 6">
              <a:extLst>
                <a:ext uri="{FF2B5EF4-FFF2-40B4-BE49-F238E27FC236}">
                  <a16:creationId xmlns:a16="http://schemas.microsoft.com/office/drawing/2014/main" id="{D95CA3DD-E709-17A3-F321-A93F8F1DBC37}"/>
                </a:ext>
              </a:extLst>
            </p:cNvPr>
            <p:cNvPicPr>
              <a:picLocks noChangeAspect="1"/>
            </p:cNvPicPr>
            <p:nvPr/>
          </p:nvPicPr>
          <p:blipFill>
            <a:blip r:embed="rId2"/>
            <a:stretch>
              <a:fillRect/>
            </a:stretch>
          </p:blipFill>
          <p:spPr>
            <a:xfrm>
              <a:off x="7652388" y="1306448"/>
              <a:ext cx="3387905" cy="1056443"/>
            </a:xfrm>
            <a:prstGeom prst="rect">
              <a:avLst/>
            </a:prstGeom>
          </p:spPr>
        </p:pic>
        <p:pic>
          <p:nvPicPr>
            <p:cNvPr id="11" name="Picture 10">
              <a:extLst>
                <a:ext uri="{FF2B5EF4-FFF2-40B4-BE49-F238E27FC236}">
                  <a16:creationId xmlns:a16="http://schemas.microsoft.com/office/drawing/2014/main" id="{3ADB64A7-B1A3-C1E2-B1E2-C40C414DB344}"/>
                </a:ext>
              </a:extLst>
            </p:cNvPr>
            <p:cNvPicPr>
              <a:picLocks noChangeAspect="1"/>
            </p:cNvPicPr>
            <p:nvPr/>
          </p:nvPicPr>
          <p:blipFill>
            <a:blip r:embed="rId3"/>
            <a:stretch>
              <a:fillRect/>
            </a:stretch>
          </p:blipFill>
          <p:spPr>
            <a:xfrm>
              <a:off x="8176165" y="2571269"/>
              <a:ext cx="3683189" cy="800141"/>
            </a:xfrm>
            <a:prstGeom prst="rect">
              <a:avLst/>
            </a:prstGeom>
          </p:spPr>
        </p:pic>
        <p:pic>
          <p:nvPicPr>
            <p:cNvPr id="14" name="Picture 13">
              <a:extLst>
                <a:ext uri="{FF2B5EF4-FFF2-40B4-BE49-F238E27FC236}">
                  <a16:creationId xmlns:a16="http://schemas.microsoft.com/office/drawing/2014/main" id="{C2C4E8E0-2E0B-F4F6-1D94-DCF3F70DD1D3}"/>
                </a:ext>
              </a:extLst>
            </p:cNvPr>
            <p:cNvPicPr>
              <a:picLocks noChangeAspect="1"/>
            </p:cNvPicPr>
            <p:nvPr/>
          </p:nvPicPr>
          <p:blipFill>
            <a:blip r:embed="rId4"/>
            <a:stretch>
              <a:fillRect/>
            </a:stretch>
          </p:blipFill>
          <p:spPr>
            <a:xfrm>
              <a:off x="7539285" y="2538205"/>
              <a:ext cx="681714" cy="833205"/>
            </a:xfrm>
            <a:prstGeom prst="rect">
              <a:avLst/>
            </a:prstGeom>
          </p:spPr>
        </p:pic>
      </p:grpSp>
      <p:pic>
        <p:nvPicPr>
          <p:cNvPr id="9" name="Picture 8" descr="A screenshot of a computer code&#10;&#10;AI-generated content may be incorrect.">
            <a:extLst>
              <a:ext uri="{FF2B5EF4-FFF2-40B4-BE49-F238E27FC236}">
                <a16:creationId xmlns:a16="http://schemas.microsoft.com/office/drawing/2014/main" id="{98A9BC2F-6200-4805-493E-71222738A4B1}"/>
              </a:ext>
            </a:extLst>
          </p:cNvPr>
          <p:cNvPicPr>
            <a:picLocks noChangeAspect="1"/>
          </p:cNvPicPr>
          <p:nvPr/>
        </p:nvPicPr>
        <p:blipFill>
          <a:blip r:embed="rId5"/>
          <a:stretch>
            <a:fillRect/>
          </a:stretch>
        </p:blipFill>
        <p:spPr>
          <a:xfrm>
            <a:off x="322486" y="1290517"/>
            <a:ext cx="7792242" cy="5169996"/>
          </a:xfrm>
          <a:prstGeom prst="rect">
            <a:avLst/>
          </a:prstGeom>
          <a:ln>
            <a:solidFill>
              <a:schemeClr val="bg1">
                <a:lumMod val="85000"/>
              </a:schemeClr>
            </a:solidFill>
          </a:ln>
        </p:spPr>
      </p:pic>
    </p:spTree>
    <p:extLst>
      <p:ext uri="{BB962C8B-B14F-4D97-AF65-F5344CB8AC3E}">
        <p14:creationId xmlns:p14="http://schemas.microsoft.com/office/powerpoint/2010/main" val="3860339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Exception Handling Overview</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1016000" y="1012400"/>
            <a:ext cx="10830560" cy="5672880"/>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u="none" strike="noStrike" baseline="0" dirty="0">
                <a:solidFill>
                  <a:srgbClr val="000000"/>
                </a:solidFill>
                <a:latin typeface="TimesLTStd-Roman"/>
              </a:rPr>
              <a:t>The value thrown in the previous code,  							</a:t>
            </a:r>
            <a:r>
              <a:rPr lang="en-US" sz="2400" b="1" u="none" strike="noStrike" baseline="0" dirty="0">
                <a:solidFill>
                  <a:srgbClr val="00B0F0"/>
                </a:solidFill>
                <a:latin typeface="Courier New" panose="02070309020205020404" pitchFamily="49" charset="0"/>
                <a:cs typeface="Courier New" panose="02070309020205020404" pitchFamily="49" charset="0"/>
              </a:rPr>
              <a:t>new </a:t>
            </a:r>
            <a:r>
              <a:rPr lang="en-US" sz="2400" b="1" u="none" strike="noStrike" baseline="0" dirty="0" err="1">
                <a:solidFill>
                  <a:srgbClr val="00B0F0"/>
                </a:solidFill>
                <a:latin typeface="Courier New" panose="02070309020205020404" pitchFamily="49" charset="0"/>
                <a:cs typeface="Courier New" panose="02070309020205020404" pitchFamily="49" charset="0"/>
              </a:rPr>
              <a:t>ArithmeticException</a:t>
            </a:r>
            <a:r>
              <a:rPr lang="en-US" sz="2400" b="1" u="none" strike="noStrike" baseline="0" dirty="0">
                <a:solidFill>
                  <a:srgbClr val="00B0F0"/>
                </a:solidFill>
                <a:latin typeface="Courier New" panose="02070309020205020404" pitchFamily="49" charset="0"/>
                <a:cs typeface="Courier New" panose="02070309020205020404" pitchFamily="49" charset="0"/>
              </a:rPr>
              <a:t>("Divisor cannot be zero")    </a:t>
            </a:r>
            <a:r>
              <a:rPr lang="en-US" sz="2400" u="none" strike="noStrike" baseline="0" dirty="0">
                <a:solidFill>
                  <a:srgbClr val="000000"/>
                </a:solidFill>
                <a:latin typeface="TimesLTStd-Roman"/>
              </a:rPr>
              <a:t>is called an </a:t>
            </a:r>
            <a:r>
              <a:rPr lang="en-US" sz="2400" b="1" i="1" u="none" strike="noStrike" baseline="0" dirty="0">
                <a:solidFill>
                  <a:srgbClr val="000000"/>
                </a:solidFill>
                <a:latin typeface="TimesLTStd-Roman"/>
              </a:rPr>
              <a:t>exception</a:t>
            </a:r>
            <a:r>
              <a:rPr lang="en-US" sz="2400" u="none" strike="noStrike" baseline="0" dirty="0">
                <a:solidFill>
                  <a:srgbClr val="000000"/>
                </a:solidFill>
                <a:latin typeface="TimesLTStd-Roman"/>
              </a:rPr>
              <a:t>.</a:t>
            </a:r>
          </a:p>
          <a:p>
            <a:r>
              <a:rPr lang="en-US" sz="2400" u="none" strike="noStrike" baseline="0" dirty="0">
                <a:solidFill>
                  <a:srgbClr val="000000"/>
                </a:solidFill>
                <a:latin typeface="TimesLTStd-Roman"/>
              </a:rPr>
              <a:t>The execution of a </a:t>
            </a:r>
            <a:r>
              <a:rPr lang="en-US" sz="2400" b="1" u="none" strike="noStrike" baseline="0" dirty="0">
                <a:solidFill>
                  <a:srgbClr val="00B0F0"/>
                </a:solidFill>
                <a:latin typeface="Courier New" panose="02070309020205020404" pitchFamily="49" charset="0"/>
                <a:cs typeface="Courier New" panose="02070309020205020404" pitchFamily="49" charset="0"/>
              </a:rPr>
              <a:t>throw</a:t>
            </a:r>
            <a:r>
              <a:rPr lang="en-US" sz="2400" u="none" strike="noStrike" baseline="0" dirty="0">
                <a:solidFill>
                  <a:srgbClr val="000000"/>
                </a:solidFill>
                <a:latin typeface="TimesLTStd-Roman"/>
              </a:rPr>
              <a:t> statement is called </a:t>
            </a:r>
            <a:r>
              <a:rPr lang="en-US" sz="2400" b="1" i="1" u="none" strike="noStrike" baseline="0" dirty="0">
                <a:solidFill>
                  <a:srgbClr val="000000"/>
                </a:solidFill>
                <a:latin typeface="TimesLTStd-Roman"/>
              </a:rPr>
              <a:t>throwing an exception.</a:t>
            </a:r>
          </a:p>
          <a:p>
            <a:r>
              <a:rPr lang="en-US" sz="2400" u="none" strike="noStrike" baseline="0" dirty="0">
                <a:solidFill>
                  <a:srgbClr val="000000"/>
                </a:solidFill>
                <a:latin typeface="TimesLTStd-Roman"/>
              </a:rPr>
              <a:t>The exception is an object created from an exception class. </a:t>
            </a:r>
            <a:endParaRPr lang="en-US" sz="2400" dirty="0">
              <a:solidFill>
                <a:srgbClr val="000000"/>
              </a:solidFill>
              <a:latin typeface="TimesLTStd-Roman"/>
            </a:endParaRPr>
          </a:p>
          <a:p>
            <a:r>
              <a:rPr lang="en-US" sz="2400" u="none" strike="noStrike" baseline="0" dirty="0">
                <a:solidFill>
                  <a:srgbClr val="000000"/>
                </a:solidFill>
                <a:latin typeface="TimesLTStd-Roman"/>
              </a:rPr>
              <a:t>In this case, the exception class is </a:t>
            </a:r>
            <a:r>
              <a:rPr lang="en-US" sz="2400" b="1" u="none" strike="noStrike" baseline="0" dirty="0" err="1">
                <a:solidFill>
                  <a:srgbClr val="00B0F0"/>
                </a:solidFill>
                <a:latin typeface="Courier New" panose="02070309020205020404" pitchFamily="49" charset="0"/>
                <a:cs typeface="Courier New" panose="02070309020205020404" pitchFamily="49" charset="0"/>
              </a:rPr>
              <a:t>java.lang.ArithmeticException</a:t>
            </a:r>
            <a:r>
              <a:rPr lang="en-US" sz="2400" b="1" u="none" strike="noStrike" baseline="0" dirty="0">
                <a:solidFill>
                  <a:srgbClr val="00B0F0"/>
                </a:solidFill>
                <a:latin typeface="TimesLTStd-Roman"/>
              </a:rPr>
              <a:t>.</a:t>
            </a:r>
          </a:p>
          <a:p>
            <a:r>
              <a:rPr lang="en-US" sz="2400" u="none" strike="noStrike" baseline="0" dirty="0">
                <a:solidFill>
                  <a:srgbClr val="000000"/>
                </a:solidFill>
                <a:latin typeface="TimesLTStd-Roman"/>
              </a:rPr>
              <a:t>When an exception is thrown, the normal execution flow is interrupted. </a:t>
            </a:r>
          </a:p>
          <a:p>
            <a:r>
              <a:rPr lang="en-US" sz="2400" u="none" strike="noStrike" baseline="0" dirty="0">
                <a:solidFill>
                  <a:srgbClr val="000000"/>
                </a:solidFill>
                <a:latin typeface="TimesLTStd-Roman"/>
              </a:rPr>
              <a:t>As the name suggests, to “throw an exception” is to pass the exception object from one place to another.</a:t>
            </a:r>
          </a:p>
        </p:txBody>
      </p:sp>
    </p:spTree>
    <p:extLst>
      <p:ext uri="{BB962C8B-B14F-4D97-AF65-F5344CB8AC3E}">
        <p14:creationId xmlns:p14="http://schemas.microsoft.com/office/powerpoint/2010/main" val="4168933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Exception Handling Overview</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1016000" y="1012400"/>
            <a:ext cx="10830560" cy="5672880"/>
          </a:xfrm>
          <a:prstGeom prst="rect">
            <a:avLst/>
          </a:prstGeom>
          <a:ln>
            <a:no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u="none" strike="noStrike" baseline="0" dirty="0">
                <a:solidFill>
                  <a:srgbClr val="000000"/>
                </a:solidFill>
                <a:latin typeface="TimesLTStd-Roman"/>
              </a:rPr>
              <a:t>The statement for invoking the method is contained in a </a:t>
            </a:r>
            <a:r>
              <a:rPr lang="en-US" sz="2400" b="1" u="none" strike="noStrike" baseline="0" dirty="0">
                <a:solidFill>
                  <a:srgbClr val="00B0F0"/>
                </a:solidFill>
                <a:latin typeface="TimesLTStd-Roman"/>
              </a:rPr>
              <a:t>try</a:t>
            </a:r>
            <a:r>
              <a:rPr lang="en-US" sz="2400" u="none" strike="noStrike" baseline="0" dirty="0">
                <a:solidFill>
                  <a:srgbClr val="000000"/>
                </a:solidFill>
                <a:latin typeface="TimesLTStd-Roman"/>
              </a:rPr>
              <a:t> block and a </a:t>
            </a:r>
            <a:r>
              <a:rPr lang="en-US" sz="2400" b="1" u="none" strike="noStrike" baseline="0" dirty="0">
                <a:solidFill>
                  <a:srgbClr val="00B0F0"/>
                </a:solidFill>
                <a:latin typeface="TimesLTStd-Roman"/>
              </a:rPr>
              <a:t>catch</a:t>
            </a:r>
            <a:r>
              <a:rPr lang="en-US" sz="2400" u="none" strike="noStrike" baseline="0" dirty="0">
                <a:solidFill>
                  <a:srgbClr val="000000"/>
                </a:solidFill>
                <a:latin typeface="TimesLTStd-Roman"/>
              </a:rPr>
              <a:t> block. </a:t>
            </a:r>
          </a:p>
          <a:p>
            <a:r>
              <a:rPr lang="en-US" sz="2400" u="none" strike="noStrike" baseline="0" dirty="0">
                <a:solidFill>
                  <a:srgbClr val="000000"/>
                </a:solidFill>
                <a:latin typeface="TimesLTStd-Roman"/>
              </a:rPr>
              <a:t>The try block (lines 19–23) contains the code that is executed in normal circumstances. </a:t>
            </a:r>
          </a:p>
          <a:p>
            <a:r>
              <a:rPr lang="en-US" sz="2400" u="none" strike="noStrike" baseline="0" dirty="0">
                <a:solidFill>
                  <a:srgbClr val="000000"/>
                </a:solidFill>
                <a:latin typeface="TimesLTStd-Roman"/>
              </a:rPr>
              <a:t>The </a:t>
            </a:r>
            <a:r>
              <a:rPr lang="en-US" sz="2400" b="1" i="1" u="none" strike="noStrike" baseline="0" dirty="0">
                <a:solidFill>
                  <a:srgbClr val="000000"/>
                </a:solidFill>
                <a:latin typeface="TimesLTStd-Roman"/>
              </a:rPr>
              <a:t>exception is caught by the catch block</a:t>
            </a:r>
            <a:r>
              <a:rPr lang="en-US" sz="2400" u="none" strike="noStrike" baseline="0" dirty="0">
                <a:solidFill>
                  <a:srgbClr val="000000"/>
                </a:solidFill>
                <a:latin typeface="TimesLTStd-Roman"/>
              </a:rPr>
              <a:t>. </a:t>
            </a:r>
          </a:p>
          <a:p>
            <a:r>
              <a:rPr lang="en-US" sz="2400" u="none" strike="noStrike" baseline="0" dirty="0">
                <a:solidFill>
                  <a:srgbClr val="000000"/>
                </a:solidFill>
                <a:latin typeface="TimesLTStd-Roman"/>
              </a:rPr>
              <a:t>The code in the </a:t>
            </a:r>
            <a:r>
              <a:rPr lang="en-US" sz="2400" b="1" u="none" strike="noStrike" baseline="0" dirty="0">
                <a:solidFill>
                  <a:srgbClr val="00B0F0"/>
                </a:solidFill>
                <a:latin typeface="TimesLTStd-Roman"/>
              </a:rPr>
              <a:t>catch</a:t>
            </a:r>
            <a:r>
              <a:rPr lang="en-US" sz="2400" u="none" strike="noStrike" baseline="0" dirty="0">
                <a:solidFill>
                  <a:srgbClr val="000000"/>
                </a:solidFill>
                <a:latin typeface="TimesLTStd-Roman"/>
              </a:rPr>
              <a:t> block is executed to </a:t>
            </a:r>
            <a:r>
              <a:rPr lang="en-US" sz="2400" b="1" i="1" u="none" strike="noStrike" baseline="0" dirty="0">
                <a:solidFill>
                  <a:srgbClr val="000000"/>
                </a:solidFill>
                <a:latin typeface="TimesLTStd-Roman"/>
              </a:rPr>
              <a:t>handle the exception.</a:t>
            </a:r>
          </a:p>
          <a:p>
            <a:r>
              <a:rPr lang="en-US" sz="2400" u="none" strike="noStrike" baseline="0" dirty="0">
                <a:solidFill>
                  <a:srgbClr val="000000"/>
                </a:solidFill>
                <a:latin typeface="TimesLTStd-Roman"/>
              </a:rPr>
              <a:t>Afterward, the statement (line 29) after the catch block is executed.</a:t>
            </a:r>
            <a:endParaRPr lang="en-US" sz="2400" b="1" i="1" u="none" strike="noStrike" baseline="0" dirty="0">
              <a:solidFill>
                <a:srgbClr val="000000"/>
              </a:solidFill>
              <a:latin typeface="TimesLTStd-Roman"/>
            </a:endParaRPr>
          </a:p>
          <a:p>
            <a:r>
              <a:rPr lang="en-US" sz="2400" u="none" strike="noStrike" baseline="0" dirty="0">
                <a:solidFill>
                  <a:srgbClr val="000000"/>
                </a:solidFill>
                <a:latin typeface="TimesLTStd-Roman"/>
              </a:rPr>
              <a:t>The identifier </a:t>
            </a:r>
            <a:r>
              <a:rPr lang="en-US" sz="2400" b="1" u="none" strike="noStrike" baseline="0" dirty="0">
                <a:solidFill>
                  <a:srgbClr val="00B0F0"/>
                </a:solidFill>
                <a:latin typeface="TimesLTStd-Roman"/>
              </a:rPr>
              <a:t>ex</a:t>
            </a:r>
            <a:r>
              <a:rPr lang="en-US" sz="2400" u="none" strike="noStrike" baseline="0" dirty="0">
                <a:solidFill>
                  <a:srgbClr val="000000"/>
                </a:solidFill>
                <a:latin typeface="TimesLTStd-Roman"/>
              </a:rPr>
              <a:t> in the </a:t>
            </a:r>
            <a:r>
              <a:rPr lang="en-US" sz="2400" b="1" u="none" strike="noStrike" baseline="0" dirty="0">
                <a:solidFill>
                  <a:srgbClr val="00B0F0"/>
                </a:solidFill>
                <a:latin typeface="TimesLTStd-Roman"/>
              </a:rPr>
              <a:t>catch</a:t>
            </a:r>
            <a:r>
              <a:rPr lang="en-US" sz="2400" u="none" strike="noStrike" baseline="0" dirty="0">
                <a:solidFill>
                  <a:srgbClr val="000000"/>
                </a:solidFill>
                <a:latin typeface="TimesLTStd-Roman"/>
              </a:rPr>
              <a:t>–block header                                                                     </a:t>
            </a:r>
            <a:r>
              <a:rPr lang="en-US" sz="2400" b="1" dirty="0">
                <a:solidFill>
                  <a:srgbClr val="7F0055"/>
                </a:solidFill>
                <a:effectLst/>
                <a:latin typeface="Courier New" panose="02070309020205020404" pitchFamily="49" charset="0"/>
              </a:rPr>
              <a:t>catch</a:t>
            </a:r>
            <a:r>
              <a:rPr lang="en-US" sz="2400" dirty="0">
                <a:solidFill>
                  <a:srgbClr val="000000"/>
                </a:solidFill>
                <a:effectLst/>
                <a:latin typeface="Courier New" panose="02070309020205020404" pitchFamily="49" charset="0"/>
              </a:rPr>
              <a:t> (</a:t>
            </a:r>
            <a:r>
              <a:rPr lang="en-US" sz="2400" dirty="0" err="1">
                <a:solidFill>
                  <a:srgbClr val="000000"/>
                </a:solidFill>
                <a:effectLst/>
                <a:latin typeface="Courier New" panose="02070309020205020404" pitchFamily="49" charset="0"/>
              </a:rPr>
              <a:t>ArithmeticException</a:t>
            </a:r>
            <a:r>
              <a:rPr lang="en-US" sz="2400" dirty="0">
                <a:solidFill>
                  <a:srgbClr val="000000"/>
                </a:solidFill>
                <a:effectLst/>
                <a:latin typeface="Courier New" panose="02070309020205020404" pitchFamily="49" charset="0"/>
              </a:rPr>
              <a:t> ex)</a:t>
            </a:r>
            <a:r>
              <a:rPr lang="en-US" sz="2400" u="none" strike="noStrike" baseline="0" dirty="0">
                <a:solidFill>
                  <a:srgbClr val="000000"/>
                </a:solidFill>
                <a:latin typeface="TimesLTStd-Roman"/>
              </a:rPr>
              <a:t>acts very much like a parameter in a method. </a:t>
            </a:r>
          </a:p>
          <a:p>
            <a:r>
              <a:rPr lang="en-US" sz="2400" u="none" strike="noStrike" baseline="0" dirty="0">
                <a:solidFill>
                  <a:srgbClr val="000000"/>
                </a:solidFill>
                <a:latin typeface="TimesLTStd-Roman"/>
              </a:rPr>
              <a:t>Thus, this parameter is referred to as a </a:t>
            </a:r>
            <a:r>
              <a:rPr lang="en-US" sz="2400" b="1" i="1" u="none" strike="noStrike" baseline="0" dirty="0">
                <a:solidFill>
                  <a:srgbClr val="000000"/>
                </a:solidFill>
                <a:latin typeface="TimesLTStd-Roman"/>
              </a:rPr>
              <a:t>catch–block parameter. </a:t>
            </a:r>
          </a:p>
          <a:p>
            <a:r>
              <a:rPr lang="en-US" sz="2400" u="none" strike="noStrike" baseline="0" dirty="0">
                <a:solidFill>
                  <a:srgbClr val="000000"/>
                </a:solidFill>
                <a:latin typeface="TimesLTStd-Roman"/>
              </a:rPr>
              <a:t>The type (e.g., </a:t>
            </a:r>
            <a:r>
              <a:rPr lang="en-US" sz="2400" b="1" u="none" strike="noStrike" baseline="0" dirty="0" err="1">
                <a:solidFill>
                  <a:srgbClr val="00B0F0"/>
                </a:solidFill>
                <a:latin typeface="Courier New" panose="02070309020205020404" pitchFamily="49" charset="0"/>
                <a:cs typeface="Courier New" panose="02070309020205020404" pitchFamily="49" charset="0"/>
              </a:rPr>
              <a:t>ArithmeticException</a:t>
            </a:r>
            <a:r>
              <a:rPr lang="en-US" sz="2400" u="none" strike="noStrike" baseline="0" dirty="0">
                <a:solidFill>
                  <a:srgbClr val="000000"/>
                </a:solidFill>
                <a:latin typeface="TimesLTStd-Roman"/>
              </a:rPr>
              <a:t>) preceding </a:t>
            </a:r>
            <a:r>
              <a:rPr lang="en-US" sz="2400" b="1" u="none" strike="noStrike" baseline="0" dirty="0">
                <a:solidFill>
                  <a:srgbClr val="00B0F0"/>
                </a:solidFill>
                <a:latin typeface="TimesLTStd-Roman"/>
              </a:rPr>
              <a:t>ex</a:t>
            </a:r>
            <a:r>
              <a:rPr lang="en-US" sz="2400" u="none" strike="noStrike" baseline="0" dirty="0">
                <a:solidFill>
                  <a:srgbClr val="000000"/>
                </a:solidFill>
                <a:latin typeface="TimesLTStd-Roman"/>
              </a:rPr>
              <a:t> specifies what kind of exception the catch block can catch. </a:t>
            </a:r>
          </a:p>
          <a:p>
            <a:r>
              <a:rPr lang="en-US" sz="2400" u="none" strike="noStrike" baseline="0" dirty="0">
                <a:solidFill>
                  <a:srgbClr val="000000"/>
                </a:solidFill>
                <a:latin typeface="TimesLTStd-Roman"/>
              </a:rPr>
              <a:t>Once the exception is caught, you can access the thrown object from this parameter in the body of a catch block.</a:t>
            </a:r>
            <a:endParaRPr lang="en-US" sz="2400" b="1" i="1" u="none" strike="noStrike" baseline="0" dirty="0">
              <a:solidFill>
                <a:srgbClr val="000000"/>
              </a:solidFill>
              <a:latin typeface="TimesLTStd-Roman"/>
            </a:endParaRPr>
          </a:p>
        </p:txBody>
      </p:sp>
    </p:spTree>
    <p:extLst>
      <p:ext uri="{BB962C8B-B14F-4D97-AF65-F5344CB8AC3E}">
        <p14:creationId xmlns:p14="http://schemas.microsoft.com/office/powerpoint/2010/main" val="3833470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Exception Handling Overview</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833120" y="3982720"/>
            <a:ext cx="10830560" cy="2783840"/>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i="1" u="none" strike="noStrike" baseline="0" dirty="0">
                <a:solidFill>
                  <a:srgbClr val="000000"/>
                </a:solidFill>
                <a:latin typeface="TimesLTStd-Roman"/>
              </a:rPr>
              <a:t>An exception may be thrown directly by using a throw statement in a try block, or by invoking a method that may throw an exception.</a:t>
            </a:r>
          </a:p>
          <a:p>
            <a:r>
              <a:rPr lang="en-US" sz="2400" u="none" strike="noStrike" baseline="0" dirty="0">
                <a:solidFill>
                  <a:srgbClr val="000000"/>
                </a:solidFill>
                <a:latin typeface="TimesLTStd-Roman"/>
              </a:rPr>
              <a:t>The advantage of using exception handling: </a:t>
            </a:r>
            <a:r>
              <a:rPr lang="en-US" sz="2400" b="1" i="1" u="none" strike="noStrike" baseline="0" dirty="0">
                <a:solidFill>
                  <a:srgbClr val="000000"/>
                </a:solidFill>
                <a:latin typeface="TimesLTStd-Roman"/>
              </a:rPr>
              <a:t>it enables a method to throw an exception to its caller, enabling the caller to handle the exception. </a:t>
            </a:r>
          </a:p>
          <a:p>
            <a:r>
              <a:rPr lang="en-US" sz="2400" u="none" strike="noStrike" baseline="0" dirty="0">
                <a:solidFill>
                  <a:srgbClr val="000000"/>
                </a:solidFill>
                <a:latin typeface="TimesLTStd-Roman"/>
              </a:rPr>
              <a:t>Without this capability, the called method itself must handle the exception or terminate the program. </a:t>
            </a:r>
          </a:p>
        </p:txBody>
      </p:sp>
      <p:pic>
        <p:nvPicPr>
          <p:cNvPr id="3" name="Picture 2">
            <a:extLst>
              <a:ext uri="{FF2B5EF4-FFF2-40B4-BE49-F238E27FC236}">
                <a16:creationId xmlns:a16="http://schemas.microsoft.com/office/drawing/2014/main" id="{8BE81410-26C5-D130-F507-FDF9FEC471E7}"/>
              </a:ext>
            </a:extLst>
          </p:cNvPr>
          <p:cNvPicPr>
            <a:picLocks noChangeAspect="1"/>
          </p:cNvPicPr>
          <p:nvPr/>
        </p:nvPicPr>
        <p:blipFill>
          <a:blip r:embed="rId2"/>
          <a:stretch>
            <a:fillRect/>
          </a:stretch>
        </p:blipFill>
        <p:spPr>
          <a:xfrm>
            <a:off x="2016982" y="850571"/>
            <a:ext cx="8158036" cy="2895600"/>
          </a:xfrm>
          <a:prstGeom prst="rect">
            <a:avLst/>
          </a:prstGeom>
          <a:ln>
            <a:solidFill>
              <a:schemeClr val="bg1">
                <a:lumMod val="85000"/>
              </a:schemeClr>
            </a:solidFill>
          </a:ln>
        </p:spPr>
      </p:pic>
    </p:spTree>
    <p:extLst>
      <p:ext uri="{BB962C8B-B14F-4D97-AF65-F5344CB8AC3E}">
        <p14:creationId xmlns:p14="http://schemas.microsoft.com/office/powerpoint/2010/main" val="3956493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Exception Handling Overview</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693135" y="1071879"/>
            <a:ext cx="4539265" cy="5643879"/>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u="none" strike="noStrike" baseline="0" dirty="0">
                <a:solidFill>
                  <a:srgbClr val="000000"/>
                </a:solidFill>
                <a:latin typeface="TimesLTStd-Roman"/>
              </a:rPr>
              <a:t>Often the called method does not know what to do in case of error.  </a:t>
            </a:r>
          </a:p>
          <a:p>
            <a:r>
              <a:rPr lang="en-US" sz="2100" u="none" strike="noStrike" baseline="0" dirty="0">
                <a:solidFill>
                  <a:srgbClr val="000000"/>
                </a:solidFill>
                <a:latin typeface="TimesLTStd-Roman"/>
              </a:rPr>
              <a:t>This is typically the case for the </a:t>
            </a:r>
            <a:r>
              <a:rPr lang="en-US" sz="2100" b="1" i="1" u="none" strike="noStrike" baseline="0" dirty="0">
                <a:solidFill>
                  <a:srgbClr val="000000"/>
                </a:solidFill>
                <a:latin typeface="TimesLTStd-Roman"/>
              </a:rPr>
              <a:t>library methods</a:t>
            </a:r>
            <a:r>
              <a:rPr lang="en-US" sz="2100" u="none" strike="noStrike" baseline="0" dirty="0">
                <a:solidFill>
                  <a:srgbClr val="000000"/>
                </a:solidFill>
                <a:latin typeface="TimesLTStd-Roman"/>
              </a:rPr>
              <a:t>. The library method can detect the error, but only the caller knows what needs to be done when an error occurs. </a:t>
            </a:r>
          </a:p>
          <a:p>
            <a:r>
              <a:rPr lang="en-US" sz="2100" b="1" i="1" u="none" strike="noStrike" baseline="0" dirty="0">
                <a:solidFill>
                  <a:srgbClr val="000000"/>
                </a:solidFill>
                <a:latin typeface="TimesLTStd-Roman"/>
              </a:rPr>
              <a:t>The key benefit of exception handling is separating the detection of an error (done in a called method) from the handling of an error (done in the calling method).</a:t>
            </a:r>
          </a:p>
          <a:p>
            <a:r>
              <a:rPr lang="en-US" sz="2100" u="none" strike="noStrike" baseline="0" dirty="0">
                <a:solidFill>
                  <a:srgbClr val="000000"/>
                </a:solidFill>
                <a:latin typeface="TimesLTStd-Roman"/>
              </a:rPr>
              <a:t>In Listing 12.5, the statement </a:t>
            </a:r>
            <a:r>
              <a:rPr lang="en-US" sz="2100" b="1" u="none" strike="noStrike" baseline="0" dirty="0" err="1">
                <a:solidFill>
                  <a:srgbClr val="00B0F0"/>
                </a:solidFill>
                <a:latin typeface="TimesLTStd-Roman"/>
              </a:rPr>
              <a:t>input.nextLine</a:t>
            </a:r>
            <a:r>
              <a:rPr lang="en-US" sz="2100" b="1" u="none" strike="noStrike" baseline="0" dirty="0">
                <a:solidFill>
                  <a:srgbClr val="00B0F0"/>
                </a:solidFill>
                <a:latin typeface="TimesLTStd-Roman"/>
              </a:rPr>
              <a:t>()</a:t>
            </a:r>
            <a:r>
              <a:rPr lang="en-US" sz="2100" u="none" strike="noStrike" baseline="0" dirty="0">
                <a:solidFill>
                  <a:srgbClr val="000000"/>
                </a:solidFill>
                <a:latin typeface="TimesLTStd-Roman"/>
              </a:rPr>
              <a:t> in line 22 discards the current input line so that the user can enter a new line of input.</a:t>
            </a:r>
          </a:p>
        </p:txBody>
      </p:sp>
      <p:pic>
        <p:nvPicPr>
          <p:cNvPr id="4" name="Picture 3">
            <a:extLst>
              <a:ext uri="{FF2B5EF4-FFF2-40B4-BE49-F238E27FC236}">
                <a16:creationId xmlns:a16="http://schemas.microsoft.com/office/drawing/2014/main" id="{C6E650AD-9F4E-76B5-7217-D68290791EF9}"/>
              </a:ext>
            </a:extLst>
          </p:cNvPr>
          <p:cNvPicPr>
            <a:picLocks noChangeAspect="1"/>
          </p:cNvPicPr>
          <p:nvPr/>
        </p:nvPicPr>
        <p:blipFill>
          <a:blip r:embed="rId2"/>
          <a:stretch>
            <a:fillRect/>
          </a:stretch>
        </p:blipFill>
        <p:spPr>
          <a:xfrm>
            <a:off x="5354320" y="686181"/>
            <a:ext cx="6654957" cy="6079581"/>
          </a:xfrm>
          <a:prstGeom prst="rect">
            <a:avLst/>
          </a:prstGeom>
          <a:ln>
            <a:solidFill>
              <a:schemeClr val="bg1">
                <a:lumMod val="85000"/>
              </a:schemeClr>
            </a:solidFill>
          </a:ln>
        </p:spPr>
      </p:pic>
    </p:spTree>
    <p:extLst>
      <p:ext uri="{BB962C8B-B14F-4D97-AF65-F5344CB8AC3E}">
        <p14:creationId xmlns:p14="http://schemas.microsoft.com/office/powerpoint/2010/main" val="2406477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Exception Types</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1254473" y="762001"/>
            <a:ext cx="10337801" cy="2387600"/>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u="none" strike="noStrike" baseline="0" dirty="0">
                <a:solidFill>
                  <a:srgbClr val="000000"/>
                </a:solidFill>
                <a:latin typeface="TimesLTStd-Roman"/>
              </a:rPr>
              <a:t>Exceptions are objects, and objects are defined using classes. The </a:t>
            </a:r>
            <a:r>
              <a:rPr lang="en-US" sz="2000" b="1" i="1" u="none" strike="noStrike" baseline="0" dirty="0">
                <a:solidFill>
                  <a:srgbClr val="000000"/>
                </a:solidFill>
                <a:latin typeface="TimesLTStd-Roman"/>
              </a:rPr>
              <a:t>root class</a:t>
            </a:r>
            <a:r>
              <a:rPr lang="en-US" sz="2000" u="none" strike="noStrike" baseline="0" dirty="0">
                <a:solidFill>
                  <a:srgbClr val="000000"/>
                </a:solidFill>
                <a:latin typeface="TimesLTStd-Roman"/>
              </a:rPr>
              <a:t> for exceptions is </a:t>
            </a:r>
            <a:r>
              <a:rPr lang="en-US" sz="2000" b="1" u="none" strike="noStrike" baseline="0" dirty="0" err="1">
                <a:solidFill>
                  <a:srgbClr val="00B0F0"/>
                </a:solidFill>
                <a:latin typeface="TimesLTStd-Roman"/>
              </a:rPr>
              <a:t>java.lang.Throwable</a:t>
            </a:r>
            <a:r>
              <a:rPr lang="en-US" sz="2000" b="1" u="none" strike="noStrike" baseline="0" dirty="0">
                <a:latin typeface="TimesLTStd-Roman"/>
              </a:rPr>
              <a:t>.</a:t>
            </a:r>
          </a:p>
          <a:p>
            <a:pPr algn="l"/>
            <a:r>
              <a:rPr lang="en-US" sz="2000" b="0" i="0" u="none" strike="noStrike" baseline="0" dirty="0">
                <a:solidFill>
                  <a:srgbClr val="000000"/>
                </a:solidFill>
                <a:latin typeface="TimesLTStd-Roman"/>
              </a:rPr>
              <a:t>All Java exception classes inherit directly or indirectly from </a:t>
            </a:r>
            <a:r>
              <a:rPr lang="en-US" sz="2000" b="1" i="0" u="none" strike="noStrike" baseline="0" dirty="0">
                <a:solidFill>
                  <a:srgbClr val="00AFF0"/>
                </a:solidFill>
                <a:latin typeface="LucidaSansTypewriterStd-Bd"/>
              </a:rPr>
              <a:t>Throwable</a:t>
            </a:r>
            <a:r>
              <a:rPr lang="en-US" sz="2000" b="0" i="0" u="none" strike="noStrike" baseline="0" dirty="0">
                <a:solidFill>
                  <a:srgbClr val="000000"/>
                </a:solidFill>
                <a:latin typeface="TimesLTStd-Roman"/>
              </a:rPr>
              <a:t>. </a:t>
            </a:r>
          </a:p>
          <a:p>
            <a:pPr algn="l"/>
            <a:r>
              <a:rPr lang="en-US" sz="2000" b="0" i="0" u="none" strike="noStrike" baseline="0" dirty="0">
                <a:solidFill>
                  <a:srgbClr val="000000"/>
                </a:solidFill>
                <a:latin typeface="TimesLTStd-Roman"/>
              </a:rPr>
              <a:t>You can create your own exception classes by extending </a:t>
            </a:r>
            <a:r>
              <a:rPr lang="en-US" sz="2000" b="1" i="0" u="none" strike="noStrike" baseline="0" dirty="0">
                <a:solidFill>
                  <a:srgbClr val="00AFF0"/>
                </a:solidFill>
                <a:latin typeface="LucidaSansTypewriterStd-Bd"/>
              </a:rPr>
              <a:t>Exception </a:t>
            </a:r>
            <a:r>
              <a:rPr lang="en-US" sz="2000" b="0" i="0" u="none" strike="noStrike" baseline="0" dirty="0">
                <a:solidFill>
                  <a:srgbClr val="000000"/>
                </a:solidFill>
                <a:latin typeface="TimesLTStd-Roman"/>
              </a:rPr>
              <a:t>or a subclass of </a:t>
            </a:r>
            <a:r>
              <a:rPr lang="en-US" sz="2000" b="1" i="0" u="none" strike="noStrike" baseline="0" dirty="0">
                <a:solidFill>
                  <a:srgbClr val="00AFF0"/>
                </a:solidFill>
                <a:latin typeface="LucidaSansTypewriterStd-Bd"/>
              </a:rPr>
              <a:t>Exception</a:t>
            </a:r>
            <a:r>
              <a:rPr lang="en-US" sz="2000" b="0" i="0" u="none" strike="noStrike" baseline="0" dirty="0">
                <a:solidFill>
                  <a:srgbClr val="000000"/>
                </a:solidFill>
                <a:latin typeface="TimesLTStd-Roman"/>
              </a:rPr>
              <a:t>.</a:t>
            </a:r>
            <a:endParaRPr lang="en-US" sz="2000" b="1" u="none" strike="noStrike" baseline="0" dirty="0">
              <a:latin typeface="TimesLTStd-Roman"/>
            </a:endParaRPr>
          </a:p>
          <a:p>
            <a:r>
              <a:rPr lang="en-US" sz="2000" b="0" i="0" u="none" strike="noStrike" baseline="0" dirty="0">
                <a:latin typeface="TimesLTStd-Roman"/>
              </a:rPr>
              <a:t>There are many predefined exception classes in the Java API.</a:t>
            </a:r>
          </a:p>
        </p:txBody>
      </p:sp>
      <p:pic>
        <p:nvPicPr>
          <p:cNvPr id="3" name="Picture 2">
            <a:extLst>
              <a:ext uri="{FF2B5EF4-FFF2-40B4-BE49-F238E27FC236}">
                <a16:creationId xmlns:a16="http://schemas.microsoft.com/office/drawing/2014/main" id="{A70FF4BC-B497-F81E-AEBB-7C0F7C1C8F94}"/>
              </a:ext>
            </a:extLst>
          </p:cNvPr>
          <p:cNvPicPr>
            <a:picLocks noChangeAspect="1"/>
          </p:cNvPicPr>
          <p:nvPr/>
        </p:nvPicPr>
        <p:blipFill>
          <a:blip r:embed="rId2"/>
          <a:stretch>
            <a:fillRect/>
          </a:stretch>
        </p:blipFill>
        <p:spPr>
          <a:xfrm>
            <a:off x="1254475" y="3230880"/>
            <a:ext cx="8743473" cy="3511999"/>
          </a:xfrm>
          <a:prstGeom prst="rect">
            <a:avLst/>
          </a:prstGeom>
        </p:spPr>
      </p:pic>
    </p:spTree>
    <p:extLst>
      <p:ext uri="{BB962C8B-B14F-4D97-AF65-F5344CB8AC3E}">
        <p14:creationId xmlns:p14="http://schemas.microsoft.com/office/powerpoint/2010/main" val="3698694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More on Exception Handling</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1254473" y="762001"/>
            <a:ext cx="10337801" cy="1818639"/>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i="1" u="none" strike="noStrike" baseline="0" dirty="0">
                <a:solidFill>
                  <a:srgbClr val="000000"/>
                </a:solidFill>
                <a:latin typeface="TimesLTStd-Roman"/>
              </a:rPr>
              <a:t>A handler for an exception is found by propagating the exception backward through a chain of method calls, starting from the current method.</a:t>
            </a:r>
          </a:p>
          <a:p>
            <a:r>
              <a:rPr lang="en-US" sz="2200" b="0" i="0" u="none" strike="noStrike" baseline="0" dirty="0">
                <a:solidFill>
                  <a:srgbClr val="000000"/>
                </a:solidFill>
                <a:latin typeface="TimesLTStd-Roman"/>
              </a:rPr>
              <a:t>Java’s exception-handling model is based on three operations: </a:t>
            </a:r>
            <a:r>
              <a:rPr lang="en-US" sz="2200" b="1" i="1" u="none" strike="noStrike" baseline="0" dirty="0">
                <a:solidFill>
                  <a:srgbClr val="000000"/>
                </a:solidFill>
                <a:latin typeface="TimesLTStd-Roman"/>
              </a:rPr>
              <a:t>declaring an exception, throwing an exception</a:t>
            </a:r>
            <a:r>
              <a:rPr lang="en-US" sz="2200" b="0" i="0" u="none" strike="noStrike" baseline="0" dirty="0">
                <a:solidFill>
                  <a:srgbClr val="000000"/>
                </a:solidFill>
                <a:latin typeface="TimesLTStd-Roman"/>
              </a:rPr>
              <a:t>, and </a:t>
            </a:r>
            <a:r>
              <a:rPr lang="en-US" sz="2200" b="1" i="1" u="none" strike="noStrike" baseline="0" dirty="0">
                <a:solidFill>
                  <a:srgbClr val="000000"/>
                </a:solidFill>
                <a:latin typeface="TimesLTStd-Roman"/>
              </a:rPr>
              <a:t>catching an exception</a:t>
            </a:r>
            <a:r>
              <a:rPr lang="en-US" sz="2200" b="0" i="0" u="none" strike="noStrike" baseline="0" dirty="0">
                <a:solidFill>
                  <a:srgbClr val="000000"/>
                </a:solidFill>
                <a:latin typeface="TimesLTStd-Roman"/>
              </a:rPr>
              <a:t>, as shown in Figure 12.2.</a:t>
            </a:r>
          </a:p>
        </p:txBody>
      </p:sp>
      <p:pic>
        <p:nvPicPr>
          <p:cNvPr id="4" name="Picture 3">
            <a:extLst>
              <a:ext uri="{FF2B5EF4-FFF2-40B4-BE49-F238E27FC236}">
                <a16:creationId xmlns:a16="http://schemas.microsoft.com/office/drawing/2014/main" id="{6EE5A09F-CD6D-861C-327B-EBA97BA49640}"/>
              </a:ext>
            </a:extLst>
          </p:cNvPr>
          <p:cNvPicPr>
            <a:picLocks noChangeAspect="1"/>
          </p:cNvPicPr>
          <p:nvPr/>
        </p:nvPicPr>
        <p:blipFill>
          <a:blip r:embed="rId2"/>
          <a:stretch>
            <a:fillRect/>
          </a:stretch>
        </p:blipFill>
        <p:spPr>
          <a:xfrm>
            <a:off x="641552" y="2728618"/>
            <a:ext cx="11197882" cy="3515359"/>
          </a:xfrm>
          <a:prstGeom prst="rect">
            <a:avLst/>
          </a:prstGeom>
        </p:spPr>
      </p:pic>
    </p:spTree>
    <p:extLst>
      <p:ext uri="{BB962C8B-B14F-4D97-AF65-F5344CB8AC3E}">
        <p14:creationId xmlns:p14="http://schemas.microsoft.com/office/powerpoint/2010/main" val="1182110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More on Exception Handling</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756633" y="1117601"/>
            <a:ext cx="10337801" cy="5232399"/>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b="1" u="none" strike="noStrike" baseline="0" dirty="0">
                <a:solidFill>
                  <a:srgbClr val="000000"/>
                </a:solidFill>
                <a:latin typeface="TimesLTStd-Roman"/>
              </a:rPr>
              <a:t>Declaring Exceptions</a:t>
            </a:r>
          </a:p>
          <a:p>
            <a:r>
              <a:rPr lang="en-US" sz="2200" b="0" i="0" u="none" strike="noStrike" baseline="0" dirty="0">
                <a:solidFill>
                  <a:srgbClr val="000000"/>
                </a:solidFill>
                <a:latin typeface="TimesLTStd-Roman"/>
              </a:rPr>
              <a:t>To declare an exception in a method, use the </a:t>
            </a:r>
            <a:r>
              <a:rPr lang="en-US" sz="2200" b="1" i="0" u="none" strike="noStrike" baseline="0" dirty="0">
                <a:solidFill>
                  <a:srgbClr val="00AFF0"/>
                </a:solidFill>
                <a:latin typeface="LucidaSansTypewriterStd-Bd"/>
              </a:rPr>
              <a:t>throws </a:t>
            </a:r>
            <a:r>
              <a:rPr lang="en-US" sz="2200" b="0" i="0" u="none" strike="noStrike" baseline="0" dirty="0">
                <a:solidFill>
                  <a:srgbClr val="000000"/>
                </a:solidFill>
                <a:latin typeface="TimesLTStd-Roman"/>
              </a:rPr>
              <a:t>keyword in the method header</a:t>
            </a:r>
          </a:p>
          <a:p>
            <a:endParaRPr lang="en-US" sz="2400" dirty="0">
              <a:solidFill>
                <a:srgbClr val="000000"/>
              </a:solidFill>
              <a:latin typeface="TimesLTStd-Roman"/>
            </a:endParaRPr>
          </a:p>
          <a:p>
            <a:pPr algn="l"/>
            <a:endParaRPr lang="en-US" sz="2200" b="0" i="0" u="none" strike="noStrike" baseline="0" dirty="0">
              <a:solidFill>
                <a:srgbClr val="000000"/>
              </a:solidFill>
              <a:latin typeface="TimesLTStd-Roman"/>
            </a:endParaRPr>
          </a:p>
          <a:p>
            <a:pPr algn="l"/>
            <a:r>
              <a:rPr lang="en-US" sz="2200" b="0" i="0" u="none" strike="noStrike" baseline="0" dirty="0">
                <a:solidFill>
                  <a:srgbClr val="000000"/>
                </a:solidFill>
                <a:latin typeface="TimesLTStd-Roman"/>
              </a:rPr>
              <a:t>If the method might throw multiple exceptions, add a list of the exceptions, separated by commas, after </a:t>
            </a:r>
            <a:r>
              <a:rPr lang="en-US" sz="2200" b="1" i="0" u="none" strike="noStrike" baseline="0" dirty="0">
                <a:solidFill>
                  <a:srgbClr val="00AFF0"/>
                </a:solidFill>
                <a:latin typeface="LucidaSansTypewriterStd-Bd"/>
              </a:rPr>
              <a:t>throws</a:t>
            </a:r>
            <a:r>
              <a:rPr lang="en-US" sz="2200" b="0" i="0" u="none" strike="noStrike" baseline="0" dirty="0">
                <a:solidFill>
                  <a:srgbClr val="000000"/>
                </a:solidFill>
                <a:latin typeface="TimesLTStd-Roman"/>
              </a:rPr>
              <a:t>:</a:t>
            </a:r>
          </a:p>
          <a:p>
            <a:pPr algn="l"/>
            <a:endParaRPr lang="en-US" sz="2200" dirty="0">
              <a:solidFill>
                <a:srgbClr val="000000"/>
              </a:solidFill>
              <a:latin typeface="TimesLTStd-Roman"/>
            </a:endParaRPr>
          </a:p>
          <a:p>
            <a:pPr algn="l"/>
            <a:endParaRPr lang="en-US" sz="2200" b="0" i="0" u="none" strike="noStrike" baseline="0" dirty="0">
              <a:solidFill>
                <a:srgbClr val="000000"/>
              </a:solidFill>
              <a:latin typeface="TimesLTStd-Roman"/>
            </a:endParaRPr>
          </a:p>
          <a:p>
            <a:pPr algn="l"/>
            <a:r>
              <a:rPr lang="en-US" sz="2200" b="0" i="0" u="none" strike="noStrike" baseline="0" dirty="0">
                <a:solidFill>
                  <a:srgbClr val="000000"/>
                </a:solidFill>
                <a:latin typeface="TimesLTStd-Roman"/>
              </a:rPr>
              <a:t>Note: If a method does not declare exceptions in the superclass, you cannot override it to declare exceptions in the subclass.</a:t>
            </a:r>
          </a:p>
        </p:txBody>
      </p:sp>
      <p:pic>
        <p:nvPicPr>
          <p:cNvPr id="3" name="Picture 2">
            <a:extLst>
              <a:ext uri="{FF2B5EF4-FFF2-40B4-BE49-F238E27FC236}">
                <a16:creationId xmlns:a16="http://schemas.microsoft.com/office/drawing/2014/main" id="{8DF4C07E-1CAA-1D52-7F91-84A1D020A3A1}"/>
              </a:ext>
            </a:extLst>
          </p:cNvPr>
          <p:cNvPicPr>
            <a:picLocks noChangeAspect="1"/>
          </p:cNvPicPr>
          <p:nvPr/>
        </p:nvPicPr>
        <p:blipFill>
          <a:blip r:embed="rId2"/>
          <a:stretch>
            <a:fillRect/>
          </a:stretch>
        </p:blipFill>
        <p:spPr>
          <a:xfrm>
            <a:off x="1595826" y="2204099"/>
            <a:ext cx="6666891" cy="549261"/>
          </a:xfrm>
          <a:prstGeom prst="rect">
            <a:avLst/>
          </a:prstGeom>
        </p:spPr>
      </p:pic>
      <p:pic>
        <p:nvPicPr>
          <p:cNvPr id="7" name="Picture 6">
            <a:extLst>
              <a:ext uri="{FF2B5EF4-FFF2-40B4-BE49-F238E27FC236}">
                <a16:creationId xmlns:a16="http://schemas.microsoft.com/office/drawing/2014/main" id="{B025DB86-55A9-A3D3-6922-4A53403E5E52}"/>
              </a:ext>
            </a:extLst>
          </p:cNvPr>
          <p:cNvPicPr>
            <a:picLocks noChangeAspect="1"/>
          </p:cNvPicPr>
          <p:nvPr/>
        </p:nvPicPr>
        <p:blipFill>
          <a:blip r:embed="rId3"/>
          <a:stretch>
            <a:fillRect/>
          </a:stretch>
        </p:blipFill>
        <p:spPr>
          <a:xfrm>
            <a:off x="1595826" y="4455196"/>
            <a:ext cx="8025041" cy="726404"/>
          </a:xfrm>
          <a:prstGeom prst="rect">
            <a:avLst/>
          </a:prstGeom>
        </p:spPr>
      </p:pic>
    </p:spTree>
    <p:extLst>
      <p:ext uri="{BB962C8B-B14F-4D97-AF65-F5344CB8AC3E}">
        <p14:creationId xmlns:p14="http://schemas.microsoft.com/office/powerpoint/2010/main" val="430673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More on Exception Handling</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629920" y="1016000"/>
            <a:ext cx="11297920" cy="5842000"/>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u="none" strike="noStrike" baseline="0" dirty="0">
                <a:solidFill>
                  <a:srgbClr val="000000"/>
                </a:solidFill>
                <a:latin typeface="TimesLTStd-Roman"/>
              </a:rPr>
              <a:t>Throwing Exceptions</a:t>
            </a:r>
            <a:endParaRPr lang="en-US" sz="2600" b="1" u="none" strike="noStrike" baseline="0" dirty="0">
              <a:solidFill>
                <a:srgbClr val="000000"/>
              </a:solidFill>
              <a:latin typeface="TimesLTStd-Roman"/>
            </a:endParaRPr>
          </a:p>
          <a:p>
            <a:r>
              <a:rPr lang="en-US" sz="2000" b="0" i="0" u="none" strike="noStrike" baseline="0" dirty="0">
                <a:solidFill>
                  <a:srgbClr val="000000"/>
                </a:solidFill>
                <a:latin typeface="TimesLTStd-Roman"/>
              </a:rPr>
              <a:t>A program that detects an error can create an instance of an appropriate exception type and throw it.</a:t>
            </a:r>
          </a:p>
          <a:p>
            <a:pPr algn="l"/>
            <a:r>
              <a:rPr lang="en-US" sz="2000" b="0" i="0" u="none" strike="noStrike" baseline="0" dirty="0">
                <a:solidFill>
                  <a:srgbClr val="000000"/>
                </a:solidFill>
                <a:latin typeface="TimesLTStd-Roman"/>
              </a:rPr>
              <a:t>For example, suppose a method in a program detects that the argument passed to it violates the method contract (e.g., the argument must be nonnegative, but a negative argument is passed); then the method can create an instance of </a:t>
            </a:r>
            <a:r>
              <a:rPr lang="en-US" sz="2000" b="1" i="0" u="none" strike="noStrike" baseline="0" dirty="0" err="1">
                <a:solidFill>
                  <a:srgbClr val="00B0F0"/>
                </a:solidFill>
                <a:latin typeface="Courier New" panose="02070309020205020404" pitchFamily="49" charset="0"/>
                <a:cs typeface="Courier New" panose="02070309020205020404" pitchFamily="49" charset="0"/>
              </a:rPr>
              <a:t>IllegalArgumentException</a:t>
            </a:r>
            <a:r>
              <a:rPr lang="en-US" sz="2000" b="0" i="0" u="none" strike="noStrike" baseline="0" dirty="0">
                <a:solidFill>
                  <a:srgbClr val="000000"/>
                </a:solidFill>
                <a:latin typeface="TimesLTStd-Roman"/>
              </a:rPr>
              <a:t> and throw it:</a:t>
            </a:r>
            <a:endParaRPr lang="en-US" sz="2000" dirty="0">
              <a:solidFill>
                <a:srgbClr val="000000"/>
              </a:solidFill>
              <a:latin typeface="TimesLTStd-Roman"/>
            </a:endParaRPr>
          </a:p>
          <a:p>
            <a:pPr algn="l"/>
            <a:endParaRPr lang="en-US" sz="2000" b="0" i="0" u="none" strike="noStrike" baseline="0" dirty="0">
              <a:solidFill>
                <a:srgbClr val="000000"/>
              </a:solidFill>
              <a:latin typeface="TimesLTStd-Roman"/>
            </a:endParaRPr>
          </a:p>
          <a:p>
            <a:pPr algn="l"/>
            <a:endParaRPr lang="en-US" sz="2000" b="0" i="0" u="none" strike="noStrike" baseline="0" dirty="0">
              <a:solidFill>
                <a:srgbClr val="000000"/>
              </a:solidFill>
              <a:latin typeface="TimesLTStd-Roman"/>
            </a:endParaRPr>
          </a:p>
          <a:p>
            <a:pPr algn="l"/>
            <a:r>
              <a:rPr lang="en-US" sz="2000" b="0" i="0" u="none" strike="noStrike" baseline="0" dirty="0">
                <a:solidFill>
                  <a:srgbClr val="000000"/>
                </a:solidFill>
                <a:latin typeface="TimesLTStd-Roman"/>
              </a:rPr>
              <a:t>Or you can use a simplified version:</a:t>
            </a:r>
          </a:p>
          <a:p>
            <a:pPr algn="l"/>
            <a:endParaRPr lang="en-US" sz="2000" b="0" i="0" u="none" strike="noStrike" baseline="0" dirty="0">
              <a:solidFill>
                <a:srgbClr val="000000"/>
              </a:solidFill>
              <a:latin typeface="TimesLTStd-Roman"/>
            </a:endParaRPr>
          </a:p>
          <a:p>
            <a:pPr algn="l"/>
            <a:r>
              <a:rPr lang="en-US" sz="2000" dirty="0">
                <a:solidFill>
                  <a:srgbClr val="000000"/>
                </a:solidFill>
                <a:latin typeface="TimesLTStd-Roman"/>
              </a:rPr>
              <a:t>Note: In general, each exception class in the Java API has at least two constructors: a no-</a:t>
            </a:r>
            <a:r>
              <a:rPr lang="en-US" sz="2000" dirty="0" err="1">
                <a:solidFill>
                  <a:srgbClr val="000000"/>
                </a:solidFill>
                <a:latin typeface="TimesLTStd-Roman"/>
              </a:rPr>
              <a:t>arg</a:t>
            </a:r>
            <a:r>
              <a:rPr lang="en-US" sz="2000" dirty="0">
                <a:solidFill>
                  <a:srgbClr val="000000"/>
                </a:solidFill>
                <a:latin typeface="TimesLTStd-Roman"/>
              </a:rPr>
              <a:t> constructor and a constructor with a String argument that describes the exception. This argument is called the exception message, which can be obtained using </a:t>
            </a:r>
            <a:r>
              <a:rPr lang="en-US" sz="2000" b="1" dirty="0" err="1">
                <a:solidFill>
                  <a:srgbClr val="00B0F0"/>
                </a:solidFill>
                <a:latin typeface="Courier New" panose="02070309020205020404" pitchFamily="49" charset="0"/>
                <a:cs typeface="Courier New" panose="02070309020205020404" pitchFamily="49" charset="0"/>
              </a:rPr>
              <a:t>getMessage</a:t>
            </a:r>
            <a:r>
              <a:rPr lang="en-US" sz="2000" b="1" dirty="0">
                <a:solidFill>
                  <a:srgbClr val="00B0F0"/>
                </a:solidFill>
                <a:latin typeface="Courier New" panose="02070309020205020404" pitchFamily="49" charset="0"/>
                <a:cs typeface="Courier New" panose="02070309020205020404" pitchFamily="49" charset="0"/>
              </a:rPr>
              <a:t>()</a:t>
            </a:r>
            <a:r>
              <a:rPr lang="en-US" sz="2000" dirty="0">
                <a:solidFill>
                  <a:srgbClr val="000000"/>
                </a:solidFill>
                <a:latin typeface="TimesLTStd-Roman"/>
              </a:rPr>
              <a:t>.</a:t>
            </a:r>
          </a:p>
          <a:p>
            <a:pPr algn="l"/>
            <a:r>
              <a:rPr lang="en-US" sz="2000" b="0" i="0" u="none" strike="noStrike" baseline="0" dirty="0">
                <a:solidFill>
                  <a:srgbClr val="000000"/>
                </a:solidFill>
                <a:latin typeface="TimesLTStd-Roman"/>
              </a:rPr>
              <a:t>Note: The keyword to declare an exception is </a:t>
            </a:r>
            <a:r>
              <a:rPr lang="en-US" sz="2000" b="1" i="0" u="none" strike="noStrike" baseline="0" dirty="0">
                <a:solidFill>
                  <a:srgbClr val="00B0F0"/>
                </a:solidFill>
                <a:latin typeface="Courier New" panose="02070309020205020404" pitchFamily="49" charset="0"/>
                <a:cs typeface="Courier New" panose="02070309020205020404" pitchFamily="49" charset="0"/>
              </a:rPr>
              <a:t>throws</a:t>
            </a:r>
            <a:r>
              <a:rPr lang="en-US" sz="2000" b="0" i="0" u="none" strike="noStrike" baseline="0" dirty="0">
                <a:solidFill>
                  <a:srgbClr val="000000"/>
                </a:solidFill>
                <a:latin typeface="TimesLTStd-Roman"/>
              </a:rPr>
              <a:t>, and the keyword to throw an exception is </a:t>
            </a:r>
            <a:r>
              <a:rPr lang="en-US" sz="2000" b="1" i="0" u="none" strike="noStrike" baseline="0" dirty="0">
                <a:solidFill>
                  <a:srgbClr val="00B0F0"/>
                </a:solidFill>
                <a:latin typeface="Courier New" panose="02070309020205020404" pitchFamily="49" charset="0"/>
                <a:cs typeface="Courier New" panose="02070309020205020404" pitchFamily="49" charset="0"/>
              </a:rPr>
              <a:t>throw</a:t>
            </a:r>
            <a:r>
              <a:rPr lang="en-US" sz="2000" b="0" i="0" u="none" strike="noStrike" baseline="0" dirty="0">
                <a:solidFill>
                  <a:srgbClr val="000000"/>
                </a:solidFill>
                <a:latin typeface="TimesLTStd-Roman"/>
              </a:rPr>
              <a:t>.</a:t>
            </a:r>
          </a:p>
        </p:txBody>
      </p:sp>
      <p:pic>
        <p:nvPicPr>
          <p:cNvPr id="4" name="Picture 3">
            <a:extLst>
              <a:ext uri="{FF2B5EF4-FFF2-40B4-BE49-F238E27FC236}">
                <a16:creationId xmlns:a16="http://schemas.microsoft.com/office/drawing/2014/main" id="{CB3D3CE4-A4C7-7871-F687-6F26E7B1339B}"/>
              </a:ext>
            </a:extLst>
          </p:cNvPr>
          <p:cNvPicPr>
            <a:picLocks noChangeAspect="1"/>
          </p:cNvPicPr>
          <p:nvPr/>
        </p:nvPicPr>
        <p:blipFill>
          <a:blip r:embed="rId2"/>
          <a:stretch>
            <a:fillRect/>
          </a:stretch>
        </p:blipFill>
        <p:spPr>
          <a:xfrm>
            <a:off x="2017260" y="3146371"/>
            <a:ext cx="6490930" cy="981096"/>
          </a:xfrm>
          <a:prstGeom prst="rect">
            <a:avLst/>
          </a:prstGeom>
        </p:spPr>
      </p:pic>
      <p:pic>
        <p:nvPicPr>
          <p:cNvPr id="8" name="Picture 7">
            <a:extLst>
              <a:ext uri="{FF2B5EF4-FFF2-40B4-BE49-F238E27FC236}">
                <a16:creationId xmlns:a16="http://schemas.microsoft.com/office/drawing/2014/main" id="{45680DE9-D74C-FE0E-00CC-4EC00EBE4F9B}"/>
              </a:ext>
            </a:extLst>
          </p:cNvPr>
          <p:cNvPicPr>
            <a:picLocks noChangeAspect="1"/>
          </p:cNvPicPr>
          <p:nvPr/>
        </p:nvPicPr>
        <p:blipFill>
          <a:blip r:embed="rId3"/>
          <a:stretch>
            <a:fillRect/>
          </a:stretch>
        </p:blipFill>
        <p:spPr>
          <a:xfrm>
            <a:off x="2017260" y="4707243"/>
            <a:ext cx="7211633" cy="575957"/>
          </a:xfrm>
          <a:prstGeom prst="rect">
            <a:avLst/>
          </a:prstGeom>
        </p:spPr>
      </p:pic>
    </p:spTree>
    <p:extLst>
      <p:ext uri="{BB962C8B-B14F-4D97-AF65-F5344CB8AC3E}">
        <p14:creationId xmlns:p14="http://schemas.microsoft.com/office/powerpoint/2010/main" val="1578206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More on Exception Handling</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629920" y="1016000"/>
            <a:ext cx="5618480" cy="3423920"/>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u="none" strike="noStrike" baseline="0" dirty="0">
                <a:solidFill>
                  <a:srgbClr val="000000"/>
                </a:solidFill>
                <a:latin typeface="TimesLTStd-Roman"/>
              </a:rPr>
              <a:t>Catching Exceptions</a:t>
            </a:r>
            <a:endParaRPr lang="en-US" sz="2600" b="1" u="none" strike="noStrike" baseline="0" dirty="0">
              <a:solidFill>
                <a:srgbClr val="000000"/>
              </a:solidFill>
              <a:latin typeface="TimesLTStd-Roman"/>
            </a:endParaRPr>
          </a:p>
          <a:p>
            <a:r>
              <a:rPr lang="en-US" sz="2000" b="0" i="0" u="none" strike="noStrike" baseline="0" dirty="0">
                <a:solidFill>
                  <a:srgbClr val="000000"/>
                </a:solidFill>
                <a:latin typeface="TimesLTStd-Roman"/>
              </a:rPr>
              <a:t>When an exception is thrown, it can be caught and handled in a </a:t>
            </a:r>
            <a:r>
              <a:rPr lang="en-US" sz="2000" b="1" dirty="0">
                <a:solidFill>
                  <a:srgbClr val="00B0F0"/>
                </a:solidFill>
                <a:latin typeface="Courier New" panose="02070309020205020404" pitchFamily="49" charset="0"/>
                <a:cs typeface="Courier New" panose="02070309020205020404" pitchFamily="49" charset="0"/>
              </a:rPr>
              <a:t>try-catch</a:t>
            </a:r>
            <a:r>
              <a:rPr lang="en-US" sz="2000" b="0" i="0" u="none" strike="noStrike" baseline="0" dirty="0">
                <a:solidFill>
                  <a:srgbClr val="000000"/>
                </a:solidFill>
                <a:latin typeface="TimesLTStd-Roman"/>
              </a:rPr>
              <a:t> block, as follows:</a:t>
            </a:r>
          </a:p>
          <a:p>
            <a:r>
              <a:rPr lang="en-US" sz="2000" b="0" i="0" u="none" strike="noStrike" baseline="0" dirty="0">
                <a:solidFill>
                  <a:srgbClr val="000000"/>
                </a:solidFill>
                <a:latin typeface="TimesLTStd-Roman"/>
              </a:rPr>
              <a:t>If no exceptions arise during the execution of the </a:t>
            </a:r>
            <a:r>
              <a:rPr lang="en-US" sz="2000" b="1" dirty="0">
                <a:solidFill>
                  <a:srgbClr val="00B0F0"/>
                </a:solidFill>
                <a:latin typeface="Courier New" panose="02070309020205020404" pitchFamily="49" charset="0"/>
                <a:cs typeface="Courier New" panose="02070309020205020404" pitchFamily="49" charset="0"/>
              </a:rPr>
              <a:t>try</a:t>
            </a:r>
            <a:r>
              <a:rPr lang="en-US" sz="2000" b="0" i="0" u="none" strike="noStrike" baseline="0" dirty="0">
                <a:solidFill>
                  <a:srgbClr val="000000"/>
                </a:solidFill>
                <a:latin typeface="TimesLTStd-Roman"/>
              </a:rPr>
              <a:t> block, the </a:t>
            </a:r>
            <a:r>
              <a:rPr lang="en-US" sz="2000" b="1" dirty="0">
                <a:solidFill>
                  <a:srgbClr val="00B0F0"/>
                </a:solidFill>
                <a:latin typeface="Courier New" panose="02070309020205020404" pitchFamily="49" charset="0"/>
                <a:cs typeface="Courier New" panose="02070309020205020404" pitchFamily="49" charset="0"/>
              </a:rPr>
              <a:t>catch</a:t>
            </a:r>
            <a:r>
              <a:rPr lang="en-US" sz="2000" b="0" i="0" u="none" strike="noStrike" baseline="0" dirty="0">
                <a:solidFill>
                  <a:srgbClr val="000000"/>
                </a:solidFill>
                <a:latin typeface="TimesLTStd-Roman"/>
              </a:rPr>
              <a:t> blocks are skipped.</a:t>
            </a:r>
          </a:p>
          <a:p>
            <a:r>
              <a:rPr lang="en-US" sz="2000" dirty="0">
                <a:solidFill>
                  <a:srgbClr val="000000"/>
                </a:solidFill>
                <a:latin typeface="TimesLTStd-Roman"/>
              </a:rPr>
              <a:t>If one of the statements inside the try block throws an exception, Java skips the remaining statements in the try block and starts the process of finding the code to handle the exception.</a:t>
            </a:r>
          </a:p>
        </p:txBody>
      </p:sp>
      <p:pic>
        <p:nvPicPr>
          <p:cNvPr id="3" name="Picture 2">
            <a:extLst>
              <a:ext uri="{FF2B5EF4-FFF2-40B4-BE49-F238E27FC236}">
                <a16:creationId xmlns:a16="http://schemas.microsoft.com/office/drawing/2014/main" id="{1AF08719-36BB-B37D-F5C6-BC81C799FAF7}"/>
              </a:ext>
            </a:extLst>
          </p:cNvPr>
          <p:cNvPicPr>
            <a:picLocks noChangeAspect="1"/>
          </p:cNvPicPr>
          <p:nvPr/>
        </p:nvPicPr>
        <p:blipFill>
          <a:blip r:embed="rId2"/>
          <a:stretch>
            <a:fillRect/>
          </a:stretch>
        </p:blipFill>
        <p:spPr>
          <a:xfrm>
            <a:off x="6413791" y="1416597"/>
            <a:ext cx="5534369" cy="2779483"/>
          </a:xfrm>
          <a:prstGeom prst="rect">
            <a:avLst/>
          </a:prstGeom>
          <a:ln>
            <a:solidFill>
              <a:schemeClr val="accent1"/>
            </a:solidFill>
          </a:ln>
        </p:spPr>
      </p:pic>
      <p:sp>
        <p:nvSpPr>
          <p:cNvPr id="5" name="Content Placeholder 2">
            <a:extLst>
              <a:ext uri="{FF2B5EF4-FFF2-40B4-BE49-F238E27FC236}">
                <a16:creationId xmlns:a16="http://schemas.microsoft.com/office/drawing/2014/main" id="{EB72C638-1934-2795-3CC1-8C4A04FB1D90}"/>
              </a:ext>
            </a:extLst>
          </p:cNvPr>
          <p:cNvSpPr txBox="1">
            <a:spLocks/>
          </p:cNvSpPr>
          <p:nvPr/>
        </p:nvSpPr>
        <p:spPr>
          <a:xfrm>
            <a:off x="629920" y="4612640"/>
            <a:ext cx="10800080" cy="2062480"/>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000000"/>
                </a:solidFill>
                <a:latin typeface="TimesLTStd-Roman"/>
              </a:rPr>
              <a:t>The code that handles the exception is called the </a:t>
            </a:r>
            <a:r>
              <a:rPr lang="en-US" sz="2000" b="1" i="1" dirty="0">
                <a:solidFill>
                  <a:srgbClr val="000000"/>
                </a:solidFill>
                <a:latin typeface="TimesLTStd-Roman"/>
              </a:rPr>
              <a:t>exception handler</a:t>
            </a:r>
            <a:r>
              <a:rPr lang="en-US" sz="2000" dirty="0">
                <a:solidFill>
                  <a:srgbClr val="000000"/>
                </a:solidFill>
                <a:latin typeface="TimesLTStd-Roman"/>
              </a:rPr>
              <a:t>; it is found by propagating the exception backward through a chain of method calls, starting from the current method. </a:t>
            </a:r>
          </a:p>
          <a:p>
            <a:r>
              <a:rPr lang="en-US" sz="2000" dirty="0">
                <a:solidFill>
                  <a:srgbClr val="000000"/>
                </a:solidFill>
                <a:latin typeface="TimesLTStd-Roman"/>
              </a:rPr>
              <a:t>Each </a:t>
            </a:r>
            <a:r>
              <a:rPr lang="en-US" sz="2000" b="1" dirty="0">
                <a:solidFill>
                  <a:srgbClr val="00B0F0"/>
                </a:solidFill>
                <a:latin typeface="Courier New" panose="02070309020205020404" pitchFamily="49" charset="0"/>
                <a:cs typeface="Courier New" panose="02070309020205020404" pitchFamily="49" charset="0"/>
              </a:rPr>
              <a:t>catch</a:t>
            </a:r>
            <a:r>
              <a:rPr lang="en-US" sz="2000" dirty="0">
                <a:solidFill>
                  <a:srgbClr val="000000"/>
                </a:solidFill>
                <a:latin typeface="TimesLTStd-Roman"/>
              </a:rPr>
              <a:t> block is examined in turn, from first to last, to see whether the type of the exception object is an instance of the exception class in the </a:t>
            </a:r>
            <a:r>
              <a:rPr lang="en-US" sz="2000" b="1" dirty="0">
                <a:solidFill>
                  <a:srgbClr val="00B0F0"/>
                </a:solidFill>
                <a:latin typeface="Courier New" panose="02070309020205020404" pitchFamily="49" charset="0"/>
                <a:cs typeface="Courier New" panose="02070309020205020404" pitchFamily="49" charset="0"/>
              </a:rPr>
              <a:t>catch</a:t>
            </a:r>
            <a:r>
              <a:rPr lang="en-US" sz="2000" dirty="0">
                <a:solidFill>
                  <a:srgbClr val="000000"/>
                </a:solidFill>
                <a:latin typeface="TimesLTStd-Roman"/>
              </a:rPr>
              <a:t> block.</a:t>
            </a:r>
          </a:p>
          <a:p>
            <a:r>
              <a:rPr lang="en-US" sz="2000" b="0" i="0" u="none" strike="noStrike" baseline="0" dirty="0">
                <a:solidFill>
                  <a:srgbClr val="000000"/>
                </a:solidFill>
                <a:latin typeface="TimesLTStd-Roman"/>
              </a:rPr>
              <a:t>If so, the exception object is assigned to the variable declared, and the code in the </a:t>
            </a:r>
            <a:r>
              <a:rPr lang="en-US" sz="2000" b="1" dirty="0">
                <a:solidFill>
                  <a:srgbClr val="00B0F0"/>
                </a:solidFill>
                <a:latin typeface="Courier New" panose="02070309020205020404" pitchFamily="49" charset="0"/>
                <a:cs typeface="Courier New" panose="02070309020205020404" pitchFamily="49" charset="0"/>
              </a:rPr>
              <a:t>catch</a:t>
            </a:r>
            <a:r>
              <a:rPr lang="en-US" sz="2000" b="0" i="0" u="none" strike="noStrike" baseline="0" dirty="0">
                <a:solidFill>
                  <a:srgbClr val="000000"/>
                </a:solidFill>
                <a:latin typeface="TimesLTStd-Roman"/>
              </a:rPr>
              <a:t> block is executed.</a:t>
            </a:r>
            <a:endParaRPr lang="en-US" sz="2000" dirty="0">
              <a:solidFill>
                <a:srgbClr val="000000"/>
              </a:solidFill>
              <a:latin typeface="TimesLTStd-Roman"/>
            </a:endParaRPr>
          </a:p>
          <a:p>
            <a:endParaRPr lang="en-US" sz="2000" b="0" i="0" u="none" strike="noStrike" baseline="0" dirty="0">
              <a:solidFill>
                <a:srgbClr val="000000"/>
              </a:solidFill>
              <a:latin typeface="TimesLTStd-Roman"/>
            </a:endParaRPr>
          </a:p>
        </p:txBody>
      </p:sp>
    </p:spTree>
    <p:extLst>
      <p:ext uri="{BB962C8B-B14F-4D97-AF65-F5344CB8AC3E}">
        <p14:creationId xmlns:p14="http://schemas.microsoft.com/office/powerpoint/2010/main" val="782915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More on Exception Handling</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629920" y="1016000"/>
            <a:ext cx="10840720" cy="2631440"/>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u="none" strike="noStrike" baseline="0" dirty="0">
                <a:solidFill>
                  <a:srgbClr val="000000"/>
                </a:solidFill>
                <a:latin typeface="TimesLTStd-Roman"/>
              </a:rPr>
              <a:t>Catching Exceptions</a:t>
            </a:r>
            <a:endParaRPr lang="en-US" sz="2600" b="1" u="none" strike="noStrike" baseline="0" dirty="0">
              <a:solidFill>
                <a:srgbClr val="000000"/>
              </a:solidFill>
              <a:latin typeface="TimesLTStd-Roman"/>
            </a:endParaRPr>
          </a:p>
          <a:p>
            <a:r>
              <a:rPr lang="en-US" sz="2000" b="0" i="0" u="none" strike="noStrike" baseline="0" dirty="0">
                <a:solidFill>
                  <a:srgbClr val="000000"/>
                </a:solidFill>
                <a:latin typeface="TimesLTStd-Roman"/>
              </a:rPr>
              <a:t>If no handler is found, Java exits this method, passes the exception to the method that invoked the method, and continues the same process to find a handler. </a:t>
            </a:r>
          </a:p>
          <a:p>
            <a:r>
              <a:rPr lang="en-US" sz="2000" b="0" i="0" u="none" strike="noStrike" baseline="0" dirty="0">
                <a:solidFill>
                  <a:srgbClr val="000000"/>
                </a:solidFill>
                <a:latin typeface="TimesLTStd-Roman"/>
              </a:rPr>
              <a:t>If no handler is found in the chain of methods being invoked, the program terminates and prints an error message on the console. </a:t>
            </a:r>
          </a:p>
          <a:p>
            <a:r>
              <a:rPr lang="en-US" sz="2000" b="0" i="0" u="none" strike="noStrike" baseline="0" dirty="0">
                <a:solidFill>
                  <a:srgbClr val="000000"/>
                </a:solidFill>
                <a:latin typeface="TimesLTStd-Roman"/>
              </a:rPr>
              <a:t>The process of finding a handler is called </a:t>
            </a:r>
            <a:r>
              <a:rPr lang="en-US" sz="2000" b="1" i="1" u="none" strike="noStrike" baseline="0" dirty="0">
                <a:solidFill>
                  <a:srgbClr val="000000"/>
                </a:solidFill>
                <a:latin typeface="TimesLTStd-Roman"/>
              </a:rPr>
              <a:t>catching an exception.</a:t>
            </a:r>
          </a:p>
        </p:txBody>
      </p:sp>
      <p:pic>
        <p:nvPicPr>
          <p:cNvPr id="3" name="Picture 2">
            <a:extLst>
              <a:ext uri="{FF2B5EF4-FFF2-40B4-BE49-F238E27FC236}">
                <a16:creationId xmlns:a16="http://schemas.microsoft.com/office/drawing/2014/main" id="{C59BEFD8-81E5-582F-A6C7-D8998593D26B}"/>
              </a:ext>
            </a:extLst>
          </p:cNvPr>
          <p:cNvPicPr>
            <a:picLocks noChangeAspect="1"/>
          </p:cNvPicPr>
          <p:nvPr/>
        </p:nvPicPr>
        <p:blipFill>
          <a:blip r:embed="rId2"/>
          <a:stretch>
            <a:fillRect/>
          </a:stretch>
        </p:blipFill>
        <p:spPr>
          <a:xfrm>
            <a:off x="6226511" y="3832860"/>
            <a:ext cx="4628084" cy="1584960"/>
          </a:xfrm>
          <a:prstGeom prst="rect">
            <a:avLst/>
          </a:prstGeom>
        </p:spPr>
      </p:pic>
      <p:pic>
        <p:nvPicPr>
          <p:cNvPr id="8" name="Picture 7">
            <a:extLst>
              <a:ext uri="{FF2B5EF4-FFF2-40B4-BE49-F238E27FC236}">
                <a16:creationId xmlns:a16="http://schemas.microsoft.com/office/drawing/2014/main" id="{4295E691-060C-9EFA-B7EB-820D26BE8962}"/>
              </a:ext>
            </a:extLst>
          </p:cNvPr>
          <p:cNvPicPr>
            <a:picLocks noChangeAspect="1"/>
          </p:cNvPicPr>
          <p:nvPr/>
        </p:nvPicPr>
        <p:blipFill>
          <a:blip r:embed="rId3"/>
          <a:stretch>
            <a:fillRect/>
          </a:stretch>
        </p:blipFill>
        <p:spPr>
          <a:xfrm>
            <a:off x="6226511" y="5727660"/>
            <a:ext cx="5823249" cy="723937"/>
          </a:xfrm>
          <a:prstGeom prst="rect">
            <a:avLst/>
          </a:prstGeom>
          <a:ln w="12700">
            <a:solidFill>
              <a:schemeClr val="tx1"/>
            </a:solidFill>
          </a:ln>
        </p:spPr>
      </p:pic>
      <p:sp>
        <p:nvSpPr>
          <p:cNvPr id="9" name="Content Placeholder 2">
            <a:extLst>
              <a:ext uri="{FF2B5EF4-FFF2-40B4-BE49-F238E27FC236}">
                <a16:creationId xmlns:a16="http://schemas.microsoft.com/office/drawing/2014/main" id="{3C3EC78C-8EE2-4E5E-67F7-C3FB9BD788E2}"/>
              </a:ext>
            </a:extLst>
          </p:cNvPr>
          <p:cNvSpPr txBox="1">
            <a:spLocks/>
          </p:cNvSpPr>
          <p:nvPr/>
        </p:nvSpPr>
        <p:spPr>
          <a:xfrm>
            <a:off x="629920" y="3832860"/>
            <a:ext cx="5466080" cy="2750820"/>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000000"/>
                </a:solidFill>
                <a:latin typeface="TimesLTStd-Roman"/>
              </a:rPr>
              <a:t>Note: </a:t>
            </a:r>
            <a:r>
              <a:rPr lang="en-US" sz="2000" b="1" i="1" dirty="0">
                <a:solidFill>
                  <a:srgbClr val="000000"/>
                </a:solidFill>
                <a:latin typeface="TimesLTStd-Roman"/>
              </a:rPr>
              <a:t>The order in which exceptions are specified in catch blocks is important</a:t>
            </a:r>
            <a:r>
              <a:rPr lang="en-US" sz="2000" dirty="0">
                <a:solidFill>
                  <a:srgbClr val="000000"/>
                </a:solidFill>
                <a:latin typeface="TimesLTStd-Roman"/>
              </a:rPr>
              <a:t>. A compile error will result if a catch block for a superclass type appears before a catch block for a subclass type.</a:t>
            </a:r>
          </a:p>
          <a:p>
            <a:r>
              <a:rPr lang="en-US" sz="2000" dirty="0">
                <a:solidFill>
                  <a:srgbClr val="000000"/>
                </a:solidFill>
                <a:latin typeface="TimesLTStd-Roman"/>
              </a:rPr>
              <a:t>Note: You can use the multi-catch feature (introduced from JDK 7) to simplify coding for the different exceptions with the same handling code. The syntax is:</a:t>
            </a:r>
          </a:p>
        </p:txBody>
      </p:sp>
      <p:cxnSp>
        <p:nvCxnSpPr>
          <p:cNvPr id="4" name="Straight Arrow Connector 3">
            <a:extLst>
              <a:ext uri="{FF2B5EF4-FFF2-40B4-BE49-F238E27FC236}">
                <a16:creationId xmlns:a16="http://schemas.microsoft.com/office/drawing/2014/main" id="{C8BF4A4D-3550-E981-5DC6-97B972F4A565}"/>
              </a:ext>
            </a:extLst>
          </p:cNvPr>
          <p:cNvCxnSpPr>
            <a:cxnSpLocks/>
          </p:cNvCxnSpPr>
          <p:nvPr/>
        </p:nvCxnSpPr>
        <p:spPr>
          <a:xfrm flipV="1">
            <a:off x="2987040" y="6350000"/>
            <a:ext cx="3108960" cy="1015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173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More on Exception Handling</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629920" y="1016000"/>
            <a:ext cx="10840720" cy="1920240"/>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u="none" strike="noStrike" baseline="0" dirty="0">
                <a:solidFill>
                  <a:srgbClr val="000000"/>
                </a:solidFill>
                <a:latin typeface="TimesLTStd-Roman"/>
              </a:rPr>
              <a:t>Getting Information from Exceptions</a:t>
            </a:r>
            <a:endParaRPr lang="en-US" sz="2600" b="1" u="none" strike="noStrike" baseline="0" dirty="0">
              <a:solidFill>
                <a:srgbClr val="000000"/>
              </a:solidFill>
              <a:latin typeface="TimesLTStd-Roman"/>
            </a:endParaRPr>
          </a:p>
          <a:p>
            <a:r>
              <a:rPr lang="en-US" sz="2000" b="0" i="0" u="none" strike="noStrike" baseline="0" dirty="0">
                <a:solidFill>
                  <a:srgbClr val="000000"/>
                </a:solidFill>
                <a:latin typeface="TimesLTStd-Roman"/>
              </a:rPr>
              <a:t>An exception object contains valuable information about the exception.</a:t>
            </a:r>
          </a:p>
          <a:p>
            <a:r>
              <a:rPr lang="en-US" sz="2000" b="0" i="0" u="none" strike="noStrike" baseline="0" dirty="0">
                <a:solidFill>
                  <a:srgbClr val="000000"/>
                </a:solidFill>
                <a:latin typeface="TimesLTStd-Roman"/>
              </a:rPr>
              <a:t>The following instance methods in the </a:t>
            </a:r>
            <a:r>
              <a:rPr lang="en-US" sz="2000" b="1" i="0" u="none" strike="noStrike" baseline="0" dirty="0" err="1">
                <a:solidFill>
                  <a:srgbClr val="00B0F0"/>
                </a:solidFill>
                <a:latin typeface="Courier New" panose="02070309020205020404" pitchFamily="49" charset="0"/>
                <a:cs typeface="Courier New" panose="02070309020205020404" pitchFamily="49" charset="0"/>
              </a:rPr>
              <a:t>java.lang.Throwable</a:t>
            </a:r>
            <a:r>
              <a:rPr lang="en-US" sz="2000" b="0" i="0" u="none" strike="noStrike" baseline="0" dirty="0">
                <a:solidFill>
                  <a:srgbClr val="000000"/>
                </a:solidFill>
                <a:latin typeface="TimesLTStd-Roman"/>
              </a:rPr>
              <a:t> class can be used to get information regarding the exception:</a:t>
            </a:r>
          </a:p>
          <a:p>
            <a:endParaRPr lang="en-US" sz="2000" dirty="0">
              <a:solidFill>
                <a:srgbClr val="000000"/>
              </a:solidFill>
              <a:latin typeface="TimesLTStd-Roman"/>
            </a:endParaRPr>
          </a:p>
          <a:p>
            <a:endParaRPr lang="en-US" sz="2000" b="1" i="1" dirty="0">
              <a:solidFill>
                <a:srgbClr val="000000"/>
              </a:solidFill>
              <a:latin typeface="TimesLTStd-Roman"/>
            </a:endParaRPr>
          </a:p>
          <a:p>
            <a:endParaRPr lang="en-US" sz="2000" b="1" i="1" dirty="0">
              <a:solidFill>
                <a:srgbClr val="000000"/>
              </a:solidFill>
              <a:latin typeface="TimesLTStd-Roman"/>
            </a:endParaRPr>
          </a:p>
          <a:p>
            <a:endParaRPr lang="en-US" sz="2000" b="1" i="1" dirty="0">
              <a:solidFill>
                <a:srgbClr val="000000"/>
              </a:solidFill>
              <a:latin typeface="TimesLTStd-Roman"/>
            </a:endParaRPr>
          </a:p>
          <a:p>
            <a:endParaRPr lang="en-US" sz="2000" b="1" i="1" dirty="0">
              <a:solidFill>
                <a:srgbClr val="000000"/>
              </a:solidFill>
              <a:latin typeface="TimesLTStd-Roman"/>
            </a:endParaRPr>
          </a:p>
          <a:p>
            <a:endParaRPr lang="en-US" sz="2000" b="1" i="1" dirty="0">
              <a:solidFill>
                <a:srgbClr val="000000"/>
              </a:solidFill>
              <a:latin typeface="TimesLTStd-Roman"/>
            </a:endParaRPr>
          </a:p>
          <a:p>
            <a:r>
              <a:rPr lang="en-US" sz="2000" dirty="0">
                <a:solidFill>
                  <a:srgbClr val="000000"/>
                </a:solidFill>
                <a:latin typeface="TimesLTStd-Roman"/>
              </a:rPr>
              <a:t>Homework: Compile and run the code in </a:t>
            </a:r>
            <a:r>
              <a:rPr lang="en-US" sz="1800" b="1" i="0" u="none" strike="noStrike" baseline="0" dirty="0">
                <a:solidFill>
                  <a:srgbClr val="00AFF0"/>
                </a:solidFill>
                <a:latin typeface="GoudySansStd-Bold-SC750"/>
              </a:rPr>
              <a:t>LISTING 12.6 </a:t>
            </a:r>
            <a:r>
              <a:rPr lang="en-US" sz="1800" b="0" i="0" u="none" strike="noStrike" baseline="0" dirty="0">
                <a:solidFill>
                  <a:srgbClr val="005B80"/>
                </a:solidFill>
                <a:latin typeface="LucidaSansTypewriterStd"/>
              </a:rPr>
              <a:t>TestException.java</a:t>
            </a:r>
            <a:r>
              <a:rPr lang="en-US" sz="1800" b="0" i="0" u="none" strike="noStrike" baseline="0" dirty="0">
                <a:latin typeface="LucidaSansTypewriterStd"/>
              </a:rPr>
              <a:t> (textbook page 462)</a:t>
            </a:r>
            <a:endParaRPr lang="en-US" sz="2000" b="1" i="1" dirty="0">
              <a:latin typeface="TimesLTStd-Roman"/>
            </a:endParaRPr>
          </a:p>
        </p:txBody>
      </p:sp>
      <p:pic>
        <p:nvPicPr>
          <p:cNvPr id="4" name="Picture 3">
            <a:extLst>
              <a:ext uri="{FF2B5EF4-FFF2-40B4-BE49-F238E27FC236}">
                <a16:creationId xmlns:a16="http://schemas.microsoft.com/office/drawing/2014/main" id="{797A043A-4EBC-D7A6-F6FA-54D59D944D9D}"/>
              </a:ext>
            </a:extLst>
          </p:cNvPr>
          <p:cNvPicPr>
            <a:picLocks noChangeAspect="1"/>
          </p:cNvPicPr>
          <p:nvPr/>
        </p:nvPicPr>
        <p:blipFill>
          <a:blip r:embed="rId2"/>
          <a:stretch>
            <a:fillRect/>
          </a:stretch>
        </p:blipFill>
        <p:spPr>
          <a:xfrm>
            <a:off x="995769" y="2814320"/>
            <a:ext cx="10200462" cy="2834640"/>
          </a:xfrm>
          <a:prstGeom prst="rect">
            <a:avLst/>
          </a:prstGeom>
        </p:spPr>
      </p:pic>
    </p:spTree>
    <p:extLst>
      <p:ext uri="{BB962C8B-B14F-4D97-AF65-F5344CB8AC3E}">
        <p14:creationId xmlns:p14="http://schemas.microsoft.com/office/powerpoint/2010/main" val="2386855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More on Exception Handling</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675640" y="1270000"/>
            <a:ext cx="10449560" cy="2702560"/>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u="none" strike="noStrike" baseline="0" dirty="0">
                <a:solidFill>
                  <a:srgbClr val="000000"/>
                </a:solidFill>
                <a:latin typeface="TimesLTStd-Roman"/>
              </a:rPr>
              <a:t>Example: Declaring, Throwing, and Catching Exceptions</a:t>
            </a:r>
          </a:p>
          <a:p>
            <a:r>
              <a:rPr lang="en-US" sz="2400" b="0" i="0" u="none" strike="noStrike" baseline="0" dirty="0">
                <a:solidFill>
                  <a:srgbClr val="000000"/>
                </a:solidFill>
                <a:latin typeface="TimesLTStd-Roman"/>
              </a:rPr>
              <a:t>The code in the next slide demonstrates declaring, throwing, and catching exceptions by modifying the </a:t>
            </a:r>
            <a:r>
              <a:rPr lang="en-US" sz="2400" b="1" i="0" u="none" strike="noStrike" baseline="0" dirty="0" err="1">
                <a:solidFill>
                  <a:srgbClr val="00B0F0"/>
                </a:solidFill>
                <a:latin typeface="Courier New" panose="02070309020205020404" pitchFamily="49" charset="0"/>
                <a:cs typeface="Courier New" panose="02070309020205020404" pitchFamily="49" charset="0"/>
              </a:rPr>
              <a:t>setRadius</a:t>
            </a:r>
            <a:r>
              <a:rPr lang="en-US" sz="2400" b="1" i="0" u="none" strike="noStrike" baseline="0" dirty="0">
                <a:solidFill>
                  <a:srgbClr val="00B0F0"/>
                </a:solidFill>
                <a:latin typeface="Courier New" panose="02070309020205020404" pitchFamily="49" charset="0"/>
                <a:cs typeface="Courier New" panose="02070309020205020404" pitchFamily="49" charset="0"/>
              </a:rPr>
              <a:t>()</a:t>
            </a:r>
            <a:r>
              <a:rPr lang="en-US" sz="2400" b="0" i="0" u="none" strike="noStrike" baseline="0" dirty="0">
                <a:solidFill>
                  <a:srgbClr val="000000"/>
                </a:solidFill>
                <a:latin typeface="TimesLTStd-Roman"/>
              </a:rPr>
              <a:t> method in the </a:t>
            </a:r>
            <a:r>
              <a:rPr lang="en-US" sz="2400" b="1" i="0" u="none" strike="noStrike" baseline="0" dirty="0">
                <a:solidFill>
                  <a:srgbClr val="00B0F0"/>
                </a:solidFill>
                <a:latin typeface="Courier New" panose="02070309020205020404" pitchFamily="49" charset="0"/>
                <a:cs typeface="Courier New" panose="02070309020205020404" pitchFamily="49" charset="0"/>
              </a:rPr>
              <a:t>Circle</a:t>
            </a:r>
            <a:r>
              <a:rPr lang="en-US" sz="2400" b="0" i="0" u="none" strike="noStrike" baseline="0" dirty="0">
                <a:solidFill>
                  <a:srgbClr val="000000"/>
                </a:solidFill>
                <a:latin typeface="TimesLTStd-Roman"/>
              </a:rPr>
              <a:t> class in Listing 9.8 (CircleWithPrivateDataFields.java). </a:t>
            </a:r>
          </a:p>
          <a:p>
            <a:r>
              <a:rPr lang="en-US" sz="2400" b="0" i="0" u="none" strike="noStrike" baseline="0" dirty="0">
                <a:solidFill>
                  <a:srgbClr val="000000"/>
                </a:solidFill>
                <a:latin typeface="TimesLTStd-Roman"/>
              </a:rPr>
              <a:t>The </a:t>
            </a:r>
            <a:r>
              <a:rPr lang="en-US" sz="2400" b="0" i="0" u="none" strike="noStrike" baseline="0">
                <a:solidFill>
                  <a:srgbClr val="000000"/>
                </a:solidFill>
                <a:latin typeface="TimesLTStd-Roman"/>
              </a:rPr>
              <a:t>new </a:t>
            </a:r>
            <a:r>
              <a:rPr lang="en-US" sz="2400" b="1">
                <a:solidFill>
                  <a:srgbClr val="00B0F0"/>
                </a:solidFill>
                <a:latin typeface="Courier New" panose="02070309020205020404" pitchFamily="49" charset="0"/>
                <a:cs typeface="Courier New" panose="02070309020205020404" pitchFamily="49" charset="0"/>
              </a:rPr>
              <a:t>setRadius()</a:t>
            </a:r>
            <a:r>
              <a:rPr lang="en-US" sz="2400" b="0" i="0" u="none" strike="noStrike" baseline="0">
                <a:solidFill>
                  <a:srgbClr val="000000"/>
                </a:solidFill>
                <a:latin typeface="TimesLTStd-Roman"/>
              </a:rPr>
              <a:t> </a:t>
            </a:r>
            <a:r>
              <a:rPr lang="en-US" sz="2400" b="0" i="0" u="none" strike="noStrike" baseline="0" dirty="0">
                <a:solidFill>
                  <a:srgbClr val="000000"/>
                </a:solidFill>
                <a:latin typeface="TimesLTStd-Roman"/>
              </a:rPr>
              <a:t>method throws an exception if the radius is negative.</a:t>
            </a:r>
            <a:endParaRPr lang="en-US" sz="2400" b="1" i="1" dirty="0">
              <a:latin typeface="TimesLTStd-Roman"/>
            </a:endParaRPr>
          </a:p>
        </p:txBody>
      </p:sp>
    </p:spTree>
    <p:extLst>
      <p:ext uri="{BB962C8B-B14F-4D97-AF65-F5344CB8AC3E}">
        <p14:creationId xmlns:p14="http://schemas.microsoft.com/office/powerpoint/2010/main" val="1252580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More on Exception Handling</a:t>
            </a:r>
            <a:endParaRPr lang="en-US" sz="3600" b="1" dirty="0">
              <a:solidFill>
                <a:schemeClr val="bg1"/>
              </a:solidFill>
            </a:endParaRPr>
          </a:p>
        </p:txBody>
      </p:sp>
      <p:pic>
        <p:nvPicPr>
          <p:cNvPr id="3" name="Picture 2">
            <a:extLst>
              <a:ext uri="{FF2B5EF4-FFF2-40B4-BE49-F238E27FC236}">
                <a16:creationId xmlns:a16="http://schemas.microsoft.com/office/drawing/2014/main" id="{91B8FD5A-D346-39B2-5964-60D3553167A9}"/>
              </a:ext>
            </a:extLst>
          </p:cNvPr>
          <p:cNvPicPr>
            <a:picLocks noChangeAspect="1"/>
          </p:cNvPicPr>
          <p:nvPr/>
        </p:nvPicPr>
        <p:blipFill>
          <a:blip r:embed="rId2"/>
          <a:stretch>
            <a:fillRect/>
          </a:stretch>
        </p:blipFill>
        <p:spPr>
          <a:xfrm>
            <a:off x="610077" y="968549"/>
            <a:ext cx="4642643" cy="5766430"/>
          </a:xfrm>
          <a:prstGeom prst="rect">
            <a:avLst/>
          </a:prstGeom>
          <a:ln>
            <a:solidFill>
              <a:schemeClr val="bg1">
                <a:lumMod val="85000"/>
              </a:schemeClr>
            </a:solidFill>
          </a:ln>
        </p:spPr>
      </p:pic>
      <p:grpSp>
        <p:nvGrpSpPr>
          <p:cNvPr id="2" name="Group 1">
            <a:extLst>
              <a:ext uri="{FF2B5EF4-FFF2-40B4-BE49-F238E27FC236}">
                <a16:creationId xmlns:a16="http://schemas.microsoft.com/office/drawing/2014/main" id="{448322CD-8D27-0C4E-A997-288C3FC10FFA}"/>
              </a:ext>
            </a:extLst>
          </p:cNvPr>
          <p:cNvGrpSpPr/>
          <p:nvPr/>
        </p:nvGrpSpPr>
        <p:grpSpPr>
          <a:xfrm>
            <a:off x="5963920" y="1039669"/>
            <a:ext cx="5761225" cy="5544011"/>
            <a:chOff x="5633955" y="1440773"/>
            <a:chExt cx="5258070" cy="4981116"/>
          </a:xfrm>
        </p:grpSpPr>
        <p:pic>
          <p:nvPicPr>
            <p:cNvPr id="7" name="Picture 6">
              <a:extLst>
                <a:ext uri="{FF2B5EF4-FFF2-40B4-BE49-F238E27FC236}">
                  <a16:creationId xmlns:a16="http://schemas.microsoft.com/office/drawing/2014/main" id="{0479F8E9-3337-75A5-F6B2-567871974B85}"/>
                </a:ext>
              </a:extLst>
            </p:cNvPr>
            <p:cNvPicPr>
              <a:picLocks noChangeAspect="1"/>
            </p:cNvPicPr>
            <p:nvPr/>
          </p:nvPicPr>
          <p:blipFill>
            <a:blip r:embed="rId3"/>
            <a:stretch>
              <a:fillRect/>
            </a:stretch>
          </p:blipFill>
          <p:spPr>
            <a:xfrm>
              <a:off x="6151507" y="1440773"/>
              <a:ext cx="4222967" cy="1619333"/>
            </a:xfrm>
            <a:prstGeom prst="rect">
              <a:avLst/>
            </a:prstGeom>
          </p:spPr>
        </p:pic>
        <p:pic>
          <p:nvPicPr>
            <p:cNvPr id="9" name="Picture 8">
              <a:extLst>
                <a:ext uri="{FF2B5EF4-FFF2-40B4-BE49-F238E27FC236}">
                  <a16:creationId xmlns:a16="http://schemas.microsoft.com/office/drawing/2014/main" id="{9B13F2C0-E7E0-9D78-D5AD-48EEF45610A0}"/>
                </a:ext>
              </a:extLst>
            </p:cNvPr>
            <p:cNvPicPr>
              <a:picLocks noChangeAspect="1"/>
            </p:cNvPicPr>
            <p:nvPr/>
          </p:nvPicPr>
          <p:blipFill>
            <a:blip r:embed="rId4"/>
            <a:stretch>
              <a:fillRect/>
            </a:stretch>
          </p:blipFill>
          <p:spPr>
            <a:xfrm>
              <a:off x="5633955" y="3151471"/>
              <a:ext cx="5258070" cy="3270418"/>
            </a:xfrm>
            <a:prstGeom prst="rect">
              <a:avLst/>
            </a:prstGeom>
            <a:ln>
              <a:solidFill>
                <a:schemeClr val="bg1">
                  <a:lumMod val="85000"/>
                </a:schemeClr>
              </a:solidFill>
            </a:ln>
          </p:spPr>
        </p:pic>
      </p:grpSp>
      <p:cxnSp>
        <p:nvCxnSpPr>
          <p:cNvPr id="4" name="Straight Connector 3">
            <a:extLst>
              <a:ext uri="{FF2B5EF4-FFF2-40B4-BE49-F238E27FC236}">
                <a16:creationId xmlns:a16="http://schemas.microsoft.com/office/drawing/2014/main" id="{99DF1A3A-077C-368B-FDD5-13DDB749F060}"/>
              </a:ext>
            </a:extLst>
          </p:cNvPr>
          <p:cNvCxnSpPr>
            <a:cxnSpLocks/>
          </p:cNvCxnSpPr>
          <p:nvPr/>
        </p:nvCxnSpPr>
        <p:spPr>
          <a:xfrm flipH="1">
            <a:off x="5618480" y="1039669"/>
            <a:ext cx="81280" cy="5655771"/>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7578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More on Exception Handling</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614680" y="954192"/>
            <a:ext cx="10449560" cy="2002368"/>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u="none" strike="noStrike" baseline="0" dirty="0">
                <a:solidFill>
                  <a:srgbClr val="000000"/>
                </a:solidFill>
                <a:latin typeface="TimesLTStd-Roman"/>
              </a:rPr>
              <a:t>The </a:t>
            </a:r>
            <a:r>
              <a:rPr lang="en-US" sz="2400" b="1" i="0" u="none" strike="noStrike" baseline="0" dirty="0">
                <a:solidFill>
                  <a:srgbClr val="00B0F0"/>
                </a:solidFill>
                <a:latin typeface="TimesLTStd-Roman"/>
              </a:rPr>
              <a:t>finally</a:t>
            </a:r>
            <a:r>
              <a:rPr lang="en-US" sz="2400" b="1" u="none" strike="noStrike" baseline="0" dirty="0">
                <a:solidFill>
                  <a:srgbClr val="000000"/>
                </a:solidFill>
                <a:latin typeface="TimesLTStd-Roman"/>
              </a:rPr>
              <a:t> Clause</a:t>
            </a:r>
          </a:p>
          <a:p>
            <a:r>
              <a:rPr lang="en-US" sz="2000" b="0" i="0" u="none" strike="noStrike" baseline="0" dirty="0">
                <a:solidFill>
                  <a:srgbClr val="000000"/>
                </a:solidFill>
                <a:latin typeface="TimesLTStd-Roman"/>
              </a:rPr>
              <a:t>Occasionally, you may want some code to be executed regardless of whether an exception occurs or is caught.</a:t>
            </a:r>
          </a:p>
          <a:p>
            <a:r>
              <a:rPr lang="en-US" sz="2000" b="0" i="0" u="none" strike="noStrike" baseline="0" dirty="0">
                <a:solidFill>
                  <a:srgbClr val="000000"/>
                </a:solidFill>
                <a:latin typeface="TimesLTStd-Roman"/>
              </a:rPr>
              <a:t>The code in the </a:t>
            </a:r>
            <a:r>
              <a:rPr lang="en-US" sz="2000" b="1" i="0" u="none" strike="noStrike" baseline="0" dirty="0">
                <a:solidFill>
                  <a:srgbClr val="00AFF0"/>
                </a:solidFill>
                <a:latin typeface="LucidaSansTypewriterStd-Bd"/>
              </a:rPr>
              <a:t>finally </a:t>
            </a:r>
            <a:r>
              <a:rPr lang="en-US" sz="2000" b="0" i="0" u="none" strike="noStrike" baseline="0" dirty="0">
                <a:solidFill>
                  <a:srgbClr val="000000"/>
                </a:solidFill>
                <a:latin typeface="TimesLTStd-Roman"/>
              </a:rPr>
              <a:t>block is executed under all circumstances, regardless of whether an exception occurs in the </a:t>
            </a:r>
            <a:r>
              <a:rPr lang="en-US" sz="2000" b="1" i="0" u="none" strike="noStrike" baseline="0" dirty="0">
                <a:solidFill>
                  <a:srgbClr val="00AFF0"/>
                </a:solidFill>
                <a:latin typeface="LucidaSansTypewriterStd-Bd"/>
              </a:rPr>
              <a:t>try </a:t>
            </a:r>
            <a:r>
              <a:rPr lang="en-US" sz="2000" b="0" i="0" u="none" strike="noStrike" baseline="0" dirty="0">
                <a:solidFill>
                  <a:srgbClr val="000000"/>
                </a:solidFill>
                <a:latin typeface="TimesLTStd-Roman"/>
              </a:rPr>
              <a:t>block or is caught. Consider three possible cases:</a:t>
            </a:r>
            <a:endParaRPr lang="en-US" sz="2000" b="1" i="1" dirty="0">
              <a:latin typeface="TimesLTStd-Roman"/>
            </a:endParaRPr>
          </a:p>
        </p:txBody>
      </p:sp>
      <p:grpSp>
        <p:nvGrpSpPr>
          <p:cNvPr id="7" name="Group 6">
            <a:extLst>
              <a:ext uri="{FF2B5EF4-FFF2-40B4-BE49-F238E27FC236}">
                <a16:creationId xmlns:a16="http://schemas.microsoft.com/office/drawing/2014/main" id="{65DD8385-C952-0514-B1AB-B9AE60795842}"/>
              </a:ext>
            </a:extLst>
          </p:cNvPr>
          <p:cNvGrpSpPr/>
          <p:nvPr/>
        </p:nvGrpSpPr>
        <p:grpSpPr>
          <a:xfrm>
            <a:off x="8566083" y="3604303"/>
            <a:ext cx="3493837" cy="2497487"/>
            <a:chOff x="2429443" y="3710273"/>
            <a:chExt cx="2578233" cy="1949550"/>
          </a:xfrm>
        </p:grpSpPr>
        <p:pic>
          <p:nvPicPr>
            <p:cNvPr id="3" name="Picture 2">
              <a:extLst>
                <a:ext uri="{FF2B5EF4-FFF2-40B4-BE49-F238E27FC236}">
                  <a16:creationId xmlns:a16="http://schemas.microsoft.com/office/drawing/2014/main" id="{93FAD374-58BB-5150-7537-734760073195}"/>
                </a:ext>
              </a:extLst>
            </p:cNvPr>
            <p:cNvPicPr>
              <a:picLocks noChangeAspect="1"/>
            </p:cNvPicPr>
            <p:nvPr/>
          </p:nvPicPr>
          <p:blipFill>
            <a:blip r:embed="rId2"/>
            <a:stretch>
              <a:fillRect/>
            </a:stretch>
          </p:blipFill>
          <p:spPr>
            <a:xfrm>
              <a:off x="2429443" y="3710273"/>
              <a:ext cx="2578233" cy="1225613"/>
            </a:xfrm>
            <a:prstGeom prst="rect">
              <a:avLst/>
            </a:prstGeom>
          </p:spPr>
        </p:pic>
        <p:pic>
          <p:nvPicPr>
            <p:cNvPr id="5" name="Picture 4">
              <a:extLst>
                <a:ext uri="{FF2B5EF4-FFF2-40B4-BE49-F238E27FC236}">
                  <a16:creationId xmlns:a16="http://schemas.microsoft.com/office/drawing/2014/main" id="{8A4D7C47-21DE-6552-C60D-465E1104DD8C}"/>
                </a:ext>
              </a:extLst>
            </p:cNvPr>
            <p:cNvPicPr>
              <a:picLocks noChangeAspect="1"/>
            </p:cNvPicPr>
            <p:nvPr/>
          </p:nvPicPr>
          <p:blipFill>
            <a:blip r:embed="rId3"/>
            <a:stretch>
              <a:fillRect/>
            </a:stretch>
          </p:blipFill>
          <p:spPr>
            <a:xfrm>
              <a:off x="2429443" y="4935886"/>
              <a:ext cx="1974951" cy="723937"/>
            </a:xfrm>
            <a:prstGeom prst="rect">
              <a:avLst/>
            </a:prstGeom>
          </p:spPr>
        </p:pic>
      </p:grpSp>
      <p:sp>
        <p:nvSpPr>
          <p:cNvPr id="15" name="Content Placeholder 2">
            <a:extLst>
              <a:ext uri="{FF2B5EF4-FFF2-40B4-BE49-F238E27FC236}">
                <a16:creationId xmlns:a16="http://schemas.microsoft.com/office/drawing/2014/main" id="{2F45A05B-50A5-DA84-BA4D-B04FDF39DE80}"/>
              </a:ext>
            </a:extLst>
          </p:cNvPr>
          <p:cNvSpPr txBox="1">
            <a:spLocks/>
          </p:cNvSpPr>
          <p:nvPr/>
        </p:nvSpPr>
        <p:spPr>
          <a:xfrm>
            <a:off x="614680" y="3043856"/>
            <a:ext cx="7696200" cy="3814144"/>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Wingdings" panose="05000000000000000000" pitchFamily="2" charset="2"/>
              <a:buChar char="Ø"/>
            </a:pPr>
            <a:r>
              <a:rPr lang="en-US" sz="1800" b="0" i="0" u="none" strike="noStrike" baseline="0" dirty="0">
                <a:solidFill>
                  <a:srgbClr val="000000"/>
                </a:solidFill>
                <a:latin typeface="TimesLTStd-Roman"/>
              </a:rPr>
              <a:t>If no exception arises in the </a:t>
            </a:r>
            <a:r>
              <a:rPr lang="en-US" sz="1800" b="1" i="0" u="none" strike="noStrike" baseline="0" dirty="0">
                <a:solidFill>
                  <a:srgbClr val="00AFF0"/>
                </a:solidFill>
                <a:latin typeface="TimesLTStd-Roman"/>
              </a:rPr>
              <a:t>try </a:t>
            </a:r>
            <a:r>
              <a:rPr lang="en-US" sz="1800" b="0" i="0" u="none" strike="noStrike" baseline="0" dirty="0">
                <a:solidFill>
                  <a:srgbClr val="000000"/>
                </a:solidFill>
                <a:latin typeface="TimesLTStd-Roman"/>
              </a:rPr>
              <a:t>block, </a:t>
            </a:r>
            <a:r>
              <a:rPr lang="en-US" sz="1800" b="1" i="0" u="none" strike="noStrike" baseline="0" dirty="0" err="1">
                <a:solidFill>
                  <a:srgbClr val="00AFF0"/>
                </a:solidFill>
                <a:latin typeface="TimesLTStd-Roman"/>
              </a:rPr>
              <a:t>finalStatements</a:t>
            </a:r>
            <a:r>
              <a:rPr lang="en-US" sz="1800" b="1" i="0" u="none" strike="noStrike" baseline="0" dirty="0">
                <a:solidFill>
                  <a:srgbClr val="00AFF0"/>
                </a:solidFill>
                <a:latin typeface="TimesLTStd-Roman"/>
              </a:rPr>
              <a:t> </a:t>
            </a:r>
            <a:r>
              <a:rPr lang="en-US" sz="1800" b="0" i="0" u="none" strike="noStrike" baseline="0" dirty="0">
                <a:solidFill>
                  <a:srgbClr val="000000"/>
                </a:solidFill>
                <a:latin typeface="TimesLTStd-Roman"/>
              </a:rPr>
              <a:t>is executed, and the next statement after the </a:t>
            </a:r>
            <a:r>
              <a:rPr lang="en-US" sz="1800" b="1" i="0" u="none" strike="noStrike" baseline="0" dirty="0">
                <a:solidFill>
                  <a:srgbClr val="00AFF0"/>
                </a:solidFill>
                <a:latin typeface="TimesLTStd-Roman"/>
              </a:rPr>
              <a:t>try </a:t>
            </a:r>
            <a:r>
              <a:rPr lang="en-US" sz="1800" b="0" i="0" u="none" strike="noStrike" baseline="0" dirty="0">
                <a:solidFill>
                  <a:srgbClr val="000000"/>
                </a:solidFill>
                <a:latin typeface="TimesLTStd-Roman"/>
              </a:rPr>
              <a:t>statement is executed.</a:t>
            </a:r>
          </a:p>
          <a:p>
            <a:pPr lvl="1">
              <a:buFont typeface="Wingdings" panose="05000000000000000000" pitchFamily="2" charset="2"/>
              <a:buChar char="Ø"/>
            </a:pPr>
            <a:r>
              <a:rPr lang="en-US" sz="1800" b="0" i="0" u="none" strike="noStrike" baseline="0" dirty="0">
                <a:solidFill>
                  <a:srgbClr val="000000"/>
                </a:solidFill>
                <a:latin typeface="TimesLTStd-Roman"/>
              </a:rPr>
              <a:t>If a statement causes an exception in the </a:t>
            </a:r>
            <a:r>
              <a:rPr lang="en-US" sz="1800" b="1" i="0" u="none" strike="noStrike" baseline="0" dirty="0">
                <a:solidFill>
                  <a:srgbClr val="00AFF0"/>
                </a:solidFill>
                <a:latin typeface="TimesLTStd-Roman"/>
              </a:rPr>
              <a:t>try </a:t>
            </a:r>
            <a:r>
              <a:rPr lang="en-US" sz="1800" b="0" i="0" u="none" strike="noStrike" baseline="0" dirty="0">
                <a:solidFill>
                  <a:srgbClr val="000000"/>
                </a:solidFill>
                <a:latin typeface="TimesLTStd-Roman"/>
              </a:rPr>
              <a:t>block that is caught in a </a:t>
            </a:r>
            <a:r>
              <a:rPr lang="en-US" sz="1800" b="1" i="0" u="none" strike="noStrike" baseline="0" dirty="0">
                <a:solidFill>
                  <a:srgbClr val="00AFF0"/>
                </a:solidFill>
                <a:latin typeface="TimesLTStd-Roman"/>
              </a:rPr>
              <a:t>catch </a:t>
            </a:r>
            <a:r>
              <a:rPr lang="en-US" sz="1800" b="0" i="0" u="none" strike="noStrike" baseline="0" dirty="0">
                <a:solidFill>
                  <a:srgbClr val="000000"/>
                </a:solidFill>
                <a:latin typeface="TimesLTStd-Roman"/>
              </a:rPr>
              <a:t>block, the rest of the statements in the </a:t>
            </a:r>
            <a:r>
              <a:rPr lang="en-US" sz="1800" b="1" i="0" u="none" strike="noStrike" baseline="0" dirty="0">
                <a:solidFill>
                  <a:srgbClr val="00AFF0"/>
                </a:solidFill>
                <a:latin typeface="TimesLTStd-Roman"/>
              </a:rPr>
              <a:t>try </a:t>
            </a:r>
            <a:r>
              <a:rPr lang="en-US" sz="1800" b="0" i="0" u="none" strike="noStrike" baseline="0" dirty="0">
                <a:solidFill>
                  <a:srgbClr val="000000"/>
                </a:solidFill>
                <a:latin typeface="TimesLTStd-Roman"/>
              </a:rPr>
              <a:t>block are skipped, the </a:t>
            </a:r>
            <a:r>
              <a:rPr lang="en-US" sz="1800" b="1" i="0" u="none" strike="noStrike" baseline="0" dirty="0">
                <a:solidFill>
                  <a:srgbClr val="00AFF0"/>
                </a:solidFill>
                <a:latin typeface="TimesLTStd-Roman"/>
              </a:rPr>
              <a:t>catch </a:t>
            </a:r>
            <a:r>
              <a:rPr lang="en-US" sz="1800" b="0" i="0" u="none" strike="noStrike" baseline="0" dirty="0">
                <a:solidFill>
                  <a:srgbClr val="000000"/>
                </a:solidFill>
                <a:latin typeface="TimesLTStd-Roman"/>
              </a:rPr>
              <a:t>block is executed, and the </a:t>
            </a:r>
            <a:r>
              <a:rPr lang="en-US" sz="1800" b="1" i="0" u="none" strike="noStrike" baseline="0" dirty="0">
                <a:solidFill>
                  <a:srgbClr val="00AFF0"/>
                </a:solidFill>
                <a:latin typeface="TimesLTStd-Roman"/>
              </a:rPr>
              <a:t>finally </a:t>
            </a:r>
            <a:r>
              <a:rPr lang="en-US" sz="1800" b="0" i="0" u="none" strike="noStrike" baseline="0" dirty="0">
                <a:solidFill>
                  <a:srgbClr val="000000"/>
                </a:solidFill>
                <a:latin typeface="TimesLTStd-Roman"/>
              </a:rPr>
              <a:t>clause is executed. The next statement after the </a:t>
            </a:r>
            <a:r>
              <a:rPr lang="en-US" sz="1800" b="1" i="0" u="none" strike="noStrike" baseline="0" dirty="0">
                <a:solidFill>
                  <a:srgbClr val="00AFF0"/>
                </a:solidFill>
                <a:latin typeface="TimesLTStd-Roman"/>
              </a:rPr>
              <a:t>try </a:t>
            </a:r>
            <a:r>
              <a:rPr lang="en-US" sz="1800" b="0" i="0" u="none" strike="noStrike" baseline="0" dirty="0">
                <a:solidFill>
                  <a:srgbClr val="000000"/>
                </a:solidFill>
                <a:latin typeface="TimesLTStd-Roman"/>
              </a:rPr>
              <a:t>statement is executed.</a:t>
            </a:r>
          </a:p>
          <a:p>
            <a:pPr lvl="1">
              <a:buFont typeface="Wingdings" panose="05000000000000000000" pitchFamily="2" charset="2"/>
              <a:buChar char="Ø"/>
            </a:pPr>
            <a:r>
              <a:rPr lang="en-US" sz="1800" b="0" i="0" u="none" strike="noStrike" baseline="0" dirty="0">
                <a:solidFill>
                  <a:srgbClr val="000000"/>
                </a:solidFill>
                <a:latin typeface="TimesLTStd-Roman"/>
              </a:rPr>
              <a:t>If one of the statements causes an exception that is not caught in any </a:t>
            </a:r>
            <a:r>
              <a:rPr lang="en-US" sz="1800" b="1" i="0" u="none" strike="noStrike" baseline="0" dirty="0">
                <a:solidFill>
                  <a:srgbClr val="00AFF0"/>
                </a:solidFill>
                <a:latin typeface="TimesLTStd-Roman"/>
              </a:rPr>
              <a:t>catch </a:t>
            </a:r>
            <a:r>
              <a:rPr lang="en-US" sz="1800" b="0" i="0" u="none" strike="noStrike" baseline="0" dirty="0">
                <a:solidFill>
                  <a:srgbClr val="000000"/>
                </a:solidFill>
                <a:latin typeface="TimesLTStd-Roman"/>
              </a:rPr>
              <a:t>block, the other statements in the </a:t>
            </a:r>
            <a:r>
              <a:rPr lang="en-US" sz="1800" b="1" i="0" u="none" strike="noStrike" baseline="0" dirty="0">
                <a:solidFill>
                  <a:srgbClr val="00AFF0"/>
                </a:solidFill>
                <a:latin typeface="TimesLTStd-Roman"/>
              </a:rPr>
              <a:t>try </a:t>
            </a:r>
            <a:r>
              <a:rPr lang="en-US" sz="1800" b="0" i="0" u="none" strike="noStrike" baseline="0" dirty="0">
                <a:solidFill>
                  <a:srgbClr val="000000"/>
                </a:solidFill>
                <a:latin typeface="TimesLTStd-Roman"/>
              </a:rPr>
              <a:t>block are skipped, the </a:t>
            </a:r>
            <a:r>
              <a:rPr lang="en-US" sz="1800" b="1" i="0" u="none" strike="noStrike" baseline="0" dirty="0">
                <a:solidFill>
                  <a:srgbClr val="00AFF0"/>
                </a:solidFill>
                <a:latin typeface="TimesLTStd-Roman"/>
              </a:rPr>
              <a:t>finally </a:t>
            </a:r>
            <a:r>
              <a:rPr lang="en-US" sz="1800" b="0" i="0" u="none" strike="noStrike" baseline="0" dirty="0">
                <a:solidFill>
                  <a:srgbClr val="000000"/>
                </a:solidFill>
                <a:latin typeface="TimesLTStd-Roman"/>
              </a:rPr>
              <a:t>clause is executed, and the exception is passed to the caller of this method.</a:t>
            </a:r>
          </a:p>
          <a:p>
            <a:pPr algn="l"/>
            <a:r>
              <a:rPr lang="en-US" sz="2000" b="0" i="0" u="none" strike="noStrike" baseline="0" dirty="0">
                <a:solidFill>
                  <a:srgbClr val="000000"/>
                </a:solidFill>
                <a:latin typeface="TimesLTStd-Roman"/>
              </a:rPr>
              <a:t>The </a:t>
            </a:r>
            <a:r>
              <a:rPr lang="en-US" sz="2000" b="1" i="0" u="none" strike="noStrike" baseline="0" dirty="0">
                <a:solidFill>
                  <a:srgbClr val="00AFF0"/>
                </a:solidFill>
                <a:latin typeface="LucidaSansTypewriterStd-Bd"/>
              </a:rPr>
              <a:t>finally </a:t>
            </a:r>
            <a:r>
              <a:rPr lang="en-US" sz="2000" b="0" i="0" u="none" strike="noStrike" baseline="0" dirty="0">
                <a:solidFill>
                  <a:srgbClr val="000000"/>
                </a:solidFill>
                <a:latin typeface="TimesLTStd-Roman"/>
              </a:rPr>
              <a:t>block executes even if there is a </a:t>
            </a:r>
            <a:r>
              <a:rPr lang="en-US" sz="2000" b="1" i="0" u="none" strike="noStrike" baseline="0" dirty="0">
                <a:solidFill>
                  <a:srgbClr val="00AFF0"/>
                </a:solidFill>
                <a:latin typeface="LucidaSansTypewriterStd-Bd"/>
              </a:rPr>
              <a:t>return </a:t>
            </a:r>
            <a:r>
              <a:rPr lang="en-US" sz="2000" b="0" i="0" u="none" strike="noStrike" baseline="0" dirty="0">
                <a:solidFill>
                  <a:srgbClr val="000000"/>
                </a:solidFill>
                <a:latin typeface="TimesLTStd-Roman"/>
              </a:rPr>
              <a:t>statement prior to reaching the </a:t>
            </a:r>
            <a:r>
              <a:rPr lang="en-US" sz="2000" b="1" i="0" u="none" strike="noStrike" baseline="0" dirty="0">
                <a:solidFill>
                  <a:srgbClr val="00AFF0"/>
                </a:solidFill>
                <a:latin typeface="LucidaSansTypewriterStd-Bd"/>
              </a:rPr>
              <a:t>finally </a:t>
            </a:r>
            <a:r>
              <a:rPr lang="en-US" sz="2000" b="0" i="0" u="none" strike="noStrike" baseline="0" dirty="0">
                <a:solidFill>
                  <a:srgbClr val="000000"/>
                </a:solidFill>
                <a:latin typeface="TimesLTStd-Roman"/>
              </a:rPr>
              <a:t>block.</a:t>
            </a:r>
          </a:p>
          <a:p>
            <a:pPr algn="l"/>
            <a:r>
              <a:rPr lang="en-US" sz="2000" dirty="0">
                <a:solidFill>
                  <a:srgbClr val="000000"/>
                </a:solidFill>
                <a:latin typeface="TimesLTStd-Roman"/>
              </a:rPr>
              <a:t>Note: The </a:t>
            </a:r>
            <a:r>
              <a:rPr lang="en-US" sz="2000" b="1" dirty="0">
                <a:solidFill>
                  <a:srgbClr val="00B0F0"/>
                </a:solidFill>
                <a:latin typeface="TimesLTStd-Roman"/>
              </a:rPr>
              <a:t>catch</a:t>
            </a:r>
            <a:r>
              <a:rPr lang="en-US" sz="2000" dirty="0">
                <a:solidFill>
                  <a:srgbClr val="000000"/>
                </a:solidFill>
                <a:latin typeface="TimesLTStd-Roman"/>
              </a:rPr>
              <a:t> block may be omitted when the </a:t>
            </a:r>
            <a:r>
              <a:rPr lang="en-US" sz="2000" b="1" dirty="0">
                <a:solidFill>
                  <a:srgbClr val="00B0F0"/>
                </a:solidFill>
                <a:latin typeface="TimesLTStd-Roman"/>
              </a:rPr>
              <a:t>finally</a:t>
            </a:r>
            <a:r>
              <a:rPr lang="en-US" sz="2000" dirty="0">
                <a:solidFill>
                  <a:srgbClr val="000000"/>
                </a:solidFill>
                <a:latin typeface="TimesLTStd-Roman"/>
              </a:rPr>
              <a:t> clause is used.</a:t>
            </a:r>
            <a:endParaRPr lang="en-US" sz="2400" b="1" i="1" dirty="0">
              <a:latin typeface="TimesLTStd-Roman"/>
            </a:endParaRPr>
          </a:p>
        </p:txBody>
      </p:sp>
    </p:spTree>
    <p:extLst>
      <p:ext uri="{BB962C8B-B14F-4D97-AF65-F5344CB8AC3E}">
        <p14:creationId xmlns:p14="http://schemas.microsoft.com/office/powerpoint/2010/main" val="1725285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
            <a:ext cx="10337800" cy="614023"/>
          </a:xfrm>
        </p:spPr>
        <p:txBody>
          <a:bodyPr>
            <a:noAutofit/>
          </a:bodyPr>
          <a:lstStyle/>
          <a:p>
            <a:r>
              <a:rPr lang="en-US" sz="4000" b="1" dirty="0">
                <a:solidFill>
                  <a:schemeClr val="bg1"/>
                </a:solidFill>
              </a:rPr>
              <a:t>Defining Custom Exception Classes</a:t>
            </a:r>
            <a:endParaRPr lang="en-US" sz="3600" b="1" dirty="0">
              <a:solidFill>
                <a:schemeClr val="bg1"/>
              </a:solidFill>
            </a:endParaRPr>
          </a:p>
        </p:txBody>
      </p:sp>
      <p:sp>
        <p:nvSpPr>
          <p:cNvPr id="16" name="Content Placeholder 2">
            <a:extLst>
              <a:ext uri="{FF2B5EF4-FFF2-40B4-BE49-F238E27FC236}">
                <a16:creationId xmlns:a16="http://schemas.microsoft.com/office/drawing/2014/main" id="{38511F12-A274-9BF5-D4AA-519259A05E29}"/>
              </a:ext>
            </a:extLst>
          </p:cNvPr>
          <p:cNvSpPr txBox="1">
            <a:spLocks/>
          </p:cNvSpPr>
          <p:nvPr/>
        </p:nvSpPr>
        <p:spPr>
          <a:xfrm>
            <a:off x="574040" y="1009729"/>
            <a:ext cx="10835640" cy="2419271"/>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0" i="0" u="none" strike="noStrike" baseline="0" dirty="0">
                <a:solidFill>
                  <a:srgbClr val="000000"/>
                </a:solidFill>
                <a:latin typeface="TimesLTStd-Roman"/>
              </a:rPr>
              <a:t>Java provides quite a few exception classes. Use them whenever possible instead of defining your own exception classes.</a:t>
            </a:r>
          </a:p>
          <a:p>
            <a:r>
              <a:rPr lang="en-US" sz="1800" b="0" i="0" u="none" strike="noStrike" baseline="0" dirty="0">
                <a:solidFill>
                  <a:srgbClr val="000000"/>
                </a:solidFill>
                <a:latin typeface="TimesLTStd-Roman"/>
              </a:rPr>
              <a:t>However, if you run into a problem that cannot be adequately described by the predefined exception classes, you can create your own exception class, derived from </a:t>
            </a:r>
            <a:r>
              <a:rPr lang="en-US" sz="1800" b="1" i="0" u="none" strike="noStrike" baseline="0" dirty="0">
                <a:solidFill>
                  <a:srgbClr val="00B0F0"/>
                </a:solidFill>
                <a:latin typeface="TimesLTStd-Roman"/>
              </a:rPr>
              <a:t>Exception</a:t>
            </a:r>
            <a:r>
              <a:rPr lang="en-US" sz="1800" b="0" i="0" u="none" strike="noStrike" baseline="0" dirty="0">
                <a:solidFill>
                  <a:srgbClr val="000000"/>
                </a:solidFill>
                <a:latin typeface="TimesLTStd-Roman"/>
              </a:rPr>
              <a:t> or from a subclass of </a:t>
            </a:r>
            <a:r>
              <a:rPr lang="en-US" sz="1800" b="1" i="0" u="none" strike="noStrike" baseline="0" dirty="0">
                <a:solidFill>
                  <a:srgbClr val="00B0F0"/>
                </a:solidFill>
                <a:latin typeface="TimesLTStd-Roman"/>
              </a:rPr>
              <a:t>Exception</a:t>
            </a:r>
            <a:r>
              <a:rPr lang="en-US" sz="1800" b="0" i="0" u="none" strike="noStrike" baseline="0" dirty="0">
                <a:solidFill>
                  <a:srgbClr val="000000"/>
                </a:solidFill>
                <a:latin typeface="TimesLTStd-Roman"/>
              </a:rPr>
              <a:t>, such as </a:t>
            </a:r>
            <a:r>
              <a:rPr lang="en-US" sz="1800" b="1" i="0" u="none" strike="noStrike" baseline="0" dirty="0" err="1">
                <a:solidFill>
                  <a:srgbClr val="00B0F0"/>
                </a:solidFill>
                <a:latin typeface="TimesLTStd-Roman"/>
              </a:rPr>
              <a:t>IOException</a:t>
            </a:r>
            <a:r>
              <a:rPr lang="en-US" sz="1800" b="0" i="0" u="none" strike="noStrike" baseline="0" dirty="0">
                <a:solidFill>
                  <a:srgbClr val="000000"/>
                </a:solidFill>
                <a:latin typeface="TimesLTStd-Roman"/>
              </a:rPr>
              <a:t>.</a:t>
            </a:r>
          </a:p>
          <a:p>
            <a:r>
              <a:rPr lang="en-US" sz="1800" dirty="0">
                <a:solidFill>
                  <a:srgbClr val="000000"/>
                </a:solidFill>
                <a:latin typeface="TimesLTStd-Roman"/>
              </a:rPr>
              <a:t>Example: In Listing 12.7, CircleWithException.java, the </a:t>
            </a:r>
            <a:r>
              <a:rPr lang="en-US" sz="1800" b="1" dirty="0" err="1">
                <a:solidFill>
                  <a:srgbClr val="00B0F0"/>
                </a:solidFill>
                <a:latin typeface="TimesLTStd-Roman"/>
              </a:rPr>
              <a:t>setRadius</a:t>
            </a:r>
            <a:r>
              <a:rPr lang="en-US" sz="1800" dirty="0">
                <a:solidFill>
                  <a:srgbClr val="000000"/>
                </a:solidFill>
                <a:latin typeface="TimesLTStd-Roman"/>
              </a:rPr>
              <a:t> method throws an exception if the radius is negative. Suppose you wish to pass the radius to the handler. In that case, you can define a custom exception class, as shown in the next slide (Listing 12.10).</a:t>
            </a:r>
            <a:endParaRPr lang="en-US" sz="1800" b="1" i="1" dirty="0">
              <a:latin typeface="TimesLTStd-Roman"/>
            </a:endParaRPr>
          </a:p>
        </p:txBody>
      </p:sp>
      <p:pic>
        <p:nvPicPr>
          <p:cNvPr id="4" name="Picture 3">
            <a:extLst>
              <a:ext uri="{FF2B5EF4-FFF2-40B4-BE49-F238E27FC236}">
                <a16:creationId xmlns:a16="http://schemas.microsoft.com/office/drawing/2014/main" id="{932D08BB-DFBE-AC42-DBEC-079547AD9499}"/>
              </a:ext>
            </a:extLst>
          </p:cNvPr>
          <p:cNvPicPr>
            <a:picLocks noChangeAspect="1"/>
          </p:cNvPicPr>
          <p:nvPr/>
        </p:nvPicPr>
        <p:blipFill>
          <a:blip r:embed="rId2"/>
          <a:stretch>
            <a:fillRect/>
          </a:stretch>
        </p:blipFill>
        <p:spPr>
          <a:xfrm>
            <a:off x="3159614" y="3674030"/>
            <a:ext cx="5664491" cy="3086259"/>
          </a:xfrm>
          <a:prstGeom prst="rect">
            <a:avLst/>
          </a:prstGeom>
          <a:ln>
            <a:solidFill>
              <a:schemeClr val="bg1">
                <a:lumMod val="85000"/>
              </a:schemeClr>
            </a:solidFill>
          </a:ln>
        </p:spPr>
      </p:pic>
    </p:spTree>
    <p:extLst>
      <p:ext uri="{BB962C8B-B14F-4D97-AF65-F5344CB8AC3E}">
        <p14:creationId xmlns:p14="http://schemas.microsoft.com/office/powerpoint/2010/main" val="1730512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Defining Custom Exception Classes</a:t>
            </a:r>
            <a:endParaRPr lang="en-US" sz="3600" b="1" dirty="0">
              <a:solidFill>
                <a:schemeClr val="bg1"/>
              </a:solidFill>
            </a:endParaRPr>
          </a:p>
        </p:txBody>
      </p:sp>
      <p:pic>
        <p:nvPicPr>
          <p:cNvPr id="4" name="Picture 3">
            <a:extLst>
              <a:ext uri="{FF2B5EF4-FFF2-40B4-BE49-F238E27FC236}">
                <a16:creationId xmlns:a16="http://schemas.microsoft.com/office/drawing/2014/main" id="{966A3B18-AFC3-7E21-2722-CCE52E9EFC55}"/>
              </a:ext>
            </a:extLst>
          </p:cNvPr>
          <p:cNvPicPr>
            <a:picLocks noChangeAspect="1"/>
          </p:cNvPicPr>
          <p:nvPr/>
        </p:nvPicPr>
        <p:blipFill>
          <a:blip r:embed="rId2"/>
          <a:stretch>
            <a:fillRect/>
          </a:stretch>
        </p:blipFill>
        <p:spPr>
          <a:xfrm>
            <a:off x="274529" y="1095257"/>
            <a:ext cx="6106367" cy="5153143"/>
          </a:xfrm>
          <a:prstGeom prst="rect">
            <a:avLst/>
          </a:prstGeom>
          <a:ln>
            <a:solidFill>
              <a:schemeClr val="bg1">
                <a:lumMod val="85000"/>
              </a:schemeClr>
            </a:solidFill>
          </a:ln>
        </p:spPr>
      </p:pic>
      <p:grpSp>
        <p:nvGrpSpPr>
          <p:cNvPr id="10" name="Group 9">
            <a:extLst>
              <a:ext uri="{FF2B5EF4-FFF2-40B4-BE49-F238E27FC236}">
                <a16:creationId xmlns:a16="http://schemas.microsoft.com/office/drawing/2014/main" id="{EAAF542C-43D7-A24E-6D7B-1DF8459F5C5D}"/>
              </a:ext>
            </a:extLst>
          </p:cNvPr>
          <p:cNvGrpSpPr/>
          <p:nvPr/>
        </p:nvGrpSpPr>
        <p:grpSpPr>
          <a:xfrm>
            <a:off x="6593840" y="924561"/>
            <a:ext cx="5191760" cy="5746278"/>
            <a:chOff x="6126480" y="1156217"/>
            <a:chExt cx="4920093" cy="5473981"/>
          </a:xfrm>
        </p:grpSpPr>
        <p:pic>
          <p:nvPicPr>
            <p:cNvPr id="7" name="Picture 6">
              <a:extLst>
                <a:ext uri="{FF2B5EF4-FFF2-40B4-BE49-F238E27FC236}">
                  <a16:creationId xmlns:a16="http://schemas.microsoft.com/office/drawing/2014/main" id="{9D39FF43-6F7F-0F55-DE6F-7FEDBFF6086D}"/>
                </a:ext>
              </a:extLst>
            </p:cNvPr>
            <p:cNvPicPr>
              <a:picLocks noChangeAspect="1"/>
            </p:cNvPicPr>
            <p:nvPr/>
          </p:nvPicPr>
          <p:blipFill>
            <a:blip r:embed="rId3"/>
            <a:stretch>
              <a:fillRect/>
            </a:stretch>
          </p:blipFill>
          <p:spPr>
            <a:xfrm>
              <a:off x="6652147" y="1156217"/>
              <a:ext cx="4394426" cy="1409772"/>
            </a:xfrm>
            <a:prstGeom prst="rect">
              <a:avLst/>
            </a:prstGeom>
          </p:spPr>
        </p:pic>
        <p:pic>
          <p:nvPicPr>
            <p:cNvPr id="9" name="Picture 8">
              <a:extLst>
                <a:ext uri="{FF2B5EF4-FFF2-40B4-BE49-F238E27FC236}">
                  <a16:creationId xmlns:a16="http://schemas.microsoft.com/office/drawing/2014/main" id="{4B7EBF17-F942-1419-3B2F-913CA4816374}"/>
                </a:ext>
              </a:extLst>
            </p:cNvPr>
            <p:cNvPicPr>
              <a:picLocks noChangeAspect="1"/>
            </p:cNvPicPr>
            <p:nvPr/>
          </p:nvPicPr>
          <p:blipFill>
            <a:blip r:embed="rId4"/>
            <a:stretch>
              <a:fillRect/>
            </a:stretch>
          </p:blipFill>
          <p:spPr>
            <a:xfrm>
              <a:off x="6126480" y="2565989"/>
              <a:ext cx="4718292" cy="4064209"/>
            </a:xfrm>
            <a:prstGeom prst="rect">
              <a:avLst/>
            </a:prstGeom>
            <a:ln>
              <a:solidFill>
                <a:schemeClr val="bg1">
                  <a:lumMod val="85000"/>
                </a:schemeClr>
              </a:solidFill>
            </a:ln>
          </p:spPr>
        </p:pic>
      </p:grpSp>
      <p:cxnSp>
        <p:nvCxnSpPr>
          <p:cNvPr id="11" name="Straight Connector 10">
            <a:extLst>
              <a:ext uri="{FF2B5EF4-FFF2-40B4-BE49-F238E27FC236}">
                <a16:creationId xmlns:a16="http://schemas.microsoft.com/office/drawing/2014/main" id="{AE0E3F3A-3637-75E7-6FBB-1F952A9C6544}"/>
              </a:ext>
            </a:extLst>
          </p:cNvPr>
          <p:cNvCxnSpPr>
            <a:cxnSpLocks/>
          </p:cNvCxnSpPr>
          <p:nvPr/>
        </p:nvCxnSpPr>
        <p:spPr>
          <a:xfrm flipH="1">
            <a:off x="6482081" y="924561"/>
            <a:ext cx="81280" cy="5655771"/>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45977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14557</TotalTime>
  <Words>1867</Words>
  <Application>Microsoft Office PowerPoint</Application>
  <PresentationFormat>Widescreen</PresentationFormat>
  <Paragraphs>118</Paragraphs>
  <Slides>22</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Arial</vt:lpstr>
      <vt:lpstr>Calibri</vt:lpstr>
      <vt:lpstr>Courier New</vt:lpstr>
      <vt:lpstr>Garamond</vt:lpstr>
      <vt:lpstr>GoudySansStd-Bold-SC750</vt:lpstr>
      <vt:lpstr>LucidaSansTypewriterStd</vt:lpstr>
      <vt:lpstr>LucidaSansTypewriterStd-Bd</vt:lpstr>
      <vt:lpstr>LucidaSansTypewriterStd-BOb</vt:lpstr>
      <vt:lpstr>TimesLTStd-Italic</vt:lpstr>
      <vt:lpstr>TimesLTStd-Roman</vt:lpstr>
      <vt:lpstr>Wingdings</vt:lpstr>
      <vt:lpstr>Office Theme</vt:lpstr>
      <vt:lpstr>Java Exception Handling Chapter 12  Introduction to Java Programming – Comprehensive Version Y. Daniel Liang   </vt:lpstr>
      <vt:lpstr>Introduction</vt:lpstr>
      <vt:lpstr>Exception Handling Overview</vt:lpstr>
      <vt:lpstr>Exception Handling Overview</vt:lpstr>
      <vt:lpstr>Exception Handling Overview</vt:lpstr>
      <vt:lpstr>Exception Handling Overview</vt:lpstr>
      <vt:lpstr>Exception Handling Overview</vt:lpstr>
      <vt:lpstr>Exception Handling Overview</vt:lpstr>
      <vt:lpstr>Exception Handling Overview</vt:lpstr>
      <vt:lpstr>Exception Handling Overview</vt:lpstr>
      <vt:lpstr>Exception Types</vt:lpstr>
      <vt:lpstr>More on Exception Handling</vt:lpstr>
      <vt:lpstr>More on Exception Handling</vt:lpstr>
      <vt:lpstr>More on Exception Handling</vt:lpstr>
      <vt:lpstr>More on Exception Handling</vt:lpstr>
      <vt:lpstr>More on Exception Handling</vt:lpstr>
      <vt:lpstr>More on Exception Handling</vt:lpstr>
      <vt:lpstr>More on Exception Handling</vt:lpstr>
      <vt:lpstr>More on Exception Handling</vt:lpstr>
      <vt:lpstr>More on Exception Handling</vt:lpstr>
      <vt:lpstr>Defining Custom Exception Classes</vt:lpstr>
      <vt:lpstr>Defining Custom Exception Classes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Symmetric Cryptography</dc:title>
  <dc:creator>Md Hasanul Ferdaus</dc:creator>
  <cp:lastModifiedBy>Md Hasanul Ferdaus</cp:lastModifiedBy>
  <cp:revision>1070</cp:revision>
  <dcterms:created xsi:type="dcterms:W3CDTF">2023-02-09T14:28:53Z</dcterms:created>
  <dcterms:modified xsi:type="dcterms:W3CDTF">2025-12-09T14:22:09Z</dcterms:modified>
</cp:coreProperties>
</file>