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4" r:id="rId2"/>
    <p:sldId id="331" r:id="rId3"/>
    <p:sldId id="353" r:id="rId4"/>
    <p:sldId id="354" r:id="rId5"/>
    <p:sldId id="355" r:id="rId6"/>
    <p:sldId id="356" r:id="rId7"/>
    <p:sldId id="358" r:id="rId8"/>
    <p:sldId id="357" r:id="rId9"/>
    <p:sldId id="359" r:id="rId10"/>
    <p:sldId id="360" r:id="rId11"/>
    <p:sldId id="361" r:id="rId12"/>
    <p:sldId id="363" r:id="rId13"/>
    <p:sldId id="364" r:id="rId14"/>
    <p:sldId id="365" r:id="rId15"/>
    <p:sldId id="366" r:id="rId16"/>
    <p:sldId id="367" r:id="rId17"/>
    <p:sldId id="368" r:id="rId18"/>
    <p:sldId id="3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3447" autoAdjust="0"/>
  </p:normalViewPr>
  <p:slideViewPr>
    <p:cSldViewPr snapToGrid="0">
      <p:cViewPr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8317-623C-4883-B4AD-1E295C46C63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DA18-703C-41F4-A31A-FBA9B10C8D2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18D0-63ED-46DE-A08D-E622FB3A899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E250-FEB3-4DD2-9052-B6062BC2703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C8DC-0449-45F4-AFBA-7979DF7CA5D5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47AC-9E37-4986-8D3D-D024A0051A3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B43A-75F1-45AC-AF22-611DAA98945F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6E55-D0AD-40F6-B05B-B5DB2C32EDA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B8391-A988-45C0-9910-040D87DDCA2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EA199-0764-418B-A66D-D876F64CE83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24A-87B1-4D68-8D22-236F2F55ED4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27700-82ED-4E52-93AE-412B36EDC3FC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59840"/>
            <a:ext cx="12192000" cy="511048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File I/O</a:t>
            </a:r>
            <a:b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12</a:t>
            </a:r>
            <a:b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Sections 12.10 </a:t>
            </a:r>
            <a:r>
              <a:rPr lang="en-US" sz="3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12.11</a:t>
            </a:r>
            <a:b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Java Programming – Comprehensive Version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Y. Daniel Liang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chemeClr val="accent1"/>
                </a:solidFill>
              </a:rPr>
            </a:br>
            <a:br>
              <a:rPr lang="en-US" sz="4000" b="1" dirty="0">
                <a:solidFill>
                  <a:schemeClr val="accent1"/>
                </a:solidFill>
              </a:rPr>
            </a:br>
            <a:endParaRPr lang="en-US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File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68959" y="1076960"/>
            <a:ext cx="11196321" cy="5364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2400" b="1" i="1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 class contains the methods for obtaining the properties of a file/directory and for renaming and deleting a file/directory.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Data stored in a program are temporary; they are lost when the program terminates. 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To permanently store the data created in a program, you need to save them in a file on a disk or other permanent storage device. 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The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class enables us to obtain file/directory properties, to delete and rename files/directories, and to create new directories.</a:t>
            </a:r>
            <a:endParaRPr lang="en-US" sz="2400" dirty="0">
              <a:latin typeface="TimesLTStd-Roman"/>
            </a:endParaRPr>
          </a:p>
          <a:p>
            <a:endParaRPr lang="en-US" sz="2400" b="0" i="0" u="none" strike="noStrike" baseline="0" dirty="0"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57317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Absolute File Name vs. Relative File Name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68959" y="1097280"/>
            <a:ext cx="11196321" cy="553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Every file is placed in a directory in the file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0" u="none" strike="noStrike" baseline="0" dirty="0">
                <a:latin typeface="TimesLTStd-Roman"/>
              </a:rPr>
              <a:t>Absolute File Name </a:t>
            </a:r>
            <a:endParaRPr lang="en-US" sz="2400" b="0" i="0" u="none" strike="noStrike" baseline="0" dirty="0">
              <a:latin typeface="TimesLTStd-Roman"/>
            </a:endParaRP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An </a:t>
            </a:r>
            <a:r>
              <a:rPr lang="en-US" sz="2400" b="1" i="1" u="none" strike="noStrike" baseline="0" dirty="0">
                <a:latin typeface="TimesLTStd-Roman"/>
              </a:rPr>
              <a:t>absolute file name</a:t>
            </a:r>
            <a:r>
              <a:rPr lang="en-US" sz="2400" b="0" i="0" u="none" strike="noStrike" baseline="0" dirty="0">
                <a:latin typeface="TimesLTStd-Roman"/>
              </a:rPr>
              <a:t> (or </a:t>
            </a:r>
            <a:r>
              <a:rPr lang="en-US" sz="2400" b="1" i="1" u="none" strike="noStrike" baseline="0" dirty="0">
                <a:latin typeface="TimesLTStd-Roman"/>
              </a:rPr>
              <a:t>full name</a:t>
            </a:r>
            <a:r>
              <a:rPr lang="en-US" sz="2400" b="0" i="0" u="none" strike="noStrike" baseline="0" dirty="0">
                <a:latin typeface="TimesLTStd-Roman"/>
              </a:rPr>
              <a:t>) contains a file name with its complete path and drive letter.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LTStd-Roman"/>
              </a:rPr>
              <a:t>For example, c:\book\Welcome.java is the absolute file name for the file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Welcome.java </a:t>
            </a:r>
            <a:r>
              <a:rPr lang="en-US" sz="2400" dirty="0">
                <a:latin typeface="TimesLTStd-Roman"/>
              </a:rPr>
              <a:t>on the Windows operating system.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LTStd-Roman"/>
              </a:rPr>
              <a:t>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c:\book</a:t>
            </a:r>
            <a:r>
              <a:rPr lang="en-US" sz="2000" dirty="0">
                <a:latin typeface="TimesLTStd-Roman"/>
              </a:rPr>
              <a:t> is referred to as the </a:t>
            </a:r>
            <a:r>
              <a:rPr lang="en-US" sz="2000" b="1" dirty="0">
                <a:latin typeface="TimesLTStd-Roman"/>
              </a:rPr>
              <a:t>directory path</a:t>
            </a:r>
            <a:r>
              <a:rPr lang="en-US" sz="2000" dirty="0">
                <a:latin typeface="TimesLTStd-Roman"/>
              </a:rPr>
              <a:t> for the file.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Absolute file names are machine dependent.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On the UNIX/Linux platform, the absolute file name may be 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/home/liang/book/Welcome.java</a:t>
            </a:r>
            <a:r>
              <a:rPr lang="en-US" sz="2400" b="0" i="0" u="none" strike="noStrike" baseline="0" dirty="0">
                <a:latin typeface="TimesLTStd-Roman"/>
              </a:rPr>
              <a:t>, where 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/home/liang/book</a:t>
            </a:r>
            <a:r>
              <a:rPr lang="en-US" sz="2400" b="0" i="0" u="none" strike="noStrike" baseline="0" dirty="0">
                <a:latin typeface="TimesLTStd-Roman"/>
              </a:rPr>
              <a:t> is the directory path for the file 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Welcome.java.</a:t>
            </a:r>
          </a:p>
          <a:p>
            <a:pPr>
              <a:lnSpc>
                <a:spcPct val="10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pPr>
              <a:lnSpc>
                <a:spcPct val="10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98538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Absolute File Name vs. Relative File Name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68959" y="1229360"/>
            <a:ext cx="11196321" cy="5212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b="1" i="0" u="none" strike="noStrike" baseline="0" dirty="0">
                <a:latin typeface="TimesLTStd-Roman"/>
              </a:rPr>
              <a:t>Relative File Name </a:t>
            </a:r>
            <a:endParaRPr lang="en-US" sz="2400" b="0" i="0" u="none" strike="noStrike" baseline="0" dirty="0">
              <a:latin typeface="TimesLTStd-Roman"/>
            </a:endParaRPr>
          </a:p>
          <a:p>
            <a:pPr>
              <a:lnSpc>
                <a:spcPct val="150000"/>
              </a:lnSpc>
            </a:pPr>
            <a:r>
              <a:rPr lang="en-US" sz="2400" b="0" i="0" u="none" strike="noStrike" baseline="0" dirty="0">
                <a:latin typeface="TimesLTStd-Roman"/>
              </a:rPr>
              <a:t>A relative file name is in relation to the </a:t>
            </a:r>
            <a:r>
              <a:rPr lang="en-US" sz="2400" b="1" i="1" u="none" strike="noStrike" baseline="0" dirty="0">
                <a:latin typeface="TimesLTStd-Roman"/>
              </a:rPr>
              <a:t>current working directory.</a:t>
            </a:r>
          </a:p>
          <a:p>
            <a:pPr>
              <a:lnSpc>
                <a:spcPct val="150000"/>
              </a:lnSpc>
            </a:pPr>
            <a:r>
              <a:rPr lang="en-US" sz="2400" b="0" i="0" u="none" strike="noStrike" baseline="0" dirty="0">
                <a:latin typeface="TimesLTStd-Roman"/>
              </a:rPr>
              <a:t>The complete directory path for a relative file name is omitted.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For example, Welcome.java is a relative file name. If the current working directory is c:\book, the absolute file name would be c:\book\Welcome.java.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58571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File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79119" y="1127759"/>
            <a:ext cx="11196321" cy="57302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latin typeface="TimesLTStd-Roman"/>
              </a:rPr>
              <a:t>The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class is intended to provide an abstraction that deals with most of the </a:t>
            </a:r>
            <a:r>
              <a:rPr lang="en-US" sz="2400" b="0" i="1" u="none" strike="noStrike" baseline="0" dirty="0">
                <a:latin typeface="TimesLTStd-Roman"/>
              </a:rPr>
              <a:t>machine-dependent complexities</a:t>
            </a:r>
            <a:r>
              <a:rPr lang="en-US" sz="2400" b="0" i="0" u="none" strike="noStrike" baseline="0" dirty="0">
                <a:latin typeface="TimesLTStd-Roman"/>
              </a:rPr>
              <a:t> of files and path names in a </a:t>
            </a:r>
            <a:r>
              <a:rPr lang="en-US" sz="2400" b="0" i="1" u="none" strike="noStrike" baseline="0" dirty="0">
                <a:latin typeface="TimesLTStd-Roman"/>
              </a:rPr>
              <a:t>machine-independent fashion</a:t>
            </a:r>
            <a:r>
              <a:rPr lang="en-US" sz="2400" b="0" i="0" u="none" strike="noStrike" baseline="0" dirty="0">
                <a:latin typeface="TimesLTStd-Roman"/>
              </a:rPr>
              <a:t>.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The file name is a string. The File class is a </a:t>
            </a:r>
            <a:r>
              <a:rPr lang="en-US" sz="2400" b="1" i="0" u="none" strike="noStrike" baseline="0" dirty="0">
                <a:latin typeface="TimesLTStd-Roman"/>
              </a:rPr>
              <a:t>wrapper class</a:t>
            </a:r>
            <a:r>
              <a:rPr lang="en-US" sz="2400" b="0" i="0" u="none" strike="noStrike" baseline="0" dirty="0">
                <a:latin typeface="TimesLTStd-Roman"/>
              </a:rPr>
              <a:t> for the file name and its directory path.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For example,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File("c:\\book")</a:t>
            </a:r>
            <a:r>
              <a:rPr lang="en-US" sz="2400" b="0" i="0" u="none" strike="noStrike" baseline="0" dirty="0">
                <a:latin typeface="TimesLTStd-Roman"/>
              </a:rPr>
              <a:t> creates a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object for the directory </a:t>
            </a:r>
            <a:r>
              <a:rPr lang="en-US" sz="240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c:\book</a:t>
            </a:r>
            <a:r>
              <a:rPr lang="en-US" sz="2400" b="0" i="0" u="none" strike="noStrike" baseline="0" dirty="0">
                <a:latin typeface="TimesLTStd-Roman"/>
              </a:rPr>
              <a:t>, and </a:t>
            </a:r>
            <a:r>
              <a:rPr lang="en-US" sz="24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new File("c:\\book\\test.dat")</a:t>
            </a:r>
            <a:r>
              <a:rPr lang="en-US" sz="2400" b="0" i="0" u="none" strike="noStrike" baseline="0" dirty="0">
                <a:latin typeface="TimesLTStd-Roman"/>
              </a:rPr>
              <a:t> creates a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object for the file 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c:\book\test.dat</a:t>
            </a:r>
            <a:r>
              <a:rPr lang="en-US" sz="2400" b="0" i="0" u="none" strike="noStrike" baseline="0" dirty="0">
                <a:latin typeface="TimesLTStd-Roman"/>
              </a:rPr>
              <a:t>, both on Windows.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TimesLTStd-Roman"/>
              </a:rPr>
              <a:t>The directory separator for Windows is a backslash (</a:t>
            </a:r>
            <a:r>
              <a:rPr lang="en-US" sz="2000" b="1" i="0" u="none" strike="noStrike" baseline="0" dirty="0">
                <a:solidFill>
                  <a:srgbClr val="00B0F0"/>
                </a:solidFill>
                <a:latin typeface="TimesLTStd-Roman"/>
              </a:rPr>
              <a:t>\</a:t>
            </a:r>
            <a:r>
              <a:rPr lang="en-US" sz="2000" b="0" i="0" u="none" strike="noStrike" baseline="0" dirty="0">
                <a:latin typeface="TimesLTStd-Roman"/>
              </a:rPr>
              <a:t>). The backslash is a special character in Java and should be written as </a:t>
            </a:r>
            <a:r>
              <a:rPr lang="en-US" sz="2000" b="1" i="0" u="none" strike="noStrike" baseline="0" dirty="0">
                <a:solidFill>
                  <a:srgbClr val="00B0F0"/>
                </a:solidFill>
                <a:latin typeface="TimesLTStd-Roman"/>
              </a:rPr>
              <a:t>\\</a:t>
            </a:r>
            <a:r>
              <a:rPr lang="en-US" sz="2000" b="0" i="0" u="none" strike="noStrike" baseline="0" dirty="0">
                <a:latin typeface="TimesLTStd-Roman"/>
              </a:rPr>
              <a:t> in a string literal (see Table 4.5)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You can use the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class’s </a:t>
            </a:r>
            <a:r>
              <a:rPr lang="en-US" sz="2400" b="1" i="0" u="none" strike="noStrike" baseline="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isDirectory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0" i="0" u="none" strike="noStrike" baseline="0" dirty="0">
                <a:latin typeface="TimesLTStd-Roman"/>
              </a:rPr>
              <a:t> method to check whether the object represents a directory, and the </a:t>
            </a:r>
            <a:r>
              <a:rPr lang="en-US" sz="2400" b="1" i="0" u="none" strike="noStrike" baseline="0" dirty="0" err="1">
                <a:solidFill>
                  <a:srgbClr val="00B0F0"/>
                </a:solidFill>
                <a:latin typeface="TimesLTStd-Roman"/>
              </a:rPr>
              <a:t>isFile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()</a:t>
            </a:r>
            <a:r>
              <a:rPr lang="en-US" sz="2400" b="0" i="0" u="none" strike="noStrike" baseline="0" dirty="0">
                <a:latin typeface="TimesLTStd-Roman"/>
              </a:rPr>
              <a:t> method to check whether the object represents a file.</a:t>
            </a:r>
          </a:p>
          <a:p>
            <a:r>
              <a:rPr lang="en-US" sz="2400" b="0" i="0" u="none" strike="noStrike" baseline="0" dirty="0">
                <a:latin typeface="TimesLTStd-Roman"/>
              </a:rPr>
              <a:t>The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class contains the methods for obtaining file and directory properties and for renaming and deleting files and directories, as shown in Figure 12.6.</a:t>
            </a:r>
          </a:p>
          <a:p>
            <a:r>
              <a:rPr lang="en-US" sz="2400" b="1" i="1" dirty="0">
                <a:latin typeface="TimesLTStd-Roman"/>
              </a:rPr>
              <a:t>However, the </a:t>
            </a:r>
            <a:r>
              <a:rPr lang="en-US" sz="2400" b="1" i="1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1" i="1" dirty="0">
                <a:latin typeface="TimesLTStd-Roman"/>
              </a:rPr>
              <a:t> class does not contain the methods for reading and writing file contents.</a:t>
            </a:r>
            <a:endParaRPr lang="en-US" sz="3200" b="1" i="1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341824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File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BACA9-0238-754B-1843-C65163F7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135" y="614023"/>
            <a:ext cx="7583730" cy="624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File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79119" y="1127760"/>
            <a:ext cx="11196321" cy="56184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>
                <a:latin typeface="TimesLTStd-Roman"/>
              </a:rPr>
              <a:t>Caution: </a:t>
            </a:r>
            <a:r>
              <a:rPr lang="en-US" sz="2400" b="0" i="0" u="none" strike="noStrike" baseline="0" dirty="0">
                <a:latin typeface="TimesLTStd-Roman"/>
              </a:rPr>
              <a:t>Do not use absolute file names in your program. 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If you use a file name such as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c:\\book\\Welcome.java</a:t>
            </a:r>
            <a:r>
              <a:rPr lang="en-US" sz="2400" b="0" i="0" u="none" strike="noStrike" baseline="0" dirty="0">
                <a:latin typeface="TimesLTStd-Roman"/>
              </a:rPr>
              <a:t>, it will work on Windows but not on other platforms. 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You should use a file name relative to the current directory.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latin typeface="TimesLTStd-Roman"/>
              </a:rPr>
              <a:t>For example, you may create a </a:t>
            </a:r>
            <a:r>
              <a:rPr lang="en-US" sz="20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000" b="0" i="0" u="none" strike="noStrike" baseline="0" dirty="0">
                <a:latin typeface="TimesLTStd-Roman"/>
              </a:rPr>
              <a:t> object using </a:t>
            </a:r>
            <a:r>
              <a:rPr lang="en-US" sz="20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File("Welcome.java")</a:t>
            </a:r>
            <a:r>
              <a:rPr lang="en-US" sz="2000" b="0" i="0" u="none" strike="noStrike" baseline="0" dirty="0">
                <a:latin typeface="TimesLTStd-Roman"/>
              </a:rPr>
              <a:t> for the file </a:t>
            </a:r>
            <a:r>
              <a:rPr lang="en-US" sz="2000" b="1" i="0" u="none" strike="noStrike" baseline="0" dirty="0">
                <a:solidFill>
                  <a:srgbClr val="00B0F0"/>
                </a:solidFill>
                <a:latin typeface="TimesLTStd-Roman"/>
              </a:rPr>
              <a:t>Welcome.java</a:t>
            </a:r>
            <a:r>
              <a:rPr lang="en-US" sz="2000" b="0" i="0" u="none" strike="noStrike" baseline="0" dirty="0">
                <a:latin typeface="TimesLTStd-Roman"/>
              </a:rPr>
              <a:t> in the current directory. 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You may create a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2400" b="0" i="0" u="none" strike="noStrike" baseline="0" dirty="0">
                <a:latin typeface="TimesLTStd-Roman"/>
              </a:rPr>
              <a:t> object using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File("image/us.gif")</a:t>
            </a:r>
            <a:r>
              <a:rPr lang="en-US" sz="2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0" i="0" u="none" strike="noStrike" baseline="0" dirty="0">
                <a:latin typeface="TimesLTStd-Roman"/>
              </a:rPr>
              <a:t>for the file </a:t>
            </a:r>
            <a:r>
              <a:rPr lang="en-US" sz="240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us.gif</a:t>
            </a:r>
            <a:r>
              <a:rPr lang="en-US" sz="2400" b="0" i="0" u="none" strike="noStrike" baseline="0" dirty="0">
                <a:latin typeface="TimesLTStd-Roman"/>
              </a:rPr>
              <a:t> under the image directory in the current directory. 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The </a:t>
            </a:r>
            <a:r>
              <a:rPr lang="en-US" sz="2400" b="0" i="1" u="none" strike="noStrike" baseline="0" dirty="0">
                <a:latin typeface="TimesLTStd-Roman"/>
              </a:rPr>
              <a:t>forward slash</a:t>
            </a:r>
            <a:r>
              <a:rPr lang="en-US" sz="2400" b="0" i="0" u="none" strike="noStrike" baseline="0" dirty="0">
                <a:latin typeface="TimesLTStd-Roman"/>
              </a:rPr>
              <a:t> (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TimesLTStd-Roman"/>
              </a:rPr>
              <a:t>/</a:t>
            </a:r>
            <a:r>
              <a:rPr lang="en-US" sz="2400" b="0" i="0" u="none" strike="noStrike" baseline="0" dirty="0">
                <a:latin typeface="TimesLTStd-Roman"/>
              </a:rPr>
              <a:t>) is the </a:t>
            </a:r>
            <a:r>
              <a:rPr lang="en-US" sz="2400" b="1" i="1" u="none" strike="noStrike" baseline="0" dirty="0">
                <a:latin typeface="TimesLTStd-Roman"/>
              </a:rPr>
              <a:t>Java directory separator</a:t>
            </a:r>
            <a:r>
              <a:rPr lang="en-US" sz="2400" b="0" i="0" u="none" strike="noStrike" baseline="0" dirty="0">
                <a:latin typeface="TimesLTStd-Roman"/>
              </a:rPr>
              <a:t>, which is the same as on UNIX/Linux operating systems. </a:t>
            </a:r>
          </a:p>
          <a:p>
            <a:pPr>
              <a:lnSpc>
                <a:spcPct val="100000"/>
              </a:lnSpc>
            </a:pPr>
            <a:r>
              <a:rPr lang="en-US" sz="2400" b="0" i="0" u="none" strike="noStrike" baseline="0" dirty="0">
                <a:latin typeface="TimesLTStd-Roman"/>
              </a:rPr>
              <a:t>The statement </a:t>
            </a:r>
            <a:r>
              <a:rPr lang="en-US" sz="2400" b="1" i="0" u="none" strike="noStrike" baseline="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File("image/us.gif")</a:t>
            </a:r>
            <a:r>
              <a:rPr lang="en-US" sz="2400" b="0" i="0" u="none" strike="noStrike" baseline="0" dirty="0">
                <a:latin typeface="TimesLTStd-Roman"/>
              </a:rPr>
              <a:t> works on Windows, UNIX/Linux, and any other platform.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73729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File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421972" y="5100320"/>
            <a:ext cx="10002805" cy="1757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800" dirty="0">
                <a:latin typeface="TimesLTStd-Roman"/>
              </a:rPr>
              <a:t>The program creates a </a:t>
            </a:r>
            <a:r>
              <a:rPr lang="en-US" sz="1800" b="1" dirty="0">
                <a:solidFill>
                  <a:srgbClr val="00B0F0"/>
                </a:solidFill>
                <a:latin typeface="TimesLTStd-Roman"/>
              </a:rPr>
              <a:t>File</a:t>
            </a:r>
            <a:r>
              <a:rPr lang="en-US" sz="1800" dirty="0">
                <a:latin typeface="TimesLTStd-Roman"/>
              </a:rPr>
              <a:t> object for the file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us.gif</a:t>
            </a:r>
            <a:r>
              <a:rPr lang="en-US" sz="1800" dirty="0">
                <a:latin typeface="TimesLTStd-Roman"/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TimesLTStd-Roman"/>
              </a:rPr>
              <a:t>This file is stored under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en-US" sz="1800" dirty="0">
                <a:latin typeface="TimesLTStd-Roman"/>
              </a:rPr>
              <a:t> directory in the current directory.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TimesLTStd-Roman"/>
              </a:rPr>
              <a:t>The </a:t>
            </a:r>
            <a:r>
              <a:rPr lang="en-US" sz="18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lastModified</a:t>
            </a:r>
            <a:r>
              <a:rPr 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>
                <a:latin typeface="TimesLTStd-Roman"/>
              </a:rPr>
              <a:t> method returns the date and time when the file was last modified, measured in milliseconds since the beginning of UNIX time (00:00:00 GMT, January 1, 1970).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TimesLTStd-Roman"/>
              </a:rPr>
              <a:t>The </a:t>
            </a:r>
            <a:r>
              <a:rPr lang="en-US" sz="1800" b="1" dirty="0">
                <a:solidFill>
                  <a:srgbClr val="00B0F0"/>
                </a:solidFill>
                <a:latin typeface="TimesLTStd-Roman"/>
              </a:rPr>
              <a:t>Date</a:t>
            </a:r>
            <a:r>
              <a:rPr lang="en-US" sz="1800" dirty="0">
                <a:latin typeface="TimesLTStd-Roman"/>
              </a:rPr>
              <a:t> class is used to display it in a readable format in lines 14–15.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EB683-4F71-F596-2C9C-D35F7C5CE78B}"/>
              </a:ext>
            </a:extLst>
          </p:cNvPr>
          <p:cNvGrpSpPr/>
          <p:nvPr/>
        </p:nvGrpSpPr>
        <p:grpSpPr>
          <a:xfrm>
            <a:off x="1254475" y="816715"/>
            <a:ext cx="10450383" cy="4141873"/>
            <a:chOff x="1338168" y="691690"/>
            <a:chExt cx="10450383" cy="41418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D11B5EC-A803-9D06-9097-F0647D52C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8168" y="1089716"/>
              <a:ext cx="10450383" cy="37438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44FF664-DF49-7F84-2FB3-65546627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8168" y="691690"/>
              <a:ext cx="4479327" cy="3781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321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File Input and Output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232F-3D19-C548-F123-3772D92A4BAA}"/>
              </a:ext>
            </a:extLst>
          </p:cNvPr>
          <p:cNvSpPr txBox="1">
            <a:spLocks/>
          </p:cNvSpPr>
          <p:nvPr/>
        </p:nvSpPr>
        <p:spPr>
          <a:xfrm>
            <a:off x="619759" y="1056640"/>
            <a:ext cx="11196321" cy="550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i="1" dirty="0">
                <a:latin typeface="TimesLTStd-Roman"/>
              </a:rPr>
              <a:t>Writing</a:t>
            </a:r>
            <a:r>
              <a:rPr lang="en-US" sz="2400" dirty="0">
                <a:latin typeface="TimesLTStd-Roman"/>
              </a:rPr>
              <a:t> and </a:t>
            </a:r>
            <a:r>
              <a:rPr lang="en-US" sz="2400" b="1" i="1" dirty="0">
                <a:latin typeface="TimesLTStd-Roman"/>
              </a:rPr>
              <a:t>Reading</a:t>
            </a:r>
            <a:r>
              <a:rPr lang="en-US" sz="2400" dirty="0">
                <a:latin typeface="TimesLTStd-Roman"/>
              </a:rPr>
              <a:t> data to and from files are called </a:t>
            </a:r>
            <a:r>
              <a:rPr lang="en-US" sz="2400" b="1" i="1" dirty="0">
                <a:latin typeface="TimesLTStd-Roman"/>
              </a:rPr>
              <a:t>Input</a:t>
            </a:r>
            <a:r>
              <a:rPr lang="en-US" sz="2400" dirty="0">
                <a:latin typeface="TimesLTStd-Roman"/>
              </a:rPr>
              <a:t> and </a:t>
            </a:r>
            <a:r>
              <a:rPr lang="en-US" sz="2400" b="1" i="1" dirty="0">
                <a:latin typeface="TimesLTStd-Roman"/>
              </a:rPr>
              <a:t>Output</a:t>
            </a:r>
            <a:r>
              <a:rPr lang="en-US" sz="2400" dirty="0">
                <a:latin typeface="TimesLTStd-Roman"/>
              </a:rPr>
              <a:t> (</a:t>
            </a:r>
            <a:r>
              <a:rPr lang="en-US" sz="2400" b="1" i="1" dirty="0">
                <a:latin typeface="TimesLTStd-Roman"/>
              </a:rPr>
              <a:t>I/O</a:t>
            </a:r>
            <a:r>
              <a:rPr lang="en-US" sz="2400" dirty="0">
                <a:latin typeface="TimesLTStd-Roman"/>
              </a:rPr>
              <a:t> for short).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Java classes that handle file related operations are collectively called </a:t>
            </a:r>
            <a:r>
              <a:rPr lang="en-US" sz="2400" b="1" i="1" dirty="0">
                <a:latin typeface="TimesLTStd-Roman"/>
              </a:rPr>
              <a:t>Java File I/O library</a:t>
            </a:r>
            <a:r>
              <a:rPr lang="en-US" sz="2400" dirty="0">
                <a:latin typeface="TimesLTStd-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There are two types of files: </a:t>
            </a:r>
            <a:r>
              <a:rPr lang="en-US" sz="2400" b="1" i="1" dirty="0">
                <a:latin typeface="TimesLTStd-Roman"/>
              </a:rPr>
              <a:t>text</a:t>
            </a:r>
            <a:r>
              <a:rPr lang="en-US" sz="2400" dirty="0">
                <a:latin typeface="TimesLTStd-Roman"/>
              </a:rPr>
              <a:t> and </a:t>
            </a:r>
            <a:r>
              <a:rPr lang="en-US" sz="2400" b="1" i="1" dirty="0">
                <a:latin typeface="TimesLTStd-Roman"/>
              </a:rPr>
              <a:t>binary</a:t>
            </a:r>
            <a:r>
              <a:rPr lang="en-US" sz="2400" dirty="0">
                <a:latin typeface="TimesLTStd-Roman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LTStd-Roman"/>
              </a:rPr>
              <a:t>Text files are essentially </a:t>
            </a:r>
            <a:r>
              <a:rPr lang="en-US" sz="2000" b="1" i="1" dirty="0">
                <a:latin typeface="TimesLTStd-Roman"/>
              </a:rPr>
              <a:t>characters</a:t>
            </a:r>
            <a:r>
              <a:rPr lang="en-US" sz="2000" dirty="0">
                <a:latin typeface="TimesLTStd-Roman"/>
              </a:rPr>
              <a:t> on disk. We will focus mostly on reading and writing text files.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LTStd-Roman"/>
              </a:rPr>
              <a:t>Binary files discussed in Chapter 17 of the textbook.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We can use the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PrintWriter</a:t>
            </a:r>
            <a:r>
              <a:rPr lang="en-US" sz="2400" dirty="0">
                <a:latin typeface="TimesLTStd-Roman"/>
              </a:rPr>
              <a:t> class for writing text data to a file and 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Scanner</a:t>
            </a:r>
            <a:r>
              <a:rPr lang="en-US" sz="2400" dirty="0">
                <a:latin typeface="TimesLTStd-Roman"/>
              </a:rPr>
              <a:t> class for reading text data from a file.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76683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Writing Data using </a:t>
            </a:r>
            <a:r>
              <a:rPr lang="en-US" sz="4000" b="1" dirty="0" err="1">
                <a:solidFill>
                  <a:schemeClr val="bg1"/>
                </a:solidFill>
              </a:rPr>
              <a:t>PrintWriter</a:t>
            </a:r>
            <a:r>
              <a:rPr lang="en-US" sz="4000" b="1" dirty="0">
                <a:solidFill>
                  <a:schemeClr val="bg1"/>
                </a:solidFill>
              </a:rPr>
              <a:t>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232F-3D19-C548-F123-3772D92A4BAA}"/>
              </a:ext>
            </a:extLst>
          </p:cNvPr>
          <p:cNvSpPr txBox="1">
            <a:spLocks/>
          </p:cNvSpPr>
          <p:nvPr/>
        </p:nvSpPr>
        <p:spPr>
          <a:xfrm>
            <a:off x="619759" y="1056640"/>
            <a:ext cx="11196321" cy="550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The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java.io.PrintWriter</a:t>
            </a:r>
            <a:r>
              <a:rPr lang="en-US" sz="2400" dirty="0">
                <a:latin typeface="TimesLTStd-Roman"/>
              </a:rPr>
              <a:t> class can be used to create a file and write data to a text file.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First, we have to create a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PrintWriter</a:t>
            </a:r>
            <a:r>
              <a:rPr lang="en-US" sz="2400" dirty="0">
                <a:latin typeface="TimesLTStd-Roman"/>
              </a:rPr>
              <a:t> object for a text file as follows: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output = new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(filename);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LTStd-Roman"/>
              </a:rPr>
              <a:t>Then, we can invoke 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print</a:t>
            </a:r>
            <a:r>
              <a:rPr lang="en-US" sz="2400" dirty="0">
                <a:latin typeface="TimesLTStd-Roman"/>
              </a:rPr>
              <a:t>,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println</a:t>
            </a:r>
            <a:r>
              <a:rPr lang="en-US" sz="2400" dirty="0">
                <a:latin typeface="TimesLTStd-Roman"/>
              </a:rPr>
              <a:t>, and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printf</a:t>
            </a:r>
            <a:r>
              <a:rPr lang="en-US" sz="2400" dirty="0">
                <a:latin typeface="TimesLTStd-Roman"/>
              </a:rPr>
              <a:t> methods on the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PrintWriter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 </a:t>
            </a:r>
            <a:r>
              <a:rPr lang="en-US" sz="2400" dirty="0">
                <a:latin typeface="TimesLTStd-Roman"/>
              </a:rPr>
              <a:t>object to write data to a file. 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LTStd-Roman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LTStd-Roman"/>
            </a:endParaRP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17689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Writing Data using </a:t>
            </a:r>
            <a:r>
              <a:rPr lang="en-US" sz="4000" b="1" dirty="0" err="1">
                <a:solidFill>
                  <a:schemeClr val="bg1"/>
                </a:solidFill>
              </a:rPr>
              <a:t>PrintWriter</a:t>
            </a:r>
            <a:r>
              <a:rPr lang="en-US" sz="4000" b="1" dirty="0">
                <a:solidFill>
                  <a:schemeClr val="bg1"/>
                </a:solidFill>
              </a:rPr>
              <a:t>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87A32-3A5B-5CDC-8012-25FBE2F8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7" y="1249680"/>
            <a:ext cx="11862327" cy="544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71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"/>
            <a:ext cx="10337800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Writing Data using </a:t>
            </a:r>
            <a:r>
              <a:rPr lang="en-US" sz="4000" b="1" dirty="0" err="1">
                <a:solidFill>
                  <a:schemeClr val="bg1"/>
                </a:solidFill>
              </a:rPr>
              <a:t>PrintWriter</a:t>
            </a:r>
            <a:r>
              <a:rPr lang="en-US" sz="4000" b="1" dirty="0">
                <a:solidFill>
                  <a:schemeClr val="bg1"/>
                </a:solidFill>
              </a:rPr>
              <a:t> class</a:t>
            </a:r>
            <a:endParaRPr lang="en-US" sz="36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E45FA-8A38-8576-3A6D-BF46971E9E72}"/>
              </a:ext>
            </a:extLst>
          </p:cNvPr>
          <p:cNvGrpSpPr/>
          <p:nvPr/>
        </p:nvGrpSpPr>
        <p:grpSpPr>
          <a:xfrm>
            <a:off x="1892647" y="702516"/>
            <a:ext cx="6813633" cy="4201626"/>
            <a:chOff x="1508599" y="967692"/>
            <a:chExt cx="6813633" cy="42016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E04A8F-D4EC-2B09-7FD0-63E7E00CA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8599" y="967692"/>
              <a:ext cx="6248721" cy="18542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33ED8C-C5F8-F62E-6169-47875EDF4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3587" y="2806997"/>
              <a:ext cx="6718645" cy="2362321"/>
            </a:xfrm>
            <a:prstGeom prst="rect">
              <a:avLst/>
            </a:prstGeom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768109-1BC0-7B02-8365-8AB754D233B1}"/>
              </a:ext>
            </a:extLst>
          </p:cNvPr>
          <p:cNvSpPr txBox="1">
            <a:spLocks/>
          </p:cNvSpPr>
          <p:nvPr/>
        </p:nvSpPr>
        <p:spPr>
          <a:xfrm>
            <a:off x="497839" y="5166359"/>
            <a:ext cx="11599673" cy="169163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LTStd-Roman"/>
              </a:rPr>
              <a:t>Lines 4–7 check whether the file scores.txt exists. If so, exit the program (line 6).</a:t>
            </a:r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400" dirty="0">
                <a:latin typeface="TimesLTStd-Roman"/>
              </a:rPr>
              <a:t>Invoking the constructor of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PrintWriter</a:t>
            </a:r>
            <a:r>
              <a:rPr lang="en-US" sz="2400" dirty="0">
                <a:latin typeface="TimesLTStd-Roman"/>
              </a:rPr>
              <a:t> will create a new file if the file does not exist. If the file already exists, the current content in the file will be overwritten without verifying with the user.</a:t>
            </a:r>
          </a:p>
          <a:p>
            <a:r>
              <a:rPr lang="en-US" sz="2400" dirty="0">
                <a:latin typeface="TimesLTStd-Roman"/>
              </a:rPr>
              <a:t>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close() </a:t>
            </a:r>
            <a:r>
              <a:rPr lang="en-US" sz="2400" dirty="0">
                <a:latin typeface="TimesLTStd-Roman"/>
              </a:rPr>
              <a:t>method must be used to close the file (line 19). If this method is not invoked, the data may not be saved properly in the file.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17803B-99C8-36A9-DDA8-902B5F1B7A0A}"/>
              </a:ext>
            </a:extLst>
          </p:cNvPr>
          <p:cNvSpPr txBox="1">
            <a:spLocks/>
          </p:cNvSpPr>
          <p:nvPr/>
        </p:nvSpPr>
        <p:spPr>
          <a:xfrm>
            <a:off x="497839" y="5166360"/>
            <a:ext cx="11599673" cy="169163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LTStd-Roman"/>
              </a:rPr>
              <a:t>Lines 4–7 check whether the file scores.txt exists. If so, exit the program (line 6).</a:t>
            </a:r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400" dirty="0">
                <a:latin typeface="TimesLTStd-Roman"/>
              </a:rPr>
              <a:t>Invoking the constructor of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PrintWriter</a:t>
            </a:r>
            <a:r>
              <a:rPr lang="en-US" sz="2400" dirty="0">
                <a:latin typeface="TimesLTStd-Roman"/>
              </a:rPr>
              <a:t> will create a new file if the file does not exist. If the file already exists, the current content in the file will be overwritten without verifying with the user.</a:t>
            </a:r>
          </a:p>
          <a:p>
            <a:r>
              <a:rPr lang="en-US" sz="2400" dirty="0">
                <a:latin typeface="TimesLTStd-Roman"/>
              </a:rPr>
              <a:t>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close() </a:t>
            </a:r>
            <a:r>
              <a:rPr lang="en-US" sz="2400" dirty="0">
                <a:latin typeface="TimesLTStd-Roman"/>
              </a:rPr>
              <a:t>method must be used to close the file (line 19). If this method is not invoked, the data may not be saved properly in the file.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85862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Closing Resources Automatically using try-with-resources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78425-D480-5FEE-416E-20A5B92F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89" y="969580"/>
            <a:ext cx="8824022" cy="439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5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Closing Resources Automatically using try-with-resources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768109-1BC0-7B02-8365-8AB754D233B1}"/>
              </a:ext>
            </a:extLst>
          </p:cNvPr>
          <p:cNvSpPr txBox="1">
            <a:spLocks/>
          </p:cNvSpPr>
          <p:nvPr/>
        </p:nvSpPr>
        <p:spPr>
          <a:xfrm>
            <a:off x="772160" y="1224978"/>
            <a:ext cx="10648381" cy="5267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A resource is declared and created followed by the keyword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try</a:t>
            </a:r>
            <a:r>
              <a:rPr lang="en-US" sz="2400" dirty="0">
                <a:latin typeface="TimesLTStd-Roman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Note that the resources are enclosed in the parentheses (lines 9–12).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The resources must be a subtype of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AutoCloseable</a:t>
            </a:r>
            <a:r>
              <a:rPr lang="en-US" sz="2400" dirty="0">
                <a:latin typeface="TimesLTStd-Roman"/>
              </a:rPr>
              <a:t> interface, such as a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PrinterWriter</a:t>
            </a:r>
            <a:r>
              <a:rPr lang="en-US" sz="2400" dirty="0">
                <a:latin typeface="TimesLTStd-Roman"/>
              </a:rPr>
              <a:t> that has 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close()</a:t>
            </a:r>
            <a:r>
              <a:rPr lang="en-US" sz="2400" dirty="0">
                <a:latin typeface="TimesLTStd-Roman"/>
              </a:rPr>
              <a:t> method.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A resource must be declared and created in the same statement (i.e., with the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try</a:t>
            </a:r>
            <a:r>
              <a:rPr lang="en-US" sz="2400" dirty="0">
                <a:latin typeface="TimesLTStd-Roman"/>
              </a:rPr>
              <a:t> parenthesis).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Multiple resources can be declared and created inside the parentheses.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The statements in the block (lines 12–18) immediately following the resource declaration use the resource.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After the block is finished, the resource’s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close()</a:t>
            </a:r>
            <a:r>
              <a:rPr lang="en-US" sz="2400" dirty="0">
                <a:latin typeface="TimesLTStd-Roman"/>
              </a:rPr>
              <a:t> method is automatically invoked to close the resource.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Using </a:t>
            </a:r>
            <a:r>
              <a:rPr lang="en-US" sz="2400" b="1" dirty="0">
                <a:latin typeface="TimesLTStd-Roman"/>
              </a:rPr>
              <a:t>try-with-resources</a:t>
            </a:r>
            <a:r>
              <a:rPr lang="en-US" sz="2400" dirty="0">
                <a:latin typeface="TimesLTStd-Roman"/>
              </a:rPr>
              <a:t> can not only avoid errors but also make the code simpler.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064829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Reading Data using Scanner class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768109-1BC0-7B02-8365-8AB754D233B1}"/>
              </a:ext>
            </a:extLst>
          </p:cNvPr>
          <p:cNvSpPr txBox="1">
            <a:spLocks/>
          </p:cNvSpPr>
          <p:nvPr/>
        </p:nvSpPr>
        <p:spPr>
          <a:xfrm>
            <a:off x="772160" y="1066800"/>
            <a:ext cx="10648381" cy="5323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The </a:t>
            </a:r>
            <a:r>
              <a:rPr lang="en-US" sz="2400" b="1" dirty="0" err="1">
                <a:solidFill>
                  <a:srgbClr val="00B0F0"/>
                </a:solidFill>
                <a:latin typeface="TimesLTStd-Roman"/>
              </a:rPr>
              <a:t>java.util.Scanner</a:t>
            </a:r>
            <a:r>
              <a:rPr lang="en-US" sz="2400" dirty="0">
                <a:latin typeface="TimesLTStd-Roman"/>
              </a:rPr>
              <a:t> class is used to read strings and primitive values from the console.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A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Scanner </a:t>
            </a:r>
            <a:r>
              <a:rPr lang="en-US" sz="2400" dirty="0">
                <a:latin typeface="TimesLTStd-Roman"/>
              </a:rPr>
              <a:t>breaks its input into </a:t>
            </a:r>
            <a:r>
              <a:rPr lang="en-US" sz="2400" b="1" i="1" dirty="0">
                <a:latin typeface="TimesLTStd-Roman"/>
              </a:rPr>
              <a:t>tokens delimited by whitespace characters</a:t>
            </a:r>
            <a:r>
              <a:rPr lang="en-US" sz="2400" dirty="0">
                <a:latin typeface="TimesLTStd-Roman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To read from the keyboard, you create a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Scanner</a:t>
            </a:r>
            <a:r>
              <a:rPr lang="en-US" sz="2400" dirty="0">
                <a:latin typeface="TimesLTStd-Roman"/>
              </a:rPr>
              <a:t> for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System.in</a:t>
            </a:r>
            <a:r>
              <a:rPr lang="en-US" sz="2400" dirty="0">
                <a:latin typeface="TimesLTStd-Roman"/>
              </a:rPr>
              <a:t>, as follows: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latin typeface="TimesLTStd-Roman"/>
              </a:rPr>
              <a:t>	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input = new Scanner(System.in);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LTStd-Roman"/>
              </a:rPr>
              <a:t>To read from a file, create a </a:t>
            </a:r>
            <a:r>
              <a:rPr lang="en-US" sz="2400" b="1" dirty="0">
                <a:solidFill>
                  <a:srgbClr val="00B0F0"/>
                </a:solidFill>
                <a:latin typeface="TimesLTStd-Roman"/>
              </a:rPr>
              <a:t>Scanner</a:t>
            </a:r>
            <a:r>
              <a:rPr lang="en-US" sz="2400" dirty="0">
                <a:latin typeface="TimesLTStd-Roman"/>
              </a:rPr>
              <a:t> for a file, as follows: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LTStd-Roman"/>
              </a:rPr>
              <a:t>	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input = new Scanner(new File(filename));</a:t>
            </a:r>
          </a:p>
        </p:txBody>
      </p:sp>
    </p:spTree>
    <p:extLst>
      <p:ext uri="{BB962C8B-B14F-4D97-AF65-F5344CB8AC3E}">
        <p14:creationId xmlns:p14="http://schemas.microsoft.com/office/powerpoint/2010/main" val="216538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Reading Data using Scanner class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1410-91EC-E551-8F14-736244AB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005405"/>
            <a:ext cx="10921999" cy="555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13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Reading Data using Scanner class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8103FB-C3EA-0691-DC04-87F38D004932}"/>
              </a:ext>
            </a:extLst>
          </p:cNvPr>
          <p:cNvGrpSpPr/>
          <p:nvPr/>
        </p:nvGrpSpPr>
        <p:grpSpPr>
          <a:xfrm>
            <a:off x="2526933" y="644503"/>
            <a:ext cx="6352908" cy="4698973"/>
            <a:chOff x="2537092" y="654663"/>
            <a:chExt cx="6764367" cy="479857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4DCBE1-1133-9492-61FB-ED61B171D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7092" y="654663"/>
              <a:ext cx="6013759" cy="21400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0BF2F75-93E0-2B4B-5EE3-CDE0DBC95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7412" y="2678145"/>
              <a:ext cx="6744047" cy="2775093"/>
            </a:xfrm>
            <a:prstGeom prst="rect">
              <a:avLst/>
            </a:prstGeom>
          </p:spPr>
        </p:pic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55F8CB-ED42-0A84-D500-38B2BDBC6909}"/>
              </a:ext>
            </a:extLst>
          </p:cNvPr>
          <p:cNvSpPr txBox="1">
            <a:spLocks/>
          </p:cNvSpPr>
          <p:nvPr/>
        </p:nvSpPr>
        <p:spPr>
          <a:xfrm>
            <a:off x="1015577" y="5343476"/>
            <a:ext cx="9036467" cy="141492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latin typeface="TimesLTStd-Roman"/>
              </a:rPr>
              <a:t>Invoking the constructor new Scanner(File) may throw an I/O exception, so the main method declares throws Exception in line 4.</a:t>
            </a: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Each iteration in the while loop reads the first name, middle initial, last name, and score from the text file (lines 12–19).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0" i="0" u="none" strike="noStrike" baseline="0" dirty="0">
                <a:latin typeface="TimesLTStd-Roman"/>
              </a:rPr>
              <a:t>It is not necessary to close the input file (line 22), but it is a good practice to do so to release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0" i="0" u="none" strike="noStrike" baseline="0" dirty="0">
                <a:latin typeface="TimesLTStd-Roman"/>
              </a:rPr>
              <a:t>the resources occupied by the file. You can rewrite this program using the try-with-resources syntax.</a:t>
            </a:r>
            <a:endParaRPr lang="en-US" sz="18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227218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"/>
            <a:ext cx="11003280" cy="61402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Reading Data using Scanner class: Adding try-catch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7B185-13C2-3E99-EDB3-9058634F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52" y="668749"/>
            <a:ext cx="7256296" cy="61587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007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17079</TotalTime>
  <Words>1508</Words>
  <Application>Microsoft Office PowerPoint</Application>
  <PresentationFormat>Widescreen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Garamond</vt:lpstr>
      <vt:lpstr>TimesLTStd-Roman</vt:lpstr>
      <vt:lpstr>Wingdings</vt:lpstr>
      <vt:lpstr>Office Theme</vt:lpstr>
      <vt:lpstr>Java File I/O Chapter 12 Sections 12.10 to 12.11  Introduction to Java Programming – Comprehensive Version Y. Daniel Liang   </vt:lpstr>
      <vt:lpstr>The File Class</vt:lpstr>
      <vt:lpstr>Absolute File Name vs. Relative File Name</vt:lpstr>
      <vt:lpstr>Absolute File Name vs. Relative File Name</vt:lpstr>
      <vt:lpstr>The File Class</vt:lpstr>
      <vt:lpstr>The File Class</vt:lpstr>
      <vt:lpstr>The File Class</vt:lpstr>
      <vt:lpstr>The File Class</vt:lpstr>
      <vt:lpstr>File Input and Output</vt:lpstr>
      <vt:lpstr>Writing Data using PrintWriter class</vt:lpstr>
      <vt:lpstr>Writing Data using PrintWriter class</vt:lpstr>
      <vt:lpstr>Writing Data using PrintWriter class</vt:lpstr>
      <vt:lpstr>Closing Resources Automatically using try-with-resources</vt:lpstr>
      <vt:lpstr>Closing Resources Automatically using try-with-resources</vt:lpstr>
      <vt:lpstr>Reading Data using Scanner class</vt:lpstr>
      <vt:lpstr>Reading Data using Scanner class</vt:lpstr>
      <vt:lpstr>Reading Data using Scanner class</vt:lpstr>
      <vt:lpstr>Reading Data using Scanner class: Adding try-catch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1222</cp:revision>
  <dcterms:created xsi:type="dcterms:W3CDTF">2023-02-09T14:28:53Z</dcterms:created>
  <dcterms:modified xsi:type="dcterms:W3CDTF">2025-12-09T20:41:28Z</dcterms:modified>
</cp:coreProperties>
</file>