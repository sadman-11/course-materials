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14" r:id="rId2"/>
    <p:sldId id="332" r:id="rId3"/>
    <p:sldId id="439" r:id="rId4"/>
    <p:sldId id="441" r:id="rId5"/>
    <p:sldId id="478" r:id="rId6"/>
    <p:sldId id="479" r:id="rId7"/>
    <p:sldId id="480" r:id="rId8"/>
    <p:sldId id="481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89" r:id="rId17"/>
    <p:sldId id="4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/>
          </a:bodyPr>
          <a:lstStyle/>
          <a:p>
            <a:r>
              <a:rPr lang="en-US" b="1" dirty="0"/>
              <a:t>Java Collections</a:t>
            </a:r>
            <a:br>
              <a:rPr lang="en-US" b="1" dirty="0"/>
            </a:br>
            <a:br>
              <a:rPr lang="en-US" sz="3400" b="1" dirty="0"/>
            </a:br>
            <a:br>
              <a:rPr lang="en-US" sz="3400" b="1" dirty="0"/>
            </a:b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229360"/>
            <a:ext cx="10546080" cy="503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Java Collections Framework – Overview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Collection Interface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List Interface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ArrayList Class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ArrayList Iteration Using for-each Loop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B4251-E36B-BF39-2C3C-1BD8F0E1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4726DA-5A37-0E2C-04F6-DC5DA5B16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 Collections Framework – Overview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A912B8-F963-E94E-BBB7-3A272AF2DA14}"/>
              </a:ext>
            </a:extLst>
          </p:cNvPr>
          <p:cNvSpPr txBox="1">
            <a:spLocks/>
          </p:cNvSpPr>
          <p:nvPr/>
        </p:nvSpPr>
        <p:spPr>
          <a:xfrm>
            <a:off x="1097280" y="1158240"/>
            <a:ext cx="10485120" cy="545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Java Collections Framework (JCF) stores groups of objects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Overcomes fixed-size limitation of arrays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Provides ready-made data structures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Improves code reusability and readability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Located in </a:t>
            </a:r>
            <a:r>
              <a:rPr lang="en-US" sz="3200" dirty="0" err="1">
                <a:solidFill>
                  <a:srgbClr val="000000"/>
                </a:solidFill>
                <a:latin typeface="TimesLTStd-Roman"/>
              </a:rPr>
              <a:t>java.util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293794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87959-B2AB-775F-2340-705984E7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9A75E8-AE88-84FA-479B-712FE0012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Collections Framework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D4313A-E64D-0331-396B-87A710D78243}"/>
              </a:ext>
            </a:extLst>
          </p:cNvPr>
          <p:cNvSpPr txBox="1">
            <a:spLocks/>
          </p:cNvSpPr>
          <p:nvPr/>
        </p:nvSpPr>
        <p:spPr>
          <a:xfrm>
            <a:off x="9362935" y="1460025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3" name="Picture 2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86BC0F9A-292F-A537-5DC4-CD09FA63C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49" y="1265383"/>
            <a:ext cx="7167756" cy="27478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E025EC-BCA5-EC3D-28F5-C97D14DEC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935" y="1839937"/>
            <a:ext cx="1428949" cy="34294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FDDC32-690D-6402-A0BA-A84F4F7FD74E}"/>
              </a:ext>
            </a:extLst>
          </p:cNvPr>
          <p:cNvSpPr txBox="1">
            <a:spLocks/>
          </p:cNvSpPr>
          <p:nvPr/>
        </p:nvSpPr>
        <p:spPr>
          <a:xfrm>
            <a:off x="1283249" y="4429760"/>
            <a:ext cx="6390640" cy="19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Creates a dynamic list of integers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Adds elements using add()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Prints the entire collection</a:t>
            </a:r>
          </a:p>
        </p:txBody>
      </p:sp>
    </p:spTree>
    <p:extLst>
      <p:ext uri="{BB962C8B-B14F-4D97-AF65-F5344CB8AC3E}">
        <p14:creationId xmlns:p14="http://schemas.microsoft.com/office/powerpoint/2010/main" val="355208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FF75-352C-38C5-6191-59B29C17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D0E51A-0734-E1B5-8531-67CC9BAE3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Collection Interface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49EB8E9-236D-896E-26DD-94D255AE17E0}"/>
              </a:ext>
            </a:extLst>
          </p:cNvPr>
          <p:cNvSpPr txBox="1">
            <a:spLocks/>
          </p:cNvSpPr>
          <p:nvPr/>
        </p:nvSpPr>
        <p:spPr>
          <a:xfrm>
            <a:off x="1097280" y="1158240"/>
            <a:ext cx="10485120" cy="4378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Root interface of the Collections Framework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Defines basic operations like add and size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Cannot be instantiated directly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Enables polymorphic behavior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Implemented by List, Set, and Queue</a:t>
            </a:r>
          </a:p>
        </p:txBody>
      </p:sp>
    </p:spTree>
    <p:extLst>
      <p:ext uri="{BB962C8B-B14F-4D97-AF65-F5344CB8AC3E}">
        <p14:creationId xmlns:p14="http://schemas.microsoft.com/office/powerpoint/2010/main" val="351400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DDC2-92ED-8516-4909-FB77F6E7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B8133D-0D18-8FFB-79D3-02E3452C4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Collection Interface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B10300-0417-7DE0-1D95-28F268C97FEB}"/>
              </a:ext>
            </a:extLst>
          </p:cNvPr>
          <p:cNvSpPr txBox="1">
            <a:spLocks/>
          </p:cNvSpPr>
          <p:nvPr/>
        </p:nvSpPr>
        <p:spPr>
          <a:xfrm>
            <a:off x="9241015" y="1189817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0E7B58-BF8E-10B6-C7A6-EFDA8E523E72}"/>
              </a:ext>
            </a:extLst>
          </p:cNvPr>
          <p:cNvSpPr txBox="1">
            <a:spLocks/>
          </p:cNvSpPr>
          <p:nvPr/>
        </p:nvSpPr>
        <p:spPr>
          <a:xfrm>
            <a:off x="1283249" y="4242457"/>
            <a:ext cx="6390640" cy="212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Uses Collection reference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Stores string values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Prints number of elements</a:t>
            </a:r>
          </a:p>
        </p:txBody>
      </p:sp>
      <p:pic>
        <p:nvPicPr>
          <p:cNvPr id="4" name="Picture 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AC2B612E-8CF1-920A-C857-C542F3F34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49" y="1189817"/>
            <a:ext cx="6563641" cy="24768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Picture 6" descr="A close up of a word&#10;&#10;AI-generated content may be incorrect.">
            <a:extLst>
              <a:ext uri="{FF2B5EF4-FFF2-40B4-BE49-F238E27FC236}">
                <a16:creationId xmlns:a16="http://schemas.microsoft.com/office/drawing/2014/main" id="{92628533-7AC8-EA68-1724-D2CD7E2EE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382" y="1600619"/>
            <a:ext cx="3356893" cy="5663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852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2C24D-D573-51F5-511B-55B4C19A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C97B733-A884-25AF-ECDA-6C566432E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List Interface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1EAEC1-58B5-EE86-BFC3-3E461D0E9806}"/>
              </a:ext>
            </a:extLst>
          </p:cNvPr>
          <p:cNvSpPr txBox="1">
            <a:spLocks/>
          </p:cNvSpPr>
          <p:nvPr/>
        </p:nvSpPr>
        <p:spPr>
          <a:xfrm>
            <a:off x="1097280" y="1158240"/>
            <a:ext cx="10485120" cy="4378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Ordered collection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Allows duplicate elements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Index-based access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Maintains insertion order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Common implementations: ArrayList, LinkedList</a:t>
            </a:r>
          </a:p>
        </p:txBody>
      </p:sp>
    </p:spTree>
    <p:extLst>
      <p:ext uri="{BB962C8B-B14F-4D97-AF65-F5344CB8AC3E}">
        <p14:creationId xmlns:p14="http://schemas.microsoft.com/office/powerpoint/2010/main" val="1156041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5F3D-98BA-D1B2-1803-6B6A2D0F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2D8565-3C0D-AB31-12F8-C54A74412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List Interface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D8E790-9407-0D01-7145-F5393E0807C4}"/>
              </a:ext>
            </a:extLst>
          </p:cNvPr>
          <p:cNvSpPr txBox="1">
            <a:spLocks/>
          </p:cNvSpPr>
          <p:nvPr/>
        </p:nvSpPr>
        <p:spPr>
          <a:xfrm>
            <a:off x="9241015" y="1189817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559EB9-9ED6-FC78-27BC-9A88FEE9BC68}"/>
              </a:ext>
            </a:extLst>
          </p:cNvPr>
          <p:cNvSpPr txBox="1">
            <a:spLocks/>
          </p:cNvSpPr>
          <p:nvPr/>
        </p:nvSpPr>
        <p:spPr>
          <a:xfrm>
            <a:off x="1283249" y="4242457"/>
            <a:ext cx="6390640" cy="212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Demonstrates duplicate values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Shows order preservation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Prints list contents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48FBF4-5521-F125-CCAB-4E49B11A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49" y="1066946"/>
            <a:ext cx="5992061" cy="24482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480D79-5D60-FEA2-B81B-8E9FAF72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795" y="1671298"/>
            <a:ext cx="2543530" cy="3048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249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1BB0-9292-A6E2-664A-8ADE86C2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5BE5B3-4883-FA75-D3A2-F447DCA77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ArrayList Class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622A5D5-2F00-76B3-2FC4-E85B9DE27158}"/>
              </a:ext>
            </a:extLst>
          </p:cNvPr>
          <p:cNvSpPr txBox="1">
            <a:spLocks/>
          </p:cNvSpPr>
          <p:nvPr/>
        </p:nvSpPr>
        <p:spPr>
          <a:xfrm>
            <a:off x="1097280" y="1158240"/>
            <a:ext cx="10485120" cy="4378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Implements List interface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Uses resizable array internally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Allows random access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Faster read operations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Widely used in practice</a:t>
            </a:r>
          </a:p>
        </p:txBody>
      </p:sp>
    </p:spTree>
    <p:extLst>
      <p:ext uri="{BB962C8B-B14F-4D97-AF65-F5344CB8AC3E}">
        <p14:creationId xmlns:p14="http://schemas.microsoft.com/office/powerpoint/2010/main" val="8003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F5BDA-EF55-2FC3-BD89-1CAE6198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4926D2-FE68-BE11-80A4-B47A3F0F3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ArrayList Class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4D2C7A-D11B-277A-1F89-D2F5A08E8E5D}"/>
              </a:ext>
            </a:extLst>
          </p:cNvPr>
          <p:cNvSpPr txBox="1">
            <a:spLocks/>
          </p:cNvSpPr>
          <p:nvPr/>
        </p:nvSpPr>
        <p:spPr>
          <a:xfrm>
            <a:off x="9241015" y="1189817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7928907-241B-CC9A-E1B0-7EBC74FC16EB}"/>
              </a:ext>
            </a:extLst>
          </p:cNvPr>
          <p:cNvSpPr txBox="1">
            <a:spLocks/>
          </p:cNvSpPr>
          <p:nvPr/>
        </p:nvSpPr>
        <p:spPr>
          <a:xfrm>
            <a:off x="1283249" y="4242457"/>
            <a:ext cx="6390640" cy="21278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Creates an ArrayList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Adds string elements sequentially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Automatically resizes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Prints stored items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DF256E4-D0E3-2C38-60B8-BC24E9B0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49" y="1112813"/>
            <a:ext cx="6506483" cy="24482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492D6-6119-2C8C-02D4-205D6CFE7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654" y="1661772"/>
            <a:ext cx="2657846" cy="3238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7779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1F3A2-C63F-CC0B-E23D-5E6CB0CB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021D34-3238-2F26-3CC2-D4FD503BC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ArrayList Class: Accessing Elements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45D493-35D6-A98B-CDB9-6B8EC27FCA0D}"/>
              </a:ext>
            </a:extLst>
          </p:cNvPr>
          <p:cNvSpPr txBox="1">
            <a:spLocks/>
          </p:cNvSpPr>
          <p:nvPr/>
        </p:nvSpPr>
        <p:spPr>
          <a:xfrm>
            <a:off x="1097280" y="1158240"/>
            <a:ext cx="10485120" cy="4378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Elements accessed using index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Index starts from 0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get() retrieves value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Throws error for invalid index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Useful for random access</a:t>
            </a:r>
          </a:p>
        </p:txBody>
      </p:sp>
    </p:spTree>
    <p:extLst>
      <p:ext uri="{BB962C8B-B14F-4D97-AF65-F5344CB8AC3E}">
        <p14:creationId xmlns:p14="http://schemas.microsoft.com/office/powerpoint/2010/main" val="2520641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F01B-1ACC-2A7F-4390-38832BB8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394B22-59E2-5A34-C115-143595AF6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ArrayList Class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EF531-2AA3-7880-3149-8C92C02464E6}"/>
              </a:ext>
            </a:extLst>
          </p:cNvPr>
          <p:cNvSpPr txBox="1">
            <a:spLocks/>
          </p:cNvSpPr>
          <p:nvPr/>
        </p:nvSpPr>
        <p:spPr>
          <a:xfrm>
            <a:off x="9241015" y="1189817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6B2E4F-80EA-2B1B-94C5-3429AD379781}"/>
              </a:ext>
            </a:extLst>
          </p:cNvPr>
          <p:cNvSpPr txBox="1">
            <a:spLocks/>
          </p:cNvSpPr>
          <p:nvPr/>
        </p:nvSpPr>
        <p:spPr>
          <a:xfrm>
            <a:off x="1283249" y="4242457"/>
            <a:ext cx="6390640" cy="212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Stores color names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Retrieves the second element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Prints accessed value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037A9E2-CA80-317E-2808-3D0B73CE3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49" y="1189817"/>
            <a:ext cx="6535062" cy="24387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FD287F-E483-7404-CC08-74DA43184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263" y="1665902"/>
            <a:ext cx="771633" cy="2953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92187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CA8B9-45F9-80D7-5CE4-F578F0EA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700A4E-0698-BD93-EC70-A89B6AE97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ArrayList Class: Removing Elements and Size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EBBAEFD-7169-5456-5AEE-D0622E1587BB}"/>
              </a:ext>
            </a:extLst>
          </p:cNvPr>
          <p:cNvSpPr txBox="1">
            <a:spLocks/>
          </p:cNvSpPr>
          <p:nvPr/>
        </p:nvSpPr>
        <p:spPr>
          <a:xfrm>
            <a:off x="1371600" y="944880"/>
            <a:ext cx="10200640" cy="5598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remove()</a:t>
            </a:r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Deletes elements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Can remove by index or value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Remaining elements shift automatically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Reduces list size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Useful for updates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size()</a:t>
            </a:r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size() returns element count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Reflects the current list state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Updates after add/remove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Useful for loops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202983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AB093-390B-D40C-F992-59C1D249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E1A6A6-A295-F493-D8A6-3AB7F83BC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ArrayList Class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40389F-3163-6BE5-0E5F-530A35B0F439}"/>
              </a:ext>
            </a:extLst>
          </p:cNvPr>
          <p:cNvSpPr txBox="1">
            <a:spLocks/>
          </p:cNvSpPr>
          <p:nvPr/>
        </p:nvSpPr>
        <p:spPr>
          <a:xfrm>
            <a:off x="9241015" y="1189817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28A9D1-7D05-FAF9-A4A1-CD38E822631B}"/>
              </a:ext>
            </a:extLst>
          </p:cNvPr>
          <p:cNvSpPr txBox="1">
            <a:spLocks/>
          </p:cNvSpPr>
          <p:nvPr/>
        </p:nvSpPr>
        <p:spPr>
          <a:xfrm>
            <a:off x="1283248" y="4242457"/>
            <a:ext cx="8439872" cy="212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Removes an element by value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Updates list automatically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Prints remaining items and the current size of the ArrayList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757F821-0733-CC9E-3010-D4041BB72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534" y="893878"/>
            <a:ext cx="6458851" cy="28960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Picture 11" descr="A close up of a word&#10;&#10;AI-generated content may be incorrect.">
            <a:extLst>
              <a:ext uri="{FF2B5EF4-FFF2-40B4-BE49-F238E27FC236}">
                <a16:creationId xmlns:a16="http://schemas.microsoft.com/office/drawing/2014/main" id="{8EAC2AC3-9D25-351E-9460-D3E008390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015" y="1732195"/>
            <a:ext cx="1390844" cy="6096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192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3FC2-1016-3C8A-51AA-5C2B3183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FA906A-5FA0-9D77-3E03-4D8D437DF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-1"/>
            <a:ext cx="1106424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Iteration Using for-each Loop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C2B1E4B-0787-BD7E-3BEE-EEA21DC2CCEF}"/>
              </a:ext>
            </a:extLst>
          </p:cNvPr>
          <p:cNvSpPr txBox="1">
            <a:spLocks/>
          </p:cNvSpPr>
          <p:nvPr/>
        </p:nvSpPr>
        <p:spPr>
          <a:xfrm>
            <a:off x="1371600" y="1270000"/>
            <a:ext cx="10200640" cy="5273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Simplest way to traverse collections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No index needed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Improves readability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Works with all collections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Read-only traversal</a:t>
            </a:r>
          </a:p>
        </p:txBody>
      </p:sp>
    </p:spTree>
    <p:extLst>
      <p:ext uri="{BB962C8B-B14F-4D97-AF65-F5344CB8AC3E}">
        <p14:creationId xmlns:p14="http://schemas.microsoft.com/office/powerpoint/2010/main" val="892974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0A9B8-28FA-3EC7-3948-14A35D30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FA5BA4-738E-C8ED-875E-D05E15AF5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 Iteration Using for-each Loop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216A9A-4674-D3FA-3020-ED5B6F2A1F6E}"/>
              </a:ext>
            </a:extLst>
          </p:cNvPr>
          <p:cNvSpPr txBox="1">
            <a:spLocks/>
          </p:cNvSpPr>
          <p:nvPr/>
        </p:nvSpPr>
        <p:spPr>
          <a:xfrm>
            <a:off x="9241015" y="1189817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BD5725-9E2E-9460-41BF-490A45A69370}"/>
              </a:ext>
            </a:extLst>
          </p:cNvPr>
          <p:cNvSpPr txBox="1">
            <a:spLocks/>
          </p:cNvSpPr>
          <p:nvPr/>
        </p:nvSpPr>
        <p:spPr>
          <a:xfrm>
            <a:off x="1283248" y="4409440"/>
            <a:ext cx="8439872" cy="2153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Iterates over the list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Prints each element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Demonstrates enhanced loop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EBEF1C8-BA18-1A52-1157-8F514A91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039" y="921125"/>
            <a:ext cx="6744641" cy="3105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9CB5890-BACA-B9D8-A086-432DDAA3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014" y="1599987"/>
            <a:ext cx="800212" cy="7049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04423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89740-DF54-7A96-5E84-0A7E8AA23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C155E1-1656-D4E3-5EAB-08099CCF8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-137817"/>
            <a:ext cx="10820115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Practical Program using ArrayList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FF0792A-9A68-0A71-7B1B-9199D16A12A1}"/>
              </a:ext>
            </a:extLst>
          </p:cNvPr>
          <p:cNvSpPr txBox="1">
            <a:spLocks/>
          </p:cNvSpPr>
          <p:nvPr/>
        </p:nvSpPr>
        <p:spPr>
          <a:xfrm>
            <a:off x="8326615" y="1005840"/>
            <a:ext cx="1425124" cy="379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77B0A8-34B6-C6B6-65DA-EFEC88DD5E83}"/>
              </a:ext>
            </a:extLst>
          </p:cNvPr>
          <p:cNvSpPr txBox="1">
            <a:spLocks/>
          </p:cNvSpPr>
          <p:nvPr/>
        </p:nvSpPr>
        <p:spPr>
          <a:xfrm>
            <a:off x="7040881" y="2854960"/>
            <a:ext cx="5039360" cy="3820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program demonstrates the following: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Demonstrates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encapsulation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using a class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Separates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data management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from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program execution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Demonstrates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dynamic data storage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Uses index-based access and iteration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Shows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realistic use of ArrayList inside a class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DC184C8-1C5F-F92F-7782-96A9353F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32" y="1005840"/>
            <a:ext cx="5876412" cy="56692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Picture 3" descr="A close-up of text&#10;&#10;AI-generated content may be incorrect.">
            <a:extLst>
              <a:ext uri="{FF2B5EF4-FFF2-40B4-BE49-F238E27FC236}">
                <a16:creationId xmlns:a16="http://schemas.microsoft.com/office/drawing/2014/main" id="{ED565DDA-48AB-D262-DF29-418EE32C6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993" y="1385752"/>
            <a:ext cx="2196368" cy="9356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325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25099</TotalTime>
  <Words>378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Garamond</vt:lpstr>
      <vt:lpstr>TimesLTStd-Roman</vt:lpstr>
      <vt:lpstr>Office Theme</vt:lpstr>
      <vt:lpstr>Java Collections    </vt:lpstr>
      <vt:lpstr>Outline</vt:lpstr>
      <vt:lpstr>Java Collections Framework – Overview</vt:lpstr>
      <vt:lpstr>Example: Collections Framework</vt:lpstr>
      <vt:lpstr>Collection Interface</vt:lpstr>
      <vt:lpstr>Example: Collection Interface</vt:lpstr>
      <vt:lpstr>List Interface</vt:lpstr>
      <vt:lpstr>Example: List Interface</vt:lpstr>
      <vt:lpstr>ArrayList Class</vt:lpstr>
      <vt:lpstr>Example: ArrayList Class</vt:lpstr>
      <vt:lpstr>ArrayList Class: Accessing Elements</vt:lpstr>
      <vt:lpstr>Example: ArrayList Class</vt:lpstr>
      <vt:lpstr>ArrayList Class: Removing Elements and Size</vt:lpstr>
      <vt:lpstr>Example: ArrayList Class</vt:lpstr>
      <vt:lpstr>Iteration Using for-each Loop</vt:lpstr>
      <vt:lpstr>Example: Iteration Using for-each Loop</vt:lpstr>
      <vt:lpstr>Practical Program using ArrayList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3603</cp:revision>
  <dcterms:created xsi:type="dcterms:W3CDTF">2023-02-09T14:28:53Z</dcterms:created>
  <dcterms:modified xsi:type="dcterms:W3CDTF">2025-12-14T21:59:11Z</dcterms:modified>
</cp:coreProperties>
</file>