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314" r:id="rId2"/>
    <p:sldId id="332" r:id="rId3"/>
    <p:sldId id="430" r:id="rId4"/>
    <p:sldId id="426" r:id="rId5"/>
    <p:sldId id="431" r:id="rId6"/>
    <p:sldId id="433" r:id="rId7"/>
    <p:sldId id="432" r:id="rId8"/>
    <p:sldId id="435" r:id="rId9"/>
    <p:sldId id="438" r:id="rId10"/>
    <p:sldId id="434" r:id="rId11"/>
    <p:sldId id="436" r:id="rId12"/>
    <p:sldId id="437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455" r:id="rId30"/>
    <p:sldId id="456" r:id="rId31"/>
    <p:sldId id="457" r:id="rId32"/>
    <p:sldId id="458" r:id="rId33"/>
    <p:sldId id="459" r:id="rId34"/>
    <p:sldId id="460" r:id="rId35"/>
    <p:sldId id="461" r:id="rId36"/>
    <p:sldId id="462" r:id="rId37"/>
    <p:sldId id="463" r:id="rId38"/>
    <p:sldId id="464" r:id="rId39"/>
    <p:sldId id="46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lang/Math.html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b="1" dirty="0"/>
              <a:t>A Closer Look at Methods and Classes</a:t>
            </a:r>
            <a:br>
              <a:rPr lang="en-US" b="1" dirty="0"/>
            </a:br>
            <a:r>
              <a:rPr lang="en-US" sz="4000" b="1" dirty="0"/>
              <a:t>Part 1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7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361440" y="1300480"/>
            <a:ext cx="10546080" cy="5415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Overloading Methods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Overloading Constructors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Using Objects as Parameters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Closer Look at Argument Passing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Returning Objects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Recursion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Introducing Access Control 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>
                <a:solidFill>
                  <a:srgbClr val="0070C0"/>
                </a:solidFill>
              </a:rPr>
              <a:t>Overloading Methods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09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Overloading Methods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Java, it is possible to define two or more methods within the same class that share the same name, as long as their parameter declarations are different.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this is the case, the methods are said to be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TimesLTStd-Roman"/>
              </a:rPr>
              <a:t>overloaded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, and the process is referred to as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TimesLTStd-Roman"/>
              </a:rPr>
              <a:t>method overloading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Method overloading is one of the ways that Java supports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polymorphism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an overloaded method is invoked, Java uses the type and/or number of arguments as its guide to determine which version of the overloaded method to actually call. 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Overloaded methods must differ in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TimesLTStd-Roman"/>
              </a:rPr>
              <a:t>(1) data type and/or (2) number of their parameters.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While overloaded methods may have different return types, the return type alone is insufficient to distinguish two versions of a method. </a:t>
            </a:r>
          </a:p>
        </p:txBody>
      </p:sp>
    </p:spTree>
    <p:extLst>
      <p:ext uri="{BB962C8B-B14F-4D97-AF65-F5344CB8AC3E}">
        <p14:creationId xmlns:p14="http://schemas.microsoft.com/office/powerpoint/2010/main" val="14878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78F2-319F-391C-C6DA-51FF83C7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35559F1-2429-8FF2-E83E-4B7047115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Overloading Methods: Example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005B25-8EB4-8F64-2FD3-C811D5967A5A}"/>
              </a:ext>
            </a:extLst>
          </p:cNvPr>
          <p:cNvSpPr txBox="1">
            <a:spLocks/>
          </p:cNvSpPr>
          <p:nvPr/>
        </p:nvSpPr>
        <p:spPr>
          <a:xfrm>
            <a:off x="8365903" y="1036320"/>
            <a:ext cx="3480656" cy="4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B27E4-87C7-05C3-E3F1-7658879B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1036320"/>
            <a:ext cx="6666994" cy="56892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C5E0A8-95A8-BBCE-8252-536B24AA1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902" y="1442720"/>
            <a:ext cx="3480657" cy="7827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171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172A-4D26-88AB-EDEA-8106497D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AA1E77-16D8-E65C-825C-076C8A101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Type Conversion in Overloading Methods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B9AB47-5BF4-74D7-8057-3E3EA793711D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an overloaded method is called, Java looks for a match between the arguments used to call the method and the method’s parameters.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However, this match need not always be exact.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some cases, Java’s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automatic type conversions</a:t>
            </a:r>
            <a:r>
              <a:rPr lang="en-US" sz="2400" i="1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can play a role in overload resolution. </a:t>
            </a:r>
          </a:p>
        </p:txBody>
      </p:sp>
    </p:spTree>
    <p:extLst>
      <p:ext uri="{BB962C8B-B14F-4D97-AF65-F5344CB8AC3E}">
        <p14:creationId xmlns:p14="http://schemas.microsoft.com/office/powerpoint/2010/main" val="14214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4697-B515-E413-3D28-393B3EB3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D4A798-3FCB-7F39-EF66-7AF130717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Type Conversion in Overloading Methods: Example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996837-B9F6-C054-FACC-ED3277AE5A68}"/>
              </a:ext>
            </a:extLst>
          </p:cNvPr>
          <p:cNvGrpSpPr/>
          <p:nvPr/>
        </p:nvGrpSpPr>
        <p:grpSpPr>
          <a:xfrm>
            <a:off x="8585176" y="1024032"/>
            <a:ext cx="3213265" cy="1720542"/>
            <a:chOff x="8835775" y="1376737"/>
            <a:chExt cx="3213265" cy="1720542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F9415648-AD8E-1F81-B431-0090FCF8E645}"/>
                </a:ext>
              </a:extLst>
            </p:cNvPr>
            <p:cNvSpPr txBox="1">
              <a:spLocks/>
            </p:cNvSpPr>
            <p:nvPr/>
          </p:nvSpPr>
          <p:spPr>
            <a:xfrm>
              <a:off x="8835775" y="1376737"/>
              <a:ext cx="3213265" cy="4564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u="none" strike="noStrike" baseline="0" dirty="0">
                  <a:solidFill>
                    <a:srgbClr val="000000"/>
                  </a:solidFill>
                  <a:latin typeface="TimesLTStd-Roman"/>
                </a:rPr>
                <a:t>OUTPUT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6189034-FE50-2387-34F0-BE35E1CC0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5775" y="1871666"/>
              <a:ext cx="3213265" cy="1225613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723C3E3-C0B0-AD8E-64EE-7627D42D0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56" y="1024032"/>
            <a:ext cx="6884561" cy="565163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44F9A43-E8C2-A594-5763-ACD01805C593}"/>
              </a:ext>
            </a:extLst>
          </p:cNvPr>
          <p:cNvSpPr txBox="1">
            <a:spLocks/>
          </p:cNvSpPr>
          <p:nvPr/>
        </p:nvSpPr>
        <p:spPr>
          <a:xfrm>
            <a:off x="8585176" y="3157616"/>
            <a:ext cx="3379874" cy="315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For the last call to </a:t>
            </a:r>
            <a:r>
              <a:rPr lang="en-US" sz="20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add()</a:t>
            </a: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 method, no exact match is found.</a:t>
            </a:r>
          </a:p>
          <a:p>
            <a:r>
              <a:rPr lang="en-US" sz="2000" dirty="0">
                <a:solidFill>
                  <a:srgbClr val="000000"/>
                </a:solidFill>
                <a:latin typeface="TimesLTStd-Roman"/>
              </a:rPr>
              <a:t>So, Java automatically converts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TimesLTStd-Roman"/>
              </a:rPr>
              <a:t> value 2 to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000" dirty="0">
                <a:solidFill>
                  <a:srgbClr val="000000"/>
                </a:solidFill>
                <a:latin typeface="TimesLTStd-Roman"/>
              </a:rPr>
              <a:t> and calls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add(double, double)</a:t>
            </a:r>
            <a:r>
              <a:rPr lang="en-US" sz="2000" dirty="0">
                <a:solidFill>
                  <a:srgbClr val="000000"/>
                </a:solidFill>
                <a:latin typeface="TimesLTStd-Roman"/>
              </a:rPr>
              <a:t> version.</a:t>
            </a:r>
          </a:p>
          <a:p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Java will employ its automatic type conversions only if no exact match is found.</a:t>
            </a:r>
          </a:p>
        </p:txBody>
      </p:sp>
    </p:spTree>
    <p:extLst>
      <p:ext uri="{BB962C8B-B14F-4D97-AF65-F5344CB8AC3E}">
        <p14:creationId xmlns:p14="http://schemas.microsoft.com/office/powerpoint/2010/main" val="406001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025E-B88E-CEBE-8388-D99FA1A6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C6D317-4CEE-EB4E-B488-0079CDB32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Usefulness of Method Overloading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BCF8DCC-0949-DB2A-8204-C84310F6AFE7}"/>
              </a:ext>
            </a:extLst>
          </p:cNvPr>
          <p:cNvSpPr txBox="1">
            <a:spLocks/>
          </p:cNvSpPr>
          <p:nvPr/>
        </p:nvSpPr>
        <p:spPr>
          <a:xfrm>
            <a:off x="1001371" y="1009383"/>
            <a:ext cx="10846085" cy="56997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Method overloading supports polymorphism because it is one way that Java implements the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one interface, multiple methods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paradigm.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Example: In C, the function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abs()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returns the absolute value of an integer,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labs()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returns the absolute value of a long integer, and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fabs()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returns the absolute value of a floating-point value.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Since C does not support overloading, each function has its own name, even though all three functions do essentially the same thing.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In Java, the standard class library includes an absolute value method, called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abs()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This method is overloaded by Java’s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class to handle all numeric types.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Java determines which version of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to call based upon the type of argument.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Math Class Java Doc</a:t>
            </a:r>
          </a:p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  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  <a:hlinkClick r:id="rId2"/>
              </a:rPr>
              <a:t>https://docs.oracle.com/javase/8/docs/api/java/lang/Math.html</a:t>
            </a:r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practice, we should only overload closely related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27829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F5B7-7864-478C-C249-A6D752F2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15B811-892B-40F1-2CBE-D76F35861A7E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Overloading Constructors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619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FBC9-D975-8625-7D97-3C0ADE7A4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9F6BB1-1E37-4D9B-6EC7-732C3DE10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Overloading Constructors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06187D-AEB4-DE64-879F-89D39CD63EED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1446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concept of overloading is very useful and common for constructors.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Example: If a Box class is defined as below, all declarations of Box objects must pass three arguments to the Box( ) constructor.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F639F-2646-4877-2188-70B88689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004" y="2604977"/>
            <a:ext cx="5243260" cy="36955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A2A4A8-0418-95DC-DFEC-51EDC259EDB2}"/>
              </a:ext>
            </a:extLst>
          </p:cNvPr>
          <p:cNvSpPr txBox="1">
            <a:spLocks/>
          </p:cNvSpPr>
          <p:nvPr/>
        </p:nvSpPr>
        <p:spPr>
          <a:xfrm>
            <a:off x="746191" y="2674943"/>
            <a:ext cx="5349810" cy="38534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So, the following statement will generate compilation error: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Box </a:t>
            </a:r>
            <a:r>
              <a:rPr lang="en-US" sz="2400" b="1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4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= new Box();</a:t>
            </a:r>
            <a:endParaRPr lang="en-US" sz="3200" b="1" u="none" strike="noStrike" baseline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What if we simply want a box and do not care (or know) what its initial dimensions were?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What if we want to be able to initialize a cube by specifying only one value that would be used for all three dimensions?</a:t>
            </a:r>
          </a:p>
        </p:txBody>
      </p:sp>
    </p:spTree>
    <p:extLst>
      <p:ext uri="{BB962C8B-B14F-4D97-AF65-F5344CB8AC3E}">
        <p14:creationId xmlns:p14="http://schemas.microsoft.com/office/powerpoint/2010/main" val="15216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59A75-0DC6-5594-F8C7-C917F2715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B5F056-C199-2EAD-A983-0EAAA6BB6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Overloading Constructors: Example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1DCC61-25DC-F99D-E015-CCC4DF8C8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574" y="4817620"/>
            <a:ext cx="2933851" cy="13907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60862D-401D-5ACE-9FFD-D25F4817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65" y="1029476"/>
            <a:ext cx="4955458" cy="57021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586C8E-77A1-0AD8-1854-C702950C3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787" y="1029475"/>
            <a:ext cx="5626821" cy="26596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5E84DB3-8D8A-AD5C-2E1D-5979EDEE4ED6}"/>
              </a:ext>
            </a:extLst>
          </p:cNvPr>
          <p:cNvSpPr txBox="1">
            <a:spLocks/>
          </p:cNvSpPr>
          <p:nvPr/>
        </p:nvSpPr>
        <p:spPr>
          <a:xfrm>
            <a:off x="6132787" y="4369983"/>
            <a:ext cx="2970638" cy="4273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67369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A442-FB3F-B254-69F4-C96AAD14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EBE586-F55C-BAAA-0A52-3D55A1A21E9C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Using Objects as Parameters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912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5089-E732-2F38-FC79-4D0ABC6E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1B7F7F-F408-DCB0-CA77-BEFD2A48C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Using Objects as Parameters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BC27C2-17F7-0884-82E2-CC68929FFC39}"/>
              </a:ext>
            </a:extLst>
          </p:cNvPr>
          <p:cNvSpPr txBox="1">
            <a:spLocks/>
          </p:cNvSpPr>
          <p:nvPr/>
        </p:nvSpPr>
        <p:spPr>
          <a:xfrm>
            <a:off x="746190" y="1076961"/>
            <a:ext cx="10846085" cy="538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Similar to basic data types, objects can be passed to methods as parameters.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882CB-4716-B4A0-3478-AE50AF85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50" y="1615440"/>
            <a:ext cx="6599490" cy="51499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26439A-03A2-D32C-D1E9-393F782B3976}"/>
              </a:ext>
            </a:extLst>
          </p:cNvPr>
          <p:cNvSpPr txBox="1">
            <a:spLocks/>
          </p:cNvSpPr>
          <p:nvPr/>
        </p:nvSpPr>
        <p:spPr>
          <a:xfrm>
            <a:off x="7890200" y="1615441"/>
            <a:ext cx="2557667" cy="456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02FB4A-2F71-9570-E1C3-4916121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200" y="2092961"/>
            <a:ext cx="2557667" cy="56419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CE24BF7-89BF-DCEB-B9E8-CF8A52B3FABC}"/>
              </a:ext>
            </a:extLst>
          </p:cNvPr>
          <p:cNvSpPr txBox="1">
            <a:spLocks/>
          </p:cNvSpPr>
          <p:nvPr/>
        </p:nvSpPr>
        <p:spPr>
          <a:xfrm>
            <a:off x="7787071" y="3428999"/>
            <a:ext cx="3947729" cy="3326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24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equalTo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method compares the invoking object with the one that it is passed.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15368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83D7-CC8B-DC83-C61C-BD012CED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AD296E-8015-17D9-B936-381299370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Passing Objects to Constructors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6387EE-D057-BFC1-7774-5EF5B8E0EB06}"/>
              </a:ext>
            </a:extLst>
          </p:cNvPr>
          <p:cNvSpPr txBox="1">
            <a:spLocks/>
          </p:cNvSpPr>
          <p:nvPr/>
        </p:nvSpPr>
        <p:spPr>
          <a:xfrm>
            <a:off x="807150" y="1280160"/>
            <a:ext cx="10673649" cy="313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One of the most common uses of object parameters involves constructors.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Many a times we want to construct a new object so that it is initially the same as some existing object.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To do this, we must define a constructor that takes an object of its class as a parameter.</a:t>
            </a:r>
          </a:p>
        </p:txBody>
      </p:sp>
    </p:spTree>
    <p:extLst>
      <p:ext uri="{BB962C8B-B14F-4D97-AF65-F5344CB8AC3E}">
        <p14:creationId xmlns:p14="http://schemas.microsoft.com/office/powerpoint/2010/main" val="1817344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C4A16-441D-E85C-8B8D-2C8D864D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C2FC513-77BC-BD09-9D63-12BAEB0A2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Passing Objects to Constructors: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9001B0-83F6-8724-5880-BBD1F20F9D0F}"/>
              </a:ext>
            </a:extLst>
          </p:cNvPr>
          <p:cNvSpPr txBox="1">
            <a:spLocks/>
          </p:cNvSpPr>
          <p:nvPr/>
        </p:nvSpPr>
        <p:spPr>
          <a:xfrm>
            <a:off x="6450158" y="4836161"/>
            <a:ext cx="3729605" cy="456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066BF-D53E-4BD3-0455-F1D013B4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515" y="684133"/>
            <a:ext cx="4981502" cy="609307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BC4EA2-06EB-30C2-1BE6-10652395C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75" y="684133"/>
            <a:ext cx="5168900" cy="39042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87057E-DBF3-7705-1B8F-E634EE9C2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58" y="5292562"/>
            <a:ext cx="3729605" cy="109730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710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A43E-B51E-890F-427D-BAAA212F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371CE1-491F-4B20-9DC7-44CE50E11BC4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 Closer Look at Argument Passing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624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549A-511C-08C6-23D4-511FFF3D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6DF650-2AC6-FC55-A769-F4F6AA801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Closer Look at Argument Passing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38E84C0-54C0-667D-F1A4-64B7BF49D338}"/>
              </a:ext>
            </a:extLst>
          </p:cNvPr>
          <p:cNvSpPr txBox="1">
            <a:spLocks/>
          </p:cNvSpPr>
          <p:nvPr/>
        </p:nvSpPr>
        <p:spPr>
          <a:xfrm>
            <a:off x="746190" y="1076960"/>
            <a:ext cx="10846085" cy="544575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There are two ways of argument passing: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LTStd-Roman"/>
              </a:rPr>
              <a:t>Call-by-value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Call-by-reference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Call-by-value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Copies the value of an argument into the formal parameter of the method.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So, changes made to the parameter of the method have no effect on the argument.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Call-by-reference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 reference to an argument (not the value of the argument) is passed to the parameter.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Inside the method, this reference is used to access the actual argument specified in the call.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So, changes made to the parameter will affect the argument used to call the method.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86888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848F-AC8E-F3FF-6332-EB30313F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471ADC-CBF4-B1D7-4D98-89CB57B73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Call-by-value: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09E0C-A690-1C23-A2AC-E37D7D02B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210" y="819597"/>
            <a:ext cx="7606129" cy="414626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2AFAB-559D-F7E1-7C79-1FE7043ED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210" y="5638990"/>
            <a:ext cx="3730813" cy="5882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EFB029-D17E-3406-E99F-8CADCEA9669F}"/>
              </a:ext>
            </a:extLst>
          </p:cNvPr>
          <p:cNvSpPr txBox="1">
            <a:spLocks/>
          </p:cNvSpPr>
          <p:nvPr/>
        </p:nvSpPr>
        <p:spPr>
          <a:xfrm>
            <a:off x="1281210" y="5171441"/>
            <a:ext cx="3730813" cy="456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26348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302F-7398-11A0-8730-F34DD5A3F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C82642-28FC-F642-2738-8B12D24AD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Call-by-reference: Example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D285027-0832-50B2-0135-EDEFC0628F3E}"/>
              </a:ext>
            </a:extLst>
          </p:cNvPr>
          <p:cNvSpPr txBox="1">
            <a:spLocks/>
          </p:cNvSpPr>
          <p:nvPr/>
        </p:nvSpPr>
        <p:spPr>
          <a:xfrm>
            <a:off x="9194800" y="853041"/>
            <a:ext cx="2479040" cy="5791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we pass an object reference to a method, the parameter that receives it will refer to the same object as that referred to by the argument.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Changes to the object inside the method do affect the object used as an argument.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77DED18-AFC6-E755-0601-A1EDD86484EC}"/>
              </a:ext>
            </a:extLst>
          </p:cNvPr>
          <p:cNvSpPr txBox="1">
            <a:spLocks/>
          </p:cNvSpPr>
          <p:nvPr/>
        </p:nvSpPr>
        <p:spPr>
          <a:xfrm>
            <a:off x="1254475" y="5648561"/>
            <a:ext cx="4780003" cy="456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CF724C-2356-3ABE-218D-0B93AA668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75" y="6124357"/>
            <a:ext cx="4780003" cy="5423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D22DBF-9BE8-4740-D8D5-D2F4927D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75" y="753038"/>
            <a:ext cx="7685077" cy="47008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8359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0261-6058-9E20-FE03-8AB8CCDB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4D5537-ADCC-5CBE-1F9A-0683F0C0562B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Returning Objects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597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7317-8EC1-7285-B4E3-A493CFED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500DDF-2BD4-A0BD-9363-2AA4B9F2C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Returning Objects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2F52D6-CABE-8386-0E7B-F3434944F799}"/>
              </a:ext>
            </a:extLst>
          </p:cNvPr>
          <p:cNvSpPr txBox="1">
            <a:spLocks/>
          </p:cNvSpPr>
          <p:nvPr/>
        </p:nvSpPr>
        <p:spPr>
          <a:xfrm>
            <a:off x="746190" y="1076961"/>
            <a:ext cx="10846085" cy="1432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 method can return any type of data, including class types that we create.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Example, in the following program, the </a:t>
            </a:r>
            <a:r>
              <a:rPr lang="en-US" sz="24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incrByTen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method returns an object in which the value of a is ten greater than it is in the invoking object.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EDB91-F4A1-5F83-BA4B-A0234122D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70" y="2619032"/>
            <a:ext cx="4178665" cy="27352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DF386E-1452-05AC-B4E0-E57CBA0BD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879" y="2619032"/>
            <a:ext cx="6710085" cy="2430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935C32-6C1D-F9DC-7BDA-5E4F3218E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879" y="5671163"/>
            <a:ext cx="4359382" cy="8718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4A7DE6-2073-E440-37AE-B796123B67D0}"/>
              </a:ext>
            </a:extLst>
          </p:cNvPr>
          <p:cNvSpPr txBox="1">
            <a:spLocks/>
          </p:cNvSpPr>
          <p:nvPr/>
        </p:nvSpPr>
        <p:spPr>
          <a:xfrm>
            <a:off x="5072879" y="5297928"/>
            <a:ext cx="4359382" cy="373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561901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DB19-45FE-E359-DE50-3DECA6D9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2D9539-EF2F-7AB9-A5CB-396CE50B8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Returning Objects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ACCB0D-9AC5-2AE6-C91C-4C12C1B495ED}"/>
              </a:ext>
            </a:extLst>
          </p:cNvPr>
          <p:cNvSpPr txBox="1">
            <a:spLocks/>
          </p:cNvSpPr>
          <p:nvPr/>
        </p:nvSpPr>
        <p:spPr>
          <a:xfrm>
            <a:off x="746190" y="1076960"/>
            <a:ext cx="10846085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Each time </a:t>
            </a:r>
            <a:r>
              <a:rPr lang="en-US" sz="24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incrByTen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invoked, a new object is created, and a reference to it is returned to the calling routine.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Another point: Since all objects are dynamically allocated using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, we don’t need to worry about an object going out of scope because the method in which it was created terminates. </a:t>
            </a: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object will continue to exist as long as there is a reference to it somewhere in your program. </a:t>
            </a: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When there are no references to it, the object will be reclaimed the next time garbage collection takes place.</a:t>
            </a:r>
          </a:p>
        </p:txBody>
      </p:sp>
    </p:spTree>
    <p:extLst>
      <p:ext uri="{BB962C8B-B14F-4D97-AF65-F5344CB8AC3E}">
        <p14:creationId xmlns:p14="http://schemas.microsoft.com/office/powerpoint/2010/main" val="4059761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14ACC-E262-695A-71B7-FC6F519C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DB7F88-311E-1B49-E78B-C315FB6F2E10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Recursion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091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3FAC-5BF8-A0C3-229E-A4EE0941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9F33EE-2C25-4C8C-072A-68A835AC7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Recursion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F3C8D00-8B47-0016-492D-6ADB5C57C196}"/>
              </a:ext>
            </a:extLst>
          </p:cNvPr>
          <p:cNvSpPr txBox="1">
            <a:spLocks/>
          </p:cNvSpPr>
          <p:nvPr/>
        </p:nvSpPr>
        <p:spPr>
          <a:xfrm>
            <a:off x="762000" y="1198879"/>
            <a:ext cx="11115040" cy="529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Java supports recursion. </a:t>
            </a:r>
          </a:p>
          <a:p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Recursion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is the process of defining something in terms of itself.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In programming, recursion is the attribute that allows a method or function to call itself.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 method that calls itself is said to be recursive.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Example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Computation of the factorial of a number.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factorial of a number N is the product of all the whole numbers between 1 and N.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3 factorial (3!) is 1 × 2 × 3, or 6. </a:t>
            </a:r>
          </a:p>
        </p:txBody>
      </p:sp>
    </p:spTree>
    <p:extLst>
      <p:ext uri="{BB962C8B-B14F-4D97-AF65-F5344CB8AC3E}">
        <p14:creationId xmlns:p14="http://schemas.microsoft.com/office/powerpoint/2010/main" val="2185539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D46C-4AB8-E1C6-F233-482BDD2A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7A55C7-70EA-FC33-B2E1-EFA0B980C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Recursion: Factorial Computation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28C095-E1DD-9F60-D085-566826875D82}"/>
              </a:ext>
            </a:extLst>
          </p:cNvPr>
          <p:cNvSpPr txBox="1">
            <a:spLocks/>
          </p:cNvSpPr>
          <p:nvPr/>
        </p:nvSpPr>
        <p:spPr>
          <a:xfrm>
            <a:off x="8694550" y="1170624"/>
            <a:ext cx="3040249" cy="3736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6A3F6-103D-8F96-B7E9-D2DBC7F7E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92" y="1170624"/>
            <a:ext cx="7311722" cy="49580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692395-4371-6916-7B34-E03CE74B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550" y="1544320"/>
            <a:ext cx="3040249" cy="8432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7427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8557-22D2-9556-6486-90D1998C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56298-877F-517D-B391-592003A0E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Recursion: Factorial Computation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F3D1C6F-ABA0-B11B-4DDF-86A9AA52946D}"/>
              </a:ext>
            </a:extLst>
          </p:cNvPr>
          <p:cNvSpPr txBox="1">
            <a:spLocks/>
          </p:cNvSpPr>
          <p:nvPr/>
        </p:nvSpPr>
        <p:spPr>
          <a:xfrm>
            <a:off x="8158480" y="1074048"/>
            <a:ext cx="3586481" cy="529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fact( ) is called with an argument of 1, the function returns 1; otherwise, it returns the product of fact(n–1)*n.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To evaluate this expression, fact( ) is called with n–1.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This process repeats until n equals 1 and the calls to the method begin returning.</a:t>
            </a:r>
          </a:p>
        </p:txBody>
      </p:sp>
      <p:pic>
        <p:nvPicPr>
          <p:cNvPr id="1026" name="Picture 2" descr="18.5: Recursive Factorial Function Call Tree - Engineering LibreTexts">
            <a:extLst>
              <a:ext uri="{FF2B5EF4-FFF2-40B4-BE49-F238E27FC236}">
                <a16:creationId xmlns:a16="http://schemas.microsoft.com/office/drawing/2014/main" id="{C041B063-B206-B1EB-6A23-C308156CD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968498"/>
            <a:ext cx="6482079" cy="576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40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6910-1D9A-7C80-D847-948AB235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500887-5A7A-15A7-1B47-83D2DE399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Recursion: Analysis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FA8BBF-9921-3EE0-9245-9AE976EDA12F}"/>
              </a:ext>
            </a:extLst>
          </p:cNvPr>
          <p:cNvSpPr txBox="1">
            <a:spLocks/>
          </p:cNvSpPr>
          <p:nvPr/>
        </p:nvSpPr>
        <p:spPr>
          <a:xfrm>
            <a:off x="934720" y="1074048"/>
            <a:ext cx="10657555" cy="52952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a method calls itself, new local variables and parameters are allocated storage on the stack, and the method code is executed with these new variables from the start.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As each recursive call returns, the old local variables and parameters are removed from the stack, and execution resumes at the point of the call inside the method.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Disadvantage of Recursion</a:t>
            </a:r>
            <a:endParaRPr lang="en-US" sz="2400" b="1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Recursive versions of many routines may execute a bit more slowly than the iterative equivalent because of the added overhead of the additional method calls.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Many recursive calls to a method could cause a stack overrun.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Because storage for parameters and local variables is on the stack and each new call creates a new copy of these variables, it is possible that the stack could be exhausted.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If this occurs, the Java run-time system will cause an exception.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896266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5B05-F768-751E-2B3D-801E5776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3B20B0-916E-3651-04A4-E12FC4298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Recursion: Analysis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485118-C71F-1F68-39C6-CEA63A4949D1}"/>
              </a:ext>
            </a:extLst>
          </p:cNvPr>
          <p:cNvSpPr txBox="1">
            <a:spLocks/>
          </p:cNvSpPr>
          <p:nvPr/>
        </p:nvSpPr>
        <p:spPr>
          <a:xfrm>
            <a:off x="934720" y="1074048"/>
            <a:ext cx="10657555" cy="529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Advantage of Recursion</a:t>
            </a:r>
            <a:endParaRPr lang="en-US" sz="2400" b="1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main advantage to recursive methods is that they can be used to create clearer and simpler versions of several algorithms than can their iterative relatives.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For example, the </a:t>
            </a:r>
            <a:r>
              <a:rPr lang="en-US" sz="24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sorting algorithm is quite difficult to implement in an iterative way.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Also, some types of AI-related algorithms are most easily implemented using recursive solutions.</a:t>
            </a:r>
          </a:p>
        </p:txBody>
      </p:sp>
    </p:spTree>
    <p:extLst>
      <p:ext uri="{BB962C8B-B14F-4D97-AF65-F5344CB8AC3E}">
        <p14:creationId xmlns:p14="http://schemas.microsoft.com/office/powerpoint/2010/main" val="2223080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48C71-F53A-34D7-32D6-396B8F3F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B00EF2E-5715-5C34-E7C9-CAD778EA9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Common Errors in Recursion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EC0924-3F26-A2AD-074E-45DD1B22F430}"/>
              </a:ext>
            </a:extLst>
          </p:cNvPr>
          <p:cNvSpPr txBox="1">
            <a:spLocks/>
          </p:cNvSpPr>
          <p:nvPr/>
        </p:nvSpPr>
        <p:spPr>
          <a:xfrm>
            <a:off x="934720" y="1074048"/>
            <a:ext cx="10657555" cy="529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When writing recursive methods, we must have an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statement somewhere to force the method to return without the recursive call being executed.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If we don’t do this, once we call the method, it will never return.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This is a very common error in working with recursion.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Use </a:t>
            </a:r>
            <a:r>
              <a:rPr lang="en-US" sz="2400" b="1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statements liberally during development so that we can watch what is going on and abort execution if we see that we have made a mistake.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550498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AAA5-99BD-3954-488A-EE6ABA3F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BE1A1B-28E7-78D8-1E8A-A2288294E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Recursive Array Printing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B8117-2695-6350-724B-AF8C087CB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30" y="1041931"/>
            <a:ext cx="6819390" cy="563340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4F907-B1EB-DE05-76D0-882C0B3AD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324" y="1554479"/>
            <a:ext cx="1259756" cy="41328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AB36E1-ED68-4F69-B796-EB864506BCBD}"/>
              </a:ext>
            </a:extLst>
          </p:cNvPr>
          <p:cNvSpPr txBox="1">
            <a:spLocks/>
          </p:cNvSpPr>
          <p:nvPr/>
        </p:nvSpPr>
        <p:spPr>
          <a:xfrm>
            <a:off x="8778323" y="1180784"/>
            <a:ext cx="1259757" cy="3635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77372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FF97-1834-FB5A-8F66-21D68ECB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AEAF40-39C6-D397-589A-892F9CE59237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Introducing Access Control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487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2018D-BD8C-EA31-1593-D9E7D379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D8582A-C23E-96A2-2088-9808B5EAC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Introducing Access Control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ACE3D0-8140-F7DC-26DF-D6D31853B51C}"/>
              </a:ext>
            </a:extLst>
          </p:cNvPr>
          <p:cNvSpPr txBox="1">
            <a:spLocks/>
          </p:cNvSpPr>
          <p:nvPr/>
        </p:nvSpPr>
        <p:spPr>
          <a:xfrm>
            <a:off x="746190" y="1198879"/>
            <a:ext cx="10846085" cy="529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 OOP, encapsulation links data with the code that manipulates it.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Encapsulation also provides another important attribute: </a:t>
            </a:r>
            <a:r>
              <a:rPr lang="en-US" b="1" u="none" strike="noStrike" baseline="0" dirty="0">
                <a:solidFill>
                  <a:srgbClr val="000000"/>
                </a:solidFill>
                <a:latin typeface="TimesLTStd-Roman"/>
              </a:rPr>
              <a:t>Access Control.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Through encapsulation, we can control what parts of a program can access the members of a class.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By controlling access, we can prevent misuse.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For example, allowing access to data only through a well-defined set of methods, we can prevent the misuse of that data.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Thus, when correctly implemented,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a class creates a “black box”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which may be used, but the inner workings of which are not open to tampering.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189780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6E57-AF18-D612-CA3C-2651F683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7939DC-C7F3-640C-8B8B-992734628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Introducing Access Control: Stack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DEF2A-C4A9-5FBA-5BE3-F66C4FFE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86" y="1026688"/>
            <a:ext cx="5393793" cy="55735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C1FB29-E61E-82BA-1247-87B6FB6A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615" y="1026688"/>
            <a:ext cx="5413575" cy="45409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4749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E8EF-E103-2BEA-F790-DCA68346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2CE193-F7FA-0076-C6BA-3050335A7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Introducing Access Control: Stack Example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7EA40E-05C0-8C13-C468-5265B5998A3A}"/>
              </a:ext>
            </a:extLst>
          </p:cNvPr>
          <p:cNvSpPr txBox="1">
            <a:spLocks/>
          </p:cNvSpPr>
          <p:nvPr/>
        </p:nvSpPr>
        <p:spPr>
          <a:xfrm>
            <a:off x="746190" y="1198879"/>
            <a:ext cx="10846085" cy="5295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class, while it is true that the methods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do provide a controlled interface to the stack, this interface is not enforced.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That is, it is possible for another part of the program to bypass these methods and access the stack directly.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Of course, in the wrong hands, this could lead to trouble.</a:t>
            </a:r>
          </a:p>
        </p:txBody>
      </p:sp>
    </p:spTree>
    <p:extLst>
      <p:ext uri="{BB962C8B-B14F-4D97-AF65-F5344CB8AC3E}">
        <p14:creationId xmlns:p14="http://schemas.microsoft.com/office/powerpoint/2010/main" val="4013781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FEFD-6B8B-90D3-EE1A-8A6E420E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F7D83D-21D2-5B0A-4E76-1C54F078A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Access Modifiers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6AD976-2E92-AE15-1207-40AE7D00B143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335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How a member can be accessed is determined by the access modifier attached to its declaration.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Java supplies a rich set of access modifiers.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Some aspects of access control are related mostly to inheritance or packages.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 this part, we examine access control that applies to a single class.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Java’s access modifiers are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public, private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, and </a:t>
            </a:r>
            <a:r>
              <a:rPr lang="en-US" i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pPr lvl="1"/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applies to inheritance and will be discussed later.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10143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2996-71A1-D50E-F0E9-4D720F4E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03B02D-78B8-2F14-92E8-DEDE196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Access Modifier: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4000" b="1" dirty="0">
                <a:solidFill>
                  <a:schemeClr val="bg1"/>
                </a:solidFill>
                <a:latin typeface="TimesLTStd-Roman"/>
                <a:cs typeface="Courier New" panose="02070309020205020404" pitchFamily="49" charset="0"/>
              </a:rPr>
              <a:t>&amp;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private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96A7967-F338-ED4F-976D-2DD8863E2F0E}"/>
              </a:ext>
            </a:extLst>
          </p:cNvPr>
          <p:cNvSpPr txBox="1">
            <a:spLocks/>
          </p:cNvSpPr>
          <p:nvPr/>
        </p:nvSpPr>
        <p:spPr>
          <a:xfrm>
            <a:off x="746190" y="1158240"/>
            <a:ext cx="10846085" cy="5335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a member of a class is modified by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then that member can be accessed by any other code.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a member of a class is specified as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then that member can only be accessed by other members of its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method has always been preceded by the public modifier because it is called by code that is outside the program—that is, by the Java run-time system.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no access modifier is used, then by default the member of a class is public within its own package, but cannot be accessed outside of its package.</a:t>
            </a:r>
          </a:p>
        </p:txBody>
      </p:sp>
    </p:spTree>
    <p:extLst>
      <p:ext uri="{BB962C8B-B14F-4D97-AF65-F5344CB8AC3E}">
        <p14:creationId xmlns:p14="http://schemas.microsoft.com/office/powerpoint/2010/main" val="2293935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26FCB-05DE-68AB-156A-02660805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7C131D-57F1-C4E2-27CB-3D3EAC132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Access Modifier: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4000" b="1" dirty="0">
                <a:solidFill>
                  <a:schemeClr val="bg1"/>
                </a:solidFill>
                <a:latin typeface="TimesLTStd-Roman"/>
                <a:cs typeface="Courier New" panose="02070309020205020404" pitchFamily="49" charset="0"/>
              </a:rPr>
              <a:t>&amp;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private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35952AB-0807-B9D0-B5A5-2C4F8F94BC47}"/>
              </a:ext>
            </a:extLst>
          </p:cNvPr>
          <p:cNvSpPr txBox="1">
            <a:spLocks/>
          </p:cNvSpPr>
          <p:nvPr/>
        </p:nvSpPr>
        <p:spPr>
          <a:xfrm>
            <a:off x="746190" y="1158241"/>
            <a:ext cx="10846085" cy="299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For the sake of achieving encapsulation, usually we will want to restrict access to the data members of a class—allowing access only through methods.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Also, there will be times when we will want to define methods that are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to a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 access modifier must begin a member’s declaration statement.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5C544-ED13-179B-0FC1-9B1CC03C2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47" y="4274794"/>
            <a:ext cx="6481741" cy="20142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876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3B55-D993-1961-E5C5-9FDD294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725B7F-C0C4-2DDB-D495-D63CFBEE2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4000" b="1" dirty="0">
                <a:solidFill>
                  <a:schemeClr val="bg1"/>
                </a:solidFill>
                <a:latin typeface="TimesLTStd-Roman"/>
                <a:cs typeface="Courier New" panose="02070309020205020404" pitchFamily="49" charset="0"/>
              </a:rPr>
              <a:t>&amp;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private</a:t>
            </a:r>
            <a:r>
              <a:rPr lang="en-US" sz="4000" b="1" dirty="0">
                <a:solidFill>
                  <a:schemeClr val="bg1"/>
                </a:solidFill>
                <a:latin typeface="TimesLTStd-Roman"/>
                <a:cs typeface="Courier New" panose="02070309020205020404" pitchFamily="49" charset="0"/>
              </a:rPr>
              <a:t>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B92E4-2F46-120D-9279-74312270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35" y="1067318"/>
            <a:ext cx="7776914" cy="551636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A3AF58-BF89-2F44-2C67-75EEBB647EBF}"/>
              </a:ext>
            </a:extLst>
          </p:cNvPr>
          <p:cNvSpPr txBox="1">
            <a:spLocks/>
          </p:cNvSpPr>
          <p:nvPr/>
        </p:nvSpPr>
        <p:spPr>
          <a:xfrm>
            <a:off x="9235441" y="1067318"/>
            <a:ext cx="2550324" cy="4866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Methods used to access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members are often called “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getters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setters”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, or “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accessors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mutators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9148762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F545-54D7-66DF-E41E-B045EE3F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69F7CC-50AD-FBFF-0EC0-1EC9C2F31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LTStd-Roman"/>
                <a:cs typeface="Courier New" panose="02070309020205020404" pitchFamily="49" charset="0"/>
              </a:rPr>
              <a:t>Stack Class with Access Modifiers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79159-D49F-13F9-CFA9-DEB316FE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03" y="1108618"/>
            <a:ext cx="5675098" cy="50345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D7E2C-4032-36C6-599E-19EFEEF83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325" y="1108617"/>
            <a:ext cx="5544331" cy="50345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896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23677</TotalTime>
  <Words>1969</Words>
  <Application>Microsoft Office PowerPoint</Application>
  <PresentationFormat>Widescreen</PresentationFormat>
  <Paragraphs>155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Courier New</vt:lpstr>
      <vt:lpstr>Garamond</vt:lpstr>
      <vt:lpstr>TimesLTStd-Roman</vt:lpstr>
      <vt:lpstr>Office Theme</vt:lpstr>
      <vt:lpstr>A Closer Look at Methods and Classes Part 1  Java - The Complete Reference  Herbert Schildt Chapter 7 </vt:lpstr>
      <vt:lpstr>Outline</vt:lpstr>
      <vt:lpstr>PowerPoint Presentation</vt:lpstr>
      <vt:lpstr>Overloading Methods</vt:lpstr>
      <vt:lpstr>Overloading Methods: Example</vt:lpstr>
      <vt:lpstr>Type Conversion in Overloading Methods</vt:lpstr>
      <vt:lpstr>Type Conversion in Overloading Methods: Example</vt:lpstr>
      <vt:lpstr>Usefulness of Method Overloading</vt:lpstr>
      <vt:lpstr>PowerPoint Presentation</vt:lpstr>
      <vt:lpstr>Overloading Constructors</vt:lpstr>
      <vt:lpstr>Overloading Constructors: Example</vt:lpstr>
      <vt:lpstr>PowerPoint Presentation</vt:lpstr>
      <vt:lpstr>Using Objects as Parameters</vt:lpstr>
      <vt:lpstr>Passing Objects to Constructors</vt:lpstr>
      <vt:lpstr>Passing Objects to Constructors: Example</vt:lpstr>
      <vt:lpstr>PowerPoint Presentation</vt:lpstr>
      <vt:lpstr>A Closer Look at Argument Passing</vt:lpstr>
      <vt:lpstr>Call-by-value: Example</vt:lpstr>
      <vt:lpstr>Call-by-reference: Example</vt:lpstr>
      <vt:lpstr>PowerPoint Presentation</vt:lpstr>
      <vt:lpstr>Returning Objects</vt:lpstr>
      <vt:lpstr>Returning Objects</vt:lpstr>
      <vt:lpstr>PowerPoint Presentation</vt:lpstr>
      <vt:lpstr>Recursion</vt:lpstr>
      <vt:lpstr>Recursion: Factorial Computation</vt:lpstr>
      <vt:lpstr>Recursion: Factorial Computation</vt:lpstr>
      <vt:lpstr>Recursion: Analysis</vt:lpstr>
      <vt:lpstr>Recursion: Analysis</vt:lpstr>
      <vt:lpstr>Common Errors in Recursion</vt:lpstr>
      <vt:lpstr>Recursive Array Printing</vt:lpstr>
      <vt:lpstr>PowerPoint Presentation</vt:lpstr>
      <vt:lpstr>Introducing Access Control</vt:lpstr>
      <vt:lpstr>Introducing Access Control: Stack Example</vt:lpstr>
      <vt:lpstr>Introducing Access Control: Stack Example</vt:lpstr>
      <vt:lpstr>Access Modifiers</vt:lpstr>
      <vt:lpstr>Access Modifier: public &amp; private</vt:lpstr>
      <vt:lpstr>Access Modifier: public &amp; private</vt:lpstr>
      <vt:lpstr>public &amp; private: Example</vt:lpstr>
      <vt:lpstr>Stack Class with Access Modifiers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3203</cp:revision>
  <dcterms:created xsi:type="dcterms:W3CDTF">2023-02-09T14:28:53Z</dcterms:created>
  <dcterms:modified xsi:type="dcterms:W3CDTF">2025-10-21T19:15:50Z</dcterms:modified>
</cp:coreProperties>
</file>