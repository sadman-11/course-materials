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314" r:id="rId2"/>
    <p:sldId id="332" r:id="rId3"/>
    <p:sldId id="383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27" r:id="rId12"/>
    <p:sldId id="416" r:id="rId13"/>
    <p:sldId id="417" r:id="rId14"/>
    <p:sldId id="418" r:id="rId15"/>
    <p:sldId id="419" r:id="rId16"/>
    <p:sldId id="420" r:id="rId17"/>
    <p:sldId id="428" r:id="rId18"/>
    <p:sldId id="421" r:id="rId19"/>
    <p:sldId id="429" r:id="rId20"/>
    <p:sldId id="422" r:id="rId21"/>
    <p:sldId id="423" r:id="rId22"/>
    <p:sldId id="424" r:id="rId23"/>
    <p:sldId id="42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A54E-7FBF-484C-A6C4-F49DDEB3D82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53559-EDE7-4C02-BA95-DAA1E537C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2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AB8B-5C76-C722-00D1-DAC753042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6F68D-C497-AEB7-900B-72F9DF70F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D540-8471-3CC1-489E-8B29ACFB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73B2-6760-460E-8AB2-1B6346B18A84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B27AA-417E-A12A-CDA3-F5C9BB1A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A8113-F6A5-484E-5494-0615EF5A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8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6495-0061-5791-5A38-5A0AFC9B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4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F634-39BC-CD34-D2B7-D59AC08EA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51E01-2F17-6C27-DD5D-FB487D78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B1D3-9AAB-42E9-AB25-5F62B3993181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811C3-DD84-2EDE-7E67-992548CC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5F33-AE4E-249C-027B-140C0A1E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37C1-B2F4-BC78-D77F-B4E7274A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84A79-9A15-99B9-D8D8-EDE5518E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6644-FD0E-9D40-6531-6A532874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96A2-8E33-4AA5-9781-C6800CE55457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D77DA-16F7-0F88-6569-ED49E4BC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B42E-ECD0-B9B5-10EF-56F6A044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3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BE06-074E-745A-EA35-B8623E5A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005C4-6760-E9B2-E4C9-8E838AE15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DAECE-5C9F-BC28-1E10-2C65B4BF5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9E206-6B24-5286-9583-7B4CEA95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0BE7-B07C-4974-811F-F976B1E00FA0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1EB8B-B73E-C71D-9856-97E87AF5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05416-485A-C7C9-02B7-70BEA04A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EBAD-D597-C90E-60AC-2817F9AFC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6C801-BED4-EF07-E88E-D5E1583F4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1183F-AF00-7B8B-D8E7-1EEA8E381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81FD7-558D-9B40-28E0-42ECB2AF1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580E1-304B-978B-6362-40CEE8C74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2AA01-469C-6B5F-9F6E-4691CB54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41B3-369F-43A4-8A97-D2A32ED460A2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E6341-BFA5-5BA6-EED9-86CBEAD7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04440-B40B-E518-3E1C-ACD9FAD5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4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C700-C47C-9B28-D3CF-4238312F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E8077-BC92-BB8B-F545-54682C30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5618E-2637-45D6-B9DC-BEC5E50A78A2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7AEA1-0EE9-7275-1F81-B9905597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E5035-8BC5-52BF-3CA3-9927BD08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8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3BFBF-E3C0-226C-AC1E-4FE521BF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B262-ECF8-4B6F-BF55-2A05210DA752}" type="datetime1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76AD0-825E-15F6-A291-EA2E1C99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3E901-4B4C-A93E-A23E-3FBB5B91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9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912C-9409-0B2C-3373-F9879763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ACE39-B0EF-6C74-C153-5E124A55E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40C0A-774A-0624-9C5A-26D12FE62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A380C-6AD0-8B17-017C-58B0BB48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F33B-22BF-4177-90DF-BF8D0C456F5B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5EE64-6285-D945-9A89-68EBEDD3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B2E04-B2E2-8A7F-D973-1A673E4A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9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B042-4F79-C24C-8C42-CAD35CB0C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C3C56-A188-FBFF-5415-A69205152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0A565-6F27-1F77-D869-2B2A21BBC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7B854-BDF6-DC3F-562B-C99DC19A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386F-1449-4FB9-879F-2818E7EE9A3C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6EA7F-F589-F4EA-6EF6-E6390693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9BCE2-E1AC-ACFB-47B8-2233376B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6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2272-A2D3-67E5-DF8A-0CC2AA84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08F4B-4649-A77B-1CE8-5D78FA022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2D52-D425-B903-CC42-2CE1988E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072F-FD1D-4BA2-BB79-3257390C4608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51FB8-BDE5-046A-5B22-8E2DA40E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C83CE-4FD3-C3F7-22DE-2EC13C32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6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6A0F6-E6DF-8630-5AE5-B54FBA2E6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B37CA-3EDB-8ABA-5A94-364646868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8AD5A-E400-040E-2104-10876C14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AF11-6F97-41CD-85DB-F04148D1C584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59033-9D10-6508-99A4-A0E9705A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B28FE-098F-AF6D-2A0A-74FD084F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2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D9A967-8F3E-E0CF-AD1B-50B077819F0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61259" y="-10821"/>
            <a:ext cx="11486184" cy="97491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9B6F3-4135-0E21-7250-CC439449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8502-5B55-7F18-8B55-656DC909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71048-EE63-F593-9B43-21CA3F936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FF405-15DA-4E10-B87C-176BF076D254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F5827-7C80-4A48-44F7-5AC8F3F32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46951" y="64656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1">
                <a:solidFill>
                  <a:schemeClr val="tx1"/>
                </a:solidFill>
              </a:defRPr>
            </a:lvl1pPr>
          </a:lstStyle>
          <a:p>
            <a:r>
              <a:rPr lang="en-US"/>
              <a:t>Dr Md Hasanul Ferdaus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A239E-C2C4-B6B2-477D-3BFB38861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8080" y="465328"/>
            <a:ext cx="6817360" cy="3740912"/>
          </a:xfrm>
        </p:spPr>
        <p:txBody>
          <a:bodyPr anchor="b">
            <a:normAutofit/>
          </a:bodyPr>
          <a:lstStyle/>
          <a:p>
            <a:pPr algn="l"/>
            <a:r>
              <a:rPr lang="en-US" b="1" dirty="0"/>
              <a:t>Introducing Classes</a:t>
            </a:r>
            <a:br>
              <a:rPr lang="en-US" b="1" dirty="0"/>
            </a:br>
            <a:r>
              <a:rPr lang="en-US" sz="4000" b="1" dirty="0"/>
              <a:t>Part 1</a:t>
            </a:r>
            <a:br>
              <a:rPr lang="en-US" b="1" dirty="0"/>
            </a:br>
            <a:br>
              <a:rPr lang="en-US" sz="3400" b="1" dirty="0"/>
            </a:br>
            <a:r>
              <a:rPr lang="en-US" sz="3600" b="1" dirty="0"/>
              <a:t>Java - The Complete Reference </a:t>
            </a:r>
            <a:br>
              <a:rPr lang="en-US" sz="3600" b="1" dirty="0"/>
            </a:br>
            <a:r>
              <a:rPr lang="en-US" sz="2700" b="1" dirty="0"/>
              <a:t>Herbert Schildt</a:t>
            </a:r>
            <a:br>
              <a:rPr lang="en-US" sz="2700" b="1" dirty="0"/>
            </a:br>
            <a:r>
              <a:rPr lang="en-US" sz="2000" b="1" dirty="0"/>
              <a:t>Chapter 6</a:t>
            </a:r>
            <a:br>
              <a:rPr lang="en-US" sz="2000" b="1" dirty="0"/>
            </a:br>
            <a:endParaRPr lang="en-US" sz="3400" b="1" dirty="0"/>
          </a:p>
        </p:txBody>
      </p:sp>
      <p:pic>
        <p:nvPicPr>
          <p:cNvPr id="3" name="Picture 2" descr="A logo of a cup with a smoke&#10;&#10;Description automatically generated">
            <a:extLst>
              <a:ext uri="{FF2B5EF4-FFF2-40B4-BE49-F238E27FC236}">
                <a16:creationId xmlns:a16="http://schemas.microsoft.com/office/drawing/2014/main" id="{BDB8C381-3971-3988-FACF-7ABC0A6AD6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0" r="-1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Outline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1254475" y="1483360"/>
            <a:ext cx="10653045" cy="508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TimesLTStd-Roman"/>
              </a:rPr>
              <a:t>Class Fundamentals</a:t>
            </a:r>
          </a:p>
          <a:p>
            <a:pPr lvl="1"/>
            <a:r>
              <a:rPr lang="en-US" sz="2800" b="0" i="0" u="none" strike="noStrike" baseline="0" dirty="0">
                <a:solidFill>
                  <a:srgbClr val="000000"/>
                </a:solidFill>
                <a:latin typeface="TimesLTStd-Roman"/>
              </a:rPr>
              <a:t>The General Form of a Class</a:t>
            </a:r>
          </a:p>
          <a:p>
            <a:pPr lvl="1"/>
            <a:r>
              <a:rPr lang="en-US" sz="2800" b="0" i="0" u="none" strike="noStrike" baseline="0" dirty="0">
                <a:solidFill>
                  <a:srgbClr val="000000"/>
                </a:solidFill>
                <a:latin typeface="TimesLTStd-Roman"/>
              </a:rPr>
              <a:t>A Simple Class</a:t>
            </a:r>
          </a:p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TimesLTStd-Roman"/>
              </a:rPr>
              <a:t>Declaring Objects</a:t>
            </a:r>
          </a:p>
          <a:p>
            <a:pPr lvl="1"/>
            <a:r>
              <a:rPr lang="en-US" sz="2800" b="0" i="0" u="none" strike="noStrike" baseline="0" dirty="0">
                <a:solidFill>
                  <a:srgbClr val="000000"/>
                </a:solidFill>
                <a:latin typeface="TimesLTStd-Roman"/>
              </a:rPr>
              <a:t>A Closer Look 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TimesLTStd-Roman"/>
              </a:rPr>
              <a:t>at </a:t>
            </a:r>
            <a:r>
              <a:rPr lang="en-US" sz="2800" b="1" i="0" u="none" strike="noStrike" baseline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endParaRPr lang="en-US" sz="2800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TimesLTStd-Roman"/>
              </a:rPr>
              <a:t>Assigning Object Reference Variables</a:t>
            </a:r>
          </a:p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TimesLTStd-Roman"/>
              </a:rPr>
              <a:t>Introducing Methods</a:t>
            </a:r>
          </a:p>
          <a:p>
            <a:pPr lvl="1"/>
            <a:r>
              <a:rPr lang="en-US" sz="2800" b="0" i="0" u="none" strike="noStrike" baseline="0" dirty="0">
                <a:solidFill>
                  <a:srgbClr val="000000"/>
                </a:solidFill>
                <a:latin typeface="TimesLTStd-Roman"/>
              </a:rPr>
              <a:t>Adding a Method That Takes Parameters</a:t>
            </a:r>
          </a:p>
        </p:txBody>
      </p:sp>
    </p:spTree>
    <p:extLst>
      <p:ext uri="{BB962C8B-B14F-4D97-AF65-F5344CB8AC3E}">
        <p14:creationId xmlns:p14="http://schemas.microsoft.com/office/powerpoint/2010/main" val="30025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E598F-10E5-E102-F691-9598D08E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3A65C0-EB16-EE81-2737-92BC633EB009}"/>
              </a:ext>
            </a:extLst>
          </p:cNvPr>
          <p:cNvSpPr txBox="1"/>
          <p:nvPr/>
        </p:nvSpPr>
        <p:spPr>
          <a:xfrm>
            <a:off x="1899920" y="2314694"/>
            <a:ext cx="78536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Class Fundamentals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364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DC1F-CEE5-54B6-1367-4457095A7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ADF44F9-9DD1-3477-8481-1FE5C6A46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Class Fundamentals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57ED7F-B640-A635-09F6-C3DC48274E03}"/>
              </a:ext>
            </a:extLst>
          </p:cNvPr>
          <p:cNvSpPr txBox="1">
            <a:spLocks/>
          </p:cNvSpPr>
          <p:nvPr/>
        </p:nvSpPr>
        <p:spPr>
          <a:xfrm>
            <a:off x="670559" y="1168400"/>
            <a:ext cx="11196321" cy="5530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A class is that it defines a new data type (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TimesLTStd-Roman"/>
              </a:rPr>
              <a:t>user-defined/custom data type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).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This new type can be used to create objects of that type. 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A class is a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template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for an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object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TimesLTStd-Roman"/>
              </a:rPr>
              <a:t>,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and an object is an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instance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of a class.</a:t>
            </a:r>
          </a:p>
          <a:p>
            <a:pPr lvl="1"/>
            <a:r>
              <a:rPr lang="en-US" sz="2800" b="0" i="0" u="none" strike="noStrike" baseline="0" dirty="0">
                <a:solidFill>
                  <a:srgbClr val="000000"/>
                </a:solidFill>
                <a:latin typeface="TimesLTStd-Roman"/>
              </a:rPr>
              <a:t>An object is an instance of a class.</a:t>
            </a:r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two words object and instance are often used interchangeably.</a:t>
            </a: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489103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E49D2-9439-F09A-2B5E-C8915C620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1EB023A-499C-0D3C-6373-996B079A5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General Form of a Class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00DB51-E16F-0BF2-2013-E4A42F10FDEF}"/>
              </a:ext>
            </a:extLst>
          </p:cNvPr>
          <p:cNvSpPr txBox="1">
            <a:spLocks/>
          </p:cNvSpPr>
          <p:nvPr/>
        </p:nvSpPr>
        <p:spPr>
          <a:xfrm>
            <a:off x="670559" y="1056640"/>
            <a:ext cx="11196321" cy="5530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A class contains some data and the code that operates on that data.</a:t>
            </a: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AE9E13-3D6F-D291-4DDF-AA51351BB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475" y="1613440"/>
            <a:ext cx="6319201" cy="50515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1C51FF3-8A4A-CF68-2637-852EF7B325BE}"/>
              </a:ext>
            </a:extLst>
          </p:cNvPr>
          <p:cNvSpPr txBox="1">
            <a:spLocks/>
          </p:cNvSpPr>
          <p:nvPr/>
        </p:nvSpPr>
        <p:spPr>
          <a:xfrm>
            <a:off x="8463280" y="1613440"/>
            <a:ext cx="3556000" cy="505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The data, or variables, defined within a class are called 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instance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LTStd-Roman"/>
              </a:rPr>
              <a:t> 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variables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 or 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fields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The code is contained within 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methods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The 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variables and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methods defined within a class are called 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members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 of the class.</a:t>
            </a:r>
          </a:p>
          <a:p>
            <a:endParaRPr lang="en-US" sz="2400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sz="2400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280487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63961-B2E6-ABA2-A733-65C9F1D6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C5F334E-ADF9-404C-E2B5-5D11B32ED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General Form of a Class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27C434E-06AE-8F67-B0EC-8AD98972D6EB}"/>
              </a:ext>
            </a:extLst>
          </p:cNvPr>
          <p:cNvSpPr txBox="1">
            <a:spLocks/>
          </p:cNvSpPr>
          <p:nvPr/>
        </p:nvSpPr>
        <p:spPr>
          <a:xfrm>
            <a:off x="670559" y="1391920"/>
            <a:ext cx="11196321" cy="5195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none" strike="noStrike" baseline="0" dirty="0">
                <a:solidFill>
                  <a:srgbClr val="000000"/>
                </a:solidFill>
                <a:latin typeface="TimesLTStd-Roman"/>
              </a:rPr>
              <a:t>Instance variables: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Each instance of the class (that is, each object of the class) contains its own copy of instance variables.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So, the data for one object is separate and unique from the data for another.</a:t>
            </a:r>
          </a:p>
          <a:p>
            <a:r>
              <a:rPr lang="en-US" b="1" dirty="0">
                <a:solidFill>
                  <a:srgbClr val="000000"/>
                </a:solidFill>
                <a:latin typeface="TimesLTStd-Roman"/>
              </a:rPr>
              <a:t>Methods: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Methods are similar to function in C/C++. These are actions that are performed when called.</a:t>
            </a:r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If a class is the starting point for a program, that class must contain a 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TimesLTStd-Roman"/>
              </a:rPr>
              <a:t>main()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method.</a:t>
            </a: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33627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637BB-089A-5350-E226-509169072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AC5F660-17DC-B0E5-9ECD-BD8DCD9D1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simple Class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37331D-0E20-754C-D845-0B854B765C40}"/>
              </a:ext>
            </a:extLst>
          </p:cNvPr>
          <p:cNvSpPr txBox="1">
            <a:spLocks/>
          </p:cNvSpPr>
          <p:nvPr/>
        </p:nvSpPr>
        <p:spPr>
          <a:xfrm>
            <a:off x="670559" y="1168400"/>
            <a:ext cx="11196321" cy="5418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class that defines three instance variables: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width, height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, and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depth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defined as a new data type.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A class declaration only creates a template; it does not create an actual object.</a:t>
            </a: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8AA27B-AC28-B2AE-7BC0-5703D8782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503" y="2312010"/>
            <a:ext cx="3156963" cy="18637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74709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1CB1-6EB9-DA39-B88D-80856C63B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1EED76-556E-5996-D331-DFA9FF28F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simple Class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8C9E75-643A-DB95-84C3-E54A32F15FE3}"/>
              </a:ext>
            </a:extLst>
          </p:cNvPr>
          <p:cNvSpPr txBox="1">
            <a:spLocks/>
          </p:cNvSpPr>
          <p:nvPr/>
        </p:nvSpPr>
        <p:spPr>
          <a:xfrm>
            <a:off x="670559" y="1044530"/>
            <a:ext cx="11196321" cy="5418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We need to use the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keyword to create a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object: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b="1" u="none" strike="noStrike" baseline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mybox1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mybox2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will be two instances (objects) of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class.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Both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mybox1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mybox2 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contain the instance variables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width, height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, and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depth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To access these variables, we need to use the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dot (.) operator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following code snippet assigns 100 to the width instance variable of mybox1 object. </a:t>
            </a: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5E52D0-0750-DA07-926D-D329B0CA0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475" y="1809102"/>
            <a:ext cx="4899519" cy="11068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C08EBE-D992-29E7-3282-3AA018DFA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673" y="6010896"/>
            <a:ext cx="3591736" cy="5149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2673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74DBD-6E25-CBFD-B368-28E0DFB9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706627-1B1C-A30E-2A49-BED2D7A02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simple Class: Complete Code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4FFE3AE-91C0-06D6-304A-D9851AA3F0FE}"/>
              </a:ext>
            </a:extLst>
          </p:cNvPr>
          <p:cNvSpPr txBox="1">
            <a:spLocks/>
          </p:cNvSpPr>
          <p:nvPr/>
        </p:nvSpPr>
        <p:spPr>
          <a:xfrm>
            <a:off x="680719" y="6122632"/>
            <a:ext cx="11196321" cy="623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6034A4-328D-1C6F-6461-531A9C5A5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160" y="734454"/>
            <a:ext cx="6349509" cy="593050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30315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814CF-F481-920A-10BC-DD7EDC099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960F223-AF6B-8F7F-B24E-A3DEE00E6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Simple Class: Class files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A47EEAA-0201-4DBB-2A59-BE4DB166E534}"/>
              </a:ext>
            </a:extLst>
          </p:cNvPr>
          <p:cNvSpPr txBox="1">
            <a:spLocks/>
          </p:cNvSpPr>
          <p:nvPr/>
        </p:nvSpPr>
        <p:spPr>
          <a:xfrm>
            <a:off x="690879" y="1493520"/>
            <a:ext cx="11196321" cy="2326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The filename must be </a:t>
            </a:r>
            <a:r>
              <a:rPr lang="en-US" sz="240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BoxDemo.java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since the class that contains the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method is named </a:t>
            </a:r>
            <a:r>
              <a:rPr lang="en-US" sz="2400" b="1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BoxDemo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After compilation, two class files will be created: </a:t>
            </a:r>
            <a:r>
              <a:rPr lang="en-US" sz="240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Box.class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sz="240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BoxDemo.class</a:t>
            </a:r>
            <a:endParaRPr lang="en-US" sz="2400" u="none" strike="noStrike" baseline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64997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3107F-A195-0CB1-5408-9656D7914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E5BF6C-C26E-BB6E-F74C-BB1489B1792F}"/>
              </a:ext>
            </a:extLst>
          </p:cNvPr>
          <p:cNvSpPr txBox="1"/>
          <p:nvPr/>
        </p:nvSpPr>
        <p:spPr>
          <a:xfrm>
            <a:off x="1899920" y="2314694"/>
            <a:ext cx="78536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Declaring Objects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23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6F07F-7E44-FC1B-FEB4-AD69D7684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C0C5E5-FF6F-F819-AFCE-6F555182E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Declaring Objects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155C770-E89B-5B9B-6E02-B1EB582C2FB0}"/>
              </a:ext>
            </a:extLst>
          </p:cNvPr>
          <p:cNvSpPr txBox="1">
            <a:spLocks/>
          </p:cNvSpPr>
          <p:nvPr/>
        </p:nvSpPr>
        <p:spPr>
          <a:xfrm>
            <a:off x="690879" y="1066800"/>
            <a:ext cx="11196321" cy="579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Obtaining objects of a class is a two-step process.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A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reference (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variable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)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needs to be created. This is not an object.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An object needs to be created and assigned to the reference. We can do this using the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operator.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The new operator dynamically (at run time) allocates memory for an object and returns a reference to it.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This reference is, more or less, the address in memory of the object allocated by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In Java, all class objects must be dynamically allocated using the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operator.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References in Java are somewhat similar to pointers in C/C++; however, there are differences.</a:t>
            </a:r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7AE62-EAFF-639E-8C0A-CE0A4F7A6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841" y="2012308"/>
            <a:ext cx="1850203" cy="4972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D31184-B256-2F62-B51D-D5F4C4693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841" y="3408680"/>
            <a:ext cx="2771185" cy="5066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78069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1B81A-6D3C-8BE7-E69B-B9FF605F3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760B564-E2CF-1D20-9FE6-D80B15909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Declaring Objects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EA6CB3-EC0D-BD62-4151-78F009417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879" y="1144176"/>
            <a:ext cx="9178242" cy="477910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13654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59CF3-6496-95AF-D914-5F34C0F2D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C67B65-67F8-3E8D-AB61-F19A4C83C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closer look at the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4000" b="1" dirty="0">
                <a:solidFill>
                  <a:schemeClr val="bg1"/>
                </a:solidFill>
              </a:rPr>
              <a:t> operator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4570EF4-BAB9-1F83-7436-A0B993C73749}"/>
              </a:ext>
            </a:extLst>
          </p:cNvPr>
          <p:cNvSpPr txBox="1">
            <a:spLocks/>
          </p:cNvSpPr>
          <p:nvPr/>
        </p:nvSpPr>
        <p:spPr>
          <a:xfrm>
            <a:off x="746190" y="1158240"/>
            <a:ext cx="10846085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The general form of using new operator for creating objects: 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class-var 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is a variable (reference) of the class type being created. 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The </a:t>
            </a:r>
            <a:r>
              <a:rPr lang="en-US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is the name of the class that is being instantiated. 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The class name followed by parentheses specifies the </a:t>
            </a:r>
            <a:r>
              <a:rPr lang="en-US" sz="2400" i="1" dirty="0">
                <a:solidFill>
                  <a:srgbClr val="000000"/>
                </a:solidFill>
                <a:latin typeface="TimesLTStd-Roman"/>
              </a:rPr>
              <a:t>constructor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for the class.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A </a:t>
            </a:r>
            <a:r>
              <a:rPr lang="en-US" b="1" dirty="0">
                <a:solidFill>
                  <a:srgbClr val="000000"/>
                </a:solidFill>
                <a:latin typeface="TimesLTStd-Roman"/>
              </a:rPr>
              <a:t>constructor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defines what occurs when an object of a class is created.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Most real-world classes explicitly define their own constructors within their class definition.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If no explicit constructor is specified, Java will automatically supply a </a:t>
            </a:r>
            <a:r>
              <a:rPr lang="en-US" sz="2400" i="1" dirty="0">
                <a:solidFill>
                  <a:srgbClr val="000000"/>
                </a:solidFill>
                <a:latin typeface="TimesLTStd-Roman"/>
              </a:rPr>
              <a:t>default constructor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7B2452-5213-FA03-1DF0-D519382C2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474" y="1675753"/>
            <a:ext cx="3383213" cy="5391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29707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B2754-9048-7C43-8965-7F8533671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7174E1-DB7C-F487-AC21-655221A1A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closer look at the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4000" b="1" dirty="0">
                <a:solidFill>
                  <a:schemeClr val="bg1"/>
                </a:solidFill>
              </a:rPr>
              <a:t> operator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FE8941E-993A-A67C-BEDA-CA18A97AA6F1}"/>
              </a:ext>
            </a:extLst>
          </p:cNvPr>
          <p:cNvSpPr txBox="1">
            <a:spLocks/>
          </p:cNvSpPr>
          <p:nvPr/>
        </p:nvSpPr>
        <p:spPr>
          <a:xfrm>
            <a:off x="746190" y="1158240"/>
            <a:ext cx="10846085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Since new allocates memory for an object during run time, a Java program can create as many or as few objects as needed during the execution of the program.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If the whole memory is already allocated, the new operator will fail to allocate memory for an object.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If this happens, a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run-time exception 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will occur.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4227200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369B4-6CE3-9F6A-19A4-67AE2BA47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834C414-D4EE-9C26-F61E-16998CDDD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Class vs Object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1E484E-3341-EEF2-6D8A-0588A5B26EAD}"/>
              </a:ext>
            </a:extLst>
          </p:cNvPr>
          <p:cNvSpPr txBox="1">
            <a:spLocks/>
          </p:cNvSpPr>
          <p:nvPr/>
        </p:nvSpPr>
        <p:spPr>
          <a:xfrm>
            <a:off x="746190" y="1158240"/>
            <a:ext cx="10846085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A class is a logical construct.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An object has physical reality (an object occupies space in memory).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When we declare an object of a class, we are creating an instance of that class.</a:t>
            </a:r>
          </a:p>
        </p:txBody>
      </p:sp>
    </p:spTree>
    <p:extLst>
      <p:ext uri="{BB962C8B-B14F-4D97-AF65-F5344CB8AC3E}">
        <p14:creationId xmlns:p14="http://schemas.microsoft.com/office/powerpoint/2010/main" val="1999638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ED6C-E6ED-1623-2845-4441ADECD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FE48AB-8588-8CA3-B166-2D014D3A2975}"/>
              </a:ext>
            </a:extLst>
          </p:cNvPr>
          <p:cNvSpPr txBox="1"/>
          <p:nvPr/>
        </p:nvSpPr>
        <p:spPr>
          <a:xfrm>
            <a:off x="934720" y="2314694"/>
            <a:ext cx="10363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Assigning an Object to Reference Variables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97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5466D-D3E3-D942-7246-13C0EA3D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8B8FCCE-004F-42EC-8230-7425CBEC7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Assigning an </a:t>
            </a:r>
            <a:r>
              <a:rPr lang="en-US" sz="4000" b="1">
                <a:solidFill>
                  <a:schemeClr val="bg1"/>
                </a:solidFill>
              </a:rPr>
              <a:t>Object to Reference </a:t>
            </a:r>
            <a:r>
              <a:rPr lang="en-US" sz="4000" b="1" dirty="0">
                <a:solidFill>
                  <a:schemeClr val="bg1"/>
                </a:solidFill>
              </a:rPr>
              <a:t>Variables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D349EC-92C7-10DF-A112-F1F66F605C23}"/>
              </a:ext>
            </a:extLst>
          </p:cNvPr>
          <p:cNvSpPr txBox="1">
            <a:spLocks/>
          </p:cNvSpPr>
          <p:nvPr/>
        </p:nvSpPr>
        <p:spPr>
          <a:xfrm>
            <a:off x="746190" y="1158240"/>
            <a:ext cx="10846085" cy="157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A reference can be assigned another object’s reference.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6CAE9F-3391-6331-C262-85D230058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475" y="1757680"/>
            <a:ext cx="3067623" cy="8026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D25338-C072-D2BE-54EB-CF0E8CA82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750" y="2099888"/>
            <a:ext cx="5222781" cy="19127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4B60F6-1772-4D08-7D80-F3EAA43E4DB6}"/>
              </a:ext>
            </a:extLst>
          </p:cNvPr>
          <p:cNvSpPr txBox="1">
            <a:spLocks/>
          </p:cNvSpPr>
          <p:nvPr/>
        </p:nvSpPr>
        <p:spPr>
          <a:xfrm>
            <a:off x="746190" y="2733040"/>
            <a:ext cx="5593649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b1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b2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will both refer to the same object.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Assignment of b1 to b2 did not allocate any memory or copy any part of the original object.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Any changes made to the object through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b2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will affect the object to which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b1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is referring.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93FE811-5991-4F2A-AFD9-14C77F77EF06}"/>
              </a:ext>
            </a:extLst>
          </p:cNvPr>
          <p:cNvSpPr txBox="1">
            <a:spLocks/>
          </p:cNvSpPr>
          <p:nvPr/>
        </p:nvSpPr>
        <p:spPr>
          <a:xfrm>
            <a:off x="6598351" y="4541521"/>
            <a:ext cx="5593649" cy="144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A subsequent assignment to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b1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 will simply unhook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b1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 from the original object without affecting the object or affecting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b2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.</a:t>
            </a: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EB7186-64D5-F069-FD2C-DA4C662DA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706" y="5988737"/>
            <a:ext cx="1970469" cy="5847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79997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96706-9873-CCE9-D452-273F6E24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108659-D0A1-607E-45AC-59A8A4298966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Methods in Java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652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73E5B-811B-EFBB-4D36-60AA4F1D4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9261679-47F4-1903-1D9B-FFCCB02C6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Methods in Java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801517-F1E5-33FC-BE14-10E49528ABE8}"/>
              </a:ext>
            </a:extLst>
          </p:cNvPr>
          <p:cNvSpPr txBox="1">
            <a:spLocks/>
          </p:cNvSpPr>
          <p:nvPr/>
        </p:nvSpPr>
        <p:spPr>
          <a:xfrm>
            <a:off x="746190" y="1158240"/>
            <a:ext cx="10846085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Classes can contain </a:t>
            </a:r>
            <a:r>
              <a:rPr lang="en-US" sz="2400" i="1" dirty="0">
                <a:solidFill>
                  <a:srgbClr val="000000"/>
                </a:solidFill>
                <a:latin typeface="TimesLTStd-Roman"/>
              </a:rPr>
              <a:t>methods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. (Java terminology for </a:t>
            </a:r>
            <a:r>
              <a:rPr lang="en-US" sz="2400" i="1" dirty="0">
                <a:solidFill>
                  <a:srgbClr val="000000"/>
                </a:solidFill>
                <a:latin typeface="TimesLTStd-Roman"/>
              </a:rPr>
              <a:t>functions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in C/C++).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General form: 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Return type can be any valid type, including class types that you create.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The parameter-list is a sequence of type and identifier pairs separated by commas.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Parameters are essentially variables that receive the value of the arguments passed to the method when it is called.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5884D9-9032-A7F5-8E88-6167B169A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162" y="1778000"/>
            <a:ext cx="3041838" cy="9614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02498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66BCE-3753-6E7D-ED7A-CB2BFCC66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7267AD-2858-E816-D056-5115030AE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Methods in Java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46C82-A2EF-42C5-A04F-191512D26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162" y="1778000"/>
            <a:ext cx="3041838" cy="9614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2CD298-E7C4-5337-810E-A252405DB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475" y="707266"/>
            <a:ext cx="7286869" cy="60037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B23D6-706C-5519-617F-BE8ACA576364}"/>
              </a:ext>
            </a:extLst>
          </p:cNvPr>
          <p:cNvSpPr txBox="1">
            <a:spLocks/>
          </p:cNvSpPr>
          <p:nvPr/>
        </p:nvSpPr>
        <p:spPr>
          <a:xfrm>
            <a:off x="8849360" y="1387172"/>
            <a:ext cx="3058159" cy="5323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Inside a method, instance variables are accessed directly without using the dot operator.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Point to remember: A regular method is always invoked relative to some object of its class.</a:t>
            </a: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496131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151F4-3F8E-11F8-5074-CBCBC4DBD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A49116D-7745-854E-7E29-B59DA5A95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Parameterized Methods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7BBA0C5-5E4F-E187-A4CD-1640344CDE16}"/>
              </a:ext>
            </a:extLst>
          </p:cNvPr>
          <p:cNvSpPr txBox="1">
            <a:spLocks/>
          </p:cNvSpPr>
          <p:nvPr/>
        </p:nvSpPr>
        <p:spPr>
          <a:xfrm>
            <a:off x="746190" y="1158240"/>
            <a:ext cx="10846085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Parameters allow a method to be generalized.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LTStd-Roman"/>
              </a:rPr>
              <a:t>Parameter vs Argument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A </a:t>
            </a:r>
            <a:r>
              <a:rPr lang="en-US" sz="2400" i="1" u="none" strike="noStrike" baseline="0" dirty="0">
                <a:solidFill>
                  <a:srgbClr val="000000"/>
                </a:solidFill>
                <a:latin typeface="TimesLTStd-Roman"/>
              </a:rPr>
              <a:t>parameter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is a variable defined by a method that receives a value when the method is called. 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An </a:t>
            </a:r>
            <a:r>
              <a:rPr lang="en-US" sz="2400" i="1" u="none" strike="noStrike" baseline="0" dirty="0">
                <a:solidFill>
                  <a:srgbClr val="000000"/>
                </a:solidFill>
                <a:latin typeface="TimesLTStd-Roman"/>
              </a:rPr>
              <a:t>argument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is a value that is passed to a method when it is invoked.</a:t>
            </a: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2CB474-E018-C8BA-6A81-365675E2C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845" y="2926050"/>
            <a:ext cx="2481338" cy="8331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2FB624-48ED-558B-026B-AB18BD673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845" y="4492601"/>
            <a:ext cx="1828894" cy="92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828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846D-6E8F-2C16-0014-264EEB0C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ADBF62E-CA2D-9440-F184-27783CB10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Parameterized Methods: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C3ABB2-F912-26C4-61BE-77DF21B45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094" y="726949"/>
            <a:ext cx="4850866" cy="60420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129080-7C58-3327-D9B3-C3ABC243B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547" y="2101202"/>
            <a:ext cx="3007359" cy="7518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CFE0F0-4F5F-A5C0-B31C-4B8E71DC7B41}"/>
              </a:ext>
            </a:extLst>
          </p:cNvPr>
          <p:cNvSpPr txBox="1">
            <a:spLocks/>
          </p:cNvSpPr>
          <p:nvPr/>
        </p:nvSpPr>
        <p:spPr>
          <a:xfrm>
            <a:off x="7624546" y="1633842"/>
            <a:ext cx="3007359" cy="4673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074584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22017</TotalTime>
  <Words>1024</Words>
  <Application>Microsoft Office PowerPoint</Application>
  <PresentationFormat>Widescreen</PresentationFormat>
  <Paragraphs>115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Courier New</vt:lpstr>
      <vt:lpstr>Garamond</vt:lpstr>
      <vt:lpstr>TimesLTStd-Roman</vt:lpstr>
      <vt:lpstr>Office Theme</vt:lpstr>
      <vt:lpstr>Introducing Classes Part 1  Java - The Complete Reference  Herbert Schildt Chapter 6 </vt:lpstr>
      <vt:lpstr>Outline</vt:lpstr>
      <vt:lpstr>PowerPoint Presentation</vt:lpstr>
      <vt:lpstr>Class Fundamentals</vt:lpstr>
      <vt:lpstr>General Form of a Class</vt:lpstr>
      <vt:lpstr>General Form of a Class</vt:lpstr>
      <vt:lpstr>A simple Class</vt:lpstr>
      <vt:lpstr>A simple Class</vt:lpstr>
      <vt:lpstr>A simple Class: Complete Code</vt:lpstr>
      <vt:lpstr>A Simple Class: Class files</vt:lpstr>
      <vt:lpstr>PowerPoint Presentation</vt:lpstr>
      <vt:lpstr>Declaring Objects</vt:lpstr>
      <vt:lpstr>Declaring Objects</vt:lpstr>
      <vt:lpstr>A closer look at the new operator</vt:lpstr>
      <vt:lpstr>A closer look at the new operator</vt:lpstr>
      <vt:lpstr>Class vs Object</vt:lpstr>
      <vt:lpstr>PowerPoint Presentation</vt:lpstr>
      <vt:lpstr>Assigning an Object to Reference Variables</vt:lpstr>
      <vt:lpstr>PowerPoint Presentation</vt:lpstr>
      <vt:lpstr>Methods in Java</vt:lpstr>
      <vt:lpstr>Methods in Java</vt:lpstr>
      <vt:lpstr>Parameterized Methods</vt:lpstr>
      <vt:lpstr>Parameterized Methods: Example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Symmetric Cryptography</dc:title>
  <dc:creator>Md Hasanul Ferdaus</dc:creator>
  <cp:lastModifiedBy>Md Hasanul Ferdaus</cp:lastModifiedBy>
  <cp:revision>2881</cp:revision>
  <dcterms:created xsi:type="dcterms:W3CDTF">2023-02-09T14:28:53Z</dcterms:created>
  <dcterms:modified xsi:type="dcterms:W3CDTF">2025-10-12T19:21:24Z</dcterms:modified>
</cp:coreProperties>
</file>