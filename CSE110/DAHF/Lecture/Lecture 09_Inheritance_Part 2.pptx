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9"/>
  </p:notesMasterIdLst>
  <p:sldIdLst>
    <p:sldId id="314" r:id="rId2"/>
    <p:sldId id="332" r:id="rId3"/>
    <p:sldId id="440" r:id="rId4"/>
    <p:sldId id="439" r:id="rId5"/>
    <p:sldId id="441" r:id="rId6"/>
    <p:sldId id="442" r:id="rId7"/>
    <p:sldId id="443" r:id="rId8"/>
    <p:sldId id="444" r:id="rId9"/>
    <p:sldId id="445" r:id="rId10"/>
    <p:sldId id="446" r:id="rId11"/>
    <p:sldId id="447" r:id="rId12"/>
    <p:sldId id="448" r:id="rId13"/>
    <p:sldId id="449" r:id="rId14"/>
    <p:sldId id="450" r:id="rId15"/>
    <p:sldId id="451" r:id="rId16"/>
    <p:sldId id="452" r:id="rId17"/>
    <p:sldId id="453" r:id="rId18"/>
    <p:sldId id="454" r:id="rId19"/>
    <p:sldId id="455" r:id="rId20"/>
    <p:sldId id="456" r:id="rId21"/>
    <p:sldId id="457" r:id="rId22"/>
    <p:sldId id="458" r:id="rId23"/>
    <p:sldId id="459" r:id="rId24"/>
    <p:sldId id="460" r:id="rId25"/>
    <p:sldId id="461" r:id="rId26"/>
    <p:sldId id="462" r:id="rId27"/>
    <p:sldId id="46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–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–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46F890A9-2807-4EBB-B81D-B2AA78EC7F39}" styleName="Dark Style 2 –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35" autoAdjust="0"/>
    <p:restoredTop sz="94660"/>
  </p:normalViewPr>
  <p:slideViewPr>
    <p:cSldViewPr snapToGrid="0">
      <p:cViewPr varScale="1">
        <p:scale>
          <a:sx n="63" d="100"/>
          <a:sy n="63" d="100"/>
        </p:scale>
        <p:origin x="90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7A54E-7FBF-484C-A6C4-F49DDEB3D82F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253559-EDE7-4C02-BA95-DAA1E537C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220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EAB8B-5C76-C722-00D1-DAC7530428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06F68D-C497-AEB7-900B-72F9DF70F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BD540-8471-3CC1-489E-8B29ACFBF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673B2-6760-460E-8AB2-1B6346B18A84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B27AA-417E-A12A-CDA3-F5C9BB1AD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A8113-F6A5-484E-5494-0615EF5A2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389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26495-0061-5791-5A38-5A0AFC9BE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247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2F634-39BC-CD34-D2B7-D59AC08EA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2000"/>
              </a:spcBef>
              <a:defRPr/>
            </a:lvl1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51E01-2F17-6C27-DD5D-FB487D781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4B1D3-9AAB-42E9-AB25-5F62B3993181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811C3-DD84-2EDE-7E67-992548CCA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65F33-AE4E-249C-027B-140C0A1EA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36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D37C1-B2F4-BC78-D77F-B4E7274A5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284A79-9A15-99B9-D8D8-EDE5518E5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16644-FD0E-9D40-6531-6A5328747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96A2-8E33-4AA5-9781-C6800CE55457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D77DA-16F7-0F88-6569-ED49E4BCA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7B42E-ECD0-B9B5-10EF-56F6A0442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436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ABE06-074E-745A-EA35-B8623E5A6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005C4-6760-E9B2-E4C9-8E838AE15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DAECE-5C9F-BC28-1E10-2C65B4BF5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B9E206-6B24-5286-9583-7B4CEA953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90BE7-B07C-4974-811F-F976B1E00FA0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1EB8B-B73E-C71D-9856-97E87AF53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05416-485A-C7C9-02B7-70BEA04A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732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3EBAD-D597-C90E-60AC-2817F9AFC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6C801-BED4-EF07-E88E-D5E1583F4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91183F-AF00-7B8B-D8E7-1EEA8E381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281FD7-558D-9B40-28E0-42ECB2AF18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D580E1-304B-978B-6362-40CEE8C749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22AA01-469C-6B5F-9F6E-4691CB54E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A41B3-369F-43A4-8A97-D2A32ED460A2}" type="datetime1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2E6341-BFA5-5BA6-EED9-86CBEAD79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B04440-B40B-E518-3E1C-ACD9FAD59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046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7C700-C47C-9B28-D3CF-4238312F6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5E8077-BC92-BB8B-F545-54682C304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5618E-2637-45D6-B9DC-BEC5E50A78A2}" type="datetime1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E7AEA1-0EE9-7275-1F81-B99055975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2E5035-8BC5-52BF-3CA3-9927BD086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586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E3BFBF-E3C0-226C-AC1E-4FE521BF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B262-ECF8-4B6F-BF55-2A05210DA752}" type="datetime1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976AD0-825E-15F6-A291-EA2E1C995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3E901-4B4C-A93E-A23E-3FBB5B915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495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7912C-9409-0B2C-3373-F98797638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ACE39-B0EF-6C74-C153-5E124A55E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F40C0A-774A-0624-9C5A-26D12FE62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A380C-6AD0-8B17-017C-58B0BB484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2F33B-22BF-4177-90DF-BF8D0C456F5B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65EE64-6285-D945-9A89-68EBEDD3A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0B2E04-B2E2-8A7F-D973-1A673E4AB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096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6B042-4F79-C24C-8C42-CAD35CB0C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9C3C56-A188-FBFF-5415-A692051528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70A565-6F27-1F77-D869-2B2A21BBC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17B854-BDF6-DC3F-562B-C99DC19A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0386F-1449-4FB9-879F-2818E7EE9A3C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36EA7F-F589-F4EA-6EF6-E63906939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89BCE2-E1AC-ACFB-47B8-2233376BF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67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C2272-A2D3-67E5-DF8A-0CC2AA84E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508F4B-4649-A77B-1CE8-5D78FA022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B2D52-D425-B903-CC42-2CE1988E7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072F-FD1D-4BA2-BB79-3257390C4608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51FB8-BDE5-046A-5B22-8E2DA40E9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C83CE-4FD3-C3F7-22DE-2EC13C325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569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B6A0F6-E6DF-8630-5AE5-B54FBA2E6C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7B37CA-3EDB-8ABA-5A94-364646868E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8AD5A-E400-040E-2104-10876C147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7AF11-6F97-41CD-85DB-F04148D1C584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59033-9D10-6508-99A4-A0E9705AC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B28FE-098F-AF6D-2A0A-74FD084F0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28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9D9A967-8F3E-E0CF-AD1B-50B077819F0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61259" y="-10821"/>
            <a:ext cx="11486184" cy="97491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29B6F3-4135-0E21-7250-CC4394497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98502-5B55-7F18-8B55-656DC9095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71048-EE63-F593-9B43-21CA3F9362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FF405-15DA-4E10-B87C-176BF076D254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F5827-7C80-4A48-44F7-5AC8F3F32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46951" y="64656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i="1">
                <a:solidFill>
                  <a:schemeClr val="tx1"/>
                </a:solidFill>
              </a:defRPr>
            </a:lvl1pPr>
          </a:lstStyle>
          <a:p>
            <a:r>
              <a:rPr lang="en-US"/>
              <a:t>Dr Md Hasanul Ferdaus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A239E-C2C4-B6B2-477D-3BFB38861A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23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8080" y="465328"/>
            <a:ext cx="6817360" cy="3740912"/>
          </a:xfrm>
        </p:spPr>
        <p:txBody>
          <a:bodyPr anchor="b">
            <a:normAutofit/>
          </a:bodyPr>
          <a:lstStyle/>
          <a:p>
            <a:r>
              <a:rPr lang="en-US" b="1" dirty="0"/>
              <a:t>Inheritance</a:t>
            </a:r>
            <a:br>
              <a:rPr lang="en-US" b="1" dirty="0"/>
            </a:br>
            <a:r>
              <a:rPr lang="en-US" sz="4000" b="1" dirty="0"/>
              <a:t>Part 2</a:t>
            </a:r>
            <a:br>
              <a:rPr lang="en-US" b="1" dirty="0"/>
            </a:br>
            <a:br>
              <a:rPr lang="en-US" sz="3400" b="1" dirty="0"/>
            </a:br>
            <a:r>
              <a:rPr lang="en-US" sz="3600" b="1" dirty="0"/>
              <a:t>Java - The Complete Reference </a:t>
            </a:r>
            <a:br>
              <a:rPr lang="en-US" sz="3600" b="1" dirty="0"/>
            </a:br>
            <a:r>
              <a:rPr lang="en-US" sz="2700" b="1" dirty="0"/>
              <a:t>Herbert Schildt</a:t>
            </a:r>
            <a:br>
              <a:rPr lang="en-US" sz="2700" b="1" dirty="0"/>
            </a:br>
            <a:r>
              <a:rPr lang="en-US" sz="2000" b="1" dirty="0"/>
              <a:t>Chapter 8</a:t>
            </a:r>
            <a:br>
              <a:rPr lang="en-US" sz="2000" b="1" dirty="0"/>
            </a:br>
            <a:endParaRPr lang="en-US" sz="3400" b="1" dirty="0"/>
          </a:p>
        </p:txBody>
      </p:sp>
      <p:pic>
        <p:nvPicPr>
          <p:cNvPr id="3" name="Picture 2" descr="A logo of a cup with a smoke&#10;&#10;Description automatically generated">
            <a:extLst>
              <a:ext uri="{FF2B5EF4-FFF2-40B4-BE49-F238E27FC236}">
                <a16:creationId xmlns:a16="http://schemas.microsoft.com/office/drawing/2014/main" id="{BDB8C381-3971-3988-FACF-7ABC0A6AD6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10" r="-1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3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66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Outline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BC863AA-F1EF-A435-BFC0-99B577795194}"/>
              </a:ext>
            </a:extLst>
          </p:cNvPr>
          <p:cNvSpPr txBox="1">
            <a:spLocks/>
          </p:cNvSpPr>
          <p:nvPr/>
        </p:nvSpPr>
        <p:spPr>
          <a:xfrm>
            <a:off x="1254475" y="1229360"/>
            <a:ext cx="10546080" cy="5039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Using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Using super to Call Superclass Constructors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A second use of super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Multilevel Inheritance Hierarchy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When Constructors Are Executed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Method Overloading</a:t>
            </a:r>
          </a:p>
        </p:txBody>
      </p:sp>
    </p:spTree>
    <p:extLst>
      <p:ext uri="{BB962C8B-B14F-4D97-AF65-F5344CB8AC3E}">
        <p14:creationId xmlns:p14="http://schemas.microsoft.com/office/powerpoint/2010/main" val="30025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48E64-A87A-09C9-A7B1-11F911E59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2F25BE-F280-265F-4CBD-409021574BF3}"/>
              </a:ext>
            </a:extLst>
          </p:cNvPr>
          <p:cNvSpPr txBox="1"/>
          <p:nvPr/>
        </p:nvSpPr>
        <p:spPr>
          <a:xfrm>
            <a:off x="934720" y="2314694"/>
            <a:ext cx="10363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Using super </a:t>
            </a:r>
            <a:endParaRPr lang="en-US" sz="48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7130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B4251-E36B-BF39-2C3C-1BD8F0E17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04726DA-5A37-0E2C-04F6-DC5DA5B16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-1"/>
            <a:ext cx="1106424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Using </a:t>
            </a:r>
            <a:r>
              <a:rPr lang="en-US" sz="4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</a:t>
            </a:r>
            <a:r>
              <a:rPr lang="en-US" sz="4000" b="1" dirty="0">
                <a:solidFill>
                  <a:schemeClr val="bg1"/>
                </a:solidFill>
              </a:rPr>
              <a:t> to Call Superclass Constructors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BA912B8-F963-E94E-BBB7-3A272AF2DA14}"/>
              </a:ext>
            </a:extLst>
          </p:cNvPr>
          <p:cNvSpPr txBox="1">
            <a:spLocks/>
          </p:cNvSpPr>
          <p:nvPr/>
        </p:nvSpPr>
        <p:spPr>
          <a:xfrm>
            <a:off x="711200" y="1158240"/>
            <a:ext cx="10871200" cy="5455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Whenever a subclass needs to refer to its immediate superclass, it can do so by use of the keyword </a:t>
            </a:r>
            <a:r>
              <a:rPr lang="en-US" sz="3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A subclass can call a constructor defined by its superclass by use of the following form of super: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TimesLTStd-Roman"/>
              </a:rPr>
              <a:t>	</a:t>
            </a:r>
            <a:r>
              <a:rPr lang="en-US" sz="3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super(</a:t>
            </a:r>
            <a:r>
              <a:rPr lang="en-US" sz="3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sz="3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-list);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Here, </a:t>
            </a:r>
            <a:r>
              <a:rPr lang="en-US" sz="3200" dirty="0" err="1">
                <a:solidFill>
                  <a:srgbClr val="000000"/>
                </a:solidFill>
                <a:latin typeface="TimesLTStd-Roman"/>
              </a:rPr>
              <a:t>arg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-list specifies any arguments needed by the constructor in the superclass.</a:t>
            </a:r>
          </a:p>
          <a:p>
            <a:r>
              <a:rPr lang="en-US" sz="3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super()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 must always be the first statement executed inside a subclass’s constructor.</a:t>
            </a:r>
          </a:p>
          <a:p>
            <a:endParaRPr lang="en-US" sz="320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2937944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87959-B2AB-775F-2340-705984E7D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39A75E8-AE88-84FA-479B-712FE00129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2160" y="-137817"/>
            <a:ext cx="10820115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Example: </a:t>
            </a:r>
            <a:r>
              <a:rPr lang="en-US" sz="3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</a:t>
            </a:r>
            <a:r>
              <a:rPr lang="en-US" sz="3600" b="1" dirty="0">
                <a:solidFill>
                  <a:schemeClr val="bg1"/>
                </a:solidFill>
              </a:rPr>
              <a:t> to Call Superclass Constructors</a:t>
            </a:r>
            <a:endParaRPr lang="en-US" sz="3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5D4313A-E64D-0331-396B-87A710D78243}"/>
              </a:ext>
            </a:extLst>
          </p:cNvPr>
          <p:cNvSpPr txBox="1">
            <a:spLocks/>
          </p:cNvSpPr>
          <p:nvPr/>
        </p:nvSpPr>
        <p:spPr>
          <a:xfrm>
            <a:off x="10547942" y="852424"/>
            <a:ext cx="1425124" cy="3799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FE8619-78E7-5927-B1EF-4345EE03A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701" y="716003"/>
            <a:ext cx="4177392" cy="257070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3170AB-CB27-FDA6-69C2-7669B235A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181" y="3327346"/>
            <a:ext cx="4301144" cy="323315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221FD2E-246E-219B-49BF-7C9CCED099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6099" y="690603"/>
            <a:ext cx="4681687" cy="44704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5306233-6143-4854-C31A-2C33369083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9669" y="1287754"/>
            <a:ext cx="1413397" cy="142719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52083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3C939-EAB8-ED5D-BD05-3F939051A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F6C0425-95D0-FBD6-ECA5-7ED19E6DE9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-1"/>
            <a:ext cx="1106424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Using </a:t>
            </a:r>
            <a:r>
              <a:rPr lang="en-US" sz="4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</a:t>
            </a:r>
            <a:r>
              <a:rPr lang="en-US" sz="4000" b="1" dirty="0">
                <a:solidFill>
                  <a:schemeClr val="bg1"/>
                </a:solidFill>
              </a:rPr>
              <a:t> to Call Superclass Constructors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F92D44A-6B96-F5BF-DC38-43D5BD2A0C27}"/>
              </a:ext>
            </a:extLst>
          </p:cNvPr>
          <p:cNvSpPr txBox="1">
            <a:spLocks/>
          </p:cNvSpPr>
          <p:nvPr/>
        </p:nvSpPr>
        <p:spPr>
          <a:xfrm>
            <a:off x="711200" y="1463040"/>
            <a:ext cx="10871200" cy="5151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In the 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DemoSuper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 example, 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, 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, and 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depth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 are private to Box class, so they cannot be accessed directly in 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BoxWeight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 class’s constructors. This ensures </a:t>
            </a:r>
            <a:r>
              <a:rPr lang="en-US" sz="3200" i="1" dirty="0">
                <a:solidFill>
                  <a:srgbClr val="000000"/>
                </a:solidFill>
                <a:latin typeface="TimesLTStd-Roman"/>
              </a:rPr>
              <a:t>encapsulation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Since constructors can be overloaded, 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super()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 can be called using any form defined by the superclass. 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The constructor executed will be the one that matches the arguments.</a:t>
            </a:r>
          </a:p>
          <a:p>
            <a:endParaRPr lang="en-US" sz="3200" dirty="0">
              <a:solidFill>
                <a:srgbClr val="000000"/>
              </a:solidFill>
              <a:latin typeface="TimesLTStd-Roman"/>
            </a:endParaRPr>
          </a:p>
          <a:p>
            <a:endParaRPr lang="en-US" sz="320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3493348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B50B2-7D68-02AA-8212-E89143F96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6B48B53-2719-332B-CE35-18339E56BF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-1"/>
            <a:ext cx="1106424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Using </a:t>
            </a:r>
            <a:r>
              <a:rPr lang="en-US" sz="4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</a:t>
            </a:r>
            <a:r>
              <a:rPr lang="en-US" sz="4000" b="1" dirty="0">
                <a:solidFill>
                  <a:schemeClr val="bg1"/>
                </a:solidFill>
              </a:rPr>
              <a:t> to Call Superclass Constructors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81BCF5E-9A6A-C37A-49AC-C8FC497B1D61}"/>
              </a:ext>
            </a:extLst>
          </p:cNvPr>
          <p:cNvSpPr txBox="1">
            <a:spLocks/>
          </p:cNvSpPr>
          <p:nvPr/>
        </p:nvSpPr>
        <p:spPr>
          <a:xfrm>
            <a:off x="711200" y="1046480"/>
            <a:ext cx="10871200" cy="5567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Notice that 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super()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 is passed an object of type 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BoxWeight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 (line 43) — not of type 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Box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. 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This still invokes the constructor 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Box(Box </a:t>
            </a:r>
            <a:r>
              <a:rPr lang="en-US" sz="3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. 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As mentioned earlier, a superclass variable (i.e., reference) can be used to reference any object derived from that class (i.e., subclass objects). 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Thus, we are able to pass a 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BoxWeight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 object to the 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Box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 constructor. 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Of course, 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Box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 only has knowledge of its own members.</a:t>
            </a:r>
          </a:p>
          <a:p>
            <a:endParaRPr lang="en-US" sz="3200" dirty="0">
              <a:solidFill>
                <a:srgbClr val="000000"/>
              </a:solidFill>
              <a:latin typeface="TimesLTStd-Roman"/>
            </a:endParaRPr>
          </a:p>
          <a:p>
            <a:endParaRPr lang="en-US" sz="320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1226189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B8A46-0966-0300-FDA1-91CAC227A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01665B-1019-48C6-B4F2-5845D54D82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-1"/>
            <a:ext cx="1106424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Review of the key concepts of </a:t>
            </a:r>
            <a:r>
              <a:rPr lang="en-US" sz="4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super()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EE020E9-87FA-7C05-AB96-A07366853103}"/>
              </a:ext>
            </a:extLst>
          </p:cNvPr>
          <p:cNvSpPr txBox="1">
            <a:spLocks/>
          </p:cNvSpPr>
          <p:nvPr/>
        </p:nvSpPr>
        <p:spPr>
          <a:xfrm>
            <a:off x="711200" y="1320800"/>
            <a:ext cx="10871200" cy="5262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When a subclass calls 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super()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, it is calling the constructor of its immediate superclass. 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Thus, 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super()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 always refers to the superclass immediately above the calling class. 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This is true even in a multileveled hierarchy of inheritance. 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Also, </a:t>
            </a:r>
            <a:r>
              <a:rPr lang="en-US" sz="32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super()</a:t>
            </a:r>
            <a:r>
              <a:rPr lang="en-US" sz="3200" b="1" i="1" dirty="0">
                <a:solidFill>
                  <a:srgbClr val="000000"/>
                </a:solidFill>
                <a:latin typeface="TimesLTStd-Roman"/>
              </a:rPr>
              <a:t> must always be the first statement executed inside a subclass constructor.</a:t>
            </a:r>
          </a:p>
        </p:txBody>
      </p:sp>
    </p:spTree>
    <p:extLst>
      <p:ext uri="{BB962C8B-B14F-4D97-AF65-F5344CB8AC3E}">
        <p14:creationId xmlns:p14="http://schemas.microsoft.com/office/powerpoint/2010/main" val="3904038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67F74-47DC-F9EB-A7A6-E7639DAD0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67C4A98-6A7D-70F4-35F5-E50F0F70D7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-1"/>
            <a:ext cx="1106424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 Second Use of </a:t>
            </a:r>
            <a:r>
              <a:rPr lang="en-US" sz="4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DF53D3C-145A-1129-391F-6E5FC9D42515}"/>
              </a:ext>
            </a:extLst>
          </p:cNvPr>
          <p:cNvSpPr txBox="1">
            <a:spLocks/>
          </p:cNvSpPr>
          <p:nvPr/>
        </p:nvSpPr>
        <p:spPr>
          <a:xfrm>
            <a:off x="711200" y="1280160"/>
            <a:ext cx="10871200" cy="5303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Within a subclass method (including constructors), the keyword </a:t>
            </a:r>
            <a:r>
              <a:rPr lang="en-US" sz="3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 can be used to refer to the superclass of the subclass in which it is used.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General form: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super.member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Here, member can be either a method or an instance variable.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This second form of super is most applicable to situations in which </a:t>
            </a:r>
            <a:r>
              <a:rPr lang="en-US" sz="3200" i="1" dirty="0">
                <a:solidFill>
                  <a:srgbClr val="000000"/>
                </a:solidFill>
                <a:latin typeface="TimesLTStd-Roman"/>
              </a:rPr>
              <a:t>member names of a subclass hide members by the same name in the superclass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endParaRPr lang="en-US" sz="3200" b="1" i="1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2496975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1B2F5-E8D4-89FD-9D6E-F627F07D1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7F81F6-77D5-A2FE-B337-9447923AE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2160" y="-137817"/>
            <a:ext cx="10820115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Example: Second Use of </a:t>
            </a:r>
            <a:r>
              <a:rPr lang="en-US" sz="3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E871337-731D-55E2-B9C6-964E803B2731}"/>
              </a:ext>
            </a:extLst>
          </p:cNvPr>
          <p:cNvSpPr txBox="1">
            <a:spLocks/>
          </p:cNvSpPr>
          <p:nvPr/>
        </p:nvSpPr>
        <p:spPr>
          <a:xfrm>
            <a:off x="9216982" y="951122"/>
            <a:ext cx="1425124" cy="3799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58FA84-35B5-BA97-ADEC-25CAAF435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682" y="951122"/>
            <a:ext cx="6227454" cy="539712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A67893-2612-C80A-ABF1-575CFAD29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481" y="1508084"/>
            <a:ext cx="3362794" cy="59063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95572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D592A-CD6B-C029-E0B3-588057E98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38F7A8-0183-D5A8-85BA-AA32356FFF0F}"/>
              </a:ext>
            </a:extLst>
          </p:cNvPr>
          <p:cNvSpPr txBox="1"/>
          <p:nvPr/>
        </p:nvSpPr>
        <p:spPr>
          <a:xfrm>
            <a:off x="934720" y="2314694"/>
            <a:ext cx="10363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Multilevel Inheritance Hierarchy</a:t>
            </a:r>
            <a:endParaRPr lang="en-US" sz="48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933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9E99E-3F58-4C34-B0C8-76AFDD91E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914372-C250-50FE-970A-4CC49EB196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-1"/>
            <a:ext cx="1106424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Multilevel Inheritance Hierarchy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DC7CA1A-307B-99F5-1785-C5B87A4545FF}"/>
              </a:ext>
            </a:extLst>
          </p:cNvPr>
          <p:cNvSpPr txBox="1">
            <a:spLocks/>
          </p:cNvSpPr>
          <p:nvPr/>
        </p:nvSpPr>
        <p:spPr>
          <a:xfrm>
            <a:off x="711200" y="1188720"/>
            <a:ext cx="7924800" cy="539496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We can build hierarchies that contain as many layers of inheritance as needed. 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It is perfectly acceptable to use a subclass as a superclass of another.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For example, given three classes called A, B, and C, C can be a subclass of B, which is a subclass of A. 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When this type of situation occurs, each subclass inherits all of the traits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found in all of its </a:t>
            </a:r>
            <a:r>
              <a:rPr lang="en-US" sz="3200" dirty="0" err="1">
                <a:solidFill>
                  <a:srgbClr val="000000"/>
                </a:solidFill>
                <a:latin typeface="TimesLTStd-Roman"/>
              </a:rPr>
              <a:t>superclasses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. 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In this case, C inherits all aspects (i.e., member variables and methods) of B and A. </a:t>
            </a:r>
            <a:endParaRPr lang="en-US" sz="3200" b="1" i="1" dirty="0">
              <a:solidFill>
                <a:srgbClr val="000000"/>
              </a:solidFill>
              <a:latin typeface="TimesLTStd-Roman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EEDDD58-2AC8-A89E-E47C-C45CC0716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5786" y="1323987"/>
            <a:ext cx="2248214" cy="437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303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12498-B486-21BC-94FE-E8E0910D0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B6F4212-1B26-71A6-0129-A558BA98D4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2160" y="-137817"/>
            <a:ext cx="10820115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Example: Three Levels of Inheritance Hierarchy</a:t>
            </a:r>
            <a:endParaRPr lang="en-US" sz="3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2B41B0-AB50-66F7-8D61-FD6FE2FB3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37" y="1091305"/>
            <a:ext cx="5775480" cy="467538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8EAAD6-5E2B-DC3F-8969-8C2CEB7FC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825" y="1314825"/>
            <a:ext cx="5604551" cy="485978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49123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3869C-7EB7-21ED-12B1-E07A74C5E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8107441-D3F2-10EC-C11C-577693E0C1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2160" y="-137817"/>
            <a:ext cx="10820115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Example: Three Levels of Inheritance Hierarchy</a:t>
            </a:r>
            <a:endParaRPr lang="en-US" sz="3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38FCA1E-178F-A8A6-CAA8-C5687B9A5382}"/>
              </a:ext>
            </a:extLst>
          </p:cNvPr>
          <p:cNvSpPr txBox="1">
            <a:spLocks/>
          </p:cNvSpPr>
          <p:nvPr/>
        </p:nvSpPr>
        <p:spPr>
          <a:xfrm>
            <a:off x="6920642" y="721896"/>
            <a:ext cx="1425124" cy="3799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591A9E-FBED-7152-697F-6CDE6CDBD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231" y="750723"/>
            <a:ext cx="4632610" cy="373150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CEA0C5-C99C-46BD-05C3-3203D1948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231" y="4573667"/>
            <a:ext cx="4957747" cy="185505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0FA404-3C7E-A17F-742C-BF1909AA58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0161" y="1130635"/>
            <a:ext cx="2546086" cy="121828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A29D0EB-31C7-EFE8-AAFA-98A0B4D256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4567" y="1195075"/>
            <a:ext cx="2400635" cy="4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599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D2BB0-8125-B432-1A10-8D618CFDB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9D45881-036F-4A61-BC36-AB39093F65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-1"/>
            <a:ext cx="1106424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Example: Three Levels of Inheritance Hierarchy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0DE18CF-2826-825B-94C3-51344385B2CF}"/>
              </a:ext>
            </a:extLst>
          </p:cNvPr>
          <p:cNvSpPr txBox="1">
            <a:spLocks/>
          </p:cNvSpPr>
          <p:nvPr/>
        </p:nvSpPr>
        <p:spPr>
          <a:xfrm>
            <a:off x="711200" y="1188720"/>
            <a:ext cx="11064240" cy="5394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In the </a:t>
            </a:r>
            <a:r>
              <a:rPr lang="en-US" sz="3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DemoShipment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 example, the subclass 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BoxWeight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 is used as a superclass to create the subclass called 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Shipment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. </a:t>
            </a:r>
          </a:p>
          <a:p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Shipment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 inherits all of the traits (member variables and methods) of 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BoxWeight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 and 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Box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, and adds a field called cost, which holds the cost of shipping such a parcel.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This is part of the significance of inheritance - it allows the </a:t>
            </a:r>
            <a:r>
              <a:rPr lang="en-US" sz="3200" b="1" i="1" dirty="0">
                <a:solidFill>
                  <a:srgbClr val="000000"/>
                </a:solidFill>
                <a:latin typeface="TimesLTStd-Roman"/>
              </a:rPr>
              <a:t>reuse of code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88957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5604C-0A7D-5D41-4001-254DC4F06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9FD0693-BC21-CDB0-5EB0-0390CA4C8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-1"/>
            <a:ext cx="1106424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Example: Three Levels of Inheritance Hierarchy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E5E04BB-41E6-36FE-F92C-A66436BFCB4F}"/>
              </a:ext>
            </a:extLst>
          </p:cNvPr>
          <p:cNvSpPr txBox="1">
            <a:spLocks/>
          </p:cNvSpPr>
          <p:nvPr/>
        </p:nvSpPr>
        <p:spPr>
          <a:xfrm>
            <a:off x="711200" y="1188720"/>
            <a:ext cx="11064240" cy="539496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LTStd-Roman"/>
              </a:rPr>
              <a:t>Another Important Point on super() from the Previous Example: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It always refers to the constructor in the closest superclass. 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The 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super()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 in 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Shipment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 calls the constructor in 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BoxWeight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The 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super()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 in 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BoxWeight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 calls the constructor in 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Box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. 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In a class hierarchy, if a superclass constructor requires parameters, then all subclasses must pass those parameters "</a:t>
            </a:r>
            <a:r>
              <a:rPr lang="en-US" sz="3200" i="1" dirty="0">
                <a:solidFill>
                  <a:srgbClr val="000000"/>
                </a:solidFill>
                <a:latin typeface="TimesLTStd-Roman"/>
              </a:rPr>
              <a:t>up the line of the hierarchy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". 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This is true whether or not a subclass needs parameters of its own.</a:t>
            </a:r>
          </a:p>
        </p:txBody>
      </p:sp>
    </p:spTree>
    <p:extLst>
      <p:ext uri="{BB962C8B-B14F-4D97-AF65-F5344CB8AC3E}">
        <p14:creationId xmlns:p14="http://schemas.microsoft.com/office/powerpoint/2010/main" val="4224226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84296-757E-5D21-3040-88996025E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000DFE-01C1-445A-8081-E1815F618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-1"/>
            <a:ext cx="1106424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Example: Three Levels of Inheritance Hierarchy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C19B90D-5856-C4C7-534E-039343C2F3DD}"/>
              </a:ext>
            </a:extLst>
          </p:cNvPr>
          <p:cNvSpPr txBox="1">
            <a:spLocks/>
          </p:cNvSpPr>
          <p:nvPr/>
        </p:nvSpPr>
        <p:spPr>
          <a:xfrm>
            <a:off x="711200" y="1188720"/>
            <a:ext cx="11064240" cy="5394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LTStd-Roman"/>
              </a:rPr>
              <a:t>A Practical Note: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In the preceding program, the entire class hierarchy, including 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Box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, 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BoxWeight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, and 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Shipment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, is shown all in one file (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DemoShipment.java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). 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This is done only for beginners' convenience. 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In Java, all three classes could have been placed into their own files and compiled separately. 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In fact, using separate files is the norm, not the exception, in creating class hierarchies.</a:t>
            </a:r>
          </a:p>
        </p:txBody>
      </p:sp>
    </p:spTree>
    <p:extLst>
      <p:ext uri="{BB962C8B-B14F-4D97-AF65-F5344CB8AC3E}">
        <p14:creationId xmlns:p14="http://schemas.microsoft.com/office/powerpoint/2010/main" val="2326035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76D8B-88C6-9F58-4348-0D8DF2B96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4DEBD7-020B-B1BE-479E-5DFE3BA41C88}"/>
              </a:ext>
            </a:extLst>
          </p:cNvPr>
          <p:cNvSpPr txBox="1"/>
          <p:nvPr/>
        </p:nvSpPr>
        <p:spPr>
          <a:xfrm>
            <a:off x="934720" y="2314694"/>
            <a:ext cx="10363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When Constructors Are Executed</a:t>
            </a:r>
            <a:endParaRPr lang="en-US" sz="48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0463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B4842-001A-B976-886F-911FF2994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AF7F777-C82D-837C-E7B9-9C10FD1570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-1"/>
            <a:ext cx="1106424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When Constructors Are Executed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22BEE69-2FF4-8311-D69A-A6E07BA0A0F2}"/>
              </a:ext>
            </a:extLst>
          </p:cNvPr>
          <p:cNvSpPr txBox="1">
            <a:spLocks/>
          </p:cNvSpPr>
          <p:nvPr/>
        </p:nvSpPr>
        <p:spPr>
          <a:xfrm>
            <a:off x="711200" y="1188720"/>
            <a:ext cx="10800080" cy="5394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In a class hierarchy, constructors complete their execution in </a:t>
            </a:r>
            <a:r>
              <a:rPr lang="en-US" sz="3200" b="1" i="1" dirty="0">
                <a:solidFill>
                  <a:srgbClr val="000000"/>
                </a:solidFill>
                <a:latin typeface="TimesLTStd-Roman"/>
              </a:rPr>
              <a:t>order of derivation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, from superclass to subclass.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Further, since </a:t>
            </a:r>
            <a:r>
              <a:rPr lang="en-US" sz="3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super()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 must be the first statement executed in a subclass’s constructor, this order is the same whether or not </a:t>
            </a:r>
            <a:r>
              <a:rPr lang="en-US" sz="3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super()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 is used. 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If super( ) is not used, then the default or </a:t>
            </a:r>
            <a:r>
              <a:rPr lang="en-US" sz="3200" dirty="0" err="1">
                <a:solidFill>
                  <a:srgbClr val="000000"/>
                </a:solidFill>
                <a:latin typeface="TimesLTStd-Roman"/>
              </a:rPr>
              <a:t>parameterless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 constructor of each superclass will be executed.</a:t>
            </a:r>
          </a:p>
        </p:txBody>
      </p:sp>
    </p:spTree>
    <p:extLst>
      <p:ext uri="{BB962C8B-B14F-4D97-AF65-F5344CB8AC3E}">
        <p14:creationId xmlns:p14="http://schemas.microsoft.com/office/powerpoint/2010/main" val="585503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BD443-009A-7162-3A5C-59856129F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C374E4D-56AB-CCFC-C814-84CEFE6E2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-1"/>
            <a:ext cx="1106424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Example: Constructors Call Sequence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EF1558-C75F-EC75-90E6-9088D04E1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080" y="1107440"/>
            <a:ext cx="5676503" cy="525726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99E1AD-A868-98F2-9731-6754CAFFD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8763" y="1487352"/>
            <a:ext cx="2912722" cy="73639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D90F32B-9FE2-82B8-8A8B-E1513907997A}"/>
              </a:ext>
            </a:extLst>
          </p:cNvPr>
          <p:cNvSpPr txBox="1">
            <a:spLocks/>
          </p:cNvSpPr>
          <p:nvPr/>
        </p:nvSpPr>
        <p:spPr>
          <a:xfrm>
            <a:off x="8312562" y="1107440"/>
            <a:ext cx="1425124" cy="3799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D5222D-0CD2-36AB-E509-43AE225CBE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2562" y="2603663"/>
            <a:ext cx="1887104" cy="367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6572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B1632-593C-5208-4362-AA79BB83F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D6ADF83-152D-8013-72F9-EB33472EFA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-1"/>
            <a:ext cx="1106424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When Constructors Are Executed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D9F473E-5392-4655-82A0-BCD9A17EBC78}"/>
              </a:ext>
            </a:extLst>
          </p:cNvPr>
          <p:cNvSpPr txBox="1">
            <a:spLocks/>
          </p:cNvSpPr>
          <p:nvPr/>
        </p:nvSpPr>
        <p:spPr>
          <a:xfrm>
            <a:off x="711200" y="1188720"/>
            <a:ext cx="10800080" cy="5394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LTStd-Roman"/>
              </a:rPr>
              <a:t>Significance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It makes sense that constructors complete their execution in order of derivation. 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Because a superclass has no knowledge of any subclass, any initialization it needs to perform is separate from and possibly prerequisite to any initialization performed by the subclass. 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Therefore, it must complete its execution first.</a:t>
            </a:r>
          </a:p>
        </p:txBody>
      </p:sp>
    </p:spTree>
    <p:extLst>
      <p:ext uri="{BB962C8B-B14F-4D97-AF65-F5344CB8AC3E}">
        <p14:creationId xmlns:p14="http://schemas.microsoft.com/office/powerpoint/2010/main" val="41832431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16D93-3C65-1DC6-F68D-40D85B36D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B893426-4211-EE85-7F78-E177A915F7E3}"/>
              </a:ext>
            </a:extLst>
          </p:cNvPr>
          <p:cNvSpPr txBox="1"/>
          <p:nvPr/>
        </p:nvSpPr>
        <p:spPr>
          <a:xfrm>
            <a:off x="934720" y="2314694"/>
            <a:ext cx="10363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Method Overriding</a:t>
            </a:r>
            <a:endParaRPr lang="en-US" sz="48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7383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E6270-E0D4-BACF-3D1B-10BD3DFCC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AA43128-B0A2-1D52-6B29-CF737A37AC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-1"/>
            <a:ext cx="1106424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Method Overriding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DBE160E-63A7-EBF6-3BA5-54B0BBA750AD}"/>
              </a:ext>
            </a:extLst>
          </p:cNvPr>
          <p:cNvSpPr txBox="1">
            <a:spLocks/>
          </p:cNvSpPr>
          <p:nvPr/>
        </p:nvSpPr>
        <p:spPr>
          <a:xfrm>
            <a:off x="711200" y="1188720"/>
            <a:ext cx="10800080" cy="5394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In a class hierarchy, when </a:t>
            </a:r>
            <a:r>
              <a:rPr lang="en-US" sz="3200" b="1" i="1" dirty="0">
                <a:solidFill>
                  <a:srgbClr val="000000"/>
                </a:solidFill>
                <a:latin typeface="TimesLTStd-Roman"/>
              </a:rPr>
              <a:t>a method in a subclass has the </a:t>
            </a:r>
            <a:r>
              <a:rPr lang="en-US" sz="3200" b="1" i="1" dirty="0">
                <a:solidFill>
                  <a:srgbClr val="00B050"/>
                </a:solidFill>
                <a:latin typeface="TimesLTStd-Roman"/>
              </a:rPr>
              <a:t>same name and type signature</a:t>
            </a:r>
            <a:r>
              <a:rPr lang="en-US" sz="3200" b="1" i="1" dirty="0">
                <a:solidFill>
                  <a:srgbClr val="000000"/>
                </a:solidFill>
                <a:latin typeface="TimesLTStd-Roman"/>
              </a:rPr>
              <a:t> as a method in its superclass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, then the method in the subclass is said to override the method in the superclass. </a:t>
            </a:r>
          </a:p>
          <a:p>
            <a:r>
              <a:rPr lang="en-US" sz="3200" b="1" i="1" dirty="0">
                <a:solidFill>
                  <a:srgbClr val="000000"/>
                </a:solidFill>
                <a:latin typeface="TimesLTStd-Roman"/>
              </a:rPr>
              <a:t>When an overridden method is called from within its subclass, it will always refer to the version of that method defined by the subclass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. 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The version of the method defined by the superclass will be hidden. </a:t>
            </a:r>
          </a:p>
        </p:txBody>
      </p:sp>
    </p:spTree>
    <p:extLst>
      <p:ext uri="{BB962C8B-B14F-4D97-AF65-F5344CB8AC3E}">
        <p14:creationId xmlns:p14="http://schemas.microsoft.com/office/powerpoint/2010/main" val="273799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DA604-740F-48FD-78A0-9268AA0E5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47BDDDC-BC7D-3145-518A-E9DF4DED17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-1"/>
            <a:ext cx="1106424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Example: Method Overriding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4EA506B-F356-EF29-6873-2EED81AEF1DF}"/>
              </a:ext>
            </a:extLst>
          </p:cNvPr>
          <p:cNvSpPr txBox="1">
            <a:spLocks/>
          </p:cNvSpPr>
          <p:nvPr/>
        </p:nvSpPr>
        <p:spPr>
          <a:xfrm>
            <a:off x="6554882" y="955040"/>
            <a:ext cx="1425124" cy="3799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2B0069-D0DB-769F-E7D6-2085B5B90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731" y="743482"/>
            <a:ext cx="4845269" cy="599890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02939B8-FD0B-D6C5-F127-3A9817CCE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3522" y="1334952"/>
            <a:ext cx="847843" cy="44773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142479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59C73-422B-96D1-C2E6-88CB5EF2D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7276D17-37AA-155A-6847-5D6289D1D8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-1"/>
            <a:ext cx="11064240" cy="589281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Accessing the Superclass Version of an Overridden Method</a:t>
            </a:r>
            <a:endParaRPr lang="en-US" sz="3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ADA5821-C9C5-A01C-4949-3F5570BFB610}"/>
              </a:ext>
            </a:extLst>
          </p:cNvPr>
          <p:cNvSpPr txBox="1">
            <a:spLocks/>
          </p:cNvSpPr>
          <p:nvPr/>
        </p:nvSpPr>
        <p:spPr>
          <a:xfrm>
            <a:off x="662371" y="1103382"/>
            <a:ext cx="4022396" cy="5368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If we need to access the superclass version of an overridden method, we can do so by using the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keyword.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Here,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super.show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calls the superclass version of show().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AA789F-DC90-92A1-946A-AD278645C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0168" y="1776482"/>
            <a:ext cx="2056969" cy="49071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34990C2-A500-2B02-9F42-B3C1E38F57F0}"/>
              </a:ext>
            </a:extLst>
          </p:cNvPr>
          <p:cNvSpPr txBox="1">
            <a:spLocks/>
          </p:cNvSpPr>
          <p:nvPr/>
        </p:nvSpPr>
        <p:spPr>
          <a:xfrm>
            <a:off x="10196090" y="1396570"/>
            <a:ext cx="1425124" cy="3799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6888F1-30D2-9EF4-4E2D-33CDA0EE9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769" y="765051"/>
            <a:ext cx="5012438" cy="600456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148866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E0A1C-8D06-EA2A-5260-04883FA59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FB3F4EC-3F9C-E90A-FA99-A515C25DA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-1"/>
            <a:ext cx="1106424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Method Overriding vs Overloading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7D04B91-999A-B346-BFF2-85CD40231A3B}"/>
              </a:ext>
            </a:extLst>
          </p:cNvPr>
          <p:cNvSpPr txBox="1">
            <a:spLocks/>
          </p:cNvSpPr>
          <p:nvPr/>
        </p:nvSpPr>
        <p:spPr>
          <a:xfrm>
            <a:off x="711200" y="1188720"/>
            <a:ext cx="10800080" cy="5394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Method overriding occurs only when the names and the type signatures of the two methods are identical. 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If they are not, then the two methods are simply overloaded. </a:t>
            </a:r>
          </a:p>
        </p:txBody>
      </p:sp>
    </p:spTree>
    <p:extLst>
      <p:ext uri="{BB962C8B-B14F-4D97-AF65-F5344CB8AC3E}">
        <p14:creationId xmlns:p14="http://schemas.microsoft.com/office/powerpoint/2010/main" val="41760691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B1E98-A754-8ECD-E61A-5D8324387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1F39F1A-5A6A-16A8-6737-04FFF7D99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-1"/>
            <a:ext cx="1106424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Example: Method Overriding vs Overloading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485102-3072-B416-7620-71CBAD8B4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8038" y="1289888"/>
            <a:ext cx="1672747" cy="51741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D02F9BA-FB6A-ECEF-006F-788773321B50}"/>
              </a:ext>
            </a:extLst>
          </p:cNvPr>
          <p:cNvSpPr txBox="1">
            <a:spLocks/>
          </p:cNvSpPr>
          <p:nvPr/>
        </p:nvSpPr>
        <p:spPr>
          <a:xfrm>
            <a:off x="8021850" y="909976"/>
            <a:ext cx="1425124" cy="3799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6446B3-EB4B-DCBF-35A9-B84C48ABC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739" y="909976"/>
            <a:ext cx="5024823" cy="568545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39321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24879</TotalTime>
  <Words>1143</Words>
  <Application>Microsoft Office PowerPoint</Application>
  <PresentationFormat>Widescreen</PresentationFormat>
  <Paragraphs>96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Courier New</vt:lpstr>
      <vt:lpstr>Garamond</vt:lpstr>
      <vt:lpstr>TimesLTStd-Roman</vt:lpstr>
      <vt:lpstr>Office Theme</vt:lpstr>
      <vt:lpstr>Inheritance Part 2  Java - The Complete Reference  Herbert Schildt Chapter 8 </vt:lpstr>
      <vt:lpstr>Outline</vt:lpstr>
      <vt:lpstr>PowerPoint Presentation</vt:lpstr>
      <vt:lpstr>Using super to Call Superclass Constructors</vt:lpstr>
      <vt:lpstr>Example: super to Call Superclass Constructors</vt:lpstr>
      <vt:lpstr>Using super to Call Superclass Constructors</vt:lpstr>
      <vt:lpstr>Using super to Call Superclass Constructors</vt:lpstr>
      <vt:lpstr>Review of the key concepts of super()</vt:lpstr>
      <vt:lpstr>A Second Use of super</vt:lpstr>
      <vt:lpstr>Example: Second Use of super</vt:lpstr>
      <vt:lpstr>PowerPoint Presentation</vt:lpstr>
      <vt:lpstr>Multilevel Inheritance Hierarchy</vt:lpstr>
      <vt:lpstr>Example: Three Levels of Inheritance Hierarchy</vt:lpstr>
      <vt:lpstr>Example: Three Levels of Inheritance Hierarchy</vt:lpstr>
      <vt:lpstr>Example: Three Levels of Inheritance Hierarchy</vt:lpstr>
      <vt:lpstr>Example: Three Levels of Inheritance Hierarchy</vt:lpstr>
      <vt:lpstr>Example: Three Levels of Inheritance Hierarchy</vt:lpstr>
      <vt:lpstr>PowerPoint Presentation</vt:lpstr>
      <vt:lpstr>When Constructors Are Executed</vt:lpstr>
      <vt:lpstr>Example: Constructors Call Sequence</vt:lpstr>
      <vt:lpstr>When Constructors Are Executed</vt:lpstr>
      <vt:lpstr>PowerPoint Presentation</vt:lpstr>
      <vt:lpstr>Method Overriding</vt:lpstr>
      <vt:lpstr>Example: Method Overriding</vt:lpstr>
      <vt:lpstr>Accessing the Superclass Version of an Overridden Method</vt:lpstr>
      <vt:lpstr>Method Overriding vs Overloading</vt:lpstr>
      <vt:lpstr>Example: Method Overriding vs Overloading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Symmetric Cryptography</dc:title>
  <dc:creator>Md Hasanul Ferdaus</dc:creator>
  <cp:lastModifiedBy>Md Hasanul Ferdaus</cp:lastModifiedBy>
  <cp:revision>3399</cp:revision>
  <dcterms:created xsi:type="dcterms:W3CDTF">2023-02-09T14:28:53Z</dcterms:created>
  <dcterms:modified xsi:type="dcterms:W3CDTF">2025-11-29T17:08:46Z</dcterms:modified>
</cp:coreProperties>
</file>