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81" r:id="rId3"/>
    <p:sldId id="258" r:id="rId4"/>
    <p:sldId id="263" r:id="rId5"/>
    <p:sldId id="259" r:id="rId6"/>
    <p:sldId id="267" r:id="rId7"/>
    <p:sldId id="272" r:id="rId8"/>
    <p:sldId id="282" r:id="rId9"/>
    <p:sldId id="283" r:id="rId10"/>
    <p:sldId id="268" r:id="rId11"/>
    <p:sldId id="269" r:id="rId12"/>
    <p:sldId id="277" r:id="rId13"/>
    <p:sldId id="280" r:id="rId14"/>
    <p:sldId id="279" r:id="rId15"/>
    <p:sldId id="270" r:id="rId16"/>
    <p:sldId id="275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B7B"/>
    <a:srgbClr val="68532E"/>
    <a:srgbClr val="ED5113"/>
    <a:srgbClr val="FFFFFF"/>
    <a:srgbClr val="866A39"/>
    <a:srgbClr val="1E996E"/>
    <a:srgbClr val="69B96C"/>
    <a:srgbClr val="896D3C"/>
    <a:srgbClr val="000000"/>
    <a:srgbClr val="120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061" autoAdjust="0"/>
  </p:normalViewPr>
  <p:slideViewPr>
    <p:cSldViewPr snapToGrid="0">
      <p:cViewPr varScale="1">
        <p:scale>
          <a:sx n="85" d="100"/>
          <a:sy n="85" d="100"/>
        </p:scale>
        <p:origin x="67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05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AC5E3-EEED-42F3-AC14-677E23A5FF0D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183BE-5B5E-4881-9C39-DD73F09C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5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10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40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0EB0-F06D-7D57-4E14-062B3FAA8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0EB14-EF75-0E0D-7807-5A76E69F3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DB9BB-83DA-755E-4BC5-76447221E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DCDFC-58C5-6AE3-F9AB-16F822F62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12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F752-794D-D9B9-EBBC-72A3A247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85B3E-EFC2-DE04-8630-3A4827545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996B2-CEC4-EBB7-9FA2-CEBFF08B8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27AA2-7930-6EFB-F344-CC7231AD6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76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911E-82C9-43B4-37C6-65ACE5A9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7EA65-41ED-268C-E325-0E9E51007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DEB8F-6862-B40D-F090-ED859AE48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9011B-2BF6-C2F7-21A2-C108D438B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04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592A5-CA04-D68D-58DA-3352A714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FDCC3-FA08-5217-DFF8-FA17E7AE1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07DE6-DE9C-D8D6-5AEF-6DE3F125E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CE670-F8D3-B462-E2F3-2447C3309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11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E652-FD92-0573-9707-E85BFEC7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558C0-F9A9-A193-7F0D-4AE119A1C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87E89-A6D2-EC33-6196-FD530068F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28E9D-F5E3-7A92-82E1-9213A68EE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72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CF01-FEB5-3461-9E34-C3518E80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C25EF-415C-B3AD-4583-F9565933D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32C65-DE79-0862-843B-B3B2D6EFB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93C08-2331-485A-2A5C-3A7D2F099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21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AB04-C161-CEDB-5FB0-541C3727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48B01-E2F2-7435-B05E-4282BC558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9A731-E3A3-F981-CC4D-D9ECD0F63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2208D-722A-1D6D-3F58-D5F5D181E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39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C61B7-F13C-3BE4-2799-7FB2444A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A2502-BEFC-5489-641B-16F76C448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924E2-302D-1E20-BDE0-48098F823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18AE8-6B7F-1F60-EFA2-C99255155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76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259CC-BE78-7110-090C-12DDFECD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BA336-98C9-7DE3-54C1-26F0168A6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ABB4A-FEE9-1D60-2E2F-497279781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F5E70-5176-4911-2DFE-DDC85D8E7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46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E4EB-BF66-D22B-F968-FB7DB03D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AF9DC-A0A3-DA71-5B04-20AD727B0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4BF1D-A702-287A-6C50-B0EBA4B67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0838C-75CC-A00A-B555-B0ACEBA0D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84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A3113-6BE2-C38C-4E16-AD7694A6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9BF5B-3141-C31D-92BA-92EA7BA7A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06B00-2BBD-45AD-A7B7-C2249FDD2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3D25B-DCE3-8DE5-7FAF-6D252CD95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24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AF4A-F3C8-CD86-1242-7AD49924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0C0B9-FA63-6A38-F15E-19B030788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1AF2D-7673-C7DC-C1FE-919E5003A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850BC-FAA9-C5D2-850B-4623BCA80E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19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BAB02-943D-A38E-1D97-B5DD9AED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03A5F-6452-5B41-A279-3E21290E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9F599-5520-13FD-D9C9-7A2A4B56A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5E2C3-1976-BA5C-BDE4-0DFEE5653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183BE-5B5E-4881-9C39-DD73F09C39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9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4DE35-550A-E179-4E7C-35DEB57D0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5A052-1C4C-26B0-FB9A-B64F4C53D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CDD6B-D33D-ED3D-EAF7-61B0F6E6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2B8-37CC-D136-DE9E-52A1D2E9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1B0EC-5216-178E-C6E7-DEEC10CA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5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F89F-2DC6-E808-F3ED-BB2ADB6BE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2CE2-BE0F-AB49-60FA-6F709AA05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57056-0777-07E1-41BB-D44FC15C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964B3-F9E1-403B-A5FD-98A68D96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3FCE7-D0FD-8290-0843-A0C3159A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63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8F6B2-A567-842E-95D0-EE0B692C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65FD8-1795-6737-DFC6-D6DCC360E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24F8A-A565-17A8-1260-1CB1A776E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B8FE3-808B-9A76-D7F0-4E9929214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D1703-639D-359C-0F78-94EFD3C0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1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C468-EA9D-5126-BFD3-E9066E69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020FE-AB39-4332-9A58-FDC917DEB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D4684-3735-752D-E81D-975D87463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D1B6E-E69D-E218-E64A-CB8F61B2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432A6-224D-4DE6-3D1C-0797060C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C9779-3505-1878-ACD2-AE32E9CB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4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CBF8-9FBE-DB86-39F5-CAABD183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7BA21-C13D-B4BD-516B-6A0396840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C8A34-E300-3E31-6ED9-7942E9E91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C8FD5-8E61-5B41-1A84-1A184B272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E7621-7F04-2D37-3EBE-9D10F8040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0BDE6-471B-49E8-261F-971BD9A8D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4D567B-485C-14F3-9EEF-D959F436B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B14A5-5248-2BE4-AEB8-7A1D8B17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7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48C0-5979-198C-D42A-CA2125EE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DD254-AB21-30A3-5707-CCB70E2B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22EC2-CEE5-BC72-AFF1-12B2DE63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D989A-3920-D019-753A-FA7E41A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6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A15C7-2CFD-142C-7240-35EC0AAC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0C1E0-9AD5-132C-0DBB-1575BD9CC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2A82C-4D69-FF0B-E86B-BC80114D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2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D1FF-75A9-8CCE-E24B-980F5880A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11052-3B9D-C4AD-565F-C1BF9167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7F694-0102-CA76-6228-F7FCFB2D1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A8A18-86EB-E549-B430-DA0B119C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7D47F-3471-6BD7-9F12-91C7DC49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854DB-9073-28B6-B34C-443A00A3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1C03-4D93-808C-BF42-8949FDB8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59F62-D851-76DC-3AE4-818CC8DE2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C43F0-8580-FFE5-CBE4-EBD150587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A4920-DDEC-234A-17D5-ADB088F1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B90E5-C0B1-C606-1832-01540FE6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2AA06-8736-DDB4-A626-2D943185C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2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6341-5781-20DE-35C4-6E8F44E7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C8DD3-83CF-1BF7-42DD-093B41CCE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BBE3F-E24D-4235-0F24-679FE24C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BA331-E79E-A7F5-FC88-9B4C7CBA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8CDE5-2E45-AF56-3E0A-773CDC63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DA636-FF9E-86B2-502A-FDB079879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BCD5E-DC95-D90B-9907-64BF57F6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D850F-4ED9-B0BB-52F6-73B4726A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6CCCA-2E6D-5645-4539-6D6FFE7A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47181-BDD8-4F87-F425-3FA1D5F3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58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BB74D-51CF-02F2-1320-20E39E60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4ECBC-924A-AFF8-A066-A8C5D0622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2B0A1-B225-B512-4A55-E70373D10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40EEC-7F96-4341-9F46-DF0E27A5146F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2F194-46A4-11FD-1359-D9D2D6DB4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3B8FC-89DB-C601-4EDA-12EA4F087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1E7BE-4CB4-43C3-9B2D-7DC279E78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4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7.jp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20.jpg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21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26.jpg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chemeClr val="tx1">
                <a:alpha val="76000"/>
              </a:schemeClr>
            </a:gs>
            <a:gs pos="100000">
              <a:srgbClr val="866A39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og sitting at a desk in a store&#10;&#10;AI-generated content may be incorrect.">
            <a:extLst>
              <a:ext uri="{FF2B5EF4-FFF2-40B4-BE49-F238E27FC236}">
                <a16:creationId xmlns:a16="http://schemas.microsoft.com/office/drawing/2014/main" id="{D6C42CB2-3D5B-FE44-C436-4DEF62844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2B78CB-7845-B190-6032-6409AA9C246A}"/>
              </a:ext>
            </a:extLst>
          </p:cNvPr>
          <p:cNvSpPr/>
          <p:nvPr/>
        </p:nvSpPr>
        <p:spPr>
          <a:xfrm>
            <a:off x="6572250" y="19050"/>
            <a:ext cx="5619750" cy="6858000"/>
          </a:xfrm>
          <a:prstGeom prst="rect">
            <a:avLst/>
          </a:prstGeom>
          <a:gradFill>
            <a:gsLst>
              <a:gs pos="78000">
                <a:schemeClr val="tx1">
                  <a:alpha val="37000"/>
                </a:schemeClr>
              </a:gs>
              <a:gs pos="100000">
                <a:srgbClr val="120F05">
                  <a:alpha val="88000"/>
                  <a:lumMod val="56000"/>
                </a:srgbClr>
              </a:gs>
            </a:gsLst>
            <a:lin ang="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en-US" sz="4800" dirty="0">
              <a:latin typeface="Impact" panose="020B0806030902050204" pitchFamily="34" charset="0"/>
            </a:endParaRPr>
          </a:p>
          <a:p>
            <a:pPr lvl="1" algn="ctr"/>
            <a:endParaRPr lang="en-US" sz="4800" dirty="0">
              <a:latin typeface="Impact" panose="020B0806030902050204" pitchFamily="34" charset="0"/>
            </a:endParaRPr>
          </a:p>
          <a:p>
            <a:pPr lvl="1" algn="ctr"/>
            <a:endParaRPr lang="en-US" sz="4800" dirty="0">
              <a:latin typeface="Impact" panose="020B0806030902050204" pitchFamily="34" charset="0"/>
            </a:endParaRPr>
          </a:p>
          <a:p>
            <a:pPr lvl="1" algn="ctr"/>
            <a:r>
              <a:rPr lang="en-US" sz="4800" dirty="0">
                <a:latin typeface="Impact" panose="020B0806030902050204" pitchFamily="34" charset="0"/>
              </a:rPr>
              <a:t>SuperShop Grocery Billing System</a:t>
            </a:r>
          </a:p>
          <a:p>
            <a:pPr lvl="1" algn="ctr"/>
            <a:endParaRPr lang="en-US" sz="4800" dirty="0">
              <a:latin typeface="Impact" panose="020B0806030902050204" pitchFamily="34" charset="0"/>
            </a:endParaRPr>
          </a:p>
          <a:p>
            <a:pPr lvl="1" algn="ctr"/>
            <a:r>
              <a:rPr lang="en-US" sz="2800" b="1" dirty="0"/>
              <a:t>Project Overview</a:t>
            </a:r>
          </a:p>
          <a:p>
            <a:pPr lvl="1" algn="ctr"/>
            <a:endParaRPr lang="en-US" sz="2800" b="1" dirty="0">
              <a:latin typeface="Impact" panose="020B0806030902050204" pitchFamily="34" charset="0"/>
            </a:endParaRPr>
          </a:p>
          <a:p>
            <a:pPr lvl="1" algn="ctr"/>
            <a:endParaRPr lang="en-US" sz="2800" b="1" dirty="0">
              <a:latin typeface="Impact" panose="020B0806030902050204" pitchFamily="34" charset="0"/>
            </a:endParaRPr>
          </a:p>
          <a:p>
            <a:r>
              <a:rPr lang="en-US" sz="2000" dirty="0"/>
              <a:t>• Manage a supermarket's inventory and customer billing</a:t>
            </a:r>
          </a:p>
          <a:p>
            <a:r>
              <a:rPr lang="en-US" sz="2000" dirty="0"/>
              <a:t>• User login system for admin control</a:t>
            </a:r>
          </a:p>
          <a:p>
            <a:r>
              <a:rPr lang="en-US" sz="2000" dirty="0"/>
              <a:t>• Real-time stock updates and billing</a:t>
            </a:r>
          </a:p>
          <a:p>
            <a:r>
              <a:rPr lang="en-US" sz="2000" dirty="0"/>
              <a:t>• Daily sales tracking and reporting</a:t>
            </a:r>
          </a:p>
          <a:p>
            <a:pPr lvl="1" algn="ctr"/>
            <a:endParaRPr lang="en-US" sz="4800" dirty="0">
              <a:latin typeface="Impact" panose="020B0806030902050204" pitchFamily="34" charset="0"/>
            </a:endParaRPr>
          </a:p>
          <a:p>
            <a:pPr lvl="1" algn="ctr"/>
            <a:endParaRPr lang="en-US" sz="4800" dirty="0">
              <a:latin typeface="Impact" panose="020B0806030902050204" pitchFamily="34" charset="0"/>
            </a:endParaRPr>
          </a:p>
          <a:p>
            <a:pPr lvl="1" algn="ctr"/>
            <a:endParaRPr lang="en-US" sz="4800" dirty="0">
              <a:latin typeface="Impact" panose="020B0806030902050204" pitchFamily="34" charset="0"/>
            </a:endParaRPr>
          </a:p>
          <a:p>
            <a:pPr lvl="1" algn="ctr"/>
            <a:endParaRPr lang="en-US" sz="4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59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46D55F-8C99-4A18-ABC7-FEBABA3E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9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5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1D2CEF-2605-8492-1B23-B10E90B51501}"/>
              </a:ext>
            </a:extLst>
          </p:cNvPr>
          <p:cNvSpPr/>
          <p:nvPr/>
        </p:nvSpPr>
        <p:spPr>
          <a:xfrm>
            <a:off x="0" y="0"/>
            <a:ext cx="4702629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47121-16AF-9199-35A2-C41474407426}"/>
              </a:ext>
            </a:extLst>
          </p:cNvPr>
          <p:cNvSpPr txBox="1"/>
          <p:nvPr/>
        </p:nvSpPr>
        <p:spPr>
          <a:xfrm>
            <a:off x="1" y="1143403"/>
            <a:ext cx="4702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MEET OUR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49FA5A-86EF-15B3-858C-D97CA08095A4}"/>
              </a:ext>
            </a:extLst>
          </p:cNvPr>
          <p:cNvSpPr txBox="1"/>
          <p:nvPr/>
        </p:nvSpPr>
        <p:spPr>
          <a:xfrm>
            <a:off x="0" y="2078309"/>
            <a:ext cx="47026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HECKERS</a:t>
            </a:r>
          </a:p>
        </p:txBody>
      </p:sp>
      <p:pic>
        <p:nvPicPr>
          <p:cNvPr id="11" name="Picture 10" descr="A dog sitting at a computer&#10;&#10;AI-generated content may be incorrect.">
            <a:extLst>
              <a:ext uri="{FF2B5EF4-FFF2-40B4-BE49-F238E27FC236}">
                <a16:creationId xmlns:a16="http://schemas.microsoft.com/office/drawing/2014/main" id="{7DBF8456-CB88-E03E-51AB-60C50FA9C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5" y="4117858"/>
            <a:ext cx="3788497" cy="23070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322A465-442A-71A9-9127-BA8A8C04E096}"/>
              </a:ext>
            </a:extLst>
          </p:cNvPr>
          <p:cNvSpPr/>
          <p:nvPr/>
        </p:nvSpPr>
        <p:spPr>
          <a:xfrm>
            <a:off x="5742912" y="3701845"/>
            <a:ext cx="6449087" cy="3156155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effectLst>
            <a:glow rad="101600">
              <a:srgbClr val="866A39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70BC59-26A3-6996-4809-B4E2CD8BA4CB}"/>
              </a:ext>
            </a:extLst>
          </p:cNvPr>
          <p:cNvSpPr/>
          <p:nvPr/>
        </p:nvSpPr>
        <p:spPr>
          <a:xfrm>
            <a:off x="5742913" y="0"/>
            <a:ext cx="6449087" cy="3156155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effectLst>
            <a:glow rad="101600">
              <a:srgbClr val="866A39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b="1" dirty="0" err="1"/>
              <a:t>Implented</a:t>
            </a:r>
            <a:r>
              <a:rPr lang="en-US" b="1" dirty="0"/>
              <a:t> Inventory Management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958555-5A21-6939-47C9-A41DF7F2BFD6}"/>
              </a:ext>
            </a:extLst>
          </p:cNvPr>
          <p:cNvCxnSpPr/>
          <p:nvPr/>
        </p:nvCxnSpPr>
        <p:spPr>
          <a:xfrm>
            <a:off x="8077200" y="1386385"/>
            <a:ext cx="41148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F3D429-C051-49CF-713F-D47A87C95AB1}"/>
              </a:ext>
            </a:extLst>
          </p:cNvPr>
          <p:cNvCxnSpPr/>
          <p:nvPr/>
        </p:nvCxnSpPr>
        <p:spPr>
          <a:xfrm>
            <a:off x="8077200" y="4983708"/>
            <a:ext cx="41148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7" name="Picture 26" descr="A person standing in front of a flower arch&#10;&#10;AI-generated content may be incorrect.">
            <a:extLst>
              <a:ext uri="{FF2B5EF4-FFF2-40B4-BE49-F238E27FC236}">
                <a16:creationId xmlns:a16="http://schemas.microsoft.com/office/drawing/2014/main" id="{57696DDA-CE19-8C54-E902-C9531668B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4" t="13528" r="17871" b="21703"/>
          <a:stretch/>
        </p:blipFill>
        <p:spPr>
          <a:xfrm>
            <a:off x="5696551" y="0"/>
            <a:ext cx="3106282" cy="3195731"/>
          </a:xfrm>
          <a:prstGeom prst="rect">
            <a:avLst/>
          </a:prstGeom>
        </p:spPr>
      </p:pic>
      <p:pic>
        <p:nvPicPr>
          <p:cNvPr id="29" name="Picture 28" descr="A person with glasses and a red shirt&#10;&#10;AI-generated content may be incorrect.">
            <a:extLst>
              <a:ext uri="{FF2B5EF4-FFF2-40B4-BE49-F238E27FC236}">
                <a16:creationId xmlns:a16="http://schemas.microsoft.com/office/drawing/2014/main" id="{52E0A2D3-13E5-0885-1F13-B66D40FBA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t="1" r="694" b="39210"/>
          <a:stretch/>
        </p:blipFill>
        <p:spPr>
          <a:xfrm>
            <a:off x="5742910" y="3693307"/>
            <a:ext cx="3013156" cy="31561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730642-B84D-C649-CEA6-4544AF189625}"/>
              </a:ext>
            </a:extLst>
          </p:cNvPr>
          <p:cNvSpPr txBox="1"/>
          <p:nvPr/>
        </p:nvSpPr>
        <p:spPr>
          <a:xfrm>
            <a:off x="7731211" y="265099"/>
            <a:ext cx="553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MD ATIQUR RAHMAN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8EDB7-FD4A-BB9C-B34C-F8A2F082F266}"/>
              </a:ext>
            </a:extLst>
          </p:cNvPr>
          <p:cNvSpPr txBox="1"/>
          <p:nvPr/>
        </p:nvSpPr>
        <p:spPr>
          <a:xfrm>
            <a:off x="9094694" y="828118"/>
            <a:ext cx="280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ID: </a:t>
            </a:r>
            <a:r>
              <a:rPr lang="en-US" dirty="0">
                <a:solidFill>
                  <a:schemeClr val="bg1"/>
                </a:solidFill>
              </a:rPr>
              <a:t> 2025-1-60-056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D823A-6949-4555-998D-5A79014AAD36}"/>
              </a:ext>
            </a:extLst>
          </p:cNvPr>
          <p:cNvSpPr txBox="1"/>
          <p:nvPr/>
        </p:nvSpPr>
        <p:spPr>
          <a:xfrm>
            <a:off x="9071310" y="4361319"/>
            <a:ext cx="280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ID: </a:t>
            </a:r>
            <a:r>
              <a:rPr lang="en-US" dirty="0">
                <a:solidFill>
                  <a:schemeClr val="bg1"/>
                </a:solidFill>
              </a:rPr>
              <a:t> 2025-1-60-055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CA6D98-C830-8F81-165A-52A2842BB87E}"/>
              </a:ext>
            </a:extLst>
          </p:cNvPr>
          <p:cNvSpPr txBox="1"/>
          <p:nvPr/>
        </p:nvSpPr>
        <p:spPr>
          <a:xfrm>
            <a:off x="7699870" y="3933192"/>
            <a:ext cx="553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SADMAN SHOWMIK ANIK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30A430-DF42-46A0-94E8-2FB4F1D1E591}"/>
              </a:ext>
            </a:extLst>
          </p:cNvPr>
          <p:cNvSpPr txBox="1"/>
          <p:nvPr/>
        </p:nvSpPr>
        <p:spPr>
          <a:xfrm>
            <a:off x="8967455" y="5732276"/>
            <a:ext cx="314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Implemented Customer Billing</a:t>
            </a:r>
          </a:p>
        </p:txBody>
      </p:sp>
    </p:spTree>
    <p:extLst>
      <p:ext uri="{BB962C8B-B14F-4D97-AF65-F5344CB8AC3E}">
        <p14:creationId xmlns:p14="http://schemas.microsoft.com/office/powerpoint/2010/main" val="86512700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53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008BD-0AAF-70F9-6E80-4A0EF65E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56474-2B41-CA78-E227-82B87AEEED24}"/>
              </a:ext>
            </a:extLst>
          </p:cNvPr>
          <p:cNvSpPr/>
          <p:nvPr/>
        </p:nvSpPr>
        <p:spPr>
          <a:xfrm>
            <a:off x="0" y="0"/>
            <a:ext cx="4702629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672F4-8902-DCC5-60BB-C3A0752084E9}"/>
              </a:ext>
            </a:extLst>
          </p:cNvPr>
          <p:cNvSpPr txBox="1"/>
          <p:nvPr/>
        </p:nvSpPr>
        <p:spPr>
          <a:xfrm>
            <a:off x="1" y="1143403"/>
            <a:ext cx="4702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2">
                    <a:lumMod val="90000"/>
                  </a:scheme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MEET OUR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B945B-8414-5945-E595-1929462898D5}"/>
              </a:ext>
            </a:extLst>
          </p:cNvPr>
          <p:cNvSpPr txBox="1"/>
          <p:nvPr/>
        </p:nvSpPr>
        <p:spPr>
          <a:xfrm>
            <a:off x="0" y="2078309"/>
            <a:ext cx="47026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5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HECKERS</a:t>
            </a:r>
          </a:p>
        </p:txBody>
      </p:sp>
      <p:pic>
        <p:nvPicPr>
          <p:cNvPr id="11" name="Picture 10" descr="A dog sitting at a computer&#10;&#10;AI-generated content may be incorrect.">
            <a:extLst>
              <a:ext uri="{FF2B5EF4-FFF2-40B4-BE49-F238E27FC236}">
                <a16:creationId xmlns:a16="http://schemas.microsoft.com/office/drawing/2014/main" id="{6A422CDD-BBA5-ACE9-E571-6E76C5C24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83" y="4059655"/>
            <a:ext cx="3788497" cy="23070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63414E-F686-53E8-757E-768F8C580FBD}"/>
              </a:ext>
            </a:extLst>
          </p:cNvPr>
          <p:cNvSpPr/>
          <p:nvPr/>
        </p:nvSpPr>
        <p:spPr>
          <a:xfrm>
            <a:off x="5742911" y="0"/>
            <a:ext cx="6449087" cy="3156155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effectLst>
            <a:glow rad="101600">
              <a:srgbClr val="866A39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9191B2-539A-B144-E3BE-CA70A626B25F}"/>
              </a:ext>
            </a:extLst>
          </p:cNvPr>
          <p:cNvSpPr/>
          <p:nvPr/>
        </p:nvSpPr>
        <p:spPr>
          <a:xfrm>
            <a:off x="5742910" y="3701846"/>
            <a:ext cx="6449087" cy="3156155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effectLst>
            <a:glow rad="101600">
              <a:srgbClr val="866A39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erson in a black shirt&#10;&#10;AI-generated content may be incorrect.">
            <a:extLst>
              <a:ext uri="{FF2B5EF4-FFF2-40B4-BE49-F238E27FC236}">
                <a16:creationId xmlns:a16="http://schemas.microsoft.com/office/drawing/2014/main" id="{7DC11A1B-65CE-5AF7-5472-3A2F61AE6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13841" r="12083" b="40135"/>
          <a:stretch/>
        </p:blipFill>
        <p:spPr>
          <a:xfrm>
            <a:off x="5742911" y="-1"/>
            <a:ext cx="3153440" cy="31561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F96CAE-377F-939D-E5A1-D8CFC03825E0}"/>
              </a:ext>
            </a:extLst>
          </p:cNvPr>
          <p:cNvCxnSpPr/>
          <p:nvPr/>
        </p:nvCxnSpPr>
        <p:spPr>
          <a:xfrm>
            <a:off x="8896351" y="1295400"/>
            <a:ext cx="32956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F607E9-20CF-8C2A-927B-0FCCDDCA0245}"/>
              </a:ext>
            </a:extLst>
          </p:cNvPr>
          <p:cNvCxnSpPr/>
          <p:nvPr/>
        </p:nvCxnSpPr>
        <p:spPr>
          <a:xfrm>
            <a:off x="8896348" y="4933950"/>
            <a:ext cx="32956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F3504BA-7EEC-51E0-5582-13F34F1214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31" t="9523" r="7033" b="34075"/>
          <a:stretch/>
        </p:blipFill>
        <p:spPr>
          <a:xfrm>
            <a:off x="5742908" y="3701845"/>
            <a:ext cx="3153440" cy="31561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F95668-93B2-0F04-1ABA-33AC2FA00B13}"/>
              </a:ext>
            </a:extLst>
          </p:cNvPr>
          <p:cNvSpPr txBox="1"/>
          <p:nvPr/>
        </p:nvSpPr>
        <p:spPr>
          <a:xfrm>
            <a:off x="7731211" y="265099"/>
            <a:ext cx="553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MAHMUDUR RAHMAN HARRY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6E1A1E-CF0A-8265-A575-9A2C2CD3E0F5}"/>
              </a:ext>
            </a:extLst>
          </p:cNvPr>
          <p:cNvSpPr txBox="1"/>
          <p:nvPr/>
        </p:nvSpPr>
        <p:spPr>
          <a:xfrm>
            <a:off x="9094694" y="828118"/>
            <a:ext cx="280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ID: </a:t>
            </a:r>
            <a:r>
              <a:rPr lang="en-US" dirty="0">
                <a:solidFill>
                  <a:schemeClr val="bg1"/>
                </a:solidFill>
              </a:rPr>
              <a:t> 2025-1-60-061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503454-B1BE-5329-34BC-8F436717FD17}"/>
              </a:ext>
            </a:extLst>
          </p:cNvPr>
          <p:cNvSpPr txBox="1"/>
          <p:nvPr/>
        </p:nvSpPr>
        <p:spPr>
          <a:xfrm>
            <a:off x="9141449" y="4379952"/>
            <a:ext cx="280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ID: </a:t>
            </a:r>
            <a:r>
              <a:rPr lang="en-US" dirty="0">
                <a:solidFill>
                  <a:schemeClr val="bg1"/>
                </a:solidFill>
              </a:rPr>
              <a:t> 2025-1-60-062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9A4F62-8ADE-84E9-0534-BD236F7AEAA1}"/>
              </a:ext>
            </a:extLst>
          </p:cNvPr>
          <p:cNvSpPr txBox="1"/>
          <p:nvPr/>
        </p:nvSpPr>
        <p:spPr>
          <a:xfrm>
            <a:off x="7912230" y="3874989"/>
            <a:ext cx="5296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SABINA KHATUN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89240-8B56-3C28-B29E-308272B741CD}"/>
              </a:ext>
            </a:extLst>
          </p:cNvPr>
          <p:cNvSpPr txBox="1"/>
          <p:nvPr/>
        </p:nvSpPr>
        <p:spPr>
          <a:xfrm>
            <a:off x="11634317" y="3982711"/>
            <a:ext cx="90646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>
                <a:solidFill>
                  <a:schemeClr val="bg1"/>
                </a:solidFill>
              </a:rPr>
              <a:t>(GPT KHATUN)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88491A-124F-4A65-A732-D0E14C140019}"/>
              </a:ext>
            </a:extLst>
          </p:cNvPr>
          <p:cNvSpPr txBox="1"/>
          <p:nvPr/>
        </p:nvSpPr>
        <p:spPr>
          <a:xfrm>
            <a:off x="8912521" y="1896901"/>
            <a:ext cx="329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Implemented Daily Sales 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B60CB-7463-4ECB-A940-4C3BC53BD39E}"/>
              </a:ext>
            </a:extLst>
          </p:cNvPr>
          <p:cNvSpPr txBox="1"/>
          <p:nvPr/>
        </p:nvSpPr>
        <p:spPr>
          <a:xfrm>
            <a:off x="8967454" y="5853953"/>
            <a:ext cx="315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Implemented Login System</a:t>
            </a:r>
          </a:p>
        </p:txBody>
      </p:sp>
    </p:spTree>
    <p:extLst>
      <p:ext uri="{BB962C8B-B14F-4D97-AF65-F5344CB8AC3E}">
        <p14:creationId xmlns:p14="http://schemas.microsoft.com/office/powerpoint/2010/main" val="119870656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B4250869-1461-728F-66CC-DFEB2246E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3CC755-8EFB-4E27-A1DF-04F0C3A6FC60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DFEE58-0D48-2270-933D-335270269FB1}"/>
              </a:ext>
            </a:extLst>
          </p:cNvPr>
          <p:cNvSpPr/>
          <p:nvPr/>
        </p:nvSpPr>
        <p:spPr>
          <a:xfrm>
            <a:off x="0" y="0"/>
            <a:ext cx="5238750" cy="6858000"/>
          </a:xfrm>
          <a:custGeom>
            <a:avLst/>
            <a:gdLst>
              <a:gd name="connsiteX0" fmla="*/ 0 w 5238750"/>
              <a:gd name="connsiteY0" fmla="*/ 0 h 6858000"/>
              <a:gd name="connsiteX1" fmla="*/ 529696 w 5238750"/>
              <a:gd name="connsiteY1" fmla="*/ 0 h 6858000"/>
              <a:gd name="connsiteX2" fmla="*/ 1164167 w 5238750"/>
              <a:gd name="connsiteY2" fmla="*/ 0 h 6858000"/>
              <a:gd name="connsiteX3" fmla="*/ 1589088 w 5238750"/>
              <a:gd name="connsiteY3" fmla="*/ 0 h 6858000"/>
              <a:gd name="connsiteX4" fmla="*/ 2118783 w 5238750"/>
              <a:gd name="connsiteY4" fmla="*/ 0 h 6858000"/>
              <a:gd name="connsiteX5" fmla="*/ 2543704 w 5238750"/>
              <a:gd name="connsiteY5" fmla="*/ 0 h 6858000"/>
              <a:gd name="connsiteX6" fmla="*/ 3125788 w 5238750"/>
              <a:gd name="connsiteY6" fmla="*/ 0 h 6858000"/>
              <a:gd name="connsiteX7" fmla="*/ 3707871 w 5238750"/>
              <a:gd name="connsiteY7" fmla="*/ 0 h 6858000"/>
              <a:gd name="connsiteX8" fmla="*/ 4342342 w 5238750"/>
              <a:gd name="connsiteY8" fmla="*/ 0 h 6858000"/>
              <a:gd name="connsiteX9" fmla="*/ 5238750 w 5238750"/>
              <a:gd name="connsiteY9" fmla="*/ 0 h 6858000"/>
              <a:gd name="connsiteX10" fmla="*/ 5238750 w 5238750"/>
              <a:gd name="connsiteY10" fmla="*/ 434340 h 6858000"/>
              <a:gd name="connsiteX11" fmla="*/ 5238750 w 5238750"/>
              <a:gd name="connsiteY11" fmla="*/ 868680 h 6858000"/>
              <a:gd name="connsiteX12" fmla="*/ 5238750 w 5238750"/>
              <a:gd name="connsiteY12" fmla="*/ 1440180 h 6858000"/>
              <a:gd name="connsiteX13" fmla="*/ 5238750 w 5238750"/>
              <a:gd name="connsiteY13" fmla="*/ 1874520 h 6858000"/>
              <a:gd name="connsiteX14" fmla="*/ 5238750 w 5238750"/>
              <a:gd name="connsiteY14" fmla="*/ 2308860 h 6858000"/>
              <a:gd name="connsiteX15" fmla="*/ 5238750 w 5238750"/>
              <a:gd name="connsiteY15" fmla="*/ 2811780 h 6858000"/>
              <a:gd name="connsiteX16" fmla="*/ 5238750 w 5238750"/>
              <a:gd name="connsiteY16" fmla="*/ 3177540 h 6858000"/>
              <a:gd name="connsiteX17" fmla="*/ 5238750 w 5238750"/>
              <a:gd name="connsiteY17" fmla="*/ 3543300 h 6858000"/>
              <a:gd name="connsiteX18" fmla="*/ 5238750 w 5238750"/>
              <a:gd name="connsiteY18" fmla="*/ 4114800 h 6858000"/>
              <a:gd name="connsiteX19" fmla="*/ 5238750 w 5238750"/>
              <a:gd name="connsiteY19" fmla="*/ 4754880 h 6858000"/>
              <a:gd name="connsiteX20" fmla="*/ 5238750 w 5238750"/>
              <a:gd name="connsiteY20" fmla="*/ 5463540 h 6858000"/>
              <a:gd name="connsiteX21" fmla="*/ 5238750 w 5238750"/>
              <a:gd name="connsiteY21" fmla="*/ 5829300 h 6858000"/>
              <a:gd name="connsiteX22" fmla="*/ 5238750 w 5238750"/>
              <a:gd name="connsiteY22" fmla="*/ 6858000 h 6858000"/>
              <a:gd name="connsiteX23" fmla="*/ 4604279 w 5238750"/>
              <a:gd name="connsiteY23" fmla="*/ 6858000 h 6858000"/>
              <a:gd name="connsiteX24" fmla="*/ 3969808 w 5238750"/>
              <a:gd name="connsiteY24" fmla="*/ 6858000 h 6858000"/>
              <a:gd name="connsiteX25" fmla="*/ 3544888 w 5238750"/>
              <a:gd name="connsiteY25" fmla="*/ 6858000 h 6858000"/>
              <a:gd name="connsiteX26" fmla="*/ 3067579 w 5238750"/>
              <a:gd name="connsiteY26" fmla="*/ 6858000 h 6858000"/>
              <a:gd name="connsiteX27" fmla="*/ 2485496 w 5238750"/>
              <a:gd name="connsiteY27" fmla="*/ 6858000 h 6858000"/>
              <a:gd name="connsiteX28" fmla="*/ 1955800 w 5238750"/>
              <a:gd name="connsiteY28" fmla="*/ 6858000 h 6858000"/>
              <a:gd name="connsiteX29" fmla="*/ 1426104 w 5238750"/>
              <a:gd name="connsiteY29" fmla="*/ 6858000 h 6858000"/>
              <a:gd name="connsiteX30" fmla="*/ 844021 w 5238750"/>
              <a:gd name="connsiteY30" fmla="*/ 6858000 h 6858000"/>
              <a:gd name="connsiteX31" fmla="*/ 0 w 5238750"/>
              <a:gd name="connsiteY31" fmla="*/ 6858000 h 6858000"/>
              <a:gd name="connsiteX32" fmla="*/ 0 w 5238750"/>
              <a:gd name="connsiteY32" fmla="*/ 6286500 h 6858000"/>
              <a:gd name="connsiteX33" fmla="*/ 0 w 5238750"/>
              <a:gd name="connsiteY33" fmla="*/ 5715000 h 6858000"/>
              <a:gd name="connsiteX34" fmla="*/ 0 w 5238750"/>
              <a:gd name="connsiteY34" fmla="*/ 5212080 h 6858000"/>
              <a:gd name="connsiteX35" fmla="*/ 0 w 5238750"/>
              <a:gd name="connsiteY35" fmla="*/ 4503420 h 6858000"/>
              <a:gd name="connsiteX36" fmla="*/ 0 w 5238750"/>
              <a:gd name="connsiteY36" fmla="*/ 4137660 h 6858000"/>
              <a:gd name="connsiteX37" fmla="*/ 0 w 5238750"/>
              <a:gd name="connsiteY37" fmla="*/ 3771900 h 6858000"/>
              <a:gd name="connsiteX38" fmla="*/ 0 w 5238750"/>
              <a:gd name="connsiteY38" fmla="*/ 3406140 h 6858000"/>
              <a:gd name="connsiteX39" fmla="*/ 0 w 5238750"/>
              <a:gd name="connsiteY39" fmla="*/ 2697480 h 6858000"/>
              <a:gd name="connsiteX40" fmla="*/ 0 w 5238750"/>
              <a:gd name="connsiteY40" fmla="*/ 2194560 h 6858000"/>
              <a:gd name="connsiteX41" fmla="*/ 0 w 5238750"/>
              <a:gd name="connsiteY41" fmla="*/ 1691640 h 6858000"/>
              <a:gd name="connsiteX42" fmla="*/ 0 w 5238750"/>
              <a:gd name="connsiteY42" fmla="*/ 1188720 h 6858000"/>
              <a:gd name="connsiteX43" fmla="*/ 0 w 5238750"/>
              <a:gd name="connsiteY4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238750" h="6858000" fill="none" extrusionOk="0">
                <a:moveTo>
                  <a:pt x="0" y="0"/>
                </a:moveTo>
                <a:cubicBezTo>
                  <a:pt x="144763" y="-4404"/>
                  <a:pt x="370393" y="56918"/>
                  <a:pt x="529696" y="0"/>
                </a:cubicBezTo>
                <a:cubicBezTo>
                  <a:pt x="688999" y="-56918"/>
                  <a:pt x="904072" y="35275"/>
                  <a:pt x="1164167" y="0"/>
                </a:cubicBezTo>
                <a:cubicBezTo>
                  <a:pt x="1424262" y="-35275"/>
                  <a:pt x="1431857" y="29478"/>
                  <a:pt x="1589088" y="0"/>
                </a:cubicBezTo>
                <a:cubicBezTo>
                  <a:pt x="1746319" y="-29478"/>
                  <a:pt x="1854599" y="25503"/>
                  <a:pt x="2118783" y="0"/>
                </a:cubicBezTo>
                <a:cubicBezTo>
                  <a:pt x="2382968" y="-25503"/>
                  <a:pt x="2452075" y="10263"/>
                  <a:pt x="2543704" y="0"/>
                </a:cubicBezTo>
                <a:cubicBezTo>
                  <a:pt x="2635333" y="-10263"/>
                  <a:pt x="2948105" y="64009"/>
                  <a:pt x="3125788" y="0"/>
                </a:cubicBezTo>
                <a:cubicBezTo>
                  <a:pt x="3303471" y="-64009"/>
                  <a:pt x="3427357" y="64976"/>
                  <a:pt x="3707871" y="0"/>
                </a:cubicBezTo>
                <a:cubicBezTo>
                  <a:pt x="3988385" y="-64976"/>
                  <a:pt x="4126582" y="13908"/>
                  <a:pt x="4342342" y="0"/>
                </a:cubicBezTo>
                <a:cubicBezTo>
                  <a:pt x="4558102" y="-13908"/>
                  <a:pt x="4980182" y="56017"/>
                  <a:pt x="5238750" y="0"/>
                </a:cubicBezTo>
                <a:cubicBezTo>
                  <a:pt x="5261376" y="124140"/>
                  <a:pt x="5209744" y="300779"/>
                  <a:pt x="5238750" y="434340"/>
                </a:cubicBezTo>
                <a:cubicBezTo>
                  <a:pt x="5267756" y="567901"/>
                  <a:pt x="5196226" y="697869"/>
                  <a:pt x="5238750" y="868680"/>
                </a:cubicBezTo>
                <a:cubicBezTo>
                  <a:pt x="5281274" y="1039491"/>
                  <a:pt x="5232382" y="1252910"/>
                  <a:pt x="5238750" y="1440180"/>
                </a:cubicBezTo>
                <a:cubicBezTo>
                  <a:pt x="5245118" y="1627450"/>
                  <a:pt x="5232997" y="1668634"/>
                  <a:pt x="5238750" y="1874520"/>
                </a:cubicBezTo>
                <a:cubicBezTo>
                  <a:pt x="5244503" y="2080406"/>
                  <a:pt x="5237276" y="2147676"/>
                  <a:pt x="5238750" y="2308860"/>
                </a:cubicBezTo>
                <a:cubicBezTo>
                  <a:pt x="5240224" y="2470044"/>
                  <a:pt x="5182814" y="2584665"/>
                  <a:pt x="5238750" y="2811780"/>
                </a:cubicBezTo>
                <a:cubicBezTo>
                  <a:pt x="5294686" y="3038895"/>
                  <a:pt x="5209244" y="3047457"/>
                  <a:pt x="5238750" y="3177540"/>
                </a:cubicBezTo>
                <a:cubicBezTo>
                  <a:pt x="5268256" y="3307623"/>
                  <a:pt x="5208095" y="3406762"/>
                  <a:pt x="5238750" y="3543300"/>
                </a:cubicBezTo>
                <a:cubicBezTo>
                  <a:pt x="5269405" y="3679838"/>
                  <a:pt x="5202937" y="3996745"/>
                  <a:pt x="5238750" y="4114800"/>
                </a:cubicBezTo>
                <a:cubicBezTo>
                  <a:pt x="5274563" y="4232855"/>
                  <a:pt x="5198986" y="4468407"/>
                  <a:pt x="5238750" y="4754880"/>
                </a:cubicBezTo>
                <a:cubicBezTo>
                  <a:pt x="5278514" y="5041353"/>
                  <a:pt x="5160959" y="5266846"/>
                  <a:pt x="5238750" y="5463540"/>
                </a:cubicBezTo>
                <a:cubicBezTo>
                  <a:pt x="5316541" y="5660234"/>
                  <a:pt x="5213102" y="5661452"/>
                  <a:pt x="5238750" y="5829300"/>
                </a:cubicBezTo>
                <a:cubicBezTo>
                  <a:pt x="5264398" y="5997148"/>
                  <a:pt x="5121486" y="6348350"/>
                  <a:pt x="5238750" y="6858000"/>
                </a:cubicBezTo>
                <a:cubicBezTo>
                  <a:pt x="5037287" y="6922513"/>
                  <a:pt x="4838996" y="6801025"/>
                  <a:pt x="4604279" y="6858000"/>
                </a:cubicBezTo>
                <a:cubicBezTo>
                  <a:pt x="4369562" y="6914975"/>
                  <a:pt x="4118230" y="6808138"/>
                  <a:pt x="3969808" y="6858000"/>
                </a:cubicBezTo>
                <a:cubicBezTo>
                  <a:pt x="3821386" y="6907862"/>
                  <a:pt x="3653999" y="6844917"/>
                  <a:pt x="3544888" y="6858000"/>
                </a:cubicBezTo>
                <a:cubicBezTo>
                  <a:pt x="3435777" y="6871083"/>
                  <a:pt x="3248875" y="6848321"/>
                  <a:pt x="3067579" y="6858000"/>
                </a:cubicBezTo>
                <a:cubicBezTo>
                  <a:pt x="2886283" y="6867679"/>
                  <a:pt x="2660430" y="6855745"/>
                  <a:pt x="2485496" y="6858000"/>
                </a:cubicBezTo>
                <a:cubicBezTo>
                  <a:pt x="2310562" y="6860255"/>
                  <a:pt x="2103938" y="6813473"/>
                  <a:pt x="1955800" y="6858000"/>
                </a:cubicBezTo>
                <a:cubicBezTo>
                  <a:pt x="1807662" y="6902527"/>
                  <a:pt x="1679455" y="6835927"/>
                  <a:pt x="1426104" y="6858000"/>
                </a:cubicBezTo>
                <a:cubicBezTo>
                  <a:pt x="1172753" y="6880073"/>
                  <a:pt x="1038351" y="6848210"/>
                  <a:pt x="844021" y="6858000"/>
                </a:cubicBezTo>
                <a:cubicBezTo>
                  <a:pt x="649691" y="6867790"/>
                  <a:pt x="194392" y="6784294"/>
                  <a:pt x="0" y="6858000"/>
                </a:cubicBezTo>
                <a:cubicBezTo>
                  <a:pt x="-63492" y="6670574"/>
                  <a:pt x="6920" y="6469096"/>
                  <a:pt x="0" y="6286500"/>
                </a:cubicBezTo>
                <a:cubicBezTo>
                  <a:pt x="-6920" y="6103904"/>
                  <a:pt x="17062" y="5867340"/>
                  <a:pt x="0" y="5715000"/>
                </a:cubicBezTo>
                <a:cubicBezTo>
                  <a:pt x="-17062" y="5562660"/>
                  <a:pt x="5691" y="5367056"/>
                  <a:pt x="0" y="5212080"/>
                </a:cubicBezTo>
                <a:cubicBezTo>
                  <a:pt x="-5691" y="5057104"/>
                  <a:pt x="41790" y="4831207"/>
                  <a:pt x="0" y="4503420"/>
                </a:cubicBezTo>
                <a:cubicBezTo>
                  <a:pt x="-41790" y="4175633"/>
                  <a:pt x="32531" y="4234874"/>
                  <a:pt x="0" y="4137660"/>
                </a:cubicBezTo>
                <a:cubicBezTo>
                  <a:pt x="-32531" y="4040446"/>
                  <a:pt x="23472" y="3924329"/>
                  <a:pt x="0" y="3771900"/>
                </a:cubicBezTo>
                <a:cubicBezTo>
                  <a:pt x="-23472" y="3619471"/>
                  <a:pt x="33021" y="3510134"/>
                  <a:pt x="0" y="3406140"/>
                </a:cubicBezTo>
                <a:cubicBezTo>
                  <a:pt x="-33021" y="3302146"/>
                  <a:pt x="15341" y="2865452"/>
                  <a:pt x="0" y="2697480"/>
                </a:cubicBezTo>
                <a:cubicBezTo>
                  <a:pt x="-15341" y="2529508"/>
                  <a:pt x="24299" y="2434047"/>
                  <a:pt x="0" y="2194560"/>
                </a:cubicBezTo>
                <a:cubicBezTo>
                  <a:pt x="-24299" y="1955073"/>
                  <a:pt x="5989" y="1923466"/>
                  <a:pt x="0" y="1691640"/>
                </a:cubicBezTo>
                <a:cubicBezTo>
                  <a:pt x="-5989" y="1459814"/>
                  <a:pt x="45142" y="1296818"/>
                  <a:pt x="0" y="1188720"/>
                </a:cubicBezTo>
                <a:cubicBezTo>
                  <a:pt x="-45142" y="1080622"/>
                  <a:pt x="56848" y="581600"/>
                  <a:pt x="0" y="0"/>
                </a:cubicBezTo>
                <a:close/>
              </a:path>
              <a:path w="5238750" h="6858000" stroke="0" extrusionOk="0">
                <a:moveTo>
                  <a:pt x="0" y="0"/>
                </a:moveTo>
                <a:cubicBezTo>
                  <a:pt x="213219" y="-33041"/>
                  <a:pt x="304679" y="6226"/>
                  <a:pt x="582083" y="0"/>
                </a:cubicBezTo>
                <a:cubicBezTo>
                  <a:pt x="859487" y="-6226"/>
                  <a:pt x="915086" y="58819"/>
                  <a:pt x="1216554" y="0"/>
                </a:cubicBezTo>
                <a:cubicBezTo>
                  <a:pt x="1518022" y="-58819"/>
                  <a:pt x="1460805" y="54166"/>
                  <a:pt x="1693862" y="0"/>
                </a:cubicBezTo>
                <a:cubicBezTo>
                  <a:pt x="1926919" y="-54166"/>
                  <a:pt x="1999423" y="7212"/>
                  <a:pt x="2223558" y="0"/>
                </a:cubicBezTo>
                <a:cubicBezTo>
                  <a:pt x="2447693" y="-7212"/>
                  <a:pt x="2546934" y="28208"/>
                  <a:pt x="2753254" y="0"/>
                </a:cubicBezTo>
                <a:cubicBezTo>
                  <a:pt x="2959574" y="-28208"/>
                  <a:pt x="3118213" y="67844"/>
                  <a:pt x="3335338" y="0"/>
                </a:cubicBezTo>
                <a:cubicBezTo>
                  <a:pt x="3552463" y="-67844"/>
                  <a:pt x="3654995" y="43210"/>
                  <a:pt x="3760258" y="0"/>
                </a:cubicBezTo>
                <a:cubicBezTo>
                  <a:pt x="3865521" y="-43210"/>
                  <a:pt x="4071371" y="43556"/>
                  <a:pt x="4185179" y="0"/>
                </a:cubicBezTo>
                <a:cubicBezTo>
                  <a:pt x="4298987" y="-43556"/>
                  <a:pt x="4474520" y="48597"/>
                  <a:pt x="4662488" y="0"/>
                </a:cubicBezTo>
                <a:cubicBezTo>
                  <a:pt x="4850456" y="-48597"/>
                  <a:pt x="4962427" y="67859"/>
                  <a:pt x="5238750" y="0"/>
                </a:cubicBezTo>
                <a:cubicBezTo>
                  <a:pt x="5272525" y="225223"/>
                  <a:pt x="5221964" y="353061"/>
                  <a:pt x="5238750" y="502920"/>
                </a:cubicBezTo>
                <a:cubicBezTo>
                  <a:pt x="5255536" y="652779"/>
                  <a:pt x="5237254" y="888903"/>
                  <a:pt x="5238750" y="1211580"/>
                </a:cubicBezTo>
                <a:cubicBezTo>
                  <a:pt x="5240246" y="1534257"/>
                  <a:pt x="5160488" y="1597056"/>
                  <a:pt x="5238750" y="1920240"/>
                </a:cubicBezTo>
                <a:cubicBezTo>
                  <a:pt x="5317012" y="2243424"/>
                  <a:pt x="5236399" y="2249588"/>
                  <a:pt x="5238750" y="2560320"/>
                </a:cubicBezTo>
                <a:cubicBezTo>
                  <a:pt x="5241101" y="2871052"/>
                  <a:pt x="5203404" y="2833194"/>
                  <a:pt x="5238750" y="2926080"/>
                </a:cubicBezTo>
                <a:cubicBezTo>
                  <a:pt x="5274096" y="3018966"/>
                  <a:pt x="5221510" y="3249900"/>
                  <a:pt x="5238750" y="3360420"/>
                </a:cubicBezTo>
                <a:cubicBezTo>
                  <a:pt x="5255990" y="3470940"/>
                  <a:pt x="5218563" y="3604470"/>
                  <a:pt x="5238750" y="3794760"/>
                </a:cubicBezTo>
                <a:cubicBezTo>
                  <a:pt x="5258937" y="3985050"/>
                  <a:pt x="5215904" y="4150303"/>
                  <a:pt x="5238750" y="4297680"/>
                </a:cubicBezTo>
                <a:cubicBezTo>
                  <a:pt x="5261596" y="4445057"/>
                  <a:pt x="5217708" y="4705650"/>
                  <a:pt x="5238750" y="5006340"/>
                </a:cubicBezTo>
                <a:cubicBezTo>
                  <a:pt x="5259792" y="5307030"/>
                  <a:pt x="5194676" y="5427530"/>
                  <a:pt x="5238750" y="5646420"/>
                </a:cubicBezTo>
                <a:cubicBezTo>
                  <a:pt x="5282824" y="5865310"/>
                  <a:pt x="5202869" y="5970319"/>
                  <a:pt x="5238750" y="6217920"/>
                </a:cubicBezTo>
                <a:cubicBezTo>
                  <a:pt x="5274631" y="6465521"/>
                  <a:pt x="5188121" y="6668049"/>
                  <a:pt x="5238750" y="6858000"/>
                </a:cubicBezTo>
                <a:cubicBezTo>
                  <a:pt x="5070993" y="6919458"/>
                  <a:pt x="4866911" y="6826262"/>
                  <a:pt x="4709054" y="6858000"/>
                </a:cubicBezTo>
                <a:cubicBezTo>
                  <a:pt x="4551197" y="6889738"/>
                  <a:pt x="4265892" y="6841799"/>
                  <a:pt x="4074583" y="6858000"/>
                </a:cubicBezTo>
                <a:cubicBezTo>
                  <a:pt x="3883274" y="6874201"/>
                  <a:pt x="3643776" y="6820639"/>
                  <a:pt x="3440113" y="6858000"/>
                </a:cubicBezTo>
                <a:cubicBezTo>
                  <a:pt x="3236450" y="6895361"/>
                  <a:pt x="3006811" y="6839629"/>
                  <a:pt x="2858029" y="6858000"/>
                </a:cubicBezTo>
                <a:cubicBezTo>
                  <a:pt x="2709247" y="6876371"/>
                  <a:pt x="2597357" y="6849947"/>
                  <a:pt x="2380721" y="6858000"/>
                </a:cubicBezTo>
                <a:cubicBezTo>
                  <a:pt x="2164085" y="6866053"/>
                  <a:pt x="2032903" y="6841775"/>
                  <a:pt x="1746250" y="6858000"/>
                </a:cubicBezTo>
                <a:cubicBezTo>
                  <a:pt x="1459597" y="6874225"/>
                  <a:pt x="1320987" y="6818624"/>
                  <a:pt x="1059392" y="6858000"/>
                </a:cubicBezTo>
                <a:cubicBezTo>
                  <a:pt x="797797" y="6897376"/>
                  <a:pt x="700337" y="6857057"/>
                  <a:pt x="529696" y="6858000"/>
                </a:cubicBezTo>
                <a:cubicBezTo>
                  <a:pt x="359055" y="6858943"/>
                  <a:pt x="153457" y="6815636"/>
                  <a:pt x="0" y="6858000"/>
                </a:cubicBezTo>
                <a:cubicBezTo>
                  <a:pt x="-61410" y="6509202"/>
                  <a:pt x="58892" y="6375201"/>
                  <a:pt x="0" y="6149340"/>
                </a:cubicBezTo>
                <a:cubicBezTo>
                  <a:pt x="-58892" y="5923479"/>
                  <a:pt x="48010" y="5812337"/>
                  <a:pt x="0" y="5646420"/>
                </a:cubicBezTo>
                <a:cubicBezTo>
                  <a:pt x="-48010" y="5480503"/>
                  <a:pt x="80945" y="5266930"/>
                  <a:pt x="0" y="4937760"/>
                </a:cubicBezTo>
                <a:cubicBezTo>
                  <a:pt x="-80945" y="4608590"/>
                  <a:pt x="5240" y="4594386"/>
                  <a:pt x="0" y="4297680"/>
                </a:cubicBezTo>
                <a:cubicBezTo>
                  <a:pt x="-5240" y="4000974"/>
                  <a:pt x="78717" y="3771186"/>
                  <a:pt x="0" y="3589020"/>
                </a:cubicBezTo>
                <a:cubicBezTo>
                  <a:pt x="-78717" y="3406854"/>
                  <a:pt x="2202" y="3315073"/>
                  <a:pt x="0" y="3154680"/>
                </a:cubicBezTo>
                <a:cubicBezTo>
                  <a:pt x="-2202" y="2994287"/>
                  <a:pt x="64128" y="2771642"/>
                  <a:pt x="0" y="2583180"/>
                </a:cubicBezTo>
                <a:cubicBezTo>
                  <a:pt x="-64128" y="2394718"/>
                  <a:pt x="36821" y="2120748"/>
                  <a:pt x="0" y="1874520"/>
                </a:cubicBezTo>
                <a:cubicBezTo>
                  <a:pt x="-36821" y="1628292"/>
                  <a:pt x="32171" y="1536090"/>
                  <a:pt x="0" y="1234440"/>
                </a:cubicBezTo>
                <a:cubicBezTo>
                  <a:pt x="-32171" y="932790"/>
                  <a:pt x="11641" y="911993"/>
                  <a:pt x="0" y="662940"/>
                </a:cubicBezTo>
                <a:cubicBezTo>
                  <a:pt x="-11641" y="413887"/>
                  <a:pt x="39470" y="323586"/>
                  <a:pt x="0" y="0"/>
                </a:cubicBezTo>
                <a:close/>
              </a:path>
            </a:pathLst>
          </a:custGeom>
          <a:solidFill>
            <a:srgbClr val="000000">
              <a:alpha val="60784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340048449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8" name="Picture 2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2E5BE516-BDC0-9A35-482A-D8780579A15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2444" r="50741"/>
          <a:stretch/>
        </p:blipFill>
        <p:spPr>
          <a:xfrm>
            <a:off x="0" y="-190500"/>
            <a:ext cx="5067300" cy="7048501"/>
          </a:xfrm>
          <a:prstGeom prst="rect">
            <a:avLst/>
          </a:prstGeom>
          <a:noFill/>
          <a:effectLst>
            <a:glow rad="127000">
              <a:schemeClr val="accent1">
                <a:alpha val="0"/>
              </a:schemeClr>
            </a:glo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CD1012-1AB7-410C-8EC5-B148C80CB54F}"/>
              </a:ext>
            </a:extLst>
          </p:cNvPr>
          <p:cNvSpPr txBox="1"/>
          <p:nvPr/>
        </p:nvSpPr>
        <p:spPr>
          <a:xfrm>
            <a:off x="-85725" y="2271921"/>
            <a:ext cx="52387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FUNCTIONALITIES OF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</a:t>
            </a:r>
            <a:r>
              <a:rPr lang="en-US" sz="4400" b="1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301AA0-0C3A-FAFC-D22D-C86D08A04218}"/>
              </a:ext>
            </a:extLst>
          </p:cNvPr>
          <p:cNvSpPr/>
          <p:nvPr/>
        </p:nvSpPr>
        <p:spPr>
          <a:xfrm>
            <a:off x="5067300" y="0"/>
            <a:ext cx="7527822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C79FF1-9519-AE39-EDA7-015537F43961}"/>
              </a:ext>
            </a:extLst>
          </p:cNvPr>
          <p:cNvSpPr/>
          <p:nvPr/>
        </p:nvSpPr>
        <p:spPr>
          <a:xfrm>
            <a:off x="5715000" y="400050"/>
            <a:ext cx="6496050" cy="838200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9662C7-01D4-E627-34C5-4E79F979D299}"/>
              </a:ext>
            </a:extLst>
          </p:cNvPr>
          <p:cNvSpPr/>
          <p:nvPr/>
        </p:nvSpPr>
        <p:spPr>
          <a:xfrm>
            <a:off x="5715000" y="1657350"/>
            <a:ext cx="6496050" cy="838200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0EF1678-0463-B046-413D-025A845E11B9}"/>
              </a:ext>
            </a:extLst>
          </p:cNvPr>
          <p:cNvSpPr/>
          <p:nvPr/>
        </p:nvSpPr>
        <p:spPr>
          <a:xfrm>
            <a:off x="5715000" y="2981325"/>
            <a:ext cx="6496050" cy="838200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DC9EAEA-6B71-EAA5-EC4B-146C0AAC0683}"/>
              </a:ext>
            </a:extLst>
          </p:cNvPr>
          <p:cNvSpPr/>
          <p:nvPr/>
        </p:nvSpPr>
        <p:spPr>
          <a:xfrm>
            <a:off x="5764161" y="5553076"/>
            <a:ext cx="6477000" cy="895350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5. Sales Report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AA80417-7912-4AE4-9A94-BE3D79CDF29A}"/>
              </a:ext>
            </a:extLst>
          </p:cNvPr>
          <p:cNvSpPr/>
          <p:nvPr/>
        </p:nvSpPr>
        <p:spPr>
          <a:xfrm>
            <a:off x="5764161" y="4170589"/>
            <a:ext cx="6496050" cy="838200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📁</a:t>
            </a:r>
            <a:r>
              <a:rPr lang="fr-FR" sz="3200" dirty="0"/>
              <a:t>4. Stock Update</a:t>
            </a:r>
          </a:p>
        </p:txBody>
      </p:sp>
    </p:spTree>
    <p:extLst>
      <p:ext uri="{BB962C8B-B14F-4D97-AF65-F5344CB8AC3E}">
        <p14:creationId xmlns:p14="http://schemas.microsoft.com/office/powerpoint/2010/main" val="43773842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369A2-B0D9-E751-739B-FEAE5260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4C89A99F-C76C-5908-FE04-1139BCAE6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44DC0D-111C-8508-1CE2-3030768219D2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A9E5BC-6252-70CB-924A-58138E430B49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5EB6C2-AB38-8CB4-1F0D-C22F25D5AB08}"/>
              </a:ext>
            </a:extLst>
          </p:cNvPr>
          <p:cNvSpPr/>
          <p:nvPr/>
        </p:nvSpPr>
        <p:spPr>
          <a:xfrm>
            <a:off x="13099947" y="371475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7D5648C-E3B6-758B-EB65-8963D41EFCA1}"/>
              </a:ext>
            </a:extLst>
          </p:cNvPr>
          <p:cNvSpPr/>
          <p:nvPr/>
        </p:nvSpPr>
        <p:spPr>
          <a:xfrm>
            <a:off x="12774561" y="1526380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DF038F-F11C-E6F2-3872-A1DA32EE7A66}"/>
              </a:ext>
            </a:extLst>
          </p:cNvPr>
          <p:cNvSpPr/>
          <p:nvPr/>
        </p:nvSpPr>
        <p:spPr>
          <a:xfrm>
            <a:off x="12595122" y="2821782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F90809-EF3B-6D28-4278-112CCC782198}"/>
              </a:ext>
            </a:extLst>
          </p:cNvPr>
          <p:cNvSpPr/>
          <p:nvPr/>
        </p:nvSpPr>
        <p:spPr>
          <a:xfrm>
            <a:off x="12793611" y="4171955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0851E6F-481C-1B12-B14F-E90835DB865F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F037A-3CC0-C16C-8D32-0D1B1CD9E884}"/>
              </a:ext>
            </a:extLst>
          </p:cNvPr>
          <p:cNvSpPr/>
          <p:nvPr/>
        </p:nvSpPr>
        <p:spPr>
          <a:xfrm>
            <a:off x="491793" y="263102"/>
            <a:ext cx="1893939" cy="381000"/>
          </a:xfrm>
          <a:custGeom>
            <a:avLst/>
            <a:gdLst>
              <a:gd name="connsiteX0" fmla="*/ 0 w 1893939"/>
              <a:gd name="connsiteY0" fmla="*/ 0 h 381000"/>
              <a:gd name="connsiteX1" fmla="*/ 1893939 w 1893939"/>
              <a:gd name="connsiteY1" fmla="*/ 0 h 381000"/>
              <a:gd name="connsiteX2" fmla="*/ 1893939 w 1893939"/>
              <a:gd name="connsiteY2" fmla="*/ 381000 h 381000"/>
              <a:gd name="connsiteX3" fmla="*/ 0 w 1893939"/>
              <a:gd name="connsiteY3" fmla="*/ 381000 h 381000"/>
              <a:gd name="connsiteX4" fmla="*/ 0 w 1893939"/>
              <a:gd name="connsiteY4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3939" h="381000" fill="none" extrusionOk="0">
                <a:moveTo>
                  <a:pt x="0" y="0"/>
                </a:moveTo>
                <a:cubicBezTo>
                  <a:pt x="722265" y="108538"/>
                  <a:pt x="1364443" y="168304"/>
                  <a:pt x="1893939" y="0"/>
                </a:cubicBezTo>
                <a:cubicBezTo>
                  <a:pt x="1892697" y="100929"/>
                  <a:pt x="1880744" y="269715"/>
                  <a:pt x="1893939" y="381000"/>
                </a:cubicBezTo>
                <a:cubicBezTo>
                  <a:pt x="1365035" y="231018"/>
                  <a:pt x="194895" y="550573"/>
                  <a:pt x="0" y="381000"/>
                </a:cubicBezTo>
                <a:cubicBezTo>
                  <a:pt x="-30799" y="275652"/>
                  <a:pt x="-20420" y="60318"/>
                  <a:pt x="0" y="0"/>
                </a:cubicBezTo>
                <a:close/>
              </a:path>
              <a:path w="1893939" h="381000" stroke="0" extrusionOk="0">
                <a:moveTo>
                  <a:pt x="0" y="0"/>
                </a:moveTo>
                <a:cubicBezTo>
                  <a:pt x="536384" y="-147475"/>
                  <a:pt x="1558543" y="-72814"/>
                  <a:pt x="1893939" y="0"/>
                </a:cubicBezTo>
                <a:cubicBezTo>
                  <a:pt x="1923212" y="125867"/>
                  <a:pt x="1918671" y="202330"/>
                  <a:pt x="1893939" y="381000"/>
                </a:cubicBezTo>
                <a:cubicBezTo>
                  <a:pt x="1388203" y="445807"/>
                  <a:pt x="830533" y="323245"/>
                  <a:pt x="0" y="381000"/>
                </a:cubicBezTo>
                <a:cubicBezTo>
                  <a:pt x="-18064" y="333574"/>
                  <a:pt x="9843" y="42183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59519925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STARTING……….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3E01B2-68B2-F98F-110A-D57F909C53F7}"/>
              </a:ext>
            </a:extLst>
          </p:cNvPr>
          <p:cNvSpPr/>
          <p:nvPr/>
        </p:nvSpPr>
        <p:spPr>
          <a:xfrm>
            <a:off x="4663144" y="1"/>
            <a:ext cx="7951319" cy="6858000"/>
          </a:xfrm>
          <a:prstGeom prst="rect">
            <a:avLst/>
          </a:prstGeom>
          <a:solidFill>
            <a:schemeClr val="accent6">
              <a:lumMod val="50000"/>
              <a:alpha val="20000"/>
            </a:schemeClr>
          </a:solidFill>
          <a:ln>
            <a:solidFill>
              <a:schemeClr val="bg1">
                <a:alpha val="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482772B-CDB8-A8FF-FF6A-03094854B3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70" y="921912"/>
            <a:ext cx="3244574" cy="5766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73B677-3BA8-D26B-ABB5-ED24064D2AC1}"/>
              </a:ext>
            </a:extLst>
          </p:cNvPr>
          <p:cNvCxnSpPr>
            <a:cxnSpLocks/>
          </p:cNvCxnSpPr>
          <p:nvPr/>
        </p:nvCxnSpPr>
        <p:spPr>
          <a:xfrm>
            <a:off x="2371725" y="1945480"/>
            <a:ext cx="225742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71642D-BBE0-B420-1630-235458E26EA8}"/>
              </a:ext>
            </a:extLst>
          </p:cNvPr>
          <p:cNvSpPr/>
          <p:nvPr/>
        </p:nvSpPr>
        <p:spPr>
          <a:xfrm>
            <a:off x="4629150" y="1802605"/>
            <a:ext cx="4414838" cy="561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1" dirty="0"/>
              <a:t>Used for string manipulation functions like strcmp() and strcpy() which are essential for login verification and managing item names.</a:t>
            </a:r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E666A02-C7BC-3670-7871-05BF7129C912}"/>
              </a:ext>
            </a:extLst>
          </p:cNvPr>
          <p:cNvSpPr/>
          <p:nvPr/>
        </p:nvSpPr>
        <p:spPr>
          <a:xfrm>
            <a:off x="2214563" y="2157413"/>
            <a:ext cx="257942" cy="811632"/>
          </a:xfrm>
          <a:prstGeom prst="rightBrac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B9925E4-2F89-2D01-468C-F5347C3E6D9A}"/>
              </a:ext>
            </a:extLst>
          </p:cNvPr>
          <p:cNvSpPr/>
          <p:nvPr/>
        </p:nvSpPr>
        <p:spPr>
          <a:xfrm>
            <a:off x="4629150" y="2697956"/>
            <a:ext cx="4414838" cy="11930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/>
              <a:t>Represents a product/item in the store.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/>
              <a:t>id</a:t>
            </a:r>
            <a:r>
              <a:rPr lang="en-US" sz="1200" i="1" dirty="0"/>
              <a:t>: Unique identifier for the item.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/>
              <a:t>name: </a:t>
            </a:r>
            <a:r>
              <a:rPr lang="en-US" sz="1200" i="1" dirty="0"/>
              <a:t>Product name (e.g., "Rice", "Soap").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/>
              <a:t>quantity</a:t>
            </a:r>
            <a:r>
              <a:rPr lang="en-US" sz="1200" i="1" dirty="0"/>
              <a:t>: Current stock available.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/>
              <a:t>price</a:t>
            </a:r>
            <a:r>
              <a:rPr lang="en-US" sz="1200" i="1" dirty="0"/>
              <a:t>: Unit price of the item.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3DB9E564-88E5-3409-D1C8-F48FCDC88768}"/>
              </a:ext>
            </a:extLst>
          </p:cNvPr>
          <p:cNvSpPr/>
          <p:nvPr/>
        </p:nvSpPr>
        <p:spPr>
          <a:xfrm>
            <a:off x="2214563" y="3135086"/>
            <a:ext cx="257942" cy="608608"/>
          </a:xfrm>
          <a:prstGeom prst="rightBrac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7B5BA05-B93E-AA7B-00D0-907417999F4B}"/>
              </a:ext>
            </a:extLst>
          </p:cNvPr>
          <p:cNvSpPr/>
          <p:nvPr/>
        </p:nvSpPr>
        <p:spPr>
          <a:xfrm>
            <a:off x="4629150" y="4171955"/>
            <a:ext cx="4414838" cy="8870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Temporarily stores a customer's selected items during billing.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Helps track item ID and quantity for VAT calculation and bill printing</a:t>
            </a:r>
            <a:r>
              <a:rPr lang="en-US" sz="1400" dirty="0"/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876FF0-7C1A-4758-110C-C231132BA6AA}"/>
              </a:ext>
            </a:extLst>
          </p:cNvPr>
          <p:cNvSpPr txBox="1"/>
          <p:nvPr/>
        </p:nvSpPr>
        <p:spPr>
          <a:xfrm>
            <a:off x="5936071" y="1445270"/>
            <a:ext cx="226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#include &lt;string.h&gt;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DCA782-C5CC-4351-E70E-81A7E8FF3636}"/>
              </a:ext>
            </a:extLst>
          </p:cNvPr>
          <p:cNvSpPr txBox="1"/>
          <p:nvPr/>
        </p:nvSpPr>
        <p:spPr>
          <a:xfrm>
            <a:off x="5940565" y="2383361"/>
            <a:ext cx="3244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typedef struct item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1A91E6-12E5-88CD-0C76-1767B40AF06B}"/>
              </a:ext>
            </a:extLst>
          </p:cNvPr>
          <p:cNvSpPr txBox="1"/>
          <p:nvPr/>
        </p:nvSpPr>
        <p:spPr>
          <a:xfrm>
            <a:off x="5518354" y="3890962"/>
            <a:ext cx="2636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typedef struct cart</a:t>
            </a: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B6459046-F2FD-8D6C-1D45-E465A7B10C91}"/>
              </a:ext>
            </a:extLst>
          </p:cNvPr>
          <p:cNvSpPr/>
          <p:nvPr/>
        </p:nvSpPr>
        <p:spPr>
          <a:xfrm>
            <a:off x="2293067" y="3823840"/>
            <a:ext cx="392046" cy="313584"/>
          </a:xfrm>
          <a:prstGeom prst="rightBrace">
            <a:avLst>
              <a:gd name="adj1" fmla="val 8333"/>
              <a:gd name="adj2" fmla="val 74300"/>
            </a:avLst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2AF53B6-9C06-4C69-630D-AA69E1F7DE2F}"/>
              </a:ext>
            </a:extLst>
          </p:cNvPr>
          <p:cNvCxnSpPr>
            <a:cxnSpLocks/>
          </p:cNvCxnSpPr>
          <p:nvPr/>
        </p:nvCxnSpPr>
        <p:spPr>
          <a:xfrm>
            <a:off x="2685113" y="4068890"/>
            <a:ext cx="2031470" cy="1867198"/>
          </a:xfrm>
          <a:prstGeom prst="bentConnector3">
            <a:avLst>
              <a:gd name="adj1" fmla="val 36425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B1C2581-5DFB-D66C-2686-A05D0113D000}"/>
              </a:ext>
            </a:extLst>
          </p:cNvPr>
          <p:cNvCxnSpPr>
            <a:cxnSpLocks/>
          </p:cNvCxnSpPr>
          <p:nvPr/>
        </p:nvCxnSpPr>
        <p:spPr>
          <a:xfrm>
            <a:off x="2543962" y="3437359"/>
            <a:ext cx="2101164" cy="1276661"/>
          </a:xfrm>
          <a:prstGeom prst="bentConnector3">
            <a:avLst>
              <a:gd name="adj1" fmla="val 61053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F106B6E-4D4B-2BA6-00CD-7435AEF231F1}"/>
              </a:ext>
            </a:extLst>
          </p:cNvPr>
          <p:cNvCxnSpPr>
            <a:cxnSpLocks/>
          </p:cNvCxnSpPr>
          <p:nvPr/>
        </p:nvCxnSpPr>
        <p:spPr>
          <a:xfrm>
            <a:off x="2472505" y="2563910"/>
            <a:ext cx="2092427" cy="771056"/>
          </a:xfrm>
          <a:prstGeom prst="bentConnector3">
            <a:avLst>
              <a:gd name="adj1" fmla="val 76359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8F781B0-11E1-79F8-1747-DF54A3AC19D7}"/>
              </a:ext>
            </a:extLst>
          </p:cNvPr>
          <p:cNvSpPr/>
          <p:nvPr/>
        </p:nvSpPr>
        <p:spPr>
          <a:xfrm>
            <a:off x="4716583" y="5467357"/>
            <a:ext cx="4327405" cy="11002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inventory[]: Acts as the main database for stock.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sold[]: Records each sale transaction for daily reports.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FD9300-03C4-A58C-CB41-350E09CC3247}"/>
              </a:ext>
            </a:extLst>
          </p:cNvPr>
          <p:cNvSpPr txBox="1"/>
          <p:nvPr/>
        </p:nvSpPr>
        <p:spPr>
          <a:xfrm>
            <a:off x="6436270" y="5092703"/>
            <a:ext cx="1785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Arrays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906D70-CDE8-590E-4632-28D258560770}"/>
              </a:ext>
            </a:extLst>
          </p:cNvPr>
          <p:cNvSpPr txBox="1"/>
          <p:nvPr/>
        </p:nvSpPr>
        <p:spPr>
          <a:xfrm>
            <a:off x="9078569" y="466329"/>
            <a:ext cx="3847833" cy="3260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int itemCount = 0;</a:t>
            </a:r>
            <a:r>
              <a:rPr lang="en-US" sz="800" dirty="0">
                <a:solidFill>
                  <a:srgbClr val="FFFF00"/>
                </a:solidFill>
              </a:rPr>
              <a:t>               Tracks how many items are in inventory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int saleCount = 0;   </a:t>
            </a:r>
            <a:r>
              <a:rPr lang="en-US" sz="800" dirty="0">
                <a:solidFill>
                  <a:srgbClr val="FFFF00"/>
                </a:solidFill>
              </a:rPr>
              <a:t>  Tracks total number of individual sold entries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float totalSales = 0;                 </a:t>
            </a:r>
            <a:r>
              <a:rPr lang="en-US" sz="800" dirty="0">
                <a:solidFill>
                  <a:srgbClr val="FFFF00"/>
                </a:solidFill>
              </a:rPr>
              <a:t>  Accumulates total revenue with Vat 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int login();                                                                    </a:t>
            </a:r>
            <a:r>
              <a:rPr lang="en-US" sz="800" dirty="0">
                <a:solidFill>
                  <a:srgbClr val="FFFF00"/>
                </a:solidFill>
              </a:rPr>
              <a:t>Handles secure login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int loggedIn = 0;                                            </a:t>
            </a:r>
            <a:r>
              <a:rPr lang="en-US" sz="800" dirty="0">
                <a:solidFill>
                  <a:srgbClr val="FFFF00"/>
                </a:solidFill>
              </a:rPr>
              <a:t>Status flag for login session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int isUnique(int id);                         </a:t>
            </a:r>
            <a:r>
              <a:rPr lang="en-US" sz="800" dirty="0">
                <a:solidFill>
                  <a:srgbClr val="FFFF00"/>
                </a:solidFill>
              </a:rPr>
              <a:t> Ensures no duplicate product IDs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int findIndex(int id);                                </a:t>
            </a:r>
            <a:r>
              <a:rPr lang="en-US" sz="800" dirty="0">
                <a:solidFill>
                  <a:srgbClr val="FFFF00"/>
                </a:solidFill>
              </a:rPr>
              <a:t> Finds index of a product by ID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void add();                                                </a:t>
            </a:r>
            <a:r>
              <a:rPr lang="en-US" sz="800" dirty="0">
                <a:solidFill>
                  <a:srgbClr val="FFFF00"/>
                </a:solidFill>
              </a:rPr>
              <a:t> Adds new product to inventory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void update();                                           </a:t>
            </a:r>
            <a:r>
              <a:rPr lang="en-US" sz="800" dirty="0">
                <a:solidFill>
                  <a:srgbClr val="FFFF00"/>
                </a:solidFill>
              </a:rPr>
              <a:t> Updates existing product info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void display();                                              </a:t>
            </a:r>
            <a:r>
              <a:rPr lang="en-US" sz="800" dirty="0">
                <a:solidFill>
                  <a:srgbClr val="FFFF00"/>
                </a:solidFill>
              </a:rPr>
              <a:t> Shows all items in inventory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void inventoryManagment();                    </a:t>
            </a:r>
            <a:r>
              <a:rPr lang="en-US" sz="800" dirty="0">
                <a:solidFill>
                  <a:srgbClr val="FFFF00"/>
                </a:solidFill>
              </a:rPr>
              <a:t>Menu to manage inventory</a:t>
            </a:r>
          </a:p>
          <a:p>
            <a:pPr>
              <a:lnSpc>
                <a:spcPct val="200000"/>
              </a:lnSpc>
            </a:pPr>
            <a:r>
              <a:rPr lang="en-US" sz="800" dirty="0">
                <a:solidFill>
                  <a:schemeClr val="bg1"/>
                </a:solidFill>
              </a:rPr>
              <a:t>void customerBilling();              </a:t>
            </a:r>
            <a:r>
              <a:rPr lang="en-US" sz="800" dirty="0">
                <a:solidFill>
                  <a:srgbClr val="FFFF00"/>
                </a:solidFill>
              </a:rPr>
              <a:t> Handles billing and VAT calculation</a:t>
            </a:r>
          </a:p>
          <a:p>
            <a:pPr>
              <a:lnSpc>
                <a:spcPct val="200000"/>
              </a:lnSpc>
            </a:pP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68" name="Picture 67" descr="A person holding a white card&#10;&#10;AI-generated content may be incorrect.">
            <a:extLst>
              <a:ext uri="{FF2B5EF4-FFF2-40B4-BE49-F238E27FC236}">
                <a16:creationId xmlns:a16="http://schemas.microsoft.com/office/drawing/2014/main" id="{DEEFDD39-DC34-66DE-988C-E4FE7857EE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69" y="3678764"/>
            <a:ext cx="3443062" cy="3198017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84E7374-0B75-D8FC-40C8-90C18E16A1D2}"/>
              </a:ext>
            </a:extLst>
          </p:cNvPr>
          <p:cNvSpPr txBox="1"/>
          <p:nvPr/>
        </p:nvSpPr>
        <p:spPr>
          <a:xfrm rot="21355854">
            <a:off x="9501585" y="4547548"/>
            <a:ext cx="14528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                        Summary</a:t>
            </a:r>
          </a:p>
          <a:p>
            <a:r>
              <a:rPr lang="en-US" sz="800" dirty="0"/>
              <a:t>These declarations form the foundation of the billing system, handling: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Inventory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Real-time stock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Secure access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Customer interaction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Sales record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B4C6B-F618-C99E-FC64-FE818E5544B7}"/>
              </a:ext>
            </a:extLst>
          </p:cNvPr>
          <p:cNvSpPr txBox="1"/>
          <p:nvPr/>
        </p:nvSpPr>
        <p:spPr>
          <a:xfrm>
            <a:off x="4716583" y="371475"/>
            <a:ext cx="405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GLOBAL VARIABLE</a:t>
            </a:r>
          </a:p>
        </p:txBody>
      </p:sp>
    </p:spTree>
    <p:extLst>
      <p:ext uri="{BB962C8B-B14F-4D97-AF65-F5344CB8AC3E}">
        <p14:creationId xmlns:p14="http://schemas.microsoft.com/office/powerpoint/2010/main" val="1722151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FADE-B27B-962E-36DA-7D6995A8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E7F51AA1-633E-92B1-B7CD-B29DEE86F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9A88687-1349-5BAE-C8E5-B8824BE4411B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BFEFDF-3936-F74D-270D-E5637DE50CA2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EFAB12-6004-C0BD-1AAF-055BE5FC272B}"/>
              </a:ext>
            </a:extLst>
          </p:cNvPr>
          <p:cNvSpPr/>
          <p:nvPr/>
        </p:nvSpPr>
        <p:spPr>
          <a:xfrm>
            <a:off x="3454502" y="-1899776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F93670C-CD82-76FB-F7C4-72EFB882C860}"/>
              </a:ext>
            </a:extLst>
          </p:cNvPr>
          <p:cNvSpPr/>
          <p:nvPr/>
        </p:nvSpPr>
        <p:spPr>
          <a:xfrm>
            <a:off x="2191288" y="-1966451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E4B43E-DDE8-D5E1-6082-762AFB50568B}"/>
              </a:ext>
            </a:extLst>
          </p:cNvPr>
          <p:cNvSpPr/>
          <p:nvPr/>
        </p:nvSpPr>
        <p:spPr>
          <a:xfrm>
            <a:off x="3041010" y="-1899776"/>
            <a:ext cx="4796606" cy="774913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30B5676-AF93-6702-2D65-8DB94A350EBC}"/>
              </a:ext>
            </a:extLst>
          </p:cNvPr>
          <p:cNvSpPr/>
          <p:nvPr/>
        </p:nvSpPr>
        <p:spPr>
          <a:xfrm>
            <a:off x="2673990" y="-1953538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F38EDF-52B7-6809-EF2A-93BA7B110AA6}"/>
              </a:ext>
            </a:extLst>
          </p:cNvPr>
          <p:cNvSpPr/>
          <p:nvPr/>
        </p:nvSpPr>
        <p:spPr>
          <a:xfrm>
            <a:off x="5439313" y="791183"/>
            <a:ext cx="5493533" cy="729889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MAIN FUNCTION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3A0B5F0-4740-4ADD-AD48-3126C1433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31" y="435271"/>
            <a:ext cx="3516690" cy="62502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4E21AF9-9344-1526-A486-CE34EF832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01" y="2040666"/>
            <a:ext cx="6096931" cy="4229085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7244D2-C2E3-4867-4E54-C543F60F6B48}"/>
              </a:ext>
            </a:extLst>
          </p:cNvPr>
          <p:cNvSpPr txBox="1"/>
          <p:nvPr/>
        </p:nvSpPr>
        <p:spPr>
          <a:xfrm>
            <a:off x="5615321" y="2605453"/>
            <a:ext cx="63064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u="sng" dirty="0">
                <a:solidFill>
                  <a:srgbClr val="69B96C"/>
                </a:solidFill>
              </a:rPr>
              <a:t>Super shop grocery billing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F7595-3429-8411-A5DA-7FA84C9F32C5}"/>
              </a:ext>
            </a:extLst>
          </p:cNvPr>
          <p:cNvSpPr txBox="1"/>
          <p:nvPr/>
        </p:nvSpPr>
        <p:spPr>
          <a:xfrm>
            <a:off x="5912490" y="2924049"/>
            <a:ext cx="6307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srgbClr val="69B96C"/>
                </a:solidFill>
              </a:rPr>
              <a:t>MAIN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21E3EE-DE01-B412-B8F8-93B1FECCD37B}"/>
              </a:ext>
            </a:extLst>
          </p:cNvPr>
          <p:cNvSpPr txBox="1"/>
          <p:nvPr/>
        </p:nvSpPr>
        <p:spPr>
          <a:xfrm>
            <a:off x="6229012" y="3275111"/>
            <a:ext cx="6311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rgbClr val="69B96C"/>
                </a:solidFill>
              </a:rPr>
              <a:t>EXPLAINATION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21BB8C-3ED9-5348-8F97-3278FD6C1327}"/>
              </a:ext>
            </a:extLst>
          </p:cNvPr>
          <p:cNvSpPr txBox="1"/>
          <p:nvPr/>
        </p:nvSpPr>
        <p:spPr>
          <a:xfrm>
            <a:off x="6297561" y="3825240"/>
            <a:ext cx="42713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The while (1) loop keeps the system running continuously until the user selects "4. Exit".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The switch statement handles different operations based on the user's menu input: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1 for inventory functions.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2 for billing with VAT.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3 for showing daily sales.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4 to exit.</a:t>
            </a:r>
          </a:p>
        </p:txBody>
      </p:sp>
    </p:spTree>
    <p:extLst>
      <p:ext uri="{BB962C8B-B14F-4D97-AF65-F5344CB8AC3E}">
        <p14:creationId xmlns:p14="http://schemas.microsoft.com/office/powerpoint/2010/main" val="3750417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AD23D-B55F-9D1D-A230-89E46609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6084B173-EA83-C8C0-6458-8AA79BBC2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68DEDF-F90C-DCDA-6E28-D8AB64740AA3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1F2AE6-DD17-36D7-C7C3-C81B3BEFFB67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5732D0-BED9-C61E-A8D3-8E136F9EDFFB}"/>
              </a:ext>
            </a:extLst>
          </p:cNvPr>
          <p:cNvSpPr/>
          <p:nvPr/>
        </p:nvSpPr>
        <p:spPr>
          <a:xfrm>
            <a:off x="3454502" y="-1899776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7FF27B-D04D-F641-1A2E-F82D42F05D44}"/>
              </a:ext>
            </a:extLst>
          </p:cNvPr>
          <p:cNvSpPr/>
          <p:nvPr/>
        </p:nvSpPr>
        <p:spPr>
          <a:xfrm>
            <a:off x="2191288" y="-1966451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5A301D-BF53-EC41-C19F-91C071A3ED2F}"/>
              </a:ext>
            </a:extLst>
          </p:cNvPr>
          <p:cNvSpPr/>
          <p:nvPr/>
        </p:nvSpPr>
        <p:spPr>
          <a:xfrm>
            <a:off x="3041010" y="-1899776"/>
            <a:ext cx="4796606" cy="774913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CB8594C-DE4C-2903-BD95-C713DE5ABE34}"/>
              </a:ext>
            </a:extLst>
          </p:cNvPr>
          <p:cNvSpPr/>
          <p:nvPr/>
        </p:nvSpPr>
        <p:spPr>
          <a:xfrm>
            <a:off x="2673990" y="-1953538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1B05DC4-A7FA-0876-16A9-693672D89D1E}"/>
              </a:ext>
            </a:extLst>
          </p:cNvPr>
          <p:cNvSpPr/>
          <p:nvPr/>
        </p:nvSpPr>
        <p:spPr>
          <a:xfrm>
            <a:off x="0" y="300037"/>
            <a:ext cx="4286250" cy="15287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int isUnique(int id)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D3C81-004B-18C3-2AD2-EEFEAEFD4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6" y="2128837"/>
            <a:ext cx="5736732" cy="41387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0A393E-C747-6957-365F-8DED00C2C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004" y="862504"/>
            <a:ext cx="5410627" cy="37530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FD3E46-BDE6-E3E0-5D1D-062E23545801}"/>
              </a:ext>
            </a:extLst>
          </p:cNvPr>
          <p:cNvSpPr txBox="1"/>
          <p:nvPr/>
        </p:nvSpPr>
        <p:spPr>
          <a:xfrm>
            <a:off x="7689435" y="2338912"/>
            <a:ext cx="31786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79CB7B"/>
                </a:solidFill>
                <a:latin typeface="Arial Black" panose="020B0A04020102020204" pitchFamily="34" charset="0"/>
              </a:rPr>
              <a:t>Checks if the given id exists in the inventory array.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4377EB7-3B85-BC8A-A4CC-2C491B744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338" y="2475258"/>
            <a:ext cx="36718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Returns 1 if unique (not found), otherwise returns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57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7154-A1D8-A3A9-E594-807AB7AB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05C9BD87-D223-EF97-CB5F-4E76659DD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A9CA82-7C9E-D03C-828E-3DBAC0118419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1FED61-ABD2-C62D-A2CA-6CD7156A431C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0E310F-4643-FCD2-61BE-5883680D1A61}"/>
              </a:ext>
            </a:extLst>
          </p:cNvPr>
          <p:cNvSpPr/>
          <p:nvPr/>
        </p:nvSpPr>
        <p:spPr>
          <a:xfrm>
            <a:off x="3454502" y="-1899776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5E4D9AE-4818-FCF0-83D2-4451A1673257}"/>
              </a:ext>
            </a:extLst>
          </p:cNvPr>
          <p:cNvSpPr/>
          <p:nvPr/>
        </p:nvSpPr>
        <p:spPr>
          <a:xfrm>
            <a:off x="2191288" y="-1966451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134723-85C6-5C16-384C-7FE3396CB22C}"/>
              </a:ext>
            </a:extLst>
          </p:cNvPr>
          <p:cNvSpPr/>
          <p:nvPr/>
        </p:nvSpPr>
        <p:spPr>
          <a:xfrm>
            <a:off x="3041010" y="-1899776"/>
            <a:ext cx="4796606" cy="774913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665E07-6BCD-3EF3-C321-ED3A5BDA440F}"/>
              </a:ext>
            </a:extLst>
          </p:cNvPr>
          <p:cNvSpPr/>
          <p:nvPr/>
        </p:nvSpPr>
        <p:spPr>
          <a:xfrm>
            <a:off x="2673990" y="-1953538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EC87415-DDB7-0798-DE99-B891CB42FEF1}"/>
              </a:ext>
            </a:extLst>
          </p:cNvPr>
          <p:cNvSpPr/>
          <p:nvPr/>
        </p:nvSpPr>
        <p:spPr>
          <a:xfrm>
            <a:off x="0" y="300037"/>
            <a:ext cx="4286250" cy="15287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int findIndex(int id)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C9CB2-3B03-81D5-FC00-9DD0174BF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40" y="1828800"/>
            <a:ext cx="6292034" cy="45393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E00775-7A58-71FE-391E-7E25C648B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834" y="1435737"/>
            <a:ext cx="5410627" cy="37530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33F4C3F-6E73-C917-18AF-73319100D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6314" y="2950188"/>
            <a:ext cx="37338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Searches the inventory array for the given id.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b="1" dirty="0">
              <a:solidFill>
                <a:srgbClr val="79CB7B"/>
              </a:solidFill>
              <a:latin typeface="Arial Black" panose="020B0A040201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79CB7B"/>
              </a:solidFill>
              <a:effectLst/>
              <a:latin typeface="Arial Black" panose="020B0A040201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Returns the index if found, otherwise returns -1 if not found.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79CB7B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923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359C-DC97-100E-0C30-F6EE8BFD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EE319AF8-097E-2D7F-517F-8805C0981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91469E-6532-38B0-F8BE-A92F6310934F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BB54B4-340F-DC39-B941-9FAA55C04315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4C458B-8FFE-1BF3-B097-F4C8322DA532}"/>
              </a:ext>
            </a:extLst>
          </p:cNvPr>
          <p:cNvSpPr/>
          <p:nvPr/>
        </p:nvSpPr>
        <p:spPr>
          <a:xfrm>
            <a:off x="7308724" y="828674"/>
            <a:ext cx="3928530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FF54D3-C2CB-1814-501E-AF1EF77D616D}"/>
              </a:ext>
            </a:extLst>
          </p:cNvPr>
          <p:cNvSpPr/>
          <p:nvPr/>
        </p:nvSpPr>
        <p:spPr>
          <a:xfrm>
            <a:off x="12749365" y="619118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78CB3DD-C201-FBE6-899B-09CD64BE69E9}"/>
              </a:ext>
            </a:extLst>
          </p:cNvPr>
          <p:cNvSpPr/>
          <p:nvPr/>
        </p:nvSpPr>
        <p:spPr>
          <a:xfrm>
            <a:off x="12595122" y="2821782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293E317-23BA-DB34-383D-4653C357DC95}"/>
              </a:ext>
            </a:extLst>
          </p:cNvPr>
          <p:cNvSpPr/>
          <p:nvPr/>
        </p:nvSpPr>
        <p:spPr>
          <a:xfrm>
            <a:off x="12793611" y="4171955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FB5055-D6ED-047F-66E0-82CEC8153134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17" name="Picture 1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AD02407-A2DB-5696-D150-738A5AB06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9385" y="1214437"/>
            <a:ext cx="2993111" cy="5319720"/>
          </a:xfrm>
          <a:prstGeom prst="rect">
            <a:avLst/>
          </a:prstGeom>
        </p:spPr>
      </p:pic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621E344F-EAF0-C1B3-DAA2-3936E91F18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94" y="619118"/>
            <a:ext cx="6464319" cy="48482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9738037-81BF-49B0-8E4A-0E8F165082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257" y="2146388"/>
            <a:ext cx="5223743" cy="3623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F5E843-0ACD-AA4F-66A7-1343D8960A02}"/>
              </a:ext>
            </a:extLst>
          </p:cNvPr>
          <p:cNvSpPr txBox="1"/>
          <p:nvPr/>
        </p:nvSpPr>
        <p:spPr>
          <a:xfrm>
            <a:off x="7166249" y="2621727"/>
            <a:ext cx="333089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solidFill>
                  <a:srgbClr val="69B96C"/>
                </a:solidFill>
              </a:rPr>
              <a:t>Super shop grocery billing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FDC8E-1427-EC94-0455-955BAF50A7B8}"/>
              </a:ext>
            </a:extLst>
          </p:cNvPr>
          <p:cNvSpPr txBox="1"/>
          <p:nvPr/>
        </p:nvSpPr>
        <p:spPr>
          <a:xfrm>
            <a:off x="7830643" y="2892410"/>
            <a:ext cx="25579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u="sng" dirty="0">
                <a:solidFill>
                  <a:srgbClr val="69B96C"/>
                </a:solidFill>
              </a:rPr>
              <a:t>Login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462C37-041E-AF8C-DA19-D35ACF68217D}"/>
              </a:ext>
            </a:extLst>
          </p:cNvPr>
          <p:cNvSpPr txBox="1"/>
          <p:nvPr/>
        </p:nvSpPr>
        <p:spPr>
          <a:xfrm>
            <a:off x="7792816" y="3198323"/>
            <a:ext cx="33308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u="sng" dirty="0">
                <a:solidFill>
                  <a:srgbClr val="69B96C"/>
                </a:solidFill>
              </a:rPr>
              <a:t>EXPLAINATION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820AEC-9BB2-35CC-0F94-BA3065023CF4}"/>
              </a:ext>
            </a:extLst>
          </p:cNvPr>
          <p:cNvSpPr txBox="1"/>
          <p:nvPr/>
        </p:nvSpPr>
        <p:spPr>
          <a:xfrm>
            <a:off x="7830643" y="3629210"/>
            <a:ext cx="3519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9B96C"/>
                </a:solidFill>
              </a:rPr>
              <a:t>Ensures only authorized users (admin) can access inventory functions.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6A213-A3F7-4634-2D82-7347D7A23505}"/>
              </a:ext>
            </a:extLst>
          </p:cNvPr>
          <p:cNvSpPr txBox="1"/>
          <p:nvPr/>
        </p:nvSpPr>
        <p:spPr>
          <a:xfrm>
            <a:off x="7830643" y="4171955"/>
            <a:ext cx="3091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9B96C"/>
                </a:solidFill>
              </a:rPr>
              <a:t>Uses string comparison and a fixed PIN for authentication.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19D433-7713-25E7-D758-B21C8A687758}"/>
              </a:ext>
            </a:extLst>
          </p:cNvPr>
          <p:cNvSpPr txBox="1"/>
          <p:nvPr/>
        </p:nvSpPr>
        <p:spPr>
          <a:xfrm>
            <a:off x="7827821" y="4713024"/>
            <a:ext cx="3091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9B96C"/>
                </a:solidFill>
              </a:rPr>
              <a:t>Improves system security by preventing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1770991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A853-48DB-38BD-6FAE-06BAB1EF3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9AB4EC66-6122-9839-863D-0C6F95BEE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C1DB13-1C83-05F4-3601-B8A35F14A071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AE23EA-2270-CA66-4108-85367E473817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u="sng" dirty="0">
              <a:solidFill>
                <a:srgbClr val="69B96C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1D0DD1-C740-71F8-6D8C-B13EBC134F4F}"/>
              </a:ext>
            </a:extLst>
          </p:cNvPr>
          <p:cNvSpPr/>
          <p:nvPr/>
        </p:nvSpPr>
        <p:spPr>
          <a:xfrm>
            <a:off x="1703513" y="-1343025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C75D42-BD1C-EF42-B7E3-817353BDFEB6}"/>
              </a:ext>
            </a:extLst>
          </p:cNvPr>
          <p:cNvSpPr/>
          <p:nvPr/>
        </p:nvSpPr>
        <p:spPr>
          <a:xfrm>
            <a:off x="6778501" y="987755"/>
            <a:ext cx="5542935" cy="771525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D006F8-F648-76A5-30DE-B6A4D950D1CC}"/>
              </a:ext>
            </a:extLst>
          </p:cNvPr>
          <p:cNvSpPr/>
          <p:nvPr/>
        </p:nvSpPr>
        <p:spPr>
          <a:xfrm>
            <a:off x="12774561" y="445370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6692A3-5ACA-1FD3-D60E-D5ADD296328D}"/>
              </a:ext>
            </a:extLst>
          </p:cNvPr>
          <p:cNvSpPr/>
          <p:nvPr/>
        </p:nvSpPr>
        <p:spPr>
          <a:xfrm>
            <a:off x="12793611" y="4171955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8A04DC-384A-7DFF-6360-42FB87E66E9E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D9AE848-F49F-393B-43A9-93D88215E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85386" y="1861992"/>
            <a:ext cx="5179141" cy="3884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2C81737-8C4C-C767-BE3E-5C6391C9C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293" y="2171516"/>
            <a:ext cx="5544143" cy="38456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5D428A-0908-5BDD-FBAF-F94BD88A99FC}"/>
              </a:ext>
            </a:extLst>
          </p:cNvPr>
          <p:cNvSpPr txBox="1"/>
          <p:nvPr/>
        </p:nvSpPr>
        <p:spPr>
          <a:xfrm>
            <a:off x="7041842" y="2716217"/>
            <a:ext cx="1271905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u="sng" dirty="0">
                <a:solidFill>
                  <a:srgbClr val="69B96C"/>
                </a:solidFill>
              </a:rPr>
              <a:t>Super shop grocery billing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ED0D53-09E3-FB61-4ED0-8B88AF5B24A5}"/>
              </a:ext>
            </a:extLst>
          </p:cNvPr>
          <p:cNvSpPr txBox="1"/>
          <p:nvPr/>
        </p:nvSpPr>
        <p:spPr>
          <a:xfrm>
            <a:off x="7363936" y="2984186"/>
            <a:ext cx="128793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u="sng" dirty="0">
                <a:solidFill>
                  <a:srgbClr val="69B96C"/>
                </a:solidFill>
              </a:rPr>
              <a:t>Inventory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96B154-C18F-51A2-6401-DB48E63FB314}"/>
              </a:ext>
            </a:extLst>
          </p:cNvPr>
          <p:cNvSpPr txBox="1"/>
          <p:nvPr/>
        </p:nvSpPr>
        <p:spPr>
          <a:xfrm>
            <a:off x="7627257" y="3298195"/>
            <a:ext cx="3924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u="sng" dirty="0">
                <a:solidFill>
                  <a:srgbClr val="69B96C"/>
                </a:solidFill>
              </a:rPr>
              <a:t>EXPLAINATION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C32D70-F1B3-BA2A-A8DD-7E9C8A1C5470}"/>
              </a:ext>
            </a:extLst>
          </p:cNvPr>
          <p:cNvSpPr txBox="1"/>
          <p:nvPr/>
        </p:nvSpPr>
        <p:spPr>
          <a:xfrm>
            <a:off x="7627257" y="3879046"/>
            <a:ext cx="42357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Adds new items with unique ID, name, price, and stock quantity.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Update items price and quantity.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Display  added items.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E40C73A-C0C9-3276-B169-DD08667F0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841" y="355015"/>
            <a:ext cx="3459120" cy="61479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89649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0CBA-C38F-69D7-4800-5F24CC6E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91B63C05-79A5-74F4-9544-A45EDC3EE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4E6D3E-54B5-547E-388B-95A769EA2811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7A3C89-8375-CD02-F705-D6D19202CD56}"/>
              </a:ext>
            </a:extLst>
          </p:cNvPr>
          <p:cNvSpPr/>
          <p:nvPr/>
        </p:nvSpPr>
        <p:spPr>
          <a:xfrm>
            <a:off x="-1229" y="2627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u="sng" dirty="0">
              <a:solidFill>
                <a:srgbClr val="69B96C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EA22D5-0B4C-074E-A05C-4A3BD80E7090}"/>
              </a:ext>
            </a:extLst>
          </p:cNvPr>
          <p:cNvSpPr/>
          <p:nvPr/>
        </p:nvSpPr>
        <p:spPr>
          <a:xfrm>
            <a:off x="1703513" y="-1343025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6C30A56-A167-8D43-D8A5-B8038D639CE8}"/>
              </a:ext>
            </a:extLst>
          </p:cNvPr>
          <p:cNvSpPr/>
          <p:nvPr/>
        </p:nvSpPr>
        <p:spPr>
          <a:xfrm>
            <a:off x="4710266" y="224600"/>
            <a:ext cx="2771468" cy="44154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B5456DE-BB7B-3D9D-3B9A-4B8BC8A116F7}"/>
              </a:ext>
            </a:extLst>
          </p:cNvPr>
          <p:cNvSpPr/>
          <p:nvPr/>
        </p:nvSpPr>
        <p:spPr>
          <a:xfrm>
            <a:off x="12774561" y="445370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0257F2-BE16-D860-2019-5F5BBB8A054B}"/>
              </a:ext>
            </a:extLst>
          </p:cNvPr>
          <p:cNvSpPr/>
          <p:nvPr/>
        </p:nvSpPr>
        <p:spPr>
          <a:xfrm>
            <a:off x="12793611" y="4171955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2B9A68-C134-C152-737E-2B2B8971AC1E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49B59137-E34B-119E-14E7-0638E2DF05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85386" y="1861992"/>
            <a:ext cx="5179141" cy="3884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2467655-0F5D-B19F-0B4C-2E97BD5AED25}"/>
              </a:ext>
            </a:extLst>
          </p:cNvPr>
          <p:cNvSpPr/>
          <p:nvPr/>
        </p:nvSpPr>
        <p:spPr>
          <a:xfrm>
            <a:off x="-22430" y="224600"/>
            <a:ext cx="4379657" cy="1637392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      </a:t>
            </a:r>
            <a:r>
              <a:rPr lang="en-US" sz="4400" dirty="0">
                <a:solidFill>
                  <a:srgbClr val="ED5113"/>
                </a:solidFill>
              </a:rPr>
              <a:t>2.1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rgbClr val="FFFFFF"/>
                </a:solidFill>
              </a:rPr>
              <a:t>ADD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A28D0B3-1A21-E5C6-6661-1F17CCBB4109}"/>
              </a:ext>
            </a:extLst>
          </p:cNvPr>
          <p:cNvSpPr/>
          <p:nvPr/>
        </p:nvSpPr>
        <p:spPr>
          <a:xfrm>
            <a:off x="-3564808" y="211465"/>
            <a:ext cx="4379657" cy="1637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EDF3DE0-7A2B-DE94-FD1C-DE11A51CA15D}"/>
              </a:ext>
            </a:extLst>
          </p:cNvPr>
          <p:cNvSpPr/>
          <p:nvPr/>
        </p:nvSpPr>
        <p:spPr>
          <a:xfrm>
            <a:off x="-3917847" y="211465"/>
            <a:ext cx="4379657" cy="163739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4FFC92-E080-F624-6156-5BFE82A89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170" y="1041074"/>
            <a:ext cx="4768223" cy="33074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3" name="Picture 32" descr="A screenshot of a computer program">
            <a:extLst>
              <a:ext uri="{FF2B5EF4-FFF2-40B4-BE49-F238E27FC236}">
                <a16:creationId xmlns:a16="http://schemas.microsoft.com/office/drawing/2014/main" id="{8CF448BB-BA22-B664-63BF-5D4DBCE6A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77" y="1986195"/>
            <a:ext cx="5828693" cy="43715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4" name="Rectangle 1">
            <a:extLst>
              <a:ext uri="{FF2B5EF4-FFF2-40B4-BE49-F238E27FC236}">
                <a16:creationId xmlns:a16="http://schemas.microsoft.com/office/drawing/2014/main" id="{64E0E7AE-BE3F-1C15-C3DC-01EEFB4B9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380" y="2532960"/>
            <a:ext cx="37160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Sure! Here's a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4-bullet explanation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 of the add() function: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Prompts the user to enter a product ID and stores it in temp.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Calls isUnique(temp) to check if the ID already exists in the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If unique, takes product name, price, and quantity as input and stores them in inventory[itemCount], then increments itemCount.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If not unique, displays a message saying the product ID is duplicate.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79CB7B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337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FB2C6-F145-E42A-FB6E-D50F3DCE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8E3BAED3-8B6C-A32C-F396-E3B74B8BF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E1FC77-A670-6CE6-F550-440A8AF08BB8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11B2D0-5BF1-B715-7080-9AAA4567DA0C}"/>
              </a:ext>
            </a:extLst>
          </p:cNvPr>
          <p:cNvSpPr/>
          <p:nvPr/>
        </p:nvSpPr>
        <p:spPr>
          <a:xfrm>
            <a:off x="-1229" y="2627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u="sng" dirty="0">
              <a:solidFill>
                <a:srgbClr val="69B96C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BCCC20-B1B0-CD57-9A29-714C9FFEBA3E}"/>
              </a:ext>
            </a:extLst>
          </p:cNvPr>
          <p:cNvSpPr/>
          <p:nvPr/>
        </p:nvSpPr>
        <p:spPr>
          <a:xfrm>
            <a:off x="1703513" y="-1343025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AB3182-E96D-A2DD-A9BA-0A94045060E2}"/>
              </a:ext>
            </a:extLst>
          </p:cNvPr>
          <p:cNvSpPr/>
          <p:nvPr/>
        </p:nvSpPr>
        <p:spPr>
          <a:xfrm>
            <a:off x="4710266" y="224600"/>
            <a:ext cx="2771468" cy="44154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D25F895-E1FE-22E5-CF6E-10C6A4424D68}"/>
              </a:ext>
            </a:extLst>
          </p:cNvPr>
          <p:cNvSpPr/>
          <p:nvPr/>
        </p:nvSpPr>
        <p:spPr>
          <a:xfrm>
            <a:off x="12774561" y="445370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1300E9B-16AC-4A13-4445-C92670178F6D}"/>
              </a:ext>
            </a:extLst>
          </p:cNvPr>
          <p:cNvSpPr/>
          <p:nvPr/>
        </p:nvSpPr>
        <p:spPr>
          <a:xfrm>
            <a:off x="12793611" y="4171955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A9E9347-E128-A59E-4A50-FA5E81A1A572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73426253-F261-8917-3FD5-4AFDBD420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85386" y="1861992"/>
            <a:ext cx="5179141" cy="3884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C2FDDC8-3FFD-36D5-40F8-8A84CADAA6F2}"/>
              </a:ext>
            </a:extLst>
          </p:cNvPr>
          <p:cNvSpPr/>
          <p:nvPr/>
        </p:nvSpPr>
        <p:spPr>
          <a:xfrm>
            <a:off x="-22430" y="224600"/>
            <a:ext cx="4379657" cy="1637392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      </a:t>
            </a:r>
            <a:r>
              <a:rPr lang="en-US" sz="4400" dirty="0">
                <a:solidFill>
                  <a:srgbClr val="ED5113"/>
                </a:solidFill>
              </a:rPr>
              <a:t>2.1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rgbClr val="FFFFFF"/>
                </a:solidFill>
              </a:rPr>
              <a:t>ADD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E19C45C-3BF7-F48A-BB26-556587CDDCA3}"/>
              </a:ext>
            </a:extLst>
          </p:cNvPr>
          <p:cNvSpPr/>
          <p:nvPr/>
        </p:nvSpPr>
        <p:spPr>
          <a:xfrm>
            <a:off x="-41634" y="224600"/>
            <a:ext cx="4379657" cy="1637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       </a:t>
            </a:r>
            <a:r>
              <a:rPr lang="en-US" sz="4400" dirty="0">
                <a:solidFill>
                  <a:srgbClr val="ED5113"/>
                </a:solidFill>
              </a:rPr>
              <a:t>2.2</a:t>
            </a:r>
            <a:r>
              <a:rPr lang="en-US" sz="4400" dirty="0"/>
              <a:t> </a:t>
            </a:r>
            <a:r>
              <a:rPr lang="en-US" sz="4400" b="1" dirty="0"/>
              <a:t>UPDATE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FD1BAAA-973A-33F0-2D9B-B5D8DF96E5BF}"/>
              </a:ext>
            </a:extLst>
          </p:cNvPr>
          <p:cNvSpPr/>
          <p:nvPr/>
        </p:nvSpPr>
        <p:spPr>
          <a:xfrm>
            <a:off x="-3554990" y="250870"/>
            <a:ext cx="4379657" cy="163739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5C3005AE-46D6-D709-D6BD-781DD79D2C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67" y="2060322"/>
            <a:ext cx="6061183" cy="45458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E110D2-97FF-C71C-0060-50B78AB28D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170" y="1041074"/>
            <a:ext cx="4768223" cy="33074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C63499C9-144F-4DAA-32B2-D2AB801BF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517" y="2438315"/>
            <a:ext cx="378479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Prompts the user to enter a product ID to update.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Uses findIndex(temp) to locate the product in the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If found, asks for and updates the new quantity and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If not found, displays a message that the product does not exist.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79CB7B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9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0789-144F-9FE1-8612-B9279383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AFFAD898-491C-A5BE-F915-F4F8C01D8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721B1EF-0045-12F8-09CD-9F04A5888239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A7AECF-CAC7-2DC9-DE39-41952BA2ADA4}"/>
              </a:ext>
            </a:extLst>
          </p:cNvPr>
          <p:cNvSpPr/>
          <p:nvPr/>
        </p:nvSpPr>
        <p:spPr>
          <a:xfrm>
            <a:off x="-1229" y="2627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u="sng" dirty="0">
              <a:solidFill>
                <a:srgbClr val="69B96C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0A82F9-6F91-BFD1-172C-928977D8E894}"/>
              </a:ext>
            </a:extLst>
          </p:cNvPr>
          <p:cNvSpPr/>
          <p:nvPr/>
        </p:nvSpPr>
        <p:spPr>
          <a:xfrm>
            <a:off x="1703513" y="-1343025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852543-3345-28B5-F857-6DA9CE258690}"/>
              </a:ext>
            </a:extLst>
          </p:cNvPr>
          <p:cNvSpPr/>
          <p:nvPr/>
        </p:nvSpPr>
        <p:spPr>
          <a:xfrm>
            <a:off x="4710266" y="224600"/>
            <a:ext cx="2771468" cy="44154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482787-DAC7-66C4-C4F1-9BB3A88DA0AC}"/>
              </a:ext>
            </a:extLst>
          </p:cNvPr>
          <p:cNvSpPr/>
          <p:nvPr/>
        </p:nvSpPr>
        <p:spPr>
          <a:xfrm>
            <a:off x="12774561" y="445370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C17B31-F392-B00B-A465-5801A09656AF}"/>
              </a:ext>
            </a:extLst>
          </p:cNvPr>
          <p:cNvSpPr/>
          <p:nvPr/>
        </p:nvSpPr>
        <p:spPr>
          <a:xfrm>
            <a:off x="12793611" y="4171955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91A048F-E379-7DA0-9473-1675888CA1FA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CD7D288F-83C4-7882-1B01-DDEAE115F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85386" y="1861992"/>
            <a:ext cx="5179141" cy="3884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715233B-FD05-4C12-2334-468BDB1683E4}"/>
              </a:ext>
            </a:extLst>
          </p:cNvPr>
          <p:cNvSpPr/>
          <p:nvPr/>
        </p:nvSpPr>
        <p:spPr>
          <a:xfrm>
            <a:off x="-22430" y="224600"/>
            <a:ext cx="4379657" cy="1637392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      </a:t>
            </a:r>
            <a:r>
              <a:rPr lang="en-US" sz="4400" dirty="0">
                <a:solidFill>
                  <a:schemeClr val="accent3">
                    <a:lumMod val="50000"/>
                  </a:schemeClr>
                </a:solidFill>
              </a:rPr>
              <a:t>2.1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rgbClr val="FFFFFF"/>
                </a:solidFill>
              </a:rPr>
              <a:t>ADD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8CF679B-A7AC-0DC4-9BF2-76508A855F0C}"/>
              </a:ext>
            </a:extLst>
          </p:cNvPr>
          <p:cNvSpPr/>
          <p:nvPr/>
        </p:nvSpPr>
        <p:spPr>
          <a:xfrm>
            <a:off x="-23659" y="224600"/>
            <a:ext cx="4379657" cy="16373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     </a:t>
            </a:r>
            <a:r>
              <a:rPr lang="en-US" sz="4400" dirty="0">
                <a:solidFill>
                  <a:srgbClr val="C00000"/>
                </a:solidFill>
              </a:rPr>
              <a:t>2.2</a:t>
            </a:r>
            <a:r>
              <a:rPr lang="en-US" sz="4400" dirty="0"/>
              <a:t> </a:t>
            </a:r>
            <a:r>
              <a:rPr lang="en-US" sz="4400" b="1" dirty="0"/>
              <a:t>UPDATE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60168EF-1C5D-5887-BF2B-13C9FF0B76B8}"/>
              </a:ext>
            </a:extLst>
          </p:cNvPr>
          <p:cNvSpPr/>
          <p:nvPr/>
        </p:nvSpPr>
        <p:spPr>
          <a:xfrm>
            <a:off x="-24888" y="224600"/>
            <a:ext cx="4380886" cy="163739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ED5113"/>
                </a:solidFill>
              </a:rPr>
              <a:t>2.3</a:t>
            </a:r>
            <a:r>
              <a:rPr lang="en-US" sz="4400" dirty="0"/>
              <a:t> </a:t>
            </a:r>
            <a:r>
              <a:rPr lang="en-US" sz="4400" b="1" dirty="0"/>
              <a:t>DISPLAY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D3F60DE8-0CAC-FB65-F11D-B7A97B801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08" y="2060322"/>
            <a:ext cx="6021031" cy="45157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9ABCA9-F005-FED8-5945-FAB7C98507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170" y="1041074"/>
            <a:ext cx="4768223" cy="33074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301598CC-11CF-5A84-9D97-9E6563AE5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3481" y="2167387"/>
            <a:ext cx="3149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79CB7B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Loops through all items in the inventory and prints their ID, name, price, and quantity.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79CB7B"/>
                </a:solidFill>
                <a:effectLst/>
                <a:latin typeface="Arial Black" panose="020B0A04020102020204" pitchFamily="34" charset="0"/>
              </a:rPr>
              <a:t>Formats the output as a table with headers and separator 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79CB7B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588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41B2-8195-4DB1-4352-D83C1CF66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345C3487-405C-1720-DD7D-0BEA4A56F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8BE93A-2860-D4AA-8A67-7F3F56296369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64865-7ECA-2716-720E-FE28E1B99158}"/>
              </a:ext>
            </a:extLst>
          </p:cNvPr>
          <p:cNvSpPr/>
          <p:nvPr/>
        </p:nvSpPr>
        <p:spPr>
          <a:xfrm>
            <a:off x="0" y="14288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291E06-313C-D224-E4C8-966738307EBB}"/>
              </a:ext>
            </a:extLst>
          </p:cNvPr>
          <p:cNvSpPr/>
          <p:nvPr/>
        </p:nvSpPr>
        <p:spPr>
          <a:xfrm>
            <a:off x="3454502" y="-1899776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9AD603-03AD-36A2-A354-54B1CE536887}"/>
              </a:ext>
            </a:extLst>
          </p:cNvPr>
          <p:cNvSpPr/>
          <p:nvPr/>
        </p:nvSpPr>
        <p:spPr>
          <a:xfrm>
            <a:off x="2191288" y="-1966451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8C1FFF-4680-722C-C157-7480DAAF68C5}"/>
              </a:ext>
            </a:extLst>
          </p:cNvPr>
          <p:cNvSpPr/>
          <p:nvPr/>
        </p:nvSpPr>
        <p:spPr>
          <a:xfrm>
            <a:off x="4617175" y="323351"/>
            <a:ext cx="3657146" cy="467359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B2486B7-D926-51B9-577C-5E99723E5EAE}"/>
              </a:ext>
            </a:extLst>
          </p:cNvPr>
          <p:cNvSpPr/>
          <p:nvPr/>
        </p:nvSpPr>
        <p:spPr>
          <a:xfrm>
            <a:off x="12793611" y="492224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A14D3F2-8011-0BFD-D086-43D175D0F199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7794922F-EAFC-6A95-7596-1F1527A82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1879" y="1725562"/>
            <a:ext cx="4989060" cy="3741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AF1142A-A9D4-D49F-17F8-C1EEEFBDA2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045" y="811395"/>
            <a:ext cx="3773714" cy="26176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621CB9-5FE7-1921-9500-C95303FC34D6}"/>
              </a:ext>
            </a:extLst>
          </p:cNvPr>
          <p:cNvSpPr txBox="1"/>
          <p:nvPr/>
        </p:nvSpPr>
        <p:spPr>
          <a:xfrm>
            <a:off x="8551746" y="1140583"/>
            <a:ext cx="1239440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u="sng" dirty="0">
                <a:solidFill>
                  <a:srgbClr val="69B96C"/>
                </a:solidFill>
              </a:rPr>
              <a:t>Super shop grocery billing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5AEE84-56FA-BA46-575F-9AB4230C90EF}"/>
              </a:ext>
            </a:extLst>
          </p:cNvPr>
          <p:cNvSpPr txBox="1"/>
          <p:nvPr/>
        </p:nvSpPr>
        <p:spPr>
          <a:xfrm>
            <a:off x="8830484" y="1350383"/>
            <a:ext cx="123944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u="sng" dirty="0">
                <a:solidFill>
                  <a:srgbClr val="69B96C"/>
                </a:solidFill>
              </a:rPr>
              <a:t>Customer Billing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23D352-0F79-526D-AC55-96AA1406E541}"/>
              </a:ext>
            </a:extLst>
          </p:cNvPr>
          <p:cNvSpPr txBox="1"/>
          <p:nvPr/>
        </p:nvSpPr>
        <p:spPr>
          <a:xfrm>
            <a:off x="8830484" y="1550890"/>
            <a:ext cx="125872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u="sng" dirty="0">
                <a:solidFill>
                  <a:srgbClr val="69B96C"/>
                </a:solidFill>
              </a:rPr>
              <a:t>EXPLAINATION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66BB17-0C0E-37B8-0257-1A9A6C5CFC4B}"/>
              </a:ext>
            </a:extLst>
          </p:cNvPr>
          <p:cNvSpPr txBox="1"/>
          <p:nvPr/>
        </p:nvSpPr>
        <p:spPr>
          <a:xfrm>
            <a:off x="8897562" y="1907862"/>
            <a:ext cx="30874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9B96C"/>
                </a:solidFill>
              </a:rPr>
              <a:t>Adds a 10% VAT to the subtotal.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9B96C"/>
                </a:solidFill>
              </a:rPr>
              <a:t>VAT_RATE is defined as a constant for easy adjustment.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9B96C"/>
                </a:solidFill>
              </a:rPr>
              <a:t>Ensures customers are billed accurately with tax included.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0A9DF-4EE2-B330-71EE-0860D64C2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90" y="147758"/>
            <a:ext cx="3692673" cy="65624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FE93A8-6669-C174-8DC3-34382D128E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531" y="939899"/>
            <a:ext cx="4382938" cy="43321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1B47A27-C391-A797-BF1F-6BE6082056A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426" t="13497" r="4426" b="11832"/>
          <a:stretch/>
        </p:blipFill>
        <p:spPr>
          <a:xfrm>
            <a:off x="9680289" y="4077359"/>
            <a:ext cx="2132828" cy="24234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6422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E49EE-765A-8158-B458-194CA1FF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8B97FADD-B9EE-CB1A-C50B-A4A5D08E9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D61BC6-018B-E034-9A74-8759FE150A16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B4DA8F-35E6-60C5-91D5-C8A67D791637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931639-E87C-4777-183B-FA4B2A44E7A4}"/>
              </a:ext>
            </a:extLst>
          </p:cNvPr>
          <p:cNvSpPr/>
          <p:nvPr/>
        </p:nvSpPr>
        <p:spPr>
          <a:xfrm>
            <a:off x="3454502" y="-1899776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04101F-90AC-E6D3-216C-56ECC402AE9C}"/>
              </a:ext>
            </a:extLst>
          </p:cNvPr>
          <p:cNvSpPr/>
          <p:nvPr/>
        </p:nvSpPr>
        <p:spPr>
          <a:xfrm>
            <a:off x="2191288" y="-1966451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855E84-FD31-FDD4-D05B-1B9A7E1F8AD6}"/>
              </a:ext>
            </a:extLst>
          </p:cNvPr>
          <p:cNvSpPr/>
          <p:nvPr/>
        </p:nvSpPr>
        <p:spPr>
          <a:xfrm>
            <a:off x="13981350" y="3144475"/>
            <a:ext cx="4796606" cy="774913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24BC1FD-382E-0B9F-8412-A5713A300C20}"/>
              </a:ext>
            </a:extLst>
          </p:cNvPr>
          <p:cNvSpPr/>
          <p:nvPr/>
        </p:nvSpPr>
        <p:spPr>
          <a:xfrm>
            <a:off x="12793611" y="492224"/>
            <a:ext cx="6477000" cy="89535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4.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005DA2-83D7-6471-4C54-96F006C866A9}"/>
              </a:ext>
            </a:extLst>
          </p:cNvPr>
          <p:cNvSpPr/>
          <p:nvPr/>
        </p:nvSpPr>
        <p:spPr>
          <a:xfrm>
            <a:off x="12793611" y="5467357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F3332827-DE41-E52A-73EC-A4F5C6DDA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1879" y="1725562"/>
            <a:ext cx="4989060" cy="3741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E1E3FDD-A54F-4F79-BD38-99A47626FB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857" y="1887175"/>
            <a:ext cx="5544143" cy="38456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A06AE1-8F33-49E7-325F-92CBE1AF6B39}"/>
              </a:ext>
            </a:extLst>
          </p:cNvPr>
          <p:cNvSpPr txBox="1"/>
          <p:nvPr/>
        </p:nvSpPr>
        <p:spPr>
          <a:xfrm>
            <a:off x="6780169" y="2408103"/>
            <a:ext cx="123944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u="sng" dirty="0">
                <a:solidFill>
                  <a:srgbClr val="69B96C"/>
                </a:solidFill>
              </a:rPr>
              <a:t>Super shop grocery billing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017590-8179-259A-8EA3-1CC17211F01E}"/>
              </a:ext>
            </a:extLst>
          </p:cNvPr>
          <p:cNvSpPr txBox="1"/>
          <p:nvPr/>
        </p:nvSpPr>
        <p:spPr>
          <a:xfrm>
            <a:off x="7424125" y="2713368"/>
            <a:ext cx="12394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u="sng" dirty="0">
                <a:solidFill>
                  <a:srgbClr val="69B96C"/>
                </a:solidFill>
              </a:rPr>
              <a:t>Customer Billing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70D5F6-B56D-5ADB-01F6-5D157602768C}"/>
              </a:ext>
            </a:extLst>
          </p:cNvPr>
          <p:cNvSpPr txBox="1"/>
          <p:nvPr/>
        </p:nvSpPr>
        <p:spPr>
          <a:xfrm>
            <a:off x="7482339" y="3049410"/>
            <a:ext cx="125872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u="sng" dirty="0">
                <a:solidFill>
                  <a:srgbClr val="69B96C"/>
                </a:solidFill>
              </a:rPr>
              <a:t>EXPLAINATION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A5836A-506E-4023-8E58-C5F6C7D1DFA8}"/>
              </a:ext>
            </a:extLst>
          </p:cNvPr>
          <p:cNvSpPr txBox="1"/>
          <p:nvPr/>
        </p:nvSpPr>
        <p:spPr>
          <a:xfrm>
            <a:off x="7580386" y="3269720"/>
            <a:ext cx="3773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69B96C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  <a:latin typeface="Arial Black" panose="020B0A04020102020204" pitchFamily="34" charset="0"/>
              </a:rPr>
              <a:t>* Updates the inventory by reducing quantity, then stores the item ID and quantity in `data[]` and sale details in `sold[]`.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  <a:latin typeface="Arial Black" panose="020B0A04020102020204" pitchFamily="34" charset="0"/>
              </a:rPr>
              <a:t>* Increases the `total` bill and increments both `saleCount` and `dataIndex` counters.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F7BD03-193F-C47C-1BFF-7B4FF4FE3C8E}"/>
              </a:ext>
            </a:extLst>
          </p:cNvPr>
          <p:cNvSpPr/>
          <p:nvPr/>
        </p:nvSpPr>
        <p:spPr>
          <a:xfrm>
            <a:off x="6780169" y="771088"/>
            <a:ext cx="4832026" cy="759967"/>
          </a:xfrm>
          <a:prstGeom prst="roundRect">
            <a:avLst/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📁</a:t>
            </a:r>
            <a:r>
              <a:rPr lang="fr-FR" sz="3200" dirty="0"/>
              <a:t>4. Stock Update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13F229-32DE-CC67-0EF9-520B01541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966" y="952622"/>
            <a:ext cx="6257925" cy="45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62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5ED2-CE1E-9D4E-C927-1654CF1D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4474AB9C-E1B2-7883-C442-9461426E7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242494C-3F25-9FB9-B197-0E7E548E38A9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ABC0F-A8D8-2FFB-C35C-1C4FD5BA74EB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97A860-8ED6-BEEB-28F4-7B5E1C769E3A}"/>
              </a:ext>
            </a:extLst>
          </p:cNvPr>
          <p:cNvSpPr/>
          <p:nvPr/>
        </p:nvSpPr>
        <p:spPr>
          <a:xfrm>
            <a:off x="3454502" y="-1899776"/>
            <a:ext cx="3969623" cy="771525"/>
          </a:xfrm>
          <a:prstGeom prst="roundRect">
            <a:avLst>
              <a:gd name="adj" fmla="val 42593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🔐 1. Login System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44C9F07-8DE3-8679-0E0E-DC22870CB378}"/>
              </a:ext>
            </a:extLst>
          </p:cNvPr>
          <p:cNvSpPr/>
          <p:nvPr/>
        </p:nvSpPr>
        <p:spPr>
          <a:xfrm>
            <a:off x="2191288" y="-1966451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📦 2. Inventory Management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4F6919-4AAA-745B-2CBA-6F48DE60C559}"/>
              </a:ext>
            </a:extLst>
          </p:cNvPr>
          <p:cNvSpPr/>
          <p:nvPr/>
        </p:nvSpPr>
        <p:spPr>
          <a:xfrm>
            <a:off x="3356927" y="-2025150"/>
            <a:ext cx="4796606" cy="774913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🛒 3. Customer Billing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C23DEC-00B9-2DFF-FB80-22FD79D286FC}"/>
              </a:ext>
            </a:extLst>
          </p:cNvPr>
          <p:cNvSpPr/>
          <p:nvPr/>
        </p:nvSpPr>
        <p:spPr>
          <a:xfrm>
            <a:off x="7327865" y="1293905"/>
            <a:ext cx="4524473" cy="58256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📈 5. Sales Report 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0FAC4C-8992-87A2-3E5E-B4D718FE21E1}"/>
              </a:ext>
            </a:extLst>
          </p:cNvPr>
          <p:cNvSpPr/>
          <p:nvPr/>
        </p:nvSpPr>
        <p:spPr>
          <a:xfrm>
            <a:off x="12941095" y="597311"/>
            <a:ext cx="6496050" cy="83820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🔄 5. User Interaction Loop</a:t>
            </a:r>
          </a:p>
        </p:txBody>
      </p:sp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3F58FDB-58E5-6376-F7C4-3A8FA6E78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97397" y="1725562"/>
            <a:ext cx="4989060" cy="3741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4C3C65FF-2FEE-E89B-4060-917B0E1C0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1" y="846649"/>
            <a:ext cx="6160943" cy="46207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6A88283-89EF-58E9-2B14-53B13DD6A0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289" y="2435942"/>
            <a:ext cx="5544143" cy="38456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6E0504-BB75-2E4D-416A-BC8A2C0D8622}"/>
              </a:ext>
            </a:extLst>
          </p:cNvPr>
          <p:cNvSpPr txBox="1"/>
          <p:nvPr/>
        </p:nvSpPr>
        <p:spPr>
          <a:xfrm>
            <a:off x="7327865" y="2972336"/>
            <a:ext cx="1260565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u="sng" dirty="0">
                <a:solidFill>
                  <a:srgbClr val="69B96C"/>
                </a:solidFill>
              </a:rPr>
              <a:t>Super shop grocery billing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56D77-78E3-C014-DB48-4CBB18ED6B7B}"/>
              </a:ext>
            </a:extLst>
          </p:cNvPr>
          <p:cNvSpPr txBox="1"/>
          <p:nvPr/>
        </p:nvSpPr>
        <p:spPr>
          <a:xfrm>
            <a:off x="7684657" y="3221547"/>
            <a:ext cx="127725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srgbClr val="69B96C"/>
                </a:solidFill>
              </a:rPr>
              <a:t>Sales Report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78F25-B828-BEEA-F8A7-FA8DC379421E}"/>
              </a:ext>
            </a:extLst>
          </p:cNvPr>
          <p:cNvSpPr txBox="1"/>
          <p:nvPr/>
        </p:nvSpPr>
        <p:spPr>
          <a:xfrm>
            <a:off x="7684657" y="3563091"/>
            <a:ext cx="125872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u="sng" dirty="0">
                <a:solidFill>
                  <a:srgbClr val="69B96C"/>
                </a:solidFill>
              </a:rPr>
              <a:t>EXPLAINATION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A173F-BAF6-1ABE-8748-FB34D58F158B}"/>
              </a:ext>
            </a:extLst>
          </p:cNvPr>
          <p:cNvSpPr txBox="1"/>
          <p:nvPr/>
        </p:nvSpPr>
        <p:spPr>
          <a:xfrm>
            <a:off x="7684657" y="4026798"/>
            <a:ext cx="43331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Checks if the requested quantity is available in stock.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If yes, deducts sold quantity from current inventory.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9B96C"/>
                </a:solidFill>
              </a:rPr>
              <a:t>Prevents overselling and keeps inventory data accurate.</a:t>
            </a:r>
          </a:p>
        </p:txBody>
      </p:sp>
    </p:spTree>
    <p:extLst>
      <p:ext uri="{BB962C8B-B14F-4D97-AF65-F5344CB8AC3E}">
        <p14:creationId xmlns:p14="http://schemas.microsoft.com/office/powerpoint/2010/main" val="4270173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8180-377D-AD9D-FEF8-D1A4F502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desk with many monitors and a keyboard&#10;&#10;AI-generated content may be incorrect.">
            <a:extLst>
              <a:ext uri="{FF2B5EF4-FFF2-40B4-BE49-F238E27FC236}">
                <a16:creationId xmlns:a16="http://schemas.microsoft.com/office/drawing/2014/main" id="{8148AFA5-32BD-F029-F7E6-2CD8656B3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9281" r="264" b="28236"/>
          <a:stretch/>
        </p:blipFill>
        <p:spPr>
          <a:xfrm>
            <a:off x="0" y="0"/>
            <a:ext cx="1259512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183130-0911-D60E-BEC7-7BAECFB3694D}"/>
              </a:ext>
            </a:extLst>
          </p:cNvPr>
          <p:cNvSpPr/>
          <p:nvPr/>
        </p:nvSpPr>
        <p:spPr>
          <a:xfrm>
            <a:off x="0" y="0"/>
            <a:ext cx="12595122" cy="6858000"/>
          </a:xfrm>
          <a:prstGeom prst="rect">
            <a:avLst/>
          </a:prstGeom>
          <a:gradFill>
            <a:gsLst>
              <a:gs pos="100000">
                <a:schemeClr val="bg2">
                  <a:lumMod val="0"/>
                  <a:alpha val="46000"/>
                </a:schemeClr>
              </a:gs>
              <a:gs pos="20000">
                <a:srgbClr val="2A524D"/>
              </a:gs>
            </a:gsLst>
            <a:lin ang="0" scaled="1"/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A6D91-21C2-A12C-E73D-6BA30754F265}"/>
              </a:ext>
            </a:extLst>
          </p:cNvPr>
          <p:cNvSpPr/>
          <p:nvPr/>
        </p:nvSpPr>
        <p:spPr>
          <a:xfrm>
            <a:off x="0" y="0"/>
            <a:ext cx="12595123" cy="6858000"/>
          </a:xfrm>
          <a:prstGeom prst="rect">
            <a:avLst/>
          </a:prstGeom>
          <a:solidFill>
            <a:schemeClr val="dk1">
              <a:alpha val="7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collage of cartoon characters&#10;&#10;AI-generated content may be incorrect.">
            <a:extLst>
              <a:ext uri="{FF2B5EF4-FFF2-40B4-BE49-F238E27FC236}">
                <a16:creationId xmlns:a16="http://schemas.microsoft.com/office/drawing/2014/main" id="{B964F0CE-61C7-780E-B590-654BEE4C9A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9511"/>
            <a:ext cx="5715000" cy="5178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1E6678-A8BD-391B-5701-87F00FC2393E}"/>
              </a:ext>
            </a:extLst>
          </p:cNvPr>
          <p:cNvSpPr txBox="1"/>
          <p:nvPr/>
        </p:nvSpPr>
        <p:spPr>
          <a:xfrm>
            <a:off x="3778199" y="3745535"/>
            <a:ext cx="2457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BUG</a:t>
            </a:r>
          </a:p>
        </p:txBody>
      </p:sp>
      <p:pic>
        <p:nvPicPr>
          <p:cNvPr id="9" name="Picture 8" descr="A dog wearing a bug&#10;&#10;AI-generated content may be incorrect.">
            <a:extLst>
              <a:ext uri="{FF2B5EF4-FFF2-40B4-BE49-F238E27FC236}">
                <a16:creationId xmlns:a16="http://schemas.microsoft.com/office/drawing/2014/main" id="{0C0DDBD2-4A51-8257-1CEB-73E93CA66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512" y="1875927"/>
            <a:ext cx="1935188" cy="19351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2B5A97-00BD-3C84-070F-D4BC1AB74820}"/>
              </a:ext>
            </a:extLst>
          </p:cNvPr>
          <p:cNvSpPr/>
          <p:nvPr/>
        </p:nvSpPr>
        <p:spPr>
          <a:xfrm>
            <a:off x="5715000" y="1679511"/>
            <a:ext cx="6880122" cy="5178489"/>
          </a:xfrm>
          <a:prstGeom prst="rect">
            <a:avLst/>
          </a:prstGeom>
          <a:solidFill>
            <a:schemeClr val="dk1">
              <a:alpha val="4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6644B3-FC3D-3C21-9403-2A467D783A9F}"/>
              </a:ext>
            </a:extLst>
          </p:cNvPr>
          <p:cNvSpPr txBox="1"/>
          <p:nvPr/>
        </p:nvSpPr>
        <p:spPr>
          <a:xfrm>
            <a:off x="3778199" y="378091"/>
            <a:ext cx="472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BUG FIX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01116-33D0-79E1-D43E-426E9332093E}"/>
              </a:ext>
            </a:extLst>
          </p:cNvPr>
          <p:cNvSpPr txBox="1"/>
          <p:nvPr/>
        </p:nvSpPr>
        <p:spPr>
          <a:xfrm>
            <a:off x="5951512" y="1841235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Bug: </a:t>
            </a:r>
            <a:r>
              <a:rPr lang="en-US" dirty="0">
                <a:solidFill>
                  <a:schemeClr val="bg1"/>
                </a:solidFill>
              </a:rPr>
              <a:t>Sales were not recorded properly when multiple items were purchased in one transaction.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1926A-DE69-099D-8579-67D7C08EFDBE}"/>
              </a:ext>
            </a:extLst>
          </p:cNvPr>
          <p:cNvSpPr txBox="1"/>
          <p:nvPr/>
        </p:nvSpPr>
        <p:spPr>
          <a:xfrm>
            <a:off x="5951512" y="2639879"/>
            <a:ext cx="5619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Fix</a:t>
            </a:r>
            <a:r>
              <a:rPr lang="en-US" dirty="0">
                <a:solidFill>
                  <a:schemeClr val="bg1"/>
                </a:solidFill>
              </a:rPr>
              <a:t>: Used dataIndex in customerBilling() to track cart items properly.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5F029-BF66-24D2-15CA-0497B7D51612}"/>
              </a:ext>
            </a:extLst>
          </p:cNvPr>
          <p:cNvSpPr txBox="1"/>
          <p:nvPr/>
        </p:nvSpPr>
        <p:spPr>
          <a:xfrm>
            <a:off x="5951512" y="3429000"/>
            <a:ext cx="267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60000"/>
                    <a:lumOff val="40000"/>
                  </a:schemeClr>
                </a:solidFill>
              </a:rPr>
              <a:t>Code Correction: 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3EE04D-933A-E757-5CC6-5563F17E7C35}"/>
              </a:ext>
            </a:extLst>
          </p:cNvPr>
          <p:cNvSpPr/>
          <p:nvPr/>
        </p:nvSpPr>
        <p:spPr>
          <a:xfrm>
            <a:off x="6096000" y="3811115"/>
            <a:ext cx="6096000" cy="559320"/>
          </a:xfrm>
          <a:prstGeom prst="rect">
            <a:avLst/>
          </a:prstGeom>
          <a:solidFill>
            <a:schemeClr val="lt1">
              <a:alpha val="82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int dataIndex = 0;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FAFD3-DFD3-71B5-A874-00AE9129DC19}"/>
              </a:ext>
            </a:extLst>
          </p:cNvPr>
          <p:cNvSpPr txBox="1"/>
          <p:nvPr/>
        </p:nvSpPr>
        <p:spPr>
          <a:xfrm>
            <a:off x="5951512" y="4470494"/>
            <a:ext cx="6392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Replaced fixed loop with while(more) to dynamically handle multiple entries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9D32EC-9BA6-70ED-2297-D836A2D4E9B4}"/>
              </a:ext>
            </a:extLst>
          </p:cNvPr>
          <p:cNvSpPr txBox="1"/>
          <p:nvPr/>
        </p:nvSpPr>
        <p:spPr>
          <a:xfrm>
            <a:off x="6030861" y="4992139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Other Fixes: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Added stock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Prevented billing if quantity exceeded.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Handled invalid choices gracefully.</a:t>
            </a:r>
          </a:p>
        </p:txBody>
      </p:sp>
    </p:spTree>
    <p:extLst>
      <p:ext uri="{BB962C8B-B14F-4D97-AF65-F5344CB8AC3E}">
        <p14:creationId xmlns:p14="http://schemas.microsoft.com/office/powerpoint/2010/main" val="1218968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with his arms out&#10;&#10;AI-generated content may be incorrect.">
            <a:extLst>
              <a:ext uri="{FF2B5EF4-FFF2-40B4-BE49-F238E27FC236}">
                <a16:creationId xmlns:a16="http://schemas.microsoft.com/office/drawing/2014/main" id="{FD83B9C4-F392-3A98-293A-1D519EDF5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6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9D2717-3FD6-899B-D85A-330AE7D207F6}"/>
              </a:ext>
            </a:extLst>
          </p:cNvPr>
          <p:cNvSpPr txBox="1"/>
          <p:nvPr/>
        </p:nvSpPr>
        <p:spPr>
          <a:xfrm>
            <a:off x="1943100" y="619125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(PLEASE DON’T ASK😭)</a:t>
            </a:r>
          </a:p>
        </p:txBody>
      </p:sp>
    </p:spTree>
    <p:extLst>
      <p:ext uri="{BB962C8B-B14F-4D97-AF65-F5344CB8AC3E}">
        <p14:creationId xmlns:p14="http://schemas.microsoft.com/office/powerpoint/2010/main" val="34173738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12427</TotalTime>
  <Words>1272</Words>
  <Application>Microsoft Office PowerPoint</Application>
  <PresentationFormat>Widescreen</PresentationFormat>
  <Paragraphs>233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Arial Black</vt:lpstr>
      <vt:lpstr>Consolas</vt:lpstr>
      <vt:lpstr>Impact</vt:lpstr>
      <vt:lpstr>Microsoft Himalaya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mahmudur rahman harry</dc:creator>
  <cp:lastModifiedBy>NASHIT RABBANI</cp:lastModifiedBy>
  <cp:revision>5</cp:revision>
  <dcterms:created xsi:type="dcterms:W3CDTF">2025-05-04T18:53:39Z</dcterms:created>
  <dcterms:modified xsi:type="dcterms:W3CDTF">2025-05-20T17:24:48Z</dcterms:modified>
</cp:coreProperties>
</file>