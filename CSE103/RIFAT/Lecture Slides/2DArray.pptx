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6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0058400" cy="7772400"/>
  <p:notesSz cx="10058400" cy="7772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2" d="100"/>
          <a:sy n="72" d="100"/>
        </p:scale>
        <p:origin x="1555" y="53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4380" y="2409444"/>
            <a:ext cx="8549640" cy="1632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rgbClr val="333399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chemeClr val="tx1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35255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333399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chemeClr val="tx1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35255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333399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4/21/2025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35255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751331" y="3003804"/>
            <a:ext cx="439420" cy="475615"/>
          </a:xfrm>
          <a:custGeom>
            <a:avLst/>
            <a:gdLst/>
            <a:ahLst/>
            <a:cxnLst/>
            <a:rect l="l" t="t" r="r" b="b"/>
            <a:pathLst>
              <a:path w="439419" h="475614">
                <a:moveTo>
                  <a:pt x="438912" y="0"/>
                </a:moveTo>
                <a:lnTo>
                  <a:pt x="0" y="0"/>
                </a:lnTo>
                <a:lnTo>
                  <a:pt x="0" y="475488"/>
                </a:lnTo>
                <a:lnTo>
                  <a:pt x="438912" y="475488"/>
                </a:lnTo>
                <a:lnTo>
                  <a:pt x="438912" y="0"/>
                </a:lnTo>
                <a:close/>
              </a:path>
            </a:pathLst>
          </a:custGeom>
          <a:solidFill>
            <a:srgbClr val="3333C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35380" y="3003804"/>
            <a:ext cx="329183" cy="475488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874776" y="3425951"/>
            <a:ext cx="424180" cy="460375"/>
          </a:xfrm>
          <a:custGeom>
            <a:avLst/>
            <a:gdLst/>
            <a:ahLst/>
            <a:cxnLst/>
            <a:rect l="l" t="t" r="r" b="b"/>
            <a:pathLst>
              <a:path w="424180" h="460375">
                <a:moveTo>
                  <a:pt x="423672" y="0"/>
                </a:moveTo>
                <a:lnTo>
                  <a:pt x="0" y="0"/>
                </a:lnTo>
                <a:lnTo>
                  <a:pt x="0" y="460248"/>
                </a:lnTo>
                <a:lnTo>
                  <a:pt x="423672" y="460248"/>
                </a:lnTo>
                <a:lnTo>
                  <a:pt x="423672" y="0"/>
                </a:lnTo>
                <a:close/>
              </a:path>
            </a:pathLst>
          </a:custGeom>
          <a:solidFill>
            <a:srgbClr val="FFCF0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bg object 1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7200" y="3352800"/>
            <a:ext cx="9009888" cy="533400"/>
          </a:xfrm>
          <a:prstGeom prst="rect">
            <a:avLst/>
          </a:prstGeom>
        </p:spPr>
      </p:pic>
      <p:sp>
        <p:nvSpPr>
          <p:cNvPr id="20" name="bg object 20"/>
          <p:cNvSpPr/>
          <p:nvPr/>
        </p:nvSpPr>
        <p:spPr>
          <a:xfrm>
            <a:off x="1092708" y="2895600"/>
            <a:ext cx="32384" cy="990600"/>
          </a:xfrm>
          <a:custGeom>
            <a:avLst/>
            <a:gdLst/>
            <a:ahLst/>
            <a:cxnLst/>
            <a:rect l="l" t="t" r="r" b="b"/>
            <a:pathLst>
              <a:path w="32384" h="990600">
                <a:moveTo>
                  <a:pt x="32003" y="0"/>
                </a:moveTo>
                <a:lnTo>
                  <a:pt x="0" y="0"/>
                </a:lnTo>
                <a:lnTo>
                  <a:pt x="0" y="990600"/>
                </a:lnTo>
                <a:lnTo>
                  <a:pt x="32003" y="990600"/>
                </a:lnTo>
                <a:lnTo>
                  <a:pt x="32003" y="0"/>
                </a:lnTo>
                <a:close/>
              </a:path>
            </a:pathLst>
          </a:custGeom>
          <a:solidFill>
            <a:srgbClr val="1C1C1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333399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4/21/2025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35255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4/21/2025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35255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874776" y="1556004"/>
            <a:ext cx="439420" cy="475615"/>
          </a:xfrm>
          <a:custGeom>
            <a:avLst/>
            <a:gdLst/>
            <a:ahLst/>
            <a:cxnLst/>
            <a:rect l="l" t="t" r="r" b="b"/>
            <a:pathLst>
              <a:path w="439419" h="475614">
                <a:moveTo>
                  <a:pt x="438912" y="0"/>
                </a:moveTo>
                <a:lnTo>
                  <a:pt x="0" y="0"/>
                </a:lnTo>
                <a:lnTo>
                  <a:pt x="0" y="475488"/>
                </a:lnTo>
                <a:lnTo>
                  <a:pt x="438912" y="475488"/>
                </a:lnTo>
                <a:lnTo>
                  <a:pt x="438912" y="0"/>
                </a:lnTo>
                <a:close/>
              </a:path>
            </a:pathLst>
          </a:custGeom>
          <a:solidFill>
            <a:srgbClr val="FFCF0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257300" y="1556004"/>
            <a:ext cx="329184" cy="475488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999744" y="1978151"/>
            <a:ext cx="422275" cy="475615"/>
          </a:xfrm>
          <a:custGeom>
            <a:avLst/>
            <a:gdLst/>
            <a:ahLst/>
            <a:cxnLst/>
            <a:rect l="l" t="t" r="r" b="b"/>
            <a:pathLst>
              <a:path w="422275" h="475614">
                <a:moveTo>
                  <a:pt x="422147" y="0"/>
                </a:moveTo>
                <a:lnTo>
                  <a:pt x="0" y="0"/>
                </a:lnTo>
                <a:lnTo>
                  <a:pt x="0" y="475488"/>
                </a:lnTo>
                <a:lnTo>
                  <a:pt x="422147" y="475488"/>
                </a:lnTo>
                <a:lnTo>
                  <a:pt x="422147" y="0"/>
                </a:lnTo>
                <a:close/>
              </a:path>
            </a:pathLst>
          </a:custGeom>
          <a:solidFill>
            <a:srgbClr val="3333C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bg object 1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85216" y="1905000"/>
            <a:ext cx="8542019" cy="548639"/>
          </a:xfrm>
          <a:prstGeom prst="rect">
            <a:avLst/>
          </a:prstGeom>
        </p:spPr>
      </p:pic>
      <p:sp>
        <p:nvSpPr>
          <p:cNvPr id="20" name="bg object 20"/>
          <p:cNvSpPr/>
          <p:nvPr/>
        </p:nvSpPr>
        <p:spPr>
          <a:xfrm>
            <a:off x="1219200" y="1447800"/>
            <a:ext cx="32384" cy="1053465"/>
          </a:xfrm>
          <a:custGeom>
            <a:avLst/>
            <a:gdLst/>
            <a:ahLst/>
            <a:cxnLst/>
            <a:rect l="l" t="t" r="r" b="b"/>
            <a:pathLst>
              <a:path w="32384" h="1053464">
                <a:moveTo>
                  <a:pt x="32003" y="0"/>
                </a:moveTo>
                <a:lnTo>
                  <a:pt x="0" y="0"/>
                </a:lnTo>
                <a:lnTo>
                  <a:pt x="0" y="1053084"/>
                </a:lnTo>
                <a:lnTo>
                  <a:pt x="32003" y="1053084"/>
                </a:lnTo>
                <a:lnTo>
                  <a:pt x="32003" y="0"/>
                </a:lnTo>
                <a:close/>
              </a:path>
            </a:pathLst>
          </a:custGeom>
          <a:solidFill>
            <a:srgbClr val="1C1C1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661077" y="730876"/>
            <a:ext cx="6648450" cy="136778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rgbClr val="333399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133349" y="3594676"/>
            <a:ext cx="4445635" cy="18548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chemeClr val="tx1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078431" y="6884834"/>
            <a:ext cx="284225" cy="240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35255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15582" y="3006141"/>
            <a:ext cx="574802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2D</a:t>
            </a:r>
            <a:r>
              <a:rPr spc="-35" dirty="0"/>
              <a:t> </a:t>
            </a:r>
            <a:r>
              <a:rPr dirty="0"/>
              <a:t>Arrays</a:t>
            </a:r>
            <a:r>
              <a:rPr spc="-30" dirty="0"/>
              <a:t> </a:t>
            </a:r>
            <a:r>
              <a:rPr dirty="0"/>
              <a:t>and</a:t>
            </a:r>
            <a:r>
              <a:rPr spc="-25" dirty="0"/>
              <a:t> </a:t>
            </a:r>
            <a:r>
              <a:rPr spc="-10" dirty="0"/>
              <a:t>Matrices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74775" y="3886200"/>
            <a:ext cx="741045" cy="62865"/>
            <a:chOff x="874775" y="3886200"/>
            <a:chExt cx="741045" cy="62865"/>
          </a:xfrm>
        </p:grpSpPr>
        <p:sp>
          <p:nvSpPr>
            <p:cNvPr id="4" name="object 4"/>
            <p:cNvSpPr/>
            <p:nvPr/>
          </p:nvSpPr>
          <p:spPr>
            <a:xfrm>
              <a:off x="874775" y="3886200"/>
              <a:ext cx="424180" cy="15240"/>
            </a:xfrm>
            <a:custGeom>
              <a:avLst/>
              <a:gdLst/>
              <a:ahLst/>
              <a:cxnLst/>
              <a:rect l="l" t="t" r="r" b="b"/>
              <a:pathLst>
                <a:path w="424180" h="15239">
                  <a:moveTo>
                    <a:pt x="423672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423672" y="15239"/>
                  </a:lnTo>
                  <a:lnTo>
                    <a:pt x="423672" y="0"/>
                  </a:lnTo>
                  <a:close/>
                </a:path>
              </a:pathLst>
            </a:custGeom>
            <a:solidFill>
              <a:srgbClr val="FFCF0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45107" y="3886200"/>
              <a:ext cx="370331" cy="1523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092707" y="3886200"/>
              <a:ext cx="32384" cy="62865"/>
            </a:xfrm>
            <a:custGeom>
              <a:avLst/>
              <a:gdLst/>
              <a:ahLst/>
              <a:cxnLst/>
              <a:rect l="l" t="t" r="r" b="b"/>
              <a:pathLst>
                <a:path w="32384" h="62864">
                  <a:moveTo>
                    <a:pt x="32003" y="0"/>
                  </a:moveTo>
                  <a:lnTo>
                    <a:pt x="0" y="0"/>
                  </a:lnTo>
                  <a:lnTo>
                    <a:pt x="0" y="62484"/>
                  </a:lnTo>
                  <a:lnTo>
                    <a:pt x="32003" y="62484"/>
                  </a:lnTo>
                  <a:lnTo>
                    <a:pt x="32003" y="0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9016995" y="6889470"/>
            <a:ext cx="123189" cy="2406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50" dirty="0">
                <a:solidFill>
                  <a:srgbClr val="1C1C1C"/>
                </a:solidFill>
                <a:latin typeface="Tahoma"/>
                <a:cs typeface="Tahoma"/>
              </a:rPr>
              <a:t>1</a:t>
            </a:r>
            <a:endParaRPr sz="1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839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Imagine……</a:t>
            </a:r>
          </a:p>
        </p:txBody>
      </p:sp>
      <p:sp>
        <p:nvSpPr>
          <p:cNvPr id="3" name="object 3"/>
          <p:cNvSpPr/>
          <p:nvPr/>
        </p:nvSpPr>
        <p:spPr>
          <a:xfrm>
            <a:off x="457200" y="3886200"/>
            <a:ext cx="9144000" cy="3429000"/>
          </a:xfrm>
          <a:custGeom>
            <a:avLst/>
            <a:gdLst/>
            <a:ahLst/>
            <a:cxnLst/>
            <a:rect l="l" t="t" r="r" b="b"/>
            <a:pathLst>
              <a:path w="9144000" h="3429000">
                <a:moveTo>
                  <a:pt x="9144000" y="0"/>
                </a:moveTo>
                <a:lnTo>
                  <a:pt x="0" y="0"/>
                </a:lnTo>
                <a:lnTo>
                  <a:pt x="0" y="3429000"/>
                </a:lnTo>
                <a:lnTo>
                  <a:pt x="9144000" y="3429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029716" y="2408082"/>
            <a:ext cx="7926705" cy="2756535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865"/>
              </a:spcBef>
              <a:buClr>
                <a:srgbClr val="3333CC"/>
              </a:buClr>
              <a:buSzPct val="59375"/>
              <a:buFont typeface="Wingdings"/>
              <a:buChar char=""/>
              <a:tabLst>
                <a:tab pos="354965" algn="l"/>
              </a:tabLst>
            </a:pPr>
            <a:r>
              <a:rPr sz="3200" dirty="0">
                <a:latin typeface="Tahoma"/>
                <a:cs typeface="Tahoma"/>
              </a:rPr>
              <a:t>Class</a:t>
            </a:r>
            <a:r>
              <a:rPr sz="3200" spc="-5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of</a:t>
            </a:r>
            <a:r>
              <a:rPr sz="3200" spc="-15" dirty="0">
                <a:latin typeface="Tahoma"/>
                <a:cs typeface="Tahoma"/>
              </a:rPr>
              <a:t> </a:t>
            </a:r>
            <a:r>
              <a:rPr sz="3200" b="1" dirty="0">
                <a:latin typeface="Tahoma"/>
                <a:cs typeface="Tahoma"/>
              </a:rPr>
              <a:t>5</a:t>
            </a:r>
            <a:r>
              <a:rPr sz="3200" b="1" spc="30" dirty="0">
                <a:latin typeface="Tahoma"/>
                <a:cs typeface="Tahoma"/>
              </a:rPr>
              <a:t> </a:t>
            </a:r>
            <a:r>
              <a:rPr sz="3200" spc="-10" dirty="0">
                <a:latin typeface="Tahoma"/>
                <a:cs typeface="Tahoma"/>
              </a:rPr>
              <a:t>students</a:t>
            </a:r>
            <a:endParaRPr sz="3200" dirty="0">
              <a:latin typeface="Tahoma"/>
              <a:cs typeface="Tahoma"/>
            </a:endParaRPr>
          </a:p>
          <a:p>
            <a:pPr marL="354965" marR="842010" indent="-342900">
              <a:lnSpc>
                <a:spcPct val="100000"/>
              </a:lnSpc>
              <a:spcBef>
                <a:spcPts val="770"/>
              </a:spcBef>
              <a:buClr>
                <a:srgbClr val="3333CC"/>
              </a:buClr>
              <a:buSzPct val="59375"/>
              <a:buFont typeface="Wingdings"/>
              <a:buChar char=""/>
              <a:tabLst>
                <a:tab pos="354965" algn="l"/>
              </a:tabLst>
            </a:pPr>
            <a:r>
              <a:rPr sz="3200" dirty="0">
                <a:latin typeface="Tahoma"/>
                <a:cs typeface="Tahoma"/>
              </a:rPr>
              <a:t>Each</a:t>
            </a:r>
            <a:r>
              <a:rPr sz="3200" spc="-7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student</a:t>
            </a:r>
            <a:r>
              <a:rPr sz="3200" spc="-4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is</a:t>
            </a:r>
            <a:r>
              <a:rPr sz="3200" spc="-5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enrolled</a:t>
            </a:r>
            <a:r>
              <a:rPr sz="3200" spc="-5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in</a:t>
            </a:r>
            <a:r>
              <a:rPr sz="3200" spc="-35" dirty="0">
                <a:latin typeface="Tahoma"/>
                <a:cs typeface="Tahoma"/>
              </a:rPr>
              <a:t> </a:t>
            </a:r>
            <a:r>
              <a:rPr sz="3200" b="1" dirty="0">
                <a:latin typeface="Tahoma"/>
                <a:cs typeface="Tahoma"/>
              </a:rPr>
              <a:t>3</a:t>
            </a:r>
            <a:r>
              <a:rPr sz="3200" b="1" spc="5" dirty="0">
                <a:latin typeface="Tahoma"/>
                <a:cs typeface="Tahoma"/>
              </a:rPr>
              <a:t> </a:t>
            </a:r>
            <a:r>
              <a:rPr sz="3200" spc="-10" dirty="0">
                <a:latin typeface="Tahoma"/>
                <a:cs typeface="Tahoma"/>
              </a:rPr>
              <a:t>subjects </a:t>
            </a:r>
            <a:r>
              <a:rPr sz="3200" dirty="0">
                <a:latin typeface="Tahoma"/>
                <a:cs typeface="Tahoma"/>
              </a:rPr>
              <a:t>CSE1</a:t>
            </a:r>
            <a:r>
              <a:rPr lang="en-US" sz="3200" dirty="0">
                <a:latin typeface="Tahoma"/>
                <a:cs typeface="Tahoma"/>
              </a:rPr>
              <a:t>03</a:t>
            </a:r>
            <a:r>
              <a:rPr sz="3200" dirty="0">
                <a:latin typeface="Tahoma"/>
                <a:cs typeface="Tahoma"/>
              </a:rPr>
              <a:t>,</a:t>
            </a:r>
            <a:r>
              <a:rPr sz="3200" spc="-13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ENG101,</a:t>
            </a:r>
            <a:r>
              <a:rPr sz="3200" spc="-110" dirty="0">
                <a:latin typeface="Tahoma"/>
                <a:cs typeface="Tahoma"/>
              </a:rPr>
              <a:t> </a:t>
            </a:r>
            <a:r>
              <a:rPr lang="en-US" sz="3200" spc="-10" dirty="0">
                <a:latin typeface="Tahoma"/>
                <a:cs typeface="Tahoma"/>
              </a:rPr>
              <a:t>MAT101</a:t>
            </a:r>
            <a:endParaRPr sz="3200" dirty="0">
              <a:latin typeface="Tahoma"/>
              <a:cs typeface="Tahoma"/>
            </a:endParaRPr>
          </a:p>
          <a:p>
            <a:pPr marL="354965" marR="5080" indent="-342900">
              <a:lnSpc>
                <a:spcPct val="100000"/>
              </a:lnSpc>
              <a:spcBef>
                <a:spcPts val="765"/>
              </a:spcBef>
              <a:buClr>
                <a:srgbClr val="3333CC"/>
              </a:buClr>
              <a:buSzPct val="59375"/>
              <a:buFont typeface="Wingdings"/>
              <a:buChar char=""/>
              <a:tabLst>
                <a:tab pos="354965" algn="l"/>
              </a:tabLst>
            </a:pPr>
            <a:r>
              <a:rPr sz="3200" dirty="0">
                <a:latin typeface="Tahoma"/>
                <a:cs typeface="Tahoma"/>
              </a:rPr>
              <a:t>Store</a:t>
            </a:r>
            <a:r>
              <a:rPr sz="3200" spc="-5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the</a:t>
            </a:r>
            <a:r>
              <a:rPr sz="3200" spc="-3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marks</a:t>
            </a:r>
            <a:r>
              <a:rPr sz="3200" spc="-6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of</a:t>
            </a:r>
            <a:r>
              <a:rPr sz="3200" spc="-3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all</a:t>
            </a:r>
            <a:r>
              <a:rPr sz="3200" spc="-4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students</a:t>
            </a:r>
            <a:r>
              <a:rPr sz="3200" spc="-5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in</a:t>
            </a:r>
            <a:r>
              <a:rPr sz="3200" spc="-4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all</a:t>
            </a:r>
            <a:r>
              <a:rPr sz="3200" spc="-40" dirty="0">
                <a:latin typeface="Tahoma"/>
                <a:cs typeface="Tahoma"/>
              </a:rPr>
              <a:t> </a:t>
            </a:r>
            <a:r>
              <a:rPr sz="3200" spc="-10" dirty="0">
                <a:latin typeface="Tahoma"/>
                <a:cs typeface="Tahoma"/>
              </a:rPr>
              <a:t>three subjects…</a:t>
            </a:r>
            <a:endParaRPr sz="3200" dirty="0">
              <a:latin typeface="Tahoma"/>
              <a:cs typeface="Tahoma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5255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50" dirty="0"/>
              <a:t>2</a:t>
            </a:fld>
            <a:endParaRPr spc="-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74775" y="1556003"/>
            <a:ext cx="439420" cy="475615"/>
          </a:xfrm>
          <a:custGeom>
            <a:avLst/>
            <a:gdLst/>
            <a:ahLst/>
            <a:cxnLst/>
            <a:rect l="l" t="t" r="r" b="b"/>
            <a:pathLst>
              <a:path w="439419" h="475614">
                <a:moveTo>
                  <a:pt x="438912" y="0"/>
                </a:moveTo>
                <a:lnTo>
                  <a:pt x="0" y="0"/>
                </a:lnTo>
                <a:lnTo>
                  <a:pt x="0" y="475488"/>
                </a:lnTo>
                <a:lnTo>
                  <a:pt x="438912" y="475488"/>
                </a:lnTo>
                <a:lnTo>
                  <a:pt x="438912" y="0"/>
                </a:lnTo>
                <a:close/>
              </a:path>
            </a:pathLst>
          </a:custGeom>
          <a:solidFill>
            <a:srgbClr val="FFCF01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585216" y="1556003"/>
            <a:ext cx="8542020" cy="897890"/>
            <a:chOff x="585216" y="1556003"/>
            <a:chExt cx="8542020" cy="89789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57300" y="1556003"/>
              <a:ext cx="329184" cy="475488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999744" y="1978151"/>
              <a:ext cx="422275" cy="475615"/>
            </a:xfrm>
            <a:custGeom>
              <a:avLst/>
              <a:gdLst/>
              <a:ahLst/>
              <a:cxnLst/>
              <a:rect l="l" t="t" r="r" b="b"/>
              <a:pathLst>
                <a:path w="422275" h="475614">
                  <a:moveTo>
                    <a:pt x="422147" y="0"/>
                  </a:moveTo>
                  <a:lnTo>
                    <a:pt x="0" y="0"/>
                  </a:lnTo>
                  <a:lnTo>
                    <a:pt x="0" y="475488"/>
                  </a:lnTo>
                  <a:lnTo>
                    <a:pt x="422147" y="475488"/>
                  </a:lnTo>
                  <a:lnTo>
                    <a:pt x="422147" y="0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85216" y="1904999"/>
              <a:ext cx="8542019" cy="548639"/>
            </a:xfrm>
            <a:prstGeom prst="rect">
              <a:avLst/>
            </a:prstGeom>
          </p:spPr>
        </p:pic>
      </p:grpSp>
      <p:sp>
        <p:nvSpPr>
          <p:cNvPr id="7" name="object 7"/>
          <p:cNvSpPr/>
          <p:nvPr/>
        </p:nvSpPr>
        <p:spPr>
          <a:xfrm>
            <a:off x="1219200" y="1447800"/>
            <a:ext cx="32384" cy="1053465"/>
          </a:xfrm>
          <a:custGeom>
            <a:avLst/>
            <a:gdLst/>
            <a:ahLst/>
            <a:cxnLst/>
            <a:rect l="l" t="t" r="r" b="b"/>
            <a:pathLst>
              <a:path w="32384" h="1053464">
                <a:moveTo>
                  <a:pt x="32003" y="0"/>
                </a:moveTo>
                <a:lnTo>
                  <a:pt x="0" y="0"/>
                </a:lnTo>
                <a:lnTo>
                  <a:pt x="0" y="1053084"/>
                </a:lnTo>
                <a:lnTo>
                  <a:pt x="32003" y="1053084"/>
                </a:lnTo>
                <a:lnTo>
                  <a:pt x="32003" y="0"/>
                </a:lnTo>
                <a:close/>
              </a:path>
            </a:pathLst>
          </a:custGeom>
          <a:solidFill>
            <a:srgbClr val="1C1C1C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1010666" y="1447800"/>
          <a:ext cx="6301105" cy="39027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70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66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85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34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198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37565">
                <a:tc gridSpan="5">
                  <a:txBody>
                    <a:bodyPr/>
                    <a:lstStyle/>
                    <a:p>
                      <a:pPr marL="688340">
                        <a:lnSpc>
                          <a:spcPts val="5020"/>
                        </a:lnSpc>
                      </a:pPr>
                      <a:r>
                        <a:rPr sz="4400" dirty="0">
                          <a:solidFill>
                            <a:srgbClr val="333399"/>
                          </a:solidFill>
                          <a:latin typeface="Tahoma"/>
                          <a:cs typeface="Tahoma"/>
                        </a:rPr>
                        <a:t>Solution</a:t>
                      </a:r>
                      <a:r>
                        <a:rPr sz="4400" spc="-70" dirty="0">
                          <a:solidFill>
                            <a:srgbClr val="333399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4400" dirty="0">
                          <a:solidFill>
                            <a:srgbClr val="333399"/>
                          </a:solidFill>
                          <a:latin typeface="Tahoma"/>
                          <a:cs typeface="Tahoma"/>
                        </a:rPr>
                        <a:t>(kind</a:t>
                      </a:r>
                      <a:r>
                        <a:rPr sz="4400" spc="-35" dirty="0">
                          <a:solidFill>
                            <a:srgbClr val="333399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4400" spc="-10" dirty="0">
                          <a:solidFill>
                            <a:srgbClr val="333399"/>
                          </a:solidFill>
                          <a:latin typeface="Tahoma"/>
                          <a:cs typeface="Tahoma"/>
                        </a:rPr>
                        <a:t>of!)……</a:t>
                      </a:r>
                      <a:endParaRPr sz="440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3745">
                <a:tc>
                  <a:txBody>
                    <a:bodyPr/>
                    <a:lstStyle/>
                    <a:p>
                      <a:pPr marL="374015" indent="-342265">
                        <a:lnSpc>
                          <a:spcPct val="100000"/>
                        </a:lnSpc>
                        <a:spcBef>
                          <a:spcPts val="1555"/>
                        </a:spcBef>
                        <a:buClr>
                          <a:srgbClr val="3333CC"/>
                        </a:buClr>
                        <a:buSzPct val="59375"/>
                        <a:buFont typeface="Wingdings"/>
                        <a:buChar char=""/>
                        <a:tabLst>
                          <a:tab pos="374015" algn="l"/>
                        </a:tabLst>
                      </a:pPr>
                      <a:r>
                        <a:rPr sz="3200" dirty="0">
                          <a:latin typeface="Tahoma"/>
                          <a:cs typeface="Tahoma"/>
                        </a:rPr>
                        <a:t>int</a:t>
                      </a:r>
                      <a:r>
                        <a:rPr sz="3200" spc="-3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3200" dirty="0">
                          <a:latin typeface="Tahoma"/>
                          <a:cs typeface="Tahoma"/>
                        </a:rPr>
                        <a:t>m1[3]</a:t>
                      </a:r>
                      <a:r>
                        <a:rPr sz="3200" spc="-2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3200" dirty="0">
                          <a:latin typeface="Tahoma"/>
                          <a:cs typeface="Tahoma"/>
                        </a:rPr>
                        <a:t>=</a:t>
                      </a:r>
                      <a:r>
                        <a:rPr sz="3200" spc="-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3200" spc="-50" dirty="0">
                          <a:latin typeface="Courier New"/>
                          <a:cs typeface="Courier New"/>
                        </a:rPr>
                        <a:t>{</a:t>
                      </a:r>
                      <a:endParaRPr sz="3200" dirty="0">
                        <a:latin typeface="Courier New"/>
                        <a:cs typeface="Courier New"/>
                      </a:endParaRPr>
                    </a:p>
                  </a:txBody>
                  <a:tcPr marL="0" marR="0" marT="19748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55"/>
                        </a:spcBef>
                      </a:pPr>
                      <a:r>
                        <a:rPr sz="3200" spc="-25" dirty="0">
                          <a:latin typeface="Courier New"/>
                          <a:cs typeface="Courier New"/>
                        </a:rPr>
                        <a:t>78,</a:t>
                      </a:r>
                      <a:endParaRPr sz="3200" dirty="0">
                        <a:latin typeface="Courier New"/>
                        <a:cs typeface="Courier New"/>
                      </a:endParaRPr>
                    </a:p>
                  </a:txBody>
                  <a:tcPr marL="0" marR="0" marT="19748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55"/>
                        </a:spcBef>
                      </a:pPr>
                      <a:r>
                        <a:rPr sz="3200" spc="-25" dirty="0">
                          <a:latin typeface="Courier New"/>
                          <a:cs typeface="Courier New"/>
                        </a:rPr>
                        <a:t>83,</a:t>
                      </a:r>
                      <a:endParaRPr sz="3200" dirty="0">
                        <a:latin typeface="Courier New"/>
                        <a:cs typeface="Courier New"/>
                      </a:endParaRPr>
                    </a:p>
                  </a:txBody>
                  <a:tcPr marL="0" marR="0" marT="197485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555"/>
                        </a:spcBef>
                      </a:pPr>
                      <a:r>
                        <a:rPr sz="3200" spc="-25" dirty="0">
                          <a:latin typeface="Courier New"/>
                          <a:cs typeface="Courier New"/>
                        </a:rPr>
                        <a:t>82</a:t>
                      </a:r>
                      <a:endParaRPr sz="3200" dirty="0">
                        <a:latin typeface="Courier New"/>
                        <a:cs typeface="Courier New"/>
                      </a:endParaRPr>
                    </a:p>
                  </a:txBody>
                  <a:tcPr marL="0" marR="0" marT="197485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1555"/>
                        </a:spcBef>
                      </a:pPr>
                      <a:r>
                        <a:rPr sz="3200" spc="-25" dirty="0">
                          <a:latin typeface="Courier New"/>
                          <a:cs typeface="Courier New"/>
                        </a:rPr>
                        <a:t>};</a:t>
                      </a:r>
                      <a:endParaRPr sz="3200" dirty="0">
                        <a:latin typeface="Courier New"/>
                        <a:cs typeface="Courier New"/>
                      </a:endParaRPr>
                    </a:p>
                  </a:txBody>
                  <a:tcPr marL="0" marR="0" marT="197485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4835">
                <a:tc>
                  <a:txBody>
                    <a:bodyPr/>
                    <a:lstStyle/>
                    <a:p>
                      <a:pPr marL="374015" indent="-342265">
                        <a:lnSpc>
                          <a:spcPct val="100000"/>
                        </a:lnSpc>
                        <a:spcBef>
                          <a:spcPts val="225"/>
                        </a:spcBef>
                        <a:buClr>
                          <a:srgbClr val="3333CC"/>
                        </a:buClr>
                        <a:buSzPct val="59375"/>
                        <a:buFont typeface="Wingdings"/>
                        <a:buChar char=""/>
                        <a:tabLst>
                          <a:tab pos="374015" algn="l"/>
                        </a:tabLst>
                      </a:pPr>
                      <a:r>
                        <a:rPr sz="3200" dirty="0">
                          <a:latin typeface="Tahoma"/>
                          <a:cs typeface="Tahoma"/>
                        </a:rPr>
                        <a:t>int</a:t>
                      </a:r>
                      <a:r>
                        <a:rPr sz="3200" spc="-3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3200" dirty="0">
                          <a:latin typeface="Tahoma"/>
                          <a:cs typeface="Tahoma"/>
                        </a:rPr>
                        <a:t>m2[3]</a:t>
                      </a:r>
                      <a:r>
                        <a:rPr sz="3200" spc="-2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3200" dirty="0">
                          <a:latin typeface="Tahoma"/>
                          <a:cs typeface="Tahoma"/>
                        </a:rPr>
                        <a:t>=</a:t>
                      </a:r>
                      <a:r>
                        <a:rPr sz="3200" spc="-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3200" spc="-50" dirty="0">
                          <a:latin typeface="Courier New"/>
                          <a:cs typeface="Courier New"/>
                        </a:rPr>
                        <a:t>{</a:t>
                      </a:r>
                      <a:endParaRPr sz="3200">
                        <a:latin typeface="Courier New"/>
                        <a:cs typeface="Courier New"/>
                      </a:endParaRPr>
                    </a:p>
                  </a:txBody>
                  <a:tcPr marL="0" marR="0" marT="2857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3200" spc="-25" dirty="0">
                          <a:latin typeface="Courier New"/>
                          <a:cs typeface="Courier New"/>
                        </a:rPr>
                        <a:t>90,</a:t>
                      </a:r>
                      <a:endParaRPr sz="3200" dirty="0">
                        <a:latin typeface="Courier New"/>
                        <a:cs typeface="Courier New"/>
                      </a:endParaRPr>
                    </a:p>
                  </a:txBody>
                  <a:tcPr marL="0" marR="0" marT="2857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3200" spc="-25" dirty="0">
                          <a:latin typeface="Courier New"/>
                          <a:cs typeface="Courier New"/>
                        </a:rPr>
                        <a:t>88,</a:t>
                      </a:r>
                      <a:endParaRPr sz="3200">
                        <a:latin typeface="Courier New"/>
                        <a:cs typeface="Courier New"/>
                      </a:endParaRPr>
                    </a:p>
                  </a:txBody>
                  <a:tcPr marL="0" marR="0" marT="28575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3200" spc="-25" dirty="0">
                          <a:latin typeface="Courier New"/>
                          <a:cs typeface="Courier New"/>
                        </a:rPr>
                        <a:t>94</a:t>
                      </a:r>
                      <a:endParaRPr sz="3200">
                        <a:latin typeface="Courier New"/>
                        <a:cs typeface="Courier New"/>
                      </a:endParaRPr>
                    </a:p>
                  </a:txBody>
                  <a:tcPr marL="0" marR="0" marT="28575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3200" spc="-25" dirty="0">
                          <a:latin typeface="Courier New"/>
                          <a:cs typeface="Courier New"/>
                        </a:rPr>
                        <a:t>};</a:t>
                      </a:r>
                      <a:endParaRPr sz="3200" dirty="0">
                        <a:latin typeface="Courier New"/>
                        <a:cs typeface="Courier New"/>
                      </a:endParaRPr>
                    </a:p>
                  </a:txBody>
                  <a:tcPr marL="0" marR="0" marT="2857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4835">
                <a:tc>
                  <a:txBody>
                    <a:bodyPr/>
                    <a:lstStyle/>
                    <a:p>
                      <a:pPr marL="374015" indent="-342265">
                        <a:lnSpc>
                          <a:spcPct val="100000"/>
                        </a:lnSpc>
                        <a:spcBef>
                          <a:spcPts val="225"/>
                        </a:spcBef>
                        <a:buClr>
                          <a:srgbClr val="3333CC"/>
                        </a:buClr>
                        <a:buSzPct val="59375"/>
                        <a:buFont typeface="Wingdings"/>
                        <a:buChar char=""/>
                        <a:tabLst>
                          <a:tab pos="374015" algn="l"/>
                        </a:tabLst>
                      </a:pPr>
                      <a:r>
                        <a:rPr sz="3200" dirty="0">
                          <a:latin typeface="Tahoma"/>
                          <a:cs typeface="Tahoma"/>
                        </a:rPr>
                        <a:t>int</a:t>
                      </a:r>
                      <a:r>
                        <a:rPr sz="3200" spc="-3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3200" dirty="0">
                          <a:latin typeface="Tahoma"/>
                          <a:cs typeface="Tahoma"/>
                        </a:rPr>
                        <a:t>m3[3]</a:t>
                      </a:r>
                      <a:r>
                        <a:rPr sz="3200" spc="-2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3200" dirty="0">
                          <a:latin typeface="Tahoma"/>
                          <a:cs typeface="Tahoma"/>
                        </a:rPr>
                        <a:t>=</a:t>
                      </a:r>
                      <a:r>
                        <a:rPr sz="3200" spc="-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3200" spc="-50" dirty="0">
                          <a:latin typeface="Courier New"/>
                          <a:cs typeface="Courier New"/>
                        </a:rPr>
                        <a:t>{</a:t>
                      </a:r>
                      <a:endParaRPr sz="3200">
                        <a:latin typeface="Courier New"/>
                        <a:cs typeface="Courier New"/>
                      </a:endParaRPr>
                    </a:p>
                  </a:txBody>
                  <a:tcPr marL="0" marR="0" marT="2857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3200" spc="-25" dirty="0">
                          <a:latin typeface="Courier New"/>
                          <a:cs typeface="Courier New"/>
                        </a:rPr>
                        <a:t>71,</a:t>
                      </a:r>
                      <a:endParaRPr sz="3200">
                        <a:latin typeface="Courier New"/>
                        <a:cs typeface="Courier New"/>
                      </a:endParaRPr>
                    </a:p>
                  </a:txBody>
                  <a:tcPr marL="0" marR="0" marT="2857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3200" spc="-25" dirty="0">
                          <a:latin typeface="Courier New"/>
                          <a:cs typeface="Courier New"/>
                        </a:rPr>
                        <a:t>73,</a:t>
                      </a:r>
                      <a:endParaRPr sz="3200">
                        <a:latin typeface="Courier New"/>
                        <a:cs typeface="Courier New"/>
                      </a:endParaRPr>
                    </a:p>
                  </a:txBody>
                  <a:tcPr marL="0" marR="0" marT="28575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3200" spc="-25" dirty="0">
                          <a:latin typeface="Courier New"/>
                          <a:cs typeface="Courier New"/>
                        </a:rPr>
                        <a:t>78</a:t>
                      </a:r>
                      <a:endParaRPr sz="3200">
                        <a:latin typeface="Courier New"/>
                        <a:cs typeface="Courier New"/>
                      </a:endParaRPr>
                    </a:p>
                  </a:txBody>
                  <a:tcPr marL="0" marR="0" marT="28575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3200" spc="-25" dirty="0">
                          <a:latin typeface="Courier New"/>
                          <a:cs typeface="Courier New"/>
                        </a:rPr>
                        <a:t>};</a:t>
                      </a:r>
                      <a:endParaRPr sz="3200">
                        <a:latin typeface="Courier New"/>
                        <a:cs typeface="Courier New"/>
                      </a:endParaRPr>
                    </a:p>
                  </a:txBody>
                  <a:tcPr marL="0" marR="0" marT="28575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4835">
                <a:tc>
                  <a:txBody>
                    <a:bodyPr/>
                    <a:lstStyle/>
                    <a:p>
                      <a:pPr marL="374015" indent="-342265">
                        <a:lnSpc>
                          <a:spcPct val="100000"/>
                        </a:lnSpc>
                        <a:spcBef>
                          <a:spcPts val="225"/>
                        </a:spcBef>
                        <a:buClr>
                          <a:srgbClr val="3333CC"/>
                        </a:buClr>
                        <a:buSzPct val="59375"/>
                        <a:buFont typeface="Wingdings"/>
                        <a:buChar char=""/>
                        <a:tabLst>
                          <a:tab pos="374015" algn="l"/>
                        </a:tabLst>
                      </a:pPr>
                      <a:r>
                        <a:rPr sz="3200" dirty="0">
                          <a:latin typeface="Tahoma"/>
                          <a:cs typeface="Tahoma"/>
                        </a:rPr>
                        <a:t>int</a:t>
                      </a:r>
                      <a:r>
                        <a:rPr sz="3200" spc="-3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3200" dirty="0">
                          <a:latin typeface="Tahoma"/>
                          <a:cs typeface="Tahoma"/>
                        </a:rPr>
                        <a:t>m4[3]</a:t>
                      </a:r>
                      <a:r>
                        <a:rPr sz="3200" spc="-2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3200" dirty="0">
                          <a:latin typeface="Tahoma"/>
                          <a:cs typeface="Tahoma"/>
                        </a:rPr>
                        <a:t>=</a:t>
                      </a:r>
                      <a:r>
                        <a:rPr sz="3200" spc="-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3200" spc="-50" dirty="0">
                          <a:latin typeface="Courier New"/>
                          <a:cs typeface="Courier New"/>
                        </a:rPr>
                        <a:t>{</a:t>
                      </a:r>
                      <a:endParaRPr sz="3200">
                        <a:latin typeface="Courier New"/>
                        <a:cs typeface="Courier New"/>
                      </a:endParaRPr>
                    </a:p>
                  </a:txBody>
                  <a:tcPr marL="0" marR="0" marT="2857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3200" spc="-25" dirty="0">
                          <a:latin typeface="Courier New"/>
                          <a:cs typeface="Courier New"/>
                        </a:rPr>
                        <a:t>97,</a:t>
                      </a:r>
                      <a:endParaRPr sz="3200">
                        <a:latin typeface="Courier New"/>
                        <a:cs typeface="Courier New"/>
                      </a:endParaRPr>
                    </a:p>
                  </a:txBody>
                  <a:tcPr marL="0" marR="0" marT="2857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3200" spc="-25" dirty="0">
                          <a:latin typeface="Courier New"/>
                          <a:cs typeface="Courier New"/>
                        </a:rPr>
                        <a:t>96,</a:t>
                      </a:r>
                      <a:endParaRPr sz="3200">
                        <a:latin typeface="Courier New"/>
                        <a:cs typeface="Courier New"/>
                      </a:endParaRPr>
                    </a:p>
                  </a:txBody>
                  <a:tcPr marL="0" marR="0" marT="28575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3200" spc="-25" dirty="0">
                          <a:latin typeface="Courier New"/>
                          <a:cs typeface="Courier New"/>
                        </a:rPr>
                        <a:t>95</a:t>
                      </a:r>
                      <a:endParaRPr sz="3200">
                        <a:latin typeface="Courier New"/>
                        <a:cs typeface="Courier New"/>
                      </a:endParaRPr>
                    </a:p>
                  </a:txBody>
                  <a:tcPr marL="0" marR="0" marT="28575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3200" spc="-25" dirty="0">
                          <a:latin typeface="Courier New"/>
                          <a:cs typeface="Courier New"/>
                        </a:rPr>
                        <a:t>};</a:t>
                      </a:r>
                      <a:endParaRPr sz="3200">
                        <a:latin typeface="Courier New"/>
                        <a:cs typeface="Courier New"/>
                      </a:endParaRPr>
                    </a:p>
                  </a:txBody>
                  <a:tcPr marL="0" marR="0" marT="28575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6895">
                <a:tc>
                  <a:txBody>
                    <a:bodyPr/>
                    <a:lstStyle/>
                    <a:p>
                      <a:pPr marL="374015" indent="-342265">
                        <a:lnSpc>
                          <a:spcPct val="100000"/>
                        </a:lnSpc>
                        <a:spcBef>
                          <a:spcPts val="225"/>
                        </a:spcBef>
                        <a:buClr>
                          <a:srgbClr val="3333CC"/>
                        </a:buClr>
                        <a:buSzPct val="59375"/>
                        <a:buFont typeface="Wingdings"/>
                        <a:buChar char=""/>
                        <a:tabLst>
                          <a:tab pos="374015" algn="l"/>
                        </a:tabLst>
                      </a:pPr>
                      <a:r>
                        <a:rPr sz="3200" dirty="0">
                          <a:latin typeface="Tahoma"/>
                          <a:cs typeface="Tahoma"/>
                        </a:rPr>
                        <a:t>int</a:t>
                      </a:r>
                      <a:r>
                        <a:rPr sz="3200" spc="-3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3200" dirty="0">
                          <a:latin typeface="Tahoma"/>
                          <a:cs typeface="Tahoma"/>
                        </a:rPr>
                        <a:t>m5[3]</a:t>
                      </a:r>
                      <a:r>
                        <a:rPr sz="3200" spc="-2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3200" dirty="0">
                          <a:latin typeface="Tahoma"/>
                          <a:cs typeface="Tahoma"/>
                        </a:rPr>
                        <a:t>=</a:t>
                      </a:r>
                      <a:r>
                        <a:rPr sz="3200" spc="-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3200" spc="-50" dirty="0">
                          <a:latin typeface="Courier New"/>
                          <a:cs typeface="Courier New"/>
                        </a:rPr>
                        <a:t>{</a:t>
                      </a:r>
                      <a:endParaRPr sz="3200">
                        <a:latin typeface="Courier New"/>
                        <a:cs typeface="Courier New"/>
                      </a:endParaRPr>
                    </a:p>
                  </a:txBody>
                  <a:tcPr marL="0" marR="0" marT="2857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3200" spc="-25" dirty="0">
                          <a:latin typeface="Courier New"/>
                          <a:cs typeface="Courier New"/>
                        </a:rPr>
                        <a:t>89,</a:t>
                      </a:r>
                      <a:endParaRPr sz="3200">
                        <a:latin typeface="Courier New"/>
                        <a:cs typeface="Courier New"/>
                      </a:endParaRPr>
                    </a:p>
                  </a:txBody>
                  <a:tcPr marL="0" marR="0" marT="2857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3200" spc="-25" dirty="0">
                          <a:latin typeface="Courier New"/>
                          <a:cs typeface="Courier New"/>
                        </a:rPr>
                        <a:t>93,</a:t>
                      </a:r>
                      <a:endParaRPr sz="3200">
                        <a:latin typeface="Courier New"/>
                        <a:cs typeface="Courier New"/>
                      </a:endParaRPr>
                    </a:p>
                  </a:txBody>
                  <a:tcPr marL="0" marR="0" marT="28575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3200" spc="-25" dirty="0">
                          <a:latin typeface="Courier New"/>
                          <a:cs typeface="Courier New"/>
                        </a:rPr>
                        <a:t>90</a:t>
                      </a:r>
                      <a:endParaRPr sz="3200">
                        <a:latin typeface="Courier New"/>
                        <a:cs typeface="Courier New"/>
                      </a:endParaRPr>
                    </a:p>
                  </a:txBody>
                  <a:tcPr marL="0" marR="0" marT="28575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3200" spc="-25" dirty="0">
                          <a:latin typeface="Courier New"/>
                          <a:cs typeface="Courier New"/>
                        </a:rPr>
                        <a:t>};</a:t>
                      </a:r>
                      <a:endParaRPr sz="3200" dirty="0">
                        <a:latin typeface="Courier New"/>
                        <a:cs typeface="Courier New"/>
                      </a:endParaRPr>
                    </a:p>
                  </a:txBody>
                  <a:tcPr marL="0" marR="0" marT="28575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object 9"/>
          <p:cNvSpPr/>
          <p:nvPr/>
        </p:nvSpPr>
        <p:spPr>
          <a:xfrm>
            <a:off x="4474464" y="5606795"/>
            <a:ext cx="4232275" cy="1085215"/>
          </a:xfrm>
          <a:custGeom>
            <a:avLst/>
            <a:gdLst/>
            <a:ahLst/>
            <a:cxnLst/>
            <a:rect l="l" t="t" r="r" b="b"/>
            <a:pathLst>
              <a:path w="4232275" h="1085215">
                <a:moveTo>
                  <a:pt x="4232148" y="4572"/>
                </a:moveTo>
                <a:lnTo>
                  <a:pt x="4230624" y="1524"/>
                </a:lnTo>
                <a:lnTo>
                  <a:pt x="4227576" y="0"/>
                </a:lnTo>
                <a:lnTo>
                  <a:pt x="4223004" y="0"/>
                </a:lnTo>
                <a:lnTo>
                  <a:pt x="4223004" y="9144"/>
                </a:lnTo>
                <a:lnTo>
                  <a:pt x="4223004" y="1075956"/>
                </a:lnTo>
                <a:lnTo>
                  <a:pt x="9144" y="1075956"/>
                </a:lnTo>
                <a:lnTo>
                  <a:pt x="9144" y="9144"/>
                </a:lnTo>
                <a:lnTo>
                  <a:pt x="4223004" y="9144"/>
                </a:lnTo>
                <a:lnTo>
                  <a:pt x="4223004" y="0"/>
                </a:lnTo>
                <a:lnTo>
                  <a:pt x="4572" y="0"/>
                </a:lnTo>
                <a:lnTo>
                  <a:pt x="1524" y="1524"/>
                </a:lnTo>
                <a:lnTo>
                  <a:pt x="0" y="4572"/>
                </a:lnTo>
                <a:lnTo>
                  <a:pt x="0" y="1080516"/>
                </a:lnTo>
                <a:lnTo>
                  <a:pt x="1524" y="1083564"/>
                </a:lnTo>
                <a:lnTo>
                  <a:pt x="4572" y="1085088"/>
                </a:lnTo>
                <a:lnTo>
                  <a:pt x="4227576" y="1085088"/>
                </a:lnTo>
                <a:lnTo>
                  <a:pt x="4230624" y="1083564"/>
                </a:lnTo>
                <a:lnTo>
                  <a:pt x="4232148" y="1080516"/>
                </a:lnTo>
                <a:lnTo>
                  <a:pt x="4232148" y="1075956"/>
                </a:lnTo>
                <a:lnTo>
                  <a:pt x="4232148" y="9144"/>
                </a:lnTo>
                <a:lnTo>
                  <a:pt x="4232148" y="4572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4557690" y="5639709"/>
            <a:ext cx="3882390" cy="10020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latin typeface="Tahoma"/>
                <a:cs typeface="Tahoma"/>
              </a:rPr>
              <a:t>What</a:t>
            </a:r>
            <a:r>
              <a:rPr sz="3200" spc="-6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if</a:t>
            </a:r>
            <a:r>
              <a:rPr sz="3200" spc="-4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we</a:t>
            </a:r>
            <a:r>
              <a:rPr sz="3200" spc="-4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have</a:t>
            </a:r>
            <a:r>
              <a:rPr sz="3200" spc="-45" dirty="0">
                <a:latin typeface="Tahoma"/>
                <a:cs typeface="Tahoma"/>
              </a:rPr>
              <a:t> </a:t>
            </a:r>
            <a:r>
              <a:rPr sz="3200" spc="-25" dirty="0">
                <a:latin typeface="Tahoma"/>
                <a:cs typeface="Tahoma"/>
              </a:rPr>
              <a:t>40 </a:t>
            </a:r>
            <a:r>
              <a:rPr sz="3200" dirty="0">
                <a:latin typeface="Tahoma"/>
                <a:cs typeface="Tahoma"/>
              </a:rPr>
              <a:t>students</a:t>
            </a:r>
            <a:r>
              <a:rPr sz="3200" spc="-8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in</a:t>
            </a:r>
            <a:r>
              <a:rPr sz="3200" spc="-7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the</a:t>
            </a:r>
            <a:r>
              <a:rPr sz="3200" spc="-55" dirty="0">
                <a:latin typeface="Tahoma"/>
                <a:cs typeface="Tahoma"/>
              </a:rPr>
              <a:t> </a:t>
            </a:r>
            <a:r>
              <a:rPr sz="3200" spc="-10" dirty="0">
                <a:latin typeface="Tahoma"/>
                <a:cs typeface="Tahoma"/>
              </a:rPr>
              <a:t>class?</a:t>
            </a:r>
            <a:endParaRPr sz="3200" dirty="0">
              <a:latin typeface="Tahoma"/>
              <a:cs typeface="Tahoma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5255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50" dirty="0"/>
              <a:t>3</a:t>
            </a:fld>
            <a:endParaRPr spc="-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839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/>
              <a:t>Efficient</a:t>
            </a:r>
            <a:r>
              <a:rPr spc="-90" dirty="0"/>
              <a:t> </a:t>
            </a:r>
            <a:r>
              <a:rPr spc="-10" dirty="0"/>
              <a:t>solution…</a:t>
            </a:r>
          </a:p>
        </p:txBody>
      </p:sp>
      <p:sp>
        <p:nvSpPr>
          <p:cNvPr id="3" name="object 3"/>
          <p:cNvSpPr/>
          <p:nvPr/>
        </p:nvSpPr>
        <p:spPr>
          <a:xfrm>
            <a:off x="457200" y="3886200"/>
            <a:ext cx="9144000" cy="3429000"/>
          </a:xfrm>
          <a:custGeom>
            <a:avLst/>
            <a:gdLst/>
            <a:ahLst/>
            <a:cxnLst/>
            <a:rect l="l" t="t" r="r" b="b"/>
            <a:pathLst>
              <a:path w="9144000" h="3429000">
                <a:moveTo>
                  <a:pt x="9144000" y="0"/>
                </a:moveTo>
                <a:lnTo>
                  <a:pt x="0" y="0"/>
                </a:lnTo>
                <a:lnTo>
                  <a:pt x="0" y="3429000"/>
                </a:lnTo>
                <a:lnTo>
                  <a:pt x="9144000" y="3429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029716" y="2505008"/>
            <a:ext cx="8482330" cy="21723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4965" marR="381000" indent="-342900">
              <a:lnSpc>
                <a:spcPct val="100000"/>
              </a:lnSpc>
              <a:spcBef>
                <a:spcPts val="105"/>
              </a:spcBef>
              <a:buClr>
                <a:srgbClr val="3333CC"/>
              </a:buClr>
              <a:buSzPct val="59375"/>
              <a:buFont typeface="Wingdings"/>
              <a:buChar char=""/>
              <a:tabLst>
                <a:tab pos="354965" algn="l"/>
              </a:tabLst>
            </a:pPr>
            <a:r>
              <a:rPr sz="3200" dirty="0">
                <a:latin typeface="Tahoma"/>
                <a:cs typeface="Tahoma"/>
              </a:rPr>
              <a:t>Store</a:t>
            </a:r>
            <a:r>
              <a:rPr sz="3200" spc="-4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this</a:t>
            </a:r>
            <a:r>
              <a:rPr sz="3200" spc="-3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information</a:t>
            </a:r>
            <a:r>
              <a:rPr sz="3200" spc="-3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in</a:t>
            </a:r>
            <a:r>
              <a:rPr sz="3200" spc="-2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a</a:t>
            </a:r>
            <a:r>
              <a:rPr sz="3200" spc="-30" dirty="0">
                <a:latin typeface="Tahoma"/>
                <a:cs typeface="Tahoma"/>
              </a:rPr>
              <a:t> </a:t>
            </a:r>
            <a:r>
              <a:rPr sz="3200" spc="-20" dirty="0">
                <a:latin typeface="Tahoma"/>
                <a:cs typeface="Tahoma"/>
              </a:rPr>
              <a:t>two-</a:t>
            </a:r>
            <a:r>
              <a:rPr sz="3200" spc="-10" dirty="0">
                <a:latin typeface="Tahoma"/>
                <a:cs typeface="Tahoma"/>
              </a:rPr>
              <a:t>dimensional array</a:t>
            </a:r>
            <a:endParaRPr sz="3200" dirty="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spcBef>
                <a:spcPts val="765"/>
              </a:spcBef>
              <a:buClr>
                <a:srgbClr val="3333CC"/>
              </a:buClr>
              <a:buSzPct val="59375"/>
              <a:buFont typeface="Wingdings"/>
              <a:buChar char=""/>
              <a:tabLst>
                <a:tab pos="354965" algn="l"/>
              </a:tabLst>
            </a:pPr>
            <a:r>
              <a:rPr sz="3200" dirty="0">
                <a:latin typeface="Tahoma"/>
                <a:cs typeface="Tahoma"/>
              </a:rPr>
              <a:t>First</a:t>
            </a:r>
            <a:r>
              <a:rPr sz="3200" spc="-6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dimension:</a:t>
            </a:r>
            <a:r>
              <a:rPr sz="3200" spc="-5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which</a:t>
            </a:r>
            <a:r>
              <a:rPr sz="3200" spc="-5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student</a:t>
            </a:r>
            <a:r>
              <a:rPr sz="3200" spc="-5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0,</a:t>
            </a:r>
            <a:r>
              <a:rPr sz="3200" spc="-5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1,</a:t>
            </a:r>
            <a:r>
              <a:rPr sz="3200" spc="-4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2,</a:t>
            </a:r>
            <a:r>
              <a:rPr sz="3200" spc="-5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3</a:t>
            </a:r>
            <a:r>
              <a:rPr sz="3200" spc="-5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or</a:t>
            </a:r>
            <a:r>
              <a:rPr sz="3200" spc="-60" dirty="0">
                <a:latin typeface="Tahoma"/>
                <a:cs typeface="Tahoma"/>
              </a:rPr>
              <a:t> </a:t>
            </a:r>
            <a:r>
              <a:rPr sz="3200" spc="-50" dirty="0">
                <a:latin typeface="Tahoma"/>
                <a:cs typeface="Tahoma"/>
              </a:rPr>
              <a:t>4</a:t>
            </a:r>
            <a:endParaRPr sz="3200" dirty="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spcBef>
                <a:spcPts val="770"/>
              </a:spcBef>
              <a:buClr>
                <a:srgbClr val="3333CC"/>
              </a:buClr>
              <a:buSzPct val="59375"/>
              <a:buFont typeface="Wingdings"/>
              <a:buChar char=""/>
              <a:tabLst>
                <a:tab pos="354965" algn="l"/>
              </a:tabLst>
            </a:pPr>
            <a:r>
              <a:rPr sz="3200" dirty="0">
                <a:latin typeface="Tahoma"/>
                <a:cs typeface="Tahoma"/>
              </a:rPr>
              <a:t>Second</a:t>
            </a:r>
            <a:r>
              <a:rPr sz="3200" spc="-6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dimension:</a:t>
            </a:r>
            <a:r>
              <a:rPr sz="3200" spc="-2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which</a:t>
            </a:r>
            <a:r>
              <a:rPr sz="3200" spc="-5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subject</a:t>
            </a:r>
            <a:r>
              <a:rPr sz="3200" spc="-4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0,</a:t>
            </a:r>
            <a:r>
              <a:rPr sz="3200" spc="-3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1,</a:t>
            </a:r>
            <a:r>
              <a:rPr sz="3200" spc="-4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or</a:t>
            </a:r>
            <a:r>
              <a:rPr sz="3200" spc="-45" dirty="0">
                <a:latin typeface="Tahoma"/>
                <a:cs typeface="Tahoma"/>
              </a:rPr>
              <a:t> </a:t>
            </a:r>
            <a:r>
              <a:rPr sz="3200" spc="-50" dirty="0">
                <a:latin typeface="Tahoma"/>
                <a:cs typeface="Tahoma"/>
              </a:rPr>
              <a:t>2</a:t>
            </a:r>
            <a:endParaRPr sz="3200" dirty="0">
              <a:latin typeface="Tahoma"/>
              <a:cs typeface="Tahoma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5255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50" dirty="0"/>
              <a:t>4</a:t>
            </a:fld>
            <a:endParaRPr spc="-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839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Pictorially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5255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50" dirty="0"/>
              <a:t>5</a:t>
            </a:fld>
            <a:endParaRPr spc="-50" dirty="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2307335" y="2881883"/>
          <a:ext cx="4895214" cy="39350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313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31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31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1280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3600" spc="-25" dirty="0">
                          <a:latin typeface="Times New Roman"/>
                          <a:cs typeface="Times New Roman"/>
                        </a:rPr>
                        <a:t>78</a:t>
                      </a:r>
                      <a:endParaRPr sz="3600">
                        <a:latin typeface="Times New Roman"/>
                        <a:cs typeface="Times New Roman"/>
                      </a:endParaRPr>
                    </a:p>
                  </a:txBody>
                  <a:tcPr marL="0" marR="0" marT="2920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3600" spc="-25" dirty="0">
                          <a:latin typeface="Times New Roman"/>
                          <a:cs typeface="Times New Roman"/>
                        </a:rPr>
                        <a:t>83</a:t>
                      </a:r>
                      <a:endParaRPr sz="3600">
                        <a:latin typeface="Times New Roman"/>
                        <a:cs typeface="Times New Roman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3600" spc="-25" dirty="0">
                          <a:latin typeface="Times New Roman"/>
                          <a:cs typeface="Times New Roman"/>
                        </a:rPr>
                        <a:t>82</a:t>
                      </a:r>
                      <a:endParaRPr sz="3600">
                        <a:latin typeface="Times New Roman"/>
                        <a:cs typeface="Times New Roman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295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3600" spc="-25" dirty="0">
                          <a:latin typeface="Times New Roman"/>
                          <a:cs typeface="Times New Roman"/>
                        </a:rPr>
                        <a:t>90</a:t>
                      </a:r>
                      <a:endParaRPr sz="3600">
                        <a:latin typeface="Times New Roman"/>
                        <a:cs typeface="Times New Roman"/>
                      </a:endParaRPr>
                    </a:p>
                  </a:txBody>
                  <a:tcPr marL="0" marR="0" marT="2920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3600" spc="-25" dirty="0">
                          <a:latin typeface="Times New Roman"/>
                          <a:cs typeface="Times New Roman"/>
                        </a:rPr>
                        <a:t>88</a:t>
                      </a:r>
                      <a:endParaRPr sz="3600">
                        <a:latin typeface="Times New Roman"/>
                        <a:cs typeface="Times New Roman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3600" spc="-25" dirty="0">
                          <a:latin typeface="Times New Roman"/>
                          <a:cs typeface="Times New Roman"/>
                        </a:rPr>
                        <a:t>94</a:t>
                      </a:r>
                      <a:endParaRPr sz="3600">
                        <a:latin typeface="Times New Roman"/>
                        <a:cs typeface="Times New Roman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406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3600" spc="-25" dirty="0">
                          <a:latin typeface="Times New Roman"/>
                          <a:cs typeface="Times New Roman"/>
                        </a:rPr>
                        <a:t>71</a:t>
                      </a:r>
                      <a:endParaRPr sz="3600">
                        <a:latin typeface="Times New Roman"/>
                        <a:cs typeface="Times New Roman"/>
                      </a:endParaRPr>
                    </a:p>
                  </a:txBody>
                  <a:tcPr marL="0" marR="0" marT="2984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3600" spc="-25" dirty="0">
                          <a:latin typeface="Times New Roman"/>
                          <a:cs typeface="Times New Roman"/>
                        </a:rPr>
                        <a:t>73</a:t>
                      </a:r>
                      <a:endParaRPr sz="3600">
                        <a:latin typeface="Times New Roman"/>
                        <a:cs typeface="Times New Roman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3600" spc="-25" dirty="0">
                          <a:latin typeface="Times New Roman"/>
                          <a:cs typeface="Times New Roman"/>
                        </a:rPr>
                        <a:t>78</a:t>
                      </a:r>
                      <a:endParaRPr sz="3600">
                        <a:latin typeface="Times New Roman"/>
                        <a:cs typeface="Times New Roman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978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3600" spc="-25" dirty="0">
                          <a:latin typeface="Times New Roman"/>
                          <a:cs typeface="Times New Roman"/>
                        </a:rPr>
                        <a:t>97</a:t>
                      </a:r>
                      <a:endParaRPr sz="3600">
                        <a:latin typeface="Times New Roman"/>
                        <a:cs typeface="Times New Roman"/>
                      </a:endParaRPr>
                    </a:p>
                  </a:txBody>
                  <a:tcPr marL="0" marR="0" marT="3048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3600" spc="-25" dirty="0">
                          <a:latin typeface="Times New Roman"/>
                          <a:cs typeface="Times New Roman"/>
                        </a:rPr>
                        <a:t>96</a:t>
                      </a:r>
                      <a:endParaRPr sz="3600">
                        <a:latin typeface="Times New Roman"/>
                        <a:cs typeface="Times New Roman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3600" b="1" u="heavy" spc="-25" dirty="0">
                          <a:solidFill>
                            <a:srgbClr val="FF0000"/>
                          </a:solidFill>
                          <a:uFill>
                            <a:solidFill>
                              <a:srgbClr val="FF0000"/>
                            </a:solidFill>
                          </a:uFill>
                          <a:latin typeface="Times New Roman"/>
                          <a:cs typeface="Times New Roman"/>
                        </a:rPr>
                        <a:t>95</a:t>
                      </a:r>
                      <a:endParaRPr sz="3600">
                        <a:latin typeface="Times New Roman"/>
                        <a:cs typeface="Times New Roman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8549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3600" spc="-25" dirty="0">
                          <a:latin typeface="Times New Roman"/>
                          <a:cs typeface="Times New Roman"/>
                        </a:rPr>
                        <a:t>89</a:t>
                      </a:r>
                      <a:endParaRPr sz="3600">
                        <a:latin typeface="Times New Roman"/>
                        <a:cs typeface="Times New Roman"/>
                      </a:endParaRPr>
                    </a:p>
                  </a:txBody>
                  <a:tcPr marL="0" marR="0" marT="2984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3600" spc="-25" dirty="0">
                          <a:latin typeface="Times New Roman"/>
                          <a:cs typeface="Times New Roman"/>
                        </a:rPr>
                        <a:t>93</a:t>
                      </a:r>
                      <a:endParaRPr sz="3600">
                        <a:latin typeface="Times New Roman"/>
                        <a:cs typeface="Times New Roman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3600" spc="-25" dirty="0">
                          <a:latin typeface="Times New Roman"/>
                          <a:cs typeface="Times New Roman"/>
                        </a:rPr>
                        <a:t>90</a:t>
                      </a:r>
                      <a:endParaRPr sz="3600">
                        <a:latin typeface="Times New Roman"/>
                        <a:cs typeface="Times New Roman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1732432" y="2603855"/>
            <a:ext cx="280035" cy="4140200"/>
          </a:xfrm>
          <a:prstGeom prst="rect">
            <a:avLst/>
          </a:prstGeom>
        </p:spPr>
        <p:txBody>
          <a:bodyPr vert="horz" wrap="square" lIns="0" tIns="2870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260"/>
              </a:spcBef>
            </a:pPr>
            <a:r>
              <a:rPr sz="3600" spc="-50" dirty="0">
                <a:latin typeface="Arial MT"/>
                <a:cs typeface="Arial MT"/>
              </a:rPr>
              <a:t>0</a:t>
            </a:r>
            <a:endParaRPr sz="36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160"/>
              </a:spcBef>
            </a:pPr>
            <a:r>
              <a:rPr sz="3600" spc="-50" dirty="0">
                <a:latin typeface="Arial MT"/>
                <a:cs typeface="Arial MT"/>
              </a:rPr>
              <a:t>1</a:t>
            </a:r>
            <a:endParaRPr sz="36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160"/>
              </a:spcBef>
            </a:pPr>
            <a:r>
              <a:rPr sz="3600" spc="-50" dirty="0">
                <a:latin typeface="Arial MT"/>
                <a:cs typeface="Arial MT"/>
              </a:rPr>
              <a:t>2</a:t>
            </a:r>
            <a:endParaRPr sz="36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160"/>
              </a:spcBef>
            </a:pPr>
            <a:r>
              <a:rPr sz="3600" b="1" u="heavy" spc="-5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3</a:t>
            </a:r>
            <a:endParaRPr sz="3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160"/>
              </a:spcBef>
            </a:pPr>
            <a:r>
              <a:rPr sz="3600" spc="-50" dirty="0">
                <a:latin typeface="Arial MT"/>
                <a:cs typeface="Arial MT"/>
              </a:rPr>
              <a:t>4</a:t>
            </a:r>
            <a:endParaRPr sz="36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076600" y="2256383"/>
            <a:ext cx="2800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0" dirty="0">
                <a:latin typeface="Arial MT"/>
                <a:cs typeface="Arial MT"/>
              </a:rPr>
              <a:t>0</a:t>
            </a:r>
            <a:endParaRPr sz="36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496663" y="2256383"/>
            <a:ext cx="2800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0" dirty="0">
                <a:latin typeface="Arial MT"/>
                <a:cs typeface="Arial MT"/>
              </a:rPr>
              <a:t>1</a:t>
            </a:r>
            <a:endParaRPr sz="36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199276" y="2256383"/>
            <a:ext cx="2800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3600" b="1" u="heavy" spc="-5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2</a:t>
            </a:r>
            <a:endParaRPr sz="36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839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/>
              <a:t>In</a:t>
            </a:r>
            <a:r>
              <a:rPr spc="-30" dirty="0"/>
              <a:t> </a:t>
            </a:r>
            <a:r>
              <a:rPr dirty="0"/>
              <a:t>general</a:t>
            </a:r>
            <a:r>
              <a:rPr spc="-15" dirty="0"/>
              <a:t> </a:t>
            </a:r>
            <a:r>
              <a:rPr dirty="0"/>
              <a:t>a</a:t>
            </a:r>
            <a:r>
              <a:rPr spc="-5" dirty="0"/>
              <a:t> </a:t>
            </a:r>
            <a:r>
              <a:rPr spc="-25" dirty="0"/>
              <a:t>2D-</a:t>
            </a:r>
            <a:r>
              <a:rPr spc="-10" dirty="0"/>
              <a:t>array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39011" y="2582595"/>
            <a:ext cx="5895975" cy="137217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FF0000"/>
                </a:solidFill>
                <a:latin typeface="Courier New"/>
                <a:cs typeface="Courier New"/>
              </a:rPr>
              <a:t>datatype</a:t>
            </a:r>
            <a:r>
              <a:rPr sz="2000" b="1" spc="-8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000" b="1" spc="-10" dirty="0">
                <a:solidFill>
                  <a:srgbClr val="00B050"/>
                </a:solidFill>
                <a:latin typeface="Courier New"/>
                <a:cs typeface="Courier New"/>
              </a:rPr>
              <a:t>array_name</a:t>
            </a:r>
            <a:r>
              <a:rPr sz="2000" b="1" spc="-10" dirty="0">
                <a:latin typeface="Courier New"/>
                <a:cs typeface="Courier New"/>
              </a:rPr>
              <a:t>[</a:t>
            </a:r>
            <a:r>
              <a:rPr sz="2000" b="1" spc="-10" dirty="0">
                <a:solidFill>
                  <a:srgbClr val="0070C0"/>
                </a:solidFill>
                <a:latin typeface="Courier New"/>
                <a:cs typeface="Courier New"/>
              </a:rPr>
              <a:t>row_size</a:t>
            </a:r>
            <a:r>
              <a:rPr sz="2000" b="1" spc="-10" dirty="0">
                <a:latin typeface="Courier New"/>
                <a:cs typeface="Courier New"/>
              </a:rPr>
              <a:t>][</a:t>
            </a:r>
            <a:r>
              <a:rPr sz="2000" b="1" spc="-10" dirty="0">
                <a:solidFill>
                  <a:srgbClr val="0070C0"/>
                </a:solidFill>
                <a:latin typeface="Courier New"/>
                <a:cs typeface="Courier New"/>
              </a:rPr>
              <a:t>column_size</a:t>
            </a:r>
            <a:r>
              <a:rPr sz="2000" b="1" spc="-10" dirty="0">
                <a:latin typeface="Courier New"/>
                <a:cs typeface="Courier New"/>
              </a:rPr>
              <a:t>];</a:t>
            </a:r>
            <a:endParaRPr sz="2000" dirty="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980"/>
              </a:spcBef>
            </a:pPr>
            <a:endParaRPr sz="20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b="1" dirty="0">
                <a:latin typeface="Courier New"/>
                <a:cs typeface="Courier New"/>
              </a:rPr>
              <a:t>int</a:t>
            </a:r>
            <a:r>
              <a:rPr sz="2000" b="1" spc="-25" dirty="0">
                <a:latin typeface="Courier New"/>
                <a:cs typeface="Courier New"/>
              </a:rPr>
              <a:t> </a:t>
            </a:r>
            <a:r>
              <a:rPr sz="2000" b="1" spc="-10" dirty="0">
                <a:latin typeface="Courier New"/>
                <a:cs typeface="Courier New"/>
              </a:rPr>
              <a:t>matrix[3][4];</a:t>
            </a:r>
            <a:endParaRPr sz="2000" dirty="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73783" y="6651676"/>
            <a:ext cx="9798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ahoma"/>
                <a:cs typeface="Tahoma"/>
              </a:rPr>
              <a:t>Column</a:t>
            </a:r>
            <a:r>
              <a:rPr sz="1800" spc="-30" dirty="0">
                <a:latin typeface="Tahoma"/>
                <a:cs typeface="Tahoma"/>
              </a:rPr>
              <a:t> </a:t>
            </a:r>
            <a:r>
              <a:rPr sz="1800" spc="-50" dirty="0">
                <a:latin typeface="Tahoma"/>
                <a:cs typeface="Tahoma"/>
              </a:rPr>
              <a:t>0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713812" y="6683679"/>
            <a:ext cx="9798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ahoma"/>
                <a:cs typeface="Tahoma"/>
              </a:rPr>
              <a:t>Column</a:t>
            </a:r>
            <a:r>
              <a:rPr sz="1800" spc="-30" dirty="0">
                <a:latin typeface="Tahoma"/>
                <a:cs typeface="Tahoma"/>
              </a:rPr>
              <a:t> </a:t>
            </a:r>
            <a:r>
              <a:rPr sz="1800" spc="-50" dirty="0">
                <a:latin typeface="Tahoma"/>
                <a:cs typeface="Tahoma"/>
              </a:rPr>
              <a:t>1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974084" y="6656247"/>
            <a:ext cx="9798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ahoma"/>
                <a:cs typeface="Tahoma"/>
              </a:rPr>
              <a:t>Column</a:t>
            </a:r>
            <a:r>
              <a:rPr sz="1800" spc="-30" dirty="0">
                <a:latin typeface="Tahoma"/>
                <a:cs typeface="Tahoma"/>
              </a:rPr>
              <a:t> </a:t>
            </a:r>
            <a:r>
              <a:rPr sz="1800" spc="-50" dirty="0">
                <a:latin typeface="Tahoma"/>
                <a:cs typeface="Tahoma"/>
              </a:rPr>
              <a:t>2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181091" y="6566407"/>
            <a:ext cx="9798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ahoma"/>
                <a:cs typeface="Tahoma"/>
              </a:rPr>
              <a:t>Column</a:t>
            </a:r>
            <a:r>
              <a:rPr sz="1800" spc="-30" dirty="0">
                <a:latin typeface="Tahoma"/>
                <a:cs typeface="Tahoma"/>
              </a:rPr>
              <a:t> </a:t>
            </a:r>
            <a:r>
              <a:rPr sz="1800" spc="-50" dirty="0">
                <a:latin typeface="Tahoma"/>
                <a:cs typeface="Tahoma"/>
              </a:rPr>
              <a:t>3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67027" y="4251375"/>
            <a:ext cx="695960" cy="15608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6515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ahoma"/>
                <a:cs typeface="Tahoma"/>
              </a:rPr>
              <a:t>Row</a:t>
            </a:r>
            <a:r>
              <a:rPr sz="1800" spc="-65" dirty="0">
                <a:latin typeface="Tahoma"/>
                <a:cs typeface="Tahoma"/>
              </a:rPr>
              <a:t> </a:t>
            </a:r>
            <a:r>
              <a:rPr sz="1800" spc="-50" dirty="0">
                <a:latin typeface="Tahoma"/>
                <a:cs typeface="Tahoma"/>
              </a:rPr>
              <a:t>0</a:t>
            </a:r>
            <a:endParaRPr sz="18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10"/>
              </a:spcBef>
            </a:pP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Tahoma"/>
                <a:cs typeface="Tahoma"/>
              </a:rPr>
              <a:t>Row</a:t>
            </a:r>
            <a:r>
              <a:rPr sz="1800" spc="-65" dirty="0">
                <a:latin typeface="Tahoma"/>
                <a:cs typeface="Tahoma"/>
              </a:rPr>
              <a:t> </a:t>
            </a:r>
            <a:r>
              <a:rPr sz="1800" spc="-50" dirty="0">
                <a:latin typeface="Tahoma"/>
                <a:cs typeface="Tahoma"/>
              </a:rPr>
              <a:t>1</a:t>
            </a:r>
            <a:endParaRPr sz="18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45"/>
              </a:spcBef>
            </a:pP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latin typeface="Tahoma"/>
                <a:cs typeface="Tahoma"/>
              </a:rPr>
              <a:t>Row</a:t>
            </a:r>
            <a:r>
              <a:rPr sz="1800" spc="-65" dirty="0">
                <a:latin typeface="Tahoma"/>
                <a:cs typeface="Tahoma"/>
              </a:rPr>
              <a:t> </a:t>
            </a:r>
            <a:r>
              <a:rPr sz="1800" spc="-50" dirty="0">
                <a:latin typeface="Tahoma"/>
                <a:cs typeface="Tahoma"/>
              </a:rPr>
              <a:t>2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162555" y="5978652"/>
            <a:ext cx="757555" cy="676910"/>
          </a:xfrm>
          <a:custGeom>
            <a:avLst/>
            <a:gdLst/>
            <a:ahLst/>
            <a:cxnLst/>
            <a:rect l="l" t="t" r="r" b="b"/>
            <a:pathLst>
              <a:path w="757555" h="676909">
                <a:moveTo>
                  <a:pt x="697640" y="48096"/>
                </a:moveTo>
                <a:lnTo>
                  <a:pt x="0" y="670560"/>
                </a:lnTo>
                <a:lnTo>
                  <a:pt x="6095" y="676656"/>
                </a:lnTo>
                <a:lnTo>
                  <a:pt x="703369" y="54519"/>
                </a:lnTo>
                <a:lnTo>
                  <a:pt x="697640" y="48096"/>
                </a:lnTo>
                <a:close/>
              </a:path>
              <a:path w="757555" h="676909">
                <a:moveTo>
                  <a:pt x="741426" y="39624"/>
                </a:moveTo>
                <a:lnTo>
                  <a:pt x="707136" y="39624"/>
                </a:lnTo>
                <a:lnTo>
                  <a:pt x="713232" y="45720"/>
                </a:lnTo>
                <a:lnTo>
                  <a:pt x="703369" y="54519"/>
                </a:lnTo>
                <a:lnTo>
                  <a:pt x="725424" y="79248"/>
                </a:lnTo>
                <a:lnTo>
                  <a:pt x="741426" y="39624"/>
                </a:lnTo>
                <a:close/>
              </a:path>
              <a:path w="757555" h="676909">
                <a:moveTo>
                  <a:pt x="707136" y="39624"/>
                </a:moveTo>
                <a:lnTo>
                  <a:pt x="697640" y="48096"/>
                </a:lnTo>
                <a:lnTo>
                  <a:pt x="703369" y="54519"/>
                </a:lnTo>
                <a:lnTo>
                  <a:pt x="713232" y="45720"/>
                </a:lnTo>
                <a:lnTo>
                  <a:pt x="707136" y="39624"/>
                </a:lnTo>
                <a:close/>
              </a:path>
              <a:path w="757555" h="676909">
                <a:moveTo>
                  <a:pt x="757427" y="0"/>
                </a:moveTo>
                <a:lnTo>
                  <a:pt x="675132" y="22860"/>
                </a:lnTo>
                <a:lnTo>
                  <a:pt x="697640" y="48096"/>
                </a:lnTo>
                <a:lnTo>
                  <a:pt x="707136" y="39624"/>
                </a:lnTo>
                <a:lnTo>
                  <a:pt x="741426" y="39624"/>
                </a:lnTo>
                <a:lnTo>
                  <a:pt x="75742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598164" y="5952744"/>
            <a:ext cx="76200" cy="672465"/>
          </a:xfrm>
          <a:custGeom>
            <a:avLst/>
            <a:gdLst/>
            <a:ahLst/>
            <a:cxnLst/>
            <a:rect l="l" t="t" r="r" b="b"/>
            <a:pathLst>
              <a:path w="76200" h="672465">
                <a:moveTo>
                  <a:pt x="42672" y="62483"/>
                </a:moveTo>
                <a:lnTo>
                  <a:pt x="33527" y="62483"/>
                </a:lnTo>
                <a:lnTo>
                  <a:pt x="33527" y="672083"/>
                </a:lnTo>
                <a:lnTo>
                  <a:pt x="42672" y="672083"/>
                </a:lnTo>
                <a:lnTo>
                  <a:pt x="42672" y="62483"/>
                </a:lnTo>
                <a:close/>
              </a:path>
              <a:path w="76200" h="672465">
                <a:moveTo>
                  <a:pt x="38100" y="0"/>
                </a:moveTo>
                <a:lnTo>
                  <a:pt x="0" y="76199"/>
                </a:lnTo>
                <a:lnTo>
                  <a:pt x="33527" y="76199"/>
                </a:lnTo>
                <a:lnTo>
                  <a:pt x="33527" y="62483"/>
                </a:lnTo>
                <a:lnTo>
                  <a:pt x="69341" y="62483"/>
                </a:lnTo>
                <a:lnTo>
                  <a:pt x="38100" y="0"/>
                </a:lnTo>
                <a:close/>
              </a:path>
              <a:path w="76200" h="672465">
                <a:moveTo>
                  <a:pt x="69341" y="62483"/>
                </a:moveTo>
                <a:lnTo>
                  <a:pt x="42672" y="62483"/>
                </a:lnTo>
                <a:lnTo>
                  <a:pt x="42672" y="76199"/>
                </a:lnTo>
                <a:lnTo>
                  <a:pt x="76200" y="76199"/>
                </a:lnTo>
                <a:lnTo>
                  <a:pt x="69341" y="6248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102352" y="5952744"/>
            <a:ext cx="524510" cy="702945"/>
          </a:xfrm>
          <a:custGeom>
            <a:avLst/>
            <a:gdLst/>
            <a:ahLst/>
            <a:cxnLst/>
            <a:rect l="l" t="t" r="r" b="b"/>
            <a:pathLst>
              <a:path w="524510" h="702945">
                <a:moveTo>
                  <a:pt x="50298" y="57525"/>
                </a:moveTo>
                <a:lnTo>
                  <a:pt x="42482" y="63388"/>
                </a:lnTo>
                <a:lnTo>
                  <a:pt x="515112" y="702563"/>
                </a:lnTo>
                <a:lnTo>
                  <a:pt x="524256" y="696467"/>
                </a:lnTo>
                <a:lnTo>
                  <a:pt x="50298" y="57525"/>
                </a:lnTo>
                <a:close/>
              </a:path>
              <a:path w="524510" h="702945">
                <a:moveTo>
                  <a:pt x="0" y="0"/>
                </a:moveTo>
                <a:lnTo>
                  <a:pt x="15239" y="83819"/>
                </a:lnTo>
                <a:lnTo>
                  <a:pt x="42482" y="63388"/>
                </a:lnTo>
                <a:lnTo>
                  <a:pt x="35051" y="53339"/>
                </a:lnTo>
                <a:lnTo>
                  <a:pt x="42672" y="47243"/>
                </a:lnTo>
                <a:lnTo>
                  <a:pt x="64008" y="47243"/>
                </a:lnTo>
                <a:lnTo>
                  <a:pt x="76200" y="38099"/>
                </a:lnTo>
                <a:lnTo>
                  <a:pt x="0" y="0"/>
                </a:lnTo>
                <a:close/>
              </a:path>
              <a:path w="524510" h="702945">
                <a:moveTo>
                  <a:pt x="42672" y="47243"/>
                </a:moveTo>
                <a:lnTo>
                  <a:pt x="35051" y="53339"/>
                </a:lnTo>
                <a:lnTo>
                  <a:pt x="42482" y="63388"/>
                </a:lnTo>
                <a:lnTo>
                  <a:pt x="50298" y="57525"/>
                </a:lnTo>
                <a:lnTo>
                  <a:pt x="42672" y="47243"/>
                </a:lnTo>
                <a:close/>
              </a:path>
              <a:path w="524510" h="702945">
                <a:moveTo>
                  <a:pt x="64008" y="47243"/>
                </a:moveTo>
                <a:lnTo>
                  <a:pt x="42672" y="47243"/>
                </a:lnTo>
                <a:lnTo>
                  <a:pt x="50298" y="57525"/>
                </a:lnTo>
                <a:lnTo>
                  <a:pt x="64008" y="4724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2" name="object 12"/>
          <p:cNvGraphicFramePr>
            <a:graphicFrameLocks noGrp="1"/>
          </p:cNvGraphicFramePr>
          <p:nvPr/>
        </p:nvGraphicFramePr>
        <p:xfrm>
          <a:off x="2602992" y="4140708"/>
          <a:ext cx="3047999" cy="17957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13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19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6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8420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2800" spc="-50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4</a:t>
                      </a:r>
                      <a:endParaRPr sz="2800">
                        <a:latin typeface="Tahoma"/>
                        <a:cs typeface="Tahoma"/>
                      </a:endParaRPr>
                    </a:p>
                  </a:txBody>
                  <a:tcPr marL="0" marR="0" marT="4318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2800" spc="-50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1</a:t>
                      </a:r>
                      <a:endParaRPr sz="2800">
                        <a:latin typeface="Tahoma"/>
                        <a:cs typeface="Tahoma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2800" spc="-50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0</a:t>
                      </a:r>
                      <a:endParaRPr sz="2800">
                        <a:latin typeface="Tahoma"/>
                        <a:cs typeface="Tahoma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2800" spc="-50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2</a:t>
                      </a:r>
                      <a:endParaRPr sz="2800">
                        <a:latin typeface="Tahoma"/>
                        <a:cs typeface="Tahoma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420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2800" dirty="0">
                          <a:solidFill>
                            <a:srgbClr val="00E4A8"/>
                          </a:solidFill>
                          <a:latin typeface="Tahoma"/>
                          <a:cs typeface="Tahoma"/>
                        </a:rPr>
                        <a:t>-</a:t>
                      </a:r>
                      <a:r>
                        <a:rPr sz="2800" spc="-50" dirty="0">
                          <a:solidFill>
                            <a:srgbClr val="00E4A8"/>
                          </a:solidFill>
                          <a:latin typeface="Tahoma"/>
                          <a:cs typeface="Tahoma"/>
                        </a:rPr>
                        <a:t>1</a:t>
                      </a:r>
                      <a:endParaRPr sz="2800">
                        <a:latin typeface="Tahoma"/>
                        <a:cs typeface="Tahoma"/>
                      </a:endParaRPr>
                    </a:p>
                  </a:txBody>
                  <a:tcPr marL="0" marR="0" marT="4191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2800" spc="-50" dirty="0">
                          <a:solidFill>
                            <a:srgbClr val="00E4A8"/>
                          </a:solidFill>
                          <a:latin typeface="Tahoma"/>
                          <a:cs typeface="Tahoma"/>
                        </a:rPr>
                        <a:t>2</a:t>
                      </a:r>
                      <a:endParaRPr sz="2800">
                        <a:latin typeface="Tahoma"/>
                        <a:cs typeface="Tahoma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2800" spc="-50" dirty="0">
                          <a:solidFill>
                            <a:srgbClr val="00E4A8"/>
                          </a:solidFill>
                          <a:latin typeface="Tahoma"/>
                          <a:cs typeface="Tahoma"/>
                        </a:rPr>
                        <a:t>4</a:t>
                      </a:r>
                      <a:endParaRPr sz="2800">
                        <a:latin typeface="Tahoma"/>
                        <a:cs typeface="Tahoma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2800" spc="-50" dirty="0">
                          <a:solidFill>
                            <a:srgbClr val="00E4A8"/>
                          </a:solidFill>
                          <a:latin typeface="Tahoma"/>
                          <a:cs typeface="Tahoma"/>
                        </a:rPr>
                        <a:t>3</a:t>
                      </a:r>
                      <a:endParaRPr sz="2800">
                        <a:latin typeface="Tahoma"/>
                        <a:cs typeface="Tahoma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737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2800" spc="-50" dirty="0">
                          <a:solidFill>
                            <a:srgbClr val="3333CC"/>
                          </a:solidFill>
                          <a:latin typeface="Tahoma"/>
                          <a:cs typeface="Tahoma"/>
                        </a:rPr>
                        <a:t>0</a:t>
                      </a:r>
                      <a:endParaRPr sz="2800">
                        <a:latin typeface="Tahoma"/>
                        <a:cs typeface="Tahoma"/>
                      </a:endParaRPr>
                    </a:p>
                  </a:txBody>
                  <a:tcPr marL="0" marR="0" marT="4318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2800" dirty="0">
                          <a:solidFill>
                            <a:srgbClr val="3333CC"/>
                          </a:solidFill>
                          <a:latin typeface="Tahoma"/>
                          <a:cs typeface="Tahoma"/>
                        </a:rPr>
                        <a:t>-</a:t>
                      </a:r>
                      <a:r>
                        <a:rPr sz="2800" spc="-50" dirty="0">
                          <a:solidFill>
                            <a:srgbClr val="3333CC"/>
                          </a:solidFill>
                          <a:latin typeface="Tahoma"/>
                          <a:cs typeface="Tahoma"/>
                        </a:rPr>
                        <a:t>1</a:t>
                      </a:r>
                      <a:endParaRPr sz="2800">
                        <a:latin typeface="Tahoma"/>
                        <a:cs typeface="Tahoma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2800" spc="-50" dirty="0">
                          <a:solidFill>
                            <a:srgbClr val="3333CC"/>
                          </a:solidFill>
                          <a:latin typeface="Tahoma"/>
                          <a:cs typeface="Tahoma"/>
                        </a:rPr>
                        <a:t>3</a:t>
                      </a:r>
                      <a:endParaRPr sz="2800">
                        <a:latin typeface="Tahoma"/>
                        <a:cs typeface="Tahoma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2800" spc="-50" dirty="0">
                          <a:solidFill>
                            <a:srgbClr val="3333CC"/>
                          </a:solidFill>
                          <a:latin typeface="Tahoma"/>
                          <a:cs typeface="Tahoma"/>
                        </a:rPr>
                        <a:t>1</a:t>
                      </a:r>
                      <a:endParaRPr sz="2800">
                        <a:latin typeface="Tahoma"/>
                        <a:cs typeface="Tahoma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3" name="object 13"/>
          <p:cNvSpPr/>
          <p:nvPr/>
        </p:nvSpPr>
        <p:spPr>
          <a:xfrm>
            <a:off x="4416552" y="5978652"/>
            <a:ext cx="76200" cy="673735"/>
          </a:xfrm>
          <a:custGeom>
            <a:avLst/>
            <a:gdLst/>
            <a:ahLst/>
            <a:cxnLst/>
            <a:rect l="l" t="t" r="r" b="b"/>
            <a:pathLst>
              <a:path w="76200" h="673734">
                <a:moveTo>
                  <a:pt x="44196" y="64008"/>
                </a:moveTo>
                <a:lnTo>
                  <a:pt x="33527" y="64008"/>
                </a:lnTo>
                <a:lnTo>
                  <a:pt x="33527" y="673608"/>
                </a:lnTo>
                <a:lnTo>
                  <a:pt x="44196" y="673608"/>
                </a:lnTo>
                <a:lnTo>
                  <a:pt x="44196" y="64008"/>
                </a:lnTo>
                <a:close/>
              </a:path>
              <a:path w="76200" h="673734">
                <a:moveTo>
                  <a:pt x="38100" y="0"/>
                </a:moveTo>
                <a:lnTo>
                  <a:pt x="0" y="76200"/>
                </a:lnTo>
                <a:lnTo>
                  <a:pt x="33527" y="76200"/>
                </a:lnTo>
                <a:lnTo>
                  <a:pt x="33527" y="64008"/>
                </a:lnTo>
                <a:lnTo>
                  <a:pt x="70103" y="64008"/>
                </a:lnTo>
                <a:lnTo>
                  <a:pt x="38100" y="0"/>
                </a:lnTo>
                <a:close/>
              </a:path>
              <a:path w="76200" h="673734">
                <a:moveTo>
                  <a:pt x="70103" y="64008"/>
                </a:moveTo>
                <a:lnTo>
                  <a:pt x="44196" y="64008"/>
                </a:lnTo>
                <a:lnTo>
                  <a:pt x="44196" y="76200"/>
                </a:lnTo>
                <a:lnTo>
                  <a:pt x="76200" y="76200"/>
                </a:lnTo>
                <a:lnTo>
                  <a:pt x="70103" y="6400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2264664" y="4364735"/>
            <a:ext cx="352425" cy="76200"/>
          </a:xfrm>
          <a:custGeom>
            <a:avLst/>
            <a:gdLst/>
            <a:ahLst/>
            <a:cxnLst/>
            <a:rect l="l" t="t" r="r" b="b"/>
            <a:pathLst>
              <a:path w="352425" h="76200">
                <a:moveTo>
                  <a:pt x="275844" y="0"/>
                </a:moveTo>
                <a:lnTo>
                  <a:pt x="275844" y="76200"/>
                </a:lnTo>
                <a:lnTo>
                  <a:pt x="342899" y="42672"/>
                </a:lnTo>
                <a:lnTo>
                  <a:pt x="288036" y="42672"/>
                </a:lnTo>
                <a:lnTo>
                  <a:pt x="288036" y="33527"/>
                </a:lnTo>
                <a:lnTo>
                  <a:pt x="342899" y="33527"/>
                </a:lnTo>
                <a:lnTo>
                  <a:pt x="275844" y="0"/>
                </a:lnTo>
                <a:close/>
              </a:path>
              <a:path w="352425" h="76200">
                <a:moveTo>
                  <a:pt x="275844" y="33527"/>
                </a:moveTo>
                <a:lnTo>
                  <a:pt x="0" y="33527"/>
                </a:lnTo>
                <a:lnTo>
                  <a:pt x="0" y="42672"/>
                </a:lnTo>
                <a:lnTo>
                  <a:pt x="275844" y="42672"/>
                </a:lnTo>
                <a:lnTo>
                  <a:pt x="275844" y="33527"/>
                </a:lnTo>
                <a:close/>
              </a:path>
              <a:path w="352425" h="76200">
                <a:moveTo>
                  <a:pt x="342899" y="33527"/>
                </a:moveTo>
                <a:lnTo>
                  <a:pt x="288036" y="33527"/>
                </a:lnTo>
                <a:lnTo>
                  <a:pt x="288036" y="42672"/>
                </a:lnTo>
                <a:lnTo>
                  <a:pt x="342899" y="42672"/>
                </a:lnTo>
                <a:lnTo>
                  <a:pt x="352044" y="38100"/>
                </a:lnTo>
                <a:lnTo>
                  <a:pt x="342899" y="3352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217420" y="5000244"/>
            <a:ext cx="352425" cy="76200"/>
          </a:xfrm>
          <a:custGeom>
            <a:avLst/>
            <a:gdLst/>
            <a:ahLst/>
            <a:cxnLst/>
            <a:rect l="l" t="t" r="r" b="b"/>
            <a:pathLst>
              <a:path w="352425" h="76200">
                <a:moveTo>
                  <a:pt x="275844" y="0"/>
                </a:moveTo>
                <a:lnTo>
                  <a:pt x="275844" y="76199"/>
                </a:lnTo>
                <a:lnTo>
                  <a:pt x="342899" y="42671"/>
                </a:lnTo>
                <a:lnTo>
                  <a:pt x="288036" y="42671"/>
                </a:lnTo>
                <a:lnTo>
                  <a:pt x="288036" y="33527"/>
                </a:lnTo>
                <a:lnTo>
                  <a:pt x="342900" y="33527"/>
                </a:lnTo>
                <a:lnTo>
                  <a:pt x="275844" y="0"/>
                </a:lnTo>
                <a:close/>
              </a:path>
              <a:path w="352425" h="76200">
                <a:moveTo>
                  <a:pt x="275844" y="33527"/>
                </a:moveTo>
                <a:lnTo>
                  <a:pt x="0" y="33527"/>
                </a:lnTo>
                <a:lnTo>
                  <a:pt x="0" y="42671"/>
                </a:lnTo>
                <a:lnTo>
                  <a:pt x="275844" y="42671"/>
                </a:lnTo>
                <a:lnTo>
                  <a:pt x="275844" y="33527"/>
                </a:lnTo>
                <a:close/>
              </a:path>
              <a:path w="352425" h="76200">
                <a:moveTo>
                  <a:pt x="342900" y="33527"/>
                </a:moveTo>
                <a:lnTo>
                  <a:pt x="288036" y="33527"/>
                </a:lnTo>
                <a:lnTo>
                  <a:pt x="288036" y="42671"/>
                </a:lnTo>
                <a:lnTo>
                  <a:pt x="342899" y="42671"/>
                </a:lnTo>
                <a:lnTo>
                  <a:pt x="352044" y="38099"/>
                </a:lnTo>
                <a:lnTo>
                  <a:pt x="342900" y="3352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2214372" y="5631179"/>
            <a:ext cx="352425" cy="76200"/>
          </a:xfrm>
          <a:custGeom>
            <a:avLst/>
            <a:gdLst/>
            <a:ahLst/>
            <a:cxnLst/>
            <a:rect l="l" t="t" r="r" b="b"/>
            <a:pathLst>
              <a:path w="352425" h="76200">
                <a:moveTo>
                  <a:pt x="275844" y="0"/>
                </a:moveTo>
                <a:lnTo>
                  <a:pt x="275844" y="76200"/>
                </a:lnTo>
                <a:lnTo>
                  <a:pt x="342900" y="42672"/>
                </a:lnTo>
                <a:lnTo>
                  <a:pt x="288035" y="42672"/>
                </a:lnTo>
                <a:lnTo>
                  <a:pt x="288035" y="33528"/>
                </a:lnTo>
                <a:lnTo>
                  <a:pt x="342899" y="33528"/>
                </a:lnTo>
                <a:lnTo>
                  <a:pt x="275844" y="0"/>
                </a:lnTo>
                <a:close/>
              </a:path>
              <a:path w="352425" h="76200">
                <a:moveTo>
                  <a:pt x="275844" y="33528"/>
                </a:moveTo>
                <a:lnTo>
                  <a:pt x="0" y="33528"/>
                </a:lnTo>
                <a:lnTo>
                  <a:pt x="0" y="42672"/>
                </a:lnTo>
                <a:lnTo>
                  <a:pt x="275844" y="42672"/>
                </a:lnTo>
                <a:lnTo>
                  <a:pt x="275844" y="33528"/>
                </a:lnTo>
                <a:close/>
              </a:path>
              <a:path w="352425" h="76200">
                <a:moveTo>
                  <a:pt x="342899" y="33528"/>
                </a:moveTo>
                <a:lnTo>
                  <a:pt x="288035" y="33528"/>
                </a:lnTo>
                <a:lnTo>
                  <a:pt x="288035" y="42672"/>
                </a:lnTo>
                <a:lnTo>
                  <a:pt x="342900" y="42672"/>
                </a:lnTo>
                <a:lnTo>
                  <a:pt x="352044" y="38100"/>
                </a:lnTo>
                <a:lnTo>
                  <a:pt x="342899" y="3352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5255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50" dirty="0"/>
              <a:t>6</a:t>
            </a:fld>
            <a:endParaRPr spc="-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839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/>
              <a:t>In</a:t>
            </a:r>
            <a:r>
              <a:rPr spc="-30" dirty="0"/>
              <a:t> </a:t>
            </a:r>
            <a:r>
              <a:rPr dirty="0"/>
              <a:t>general</a:t>
            </a:r>
            <a:r>
              <a:rPr spc="-15" dirty="0"/>
              <a:t> </a:t>
            </a:r>
            <a:r>
              <a:rPr dirty="0"/>
              <a:t>a</a:t>
            </a:r>
            <a:r>
              <a:rPr spc="-5" dirty="0"/>
              <a:t> </a:t>
            </a:r>
            <a:r>
              <a:rPr spc="-25" dirty="0"/>
              <a:t>2D-</a:t>
            </a:r>
            <a:r>
              <a:rPr spc="-10" dirty="0"/>
              <a:t>array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39011" y="2582595"/>
            <a:ext cx="5895975" cy="137217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FF0000"/>
                </a:solidFill>
                <a:latin typeface="Courier New"/>
                <a:cs typeface="Courier New"/>
              </a:rPr>
              <a:t>datatype</a:t>
            </a:r>
            <a:r>
              <a:rPr sz="2000" b="1" spc="-8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000" b="1" spc="-10" dirty="0">
                <a:solidFill>
                  <a:srgbClr val="00B050"/>
                </a:solidFill>
                <a:latin typeface="Courier New"/>
                <a:cs typeface="Courier New"/>
              </a:rPr>
              <a:t>array_name</a:t>
            </a:r>
            <a:r>
              <a:rPr sz="2000" b="1" spc="-10" dirty="0">
                <a:latin typeface="Courier New"/>
                <a:cs typeface="Courier New"/>
              </a:rPr>
              <a:t>[</a:t>
            </a:r>
            <a:r>
              <a:rPr sz="2000" b="1" spc="-10" dirty="0">
                <a:solidFill>
                  <a:srgbClr val="0070C0"/>
                </a:solidFill>
                <a:latin typeface="Courier New"/>
                <a:cs typeface="Courier New"/>
              </a:rPr>
              <a:t>row_size</a:t>
            </a:r>
            <a:r>
              <a:rPr sz="2000" b="1" spc="-10" dirty="0">
                <a:latin typeface="Courier New"/>
                <a:cs typeface="Courier New"/>
              </a:rPr>
              <a:t>][</a:t>
            </a:r>
            <a:r>
              <a:rPr sz="2000" b="1" spc="-10" dirty="0">
                <a:solidFill>
                  <a:srgbClr val="0070C0"/>
                </a:solidFill>
                <a:latin typeface="Courier New"/>
                <a:cs typeface="Courier New"/>
              </a:rPr>
              <a:t>column_size</a:t>
            </a:r>
            <a:r>
              <a:rPr sz="2000" b="1" spc="-10" dirty="0">
                <a:latin typeface="Courier New"/>
                <a:cs typeface="Courier New"/>
              </a:rPr>
              <a:t>];</a:t>
            </a:r>
            <a:endParaRPr sz="2000" dirty="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980"/>
              </a:spcBef>
            </a:pPr>
            <a:endParaRPr sz="20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b="1" dirty="0">
                <a:latin typeface="Courier New"/>
                <a:cs typeface="Courier New"/>
              </a:rPr>
              <a:t>int</a:t>
            </a:r>
            <a:r>
              <a:rPr sz="2000" b="1" spc="-25" dirty="0">
                <a:latin typeface="Courier New"/>
                <a:cs typeface="Courier New"/>
              </a:rPr>
              <a:t> </a:t>
            </a:r>
            <a:r>
              <a:rPr sz="2000" b="1" spc="-10" dirty="0">
                <a:latin typeface="Courier New"/>
                <a:cs typeface="Courier New"/>
              </a:rPr>
              <a:t>matrix[3][4];</a:t>
            </a:r>
            <a:endParaRPr sz="2000" dirty="0">
              <a:latin typeface="Courier New"/>
              <a:cs typeface="Courier New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8063483" y="3288791"/>
          <a:ext cx="682625" cy="36188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82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99085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200" spc="-50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4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T="4318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625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200" spc="-50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1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T="4381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2895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200" spc="-50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0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T="4254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625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200" spc="-50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2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T="4254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625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200" spc="-10" dirty="0">
                          <a:solidFill>
                            <a:srgbClr val="00E4A8"/>
                          </a:solidFill>
                          <a:latin typeface="Tahoma"/>
                          <a:cs typeface="Tahoma"/>
                        </a:rPr>
                        <a:t>-</a:t>
                      </a:r>
                      <a:r>
                        <a:rPr sz="1200" spc="-50" dirty="0">
                          <a:solidFill>
                            <a:srgbClr val="00E4A8"/>
                          </a:solidFill>
                          <a:latin typeface="Tahoma"/>
                          <a:cs typeface="Tahoma"/>
                        </a:rPr>
                        <a:t>1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T="4254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0990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200" spc="-50" dirty="0">
                          <a:solidFill>
                            <a:srgbClr val="00E4A8"/>
                          </a:solidFill>
                          <a:latin typeface="Tahoma"/>
                          <a:cs typeface="Tahoma"/>
                        </a:rPr>
                        <a:t>2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T="4254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625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200" spc="-50" dirty="0">
                          <a:solidFill>
                            <a:srgbClr val="00E4A8"/>
                          </a:solidFill>
                          <a:latin typeface="Tahoma"/>
                          <a:cs typeface="Tahoma"/>
                        </a:rPr>
                        <a:t>4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T="4318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1625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200" spc="-50" dirty="0">
                          <a:solidFill>
                            <a:srgbClr val="00E4A8"/>
                          </a:solidFill>
                          <a:latin typeface="Tahoma"/>
                          <a:cs typeface="Tahoma"/>
                        </a:rPr>
                        <a:t>3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T="4318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2895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200" spc="-50" dirty="0">
                          <a:solidFill>
                            <a:srgbClr val="3333CC"/>
                          </a:solidFill>
                          <a:latin typeface="Tahoma"/>
                          <a:cs typeface="Tahoma"/>
                        </a:rPr>
                        <a:t>0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T="4318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1625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200" spc="-10" dirty="0">
                          <a:solidFill>
                            <a:srgbClr val="3333CC"/>
                          </a:solidFill>
                          <a:latin typeface="Tahoma"/>
                          <a:cs typeface="Tahoma"/>
                        </a:rPr>
                        <a:t>-</a:t>
                      </a:r>
                      <a:r>
                        <a:rPr sz="1200" spc="-50" dirty="0">
                          <a:solidFill>
                            <a:srgbClr val="3333CC"/>
                          </a:solidFill>
                          <a:latin typeface="Tahoma"/>
                          <a:cs typeface="Tahoma"/>
                        </a:rPr>
                        <a:t>1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T="4318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0990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200" spc="-50" dirty="0">
                          <a:solidFill>
                            <a:srgbClr val="3333CC"/>
                          </a:solidFill>
                          <a:latin typeface="Tahoma"/>
                          <a:cs typeface="Tahoma"/>
                        </a:rPr>
                        <a:t>3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T="4318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2260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200" spc="-50" dirty="0">
                          <a:solidFill>
                            <a:srgbClr val="3333CC"/>
                          </a:solidFill>
                          <a:latin typeface="Tahoma"/>
                          <a:cs typeface="Tahoma"/>
                        </a:rPr>
                        <a:t>1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T="4381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1467027" y="4251375"/>
            <a:ext cx="695960" cy="15608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6515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ahoma"/>
                <a:cs typeface="Tahoma"/>
              </a:rPr>
              <a:t>Row</a:t>
            </a:r>
            <a:r>
              <a:rPr sz="1800" spc="-65" dirty="0">
                <a:latin typeface="Tahoma"/>
                <a:cs typeface="Tahoma"/>
              </a:rPr>
              <a:t> </a:t>
            </a:r>
            <a:r>
              <a:rPr sz="1800" spc="-50" dirty="0">
                <a:latin typeface="Tahoma"/>
                <a:cs typeface="Tahoma"/>
              </a:rPr>
              <a:t>0</a:t>
            </a:r>
            <a:endParaRPr sz="18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10"/>
              </a:spcBef>
            </a:pP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Tahoma"/>
                <a:cs typeface="Tahoma"/>
              </a:rPr>
              <a:t>Row</a:t>
            </a:r>
            <a:r>
              <a:rPr sz="1800" spc="-65" dirty="0">
                <a:latin typeface="Tahoma"/>
                <a:cs typeface="Tahoma"/>
              </a:rPr>
              <a:t> </a:t>
            </a:r>
            <a:r>
              <a:rPr sz="1800" spc="-50" dirty="0">
                <a:latin typeface="Tahoma"/>
                <a:cs typeface="Tahoma"/>
              </a:rPr>
              <a:t>1</a:t>
            </a:r>
            <a:endParaRPr sz="18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45"/>
              </a:spcBef>
            </a:pP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latin typeface="Tahoma"/>
                <a:cs typeface="Tahoma"/>
              </a:rPr>
              <a:t>Row</a:t>
            </a:r>
            <a:r>
              <a:rPr sz="1800" spc="-65" dirty="0">
                <a:latin typeface="Tahoma"/>
                <a:cs typeface="Tahoma"/>
              </a:rPr>
              <a:t> </a:t>
            </a:r>
            <a:r>
              <a:rPr sz="1800" spc="-50" dirty="0">
                <a:latin typeface="Tahoma"/>
                <a:cs typeface="Tahoma"/>
              </a:rPr>
              <a:t>2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162555" y="5978652"/>
            <a:ext cx="757555" cy="676910"/>
          </a:xfrm>
          <a:custGeom>
            <a:avLst/>
            <a:gdLst/>
            <a:ahLst/>
            <a:cxnLst/>
            <a:rect l="l" t="t" r="r" b="b"/>
            <a:pathLst>
              <a:path w="757555" h="676909">
                <a:moveTo>
                  <a:pt x="697640" y="48096"/>
                </a:moveTo>
                <a:lnTo>
                  <a:pt x="0" y="670560"/>
                </a:lnTo>
                <a:lnTo>
                  <a:pt x="6095" y="676656"/>
                </a:lnTo>
                <a:lnTo>
                  <a:pt x="703369" y="54519"/>
                </a:lnTo>
                <a:lnTo>
                  <a:pt x="697640" y="48096"/>
                </a:lnTo>
                <a:close/>
              </a:path>
              <a:path w="757555" h="676909">
                <a:moveTo>
                  <a:pt x="741426" y="39624"/>
                </a:moveTo>
                <a:lnTo>
                  <a:pt x="707136" y="39624"/>
                </a:lnTo>
                <a:lnTo>
                  <a:pt x="713232" y="45720"/>
                </a:lnTo>
                <a:lnTo>
                  <a:pt x="703369" y="54519"/>
                </a:lnTo>
                <a:lnTo>
                  <a:pt x="725424" y="79248"/>
                </a:lnTo>
                <a:lnTo>
                  <a:pt x="741426" y="39624"/>
                </a:lnTo>
                <a:close/>
              </a:path>
              <a:path w="757555" h="676909">
                <a:moveTo>
                  <a:pt x="707136" y="39624"/>
                </a:moveTo>
                <a:lnTo>
                  <a:pt x="697640" y="48096"/>
                </a:lnTo>
                <a:lnTo>
                  <a:pt x="703369" y="54519"/>
                </a:lnTo>
                <a:lnTo>
                  <a:pt x="713232" y="45720"/>
                </a:lnTo>
                <a:lnTo>
                  <a:pt x="707136" y="39624"/>
                </a:lnTo>
                <a:close/>
              </a:path>
              <a:path w="757555" h="676909">
                <a:moveTo>
                  <a:pt x="757427" y="0"/>
                </a:moveTo>
                <a:lnTo>
                  <a:pt x="675132" y="22860"/>
                </a:lnTo>
                <a:lnTo>
                  <a:pt x="697640" y="48096"/>
                </a:lnTo>
                <a:lnTo>
                  <a:pt x="707136" y="39624"/>
                </a:lnTo>
                <a:lnTo>
                  <a:pt x="741426" y="39624"/>
                </a:lnTo>
                <a:lnTo>
                  <a:pt x="75742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598164" y="5952744"/>
            <a:ext cx="76200" cy="672465"/>
          </a:xfrm>
          <a:custGeom>
            <a:avLst/>
            <a:gdLst/>
            <a:ahLst/>
            <a:cxnLst/>
            <a:rect l="l" t="t" r="r" b="b"/>
            <a:pathLst>
              <a:path w="76200" h="672465">
                <a:moveTo>
                  <a:pt x="42672" y="62483"/>
                </a:moveTo>
                <a:lnTo>
                  <a:pt x="33527" y="62483"/>
                </a:lnTo>
                <a:lnTo>
                  <a:pt x="33527" y="672083"/>
                </a:lnTo>
                <a:lnTo>
                  <a:pt x="42672" y="672083"/>
                </a:lnTo>
                <a:lnTo>
                  <a:pt x="42672" y="62483"/>
                </a:lnTo>
                <a:close/>
              </a:path>
              <a:path w="76200" h="672465">
                <a:moveTo>
                  <a:pt x="38100" y="0"/>
                </a:moveTo>
                <a:lnTo>
                  <a:pt x="0" y="76199"/>
                </a:lnTo>
                <a:lnTo>
                  <a:pt x="33527" y="76199"/>
                </a:lnTo>
                <a:lnTo>
                  <a:pt x="33527" y="62483"/>
                </a:lnTo>
                <a:lnTo>
                  <a:pt x="69341" y="62483"/>
                </a:lnTo>
                <a:lnTo>
                  <a:pt x="38100" y="0"/>
                </a:lnTo>
                <a:close/>
              </a:path>
              <a:path w="76200" h="672465">
                <a:moveTo>
                  <a:pt x="69341" y="62483"/>
                </a:moveTo>
                <a:lnTo>
                  <a:pt x="42672" y="62483"/>
                </a:lnTo>
                <a:lnTo>
                  <a:pt x="42672" y="76199"/>
                </a:lnTo>
                <a:lnTo>
                  <a:pt x="76200" y="76199"/>
                </a:lnTo>
                <a:lnTo>
                  <a:pt x="69341" y="6248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102352" y="5952744"/>
            <a:ext cx="524510" cy="702945"/>
          </a:xfrm>
          <a:custGeom>
            <a:avLst/>
            <a:gdLst/>
            <a:ahLst/>
            <a:cxnLst/>
            <a:rect l="l" t="t" r="r" b="b"/>
            <a:pathLst>
              <a:path w="524510" h="702945">
                <a:moveTo>
                  <a:pt x="50298" y="57525"/>
                </a:moveTo>
                <a:lnTo>
                  <a:pt x="42482" y="63388"/>
                </a:lnTo>
                <a:lnTo>
                  <a:pt x="515112" y="702563"/>
                </a:lnTo>
                <a:lnTo>
                  <a:pt x="524256" y="696467"/>
                </a:lnTo>
                <a:lnTo>
                  <a:pt x="50298" y="57525"/>
                </a:lnTo>
                <a:close/>
              </a:path>
              <a:path w="524510" h="702945">
                <a:moveTo>
                  <a:pt x="0" y="0"/>
                </a:moveTo>
                <a:lnTo>
                  <a:pt x="15239" y="83819"/>
                </a:lnTo>
                <a:lnTo>
                  <a:pt x="42482" y="63388"/>
                </a:lnTo>
                <a:lnTo>
                  <a:pt x="35051" y="53339"/>
                </a:lnTo>
                <a:lnTo>
                  <a:pt x="42672" y="47243"/>
                </a:lnTo>
                <a:lnTo>
                  <a:pt x="64008" y="47243"/>
                </a:lnTo>
                <a:lnTo>
                  <a:pt x="76200" y="38099"/>
                </a:lnTo>
                <a:lnTo>
                  <a:pt x="0" y="0"/>
                </a:lnTo>
                <a:close/>
              </a:path>
              <a:path w="524510" h="702945">
                <a:moveTo>
                  <a:pt x="42672" y="47243"/>
                </a:moveTo>
                <a:lnTo>
                  <a:pt x="35051" y="53339"/>
                </a:lnTo>
                <a:lnTo>
                  <a:pt x="42482" y="63388"/>
                </a:lnTo>
                <a:lnTo>
                  <a:pt x="50298" y="57525"/>
                </a:lnTo>
                <a:lnTo>
                  <a:pt x="42672" y="47243"/>
                </a:lnTo>
                <a:close/>
              </a:path>
              <a:path w="524510" h="702945">
                <a:moveTo>
                  <a:pt x="64008" y="47243"/>
                </a:moveTo>
                <a:lnTo>
                  <a:pt x="42672" y="47243"/>
                </a:lnTo>
                <a:lnTo>
                  <a:pt x="50298" y="57525"/>
                </a:lnTo>
                <a:lnTo>
                  <a:pt x="64008" y="4724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2602992" y="4140708"/>
          <a:ext cx="3047999" cy="17957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13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19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6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8420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2800" spc="-50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4</a:t>
                      </a:r>
                      <a:endParaRPr sz="2800">
                        <a:latin typeface="Tahoma"/>
                        <a:cs typeface="Tahoma"/>
                      </a:endParaRPr>
                    </a:p>
                  </a:txBody>
                  <a:tcPr marL="0" marR="0" marT="4318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2800" spc="-50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1</a:t>
                      </a:r>
                      <a:endParaRPr sz="2800">
                        <a:latin typeface="Tahoma"/>
                        <a:cs typeface="Tahoma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2800" spc="-50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0</a:t>
                      </a:r>
                      <a:endParaRPr sz="2800">
                        <a:latin typeface="Tahoma"/>
                        <a:cs typeface="Tahoma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2800" spc="-50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2</a:t>
                      </a:r>
                      <a:endParaRPr sz="2800">
                        <a:latin typeface="Tahoma"/>
                        <a:cs typeface="Tahoma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420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2800" dirty="0">
                          <a:solidFill>
                            <a:srgbClr val="00E4A8"/>
                          </a:solidFill>
                          <a:latin typeface="Tahoma"/>
                          <a:cs typeface="Tahoma"/>
                        </a:rPr>
                        <a:t>-</a:t>
                      </a:r>
                      <a:r>
                        <a:rPr sz="2800" spc="-50" dirty="0">
                          <a:solidFill>
                            <a:srgbClr val="00E4A8"/>
                          </a:solidFill>
                          <a:latin typeface="Tahoma"/>
                          <a:cs typeface="Tahoma"/>
                        </a:rPr>
                        <a:t>1</a:t>
                      </a:r>
                      <a:endParaRPr sz="2800">
                        <a:latin typeface="Tahoma"/>
                        <a:cs typeface="Tahoma"/>
                      </a:endParaRPr>
                    </a:p>
                  </a:txBody>
                  <a:tcPr marL="0" marR="0" marT="4191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2800" spc="-50" dirty="0">
                          <a:solidFill>
                            <a:srgbClr val="00E4A8"/>
                          </a:solidFill>
                          <a:latin typeface="Tahoma"/>
                          <a:cs typeface="Tahoma"/>
                        </a:rPr>
                        <a:t>2</a:t>
                      </a:r>
                      <a:endParaRPr sz="2800">
                        <a:latin typeface="Tahoma"/>
                        <a:cs typeface="Tahoma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2800" spc="-50" dirty="0">
                          <a:solidFill>
                            <a:srgbClr val="00E4A8"/>
                          </a:solidFill>
                          <a:latin typeface="Tahoma"/>
                          <a:cs typeface="Tahoma"/>
                        </a:rPr>
                        <a:t>4</a:t>
                      </a:r>
                      <a:endParaRPr sz="2800">
                        <a:latin typeface="Tahoma"/>
                        <a:cs typeface="Tahoma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2800" spc="-50" dirty="0">
                          <a:solidFill>
                            <a:srgbClr val="00E4A8"/>
                          </a:solidFill>
                          <a:latin typeface="Tahoma"/>
                          <a:cs typeface="Tahoma"/>
                        </a:rPr>
                        <a:t>3</a:t>
                      </a:r>
                      <a:endParaRPr sz="2800">
                        <a:latin typeface="Tahoma"/>
                        <a:cs typeface="Tahoma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737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2800" spc="-50" dirty="0">
                          <a:solidFill>
                            <a:srgbClr val="3333CC"/>
                          </a:solidFill>
                          <a:latin typeface="Tahoma"/>
                          <a:cs typeface="Tahoma"/>
                        </a:rPr>
                        <a:t>0</a:t>
                      </a:r>
                      <a:endParaRPr sz="2800">
                        <a:latin typeface="Tahoma"/>
                        <a:cs typeface="Tahoma"/>
                      </a:endParaRPr>
                    </a:p>
                  </a:txBody>
                  <a:tcPr marL="0" marR="0" marT="4318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2800" dirty="0">
                          <a:solidFill>
                            <a:srgbClr val="3333CC"/>
                          </a:solidFill>
                          <a:latin typeface="Tahoma"/>
                          <a:cs typeface="Tahoma"/>
                        </a:rPr>
                        <a:t>-</a:t>
                      </a:r>
                      <a:r>
                        <a:rPr sz="2800" spc="-50" dirty="0">
                          <a:solidFill>
                            <a:srgbClr val="3333CC"/>
                          </a:solidFill>
                          <a:latin typeface="Tahoma"/>
                          <a:cs typeface="Tahoma"/>
                        </a:rPr>
                        <a:t>1</a:t>
                      </a:r>
                      <a:endParaRPr sz="2800">
                        <a:latin typeface="Tahoma"/>
                        <a:cs typeface="Tahoma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2800" spc="-50" dirty="0">
                          <a:solidFill>
                            <a:srgbClr val="3333CC"/>
                          </a:solidFill>
                          <a:latin typeface="Tahoma"/>
                          <a:cs typeface="Tahoma"/>
                        </a:rPr>
                        <a:t>3</a:t>
                      </a:r>
                      <a:endParaRPr sz="2800">
                        <a:latin typeface="Tahoma"/>
                        <a:cs typeface="Tahoma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2800" spc="-50" dirty="0">
                          <a:solidFill>
                            <a:srgbClr val="3333CC"/>
                          </a:solidFill>
                          <a:latin typeface="Tahoma"/>
                          <a:cs typeface="Tahoma"/>
                        </a:rPr>
                        <a:t>1</a:t>
                      </a:r>
                      <a:endParaRPr sz="2800">
                        <a:latin typeface="Tahoma"/>
                        <a:cs typeface="Tahoma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object 10"/>
          <p:cNvSpPr/>
          <p:nvPr/>
        </p:nvSpPr>
        <p:spPr>
          <a:xfrm>
            <a:off x="4416552" y="5978652"/>
            <a:ext cx="76200" cy="673735"/>
          </a:xfrm>
          <a:custGeom>
            <a:avLst/>
            <a:gdLst/>
            <a:ahLst/>
            <a:cxnLst/>
            <a:rect l="l" t="t" r="r" b="b"/>
            <a:pathLst>
              <a:path w="76200" h="673734">
                <a:moveTo>
                  <a:pt x="44196" y="64008"/>
                </a:moveTo>
                <a:lnTo>
                  <a:pt x="33527" y="64008"/>
                </a:lnTo>
                <a:lnTo>
                  <a:pt x="33527" y="673608"/>
                </a:lnTo>
                <a:lnTo>
                  <a:pt x="44196" y="673608"/>
                </a:lnTo>
                <a:lnTo>
                  <a:pt x="44196" y="64008"/>
                </a:lnTo>
                <a:close/>
              </a:path>
              <a:path w="76200" h="673734">
                <a:moveTo>
                  <a:pt x="38100" y="0"/>
                </a:moveTo>
                <a:lnTo>
                  <a:pt x="0" y="76200"/>
                </a:lnTo>
                <a:lnTo>
                  <a:pt x="33527" y="76200"/>
                </a:lnTo>
                <a:lnTo>
                  <a:pt x="33527" y="64008"/>
                </a:lnTo>
                <a:lnTo>
                  <a:pt x="70103" y="64008"/>
                </a:lnTo>
                <a:lnTo>
                  <a:pt x="38100" y="0"/>
                </a:lnTo>
                <a:close/>
              </a:path>
              <a:path w="76200" h="673734">
                <a:moveTo>
                  <a:pt x="70103" y="64008"/>
                </a:moveTo>
                <a:lnTo>
                  <a:pt x="44196" y="64008"/>
                </a:lnTo>
                <a:lnTo>
                  <a:pt x="44196" y="76200"/>
                </a:lnTo>
                <a:lnTo>
                  <a:pt x="76200" y="76200"/>
                </a:lnTo>
                <a:lnTo>
                  <a:pt x="70103" y="6400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264664" y="4364735"/>
            <a:ext cx="352425" cy="76200"/>
          </a:xfrm>
          <a:custGeom>
            <a:avLst/>
            <a:gdLst/>
            <a:ahLst/>
            <a:cxnLst/>
            <a:rect l="l" t="t" r="r" b="b"/>
            <a:pathLst>
              <a:path w="352425" h="76200">
                <a:moveTo>
                  <a:pt x="275844" y="0"/>
                </a:moveTo>
                <a:lnTo>
                  <a:pt x="275844" y="76200"/>
                </a:lnTo>
                <a:lnTo>
                  <a:pt x="342899" y="42672"/>
                </a:lnTo>
                <a:lnTo>
                  <a:pt x="288036" y="42672"/>
                </a:lnTo>
                <a:lnTo>
                  <a:pt x="288036" y="33527"/>
                </a:lnTo>
                <a:lnTo>
                  <a:pt x="342899" y="33527"/>
                </a:lnTo>
                <a:lnTo>
                  <a:pt x="275844" y="0"/>
                </a:lnTo>
                <a:close/>
              </a:path>
              <a:path w="352425" h="76200">
                <a:moveTo>
                  <a:pt x="275844" y="33527"/>
                </a:moveTo>
                <a:lnTo>
                  <a:pt x="0" y="33527"/>
                </a:lnTo>
                <a:lnTo>
                  <a:pt x="0" y="42672"/>
                </a:lnTo>
                <a:lnTo>
                  <a:pt x="275844" y="42672"/>
                </a:lnTo>
                <a:lnTo>
                  <a:pt x="275844" y="33527"/>
                </a:lnTo>
                <a:close/>
              </a:path>
              <a:path w="352425" h="76200">
                <a:moveTo>
                  <a:pt x="342899" y="33527"/>
                </a:moveTo>
                <a:lnTo>
                  <a:pt x="288036" y="33527"/>
                </a:lnTo>
                <a:lnTo>
                  <a:pt x="288036" y="42672"/>
                </a:lnTo>
                <a:lnTo>
                  <a:pt x="342899" y="42672"/>
                </a:lnTo>
                <a:lnTo>
                  <a:pt x="352044" y="38100"/>
                </a:lnTo>
                <a:lnTo>
                  <a:pt x="342899" y="3352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217420" y="5000244"/>
            <a:ext cx="352425" cy="76200"/>
          </a:xfrm>
          <a:custGeom>
            <a:avLst/>
            <a:gdLst/>
            <a:ahLst/>
            <a:cxnLst/>
            <a:rect l="l" t="t" r="r" b="b"/>
            <a:pathLst>
              <a:path w="352425" h="76200">
                <a:moveTo>
                  <a:pt x="275844" y="0"/>
                </a:moveTo>
                <a:lnTo>
                  <a:pt x="275844" y="76199"/>
                </a:lnTo>
                <a:lnTo>
                  <a:pt x="342899" y="42671"/>
                </a:lnTo>
                <a:lnTo>
                  <a:pt x="288036" y="42671"/>
                </a:lnTo>
                <a:lnTo>
                  <a:pt x="288036" y="33527"/>
                </a:lnTo>
                <a:lnTo>
                  <a:pt x="342900" y="33527"/>
                </a:lnTo>
                <a:lnTo>
                  <a:pt x="275844" y="0"/>
                </a:lnTo>
                <a:close/>
              </a:path>
              <a:path w="352425" h="76200">
                <a:moveTo>
                  <a:pt x="275844" y="33527"/>
                </a:moveTo>
                <a:lnTo>
                  <a:pt x="0" y="33527"/>
                </a:lnTo>
                <a:lnTo>
                  <a:pt x="0" y="42671"/>
                </a:lnTo>
                <a:lnTo>
                  <a:pt x="275844" y="42671"/>
                </a:lnTo>
                <a:lnTo>
                  <a:pt x="275844" y="33527"/>
                </a:lnTo>
                <a:close/>
              </a:path>
              <a:path w="352425" h="76200">
                <a:moveTo>
                  <a:pt x="342900" y="33527"/>
                </a:moveTo>
                <a:lnTo>
                  <a:pt x="288036" y="33527"/>
                </a:lnTo>
                <a:lnTo>
                  <a:pt x="288036" y="42671"/>
                </a:lnTo>
                <a:lnTo>
                  <a:pt x="342899" y="42671"/>
                </a:lnTo>
                <a:lnTo>
                  <a:pt x="352044" y="38099"/>
                </a:lnTo>
                <a:lnTo>
                  <a:pt x="342900" y="3352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214372" y="5631179"/>
            <a:ext cx="352425" cy="76200"/>
          </a:xfrm>
          <a:custGeom>
            <a:avLst/>
            <a:gdLst/>
            <a:ahLst/>
            <a:cxnLst/>
            <a:rect l="l" t="t" r="r" b="b"/>
            <a:pathLst>
              <a:path w="352425" h="76200">
                <a:moveTo>
                  <a:pt x="275844" y="0"/>
                </a:moveTo>
                <a:lnTo>
                  <a:pt x="275844" y="76200"/>
                </a:lnTo>
                <a:lnTo>
                  <a:pt x="342900" y="42672"/>
                </a:lnTo>
                <a:lnTo>
                  <a:pt x="288035" y="42672"/>
                </a:lnTo>
                <a:lnTo>
                  <a:pt x="288035" y="33528"/>
                </a:lnTo>
                <a:lnTo>
                  <a:pt x="342899" y="33528"/>
                </a:lnTo>
                <a:lnTo>
                  <a:pt x="275844" y="0"/>
                </a:lnTo>
                <a:close/>
              </a:path>
              <a:path w="352425" h="76200">
                <a:moveTo>
                  <a:pt x="275844" y="33528"/>
                </a:moveTo>
                <a:lnTo>
                  <a:pt x="0" y="33528"/>
                </a:lnTo>
                <a:lnTo>
                  <a:pt x="0" y="42672"/>
                </a:lnTo>
                <a:lnTo>
                  <a:pt x="275844" y="42672"/>
                </a:lnTo>
                <a:lnTo>
                  <a:pt x="275844" y="33528"/>
                </a:lnTo>
                <a:close/>
              </a:path>
              <a:path w="352425" h="76200">
                <a:moveTo>
                  <a:pt x="342899" y="33528"/>
                </a:moveTo>
                <a:lnTo>
                  <a:pt x="288035" y="33528"/>
                </a:lnTo>
                <a:lnTo>
                  <a:pt x="288035" y="42672"/>
                </a:lnTo>
                <a:lnTo>
                  <a:pt x="342900" y="42672"/>
                </a:lnTo>
                <a:lnTo>
                  <a:pt x="352044" y="38100"/>
                </a:lnTo>
                <a:lnTo>
                  <a:pt x="342899" y="3352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40151" y="4387850"/>
            <a:ext cx="2787396" cy="1165606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5181091" y="6566296"/>
            <a:ext cx="979805" cy="3016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ahoma"/>
                <a:cs typeface="Tahoma"/>
              </a:rPr>
              <a:t>Column</a:t>
            </a:r>
            <a:r>
              <a:rPr sz="1800" spc="-30" dirty="0">
                <a:latin typeface="Tahoma"/>
                <a:cs typeface="Tahoma"/>
              </a:rPr>
              <a:t> </a:t>
            </a:r>
            <a:r>
              <a:rPr sz="1800" spc="-50" dirty="0">
                <a:latin typeface="Tahoma"/>
                <a:cs typeface="Tahoma"/>
              </a:rPr>
              <a:t>3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573783" y="6651564"/>
            <a:ext cx="979805" cy="3016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ahoma"/>
                <a:cs typeface="Tahoma"/>
              </a:rPr>
              <a:t>Column</a:t>
            </a:r>
            <a:r>
              <a:rPr sz="1800" spc="-30" dirty="0">
                <a:latin typeface="Tahoma"/>
                <a:cs typeface="Tahoma"/>
              </a:rPr>
              <a:t> </a:t>
            </a:r>
            <a:r>
              <a:rPr sz="1800" spc="-50" dirty="0">
                <a:latin typeface="Tahoma"/>
                <a:cs typeface="Tahoma"/>
              </a:rPr>
              <a:t>0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974084" y="6656136"/>
            <a:ext cx="979805" cy="3016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ahoma"/>
                <a:cs typeface="Tahoma"/>
              </a:rPr>
              <a:t>Column</a:t>
            </a:r>
            <a:r>
              <a:rPr sz="1800" spc="-30" dirty="0">
                <a:latin typeface="Tahoma"/>
                <a:cs typeface="Tahoma"/>
              </a:rPr>
              <a:t> </a:t>
            </a:r>
            <a:r>
              <a:rPr sz="1800" spc="-50" dirty="0">
                <a:latin typeface="Tahoma"/>
                <a:cs typeface="Tahoma"/>
              </a:rPr>
              <a:t>2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713812" y="6683568"/>
            <a:ext cx="979805" cy="3016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ahoma"/>
                <a:cs typeface="Tahoma"/>
              </a:rPr>
              <a:t>Column</a:t>
            </a:r>
            <a:r>
              <a:rPr sz="1800" spc="-30" dirty="0">
                <a:latin typeface="Tahoma"/>
                <a:cs typeface="Tahoma"/>
              </a:rPr>
              <a:t> </a:t>
            </a:r>
            <a:r>
              <a:rPr sz="1800" spc="-50" dirty="0">
                <a:latin typeface="Tahoma"/>
                <a:cs typeface="Tahoma"/>
              </a:rPr>
              <a:t>1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9201366" y="6884834"/>
            <a:ext cx="123189" cy="2406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50" dirty="0">
                <a:latin typeface="Tahoma"/>
                <a:cs typeface="Tahoma"/>
              </a:rPr>
              <a:t>7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753604" y="6921160"/>
            <a:ext cx="1348105" cy="363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720"/>
              </a:lnSpc>
            </a:pP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memory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839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/>
              <a:t>Accessing</a:t>
            </a:r>
            <a:r>
              <a:rPr spc="-90" dirty="0"/>
              <a:t> </a:t>
            </a:r>
            <a:r>
              <a:rPr dirty="0"/>
              <a:t>Array</a:t>
            </a:r>
            <a:r>
              <a:rPr spc="-30" dirty="0"/>
              <a:t> </a:t>
            </a:r>
            <a:r>
              <a:rPr spc="-10" dirty="0"/>
              <a:t>Elements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364479" y="5795771"/>
            <a:ext cx="596265" cy="480059"/>
            <a:chOff x="5364479" y="5795771"/>
            <a:chExt cx="596265" cy="480059"/>
          </a:xfrm>
        </p:grpSpPr>
        <p:sp>
          <p:nvSpPr>
            <p:cNvPr id="4" name="object 4"/>
            <p:cNvSpPr/>
            <p:nvPr/>
          </p:nvSpPr>
          <p:spPr>
            <a:xfrm>
              <a:off x="5369051" y="5800343"/>
              <a:ext cx="586740" cy="471170"/>
            </a:xfrm>
            <a:custGeom>
              <a:avLst/>
              <a:gdLst/>
              <a:ahLst/>
              <a:cxnLst/>
              <a:rect l="l" t="t" r="r" b="b"/>
              <a:pathLst>
                <a:path w="586739" h="471170">
                  <a:moveTo>
                    <a:pt x="294132" y="0"/>
                  </a:moveTo>
                  <a:lnTo>
                    <a:pt x="241097" y="3783"/>
                  </a:lnTo>
                  <a:lnTo>
                    <a:pt x="191248" y="14692"/>
                  </a:lnTo>
                  <a:lnTo>
                    <a:pt x="145400" y="32060"/>
                  </a:lnTo>
                  <a:lnTo>
                    <a:pt x="104369" y="55223"/>
                  </a:lnTo>
                  <a:lnTo>
                    <a:pt x="68970" y="83516"/>
                  </a:lnTo>
                  <a:lnTo>
                    <a:pt x="40019" y="116275"/>
                  </a:lnTo>
                  <a:lnTo>
                    <a:pt x="18329" y="152834"/>
                  </a:lnTo>
                  <a:lnTo>
                    <a:pt x="4718" y="192529"/>
                  </a:lnTo>
                  <a:lnTo>
                    <a:pt x="0" y="234695"/>
                  </a:lnTo>
                  <a:lnTo>
                    <a:pt x="4718" y="277315"/>
                  </a:lnTo>
                  <a:lnTo>
                    <a:pt x="18329" y="317364"/>
                  </a:lnTo>
                  <a:lnTo>
                    <a:pt x="40019" y="354188"/>
                  </a:lnTo>
                  <a:lnTo>
                    <a:pt x="68970" y="387137"/>
                  </a:lnTo>
                  <a:lnTo>
                    <a:pt x="104369" y="415558"/>
                  </a:lnTo>
                  <a:lnTo>
                    <a:pt x="145400" y="438799"/>
                  </a:lnTo>
                  <a:lnTo>
                    <a:pt x="191248" y="456206"/>
                  </a:lnTo>
                  <a:lnTo>
                    <a:pt x="241097" y="467130"/>
                  </a:lnTo>
                  <a:lnTo>
                    <a:pt x="294132" y="470915"/>
                  </a:lnTo>
                  <a:lnTo>
                    <a:pt x="346713" y="467130"/>
                  </a:lnTo>
                  <a:lnTo>
                    <a:pt x="396208" y="456206"/>
                  </a:lnTo>
                  <a:lnTo>
                    <a:pt x="441790" y="438799"/>
                  </a:lnTo>
                  <a:lnTo>
                    <a:pt x="482631" y="415558"/>
                  </a:lnTo>
                  <a:lnTo>
                    <a:pt x="517902" y="387137"/>
                  </a:lnTo>
                  <a:lnTo>
                    <a:pt x="546777" y="354188"/>
                  </a:lnTo>
                  <a:lnTo>
                    <a:pt x="568426" y="317364"/>
                  </a:lnTo>
                  <a:lnTo>
                    <a:pt x="582023" y="277315"/>
                  </a:lnTo>
                  <a:lnTo>
                    <a:pt x="586739" y="234695"/>
                  </a:lnTo>
                  <a:lnTo>
                    <a:pt x="582023" y="192529"/>
                  </a:lnTo>
                  <a:lnTo>
                    <a:pt x="568426" y="152834"/>
                  </a:lnTo>
                  <a:lnTo>
                    <a:pt x="546777" y="116275"/>
                  </a:lnTo>
                  <a:lnTo>
                    <a:pt x="517902" y="83516"/>
                  </a:lnTo>
                  <a:lnTo>
                    <a:pt x="482631" y="55223"/>
                  </a:lnTo>
                  <a:lnTo>
                    <a:pt x="441790" y="32060"/>
                  </a:lnTo>
                  <a:lnTo>
                    <a:pt x="396208" y="14692"/>
                  </a:lnTo>
                  <a:lnTo>
                    <a:pt x="346713" y="3783"/>
                  </a:lnTo>
                  <a:lnTo>
                    <a:pt x="294132" y="0"/>
                  </a:lnTo>
                  <a:close/>
                </a:path>
              </a:pathLst>
            </a:custGeom>
            <a:solidFill>
              <a:srgbClr val="00E4A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364479" y="5795771"/>
              <a:ext cx="596265" cy="480059"/>
            </a:xfrm>
            <a:custGeom>
              <a:avLst/>
              <a:gdLst/>
              <a:ahLst/>
              <a:cxnLst/>
              <a:rect l="l" t="t" r="r" b="b"/>
              <a:pathLst>
                <a:path w="596264" h="480060">
                  <a:moveTo>
                    <a:pt x="327660" y="0"/>
                  </a:moveTo>
                  <a:lnTo>
                    <a:pt x="268224" y="0"/>
                  </a:lnTo>
                  <a:lnTo>
                    <a:pt x="252984" y="1523"/>
                  </a:lnTo>
                  <a:lnTo>
                    <a:pt x="210312" y="10667"/>
                  </a:lnTo>
                  <a:lnTo>
                    <a:pt x="156972" y="28955"/>
                  </a:lnTo>
                  <a:lnTo>
                    <a:pt x="108204" y="54863"/>
                  </a:lnTo>
                  <a:lnTo>
                    <a:pt x="68580" y="86867"/>
                  </a:lnTo>
                  <a:lnTo>
                    <a:pt x="36575" y="124967"/>
                  </a:lnTo>
                  <a:lnTo>
                    <a:pt x="13716" y="167639"/>
                  </a:lnTo>
                  <a:lnTo>
                    <a:pt x="4572" y="202691"/>
                  </a:lnTo>
                  <a:lnTo>
                    <a:pt x="1524" y="214883"/>
                  </a:lnTo>
                  <a:lnTo>
                    <a:pt x="1524" y="227075"/>
                  </a:lnTo>
                  <a:lnTo>
                    <a:pt x="0" y="240791"/>
                  </a:lnTo>
                  <a:lnTo>
                    <a:pt x="1524" y="252983"/>
                  </a:lnTo>
                  <a:lnTo>
                    <a:pt x="1524" y="265175"/>
                  </a:lnTo>
                  <a:lnTo>
                    <a:pt x="4572" y="277367"/>
                  </a:lnTo>
                  <a:lnTo>
                    <a:pt x="6096" y="288035"/>
                  </a:lnTo>
                  <a:lnTo>
                    <a:pt x="10668" y="300227"/>
                  </a:lnTo>
                  <a:lnTo>
                    <a:pt x="13716" y="312419"/>
                  </a:lnTo>
                  <a:lnTo>
                    <a:pt x="18287" y="323088"/>
                  </a:lnTo>
                  <a:lnTo>
                    <a:pt x="44196" y="365759"/>
                  </a:lnTo>
                  <a:lnTo>
                    <a:pt x="88392" y="409955"/>
                  </a:lnTo>
                  <a:lnTo>
                    <a:pt x="132587" y="438911"/>
                  </a:lnTo>
                  <a:lnTo>
                    <a:pt x="182880" y="461771"/>
                  </a:lnTo>
                  <a:lnTo>
                    <a:pt x="237744" y="475487"/>
                  </a:lnTo>
                  <a:lnTo>
                    <a:pt x="283464" y="480059"/>
                  </a:lnTo>
                  <a:lnTo>
                    <a:pt x="313944" y="480059"/>
                  </a:lnTo>
                  <a:lnTo>
                    <a:pt x="329184" y="478535"/>
                  </a:lnTo>
                  <a:lnTo>
                    <a:pt x="342900" y="477011"/>
                  </a:lnTo>
                  <a:lnTo>
                    <a:pt x="358140" y="475487"/>
                  </a:lnTo>
                  <a:lnTo>
                    <a:pt x="379857" y="470915"/>
                  </a:lnTo>
                  <a:lnTo>
                    <a:pt x="283464" y="470915"/>
                  </a:lnTo>
                  <a:lnTo>
                    <a:pt x="268224" y="469391"/>
                  </a:lnTo>
                  <a:lnTo>
                    <a:pt x="254508" y="467867"/>
                  </a:lnTo>
                  <a:lnTo>
                    <a:pt x="239268" y="466343"/>
                  </a:lnTo>
                  <a:lnTo>
                    <a:pt x="211836" y="460247"/>
                  </a:lnTo>
                  <a:lnTo>
                    <a:pt x="160020" y="441959"/>
                  </a:lnTo>
                  <a:lnTo>
                    <a:pt x="114300" y="417575"/>
                  </a:lnTo>
                  <a:lnTo>
                    <a:pt x="74675" y="385571"/>
                  </a:lnTo>
                  <a:lnTo>
                    <a:pt x="44196" y="348995"/>
                  </a:lnTo>
                  <a:lnTo>
                    <a:pt x="18287" y="297179"/>
                  </a:lnTo>
                  <a:lnTo>
                    <a:pt x="13716" y="274319"/>
                  </a:lnTo>
                  <a:lnTo>
                    <a:pt x="10668" y="263651"/>
                  </a:lnTo>
                  <a:lnTo>
                    <a:pt x="10668" y="228600"/>
                  </a:lnTo>
                  <a:lnTo>
                    <a:pt x="13716" y="204215"/>
                  </a:lnTo>
                  <a:lnTo>
                    <a:pt x="27432" y="160019"/>
                  </a:lnTo>
                  <a:lnTo>
                    <a:pt x="59436" y="111251"/>
                  </a:lnTo>
                  <a:lnTo>
                    <a:pt x="94487" y="76200"/>
                  </a:lnTo>
                  <a:lnTo>
                    <a:pt x="137160" y="48767"/>
                  </a:lnTo>
                  <a:lnTo>
                    <a:pt x="185928" y="27431"/>
                  </a:lnTo>
                  <a:lnTo>
                    <a:pt x="239268" y="13715"/>
                  </a:lnTo>
                  <a:lnTo>
                    <a:pt x="254508" y="12191"/>
                  </a:lnTo>
                  <a:lnTo>
                    <a:pt x="268224" y="10667"/>
                  </a:lnTo>
                  <a:lnTo>
                    <a:pt x="283464" y="9143"/>
                  </a:lnTo>
                  <a:lnTo>
                    <a:pt x="378714" y="9143"/>
                  </a:lnTo>
                  <a:lnTo>
                    <a:pt x="358140" y="4571"/>
                  </a:lnTo>
                  <a:lnTo>
                    <a:pt x="342900" y="1523"/>
                  </a:lnTo>
                  <a:lnTo>
                    <a:pt x="327660" y="0"/>
                  </a:lnTo>
                  <a:close/>
                </a:path>
                <a:path w="596264" h="480060">
                  <a:moveTo>
                    <a:pt x="378714" y="9143"/>
                  </a:moveTo>
                  <a:lnTo>
                    <a:pt x="312420" y="9143"/>
                  </a:lnTo>
                  <a:lnTo>
                    <a:pt x="342900" y="12191"/>
                  </a:lnTo>
                  <a:lnTo>
                    <a:pt x="356616" y="13715"/>
                  </a:lnTo>
                  <a:lnTo>
                    <a:pt x="411480" y="27431"/>
                  </a:lnTo>
                  <a:lnTo>
                    <a:pt x="460248" y="48767"/>
                  </a:lnTo>
                  <a:lnTo>
                    <a:pt x="502920" y="77723"/>
                  </a:lnTo>
                  <a:lnTo>
                    <a:pt x="537972" y="111251"/>
                  </a:lnTo>
                  <a:lnTo>
                    <a:pt x="563880" y="150875"/>
                  </a:lnTo>
                  <a:lnTo>
                    <a:pt x="580644" y="193547"/>
                  </a:lnTo>
                  <a:lnTo>
                    <a:pt x="585216" y="216407"/>
                  </a:lnTo>
                  <a:lnTo>
                    <a:pt x="585216" y="228600"/>
                  </a:lnTo>
                  <a:lnTo>
                    <a:pt x="586740" y="240791"/>
                  </a:lnTo>
                  <a:lnTo>
                    <a:pt x="585216" y="251459"/>
                  </a:lnTo>
                  <a:lnTo>
                    <a:pt x="585216" y="263651"/>
                  </a:lnTo>
                  <a:lnTo>
                    <a:pt x="583692" y="274319"/>
                  </a:lnTo>
                  <a:lnTo>
                    <a:pt x="563880" y="329183"/>
                  </a:lnTo>
                  <a:lnTo>
                    <a:pt x="544068" y="359663"/>
                  </a:lnTo>
                  <a:lnTo>
                    <a:pt x="537972" y="368807"/>
                  </a:lnTo>
                  <a:lnTo>
                    <a:pt x="481584" y="417575"/>
                  </a:lnTo>
                  <a:lnTo>
                    <a:pt x="435864" y="443483"/>
                  </a:lnTo>
                  <a:lnTo>
                    <a:pt x="384048" y="460247"/>
                  </a:lnTo>
                  <a:lnTo>
                    <a:pt x="341375" y="467867"/>
                  </a:lnTo>
                  <a:lnTo>
                    <a:pt x="327660" y="469391"/>
                  </a:lnTo>
                  <a:lnTo>
                    <a:pt x="312420" y="470915"/>
                  </a:lnTo>
                  <a:lnTo>
                    <a:pt x="379857" y="470915"/>
                  </a:lnTo>
                  <a:lnTo>
                    <a:pt x="440436" y="451103"/>
                  </a:lnTo>
                  <a:lnTo>
                    <a:pt x="487680" y="425195"/>
                  </a:lnTo>
                  <a:lnTo>
                    <a:pt x="527304" y="393191"/>
                  </a:lnTo>
                  <a:lnTo>
                    <a:pt x="553212" y="364235"/>
                  </a:lnTo>
                  <a:lnTo>
                    <a:pt x="559308" y="355091"/>
                  </a:lnTo>
                  <a:lnTo>
                    <a:pt x="566928" y="344423"/>
                  </a:lnTo>
                  <a:lnTo>
                    <a:pt x="571500" y="333755"/>
                  </a:lnTo>
                  <a:lnTo>
                    <a:pt x="577596" y="323088"/>
                  </a:lnTo>
                  <a:lnTo>
                    <a:pt x="582168" y="310895"/>
                  </a:lnTo>
                  <a:lnTo>
                    <a:pt x="586740" y="300227"/>
                  </a:lnTo>
                  <a:lnTo>
                    <a:pt x="592836" y="275844"/>
                  </a:lnTo>
                  <a:lnTo>
                    <a:pt x="594360" y="265175"/>
                  </a:lnTo>
                  <a:lnTo>
                    <a:pt x="595884" y="251459"/>
                  </a:lnTo>
                  <a:lnTo>
                    <a:pt x="595884" y="227075"/>
                  </a:lnTo>
                  <a:lnTo>
                    <a:pt x="586740" y="179831"/>
                  </a:lnTo>
                  <a:lnTo>
                    <a:pt x="559308" y="124967"/>
                  </a:lnTo>
                  <a:lnTo>
                    <a:pt x="527304" y="86867"/>
                  </a:lnTo>
                  <a:lnTo>
                    <a:pt x="486156" y="53339"/>
                  </a:lnTo>
                  <a:lnTo>
                    <a:pt x="438912" y="27431"/>
                  </a:lnTo>
                  <a:lnTo>
                    <a:pt x="385572" y="10667"/>
                  </a:lnTo>
                  <a:lnTo>
                    <a:pt x="378714" y="914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457200" y="3886200"/>
            <a:ext cx="9144000" cy="3429000"/>
            <a:chOff x="457200" y="3886200"/>
            <a:chExt cx="9144000" cy="3429000"/>
          </a:xfrm>
        </p:grpSpPr>
        <p:sp>
          <p:nvSpPr>
            <p:cNvPr id="7" name="object 7"/>
            <p:cNvSpPr/>
            <p:nvPr/>
          </p:nvSpPr>
          <p:spPr>
            <a:xfrm>
              <a:off x="457200" y="3886199"/>
              <a:ext cx="9144000" cy="3429000"/>
            </a:xfrm>
            <a:custGeom>
              <a:avLst/>
              <a:gdLst/>
              <a:ahLst/>
              <a:cxnLst/>
              <a:rect l="l" t="t" r="r" b="b"/>
              <a:pathLst>
                <a:path w="9144000" h="3429000">
                  <a:moveTo>
                    <a:pt x="9144000" y="0"/>
                  </a:moveTo>
                  <a:lnTo>
                    <a:pt x="0" y="0"/>
                  </a:lnTo>
                  <a:lnTo>
                    <a:pt x="0" y="3429000"/>
                  </a:lnTo>
                  <a:lnTo>
                    <a:pt x="9144000" y="342900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044951" y="4616195"/>
              <a:ext cx="501650" cy="388620"/>
            </a:xfrm>
            <a:custGeom>
              <a:avLst/>
              <a:gdLst/>
              <a:ahLst/>
              <a:cxnLst/>
              <a:rect l="l" t="t" r="r" b="b"/>
              <a:pathLst>
                <a:path w="501650" h="388620">
                  <a:moveTo>
                    <a:pt x="275844" y="0"/>
                  </a:moveTo>
                  <a:lnTo>
                    <a:pt x="225551" y="0"/>
                  </a:lnTo>
                  <a:lnTo>
                    <a:pt x="199644" y="3047"/>
                  </a:lnTo>
                  <a:lnTo>
                    <a:pt x="153924" y="15239"/>
                  </a:lnTo>
                  <a:lnTo>
                    <a:pt x="111252" y="32003"/>
                  </a:lnTo>
                  <a:lnTo>
                    <a:pt x="74675" y="56387"/>
                  </a:lnTo>
                  <a:lnTo>
                    <a:pt x="44196" y="83819"/>
                  </a:lnTo>
                  <a:lnTo>
                    <a:pt x="19812" y="117347"/>
                  </a:lnTo>
                  <a:lnTo>
                    <a:pt x="6096" y="153923"/>
                  </a:lnTo>
                  <a:lnTo>
                    <a:pt x="1524" y="173735"/>
                  </a:lnTo>
                  <a:lnTo>
                    <a:pt x="1524" y="184403"/>
                  </a:lnTo>
                  <a:lnTo>
                    <a:pt x="0" y="193547"/>
                  </a:lnTo>
                  <a:lnTo>
                    <a:pt x="1524" y="204215"/>
                  </a:lnTo>
                  <a:lnTo>
                    <a:pt x="1524" y="214883"/>
                  </a:lnTo>
                  <a:lnTo>
                    <a:pt x="3048" y="224027"/>
                  </a:lnTo>
                  <a:lnTo>
                    <a:pt x="21336" y="271271"/>
                  </a:lnTo>
                  <a:lnTo>
                    <a:pt x="44196" y="304799"/>
                  </a:lnTo>
                  <a:lnTo>
                    <a:pt x="74675" y="332231"/>
                  </a:lnTo>
                  <a:lnTo>
                    <a:pt x="112775" y="356615"/>
                  </a:lnTo>
                  <a:lnTo>
                    <a:pt x="155448" y="373379"/>
                  </a:lnTo>
                  <a:lnTo>
                    <a:pt x="201168" y="384047"/>
                  </a:lnTo>
                  <a:lnTo>
                    <a:pt x="251460" y="388619"/>
                  </a:lnTo>
                  <a:lnTo>
                    <a:pt x="275844" y="387095"/>
                  </a:lnTo>
                  <a:lnTo>
                    <a:pt x="300227" y="384047"/>
                  </a:lnTo>
                  <a:lnTo>
                    <a:pt x="324612" y="379475"/>
                  </a:lnTo>
                  <a:lnTo>
                    <a:pt x="347472" y="373379"/>
                  </a:lnTo>
                  <a:lnTo>
                    <a:pt x="368808" y="365759"/>
                  </a:lnTo>
                  <a:lnTo>
                    <a:pt x="227075" y="365759"/>
                  </a:lnTo>
                  <a:lnTo>
                    <a:pt x="204216" y="362711"/>
                  </a:lnTo>
                  <a:lnTo>
                    <a:pt x="160020" y="352043"/>
                  </a:lnTo>
                  <a:lnTo>
                    <a:pt x="103631" y="326135"/>
                  </a:lnTo>
                  <a:lnTo>
                    <a:pt x="73152" y="301751"/>
                  </a:lnTo>
                  <a:lnTo>
                    <a:pt x="39624" y="259079"/>
                  </a:lnTo>
                  <a:lnTo>
                    <a:pt x="25908" y="219455"/>
                  </a:lnTo>
                  <a:lnTo>
                    <a:pt x="24384" y="210311"/>
                  </a:lnTo>
                  <a:lnTo>
                    <a:pt x="22860" y="202691"/>
                  </a:lnTo>
                  <a:lnTo>
                    <a:pt x="22860" y="184403"/>
                  </a:lnTo>
                  <a:lnTo>
                    <a:pt x="24384" y="176783"/>
                  </a:lnTo>
                  <a:lnTo>
                    <a:pt x="25908" y="167639"/>
                  </a:lnTo>
                  <a:lnTo>
                    <a:pt x="41148" y="128015"/>
                  </a:lnTo>
                  <a:lnTo>
                    <a:pt x="88392" y="73151"/>
                  </a:lnTo>
                  <a:lnTo>
                    <a:pt x="121920" y="51815"/>
                  </a:lnTo>
                  <a:lnTo>
                    <a:pt x="161544" y="35051"/>
                  </a:lnTo>
                  <a:lnTo>
                    <a:pt x="204216" y="24383"/>
                  </a:lnTo>
                  <a:lnTo>
                    <a:pt x="251460" y="21335"/>
                  </a:lnTo>
                  <a:lnTo>
                    <a:pt x="364998" y="21335"/>
                  </a:lnTo>
                  <a:lnTo>
                    <a:pt x="345948" y="13715"/>
                  </a:lnTo>
                  <a:lnTo>
                    <a:pt x="324612" y="7619"/>
                  </a:lnTo>
                  <a:lnTo>
                    <a:pt x="300227" y="3047"/>
                  </a:lnTo>
                  <a:lnTo>
                    <a:pt x="275844" y="0"/>
                  </a:lnTo>
                  <a:close/>
                </a:path>
                <a:path w="501650" h="388620">
                  <a:moveTo>
                    <a:pt x="364998" y="21335"/>
                  </a:moveTo>
                  <a:lnTo>
                    <a:pt x="251460" y="21335"/>
                  </a:lnTo>
                  <a:lnTo>
                    <a:pt x="274320" y="22859"/>
                  </a:lnTo>
                  <a:lnTo>
                    <a:pt x="320039" y="28955"/>
                  </a:lnTo>
                  <a:lnTo>
                    <a:pt x="361188" y="42671"/>
                  </a:lnTo>
                  <a:lnTo>
                    <a:pt x="397763" y="62483"/>
                  </a:lnTo>
                  <a:lnTo>
                    <a:pt x="428244" y="85343"/>
                  </a:lnTo>
                  <a:lnTo>
                    <a:pt x="461772" y="128015"/>
                  </a:lnTo>
                  <a:lnTo>
                    <a:pt x="475488" y="169163"/>
                  </a:lnTo>
                  <a:lnTo>
                    <a:pt x="477012" y="176783"/>
                  </a:lnTo>
                  <a:lnTo>
                    <a:pt x="478536" y="185927"/>
                  </a:lnTo>
                  <a:lnTo>
                    <a:pt x="478536" y="202691"/>
                  </a:lnTo>
                  <a:lnTo>
                    <a:pt x="477012" y="211835"/>
                  </a:lnTo>
                  <a:lnTo>
                    <a:pt x="475488" y="219455"/>
                  </a:lnTo>
                  <a:lnTo>
                    <a:pt x="473963" y="228599"/>
                  </a:lnTo>
                  <a:lnTo>
                    <a:pt x="451103" y="275843"/>
                  </a:lnTo>
                  <a:lnTo>
                    <a:pt x="413003" y="315467"/>
                  </a:lnTo>
                  <a:lnTo>
                    <a:pt x="377951" y="336803"/>
                  </a:lnTo>
                  <a:lnTo>
                    <a:pt x="339851" y="352043"/>
                  </a:lnTo>
                  <a:lnTo>
                    <a:pt x="297180" y="362711"/>
                  </a:lnTo>
                  <a:lnTo>
                    <a:pt x="274320" y="365759"/>
                  </a:lnTo>
                  <a:lnTo>
                    <a:pt x="368808" y="365759"/>
                  </a:lnTo>
                  <a:lnTo>
                    <a:pt x="408432" y="344423"/>
                  </a:lnTo>
                  <a:lnTo>
                    <a:pt x="443484" y="318515"/>
                  </a:lnTo>
                  <a:lnTo>
                    <a:pt x="469392" y="286511"/>
                  </a:lnTo>
                  <a:lnTo>
                    <a:pt x="489203" y="251459"/>
                  </a:lnTo>
                  <a:lnTo>
                    <a:pt x="499872" y="213359"/>
                  </a:lnTo>
                  <a:lnTo>
                    <a:pt x="499872" y="204215"/>
                  </a:lnTo>
                  <a:lnTo>
                    <a:pt x="501396" y="193547"/>
                  </a:lnTo>
                  <a:lnTo>
                    <a:pt x="499872" y="182879"/>
                  </a:lnTo>
                  <a:lnTo>
                    <a:pt x="499872" y="173735"/>
                  </a:lnTo>
                  <a:lnTo>
                    <a:pt x="498348" y="163067"/>
                  </a:lnTo>
                  <a:lnTo>
                    <a:pt x="495300" y="153923"/>
                  </a:lnTo>
                  <a:lnTo>
                    <a:pt x="489203" y="134111"/>
                  </a:lnTo>
                  <a:lnTo>
                    <a:pt x="480060" y="117347"/>
                  </a:lnTo>
                  <a:lnTo>
                    <a:pt x="457200" y="83819"/>
                  </a:lnTo>
                  <a:lnTo>
                    <a:pt x="425196" y="54863"/>
                  </a:lnTo>
                  <a:lnTo>
                    <a:pt x="388620" y="32003"/>
                  </a:lnTo>
                  <a:lnTo>
                    <a:pt x="368808" y="22859"/>
                  </a:lnTo>
                  <a:lnTo>
                    <a:pt x="364998" y="21335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9201366" y="6884920"/>
            <a:ext cx="123189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0" dirty="0">
                <a:latin typeface="Tahoma"/>
                <a:cs typeface="Tahoma"/>
              </a:rPr>
              <a:t>8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30564" y="2371451"/>
            <a:ext cx="8152130" cy="2092325"/>
          </a:xfrm>
          <a:prstGeom prst="rect">
            <a:avLst/>
          </a:prstGeom>
        </p:spPr>
        <p:txBody>
          <a:bodyPr vert="horz" wrap="square" lIns="0" tIns="10731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44"/>
              </a:spcBef>
            </a:pPr>
            <a:r>
              <a:rPr sz="2800" dirty="0">
                <a:latin typeface="Courier New"/>
                <a:cs typeface="Courier New"/>
              </a:rPr>
              <a:t>int</a:t>
            </a:r>
            <a:r>
              <a:rPr sz="2800" spc="-15" dirty="0">
                <a:latin typeface="Courier New"/>
                <a:cs typeface="Courier New"/>
              </a:rPr>
              <a:t> </a:t>
            </a:r>
            <a:r>
              <a:rPr sz="2800" spc="-10" dirty="0">
                <a:latin typeface="Courier New"/>
                <a:cs typeface="Courier New"/>
              </a:rPr>
              <a:t>matrix[3][4];</a:t>
            </a:r>
            <a:endParaRPr sz="2800">
              <a:latin typeface="Courier New"/>
              <a:cs typeface="Courier New"/>
            </a:endParaRPr>
          </a:p>
          <a:p>
            <a:pPr marL="354965" indent="-342265">
              <a:lnSpc>
                <a:spcPct val="100000"/>
              </a:lnSpc>
              <a:spcBef>
                <a:spcPts val="745"/>
              </a:spcBef>
              <a:buClr>
                <a:srgbClr val="3333CC"/>
              </a:buClr>
              <a:buSzPct val="58928"/>
              <a:buFont typeface="Wingdings"/>
              <a:buChar char=""/>
              <a:tabLst>
                <a:tab pos="354965" algn="l"/>
              </a:tabLst>
            </a:pPr>
            <a:r>
              <a:rPr sz="2800" spc="-10" dirty="0">
                <a:latin typeface="Courier New"/>
                <a:cs typeface="Courier New"/>
              </a:rPr>
              <a:t>matrix</a:t>
            </a:r>
            <a:r>
              <a:rPr sz="2800" spc="-844" dirty="0">
                <a:latin typeface="Courier New"/>
                <a:cs typeface="Courier New"/>
              </a:rPr>
              <a:t> </a:t>
            </a:r>
            <a:r>
              <a:rPr sz="2800" dirty="0">
                <a:latin typeface="Tahoma"/>
                <a:cs typeface="Tahoma"/>
              </a:rPr>
              <a:t>has</a:t>
            </a:r>
            <a:r>
              <a:rPr sz="2800" spc="-3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12</a:t>
            </a:r>
            <a:r>
              <a:rPr sz="2800" spc="-2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integer</a:t>
            </a:r>
            <a:r>
              <a:rPr sz="2800" spc="-30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elements</a:t>
            </a:r>
            <a:endParaRPr sz="280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spcBef>
                <a:spcPts val="670"/>
              </a:spcBef>
              <a:buClr>
                <a:srgbClr val="3333CC"/>
              </a:buClr>
              <a:buSzPct val="58928"/>
              <a:buFont typeface="Wingdings"/>
              <a:buChar char=""/>
              <a:tabLst>
                <a:tab pos="354965" algn="l"/>
              </a:tabLst>
            </a:pPr>
            <a:r>
              <a:rPr sz="2800" spc="-10" dirty="0">
                <a:latin typeface="Courier New"/>
                <a:cs typeface="Courier New"/>
              </a:rPr>
              <a:t>matrix[0][0]</a:t>
            </a:r>
            <a:r>
              <a:rPr sz="2800" spc="-860" dirty="0">
                <a:latin typeface="Courier New"/>
                <a:cs typeface="Courier New"/>
              </a:rPr>
              <a:t> </a:t>
            </a:r>
            <a:r>
              <a:rPr sz="2800" dirty="0">
                <a:latin typeface="Tahoma"/>
                <a:cs typeface="Tahoma"/>
              </a:rPr>
              <a:t>element</a:t>
            </a:r>
            <a:r>
              <a:rPr sz="2800" spc="-8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in</a:t>
            </a:r>
            <a:r>
              <a:rPr sz="2800" spc="-3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first</a:t>
            </a:r>
            <a:r>
              <a:rPr sz="2800" spc="-2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row,</a:t>
            </a:r>
            <a:r>
              <a:rPr sz="2800" spc="-3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first</a:t>
            </a:r>
            <a:r>
              <a:rPr sz="2800" spc="-25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column</a:t>
            </a:r>
            <a:endParaRPr sz="280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spcBef>
                <a:spcPts val="675"/>
              </a:spcBef>
              <a:buClr>
                <a:srgbClr val="3333CC"/>
              </a:buClr>
              <a:buSzPct val="58928"/>
              <a:buFont typeface="Wingdings"/>
              <a:buChar char=""/>
              <a:tabLst>
                <a:tab pos="354965" algn="l"/>
              </a:tabLst>
            </a:pPr>
            <a:r>
              <a:rPr sz="2800" dirty="0">
                <a:latin typeface="Courier New"/>
                <a:cs typeface="Courier New"/>
              </a:rPr>
              <a:t>matrix[2][3]</a:t>
            </a:r>
            <a:r>
              <a:rPr sz="2800" spc="-140" dirty="0">
                <a:latin typeface="Courier New"/>
                <a:cs typeface="Courier New"/>
              </a:rPr>
              <a:t> </a:t>
            </a:r>
            <a:r>
              <a:rPr sz="2800" dirty="0">
                <a:latin typeface="Tahoma"/>
                <a:cs typeface="Tahoma"/>
              </a:rPr>
              <a:t>element</a:t>
            </a:r>
            <a:r>
              <a:rPr sz="2800" spc="-5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in</a:t>
            </a:r>
            <a:r>
              <a:rPr sz="2800" spc="-5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last</a:t>
            </a:r>
            <a:r>
              <a:rPr sz="2800" spc="-4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row,</a:t>
            </a:r>
            <a:r>
              <a:rPr sz="2800" spc="-4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last</a:t>
            </a:r>
            <a:r>
              <a:rPr sz="2800" spc="-40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column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009724" y="7043496"/>
            <a:ext cx="9798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ahoma"/>
                <a:cs typeface="Tahoma"/>
              </a:rPr>
              <a:t>Column</a:t>
            </a:r>
            <a:r>
              <a:rPr sz="1800" spc="-30" dirty="0">
                <a:latin typeface="Tahoma"/>
                <a:cs typeface="Tahoma"/>
              </a:rPr>
              <a:t> </a:t>
            </a:r>
            <a:r>
              <a:rPr sz="1800" spc="-50" dirty="0">
                <a:latin typeface="Tahoma"/>
                <a:cs typeface="Tahoma"/>
              </a:rPr>
              <a:t>0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149523" y="7075499"/>
            <a:ext cx="9798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ahoma"/>
                <a:cs typeface="Tahoma"/>
              </a:rPr>
              <a:t>Column</a:t>
            </a:r>
            <a:r>
              <a:rPr sz="1800" spc="-30" dirty="0">
                <a:latin typeface="Tahoma"/>
                <a:cs typeface="Tahoma"/>
              </a:rPr>
              <a:t> </a:t>
            </a:r>
            <a:r>
              <a:rPr sz="1800" spc="-50" dirty="0">
                <a:latin typeface="Tahoma"/>
                <a:cs typeface="Tahoma"/>
              </a:rPr>
              <a:t>1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410024" y="7048068"/>
            <a:ext cx="9798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ahoma"/>
                <a:cs typeface="Tahoma"/>
              </a:rPr>
              <a:t>Column</a:t>
            </a:r>
            <a:r>
              <a:rPr sz="1800" spc="-30" dirty="0">
                <a:latin typeface="Tahoma"/>
                <a:cs typeface="Tahoma"/>
              </a:rPr>
              <a:t> </a:t>
            </a:r>
            <a:r>
              <a:rPr sz="1800" spc="-50" dirty="0">
                <a:latin typeface="Tahoma"/>
                <a:cs typeface="Tahoma"/>
              </a:rPr>
              <a:t>2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615432" y="6958000"/>
            <a:ext cx="9798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ahoma"/>
                <a:cs typeface="Tahoma"/>
              </a:rPr>
              <a:t>Column</a:t>
            </a:r>
            <a:r>
              <a:rPr sz="1800" spc="-30" dirty="0">
                <a:latin typeface="Tahoma"/>
                <a:cs typeface="Tahoma"/>
              </a:rPr>
              <a:t> </a:t>
            </a:r>
            <a:r>
              <a:rPr sz="1800" spc="-50" dirty="0">
                <a:latin typeface="Tahoma"/>
                <a:cs typeface="Tahoma"/>
              </a:rPr>
              <a:t>3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902967" y="4643196"/>
            <a:ext cx="694690" cy="1560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5244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ahoma"/>
                <a:cs typeface="Tahoma"/>
              </a:rPr>
              <a:t>Row</a:t>
            </a:r>
            <a:r>
              <a:rPr sz="1800" spc="-65" dirty="0">
                <a:latin typeface="Tahoma"/>
                <a:cs typeface="Tahoma"/>
              </a:rPr>
              <a:t> </a:t>
            </a:r>
            <a:r>
              <a:rPr sz="1800" spc="-50" dirty="0">
                <a:latin typeface="Tahoma"/>
                <a:cs typeface="Tahoma"/>
              </a:rPr>
              <a:t>0</a:t>
            </a:r>
            <a:endParaRPr sz="18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20"/>
              </a:spcBef>
            </a:pP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Tahoma"/>
                <a:cs typeface="Tahoma"/>
              </a:rPr>
              <a:t>Row</a:t>
            </a:r>
            <a:r>
              <a:rPr sz="1800" spc="-65" dirty="0">
                <a:latin typeface="Tahoma"/>
                <a:cs typeface="Tahoma"/>
              </a:rPr>
              <a:t> </a:t>
            </a:r>
            <a:r>
              <a:rPr sz="1800" spc="-50" dirty="0">
                <a:latin typeface="Tahoma"/>
                <a:cs typeface="Tahoma"/>
              </a:rPr>
              <a:t>1</a:t>
            </a:r>
            <a:endParaRPr sz="18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35"/>
              </a:spcBef>
            </a:pP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Tahoma"/>
                <a:cs typeface="Tahoma"/>
              </a:rPr>
              <a:t>Row</a:t>
            </a:r>
            <a:r>
              <a:rPr sz="1800" spc="-65" dirty="0">
                <a:latin typeface="Tahoma"/>
                <a:cs typeface="Tahoma"/>
              </a:rPr>
              <a:t> </a:t>
            </a:r>
            <a:r>
              <a:rPr sz="1800" spc="-50" dirty="0">
                <a:latin typeface="Tahoma"/>
                <a:cs typeface="Tahoma"/>
              </a:rPr>
              <a:t>2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2598420" y="6344411"/>
            <a:ext cx="3462654" cy="704215"/>
          </a:xfrm>
          <a:custGeom>
            <a:avLst/>
            <a:gdLst/>
            <a:ahLst/>
            <a:cxnLst/>
            <a:rect l="l" t="t" r="r" b="b"/>
            <a:pathLst>
              <a:path w="3462654" h="704215">
                <a:moveTo>
                  <a:pt x="757428" y="27432"/>
                </a:moveTo>
                <a:lnTo>
                  <a:pt x="675132" y="48768"/>
                </a:lnTo>
                <a:lnTo>
                  <a:pt x="696645" y="73558"/>
                </a:lnTo>
                <a:lnTo>
                  <a:pt x="0" y="696468"/>
                </a:lnTo>
                <a:lnTo>
                  <a:pt x="6096" y="704088"/>
                </a:lnTo>
                <a:lnTo>
                  <a:pt x="703694" y="81661"/>
                </a:lnTo>
                <a:lnTo>
                  <a:pt x="725424" y="106680"/>
                </a:lnTo>
                <a:lnTo>
                  <a:pt x="742035" y="65532"/>
                </a:lnTo>
                <a:lnTo>
                  <a:pt x="757428" y="27432"/>
                </a:lnTo>
                <a:close/>
              </a:path>
              <a:path w="3462654" h="704215">
                <a:moveTo>
                  <a:pt x="1510284" y="76200"/>
                </a:moveTo>
                <a:lnTo>
                  <a:pt x="1504175" y="64008"/>
                </a:lnTo>
                <a:lnTo>
                  <a:pt x="1472184" y="0"/>
                </a:lnTo>
                <a:lnTo>
                  <a:pt x="1434084" y="76200"/>
                </a:lnTo>
                <a:lnTo>
                  <a:pt x="1467612" y="76200"/>
                </a:lnTo>
                <a:lnTo>
                  <a:pt x="1467612" y="673608"/>
                </a:lnTo>
                <a:lnTo>
                  <a:pt x="1476756" y="673608"/>
                </a:lnTo>
                <a:lnTo>
                  <a:pt x="1476756" y="76200"/>
                </a:lnTo>
                <a:lnTo>
                  <a:pt x="1510284" y="76200"/>
                </a:lnTo>
                <a:close/>
              </a:path>
              <a:path w="3462654" h="704215">
                <a:moveTo>
                  <a:pt x="3462528" y="696468"/>
                </a:moveTo>
                <a:lnTo>
                  <a:pt x="2988399" y="58801"/>
                </a:lnTo>
                <a:lnTo>
                  <a:pt x="3001772" y="48768"/>
                </a:lnTo>
                <a:lnTo>
                  <a:pt x="3015996" y="38100"/>
                </a:lnTo>
                <a:lnTo>
                  <a:pt x="2939796" y="0"/>
                </a:lnTo>
                <a:lnTo>
                  <a:pt x="2955036" y="83820"/>
                </a:lnTo>
                <a:lnTo>
                  <a:pt x="2981312" y="64122"/>
                </a:lnTo>
                <a:lnTo>
                  <a:pt x="3454908" y="702564"/>
                </a:lnTo>
                <a:lnTo>
                  <a:pt x="3462528" y="69646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7" name="object 17"/>
          <p:cNvGraphicFramePr>
            <a:graphicFrameLocks noGrp="1"/>
          </p:cNvGraphicFramePr>
          <p:nvPr/>
        </p:nvGraphicFramePr>
        <p:xfrm>
          <a:off x="3037332" y="4532376"/>
          <a:ext cx="3048000" cy="17970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84200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2800" spc="-50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4</a:t>
                      </a:r>
                      <a:endParaRPr sz="2800">
                        <a:latin typeface="Tahoma"/>
                        <a:cs typeface="Tahoma"/>
                      </a:endParaRPr>
                    </a:p>
                  </a:txBody>
                  <a:tcPr marL="0" marR="0" marT="4318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2800" spc="-50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1</a:t>
                      </a:r>
                      <a:endParaRPr sz="2800">
                        <a:latin typeface="Tahoma"/>
                        <a:cs typeface="Tahoma"/>
                      </a:endParaRPr>
                    </a:p>
                  </a:txBody>
                  <a:tcPr marL="0" marR="0" marT="431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2800" spc="-50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0</a:t>
                      </a:r>
                      <a:endParaRPr sz="2800">
                        <a:latin typeface="Tahoma"/>
                        <a:cs typeface="Tahoma"/>
                      </a:endParaRPr>
                    </a:p>
                  </a:txBody>
                  <a:tcPr marL="0" marR="0" marT="431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2800" spc="-50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2</a:t>
                      </a:r>
                      <a:endParaRPr sz="2800">
                        <a:latin typeface="Tahoma"/>
                        <a:cs typeface="Tahoma"/>
                      </a:endParaRPr>
                    </a:p>
                  </a:txBody>
                  <a:tcPr marL="0" marR="0" marT="431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5475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2800" dirty="0">
                          <a:solidFill>
                            <a:srgbClr val="00E4A8"/>
                          </a:solidFill>
                          <a:latin typeface="Tahoma"/>
                          <a:cs typeface="Tahoma"/>
                        </a:rPr>
                        <a:t>-</a:t>
                      </a:r>
                      <a:r>
                        <a:rPr sz="2800" spc="-50" dirty="0">
                          <a:solidFill>
                            <a:srgbClr val="00E4A8"/>
                          </a:solidFill>
                          <a:latin typeface="Tahoma"/>
                          <a:cs typeface="Tahoma"/>
                        </a:rPr>
                        <a:t>1</a:t>
                      </a:r>
                      <a:endParaRPr sz="2800">
                        <a:latin typeface="Tahoma"/>
                        <a:cs typeface="Tahoma"/>
                      </a:endParaRPr>
                    </a:p>
                  </a:txBody>
                  <a:tcPr marL="0" marR="0" marT="4381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2800" spc="-50" dirty="0">
                          <a:solidFill>
                            <a:srgbClr val="00E4A8"/>
                          </a:solidFill>
                          <a:latin typeface="Tahoma"/>
                          <a:cs typeface="Tahoma"/>
                        </a:rPr>
                        <a:t>2</a:t>
                      </a:r>
                      <a:endParaRPr sz="2800">
                        <a:latin typeface="Tahoma"/>
                        <a:cs typeface="Tahoma"/>
                      </a:endParaRPr>
                    </a:p>
                  </a:txBody>
                  <a:tcPr marL="0" marR="0" marT="4381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2800" spc="-50" dirty="0">
                          <a:solidFill>
                            <a:srgbClr val="00E4A8"/>
                          </a:solidFill>
                          <a:latin typeface="Tahoma"/>
                          <a:cs typeface="Tahoma"/>
                        </a:rPr>
                        <a:t>4</a:t>
                      </a:r>
                      <a:endParaRPr sz="2800">
                        <a:latin typeface="Tahoma"/>
                        <a:cs typeface="Tahoma"/>
                      </a:endParaRPr>
                    </a:p>
                  </a:txBody>
                  <a:tcPr marL="0" marR="0" marT="4381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2800" spc="-50" dirty="0">
                          <a:solidFill>
                            <a:srgbClr val="00E4A8"/>
                          </a:solidFill>
                          <a:latin typeface="Tahoma"/>
                          <a:cs typeface="Tahoma"/>
                        </a:rPr>
                        <a:t>3</a:t>
                      </a:r>
                      <a:endParaRPr sz="2800">
                        <a:latin typeface="Tahoma"/>
                        <a:cs typeface="Tahoma"/>
                      </a:endParaRPr>
                    </a:p>
                  </a:txBody>
                  <a:tcPr marL="0" marR="0" marT="4381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7375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2800" spc="-50" dirty="0">
                          <a:solidFill>
                            <a:srgbClr val="3333CC"/>
                          </a:solidFill>
                          <a:latin typeface="Tahoma"/>
                          <a:cs typeface="Tahoma"/>
                        </a:rPr>
                        <a:t>0</a:t>
                      </a:r>
                      <a:endParaRPr sz="2800">
                        <a:latin typeface="Tahoma"/>
                        <a:cs typeface="Tahoma"/>
                      </a:endParaRPr>
                    </a:p>
                  </a:txBody>
                  <a:tcPr marL="0" marR="0" marT="4254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2800" dirty="0">
                          <a:solidFill>
                            <a:srgbClr val="3333CC"/>
                          </a:solidFill>
                          <a:latin typeface="Tahoma"/>
                          <a:cs typeface="Tahoma"/>
                        </a:rPr>
                        <a:t>-</a:t>
                      </a:r>
                      <a:r>
                        <a:rPr sz="2800" spc="-50" dirty="0">
                          <a:solidFill>
                            <a:srgbClr val="3333CC"/>
                          </a:solidFill>
                          <a:latin typeface="Tahoma"/>
                          <a:cs typeface="Tahoma"/>
                        </a:rPr>
                        <a:t>1</a:t>
                      </a:r>
                      <a:endParaRPr sz="2800">
                        <a:latin typeface="Tahoma"/>
                        <a:cs typeface="Tahoma"/>
                      </a:endParaRPr>
                    </a:p>
                  </a:txBody>
                  <a:tcPr marL="0" marR="0" marT="4254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2800" spc="-50" dirty="0">
                          <a:solidFill>
                            <a:srgbClr val="3333CC"/>
                          </a:solidFill>
                          <a:latin typeface="Tahoma"/>
                          <a:cs typeface="Tahoma"/>
                        </a:rPr>
                        <a:t>3</a:t>
                      </a:r>
                      <a:endParaRPr sz="2800">
                        <a:latin typeface="Tahoma"/>
                        <a:cs typeface="Tahoma"/>
                      </a:endParaRPr>
                    </a:p>
                  </a:txBody>
                  <a:tcPr marL="0" marR="0" marT="4254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2800" spc="-50" dirty="0">
                          <a:solidFill>
                            <a:srgbClr val="3333CC"/>
                          </a:solidFill>
                          <a:latin typeface="Tahoma"/>
                          <a:cs typeface="Tahoma"/>
                        </a:rPr>
                        <a:t>1</a:t>
                      </a:r>
                      <a:endParaRPr sz="2800">
                        <a:latin typeface="Tahoma"/>
                        <a:cs typeface="Tahoma"/>
                      </a:endParaRPr>
                    </a:p>
                  </a:txBody>
                  <a:tcPr marL="0" marR="0" marT="4254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8" name="object 18"/>
          <p:cNvSpPr/>
          <p:nvPr/>
        </p:nvSpPr>
        <p:spPr>
          <a:xfrm>
            <a:off x="2648712" y="4756403"/>
            <a:ext cx="2280285" cy="2287905"/>
          </a:xfrm>
          <a:custGeom>
            <a:avLst/>
            <a:gdLst/>
            <a:ahLst/>
            <a:cxnLst/>
            <a:rect l="l" t="t" r="r" b="b"/>
            <a:pathLst>
              <a:path w="2280285" h="2287904">
                <a:moveTo>
                  <a:pt x="352044" y="1306068"/>
                </a:moveTo>
                <a:lnTo>
                  <a:pt x="339839" y="1299972"/>
                </a:lnTo>
                <a:lnTo>
                  <a:pt x="275844" y="1267968"/>
                </a:lnTo>
                <a:lnTo>
                  <a:pt x="275844" y="1299972"/>
                </a:lnTo>
                <a:lnTo>
                  <a:pt x="0" y="1299972"/>
                </a:lnTo>
                <a:lnTo>
                  <a:pt x="0" y="1310640"/>
                </a:lnTo>
                <a:lnTo>
                  <a:pt x="275844" y="1310640"/>
                </a:lnTo>
                <a:lnTo>
                  <a:pt x="275844" y="1344168"/>
                </a:lnTo>
                <a:lnTo>
                  <a:pt x="342900" y="1310640"/>
                </a:lnTo>
                <a:lnTo>
                  <a:pt x="352044" y="1306068"/>
                </a:lnTo>
                <a:close/>
              </a:path>
              <a:path w="2280285" h="2287904">
                <a:moveTo>
                  <a:pt x="355092" y="673608"/>
                </a:moveTo>
                <a:lnTo>
                  <a:pt x="345935" y="669036"/>
                </a:lnTo>
                <a:lnTo>
                  <a:pt x="278892" y="635508"/>
                </a:lnTo>
                <a:lnTo>
                  <a:pt x="278892" y="669036"/>
                </a:lnTo>
                <a:lnTo>
                  <a:pt x="3048" y="669036"/>
                </a:lnTo>
                <a:lnTo>
                  <a:pt x="3048" y="678180"/>
                </a:lnTo>
                <a:lnTo>
                  <a:pt x="278892" y="678180"/>
                </a:lnTo>
                <a:lnTo>
                  <a:pt x="278892" y="711708"/>
                </a:lnTo>
                <a:lnTo>
                  <a:pt x="345948" y="678180"/>
                </a:lnTo>
                <a:lnTo>
                  <a:pt x="355092" y="673608"/>
                </a:lnTo>
                <a:close/>
              </a:path>
              <a:path w="2280285" h="2287904">
                <a:moveTo>
                  <a:pt x="403860" y="38100"/>
                </a:moveTo>
                <a:lnTo>
                  <a:pt x="394716" y="33528"/>
                </a:lnTo>
                <a:lnTo>
                  <a:pt x="327660" y="0"/>
                </a:lnTo>
                <a:lnTo>
                  <a:pt x="327660" y="33528"/>
                </a:lnTo>
                <a:lnTo>
                  <a:pt x="50292" y="33528"/>
                </a:lnTo>
                <a:lnTo>
                  <a:pt x="50292" y="42672"/>
                </a:lnTo>
                <a:lnTo>
                  <a:pt x="327660" y="42672"/>
                </a:lnTo>
                <a:lnTo>
                  <a:pt x="327660" y="76200"/>
                </a:lnTo>
                <a:lnTo>
                  <a:pt x="394716" y="42672"/>
                </a:lnTo>
                <a:lnTo>
                  <a:pt x="403860" y="38100"/>
                </a:lnTo>
                <a:close/>
              </a:path>
              <a:path w="2280285" h="2287904">
                <a:moveTo>
                  <a:pt x="2279904" y="1691640"/>
                </a:moveTo>
                <a:lnTo>
                  <a:pt x="2273033" y="1677924"/>
                </a:lnTo>
                <a:lnTo>
                  <a:pt x="2241804" y="1615440"/>
                </a:lnTo>
                <a:lnTo>
                  <a:pt x="2203704" y="1691640"/>
                </a:lnTo>
                <a:lnTo>
                  <a:pt x="2237232" y="1691640"/>
                </a:lnTo>
                <a:lnTo>
                  <a:pt x="2237232" y="2287524"/>
                </a:lnTo>
                <a:lnTo>
                  <a:pt x="2246376" y="2287524"/>
                </a:lnTo>
                <a:lnTo>
                  <a:pt x="2246376" y="1691640"/>
                </a:lnTo>
                <a:lnTo>
                  <a:pt x="2279904" y="169164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30480">
              <a:lnSpc>
                <a:spcPct val="100000"/>
              </a:lnSpc>
              <a:spcBef>
                <a:spcPts val="100"/>
              </a:spcBef>
              <a:tabLst>
                <a:tab pos="4173854" algn="l"/>
              </a:tabLst>
            </a:pPr>
            <a:r>
              <a:rPr dirty="0"/>
              <a:t>Initialization</a:t>
            </a:r>
            <a:r>
              <a:rPr spc="-150" dirty="0"/>
              <a:t> </a:t>
            </a:r>
            <a:r>
              <a:rPr spc="-20" dirty="0"/>
              <a:t>(1</a:t>
            </a:r>
            <a:r>
              <a:rPr sz="4350" spc="-30" baseline="24904" dirty="0"/>
              <a:t>st</a:t>
            </a:r>
            <a:r>
              <a:rPr sz="4350" baseline="24904" dirty="0"/>
              <a:t>	</a:t>
            </a:r>
            <a:r>
              <a:rPr sz="4400" spc="-20" dirty="0"/>
              <a:t>way) </a:t>
            </a:r>
            <a:r>
              <a:rPr sz="4400" dirty="0"/>
              <a:t>Initialize</a:t>
            </a:r>
            <a:r>
              <a:rPr sz="4400" spc="-75" dirty="0"/>
              <a:t> </a:t>
            </a:r>
            <a:r>
              <a:rPr sz="4400" dirty="0"/>
              <a:t>when</a:t>
            </a:r>
            <a:r>
              <a:rPr sz="4400" spc="-35" dirty="0"/>
              <a:t> </a:t>
            </a:r>
            <a:r>
              <a:rPr sz="4400" dirty="0"/>
              <a:t>you</a:t>
            </a:r>
            <a:r>
              <a:rPr sz="4400" spc="-30" dirty="0"/>
              <a:t> </a:t>
            </a:r>
            <a:r>
              <a:rPr sz="4400" spc="-10" dirty="0"/>
              <a:t>declare</a:t>
            </a:r>
            <a:endParaRPr sz="4400"/>
          </a:p>
        </p:txBody>
      </p:sp>
      <p:sp>
        <p:nvSpPr>
          <p:cNvPr id="3" name="object 3"/>
          <p:cNvSpPr/>
          <p:nvPr/>
        </p:nvSpPr>
        <p:spPr>
          <a:xfrm>
            <a:off x="457200" y="3886200"/>
            <a:ext cx="9144000" cy="3429000"/>
          </a:xfrm>
          <a:custGeom>
            <a:avLst/>
            <a:gdLst/>
            <a:ahLst/>
            <a:cxnLst/>
            <a:rect l="l" t="t" r="r" b="b"/>
            <a:pathLst>
              <a:path w="9144000" h="3429000">
                <a:moveTo>
                  <a:pt x="9144000" y="0"/>
                </a:moveTo>
                <a:lnTo>
                  <a:pt x="0" y="0"/>
                </a:lnTo>
                <a:lnTo>
                  <a:pt x="0" y="3429000"/>
                </a:lnTo>
                <a:lnTo>
                  <a:pt x="9144000" y="3429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699678" y="2538869"/>
          <a:ext cx="7659367" cy="459675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77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95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37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78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7853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3690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537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38048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4577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456565">
                <a:tc>
                  <a:txBody>
                    <a:bodyPr/>
                    <a:lstStyle/>
                    <a:p>
                      <a:pPr marR="66675" algn="ctr">
                        <a:lnSpc>
                          <a:spcPts val="2890"/>
                        </a:lnSpc>
                      </a:pPr>
                      <a:r>
                        <a:rPr sz="2800" b="1" spc="-25" dirty="0">
                          <a:latin typeface="Courier New"/>
                          <a:cs typeface="Courier New"/>
                        </a:rPr>
                        <a:t>int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6045">
                        <a:lnSpc>
                          <a:spcPts val="2890"/>
                        </a:lnSpc>
                      </a:pPr>
                      <a:r>
                        <a:rPr sz="2800" b="1" spc="-10" dirty="0">
                          <a:latin typeface="Courier New"/>
                          <a:cs typeface="Courier New"/>
                        </a:rPr>
                        <a:t>x[4][4]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11454">
                        <a:lnSpc>
                          <a:spcPts val="2890"/>
                        </a:lnSpc>
                      </a:pPr>
                      <a:r>
                        <a:rPr sz="2800" b="1" spc="-50" dirty="0">
                          <a:latin typeface="Courier New"/>
                          <a:cs typeface="Courier New"/>
                        </a:rPr>
                        <a:t>=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12090">
                        <a:lnSpc>
                          <a:spcPts val="2890"/>
                        </a:lnSpc>
                      </a:pPr>
                      <a:r>
                        <a:rPr sz="2800" b="1" spc="-50" dirty="0">
                          <a:latin typeface="Courier New"/>
                          <a:cs typeface="Courier New"/>
                        </a:rPr>
                        <a:t>{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8425" algn="r">
                        <a:lnSpc>
                          <a:spcPts val="2890"/>
                        </a:lnSpc>
                      </a:pPr>
                      <a:r>
                        <a:rPr sz="2800" b="1" spc="-25" dirty="0">
                          <a:latin typeface="Courier New"/>
                          <a:cs typeface="Courier New"/>
                        </a:rPr>
                        <a:t>{2,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90"/>
                        </a:lnSpc>
                      </a:pPr>
                      <a:r>
                        <a:rPr sz="2800" b="1" spc="-25" dirty="0">
                          <a:latin typeface="Courier New"/>
                          <a:cs typeface="Courier New"/>
                        </a:rPr>
                        <a:t>3,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6045" marR="3175">
                        <a:lnSpc>
                          <a:spcPts val="2890"/>
                        </a:lnSpc>
                      </a:pPr>
                      <a:r>
                        <a:rPr sz="2800" b="1" spc="-25" dirty="0">
                          <a:latin typeface="Courier New"/>
                          <a:cs typeface="Courier New"/>
                        </a:rPr>
                        <a:t>7,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35">
                        <a:lnSpc>
                          <a:spcPts val="2890"/>
                        </a:lnSpc>
                      </a:pPr>
                      <a:r>
                        <a:rPr sz="2800" b="1" spc="-25" dirty="0">
                          <a:latin typeface="Courier New"/>
                          <a:cs typeface="Courier New"/>
                        </a:rPr>
                        <a:t>2},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180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8425" algn="r">
                        <a:lnSpc>
                          <a:spcPts val="3320"/>
                        </a:lnSpc>
                      </a:pPr>
                      <a:r>
                        <a:rPr sz="2800" b="1" spc="-25" dirty="0">
                          <a:latin typeface="Courier New"/>
                          <a:cs typeface="Courier New"/>
                        </a:rPr>
                        <a:t>{7,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20"/>
                        </a:lnSpc>
                      </a:pPr>
                      <a:r>
                        <a:rPr sz="2800" b="1" spc="-25" dirty="0">
                          <a:latin typeface="Courier New"/>
                          <a:cs typeface="Courier New"/>
                        </a:rPr>
                        <a:t>4,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6045" marR="3175">
                        <a:lnSpc>
                          <a:spcPts val="3320"/>
                        </a:lnSpc>
                      </a:pPr>
                      <a:r>
                        <a:rPr sz="2800" b="1" spc="-25" dirty="0">
                          <a:latin typeface="Courier New"/>
                          <a:cs typeface="Courier New"/>
                        </a:rPr>
                        <a:t>5,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35">
                        <a:lnSpc>
                          <a:spcPts val="3320"/>
                        </a:lnSpc>
                      </a:pPr>
                      <a:r>
                        <a:rPr sz="2800" b="1" spc="-25" dirty="0">
                          <a:latin typeface="Courier New"/>
                          <a:cs typeface="Courier New"/>
                        </a:rPr>
                        <a:t>9},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180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8425" algn="r">
                        <a:lnSpc>
                          <a:spcPts val="3320"/>
                        </a:lnSpc>
                      </a:pPr>
                      <a:r>
                        <a:rPr sz="2800" b="1" spc="-25" dirty="0">
                          <a:latin typeface="Courier New"/>
                          <a:cs typeface="Courier New"/>
                        </a:rPr>
                        <a:t>{5,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20"/>
                        </a:lnSpc>
                      </a:pPr>
                      <a:r>
                        <a:rPr sz="2800" b="1" spc="-25" dirty="0">
                          <a:latin typeface="Courier New"/>
                          <a:cs typeface="Courier New"/>
                        </a:rPr>
                        <a:t>1,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6045" marR="3175">
                        <a:lnSpc>
                          <a:spcPts val="3320"/>
                        </a:lnSpc>
                      </a:pPr>
                      <a:r>
                        <a:rPr sz="2800" b="1" spc="-25" dirty="0">
                          <a:latin typeface="Courier New"/>
                          <a:cs typeface="Courier New"/>
                        </a:rPr>
                        <a:t>6,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3320"/>
                        </a:lnSpc>
                      </a:pPr>
                      <a:r>
                        <a:rPr sz="2800" b="1" dirty="0">
                          <a:latin typeface="Courier New"/>
                          <a:cs typeface="Courier New"/>
                        </a:rPr>
                        <a:t>-</a:t>
                      </a:r>
                      <a:r>
                        <a:rPr sz="2800" b="1" spc="-25" dirty="0">
                          <a:latin typeface="Courier New"/>
                          <a:cs typeface="Courier New"/>
                        </a:rPr>
                        <a:t>3},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180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8425" algn="r">
                        <a:lnSpc>
                          <a:spcPts val="3320"/>
                        </a:lnSpc>
                      </a:pPr>
                      <a:r>
                        <a:rPr sz="2800" b="1" spc="-25" dirty="0">
                          <a:latin typeface="Courier New"/>
                          <a:cs typeface="Courier New"/>
                        </a:rPr>
                        <a:t>{2,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20"/>
                        </a:lnSpc>
                      </a:pPr>
                      <a:r>
                        <a:rPr sz="2800" b="1" spc="-25" dirty="0">
                          <a:latin typeface="Courier New"/>
                          <a:cs typeface="Courier New"/>
                        </a:rPr>
                        <a:t>5,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5410">
                        <a:lnSpc>
                          <a:spcPts val="3320"/>
                        </a:lnSpc>
                      </a:pPr>
                      <a:r>
                        <a:rPr sz="2800" b="1" dirty="0">
                          <a:latin typeface="Courier New"/>
                          <a:cs typeface="Courier New"/>
                        </a:rPr>
                        <a:t>-</a:t>
                      </a:r>
                      <a:r>
                        <a:rPr sz="2800" b="1" spc="-25" dirty="0">
                          <a:latin typeface="Courier New"/>
                          <a:cs typeface="Courier New"/>
                        </a:rPr>
                        <a:t>1,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09245" algn="r">
                        <a:lnSpc>
                          <a:spcPts val="3320"/>
                        </a:lnSpc>
                      </a:pPr>
                      <a:r>
                        <a:rPr sz="2800" b="1" spc="-20" dirty="0">
                          <a:latin typeface="Courier New"/>
                          <a:cs typeface="Courier New"/>
                        </a:rPr>
                        <a:t>3}};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1809">
                <a:tc>
                  <a:txBody>
                    <a:bodyPr/>
                    <a:lstStyle/>
                    <a:p>
                      <a:pPr marR="66675" algn="ctr">
                        <a:lnSpc>
                          <a:spcPts val="3320"/>
                        </a:lnSpc>
                      </a:pPr>
                      <a:r>
                        <a:rPr sz="2800" b="1" spc="-25" dirty="0">
                          <a:latin typeface="Courier New"/>
                          <a:cs typeface="Courier New"/>
                        </a:rPr>
                        <a:t>int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6045">
                        <a:lnSpc>
                          <a:spcPts val="3320"/>
                        </a:lnSpc>
                      </a:pPr>
                      <a:r>
                        <a:rPr sz="2800" b="1" spc="-10" dirty="0">
                          <a:latin typeface="Courier New"/>
                          <a:cs typeface="Courier New"/>
                        </a:rPr>
                        <a:t>x[][4]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175">
                        <a:lnSpc>
                          <a:spcPts val="3320"/>
                        </a:lnSpc>
                      </a:pPr>
                      <a:r>
                        <a:rPr sz="2800" b="1" spc="-50" dirty="0">
                          <a:latin typeface="Courier New"/>
                          <a:cs typeface="Courier New"/>
                        </a:rPr>
                        <a:t>=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3320"/>
                        </a:lnSpc>
                      </a:pPr>
                      <a:r>
                        <a:rPr sz="2800" b="1" spc="-50" dirty="0">
                          <a:latin typeface="Courier New"/>
                          <a:cs typeface="Courier New"/>
                        </a:rPr>
                        <a:t>{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8425" algn="r">
                        <a:lnSpc>
                          <a:spcPts val="3320"/>
                        </a:lnSpc>
                      </a:pPr>
                      <a:r>
                        <a:rPr sz="2800" b="1" spc="-25" dirty="0">
                          <a:latin typeface="Courier New"/>
                          <a:cs typeface="Courier New"/>
                        </a:rPr>
                        <a:t>{2,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20"/>
                        </a:lnSpc>
                      </a:pPr>
                      <a:r>
                        <a:rPr sz="2800" b="1" spc="-25" dirty="0">
                          <a:latin typeface="Courier New"/>
                          <a:cs typeface="Courier New"/>
                        </a:rPr>
                        <a:t>3,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6045" marR="3175">
                        <a:lnSpc>
                          <a:spcPts val="3320"/>
                        </a:lnSpc>
                      </a:pPr>
                      <a:r>
                        <a:rPr sz="2800" b="1" spc="-25" dirty="0">
                          <a:latin typeface="Courier New"/>
                          <a:cs typeface="Courier New"/>
                        </a:rPr>
                        <a:t>7,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35">
                        <a:lnSpc>
                          <a:spcPts val="3320"/>
                        </a:lnSpc>
                      </a:pPr>
                      <a:r>
                        <a:rPr sz="2800" b="1" spc="-25" dirty="0">
                          <a:latin typeface="Courier New"/>
                          <a:cs typeface="Courier New"/>
                        </a:rPr>
                        <a:t>2},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180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8425" algn="r">
                        <a:lnSpc>
                          <a:spcPts val="3320"/>
                        </a:lnSpc>
                      </a:pPr>
                      <a:r>
                        <a:rPr sz="2800" b="1" spc="-25" dirty="0">
                          <a:latin typeface="Courier New"/>
                          <a:cs typeface="Courier New"/>
                        </a:rPr>
                        <a:t>{7,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20"/>
                        </a:lnSpc>
                      </a:pPr>
                      <a:r>
                        <a:rPr sz="2800" b="1" spc="-25" dirty="0">
                          <a:latin typeface="Courier New"/>
                          <a:cs typeface="Courier New"/>
                        </a:rPr>
                        <a:t>4,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6045" marR="3175">
                        <a:lnSpc>
                          <a:spcPts val="3320"/>
                        </a:lnSpc>
                      </a:pPr>
                      <a:r>
                        <a:rPr sz="2800" b="1" spc="-25" dirty="0">
                          <a:latin typeface="Courier New"/>
                          <a:cs typeface="Courier New"/>
                        </a:rPr>
                        <a:t>5,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35">
                        <a:lnSpc>
                          <a:spcPts val="3320"/>
                        </a:lnSpc>
                      </a:pPr>
                      <a:r>
                        <a:rPr sz="2800" b="1" spc="-25" dirty="0">
                          <a:latin typeface="Courier New"/>
                          <a:cs typeface="Courier New"/>
                        </a:rPr>
                        <a:t>9},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180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8425" algn="r">
                        <a:lnSpc>
                          <a:spcPts val="3320"/>
                        </a:lnSpc>
                      </a:pPr>
                      <a:r>
                        <a:rPr sz="2800" b="1" spc="-25" dirty="0">
                          <a:latin typeface="Courier New"/>
                          <a:cs typeface="Courier New"/>
                        </a:rPr>
                        <a:t>{5,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20"/>
                        </a:lnSpc>
                      </a:pPr>
                      <a:r>
                        <a:rPr sz="2800" b="1" spc="-25" dirty="0">
                          <a:latin typeface="Courier New"/>
                          <a:cs typeface="Courier New"/>
                        </a:rPr>
                        <a:t>1,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6045" marR="3175">
                        <a:lnSpc>
                          <a:spcPts val="3320"/>
                        </a:lnSpc>
                      </a:pPr>
                      <a:r>
                        <a:rPr sz="2800" b="1" spc="-25" dirty="0">
                          <a:latin typeface="Courier New"/>
                          <a:cs typeface="Courier New"/>
                        </a:rPr>
                        <a:t>6,</a:t>
                      </a:r>
                      <a:endParaRPr sz="2800" dirty="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3320"/>
                        </a:lnSpc>
                      </a:pPr>
                      <a:r>
                        <a:rPr sz="2800" b="1" dirty="0">
                          <a:latin typeface="Courier New"/>
                          <a:cs typeface="Courier New"/>
                        </a:rPr>
                        <a:t>-</a:t>
                      </a:r>
                      <a:r>
                        <a:rPr sz="2800" b="1" spc="-25" dirty="0">
                          <a:latin typeface="Courier New"/>
                          <a:cs typeface="Courier New"/>
                        </a:rPr>
                        <a:t>3},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0439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8425" algn="r">
                        <a:lnSpc>
                          <a:spcPts val="3320"/>
                        </a:lnSpc>
                      </a:pPr>
                      <a:r>
                        <a:rPr sz="2800" b="1" spc="-25" dirty="0">
                          <a:latin typeface="Courier New"/>
                          <a:cs typeface="Courier New"/>
                        </a:rPr>
                        <a:t>{2,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20"/>
                        </a:lnSpc>
                      </a:pPr>
                      <a:r>
                        <a:rPr sz="2800" b="1" spc="-25" dirty="0">
                          <a:latin typeface="Courier New"/>
                          <a:cs typeface="Courier New"/>
                        </a:rPr>
                        <a:t>5,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5410">
                        <a:lnSpc>
                          <a:spcPts val="3320"/>
                        </a:lnSpc>
                      </a:pPr>
                      <a:r>
                        <a:rPr sz="2800" b="1" dirty="0">
                          <a:latin typeface="Courier New"/>
                          <a:cs typeface="Courier New"/>
                        </a:rPr>
                        <a:t>-</a:t>
                      </a:r>
                      <a:r>
                        <a:rPr sz="2800" b="1" spc="-25" dirty="0">
                          <a:latin typeface="Courier New"/>
                          <a:cs typeface="Courier New"/>
                        </a:rPr>
                        <a:t>1,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09245" algn="r">
                        <a:lnSpc>
                          <a:spcPts val="3320"/>
                        </a:lnSpc>
                      </a:pPr>
                      <a:r>
                        <a:rPr sz="2800" b="1" spc="-20" dirty="0">
                          <a:latin typeface="Courier New"/>
                          <a:cs typeface="Courier New"/>
                        </a:rPr>
                        <a:t>3}};</a:t>
                      </a:r>
                      <a:endParaRPr sz="2800" dirty="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endParaRPr sz="1400" dirty="0">
                        <a:latin typeface="Times New Roman"/>
                        <a:cs typeface="Times New Roman"/>
                      </a:endParaRPr>
                    </a:p>
                    <a:p>
                      <a:pPr marR="24130" algn="r">
                        <a:lnSpc>
                          <a:spcPts val="1590"/>
                        </a:lnSpc>
                      </a:pPr>
                      <a:r>
                        <a:rPr sz="1400" spc="-50" dirty="0">
                          <a:latin typeface="Tahoma"/>
                          <a:cs typeface="Tahoma"/>
                        </a:rPr>
                        <a:t>9</a:t>
                      </a:r>
                      <a:endParaRPr sz="1400" dirty="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60983" y="854256"/>
            <a:ext cx="6076950" cy="1244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 marR="30480">
              <a:lnSpc>
                <a:spcPct val="100000"/>
              </a:lnSpc>
              <a:spcBef>
                <a:spcPts val="95"/>
              </a:spcBef>
              <a:tabLst>
                <a:tab pos="3912235" algn="l"/>
              </a:tabLst>
            </a:pPr>
            <a:r>
              <a:rPr sz="4000" dirty="0"/>
              <a:t>Initialization</a:t>
            </a:r>
            <a:r>
              <a:rPr sz="4000" spc="-200" dirty="0"/>
              <a:t> </a:t>
            </a:r>
            <a:r>
              <a:rPr sz="4000" spc="-20" dirty="0"/>
              <a:t>(2</a:t>
            </a:r>
            <a:r>
              <a:rPr sz="3975" spc="-30" baseline="25157" dirty="0"/>
              <a:t>nd</a:t>
            </a:r>
            <a:r>
              <a:rPr sz="3975" baseline="25157" dirty="0"/>
              <a:t>	</a:t>
            </a:r>
            <a:r>
              <a:rPr sz="4000" spc="-20" dirty="0"/>
              <a:t>way) </a:t>
            </a:r>
            <a:r>
              <a:rPr sz="4000" dirty="0"/>
              <a:t>Using</a:t>
            </a:r>
            <a:r>
              <a:rPr sz="4000" spc="-170" dirty="0"/>
              <a:t> </a:t>
            </a:r>
            <a:r>
              <a:rPr sz="4000" dirty="0"/>
              <a:t>assignment</a:t>
            </a:r>
            <a:r>
              <a:rPr sz="4000" spc="-185" dirty="0"/>
              <a:t> </a:t>
            </a:r>
            <a:r>
              <a:rPr sz="4000" spc="-10" dirty="0"/>
              <a:t>operator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818273" y="2196152"/>
            <a:ext cx="5644515" cy="17818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20100"/>
              </a:lnSpc>
              <a:spcBef>
                <a:spcPts val="95"/>
              </a:spcBef>
            </a:pPr>
            <a:r>
              <a:rPr sz="3200" b="1" dirty="0">
                <a:latin typeface="Courier New"/>
                <a:cs typeface="Courier New"/>
              </a:rPr>
              <a:t>int</a:t>
            </a:r>
            <a:r>
              <a:rPr sz="3200" b="1" spc="-55" dirty="0">
                <a:latin typeface="Courier New"/>
                <a:cs typeface="Courier New"/>
              </a:rPr>
              <a:t> </a:t>
            </a:r>
            <a:r>
              <a:rPr sz="3200" b="1" dirty="0">
                <a:latin typeface="Courier New"/>
                <a:cs typeface="Courier New"/>
              </a:rPr>
              <a:t>i,</a:t>
            </a:r>
            <a:r>
              <a:rPr sz="3200" b="1" spc="-40" dirty="0">
                <a:latin typeface="Courier New"/>
                <a:cs typeface="Courier New"/>
              </a:rPr>
              <a:t> </a:t>
            </a:r>
            <a:r>
              <a:rPr sz="3200" b="1" dirty="0">
                <a:latin typeface="Courier New"/>
                <a:cs typeface="Courier New"/>
              </a:rPr>
              <a:t>j,</a:t>
            </a:r>
            <a:r>
              <a:rPr sz="3200" b="1" spc="-50" dirty="0">
                <a:latin typeface="Courier New"/>
                <a:cs typeface="Courier New"/>
              </a:rPr>
              <a:t> </a:t>
            </a:r>
            <a:r>
              <a:rPr sz="3200" b="1" spc="-10" dirty="0">
                <a:latin typeface="Courier New"/>
                <a:cs typeface="Courier New"/>
              </a:rPr>
              <a:t>matrix[3][4]; </a:t>
            </a:r>
            <a:r>
              <a:rPr sz="3200" b="1" dirty="0">
                <a:latin typeface="Courier New"/>
                <a:cs typeface="Courier New"/>
              </a:rPr>
              <a:t>for</a:t>
            </a:r>
            <a:r>
              <a:rPr sz="3200" b="1" spc="-90" dirty="0">
                <a:latin typeface="Courier New"/>
                <a:cs typeface="Courier New"/>
              </a:rPr>
              <a:t> </a:t>
            </a:r>
            <a:r>
              <a:rPr sz="3200" b="1" dirty="0">
                <a:latin typeface="Courier New"/>
                <a:cs typeface="Courier New"/>
              </a:rPr>
              <a:t>(i=0;</a:t>
            </a:r>
            <a:r>
              <a:rPr sz="3200" b="1" spc="-85" dirty="0">
                <a:latin typeface="Courier New"/>
                <a:cs typeface="Courier New"/>
              </a:rPr>
              <a:t> </a:t>
            </a:r>
            <a:r>
              <a:rPr sz="3200" b="1" dirty="0">
                <a:latin typeface="Courier New"/>
                <a:cs typeface="Courier New"/>
              </a:rPr>
              <a:t>i&lt;3;</a:t>
            </a:r>
            <a:r>
              <a:rPr sz="3200" b="1" spc="-85" dirty="0">
                <a:latin typeface="Courier New"/>
                <a:cs typeface="Courier New"/>
              </a:rPr>
              <a:t> </a:t>
            </a:r>
            <a:r>
              <a:rPr sz="3200" b="1" spc="-20" dirty="0">
                <a:latin typeface="Courier New"/>
                <a:cs typeface="Courier New"/>
              </a:rPr>
              <a:t>i++)</a:t>
            </a:r>
            <a:endParaRPr sz="3200" dirty="0">
              <a:latin typeface="Courier New"/>
              <a:cs typeface="Courier New"/>
            </a:endParaRPr>
          </a:p>
          <a:p>
            <a:pPr marL="599440">
              <a:lnSpc>
                <a:spcPct val="100000"/>
              </a:lnSpc>
              <a:spcBef>
                <a:spcPts val="770"/>
              </a:spcBef>
            </a:pPr>
            <a:r>
              <a:rPr sz="3200" b="1" dirty="0">
                <a:latin typeface="Courier New"/>
                <a:cs typeface="Courier New"/>
              </a:rPr>
              <a:t>for</a:t>
            </a:r>
            <a:r>
              <a:rPr sz="3200" b="1" spc="-90" dirty="0">
                <a:latin typeface="Courier New"/>
                <a:cs typeface="Courier New"/>
              </a:rPr>
              <a:t> </a:t>
            </a:r>
            <a:r>
              <a:rPr sz="3200" b="1" dirty="0">
                <a:latin typeface="Courier New"/>
                <a:cs typeface="Courier New"/>
              </a:rPr>
              <a:t>(j=0;</a:t>
            </a:r>
            <a:r>
              <a:rPr sz="3200" b="1" spc="-85" dirty="0">
                <a:latin typeface="Courier New"/>
                <a:cs typeface="Courier New"/>
              </a:rPr>
              <a:t> </a:t>
            </a:r>
            <a:r>
              <a:rPr sz="3200" b="1" dirty="0">
                <a:latin typeface="Courier New"/>
                <a:cs typeface="Courier New"/>
              </a:rPr>
              <a:t>j&lt;4;</a:t>
            </a:r>
            <a:r>
              <a:rPr sz="3200" b="1" spc="-75" dirty="0">
                <a:latin typeface="Courier New"/>
                <a:cs typeface="Courier New"/>
              </a:rPr>
              <a:t> </a:t>
            </a:r>
            <a:r>
              <a:rPr sz="3200" b="1" spc="-20" dirty="0">
                <a:latin typeface="Courier New"/>
                <a:cs typeface="Courier New"/>
              </a:rPr>
              <a:t>j++)</a:t>
            </a:r>
            <a:endParaRPr sz="3200" dirty="0">
              <a:latin typeface="Courier New"/>
              <a:cs typeface="Courier New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57200" y="3886200"/>
            <a:ext cx="9144000" cy="3429000"/>
          </a:xfrm>
          <a:custGeom>
            <a:avLst/>
            <a:gdLst/>
            <a:ahLst/>
            <a:cxnLst/>
            <a:rect l="l" t="t" r="r" b="b"/>
            <a:pathLst>
              <a:path w="9144000" h="3429000">
                <a:moveTo>
                  <a:pt x="9144000" y="0"/>
                </a:moveTo>
                <a:lnTo>
                  <a:pt x="0" y="0"/>
                </a:lnTo>
                <a:lnTo>
                  <a:pt x="0" y="3429000"/>
                </a:lnTo>
                <a:lnTo>
                  <a:pt x="9144000" y="3429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103831" y="6884920"/>
            <a:ext cx="22034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latin typeface="Tahoma"/>
                <a:cs typeface="Tahoma"/>
              </a:rPr>
              <a:t>10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292352" y="4320539"/>
            <a:ext cx="7886700" cy="2906395"/>
          </a:xfrm>
          <a:custGeom>
            <a:avLst/>
            <a:gdLst/>
            <a:ahLst/>
            <a:cxnLst/>
            <a:rect l="l" t="t" r="r" b="b"/>
            <a:pathLst>
              <a:path w="7886700" h="2906395">
                <a:moveTo>
                  <a:pt x="76200" y="2677668"/>
                </a:moveTo>
                <a:lnTo>
                  <a:pt x="44196" y="2677668"/>
                </a:lnTo>
                <a:lnTo>
                  <a:pt x="44196" y="1339596"/>
                </a:lnTo>
                <a:lnTo>
                  <a:pt x="33528" y="1339596"/>
                </a:lnTo>
                <a:lnTo>
                  <a:pt x="33528" y="2677668"/>
                </a:lnTo>
                <a:lnTo>
                  <a:pt x="0" y="2677668"/>
                </a:lnTo>
                <a:lnTo>
                  <a:pt x="38100" y="2753868"/>
                </a:lnTo>
                <a:lnTo>
                  <a:pt x="70104" y="2689860"/>
                </a:lnTo>
                <a:lnTo>
                  <a:pt x="76200" y="2677668"/>
                </a:lnTo>
                <a:close/>
              </a:path>
              <a:path w="7886700" h="2906395">
                <a:moveTo>
                  <a:pt x="2703576" y="877824"/>
                </a:moveTo>
                <a:lnTo>
                  <a:pt x="2694622" y="873353"/>
                </a:lnTo>
                <a:lnTo>
                  <a:pt x="2627376" y="839724"/>
                </a:lnTo>
                <a:lnTo>
                  <a:pt x="2628036" y="873353"/>
                </a:lnTo>
                <a:lnTo>
                  <a:pt x="874776" y="886968"/>
                </a:lnTo>
                <a:lnTo>
                  <a:pt x="874776" y="896112"/>
                </a:lnTo>
                <a:lnTo>
                  <a:pt x="2628227" y="882497"/>
                </a:lnTo>
                <a:lnTo>
                  <a:pt x="2628900" y="915924"/>
                </a:lnTo>
                <a:lnTo>
                  <a:pt x="2694406" y="882497"/>
                </a:lnTo>
                <a:lnTo>
                  <a:pt x="2703576" y="877824"/>
                </a:lnTo>
                <a:close/>
              </a:path>
              <a:path w="7886700" h="2906395">
                <a:moveTo>
                  <a:pt x="4568952" y="2830068"/>
                </a:moveTo>
                <a:lnTo>
                  <a:pt x="4535424" y="2830068"/>
                </a:lnTo>
                <a:lnTo>
                  <a:pt x="4535424" y="1491996"/>
                </a:lnTo>
                <a:lnTo>
                  <a:pt x="4526280" y="1491996"/>
                </a:lnTo>
                <a:lnTo>
                  <a:pt x="4526280" y="2830068"/>
                </a:lnTo>
                <a:lnTo>
                  <a:pt x="4492752" y="2830068"/>
                </a:lnTo>
                <a:lnTo>
                  <a:pt x="4530852" y="2906268"/>
                </a:lnTo>
                <a:lnTo>
                  <a:pt x="4562843" y="2842260"/>
                </a:lnTo>
                <a:lnTo>
                  <a:pt x="4568952" y="2830068"/>
                </a:lnTo>
                <a:close/>
              </a:path>
              <a:path w="7886700" h="2906395">
                <a:moveTo>
                  <a:pt x="7196328" y="1030224"/>
                </a:moveTo>
                <a:lnTo>
                  <a:pt x="7187387" y="1025766"/>
                </a:lnTo>
                <a:lnTo>
                  <a:pt x="7120128" y="992124"/>
                </a:lnTo>
                <a:lnTo>
                  <a:pt x="7120128" y="1025766"/>
                </a:lnTo>
                <a:lnTo>
                  <a:pt x="5367528" y="1039368"/>
                </a:lnTo>
                <a:lnTo>
                  <a:pt x="5367528" y="1048512"/>
                </a:lnTo>
                <a:lnTo>
                  <a:pt x="7120128" y="1034910"/>
                </a:lnTo>
                <a:lnTo>
                  <a:pt x="7120128" y="1068324"/>
                </a:lnTo>
                <a:lnTo>
                  <a:pt x="7186968" y="1034910"/>
                </a:lnTo>
                <a:lnTo>
                  <a:pt x="7196328" y="1030224"/>
                </a:lnTo>
                <a:close/>
              </a:path>
              <a:path w="7886700" h="2906395">
                <a:moveTo>
                  <a:pt x="7886700" y="0"/>
                </a:moveTo>
                <a:lnTo>
                  <a:pt x="7877556" y="0"/>
                </a:lnTo>
                <a:lnTo>
                  <a:pt x="7877556" y="9144"/>
                </a:lnTo>
                <a:lnTo>
                  <a:pt x="7877556" y="376428"/>
                </a:lnTo>
                <a:lnTo>
                  <a:pt x="5372100" y="376428"/>
                </a:lnTo>
                <a:lnTo>
                  <a:pt x="5372100" y="9144"/>
                </a:lnTo>
                <a:lnTo>
                  <a:pt x="7877556" y="9144"/>
                </a:lnTo>
                <a:lnTo>
                  <a:pt x="7877556" y="0"/>
                </a:lnTo>
                <a:lnTo>
                  <a:pt x="5362943" y="0"/>
                </a:lnTo>
                <a:lnTo>
                  <a:pt x="5362943" y="385572"/>
                </a:lnTo>
                <a:lnTo>
                  <a:pt x="7886700" y="385572"/>
                </a:lnTo>
                <a:lnTo>
                  <a:pt x="7886700" y="381000"/>
                </a:lnTo>
                <a:lnTo>
                  <a:pt x="7886700" y="376428"/>
                </a:lnTo>
                <a:lnTo>
                  <a:pt x="7886700" y="9144"/>
                </a:lnTo>
                <a:lnTo>
                  <a:pt x="7886700" y="4572"/>
                </a:lnTo>
                <a:lnTo>
                  <a:pt x="78867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921333" y="3992576"/>
            <a:ext cx="4179570" cy="1095375"/>
          </a:xfrm>
          <a:prstGeom prst="rect">
            <a:avLst/>
          </a:prstGeom>
        </p:spPr>
        <p:txBody>
          <a:bodyPr vert="horz" wrap="square" lIns="0" tIns="136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75"/>
              </a:spcBef>
            </a:pPr>
            <a:r>
              <a:rPr sz="3200" b="1" dirty="0">
                <a:latin typeface="Courier New"/>
                <a:cs typeface="Courier New"/>
              </a:rPr>
              <a:t>matrix[i][j]</a:t>
            </a:r>
            <a:r>
              <a:rPr sz="3200" b="1" spc="-145" dirty="0">
                <a:latin typeface="Courier New"/>
                <a:cs typeface="Courier New"/>
              </a:rPr>
              <a:t> </a:t>
            </a:r>
            <a:r>
              <a:rPr sz="3200" b="1" dirty="0">
                <a:latin typeface="Courier New"/>
                <a:cs typeface="Courier New"/>
              </a:rPr>
              <a:t>=</a:t>
            </a:r>
            <a:r>
              <a:rPr sz="3200" b="1" spc="-135" dirty="0">
                <a:latin typeface="Courier New"/>
                <a:cs typeface="Courier New"/>
              </a:rPr>
              <a:t> </a:t>
            </a:r>
            <a:r>
              <a:rPr sz="3200" b="1" spc="-25" dirty="0">
                <a:latin typeface="Courier New"/>
                <a:cs typeface="Courier New"/>
              </a:rPr>
              <a:t>i;</a:t>
            </a:r>
            <a:endParaRPr sz="3200">
              <a:latin typeface="Courier New"/>
              <a:cs typeface="Courier New"/>
            </a:endParaRPr>
          </a:p>
          <a:p>
            <a:pPr marL="1143000">
              <a:lnSpc>
                <a:spcPct val="100000"/>
              </a:lnSpc>
              <a:spcBef>
                <a:spcPts val="725"/>
              </a:spcBef>
            </a:pPr>
            <a:r>
              <a:rPr sz="2400" spc="-50" dirty="0">
                <a:latin typeface="Tahoma"/>
                <a:cs typeface="Tahoma"/>
              </a:rPr>
              <a:t>j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245867" y="5356428"/>
            <a:ext cx="15963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65150" algn="l"/>
                <a:tab pos="975360" algn="l"/>
                <a:tab pos="1457960" algn="l"/>
              </a:tabLst>
            </a:pPr>
            <a:r>
              <a:rPr sz="1800" spc="-50" dirty="0">
                <a:latin typeface="Tahoma"/>
                <a:cs typeface="Tahoma"/>
              </a:rPr>
              <a:t>0</a:t>
            </a:r>
            <a:r>
              <a:rPr sz="1800" dirty="0">
                <a:latin typeface="Tahoma"/>
                <a:cs typeface="Tahoma"/>
              </a:rPr>
              <a:t>	</a:t>
            </a:r>
            <a:r>
              <a:rPr sz="1800" spc="-50" dirty="0">
                <a:latin typeface="Tahoma"/>
                <a:cs typeface="Tahoma"/>
              </a:rPr>
              <a:t>1</a:t>
            </a:r>
            <a:r>
              <a:rPr sz="1800" dirty="0">
                <a:latin typeface="Tahoma"/>
                <a:cs typeface="Tahoma"/>
              </a:rPr>
              <a:t>	</a:t>
            </a:r>
            <a:r>
              <a:rPr sz="1800" spc="-50" dirty="0">
                <a:latin typeface="Tahoma"/>
                <a:cs typeface="Tahoma"/>
              </a:rPr>
              <a:t>2</a:t>
            </a:r>
            <a:r>
              <a:rPr sz="1800" dirty="0">
                <a:latin typeface="Tahoma"/>
                <a:cs typeface="Tahoma"/>
              </a:rPr>
              <a:t>	</a:t>
            </a:r>
            <a:r>
              <a:rPr sz="1800" spc="-50" dirty="0">
                <a:latin typeface="Tahoma"/>
                <a:cs typeface="Tahoma"/>
              </a:rPr>
              <a:t>3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646935" y="5784595"/>
            <a:ext cx="1504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Tahoma"/>
                <a:cs typeface="Tahoma"/>
              </a:rPr>
              <a:t>0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646935" y="6144183"/>
            <a:ext cx="150495" cy="894080"/>
          </a:xfrm>
          <a:prstGeom prst="rect">
            <a:avLst/>
          </a:prstGeom>
        </p:spPr>
        <p:txBody>
          <a:bodyPr vert="horz" wrap="square" lIns="0" tIns="1727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60"/>
              </a:spcBef>
            </a:pPr>
            <a:r>
              <a:rPr sz="1800" spc="-50" dirty="0">
                <a:latin typeface="Tahoma"/>
                <a:cs typeface="Tahoma"/>
              </a:rPr>
              <a:t>1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260"/>
              </a:spcBef>
            </a:pPr>
            <a:r>
              <a:rPr sz="1800" spc="-50" dirty="0">
                <a:latin typeface="Tahoma"/>
                <a:cs typeface="Tahoma"/>
              </a:rPr>
              <a:t>2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88567" y="6229603"/>
            <a:ext cx="952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Tahoma"/>
                <a:cs typeface="Tahoma"/>
              </a:rPr>
              <a:t>i</a:t>
            </a:r>
            <a:endParaRPr sz="2400">
              <a:latin typeface="Tahoma"/>
              <a:cs typeface="Tahoma"/>
            </a:endParaRPr>
          </a:p>
        </p:txBody>
      </p:sp>
      <p:graphicFrame>
        <p:nvGraphicFramePr>
          <p:cNvPr id="12" name="object 12"/>
          <p:cNvGraphicFramePr>
            <a:graphicFrameLocks noGrp="1"/>
          </p:cNvGraphicFramePr>
          <p:nvPr/>
        </p:nvGraphicFramePr>
        <p:xfrm>
          <a:off x="1973579" y="5646420"/>
          <a:ext cx="2007234" cy="13709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35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10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10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16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2400" spc="-50" dirty="0">
                          <a:latin typeface="Tahoma"/>
                          <a:cs typeface="Tahoma"/>
                        </a:rPr>
                        <a:t>0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4381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2400" spc="-50" dirty="0">
                          <a:latin typeface="Tahoma"/>
                          <a:cs typeface="Tahoma"/>
                        </a:rPr>
                        <a:t>0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2400" spc="-50" dirty="0">
                          <a:latin typeface="Tahoma"/>
                          <a:cs typeface="Tahoma"/>
                        </a:rPr>
                        <a:t>0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2400" spc="-50" dirty="0">
                          <a:latin typeface="Tahoma"/>
                          <a:cs typeface="Tahoma"/>
                        </a:rPr>
                        <a:t>0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2400" spc="-50" dirty="0">
                          <a:latin typeface="Tahoma"/>
                          <a:cs typeface="Tahoma"/>
                        </a:rPr>
                        <a:t>1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4381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2400" spc="-50" dirty="0">
                          <a:latin typeface="Tahoma"/>
                          <a:cs typeface="Tahoma"/>
                        </a:rPr>
                        <a:t>1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2400" spc="-50" dirty="0">
                          <a:latin typeface="Tahoma"/>
                          <a:cs typeface="Tahoma"/>
                        </a:rPr>
                        <a:t>1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2400" spc="-50" dirty="0">
                          <a:latin typeface="Tahoma"/>
                          <a:cs typeface="Tahoma"/>
                        </a:rPr>
                        <a:t>1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2400" spc="-50" dirty="0">
                          <a:latin typeface="Tahoma"/>
                          <a:cs typeface="Tahoma"/>
                        </a:rPr>
                        <a:t>2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4381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2400" spc="-50" dirty="0">
                          <a:latin typeface="Tahoma"/>
                          <a:cs typeface="Tahoma"/>
                        </a:rPr>
                        <a:t>2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2400" spc="-50" dirty="0">
                          <a:latin typeface="Tahoma"/>
                          <a:cs typeface="Tahoma"/>
                        </a:rPr>
                        <a:t>2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2400" spc="-50" dirty="0">
                          <a:latin typeface="Tahoma"/>
                          <a:cs typeface="Tahoma"/>
                        </a:rPr>
                        <a:t>2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3" name="object 13"/>
          <p:cNvSpPr txBox="1"/>
          <p:nvPr/>
        </p:nvSpPr>
        <p:spPr>
          <a:xfrm>
            <a:off x="7544816" y="4848859"/>
            <a:ext cx="1117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Tahoma"/>
                <a:cs typeface="Tahoma"/>
              </a:rPr>
              <a:t>j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738543" y="5508675"/>
            <a:ext cx="15963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65150" algn="l"/>
                <a:tab pos="975360" algn="l"/>
                <a:tab pos="1457960" algn="l"/>
              </a:tabLst>
            </a:pPr>
            <a:r>
              <a:rPr sz="1800" spc="-50" dirty="0">
                <a:latin typeface="Tahoma"/>
                <a:cs typeface="Tahoma"/>
              </a:rPr>
              <a:t>0</a:t>
            </a:r>
            <a:r>
              <a:rPr sz="1800" dirty="0">
                <a:latin typeface="Tahoma"/>
                <a:cs typeface="Tahoma"/>
              </a:rPr>
              <a:t>	</a:t>
            </a:r>
            <a:r>
              <a:rPr sz="1800" spc="-50" dirty="0">
                <a:latin typeface="Tahoma"/>
                <a:cs typeface="Tahoma"/>
              </a:rPr>
              <a:t>1</a:t>
            </a:r>
            <a:r>
              <a:rPr sz="1800" dirty="0">
                <a:latin typeface="Tahoma"/>
                <a:cs typeface="Tahoma"/>
              </a:rPr>
              <a:t>	</a:t>
            </a:r>
            <a:r>
              <a:rPr sz="1800" spc="-50" dirty="0">
                <a:latin typeface="Tahoma"/>
                <a:cs typeface="Tahoma"/>
              </a:rPr>
              <a:t>2</a:t>
            </a:r>
            <a:r>
              <a:rPr sz="1800" dirty="0">
                <a:latin typeface="Tahoma"/>
                <a:cs typeface="Tahoma"/>
              </a:rPr>
              <a:t>	</a:t>
            </a:r>
            <a:r>
              <a:rPr sz="1800" spc="-50" dirty="0">
                <a:latin typeface="Tahoma"/>
                <a:cs typeface="Tahoma"/>
              </a:rPr>
              <a:t>3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139611" y="5937072"/>
            <a:ext cx="1504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Tahoma"/>
                <a:cs typeface="Tahoma"/>
              </a:rPr>
              <a:t>0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139611" y="6296660"/>
            <a:ext cx="150495" cy="894080"/>
          </a:xfrm>
          <a:prstGeom prst="rect">
            <a:avLst/>
          </a:prstGeom>
        </p:spPr>
        <p:txBody>
          <a:bodyPr vert="horz" wrap="square" lIns="0" tIns="1727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60"/>
              </a:spcBef>
            </a:pPr>
            <a:r>
              <a:rPr sz="1800" spc="-50" dirty="0">
                <a:latin typeface="Tahoma"/>
                <a:cs typeface="Tahoma"/>
              </a:rPr>
              <a:t>1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260"/>
              </a:spcBef>
            </a:pPr>
            <a:r>
              <a:rPr sz="1800" spc="-50" dirty="0">
                <a:latin typeface="Tahoma"/>
                <a:cs typeface="Tahoma"/>
              </a:rPr>
              <a:t>2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481320" y="6382003"/>
            <a:ext cx="952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Tahoma"/>
                <a:cs typeface="Tahoma"/>
              </a:rPr>
              <a:t>i</a:t>
            </a:r>
            <a:endParaRPr sz="2400">
              <a:latin typeface="Tahoma"/>
              <a:cs typeface="Tahoma"/>
            </a:endParaRPr>
          </a:p>
        </p:txBody>
      </p:sp>
      <p:graphicFrame>
        <p:nvGraphicFramePr>
          <p:cNvPr id="18" name="object 18"/>
          <p:cNvGraphicFramePr>
            <a:graphicFrameLocks noGrp="1"/>
          </p:cNvGraphicFramePr>
          <p:nvPr/>
        </p:nvGraphicFramePr>
        <p:xfrm>
          <a:off x="6466332" y="5798820"/>
          <a:ext cx="2007234" cy="13709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35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10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10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16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2400" spc="-50" dirty="0">
                          <a:latin typeface="Tahoma"/>
                          <a:cs typeface="Tahoma"/>
                        </a:rPr>
                        <a:t>0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4381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2400" spc="-50" dirty="0">
                          <a:latin typeface="Tahoma"/>
                          <a:cs typeface="Tahoma"/>
                        </a:rPr>
                        <a:t>1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2400" spc="-50" dirty="0">
                          <a:latin typeface="Tahoma"/>
                          <a:cs typeface="Tahoma"/>
                        </a:rPr>
                        <a:t>2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2400" spc="-50" dirty="0">
                          <a:latin typeface="Tahoma"/>
                          <a:cs typeface="Tahoma"/>
                        </a:rPr>
                        <a:t>3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2400" spc="-50" dirty="0">
                          <a:latin typeface="Tahoma"/>
                          <a:cs typeface="Tahoma"/>
                        </a:rPr>
                        <a:t>0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4381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2400" spc="-50" dirty="0">
                          <a:latin typeface="Tahoma"/>
                          <a:cs typeface="Tahoma"/>
                        </a:rPr>
                        <a:t>1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2400" spc="-50" dirty="0">
                          <a:latin typeface="Tahoma"/>
                          <a:cs typeface="Tahoma"/>
                        </a:rPr>
                        <a:t>2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2400" spc="-50" dirty="0">
                          <a:latin typeface="Tahoma"/>
                          <a:cs typeface="Tahoma"/>
                        </a:rPr>
                        <a:t>3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2400" spc="-50" dirty="0">
                          <a:latin typeface="Tahoma"/>
                          <a:cs typeface="Tahoma"/>
                        </a:rPr>
                        <a:t>0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4381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2400" spc="-50" dirty="0">
                          <a:latin typeface="Tahoma"/>
                          <a:cs typeface="Tahoma"/>
                        </a:rPr>
                        <a:t>1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2400" spc="-50" dirty="0">
                          <a:latin typeface="Tahoma"/>
                          <a:cs typeface="Tahoma"/>
                        </a:rPr>
                        <a:t>2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2400" spc="-50" dirty="0">
                          <a:latin typeface="Tahoma"/>
                          <a:cs typeface="Tahoma"/>
                        </a:rPr>
                        <a:t>3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9" name="object 19"/>
          <p:cNvSpPr txBox="1"/>
          <p:nvPr/>
        </p:nvSpPr>
        <p:spPr>
          <a:xfrm>
            <a:off x="6738543" y="4330700"/>
            <a:ext cx="23469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ourier New"/>
                <a:cs typeface="Courier New"/>
              </a:rPr>
              <a:t>matrix[i][j]</a:t>
            </a:r>
            <a:r>
              <a:rPr sz="1800" b="1" spc="-60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=</a:t>
            </a:r>
            <a:r>
              <a:rPr sz="1800" b="1" spc="-65" dirty="0">
                <a:latin typeface="Courier New"/>
                <a:cs typeface="Courier New"/>
              </a:rPr>
              <a:t> </a:t>
            </a:r>
            <a:r>
              <a:rPr sz="1800" b="1" spc="-25" dirty="0">
                <a:latin typeface="Courier New"/>
                <a:cs typeface="Courier New"/>
              </a:rPr>
              <a:t>j;</a:t>
            </a:r>
            <a:endParaRPr sz="1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61147" y="1096581"/>
            <a:ext cx="4636770" cy="10020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3088640" algn="l"/>
              </a:tabLst>
            </a:pPr>
            <a:r>
              <a:rPr sz="3200" dirty="0"/>
              <a:t>Initialization</a:t>
            </a:r>
            <a:r>
              <a:rPr sz="3200" spc="-185" dirty="0"/>
              <a:t> </a:t>
            </a:r>
            <a:r>
              <a:rPr sz="3200" spc="-20" dirty="0"/>
              <a:t>(3</a:t>
            </a:r>
            <a:r>
              <a:rPr sz="3150" spc="-30" baseline="25132" dirty="0"/>
              <a:t>rd</a:t>
            </a:r>
            <a:r>
              <a:rPr sz="3150" baseline="25132" dirty="0"/>
              <a:t>	</a:t>
            </a:r>
            <a:r>
              <a:rPr sz="3200" spc="-20" dirty="0"/>
              <a:t>way)</a:t>
            </a:r>
            <a:endParaRPr sz="3200"/>
          </a:p>
          <a:p>
            <a:pPr marL="38100">
              <a:lnSpc>
                <a:spcPct val="100000"/>
              </a:lnSpc>
              <a:spcBef>
                <a:spcPts val="5"/>
              </a:spcBef>
            </a:pPr>
            <a:r>
              <a:rPr sz="3200" dirty="0"/>
              <a:t>By</a:t>
            </a:r>
            <a:r>
              <a:rPr sz="3200" spc="-70" dirty="0"/>
              <a:t> </a:t>
            </a:r>
            <a:r>
              <a:rPr sz="3200" dirty="0"/>
              <a:t>taking</a:t>
            </a:r>
            <a:r>
              <a:rPr sz="3200" spc="-60" dirty="0"/>
              <a:t> </a:t>
            </a:r>
            <a:r>
              <a:rPr sz="3200" dirty="0"/>
              <a:t>input</a:t>
            </a:r>
            <a:r>
              <a:rPr sz="3200" spc="-45" dirty="0"/>
              <a:t> </a:t>
            </a:r>
            <a:r>
              <a:rPr sz="3200" dirty="0"/>
              <a:t>from</a:t>
            </a:r>
            <a:r>
              <a:rPr sz="3200" spc="-80" dirty="0"/>
              <a:t> </a:t>
            </a:r>
            <a:r>
              <a:rPr sz="3200" spc="-20" dirty="0"/>
              <a:t>user</a:t>
            </a:r>
            <a:endParaRPr sz="3200"/>
          </a:p>
        </p:txBody>
      </p:sp>
      <p:grpSp>
        <p:nvGrpSpPr>
          <p:cNvPr id="3" name="object 3"/>
          <p:cNvGrpSpPr/>
          <p:nvPr/>
        </p:nvGrpSpPr>
        <p:grpSpPr>
          <a:xfrm>
            <a:off x="457200" y="3065779"/>
            <a:ext cx="9144000" cy="4249420"/>
            <a:chOff x="457200" y="3065779"/>
            <a:chExt cx="9144000" cy="4249420"/>
          </a:xfrm>
        </p:grpSpPr>
        <p:sp>
          <p:nvSpPr>
            <p:cNvPr id="4" name="object 4"/>
            <p:cNvSpPr/>
            <p:nvPr/>
          </p:nvSpPr>
          <p:spPr>
            <a:xfrm>
              <a:off x="2545080" y="3065779"/>
              <a:ext cx="5427345" cy="820419"/>
            </a:xfrm>
            <a:custGeom>
              <a:avLst/>
              <a:gdLst/>
              <a:ahLst/>
              <a:cxnLst/>
              <a:rect l="l" t="t" r="r" b="b"/>
              <a:pathLst>
                <a:path w="5427345" h="820420">
                  <a:moveTo>
                    <a:pt x="5426964" y="0"/>
                  </a:moveTo>
                  <a:lnTo>
                    <a:pt x="10668" y="0"/>
                  </a:lnTo>
                  <a:lnTo>
                    <a:pt x="10668" y="5080"/>
                  </a:lnTo>
                  <a:lnTo>
                    <a:pt x="7277" y="7632"/>
                  </a:lnTo>
                  <a:lnTo>
                    <a:pt x="7277" y="5080"/>
                  </a:lnTo>
                  <a:lnTo>
                    <a:pt x="10668" y="5080"/>
                  </a:lnTo>
                  <a:lnTo>
                    <a:pt x="10668" y="0"/>
                  </a:lnTo>
                  <a:lnTo>
                    <a:pt x="0" y="0"/>
                  </a:lnTo>
                  <a:lnTo>
                    <a:pt x="0" y="5080"/>
                  </a:lnTo>
                  <a:lnTo>
                    <a:pt x="0" y="10160"/>
                  </a:lnTo>
                  <a:lnTo>
                    <a:pt x="0" y="820420"/>
                  </a:lnTo>
                  <a:lnTo>
                    <a:pt x="10668" y="820420"/>
                  </a:lnTo>
                  <a:lnTo>
                    <a:pt x="10668" y="10160"/>
                  </a:lnTo>
                  <a:lnTo>
                    <a:pt x="7277" y="10160"/>
                  </a:lnTo>
                  <a:lnTo>
                    <a:pt x="7277" y="9652"/>
                  </a:lnTo>
                  <a:lnTo>
                    <a:pt x="10668" y="9652"/>
                  </a:lnTo>
                  <a:lnTo>
                    <a:pt x="5416296" y="9652"/>
                  </a:lnTo>
                  <a:lnTo>
                    <a:pt x="5416296" y="10160"/>
                  </a:lnTo>
                  <a:lnTo>
                    <a:pt x="5416296" y="820420"/>
                  </a:lnTo>
                  <a:lnTo>
                    <a:pt x="5426964" y="820420"/>
                  </a:lnTo>
                  <a:lnTo>
                    <a:pt x="5426964" y="10160"/>
                  </a:lnTo>
                  <a:lnTo>
                    <a:pt x="5419674" y="10160"/>
                  </a:lnTo>
                  <a:lnTo>
                    <a:pt x="5419674" y="7620"/>
                  </a:lnTo>
                  <a:lnTo>
                    <a:pt x="5422392" y="9652"/>
                  </a:lnTo>
                  <a:lnTo>
                    <a:pt x="5426964" y="9652"/>
                  </a:lnTo>
                  <a:lnTo>
                    <a:pt x="5426964" y="5080"/>
                  </a:lnTo>
                  <a:lnTo>
                    <a:pt x="542696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57200" y="3886199"/>
              <a:ext cx="9144000" cy="3429000"/>
            </a:xfrm>
            <a:custGeom>
              <a:avLst/>
              <a:gdLst/>
              <a:ahLst/>
              <a:cxnLst/>
              <a:rect l="l" t="t" r="r" b="b"/>
              <a:pathLst>
                <a:path w="9144000" h="3429000">
                  <a:moveTo>
                    <a:pt x="9144000" y="0"/>
                  </a:moveTo>
                  <a:lnTo>
                    <a:pt x="0" y="0"/>
                  </a:lnTo>
                  <a:lnTo>
                    <a:pt x="0" y="3429000"/>
                  </a:lnTo>
                  <a:lnTo>
                    <a:pt x="9144000" y="342900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545080" y="3886199"/>
              <a:ext cx="5427345" cy="1127760"/>
            </a:xfrm>
            <a:custGeom>
              <a:avLst/>
              <a:gdLst/>
              <a:ahLst/>
              <a:cxnLst/>
              <a:rect l="l" t="t" r="r" b="b"/>
              <a:pathLst>
                <a:path w="5427345" h="1127760">
                  <a:moveTo>
                    <a:pt x="5426964" y="0"/>
                  </a:moveTo>
                  <a:lnTo>
                    <a:pt x="5422049" y="0"/>
                  </a:lnTo>
                  <a:lnTo>
                    <a:pt x="5422049" y="1118870"/>
                  </a:lnTo>
                  <a:lnTo>
                    <a:pt x="5419509" y="1120787"/>
                  </a:lnTo>
                  <a:lnTo>
                    <a:pt x="5419509" y="1118870"/>
                  </a:lnTo>
                  <a:lnTo>
                    <a:pt x="5422049" y="1118870"/>
                  </a:lnTo>
                  <a:lnTo>
                    <a:pt x="5422049" y="0"/>
                  </a:lnTo>
                  <a:lnTo>
                    <a:pt x="5416296" y="0"/>
                  </a:lnTo>
                  <a:lnTo>
                    <a:pt x="5416296" y="1118616"/>
                  </a:lnTo>
                  <a:lnTo>
                    <a:pt x="10668" y="1118616"/>
                  </a:lnTo>
                  <a:lnTo>
                    <a:pt x="10668" y="0"/>
                  </a:lnTo>
                  <a:lnTo>
                    <a:pt x="9982" y="0"/>
                  </a:lnTo>
                  <a:lnTo>
                    <a:pt x="9982" y="1122680"/>
                  </a:lnTo>
                  <a:lnTo>
                    <a:pt x="7442" y="1122680"/>
                  </a:lnTo>
                  <a:lnTo>
                    <a:pt x="7442" y="1120775"/>
                  </a:lnTo>
                  <a:lnTo>
                    <a:pt x="9982" y="1122680"/>
                  </a:lnTo>
                  <a:lnTo>
                    <a:pt x="9982" y="0"/>
                  </a:lnTo>
                  <a:lnTo>
                    <a:pt x="0" y="0"/>
                  </a:lnTo>
                  <a:lnTo>
                    <a:pt x="0" y="1118870"/>
                  </a:lnTo>
                  <a:lnTo>
                    <a:pt x="0" y="1122680"/>
                  </a:lnTo>
                  <a:lnTo>
                    <a:pt x="0" y="1127760"/>
                  </a:lnTo>
                  <a:lnTo>
                    <a:pt x="5426964" y="1127760"/>
                  </a:lnTo>
                  <a:lnTo>
                    <a:pt x="5426964" y="1123188"/>
                  </a:lnTo>
                  <a:lnTo>
                    <a:pt x="5426964" y="1122680"/>
                  </a:lnTo>
                  <a:lnTo>
                    <a:pt x="5426964" y="1118870"/>
                  </a:lnTo>
                  <a:lnTo>
                    <a:pt x="5426964" y="1118616"/>
                  </a:lnTo>
                  <a:lnTo>
                    <a:pt x="542696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2628329" y="3073444"/>
            <a:ext cx="5208270" cy="1854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Courier New"/>
                <a:cs typeface="Courier New"/>
              </a:rPr>
              <a:t>int</a:t>
            </a:r>
            <a:r>
              <a:rPr sz="2000" b="1" spc="-20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i,</a:t>
            </a:r>
            <a:r>
              <a:rPr sz="2000" b="1" spc="-15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j,</a:t>
            </a:r>
            <a:r>
              <a:rPr sz="2000" b="1" spc="-15" dirty="0">
                <a:latin typeface="Courier New"/>
                <a:cs typeface="Courier New"/>
              </a:rPr>
              <a:t> </a:t>
            </a:r>
            <a:r>
              <a:rPr sz="2000" b="1" spc="-10" dirty="0">
                <a:latin typeface="Courier New"/>
                <a:cs typeface="Courier New"/>
              </a:rPr>
              <a:t>matrix[3][4];</a:t>
            </a:r>
            <a:endParaRPr sz="2000" dirty="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30"/>
              </a:spcBef>
            </a:pPr>
            <a:endParaRPr sz="2000" dirty="0">
              <a:latin typeface="Courier New"/>
              <a:cs typeface="Courier New"/>
            </a:endParaRPr>
          </a:p>
          <a:p>
            <a:pPr marL="469900" marR="1681480" indent="-457834">
              <a:lnSpc>
                <a:spcPct val="100000"/>
              </a:lnSpc>
            </a:pPr>
            <a:r>
              <a:rPr sz="2000" b="1" dirty="0">
                <a:latin typeface="Courier New"/>
                <a:cs typeface="Courier New"/>
              </a:rPr>
              <a:t>for</a:t>
            </a:r>
            <a:r>
              <a:rPr sz="2000" b="1" spc="-30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(i=0;</a:t>
            </a:r>
            <a:r>
              <a:rPr sz="2000" b="1" spc="-30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i&lt;3;</a:t>
            </a:r>
            <a:r>
              <a:rPr sz="2000" b="1" spc="-25" dirty="0">
                <a:latin typeface="Courier New"/>
                <a:cs typeface="Courier New"/>
              </a:rPr>
              <a:t> </a:t>
            </a:r>
            <a:r>
              <a:rPr sz="2000" b="1" spc="-20" dirty="0">
                <a:latin typeface="Courier New"/>
                <a:cs typeface="Courier New"/>
              </a:rPr>
              <a:t>i++)</a:t>
            </a:r>
            <a:r>
              <a:rPr sz="2000" b="1" spc="500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for</a:t>
            </a:r>
            <a:r>
              <a:rPr sz="2000" b="1" spc="-40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(j=0;</a:t>
            </a:r>
            <a:r>
              <a:rPr sz="2000" b="1" spc="-30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j&lt;4;</a:t>
            </a:r>
            <a:r>
              <a:rPr sz="2000" b="1" spc="-25" dirty="0">
                <a:latin typeface="Courier New"/>
                <a:cs typeface="Courier New"/>
              </a:rPr>
              <a:t> </a:t>
            </a:r>
            <a:r>
              <a:rPr sz="2000" b="1" spc="-10" dirty="0">
                <a:latin typeface="Courier New"/>
                <a:cs typeface="Courier New"/>
              </a:rPr>
              <a:t>j++){</a:t>
            </a:r>
            <a:endParaRPr sz="2000" dirty="0">
              <a:latin typeface="Courier New"/>
              <a:cs typeface="Courier New"/>
            </a:endParaRPr>
          </a:p>
          <a:p>
            <a:pPr marL="1079500">
              <a:lnSpc>
                <a:spcPct val="100000"/>
              </a:lnSpc>
            </a:pPr>
            <a:r>
              <a:rPr sz="2000" b="1" dirty="0">
                <a:latin typeface="Courier New"/>
                <a:cs typeface="Courier New"/>
              </a:rPr>
              <a:t>scanf("%d",</a:t>
            </a:r>
            <a:r>
              <a:rPr sz="2000" b="1" spc="-75" dirty="0">
                <a:latin typeface="Courier New"/>
                <a:cs typeface="Courier New"/>
              </a:rPr>
              <a:t> </a:t>
            </a:r>
            <a:r>
              <a:rPr sz="2000" b="1" spc="-10" dirty="0">
                <a:latin typeface="Courier New"/>
                <a:cs typeface="Courier New"/>
              </a:rPr>
              <a:t>&amp;matrix[i][j]);</a:t>
            </a:r>
            <a:endParaRPr sz="20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b="1" spc="-50" dirty="0">
                <a:latin typeface="Courier New"/>
                <a:cs typeface="Courier New"/>
              </a:rPr>
              <a:t>}</a:t>
            </a:r>
            <a:endParaRPr sz="2000" dirty="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839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Exercise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999744" y="3867911"/>
          <a:ext cx="2128519" cy="21920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099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86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99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451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2800" spc="-50" dirty="0">
                          <a:latin typeface="Tahoma"/>
                          <a:cs typeface="Tahoma"/>
                        </a:rPr>
                        <a:t>0</a:t>
                      </a:r>
                      <a:endParaRPr sz="2800">
                        <a:latin typeface="Tahoma"/>
                        <a:cs typeface="Tahoma"/>
                      </a:endParaRPr>
                    </a:p>
                  </a:txBody>
                  <a:tcPr marL="0" marR="0" marT="4254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2800" spc="-50" dirty="0">
                          <a:latin typeface="Tahoma"/>
                          <a:cs typeface="Tahoma"/>
                        </a:rPr>
                        <a:t>1</a:t>
                      </a:r>
                      <a:endParaRPr sz="2800">
                        <a:latin typeface="Tahoma"/>
                        <a:cs typeface="Tahoma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2800" spc="-50" dirty="0">
                          <a:latin typeface="Tahoma"/>
                          <a:cs typeface="Tahoma"/>
                        </a:rPr>
                        <a:t>2</a:t>
                      </a:r>
                      <a:endParaRPr sz="2800">
                        <a:latin typeface="Tahoma"/>
                        <a:cs typeface="Tahoma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753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2800" spc="-50" dirty="0">
                          <a:latin typeface="Tahoma"/>
                          <a:cs typeface="Tahoma"/>
                        </a:rPr>
                        <a:t>1</a:t>
                      </a:r>
                      <a:endParaRPr sz="2800">
                        <a:latin typeface="Tahoma"/>
                        <a:cs typeface="Tahoma"/>
                      </a:endParaRPr>
                    </a:p>
                  </a:txBody>
                  <a:tcPr marL="0" marR="0" marT="4318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2800" spc="-50" dirty="0">
                          <a:latin typeface="Tahoma"/>
                          <a:cs typeface="Tahoma"/>
                        </a:rPr>
                        <a:t>2</a:t>
                      </a:r>
                      <a:endParaRPr sz="2800">
                        <a:latin typeface="Tahoma"/>
                        <a:cs typeface="Tahoma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2800" spc="-50" dirty="0">
                          <a:latin typeface="Tahoma"/>
                          <a:cs typeface="Tahoma"/>
                        </a:rPr>
                        <a:t>3</a:t>
                      </a:r>
                      <a:endParaRPr sz="2800">
                        <a:latin typeface="Tahoma"/>
                        <a:cs typeface="Tahoma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499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2800" spc="-50" dirty="0">
                          <a:latin typeface="Tahoma"/>
                          <a:cs typeface="Tahoma"/>
                        </a:rPr>
                        <a:t>2</a:t>
                      </a:r>
                      <a:endParaRPr sz="2800">
                        <a:latin typeface="Tahoma"/>
                        <a:cs typeface="Tahoma"/>
                      </a:endParaRPr>
                    </a:p>
                  </a:txBody>
                  <a:tcPr marL="0" marR="0" marT="4191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2800" spc="-50" dirty="0">
                          <a:latin typeface="Tahoma"/>
                          <a:cs typeface="Tahoma"/>
                        </a:rPr>
                        <a:t>3</a:t>
                      </a:r>
                      <a:endParaRPr sz="2800">
                        <a:latin typeface="Tahoma"/>
                        <a:cs typeface="Tahoma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2800" spc="-50" dirty="0">
                          <a:latin typeface="Tahoma"/>
                          <a:cs typeface="Tahoma"/>
                        </a:rPr>
                        <a:t>4</a:t>
                      </a:r>
                      <a:endParaRPr sz="2800">
                        <a:latin typeface="Tahoma"/>
                        <a:cs typeface="Tahoma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499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2800" spc="-50" dirty="0">
                          <a:latin typeface="Tahoma"/>
                          <a:cs typeface="Tahoma"/>
                        </a:rPr>
                        <a:t>3</a:t>
                      </a:r>
                      <a:endParaRPr sz="2800">
                        <a:latin typeface="Tahoma"/>
                        <a:cs typeface="Tahoma"/>
                      </a:endParaRPr>
                    </a:p>
                  </a:txBody>
                  <a:tcPr marL="0" marR="0" marT="4254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2800" spc="-50" dirty="0">
                          <a:latin typeface="Tahoma"/>
                          <a:cs typeface="Tahoma"/>
                        </a:rPr>
                        <a:t>4</a:t>
                      </a:r>
                      <a:endParaRPr sz="2800">
                        <a:latin typeface="Tahoma"/>
                        <a:cs typeface="Tahoma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2800" spc="-50" dirty="0">
                          <a:latin typeface="Tahoma"/>
                          <a:cs typeface="Tahoma"/>
                        </a:rPr>
                        <a:t>5</a:t>
                      </a:r>
                      <a:endParaRPr sz="2800">
                        <a:latin typeface="Tahoma"/>
                        <a:cs typeface="Tahoma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1718564" y="2505008"/>
            <a:ext cx="7258684" cy="10020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4965" marR="5080" indent="-342900">
              <a:lnSpc>
                <a:spcPct val="100000"/>
              </a:lnSpc>
              <a:spcBef>
                <a:spcPts val="105"/>
              </a:spcBef>
              <a:buClr>
                <a:srgbClr val="3333CC"/>
              </a:buClr>
              <a:buSzPct val="59375"/>
              <a:buFont typeface="Wingdings"/>
              <a:buChar char=""/>
              <a:tabLst>
                <a:tab pos="354965" algn="l"/>
              </a:tabLst>
            </a:pPr>
            <a:r>
              <a:rPr sz="3200" dirty="0">
                <a:latin typeface="Tahoma"/>
                <a:cs typeface="Tahoma"/>
              </a:rPr>
              <a:t>Write</a:t>
            </a:r>
            <a:r>
              <a:rPr sz="3200" spc="-8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the</a:t>
            </a:r>
            <a:r>
              <a:rPr sz="3200" spc="-5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nested</a:t>
            </a:r>
            <a:r>
              <a:rPr sz="3200" spc="-6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loop</a:t>
            </a:r>
            <a:r>
              <a:rPr sz="3200" spc="-6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to</a:t>
            </a:r>
            <a:r>
              <a:rPr sz="3200" spc="-6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initialize</a:t>
            </a:r>
            <a:r>
              <a:rPr sz="3200" spc="-4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a</a:t>
            </a:r>
            <a:r>
              <a:rPr sz="3200" spc="-70" dirty="0">
                <a:latin typeface="Tahoma"/>
                <a:cs typeface="Tahoma"/>
              </a:rPr>
              <a:t> </a:t>
            </a:r>
            <a:r>
              <a:rPr sz="3200" spc="-25" dirty="0">
                <a:latin typeface="Tahoma"/>
                <a:cs typeface="Tahoma"/>
              </a:rPr>
              <a:t>2D </a:t>
            </a:r>
            <a:r>
              <a:rPr sz="3200" dirty="0">
                <a:latin typeface="Tahoma"/>
                <a:cs typeface="Tahoma"/>
              </a:rPr>
              <a:t>array</a:t>
            </a:r>
            <a:r>
              <a:rPr sz="3200" spc="-5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as</a:t>
            </a:r>
            <a:r>
              <a:rPr sz="3200" spc="-25" dirty="0">
                <a:latin typeface="Tahoma"/>
                <a:cs typeface="Tahoma"/>
              </a:rPr>
              <a:t> </a:t>
            </a:r>
            <a:r>
              <a:rPr sz="3200" spc="-10" dirty="0">
                <a:latin typeface="Tahoma"/>
                <a:cs typeface="Tahoma"/>
              </a:rPr>
              <a:t>follow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472434" y="3796538"/>
            <a:ext cx="5965825" cy="2341245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90805">
              <a:lnSpc>
                <a:spcPts val="3820"/>
              </a:lnSpc>
            </a:pPr>
            <a:r>
              <a:rPr sz="3200" b="1" dirty="0">
                <a:latin typeface="Courier New"/>
                <a:cs typeface="Courier New"/>
              </a:rPr>
              <a:t>int</a:t>
            </a:r>
            <a:r>
              <a:rPr sz="3200" b="1" spc="-55" dirty="0">
                <a:latin typeface="Courier New"/>
                <a:cs typeface="Courier New"/>
              </a:rPr>
              <a:t> </a:t>
            </a:r>
            <a:r>
              <a:rPr sz="3200" b="1" dirty="0">
                <a:latin typeface="Courier New"/>
                <a:cs typeface="Courier New"/>
              </a:rPr>
              <a:t>i,</a:t>
            </a:r>
            <a:r>
              <a:rPr sz="3200" b="1" spc="-40" dirty="0">
                <a:latin typeface="Courier New"/>
                <a:cs typeface="Courier New"/>
              </a:rPr>
              <a:t> </a:t>
            </a:r>
            <a:r>
              <a:rPr sz="3200" b="1" dirty="0">
                <a:latin typeface="Courier New"/>
                <a:cs typeface="Courier New"/>
              </a:rPr>
              <a:t>j,</a:t>
            </a:r>
            <a:r>
              <a:rPr sz="3200" b="1" spc="-50" dirty="0">
                <a:latin typeface="Courier New"/>
                <a:cs typeface="Courier New"/>
              </a:rPr>
              <a:t> </a:t>
            </a:r>
            <a:r>
              <a:rPr sz="3200" b="1" spc="-10" dirty="0">
                <a:latin typeface="Courier New"/>
                <a:cs typeface="Courier New"/>
              </a:rPr>
              <a:t>x[4][3];</a:t>
            </a:r>
            <a:endParaRPr sz="3200" dirty="0">
              <a:latin typeface="Courier New"/>
              <a:cs typeface="Courier New"/>
            </a:endParaRPr>
          </a:p>
          <a:p>
            <a:pPr marL="577850" marR="981075" indent="-487680">
              <a:lnSpc>
                <a:spcPct val="120000"/>
              </a:lnSpc>
            </a:pPr>
            <a:r>
              <a:rPr sz="3200" b="1" dirty="0">
                <a:latin typeface="Courier New"/>
                <a:cs typeface="Courier New"/>
              </a:rPr>
              <a:t>for(i=0;</a:t>
            </a:r>
            <a:r>
              <a:rPr sz="3200" b="1" spc="-135" dirty="0">
                <a:latin typeface="Courier New"/>
                <a:cs typeface="Courier New"/>
              </a:rPr>
              <a:t> </a:t>
            </a:r>
            <a:r>
              <a:rPr sz="3200" b="1" dirty="0">
                <a:latin typeface="Courier New"/>
                <a:cs typeface="Courier New"/>
              </a:rPr>
              <a:t>i&lt;4;</a:t>
            </a:r>
            <a:r>
              <a:rPr sz="3200" b="1" spc="-130" dirty="0">
                <a:latin typeface="Courier New"/>
                <a:cs typeface="Courier New"/>
              </a:rPr>
              <a:t> </a:t>
            </a:r>
            <a:r>
              <a:rPr sz="3200" b="1" spc="-20" dirty="0">
                <a:latin typeface="Courier New"/>
                <a:cs typeface="Courier New"/>
              </a:rPr>
              <a:t>i++) </a:t>
            </a:r>
            <a:r>
              <a:rPr sz="3200" b="1" dirty="0">
                <a:latin typeface="Courier New"/>
                <a:cs typeface="Courier New"/>
              </a:rPr>
              <a:t>for(j=0;</a:t>
            </a:r>
            <a:r>
              <a:rPr sz="3200" b="1" spc="-135" dirty="0">
                <a:latin typeface="Courier New"/>
                <a:cs typeface="Courier New"/>
              </a:rPr>
              <a:t> </a:t>
            </a:r>
            <a:r>
              <a:rPr sz="3200" b="1" dirty="0">
                <a:latin typeface="Courier New"/>
                <a:cs typeface="Courier New"/>
              </a:rPr>
              <a:t>j&lt;3;</a:t>
            </a:r>
            <a:r>
              <a:rPr sz="3200" b="1" spc="-120" dirty="0">
                <a:latin typeface="Courier New"/>
                <a:cs typeface="Courier New"/>
              </a:rPr>
              <a:t> </a:t>
            </a:r>
            <a:r>
              <a:rPr sz="3200" b="1" spc="-20" dirty="0">
                <a:latin typeface="Courier New"/>
                <a:cs typeface="Courier New"/>
              </a:rPr>
              <a:t>j++)</a:t>
            </a:r>
            <a:endParaRPr sz="3200" dirty="0">
              <a:latin typeface="Courier New"/>
              <a:cs typeface="Courier New"/>
            </a:endParaRPr>
          </a:p>
          <a:p>
            <a:pPr marL="1067435">
              <a:lnSpc>
                <a:spcPct val="100000"/>
              </a:lnSpc>
              <a:spcBef>
                <a:spcPts val="770"/>
              </a:spcBef>
            </a:pPr>
            <a:r>
              <a:rPr sz="3200" b="1" dirty="0">
                <a:latin typeface="Courier New"/>
                <a:cs typeface="Courier New"/>
              </a:rPr>
              <a:t>x[i][j]</a:t>
            </a:r>
            <a:r>
              <a:rPr sz="3200" b="1" spc="-80" dirty="0">
                <a:latin typeface="Courier New"/>
                <a:cs typeface="Courier New"/>
              </a:rPr>
              <a:t> </a:t>
            </a:r>
            <a:r>
              <a:rPr sz="3200" b="1" dirty="0">
                <a:latin typeface="Courier New"/>
                <a:cs typeface="Courier New"/>
              </a:rPr>
              <a:t>=</a:t>
            </a:r>
            <a:r>
              <a:rPr sz="3200" b="1" spc="-85" dirty="0">
                <a:latin typeface="Courier New"/>
                <a:cs typeface="Courier New"/>
              </a:rPr>
              <a:t> </a:t>
            </a:r>
            <a:r>
              <a:rPr sz="3200" b="1" spc="-20" dirty="0">
                <a:latin typeface="Courier New"/>
                <a:cs typeface="Courier New"/>
              </a:rPr>
              <a:t>i+j;</a:t>
            </a:r>
            <a:endParaRPr sz="3200" dirty="0">
              <a:latin typeface="Courier New"/>
              <a:cs typeface="Courier New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66922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3200" dirty="0"/>
              <a:t>Showing</a:t>
            </a:r>
            <a:r>
              <a:rPr sz="3200" spc="-85" dirty="0"/>
              <a:t> </a:t>
            </a:r>
            <a:r>
              <a:rPr sz="3200" dirty="0"/>
              <a:t>content</a:t>
            </a:r>
            <a:r>
              <a:rPr sz="3200" spc="-65" dirty="0"/>
              <a:t> </a:t>
            </a:r>
            <a:r>
              <a:rPr sz="3200" dirty="0"/>
              <a:t>of</a:t>
            </a:r>
            <a:r>
              <a:rPr sz="3200" spc="-65" dirty="0"/>
              <a:t> </a:t>
            </a:r>
            <a:r>
              <a:rPr sz="3200" dirty="0"/>
              <a:t>a</a:t>
            </a:r>
            <a:r>
              <a:rPr sz="3200" spc="-75" dirty="0"/>
              <a:t> </a:t>
            </a:r>
            <a:r>
              <a:rPr sz="3200" spc="-10" dirty="0"/>
              <a:t>2-</a:t>
            </a:r>
            <a:r>
              <a:rPr sz="3200" dirty="0"/>
              <a:t>Dim</a:t>
            </a:r>
            <a:r>
              <a:rPr sz="3200" spc="-80" dirty="0"/>
              <a:t> </a:t>
            </a:r>
            <a:r>
              <a:rPr sz="3200" spc="-10" dirty="0"/>
              <a:t>Array</a:t>
            </a:r>
            <a:endParaRPr sz="3200"/>
          </a:p>
        </p:txBody>
      </p:sp>
      <p:grpSp>
        <p:nvGrpSpPr>
          <p:cNvPr id="3" name="object 3"/>
          <p:cNvGrpSpPr/>
          <p:nvPr/>
        </p:nvGrpSpPr>
        <p:grpSpPr>
          <a:xfrm>
            <a:off x="457200" y="3284220"/>
            <a:ext cx="9144000" cy="4030979"/>
            <a:chOff x="457200" y="3284220"/>
            <a:chExt cx="9144000" cy="4030979"/>
          </a:xfrm>
        </p:grpSpPr>
        <p:sp>
          <p:nvSpPr>
            <p:cNvPr id="4" name="object 4"/>
            <p:cNvSpPr/>
            <p:nvPr/>
          </p:nvSpPr>
          <p:spPr>
            <a:xfrm>
              <a:off x="1050036" y="3284219"/>
              <a:ext cx="4959350" cy="601980"/>
            </a:xfrm>
            <a:custGeom>
              <a:avLst/>
              <a:gdLst/>
              <a:ahLst/>
              <a:cxnLst/>
              <a:rect l="l" t="t" r="r" b="b"/>
              <a:pathLst>
                <a:path w="4959350" h="601979">
                  <a:moveTo>
                    <a:pt x="4959096" y="0"/>
                  </a:moveTo>
                  <a:lnTo>
                    <a:pt x="4954270" y="0"/>
                  </a:lnTo>
                  <a:lnTo>
                    <a:pt x="4954270" y="8890"/>
                  </a:lnTo>
                  <a:lnTo>
                    <a:pt x="4952365" y="8890"/>
                  </a:lnTo>
                  <a:lnTo>
                    <a:pt x="4952365" y="6985"/>
                  </a:lnTo>
                  <a:lnTo>
                    <a:pt x="4954270" y="8890"/>
                  </a:lnTo>
                  <a:lnTo>
                    <a:pt x="4954270" y="0"/>
                  </a:lnTo>
                  <a:lnTo>
                    <a:pt x="8636" y="0"/>
                  </a:lnTo>
                  <a:lnTo>
                    <a:pt x="8636" y="5080"/>
                  </a:lnTo>
                  <a:lnTo>
                    <a:pt x="6731" y="6985"/>
                  </a:lnTo>
                  <a:lnTo>
                    <a:pt x="6731" y="5080"/>
                  </a:lnTo>
                  <a:lnTo>
                    <a:pt x="8636" y="5080"/>
                  </a:lnTo>
                  <a:lnTo>
                    <a:pt x="8636" y="0"/>
                  </a:lnTo>
                  <a:lnTo>
                    <a:pt x="0" y="0"/>
                  </a:lnTo>
                  <a:lnTo>
                    <a:pt x="0" y="5080"/>
                  </a:lnTo>
                  <a:lnTo>
                    <a:pt x="0" y="8890"/>
                  </a:lnTo>
                  <a:lnTo>
                    <a:pt x="0" y="601980"/>
                  </a:lnTo>
                  <a:lnTo>
                    <a:pt x="9144" y="601980"/>
                  </a:lnTo>
                  <a:lnTo>
                    <a:pt x="9144" y="9144"/>
                  </a:lnTo>
                  <a:lnTo>
                    <a:pt x="4949952" y="9144"/>
                  </a:lnTo>
                  <a:lnTo>
                    <a:pt x="4949952" y="601980"/>
                  </a:lnTo>
                  <a:lnTo>
                    <a:pt x="4959096" y="601980"/>
                  </a:lnTo>
                  <a:lnTo>
                    <a:pt x="4959096" y="9144"/>
                  </a:lnTo>
                  <a:lnTo>
                    <a:pt x="4959096" y="8890"/>
                  </a:lnTo>
                  <a:lnTo>
                    <a:pt x="4959096" y="5080"/>
                  </a:lnTo>
                  <a:lnTo>
                    <a:pt x="4959096" y="4572"/>
                  </a:lnTo>
                  <a:lnTo>
                    <a:pt x="495909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57200" y="3886200"/>
              <a:ext cx="9144000" cy="3429000"/>
            </a:xfrm>
            <a:custGeom>
              <a:avLst/>
              <a:gdLst/>
              <a:ahLst/>
              <a:cxnLst/>
              <a:rect l="l" t="t" r="r" b="b"/>
              <a:pathLst>
                <a:path w="9144000" h="3429000">
                  <a:moveTo>
                    <a:pt x="9144000" y="0"/>
                  </a:moveTo>
                  <a:lnTo>
                    <a:pt x="0" y="0"/>
                  </a:lnTo>
                  <a:lnTo>
                    <a:pt x="0" y="3429000"/>
                  </a:lnTo>
                  <a:lnTo>
                    <a:pt x="9144000" y="342900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050036" y="3886199"/>
              <a:ext cx="4959350" cy="1653539"/>
            </a:xfrm>
            <a:custGeom>
              <a:avLst/>
              <a:gdLst/>
              <a:ahLst/>
              <a:cxnLst/>
              <a:rect l="l" t="t" r="r" b="b"/>
              <a:pathLst>
                <a:path w="4959350" h="1653539">
                  <a:moveTo>
                    <a:pt x="4959096" y="0"/>
                  </a:moveTo>
                  <a:lnTo>
                    <a:pt x="4954270" y="0"/>
                  </a:lnTo>
                  <a:lnTo>
                    <a:pt x="4954270" y="1644650"/>
                  </a:lnTo>
                  <a:lnTo>
                    <a:pt x="4952365" y="1646567"/>
                  </a:lnTo>
                  <a:lnTo>
                    <a:pt x="4952365" y="1644650"/>
                  </a:lnTo>
                  <a:lnTo>
                    <a:pt x="4954270" y="1644650"/>
                  </a:lnTo>
                  <a:lnTo>
                    <a:pt x="4954270" y="0"/>
                  </a:lnTo>
                  <a:lnTo>
                    <a:pt x="4949952" y="0"/>
                  </a:lnTo>
                  <a:lnTo>
                    <a:pt x="4949952" y="1644408"/>
                  </a:lnTo>
                  <a:lnTo>
                    <a:pt x="9144" y="1644408"/>
                  </a:lnTo>
                  <a:lnTo>
                    <a:pt x="9144" y="0"/>
                  </a:lnTo>
                  <a:lnTo>
                    <a:pt x="8623" y="0"/>
                  </a:lnTo>
                  <a:lnTo>
                    <a:pt x="8623" y="1648460"/>
                  </a:lnTo>
                  <a:lnTo>
                    <a:pt x="6731" y="1648460"/>
                  </a:lnTo>
                  <a:lnTo>
                    <a:pt x="6731" y="1646567"/>
                  </a:lnTo>
                  <a:lnTo>
                    <a:pt x="8623" y="1648460"/>
                  </a:lnTo>
                  <a:lnTo>
                    <a:pt x="8623" y="0"/>
                  </a:lnTo>
                  <a:lnTo>
                    <a:pt x="0" y="0"/>
                  </a:lnTo>
                  <a:lnTo>
                    <a:pt x="0" y="1644650"/>
                  </a:lnTo>
                  <a:lnTo>
                    <a:pt x="0" y="1648460"/>
                  </a:lnTo>
                  <a:lnTo>
                    <a:pt x="0" y="1653540"/>
                  </a:lnTo>
                  <a:lnTo>
                    <a:pt x="4959096" y="1653540"/>
                  </a:lnTo>
                  <a:lnTo>
                    <a:pt x="4959096" y="1648980"/>
                  </a:lnTo>
                  <a:lnTo>
                    <a:pt x="4959096" y="1648460"/>
                  </a:lnTo>
                  <a:lnTo>
                    <a:pt x="4959096" y="1644650"/>
                  </a:lnTo>
                  <a:lnTo>
                    <a:pt x="4959096" y="1644408"/>
                  </a:lnTo>
                  <a:lnTo>
                    <a:pt x="495909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69265" marR="918844" indent="-457200">
              <a:lnSpc>
                <a:spcPct val="100000"/>
              </a:lnSpc>
              <a:spcBef>
                <a:spcPts val="105"/>
              </a:spcBef>
            </a:pPr>
            <a:r>
              <a:rPr dirty="0"/>
              <a:t>for</a:t>
            </a:r>
            <a:r>
              <a:rPr spc="-30" dirty="0"/>
              <a:t> </a:t>
            </a:r>
            <a:r>
              <a:rPr dirty="0"/>
              <a:t>(i=0;</a:t>
            </a:r>
            <a:r>
              <a:rPr spc="-30" dirty="0"/>
              <a:t> </a:t>
            </a:r>
            <a:r>
              <a:rPr dirty="0"/>
              <a:t>i&lt;4;</a:t>
            </a:r>
            <a:r>
              <a:rPr spc="-25" dirty="0"/>
              <a:t> </a:t>
            </a:r>
            <a:r>
              <a:rPr spc="-20" dirty="0"/>
              <a:t>i++){ </a:t>
            </a:r>
            <a:r>
              <a:rPr dirty="0"/>
              <a:t>for</a:t>
            </a:r>
            <a:r>
              <a:rPr spc="-30" dirty="0"/>
              <a:t> </a:t>
            </a:r>
            <a:r>
              <a:rPr dirty="0"/>
              <a:t>(j=0;</a:t>
            </a:r>
            <a:r>
              <a:rPr spc="-30" dirty="0"/>
              <a:t> </a:t>
            </a:r>
            <a:r>
              <a:rPr dirty="0"/>
              <a:t>j&lt;3;</a:t>
            </a:r>
            <a:r>
              <a:rPr spc="-25" dirty="0"/>
              <a:t> </a:t>
            </a:r>
            <a:r>
              <a:rPr spc="-20" dirty="0"/>
              <a:t>j++){</a:t>
            </a:r>
          </a:p>
          <a:p>
            <a:pPr marL="1079500">
              <a:lnSpc>
                <a:spcPct val="100000"/>
              </a:lnSpc>
            </a:pPr>
            <a:r>
              <a:rPr dirty="0"/>
              <a:t>printf("%d</a:t>
            </a:r>
            <a:r>
              <a:rPr spc="-60" dirty="0"/>
              <a:t> </a:t>
            </a:r>
            <a:r>
              <a:rPr spc="-10" dirty="0"/>
              <a:t>",m[i][j]);</a:t>
            </a:r>
          </a:p>
          <a:p>
            <a:pPr marL="469265">
              <a:lnSpc>
                <a:spcPts val="2400"/>
              </a:lnSpc>
            </a:pPr>
            <a:r>
              <a:rPr spc="-50" dirty="0"/>
              <a:t>}</a:t>
            </a:r>
          </a:p>
          <a:p>
            <a:pPr marL="927100">
              <a:lnSpc>
                <a:spcPct val="100000"/>
              </a:lnSpc>
            </a:pPr>
            <a:r>
              <a:rPr spc="-10" dirty="0"/>
              <a:t>printf("\n");</a:t>
            </a:r>
          </a:p>
          <a:p>
            <a:pPr marL="12700">
              <a:lnSpc>
                <a:spcPct val="100000"/>
              </a:lnSpc>
            </a:pPr>
            <a:r>
              <a:rPr spc="-50" dirty="0"/>
              <a:t>}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13</a:t>
            </a:fld>
            <a:endParaRPr spc="-25" dirty="0"/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6731507" y="2770632"/>
          <a:ext cx="2128519" cy="21939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092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99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92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5780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2800" spc="-50" dirty="0">
                          <a:latin typeface="Tahoma"/>
                          <a:cs typeface="Tahoma"/>
                        </a:rPr>
                        <a:t>0</a:t>
                      </a:r>
                      <a:endParaRPr sz="2800">
                        <a:latin typeface="Tahoma"/>
                        <a:cs typeface="Tahoma"/>
                      </a:endParaRPr>
                    </a:p>
                  </a:txBody>
                  <a:tcPr marL="0" marR="0" marT="4254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2800" spc="-50" dirty="0">
                          <a:latin typeface="Tahoma"/>
                          <a:cs typeface="Tahoma"/>
                        </a:rPr>
                        <a:t>1</a:t>
                      </a:r>
                      <a:endParaRPr sz="2800">
                        <a:latin typeface="Tahoma"/>
                        <a:cs typeface="Tahoma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2800" spc="-50" dirty="0">
                          <a:latin typeface="Tahoma"/>
                          <a:cs typeface="Tahoma"/>
                        </a:rPr>
                        <a:t>2</a:t>
                      </a:r>
                      <a:endParaRPr sz="2800">
                        <a:latin typeface="Tahoma"/>
                        <a:cs typeface="Tahoma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6895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2800" spc="-50" dirty="0">
                          <a:latin typeface="Tahoma"/>
                          <a:cs typeface="Tahoma"/>
                        </a:rPr>
                        <a:t>1</a:t>
                      </a:r>
                      <a:endParaRPr sz="2800">
                        <a:latin typeface="Tahoma"/>
                        <a:cs typeface="Tahoma"/>
                      </a:endParaRPr>
                    </a:p>
                  </a:txBody>
                  <a:tcPr marL="0" marR="0" marT="4254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2800" spc="-50" dirty="0">
                          <a:latin typeface="Tahoma"/>
                          <a:cs typeface="Tahoma"/>
                        </a:rPr>
                        <a:t>2</a:t>
                      </a:r>
                      <a:endParaRPr sz="2800">
                        <a:latin typeface="Tahoma"/>
                        <a:cs typeface="Tahoma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2800" spc="-50" dirty="0">
                          <a:latin typeface="Tahoma"/>
                          <a:cs typeface="Tahoma"/>
                        </a:rPr>
                        <a:t>3</a:t>
                      </a:r>
                      <a:endParaRPr sz="2800">
                        <a:latin typeface="Tahoma"/>
                        <a:cs typeface="Tahoma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4990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2800" spc="-50" dirty="0">
                          <a:latin typeface="Tahoma"/>
                          <a:cs typeface="Tahoma"/>
                        </a:rPr>
                        <a:t>2</a:t>
                      </a:r>
                      <a:endParaRPr sz="2800">
                        <a:latin typeface="Tahoma"/>
                        <a:cs typeface="Tahoma"/>
                      </a:endParaRPr>
                    </a:p>
                  </a:txBody>
                  <a:tcPr marL="0" marR="0" marT="4381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2800" spc="-50" dirty="0">
                          <a:latin typeface="Tahoma"/>
                          <a:cs typeface="Tahoma"/>
                        </a:rPr>
                        <a:t>3</a:t>
                      </a:r>
                      <a:endParaRPr sz="2800">
                        <a:latin typeface="Tahoma"/>
                        <a:cs typeface="Tahoma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2800" spc="-50" dirty="0">
                          <a:latin typeface="Tahoma"/>
                          <a:cs typeface="Tahoma"/>
                        </a:rPr>
                        <a:t>4</a:t>
                      </a:r>
                      <a:endParaRPr sz="2800">
                        <a:latin typeface="Tahoma"/>
                        <a:cs typeface="Tahoma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6260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2800" spc="-50" dirty="0">
                          <a:latin typeface="Tahoma"/>
                          <a:cs typeface="Tahoma"/>
                        </a:rPr>
                        <a:t>3</a:t>
                      </a:r>
                      <a:endParaRPr sz="2800">
                        <a:latin typeface="Tahoma"/>
                        <a:cs typeface="Tahoma"/>
                      </a:endParaRPr>
                    </a:p>
                  </a:txBody>
                  <a:tcPr marL="0" marR="0" marT="4254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2800" spc="-50" dirty="0">
                          <a:latin typeface="Tahoma"/>
                          <a:cs typeface="Tahoma"/>
                        </a:rPr>
                        <a:t>4</a:t>
                      </a:r>
                      <a:endParaRPr sz="2800">
                        <a:latin typeface="Tahoma"/>
                        <a:cs typeface="Tahoma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2800" spc="-50" dirty="0">
                          <a:latin typeface="Tahoma"/>
                          <a:cs typeface="Tahoma"/>
                        </a:rPr>
                        <a:t>5</a:t>
                      </a:r>
                      <a:endParaRPr sz="2800">
                        <a:latin typeface="Tahoma"/>
                        <a:cs typeface="Tahoma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26515" y="2862958"/>
            <a:ext cx="675195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Computations</a:t>
            </a:r>
            <a:r>
              <a:rPr spc="-75" dirty="0"/>
              <a:t> </a:t>
            </a:r>
            <a:r>
              <a:rPr dirty="0"/>
              <a:t>on</a:t>
            </a:r>
            <a:r>
              <a:rPr spc="-45" dirty="0"/>
              <a:t> </a:t>
            </a:r>
            <a:r>
              <a:rPr dirty="0"/>
              <a:t>2D</a:t>
            </a:r>
            <a:r>
              <a:rPr spc="-25" dirty="0"/>
              <a:t> </a:t>
            </a:r>
            <a:r>
              <a:rPr spc="-10" dirty="0"/>
              <a:t>arrays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74775" y="3886200"/>
            <a:ext cx="741045" cy="62865"/>
            <a:chOff x="874775" y="3886200"/>
            <a:chExt cx="741045" cy="62865"/>
          </a:xfrm>
        </p:grpSpPr>
        <p:sp>
          <p:nvSpPr>
            <p:cNvPr id="4" name="object 4"/>
            <p:cNvSpPr/>
            <p:nvPr/>
          </p:nvSpPr>
          <p:spPr>
            <a:xfrm>
              <a:off x="874775" y="3886200"/>
              <a:ext cx="424180" cy="15240"/>
            </a:xfrm>
            <a:custGeom>
              <a:avLst/>
              <a:gdLst/>
              <a:ahLst/>
              <a:cxnLst/>
              <a:rect l="l" t="t" r="r" b="b"/>
              <a:pathLst>
                <a:path w="424180" h="15239">
                  <a:moveTo>
                    <a:pt x="423672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423672" y="15239"/>
                  </a:lnTo>
                  <a:lnTo>
                    <a:pt x="423672" y="0"/>
                  </a:lnTo>
                  <a:close/>
                </a:path>
              </a:pathLst>
            </a:custGeom>
            <a:solidFill>
              <a:srgbClr val="FFCF0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45107" y="3886200"/>
              <a:ext cx="370331" cy="1523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092707" y="3886200"/>
              <a:ext cx="32384" cy="62865"/>
            </a:xfrm>
            <a:custGeom>
              <a:avLst/>
              <a:gdLst/>
              <a:ahLst/>
              <a:cxnLst/>
              <a:rect l="l" t="t" r="r" b="b"/>
              <a:pathLst>
                <a:path w="32384" h="62864">
                  <a:moveTo>
                    <a:pt x="32003" y="0"/>
                  </a:moveTo>
                  <a:lnTo>
                    <a:pt x="0" y="0"/>
                  </a:lnTo>
                  <a:lnTo>
                    <a:pt x="0" y="62484"/>
                  </a:lnTo>
                  <a:lnTo>
                    <a:pt x="32003" y="62484"/>
                  </a:lnTo>
                  <a:lnTo>
                    <a:pt x="32003" y="0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8919460" y="6889470"/>
            <a:ext cx="220345" cy="2406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25" dirty="0">
                <a:solidFill>
                  <a:srgbClr val="1C1C1C"/>
                </a:solidFill>
                <a:latin typeface="Tahoma"/>
                <a:cs typeface="Tahoma"/>
              </a:rPr>
              <a:t>14</a:t>
            </a:r>
            <a:endParaRPr sz="1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839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/>
              <a:t>Max</a:t>
            </a:r>
            <a:r>
              <a:rPr spc="-30" dirty="0"/>
              <a:t> </a:t>
            </a:r>
            <a:r>
              <a:rPr dirty="0"/>
              <a:t>in</a:t>
            </a:r>
            <a:r>
              <a:rPr spc="-25" dirty="0"/>
              <a:t> 2D</a:t>
            </a:r>
          </a:p>
        </p:txBody>
      </p:sp>
      <p:sp>
        <p:nvSpPr>
          <p:cNvPr id="3" name="object 3"/>
          <p:cNvSpPr/>
          <p:nvPr/>
        </p:nvSpPr>
        <p:spPr>
          <a:xfrm>
            <a:off x="800100" y="3606799"/>
            <a:ext cx="5339080" cy="279400"/>
          </a:xfrm>
          <a:custGeom>
            <a:avLst/>
            <a:gdLst/>
            <a:ahLst/>
            <a:cxnLst/>
            <a:rect l="l" t="t" r="r" b="b"/>
            <a:pathLst>
              <a:path w="5339080" h="279400">
                <a:moveTo>
                  <a:pt x="5338572" y="0"/>
                </a:moveTo>
                <a:lnTo>
                  <a:pt x="10668" y="0"/>
                </a:lnTo>
                <a:lnTo>
                  <a:pt x="10668" y="5080"/>
                </a:lnTo>
                <a:lnTo>
                  <a:pt x="8128" y="7620"/>
                </a:lnTo>
                <a:lnTo>
                  <a:pt x="8128" y="5080"/>
                </a:lnTo>
                <a:lnTo>
                  <a:pt x="10668" y="5080"/>
                </a:lnTo>
                <a:lnTo>
                  <a:pt x="10668" y="0"/>
                </a:lnTo>
                <a:lnTo>
                  <a:pt x="0" y="0"/>
                </a:lnTo>
                <a:lnTo>
                  <a:pt x="0" y="5080"/>
                </a:lnTo>
                <a:lnTo>
                  <a:pt x="0" y="10160"/>
                </a:lnTo>
                <a:lnTo>
                  <a:pt x="0" y="279400"/>
                </a:lnTo>
                <a:lnTo>
                  <a:pt x="10668" y="279400"/>
                </a:lnTo>
                <a:lnTo>
                  <a:pt x="10668" y="10160"/>
                </a:lnTo>
                <a:lnTo>
                  <a:pt x="8128" y="10160"/>
                </a:lnTo>
                <a:lnTo>
                  <a:pt x="8128" y="9652"/>
                </a:lnTo>
                <a:lnTo>
                  <a:pt x="10668" y="9652"/>
                </a:lnTo>
                <a:lnTo>
                  <a:pt x="5327904" y="9652"/>
                </a:lnTo>
                <a:lnTo>
                  <a:pt x="5327904" y="10160"/>
                </a:lnTo>
                <a:lnTo>
                  <a:pt x="5327904" y="279400"/>
                </a:lnTo>
                <a:lnTo>
                  <a:pt x="5338572" y="279400"/>
                </a:lnTo>
                <a:lnTo>
                  <a:pt x="5338572" y="10160"/>
                </a:lnTo>
                <a:lnTo>
                  <a:pt x="5330431" y="10160"/>
                </a:lnTo>
                <a:lnTo>
                  <a:pt x="5330431" y="7607"/>
                </a:lnTo>
                <a:lnTo>
                  <a:pt x="5332476" y="9652"/>
                </a:lnTo>
                <a:lnTo>
                  <a:pt x="5338572" y="9652"/>
                </a:lnTo>
                <a:lnTo>
                  <a:pt x="5338572" y="5080"/>
                </a:lnTo>
                <a:lnTo>
                  <a:pt x="533857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883411" y="2096680"/>
            <a:ext cx="7616190" cy="1281761"/>
          </a:xfrm>
          <a:prstGeom prst="rect">
            <a:avLst/>
          </a:prstGeom>
        </p:spPr>
        <p:txBody>
          <a:bodyPr vert="horz" wrap="square" lIns="0" tIns="319405" rIns="0" bIns="0" rtlCol="0">
            <a:spAutoFit/>
          </a:bodyPr>
          <a:lstStyle/>
          <a:p>
            <a:pPr marL="867410" indent="-342900">
              <a:lnSpc>
                <a:spcPct val="100000"/>
              </a:lnSpc>
              <a:spcBef>
                <a:spcPts val="2515"/>
              </a:spcBef>
              <a:buClr>
                <a:srgbClr val="3333CC"/>
              </a:buClr>
              <a:buSzPct val="59375"/>
              <a:buFont typeface="Wingdings"/>
              <a:buChar char=""/>
              <a:tabLst>
                <a:tab pos="867410" algn="l"/>
              </a:tabLst>
            </a:pPr>
            <a:r>
              <a:rPr sz="3200" dirty="0">
                <a:latin typeface="Tahoma"/>
                <a:cs typeface="Tahoma"/>
              </a:rPr>
              <a:t>Find</a:t>
            </a:r>
            <a:r>
              <a:rPr sz="3200" spc="-7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the</a:t>
            </a:r>
            <a:r>
              <a:rPr sz="3200" spc="-6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maximum</a:t>
            </a:r>
            <a:r>
              <a:rPr sz="3200" spc="-8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of</a:t>
            </a:r>
            <a:r>
              <a:rPr sz="3200" spc="-60" dirty="0">
                <a:latin typeface="Tahoma"/>
                <a:cs typeface="Tahoma"/>
              </a:rPr>
              <a:t> </a:t>
            </a:r>
            <a:r>
              <a:rPr sz="3350" dirty="0">
                <a:latin typeface="Tahoma"/>
                <a:cs typeface="Tahoma"/>
              </a:rPr>
              <a:t>int</a:t>
            </a:r>
            <a:r>
              <a:rPr sz="3350" spc="-125" dirty="0">
                <a:latin typeface="Tahoma"/>
                <a:cs typeface="Tahoma"/>
              </a:rPr>
              <a:t> </a:t>
            </a:r>
            <a:r>
              <a:rPr sz="3350" spc="-55" dirty="0">
                <a:latin typeface="Tahoma"/>
                <a:cs typeface="Tahoma"/>
              </a:rPr>
              <a:t>matrix[3][4]</a:t>
            </a:r>
            <a:endParaRPr sz="3350" dirty="0">
              <a:latin typeface="Tahoma"/>
              <a:cs typeface="Tahoma"/>
            </a:endParaRPr>
          </a:p>
          <a:p>
            <a:pPr marR="1104265" algn="r">
              <a:lnSpc>
                <a:spcPct val="100000"/>
              </a:lnSpc>
              <a:spcBef>
                <a:spcPts val="1275"/>
              </a:spcBef>
            </a:pPr>
            <a:r>
              <a:rPr sz="1800" b="1" dirty="0">
                <a:latin typeface="Tahoma"/>
                <a:cs typeface="Tahoma"/>
              </a:rPr>
              <a:t>max</a:t>
            </a:r>
            <a:r>
              <a:rPr sz="1800" b="1" spc="-35" dirty="0">
                <a:latin typeface="Tahoma"/>
                <a:cs typeface="Tahoma"/>
              </a:rPr>
              <a:t> </a:t>
            </a:r>
            <a:r>
              <a:rPr sz="1800" b="1" dirty="0">
                <a:latin typeface="Tahoma"/>
                <a:cs typeface="Tahoma"/>
              </a:rPr>
              <a:t>=</a:t>
            </a:r>
            <a:r>
              <a:rPr sz="1800" b="1" spc="-20" dirty="0">
                <a:latin typeface="Tahoma"/>
                <a:cs typeface="Tahoma"/>
              </a:rPr>
              <a:t> </a:t>
            </a:r>
            <a:r>
              <a:rPr sz="1800" b="1" spc="-50" dirty="0">
                <a:latin typeface="Tahoma"/>
                <a:cs typeface="Tahoma"/>
              </a:rPr>
              <a:t>0</a:t>
            </a:r>
            <a:endParaRPr lang="en-US" sz="1800" b="1" spc="-50" dirty="0">
              <a:latin typeface="Tahoma"/>
              <a:cs typeface="Tahom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57200" y="3471671"/>
            <a:ext cx="9144000" cy="3843654"/>
            <a:chOff x="457200" y="3471671"/>
            <a:chExt cx="9144000" cy="3843654"/>
          </a:xfrm>
        </p:grpSpPr>
        <p:sp>
          <p:nvSpPr>
            <p:cNvPr id="6" name="object 6"/>
            <p:cNvSpPr/>
            <p:nvPr/>
          </p:nvSpPr>
          <p:spPr>
            <a:xfrm>
              <a:off x="6766559" y="3471671"/>
              <a:ext cx="487680" cy="414655"/>
            </a:xfrm>
            <a:custGeom>
              <a:avLst/>
              <a:gdLst/>
              <a:ahLst/>
              <a:cxnLst/>
              <a:rect l="l" t="t" r="r" b="b"/>
              <a:pathLst>
                <a:path w="487679" h="414654">
                  <a:moveTo>
                    <a:pt x="315634" y="380619"/>
                  </a:moveTo>
                  <a:lnTo>
                    <a:pt x="307657" y="383667"/>
                  </a:lnTo>
                  <a:lnTo>
                    <a:pt x="301680" y="389572"/>
                  </a:lnTo>
                  <a:lnTo>
                    <a:pt x="298704" y="397763"/>
                  </a:lnTo>
                  <a:lnTo>
                    <a:pt x="298385" y="405089"/>
                  </a:lnTo>
                  <a:lnTo>
                    <a:pt x="298323" y="406526"/>
                  </a:lnTo>
                  <a:lnTo>
                    <a:pt x="301371" y="414146"/>
                  </a:lnTo>
                  <a:lnTo>
                    <a:pt x="301751" y="414527"/>
                  </a:lnTo>
                  <a:lnTo>
                    <a:pt x="415762" y="414527"/>
                  </a:lnTo>
                  <a:lnTo>
                    <a:pt x="395609" y="396060"/>
                  </a:lnTo>
                  <a:lnTo>
                    <a:pt x="324612" y="381000"/>
                  </a:lnTo>
                  <a:lnTo>
                    <a:pt x="315634" y="380619"/>
                  </a:lnTo>
                  <a:close/>
                </a:path>
                <a:path w="487679" h="414654">
                  <a:moveTo>
                    <a:pt x="395609" y="396060"/>
                  </a:moveTo>
                  <a:lnTo>
                    <a:pt x="415762" y="414527"/>
                  </a:lnTo>
                  <a:lnTo>
                    <a:pt x="441095" y="414527"/>
                  </a:lnTo>
                  <a:lnTo>
                    <a:pt x="438176" y="405089"/>
                  </a:lnTo>
                  <a:lnTo>
                    <a:pt x="395609" y="396060"/>
                  </a:lnTo>
                  <a:close/>
                </a:path>
                <a:path w="487679" h="414654">
                  <a:moveTo>
                    <a:pt x="438176" y="405089"/>
                  </a:moveTo>
                  <a:lnTo>
                    <a:pt x="440978" y="414146"/>
                  </a:lnTo>
                  <a:lnTo>
                    <a:pt x="441095" y="414527"/>
                  </a:lnTo>
                  <a:lnTo>
                    <a:pt x="474124" y="414527"/>
                  </a:lnTo>
                  <a:lnTo>
                    <a:pt x="475488" y="413003"/>
                  </a:lnTo>
                  <a:lnTo>
                    <a:pt x="438176" y="405089"/>
                  </a:lnTo>
                  <a:close/>
                </a:path>
                <a:path w="487679" h="414654">
                  <a:moveTo>
                    <a:pt x="425239" y="363260"/>
                  </a:moveTo>
                  <a:lnTo>
                    <a:pt x="438176" y="405089"/>
                  </a:lnTo>
                  <a:lnTo>
                    <a:pt x="475488" y="413003"/>
                  </a:lnTo>
                  <a:lnTo>
                    <a:pt x="474124" y="414527"/>
                  </a:lnTo>
                  <a:lnTo>
                    <a:pt x="481168" y="414527"/>
                  </a:lnTo>
                  <a:lnTo>
                    <a:pt x="425239" y="363260"/>
                  </a:lnTo>
                  <a:close/>
                </a:path>
                <a:path w="487679" h="414654">
                  <a:moveTo>
                    <a:pt x="427243" y="265414"/>
                  </a:moveTo>
                  <a:lnTo>
                    <a:pt x="419100" y="266700"/>
                  </a:lnTo>
                  <a:lnTo>
                    <a:pt x="411146" y="270557"/>
                  </a:lnTo>
                  <a:lnTo>
                    <a:pt x="405765" y="276986"/>
                  </a:lnTo>
                  <a:lnTo>
                    <a:pt x="403240" y="285130"/>
                  </a:lnTo>
                  <a:lnTo>
                    <a:pt x="403860" y="294131"/>
                  </a:lnTo>
                  <a:lnTo>
                    <a:pt x="425239" y="363260"/>
                  </a:lnTo>
                  <a:lnTo>
                    <a:pt x="481168" y="414527"/>
                  </a:lnTo>
                  <a:lnTo>
                    <a:pt x="487541" y="414527"/>
                  </a:lnTo>
                  <a:lnTo>
                    <a:pt x="446532" y="280415"/>
                  </a:lnTo>
                  <a:lnTo>
                    <a:pt x="441817" y="273129"/>
                  </a:lnTo>
                  <a:lnTo>
                    <a:pt x="435101" y="267843"/>
                  </a:lnTo>
                  <a:lnTo>
                    <a:pt x="427243" y="265414"/>
                  </a:lnTo>
                  <a:close/>
                </a:path>
                <a:path w="487679" h="414654">
                  <a:moveTo>
                    <a:pt x="28956" y="0"/>
                  </a:moveTo>
                  <a:lnTo>
                    <a:pt x="0" y="33527"/>
                  </a:lnTo>
                  <a:lnTo>
                    <a:pt x="395609" y="396060"/>
                  </a:lnTo>
                  <a:lnTo>
                    <a:pt x="438176" y="405089"/>
                  </a:lnTo>
                  <a:lnTo>
                    <a:pt x="425239" y="363260"/>
                  </a:lnTo>
                  <a:lnTo>
                    <a:pt x="2895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57200" y="3886199"/>
              <a:ext cx="9144000" cy="3429000"/>
            </a:xfrm>
            <a:custGeom>
              <a:avLst/>
              <a:gdLst/>
              <a:ahLst/>
              <a:cxnLst/>
              <a:rect l="l" t="t" r="r" b="b"/>
              <a:pathLst>
                <a:path w="9144000" h="3429000">
                  <a:moveTo>
                    <a:pt x="9144000" y="0"/>
                  </a:moveTo>
                  <a:lnTo>
                    <a:pt x="0" y="0"/>
                  </a:lnTo>
                  <a:lnTo>
                    <a:pt x="0" y="3429000"/>
                  </a:lnTo>
                  <a:lnTo>
                    <a:pt x="9144000" y="342900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7065264" y="3532444"/>
          <a:ext cx="1827528" cy="16935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11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4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22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92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258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Tahoma"/>
                          <a:cs typeface="Tahoma"/>
                        </a:rPr>
                        <a:t>0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2725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Tahoma"/>
                          <a:cs typeface="Tahoma"/>
                        </a:rPr>
                        <a:t>1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8110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Tahoma"/>
                          <a:cs typeface="Tahoma"/>
                        </a:rPr>
                        <a:t>2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7795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Tahoma"/>
                          <a:cs typeface="Tahoma"/>
                        </a:rPr>
                        <a:t>3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13525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800" spc="-50" dirty="0">
                          <a:latin typeface="Tahoma"/>
                          <a:cs typeface="Tahoma"/>
                        </a:rPr>
                        <a:t>0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4254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573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800" spc="-50" dirty="0">
                          <a:latin typeface="Tahoma"/>
                          <a:cs typeface="Tahoma"/>
                        </a:rPr>
                        <a:t>1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1079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800" spc="-50" dirty="0">
                          <a:latin typeface="Tahoma"/>
                          <a:cs typeface="Tahoma"/>
                        </a:rPr>
                        <a:t>0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107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800" spc="-50" dirty="0">
                          <a:latin typeface="Tahoma"/>
                          <a:cs typeface="Tahoma"/>
                        </a:rPr>
                        <a:t>2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1079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0385">
                <a:tc>
                  <a:txBody>
                    <a:bodyPr/>
                    <a:lstStyle/>
                    <a:p>
                      <a:pPr marL="135255">
                        <a:lnSpc>
                          <a:spcPct val="100000"/>
                        </a:lnSpc>
                        <a:spcBef>
                          <a:spcPts val="1175"/>
                        </a:spcBef>
                      </a:pPr>
                      <a:r>
                        <a:rPr sz="1800" spc="-10" dirty="0">
                          <a:latin typeface="Tahoma"/>
                          <a:cs typeface="Tahoma"/>
                        </a:rPr>
                        <a:t>-</a:t>
                      </a:r>
                      <a:r>
                        <a:rPr sz="1800" spc="-60" dirty="0">
                          <a:latin typeface="Tahoma"/>
                          <a:cs typeface="Tahoma"/>
                        </a:rPr>
                        <a:t>1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14922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5735">
                        <a:lnSpc>
                          <a:spcPct val="100000"/>
                        </a:lnSpc>
                        <a:spcBef>
                          <a:spcPts val="1175"/>
                        </a:spcBef>
                      </a:pPr>
                      <a:r>
                        <a:rPr sz="1800" spc="-50" dirty="0">
                          <a:latin typeface="Tahoma"/>
                          <a:cs typeface="Tahoma"/>
                        </a:rPr>
                        <a:t>2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14922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1175"/>
                        </a:spcBef>
                      </a:pPr>
                      <a:r>
                        <a:rPr sz="1800" spc="-50" dirty="0">
                          <a:latin typeface="Tahoma"/>
                          <a:cs typeface="Tahoma"/>
                        </a:rPr>
                        <a:t>4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1492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1175"/>
                        </a:spcBef>
                      </a:pPr>
                      <a:r>
                        <a:rPr sz="1800" spc="-50" dirty="0">
                          <a:latin typeface="Tahoma"/>
                          <a:cs typeface="Tahoma"/>
                        </a:rPr>
                        <a:t>3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14922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9580">
                <a:tc>
                  <a:txBody>
                    <a:bodyPr/>
                    <a:lstStyle/>
                    <a:p>
                      <a:pPr marL="13525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800" spc="-50" dirty="0">
                          <a:latin typeface="Tahoma"/>
                          <a:cs typeface="Tahoma"/>
                        </a:rPr>
                        <a:t>0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4254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573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800" spc="-10" dirty="0">
                          <a:latin typeface="Tahoma"/>
                          <a:cs typeface="Tahoma"/>
                        </a:rPr>
                        <a:t>-</a:t>
                      </a:r>
                      <a:r>
                        <a:rPr sz="1800" spc="-60" dirty="0">
                          <a:latin typeface="Tahoma"/>
                          <a:cs typeface="Tahoma"/>
                        </a:rPr>
                        <a:t>1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4254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800" spc="-50" dirty="0">
                          <a:latin typeface="Tahoma"/>
                          <a:cs typeface="Tahoma"/>
                        </a:rPr>
                        <a:t>3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800" spc="-50" dirty="0">
                          <a:latin typeface="Tahoma"/>
                          <a:cs typeface="Tahoma"/>
                        </a:rPr>
                        <a:t>1</a:t>
                      </a:r>
                      <a:endParaRPr sz="1800" dirty="0">
                        <a:latin typeface="Tahoma"/>
                        <a:cs typeface="Tahoma"/>
                      </a:endParaRPr>
                    </a:p>
                  </a:txBody>
                  <a:tcPr marL="0" marR="0" marT="4254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object 9"/>
          <p:cNvSpPr txBox="1"/>
          <p:nvPr/>
        </p:nvSpPr>
        <p:spPr>
          <a:xfrm>
            <a:off x="6549720" y="3948252"/>
            <a:ext cx="1504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Tahoma"/>
                <a:cs typeface="Tahoma"/>
              </a:rPr>
              <a:t>0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549720" y="4304639"/>
            <a:ext cx="150495" cy="897890"/>
          </a:xfrm>
          <a:prstGeom prst="rect">
            <a:avLst/>
          </a:prstGeom>
        </p:spPr>
        <p:txBody>
          <a:bodyPr vert="horz" wrap="square" lIns="0" tIns="1739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70"/>
              </a:spcBef>
            </a:pPr>
            <a:r>
              <a:rPr sz="1800" spc="-50" dirty="0">
                <a:latin typeface="Tahoma"/>
                <a:cs typeface="Tahoma"/>
              </a:rPr>
              <a:t>1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275"/>
              </a:spcBef>
            </a:pPr>
            <a:r>
              <a:rPr sz="1800" spc="-50" dirty="0">
                <a:latin typeface="Tahoma"/>
                <a:cs typeface="Tahoma"/>
              </a:rPr>
              <a:t>2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800100" y="3886200"/>
            <a:ext cx="5339080" cy="3050540"/>
          </a:xfrm>
          <a:custGeom>
            <a:avLst/>
            <a:gdLst/>
            <a:ahLst/>
            <a:cxnLst/>
            <a:rect l="l" t="t" r="r" b="b"/>
            <a:pathLst>
              <a:path w="5339080" h="3050540">
                <a:moveTo>
                  <a:pt x="5338572" y="0"/>
                </a:moveTo>
                <a:lnTo>
                  <a:pt x="5327904" y="0"/>
                </a:lnTo>
                <a:lnTo>
                  <a:pt x="5327904" y="3040380"/>
                </a:lnTo>
                <a:lnTo>
                  <a:pt x="5327904" y="3044952"/>
                </a:lnTo>
                <a:lnTo>
                  <a:pt x="5327904" y="3045460"/>
                </a:lnTo>
                <a:lnTo>
                  <a:pt x="8623" y="3045460"/>
                </a:lnTo>
                <a:lnTo>
                  <a:pt x="8623" y="3042920"/>
                </a:lnTo>
                <a:lnTo>
                  <a:pt x="10668" y="3044952"/>
                </a:lnTo>
                <a:lnTo>
                  <a:pt x="5327904" y="3044952"/>
                </a:lnTo>
                <a:lnTo>
                  <a:pt x="5327904" y="3040392"/>
                </a:lnTo>
                <a:lnTo>
                  <a:pt x="10668" y="3040392"/>
                </a:lnTo>
                <a:lnTo>
                  <a:pt x="8623" y="3040392"/>
                </a:lnTo>
                <a:lnTo>
                  <a:pt x="10668" y="3040380"/>
                </a:lnTo>
                <a:lnTo>
                  <a:pt x="10668" y="0"/>
                </a:lnTo>
                <a:lnTo>
                  <a:pt x="0" y="0"/>
                </a:lnTo>
                <a:lnTo>
                  <a:pt x="0" y="3040380"/>
                </a:lnTo>
                <a:lnTo>
                  <a:pt x="0" y="3045460"/>
                </a:lnTo>
                <a:lnTo>
                  <a:pt x="0" y="3050540"/>
                </a:lnTo>
                <a:lnTo>
                  <a:pt x="5338572" y="3050540"/>
                </a:lnTo>
                <a:lnTo>
                  <a:pt x="5338572" y="3045460"/>
                </a:lnTo>
                <a:lnTo>
                  <a:pt x="5329936" y="3045460"/>
                </a:lnTo>
                <a:lnTo>
                  <a:pt x="5329936" y="3044952"/>
                </a:lnTo>
                <a:lnTo>
                  <a:pt x="5338572" y="3044952"/>
                </a:lnTo>
                <a:lnTo>
                  <a:pt x="5338572" y="3040392"/>
                </a:lnTo>
                <a:lnTo>
                  <a:pt x="5332463" y="3040392"/>
                </a:lnTo>
                <a:lnTo>
                  <a:pt x="5329936" y="3042920"/>
                </a:lnTo>
                <a:lnTo>
                  <a:pt x="5329936" y="3040380"/>
                </a:lnTo>
                <a:lnTo>
                  <a:pt x="5338572" y="3040380"/>
                </a:lnTo>
                <a:lnTo>
                  <a:pt x="533857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883411" y="3477175"/>
            <a:ext cx="4319087" cy="133677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7825" marR="5080" indent="-365760">
              <a:lnSpc>
                <a:spcPct val="120000"/>
              </a:lnSpc>
              <a:spcBef>
                <a:spcPts val="100"/>
              </a:spcBef>
            </a:pPr>
            <a:r>
              <a:rPr lang="fr-FR" sz="2400" b="1" dirty="0" err="1">
                <a:latin typeface="Courier New"/>
                <a:cs typeface="Courier New"/>
              </a:rPr>
              <a:t>int</a:t>
            </a:r>
            <a:r>
              <a:rPr lang="fr-FR" sz="2400" b="1" spc="-15" dirty="0">
                <a:latin typeface="Courier New"/>
                <a:cs typeface="Courier New"/>
              </a:rPr>
              <a:t> </a:t>
            </a:r>
            <a:r>
              <a:rPr lang="fr-FR" sz="2400" b="1" dirty="0">
                <a:latin typeface="Courier New"/>
                <a:cs typeface="Courier New"/>
              </a:rPr>
              <a:t>max</a:t>
            </a:r>
            <a:r>
              <a:rPr lang="fr-FR" sz="2400" b="1" spc="-30" dirty="0">
                <a:latin typeface="Courier New"/>
                <a:cs typeface="Courier New"/>
              </a:rPr>
              <a:t> </a:t>
            </a:r>
            <a:r>
              <a:rPr lang="fr-FR" sz="2400" b="1" dirty="0">
                <a:latin typeface="Courier New"/>
                <a:cs typeface="Courier New"/>
              </a:rPr>
              <a:t>=</a:t>
            </a:r>
            <a:r>
              <a:rPr lang="fr-FR" sz="2400" b="1" spc="-10" dirty="0">
                <a:latin typeface="Courier New"/>
                <a:cs typeface="Courier New"/>
              </a:rPr>
              <a:t> matrix[0][0];</a:t>
            </a:r>
            <a:endParaRPr lang="en-US" sz="2400" b="1" dirty="0">
              <a:latin typeface="Courier New"/>
              <a:cs typeface="Courier New"/>
            </a:endParaRPr>
          </a:p>
          <a:p>
            <a:pPr marL="377825" marR="5080" indent="-365760">
              <a:lnSpc>
                <a:spcPct val="120000"/>
              </a:lnSpc>
              <a:spcBef>
                <a:spcPts val="100"/>
              </a:spcBef>
            </a:pPr>
            <a:r>
              <a:rPr sz="2400" b="1" dirty="0">
                <a:latin typeface="Courier New"/>
                <a:cs typeface="Courier New"/>
              </a:rPr>
              <a:t>for</a:t>
            </a:r>
            <a:r>
              <a:rPr sz="2400" b="1" spc="-30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(i=0;</a:t>
            </a:r>
            <a:r>
              <a:rPr sz="2400" b="1" spc="-25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i&lt;3;</a:t>
            </a:r>
            <a:r>
              <a:rPr sz="2400" b="1" spc="-35" dirty="0">
                <a:latin typeface="Courier New"/>
                <a:cs typeface="Courier New"/>
              </a:rPr>
              <a:t> </a:t>
            </a:r>
            <a:r>
              <a:rPr sz="2400" b="1" spc="-20" dirty="0">
                <a:latin typeface="Courier New"/>
                <a:cs typeface="Courier New"/>
              </a:rPr>
              <a:t>i++) </a:t>
            </a:r>
            <a:endParaRPr lang="en-US" sz="2400" b="1" spc="-20" dirty="0">
              <a:latin typeface="Courier New"/>
              <a:cs typeface="Courier New"/>
            </a:endParaRPr>
          </a:p>
          <a:p>
            <a:pPr marL="377825" marR="5080" indent="-365760">
              <a:lnSpc>
                <a:spcPct val="120000"/>
              </a:lnSpc>
              <a:spcBef>
                <a:spcPts val="100"/>
              </a:spcBef>
            </a:pPr>
            <a:r>
              <a:rPr lang="en-US" sz="2400" b="1" spc="-20" dirty="0">
                <a:latin typeface="Courier New"/>
                <a:cs typeface="Courier New"/>
              </a:rPr>
              <a:t>	</a:t>
            </a:r>
            <a:r>
              <a:rPr sz="2400" b="1" dirty="0">
                <a:latin typeface="Courier New"/>
                <a:cs typeface="Courier New"/>
              </a:rPr>
              <a:t>for</a:t>
            </a:r>
            <a:r>
              <a:rPr sz="2400" b="1" spc="-45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(j=0;</a:t>
            </a:r>
            <a:r>
              <a:rPr sz="2400" b="1" spc="-30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j&lt;4;</a:t>
            </a:r>
            <a:r>
              <a:rPr sz="2400" b="1" spc="-35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j++){</a:t>
            </a:r>
            <a:endParaRPr sz="2400" dirty="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614932" y="4851908"/>
            <a:ext cx="4405630" cy="9036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43585" marR="5080" indent="-731520">
              <a:lnSpc>
                <a:spcPct val="120000"/>
              </a:lnSpc>
              <a:spcBef>
                <a:spcPts val="100"/>
              </a:spcBef>
            </a:pPr>
            <a:r>
              <a:rPr sz="2400" b="1" dirty="0">
                <a:latin typeface="Courier New"/>
                <a:cs typeface="Courier New"/>
              </a:rPr>
              <a:t>if</a:t>
            </a:r>
            <a:r>
              <a:rPr sz="2400" b="1" spc="-50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(matrix[i][j]</a:t>
            </a:r>
            <a:r>
              <a:rPr sz="2400" b="1" spc="-35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&gt;</a:t>
            </a:r>
            <a:r>
              <a:rPr sz="2400" b="1" spc="-45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max){ </a:t>
            </a:r>
            <a:r>
              <a:rPr sz="2400" b="1" dirty="0">
                <a:latin typeface="Courier New"/>
                <a:cs typeface="Courier New"/>
              </a:rPr>
              <a:t>max</a:t>
            </a:r>
            <a:r>
              <a:rPr sz="2400" b="1" spc="-20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=</a:t>
            </a:r>
            <a:r>
              <a:rPr sz="2400" b="1" spc="-20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matrix[i][j];</a:t>
            </a:r>
            <a:endParaRPr sz="2400" dirty="0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83411" y="5729732"/>
            <a:ext cx="1123315" cy="90360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927100">
              <a:lnSpc>
                <a:spcPct val="100000"/>
              </a:lnSpc>
              <a:spcBef>
                <a:spcPts val="675"/>
              </a:spcBef>
            </a:pPr>
            <a:r>
              <a:rPr sz="2400" b="1" spc="-50" dirty="0">
                <a:latin typeface="Courier New"/>
                <a:cs typeface="Courier New"/>
              </a:rPr>
              <a:t>}</a:t>
            </a:r>
            <a:endParaRPr sz="2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z="2400" b="1" spc="-50" dirty="0">
                <a:latin typeface="Courier New"/>
                <a:cs typeface="Courier New"/>
              </a:rPr>
              <a:t>}</a:t>
            </a:r>
            <a:endParaRPr sz="2400">
              <a:latin typeface="Courier New"/>
              <a:cs typeface="Courier New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7056119" y="3886200"/>
            <a:ext cx="1899285" cy="1203960"/>
            <a:chOff x="7056119" y="3886200"/>
            <a:chExt cx="1899285" cy="1203960"/>
          </a:xfrm>
        </p:grpSpPr>
        <p:sp>
          <p:nvSpPr>
            <p:cNvPr id="16" name="object 16"/>
            <p:cNvSpPr/>
            <p:nvPr/>
          </p:nvSpPr>
          <p:spPr>
            <a:xfrm>
              <a:off x="7078979" y="3924553"/>
              <a:ext cx="1876425" cy="542290"/>
            </a:xfrm>
            <a:custGeom>
              <a:avLst/>
              <a:gdLst/>
              <a:ahLst/>
              <a:cxnLst/>
              <a:rect l="l" t="t" r="r" b="b"/>
              <a:pathLst>
                <a:path w="1876425" h="542289">
                  <a:moveTo>
                    <a:pt x="1750082" y="461010"/>
                  </a:moveTo>
                  <a:lnTo>
                    <a:pt x="1744979" y="461010"/>
                  </a:lnTo>
                  <a:lnTo>
                    <a:pt x="1744979" y="487679"/>
                  </a:lnTo>
                  <a:lnTo>
                    <a:pt x="1694742" y="489400"/>
                  </a:lnTo>
                  <a:lnTo>
                    <a:pt x="1653540" y="515619"/>
                  </a:lnTo>
                  <a:lnTo>
                    <a:pt x="1645920" y="518160"/>
                  </a:lnTo>
                  <a:lnTo>
                    <a:pt x="1644396" y="527050"/>
                  </a:lnTo>
                  <a:lnTo>
                    <a:pt x="1648968" y="533400"/>
                  </a:lnTo>
                  <a:lnTo>
                    <a:pt x="1653540" y="541019"/>
                  </a:lnTo>
                  <a:lnTo>
                    <a:pt x="1661160" y="542289"/>
                  </a:lnTo>
                  <a:lnTo>
                    <a:pt x="1668779" y="538479"/>
                  </a:lnTo>
                  <a:lnTo>
                    <a:pt x="1773936" y="473710"/>
                  </a:lnTo>
                  <a:lnTo>
                    <a:pt x="1750082" y="461010"/>
                  </a:lnTo>
                  <a:close/>
                </a:path>
                <a:path w="1876425" h="542289">
                  <a:moveTo>
                    <a:pt x="579120" y="245110"/>
                  </a:moveTo>
                  <a:lnTo>
                    <a:pt x="339851" y="245110"/>
                  </a:lnTo>
                  <a:lnTo>
                    <a:pt x="323088" y="247650"/>
                  </a:lnTo>
                  <a:lnTo>
                    <a:pt x="306324" y="247650"/>
                  </a:lnTo>
                  <a:lnTo>
                    <a:pt x="289560" y="248919"/>
                  </a:lnTo>
                  <a:lnTo>
                    <a:pt x="274320" y="248919"/>
                  </a:lnTo>
                  <a:lnTo>
                    <a:pt x="246888" y="251460"/>
                  </a:lnTo>
                  <a:lnTo>
                    <a:pt x="234696" y="252729"/>
                  </a:lnTo>
                  <a:lnTo>
                    <a:pt x="211836" y="257810"/>
                  </a:lnTo>
                  <a:lnTo>
                    <a:pt x="188975" y="260350"/>
                  </a:lnTo>
                  <a:lnTo>
                    <a:pt x="111251" y="283210"/>
                  </a:lnTo>
                  <a:lnTo>
                    <a:pt x="65531" y="304800"/>
                  </a:lnTo>
                  <a:lnTo>
                    <a:pt x="30479" y="328929"/>
                  </a:lnTo>
                  <a:lnTo>
                    <a:pt x="9144" y="356869"/>
                  </a:lnTo>
                  <a:lnTo>
                    <a:pt x="7620" y="356869"/>
                  </a:lnTo>
                  <a:lnTo>
                    <a:pt x="7620" y="358139"/>
                  </a:lnTo>
                  <a:lnTo>
                    <a:pt x="3048" y="367029"/>
                  </a:lnTo>
                  <a:lnTo>
                    <a:pt x="3048" y="369569"/>
                  </a:lnTo>
                  <a:lnTo>
                    <a:pt x="0" y="377189"/>
                  </a:lnTo>
                  <a:lnTo>
                    <a:pt x="0" y="401319"/>
                  </a:lnTo>
                  <a:lnTo>
                    <a:pt x="3048" y="408939"/>
                  </a:lnTo>
                  <a:lnTo>
                    <a:pt x="3048" y="410210"/>
                  </a:lnTo>
                  <a:lnTo>
                    <a:pt x="4622" y="411607"/>
                  </a:lnTo>
                  <a:lnTo>
                    <a:pt x="7620" y="419100"/>
                  </a:lnTo>
                  <a:lnTo>
                    <a:pt x="7620" y="420369"/>
                  </a:lnTo>
                  <a:lnTo>
                    <a:pt x="9144" y="420369"/>
                  </a:lnTo>
                  <a:lnTo>
                    <a:pt x="15240" y="427989"/>
                  </a:lnTo>
                  <a:lnTo>
                    <a:pt x="15240" y="430529"/>
                  </a:lnTo>
                  <a:lnTo>
                    <a:pt x="22860" y="438150"/>
                  </a:lnTo>
                  <a:lnTo>
                    <a:pt x="33527" y="447039"/>
                  </a:lnTo>
                  <a:lnTo>
                    <a:pt x="44196" y="454660"/>
                  </a:lnTo>
                  <a:lnTo>
                    <a:pt x="57912" y="461010"/>
                  </a:lnTo>
                  <a:lnTo>
                    <a:pt x="73151" y="468629"/>
                  </a:lnTo>
                  <a:lnTo>
                    <a:pt x="89916" y="473710"/>
                  </a:lnTo>
                  <a:lnTo>
                    <a:pt x="108203" y="478789"/>
                  </a:lnTo>
                  <a:lnTo>
                    <a:pt x="128016" y="483869"/>
                  </a:lnTo>
                  <a:lnTo>
                    <a:pt x="149351" y="487679"/>
                  </a:lnTo>
                  <a:lnTo>
                    <a:pt x="173736" y="492760"/>
                  </a:lnTo>
                  <a:lnTo>
                    <a:pt x="199644" y="495300"/>
                  </a:lnTo>
                  <a:lnTo>
                    <a:pt x="227075" y="496569"/>
                  </a:lnTo>
                  <a:lnTo>
                    <a:pt x="257555" y="500379"/>
                  </a:lnTo>
                  <a:lnTo>
                    <a:pt x="289560" y="502919"/>
                  </a:lnTo>
                  <a:lnTo>
                    <a:pt x="323088" y="504189"/>
                  </a:lnTo>
                  <a:lnTo>
                    <a:pt x="359664" y="506729"/>
                  </a:lnTo>
                  <a:lnTo>
                    <a:pt x="438912" y="509269"/>
                  </a:lnTo>
                  <a:lnTo>
                    <a:pt x="480060" y="509269"/>
                  </a:lnTo>
                  <a:lnTo>
                    <a:pt x="524255" y="510539"/>
                  </a:lnTo>
                  <a:lnTo>
                    <a:pt x="819912" y="510539"/>
                  </a:lnTo>
                  <a:lnTo>
                    <a:pt x="928116" y="509269"/>
                  </a:lnTo>
                  <a:lnTo>
                    <a:pt x="1522476" y="495300"/>
                  </a:lnTo>
                  <a:lnTo>
                    <a:pt x="1694742" y="489400"/>
                  </a:lnTo>
                  <a:lnTo>
                    <a:pt x="1707424" y="481329"/>
                  </a:lnTo>
                  <a:lnTo>
                    <a:pt x="524255" y="481329"/>
                  </a:lnTo>
                  <a:lnTo>
                    <a:pt x="481584" y="480060"/>
                  </a:lnTo>
                  <a:lnTo>
                    <a:pt x="438912" y="480060"/>
                  </a:lnTo>
                  <a:lnTo>
                    <a:pt x="361188" y="477519"/>
                  </a:lnTo>
                  <a:lnTo>
                    <a:pt x="291084" y="473710"/>
                  </a:lnTo>
                  <a:lnTo>
                    <a:pt x="259079" y="471169"/>
                  </a:lnTo>
                  <a:lnTo>
                    <a:pt x="230124" y="469900"/>
                  </a:lnTo>
                  <a:lnTo>
                    <a:pt x="202692" y="466089"/>
                  </a:lnTo>
                  <a:lnTo>
                    <a:pt x="155448" y="461010"/>
                  </a:lnTo>
                  <a:lnTo>
                    <a:pt x="134112" y="455929"/>
                  </a:lnTo>
                  <a:lnTo>
                    <a:pt x="115824" y="450850"/>
                  </a:lnTo>
                  <a:lnTo>
                    <a:pt x="99060" y="447039"/>
                  </a:lnTo>
                  <a:lnTo>
                    <a:pt x="83820" y="441960"/>
                  </a:lnTo>
                  <a:lnTo>
                    <a:pt x="71627" y="435610"/>
                  </a:lnTo>
                  <a:lnTo>
                    <a:pt x="60960" y="430529"/>
                  </a:lnTo>
                  <a:lnTo>
                    <a:pt x="51816" y="424179"/>
                  </a:lnTo>
                  <a:lnTo>
                    <a:pt x="44196" y="417829"/>
                  </a:lnTo>
                  <a:lnTo>
                    <a:pt x="36575" y="410210"/>
                  </a:lnTo>
                  <a:lnTo>
                    <a:pt x="37084" y="410210"/>
                  </a:lnTo>
                  <a:lnTo>
                    <a:pt x="35051" y="407669"/>
                  </a:lnTo>
                  <a:lnTo>
                    <a:pt x="33527" y="407669"/>
                  </a:lnTo>
                  <a:lnTo>
                    <a:pt x="28955" y="400050"/>
                  </a:lnTo>
                  <a:lnTo>
                    <a:pt x="29972" y="400050"/>
                  </a:lnTo>
                  <a:lnTo>
                    <a:pt x="27431" y="393700"/>
                  </a:lnTo>
                  <a:lnTo>
                    <a:pt x="28520" y="393700"/>
                  </a:lnTo>
                  <a:lnTo>
                    <a:pt x="27867" y="389889"/>
                  </a:lnTo>
                  <a:lnTo>
                    <a:pt x="27431" y="389889"/>
                  </a:lnTo>
                  <a:lnTo>
                    <a:pt x="27431" y="387350"/>
                  </a:lnTo>
                  <a:lnTo>
                    <a:pt x="27939" y="387350"/>
                  </a:lnTo>
                  <a:lnTo>
                    <a:pt x="28955" y="382269"/>
                  </a:lnTo>
                  <a:lnTo>
                    <a:pt x="29463" y="382269"/>
                  </a:lnTo>
                  <a:lnTo>
                    <a:pt x="30479" y="377189"/>
                  </a:lnTo>
                  <a:lnTo>
                    <a:pt x="30987" y="377189"/>
                  </a:lnTo>
                  <a:lnTo>
                    <a:pt x="33020" y="372110"/>
                  </a:lnTo>
                  <a:lnTo>
                    <a:pt x="32003" y="372110"/>
                  </a:lnTo>
                  <a:lnTo>
                    <a:pt x="36575" y="365760"/>
                  </a:lnTo>
                  <a:lnTo>
                    <a:pt x="48768" y="350519"/>
                  </a:lnTo>
                  <a:lnTo>
                    <a:pt x="57912" y="344169"/>
                  </a:lnTo>
                  <a:lnTo>
                    <a:pt x="79248" y="328929"/>
                  </a:lnTo>
                  <a:lnTo>
                    <a:pt x="137160" y="304800"/>
                  </a:lnTo>
                  <a:lnTo>
                    <a:pt x="195072" y="289560"/>
                  </a:lnTo>
                  <a:lnTo>
                    <a:pt x="237744" y="281939"/>
                  </a:lnTo>
                  <a:lnTo>
                    <a:pt x="277368" y="278129"/>
                  </a:lnTo>
                  <a:lnTo>
                    <a:pt x="291084" y="275589"/>
                  </a:lnTo>
                  <a:lnTo>
                    <a:pt x="307848" y="275589"/>
                  </a:lnTo>
                  <a:lnTo>
                    <a:pt x="324612" y="274319"/>
                  </a:lnTo>
                  <a:lnTo>
                    <a:pt x="359664" y="274319"/>
                  </a:lnTo>
                  <a:lnTo>
                    <a:pt x="377951" y="273050"/>
                  </a:lnTo>
                  <a:lnTo>
                    <a:pt x="1730044" y="273050"/>
                  </a:lnTo>
                  <a:lnTo>
                    <a:pt x="1734312" y="271779"/>
                  </a:lnTo>
                  <a:lnTo>
                    <a:pt x="1745284" y="267969"/>
                  </a:lnTo>
                  <a:lnTo>
                    <a:pt x="1327403" y="267969"/>
                  </a:lnTo>
                  <a:lnTo>
                    <a:pt x="1120140" y="262889"/>
                  </a:lnTo>
                  <a:lnTo>
                    <a:pt x="1065276" y="260350"/>
                  </a:lnTo>
                  <a:lnTo>
                    <a:pt x="954024" y="257810"/>
                  </a:lnTo>
                  <a:lnTo>
                    <a:pt x="844296" y="252729"/>
                  </a:lnTo>
                  <a:lnTo>
                    <a:pt x="629412" y="247650"/>
                  </a:lnTo>
                  <a:lnTo>
                    <a:pt x="579120" y="245110"/>
                  </a:lnTo>
                  <a:close/>
                </a:path>
                <a:path w="1876425" h="542289">
                  <a:moveTo>
                    <a:pt x="1717393" y="474985"/>
                  </a:moveTo>
                  <a:lnTo>
                    <a:pt x="1694742" y="489400"/>
                  </a:lnTo>
                  <a:lnTo>
                    <a:pt x="1744979" y="487679"/>
                  </a:lnTo>
                  <a:lnTo>
                    <a:pt x="1744979" y="486410"/>
                  </a:lnTo>
                  <a:lnTo>
                    <a:pt x="1738884" y="486410"/>
                  </a:lnTo>
                  <a:lnTo>
                    <a:pt x="1717393" y="474985"/>
                  </a:lnTo>
                  <a:close/>
                </a:path>
                <a:path w="1876425" h="542289">
                  <a:moveTo>
                    <a:pt x="1737360" y="462279"/>
                  </a:moveTo>
                  <a:lnTo>
                    <a:pt x="1717393" y="474985"/>
                  </a:lnTo>
                  <a:lnTo>
                    <a:pt x="1738884" y="486410"/>
                  </a:lnTo>
                  <a:lnTo>
                    <a:pt x="1737440" y="463550"/>
                  </a:lnTo>
                  <a:lnTo>
                    <a:pt x="1737360" y="462279"/>
                  </a:lnTo>
                  <a:close/>
                </a:path>
                <a:path w="1876425" h="542289">
                  <a:moveTo>
                    <a:pt x="1744979" y="462279"/>
                  </a:moveTo>
                  <a:lnTo>
                    <a:pt x="1737360" y="462279"/>
                  </a:lnTo>
                  <a:lnTo>
                    <a:pt x="1738884" y="486410"/>
                  </a:lnTo>
                  <a:lnTo>
                    <a:pt x="1744979" y="486410"/>
                  </a:lnTo>
                  <a:lnTo>
                    <a:pt x="1744979" y="462279"/>
                  </a:lnTo>
                  <a:close/>
                </a:path>
                <a:path w="1876425" h="542289">
                  <a:moveTo>
                    <a:pt x="1744979" y="461010"/>
                  </a:moveTo>
                  <a:lnTo>
                    <a:pt x="1040892" y="478789"/>
                  </a:lnTo>
                  <a:lnTo>
                    <a:pt x="818388" y="481329"/>
                  </a:lnTo>
                  <a:lnTo>
                    <a:pt x="1707424" y="481329"/>
                  </a:lnTo>
                  <a:lnTo>
                    <a:pt x="1717393" y="474985"/>
                  </a:lnTo>
                  <a:lnTo>
                    <a:pt x="1693493" y="462279"/>
                  </a:lnTo>
                  <a:lnTo>
                    <a:pt x="1744979" y="462279"/>
                  </a:lnTo>
                  <a:lnTo>
                    <a:pt x="1744979" y="461010"/>
                  </a:lnTo>
                  <a:close/>
                </a:path>
                <a:path w="1876425" h="542289">
                  <a:moveTo>
                    <a:pt x="1658112" y="410210"/>
                  </a:moveTo>
                  <a:lnTo>
                    <a:pt x="1648968" y="412750"/>
                  </a:lnTo>
                  <a:lnTo>
                    <a:pt x="1645920" y="419100"/>
                  </a:lnTo>
                  <a:lnTo>
                    <a:pt x="1641348" y="426719"/>
                  </a:lnTo>
                  <a:lnTo>
                    <a:pt x="1644396" y="435610"/>
                  </a:lnTo>
                  <a:lnTo>
                    <a:pt x="1650492" y="439419"/>
                  </a:lnTo>
                  <a:lnTo>
                    <a:pt x="1717393" y="474985"/>
                  </a:lnTo>
                  <a:lnTo>
                    <a:pt x="1737360" y="462279"/>
                  </a:lnTo>
                  <a:lnTo>
                    <a:pt x="1689354" y="462279"/>
                  </a:lnTo>
                  <a:lnTo>
                    <a:pt x="1744979" y="461010"/>
                  </a:lnTo>
                  <a:lnTo>
                    <a:pt x="1750082" y="461010"/>
                  </a:lnTo>
                  <a:lnTo>
                    <a:pt x="1664208" y="415289"/>
                  </a:lnTo>
                  <a:lnTo>
                    <a:pt x="1658112" y="410210"/>
                  </a:lnTo>
                  <a:close/>
                </a:path>
                <a:path w="1876425" h="542289">
                  <a:moveTo>
                    <a:pt x="37084" y="410210"/>
                  </a:moveTo>
                  <a:lnTo>
                    <a:pt x="36575" y="410210"/>
                  </a:lnTo>
                  <a:lnTo>
                    <a:pt x="39116" y="412750"/>
                  </a:lnTo>
                  <a:lnTo>
                    <a:pt x="37084" y="410210"/>
                  </a:lnTo>
                  <a:close/>
                </a:path>
                <a:path w="1876425" h="542289">
                  <a:moveTo>
                    <a:pt x="32003" y="403860"/>
                  </a:moveTo>
                  <a:lnTo>
                    <a:pt x="33527" y="407669"/>
                  </a:lnTo>
                  <a:lnTo>
                    <a:pt x="35051" y="407669"/>
                  </a:lnTo>
                  <a:lnTo>
                    <a:pt x="32003" y="403860"/>
                  </a:lnTo>
                  <a:close/>
                </a:path>
                <a:path w="1876425" h="542289">
                  <a:moveTo>
                    <a:pt x="29972" y="400050"/>
                  </a:moveTo>
                  <a:lnTo>
                    <a:pt x="28955" y="400050"/>
                  </a:lnTo>
                  <a:lnTo>
                    <a:pt x="30479" y="401319"/>
                  </a:lnTo>
                  <a:lnTo>
                    <a:pt x="29972" y="400050"/>
                  </a:lnTo>
                  <a:close/>
                </a:path>
                <a:path w="1876425" h="542289">
                  <a:moveTo>
                    <a:pt x="28520" y="393700"/>
                  </a:moveTo>
                  <a:lnTo>
                    <a:pt x="27431" y="393700"/>
                  </a:lnTo>
                  <a:lnTo>
                    <a:pt x="28955" y="396239"/>
                  </a:lnTo>
                  <a:lnTo>
                    <a:pt x="28520" y="393700"/>
                  </a:lnTo>
                  <a:close/>
                </a:path>
                <a:path w="1876425" h="542289">
                  <a:moveTo>
                    <a:pt x="27431" y="387350"/>
                  </a:moveTo>
                  <a:lnTo>
                    <a:pt x="27431" y="389889"/>
                  </a:lnTo>
                  <a:lnTo>
                    <a:pt x="27666" y="388717"/>
                  </a:lnTo>
                  <a:lnTo>
                    <a:pt x="27431" y="387350"/>
                  </a:lnTo>
                  <a:close/>
                </a:path>
                <a:path w="1876425" h="542289">
                  <a:moveTo>
                    <a:pt x="27666" y="388717"/>
                  </a:moveTo>
                  <a:lnTo>
                    <a:pt x="27431" y="389889"/>
                  </a:lnTo>
                  <a:lnTo>
                    <a:pt x="27867" y="389889"/>
                  </a:lnTo>
                  <a:lnTo>
                    <a:pt x="27666" y="388717"/>
                  </a:lnTo>
                  <a:close/>
                </a:path>
                <a:path w="1876425" h="542289">
                  <a:moveTo>
                    <a:pt x="27939" y="387350"/>
                  </a:moveTo>
                  <a:lnTo>
                    <a:pt x="27431" y="387350"/>
                  </a:lnTo>
                  <a:lnTo>
                    <a:pt x="27666" y="388717"/>
                  </a:lnTo>
                  <a:lnTo>
                    <a:pt x="27939" y="387350"/>
                  </a:lnTo>
                  <a:close/>
                </a:path>
                <a:path w="1876425" h="542289">
                  <a:moveTo>
                    <a:pt x="29463" y="382269"/>
                  </a:moveTo>
                  <a:lnTo>
                    <a:pt x="28955" y="382269"/>
                  </a:lnTo>
                  <a:lnTo>
                    <a:pt x="28955" y="384810"/>
                  </a:lnTo>
                  <a:lnTo>
                    <a:pt x="29463" y="382269"/>
                  </a:lnTo>
                  <a:close/>
                </a:path>
                <a:path w="1876425" h="542289">
                  <a:moveTo>
                    <a:pt x="30987" y="377189"/>
                  </a:moveTo>
                  <a:lnTo>
                    <a:pt x="30479" y="377189"/>
                  </a:lnTo>
                  <a:lnTo>
                    <a:pt x="30479" y="378460"/>
                  </a:lnTo>
                  <a:lnTo>
                    <a:pt x="30987" y="377189"/>
                  </a:lnTo>
                  <a:close/>
                </a:path>
                <a:path w="1876425" h="542289">
                  <a:moveTo>
                    <a:pt x="33527" y="370839"/>
                  </a:moveTo>
                  <a:lnTo>
                    <a:pt x="32003" y="372110"/>
                  </a:lnTo>
                  <a:lnTo>
                    <a:pt x="33020" y="372110"/>
                  </a:lnTo>
                  <a:lnTo>
                    <a:pt x="33527" y="370839"/>
                  </a:lnTo>
                  <a:close/>
                </a:path>
                <a:path w="1876425" h="542289">
                  <a:moveTo>
                    <a:pt x="1507236" y="295910"/>
                  </a:moveTo>
                  <a:lnTo>
                    <a:pt x="1327403" y="295910"/>
                  </a:lnTo>
                  <a:lnTo>
                    <a:pt x="1376172" y="297179"/>
                  </a:lnTo>
                  <a:lnTo>
                    <a:pt x="1487424" y="297179"/>
                  </a:lnTo>
                  <a:lnTo>
                    <a:pt x="1507236" y="295910"/>
                  </a:lnTo>
                  <a:close/>
                </a:path>
                <a:path w="1876425" h="542289">
                  <a:moveTo>
                    <a:pt x="1730044" y="273050"/>
                  </a:moveTo>
                  <a:lnTo>
                    <a:pt x="530351" y="273050"/>
                  </a:lnTo>
                  <a:lnTo>
                    <a:pt x="629412" y="275589"/>
                  </a:lnTo>
                  <a:lnTo>
                    <a:pt x="681227" y="275589"/>
                  </a:lnTo>
                  <a:lnTo>
                    <a:pt x="787908" y="280669"/>
                  </a:lnTo>
                  <a:lnTo>
                    <a:pt x="842772" y="281939"/>
                  </a:lnTo>
                  <a:lnTo>
                    <a:pt x="1173479" y="293369"/>
                  </a:lnTo>
                  <a:lnTo>
                    <a:pt x="1277112" y="295910"/>
                  </a:lnTo>
                  <a:lnTo>
                    <a:pt x="1546860" y="295910"/>
                  </a:lnTo>
                  <a:lnTo>
                    <a:pt x="1565148" y="294639"/>
                  </a:lnTo>
                  <a:lnTo>
                    <a:pt x="1581912" y="294639"/>
                  </a:lnTo>
                  <a:lnTo>
                    <a:pt x="1615440" y="290829"/>
                  </a:lnTo>
                  <a:lnTo>
                    <a:pt x="1629155" y="290829"/>
                  </a:lnTo>
                  <a:lnTo>
                    <a:pt x="1644396" y="289560"/>
                  </a:lnTo>
                  <a:lnTo>
                    <a:pt x="1656588" y="288289"/>
                  </a:lnTo>
                  <a:lnTo>
                    <a:pt x="1668779" y="285750"/>
                  </a:lnTo>
                  <a:lnTo>
                    <a:pt x="1691640" y="281939"/>
                  </a:lnTo>
                  <a:lnTo>
                    <a:pt x="1712976" y="278129"/>
                  </a:lnTo>
                  <a:lnTo>
                    <a:pt x="1730044" y="273050"/>
                  </a:lnTo>
                  <a:close/>
                </a:path>
                <a:path w="1876425" h="542289">
                  <a:moveTo>
                    <a:pt x="1847088" y="151129"/>
                  </a:moveTo>
                  <a:lnTo>
                    <a:pt x="1827276" y="190500"/>
                  </a:lnTo>
                  <a:lnTo>
                    <a:pt x="1798320" y="212089"/>
                  </a:lnTo>
                  <a:lnTo>
                    <a:pt x="1787652" y="219710"/>
                  </a:lnTo>
                  <a:lnTo>
                    <a:pt x="1773936" y="226060"/>
                  </a:lnTo>
                  <a:lnTo>
                    <a:pt x="1758696" y="233679"/>
                  </a:lnTo>
                  <a:lnTo>
                    <a:pt x="1741931" y="240029"/>
                  </a:lnTo>
                  <a:lnTo>
                    <a:pt x="1725168" y="243839"/>
                  </a:lnTo>
                  <a:lnTo>
                    <a:pt x="1705355" y="250189"/>
                  </a:lnTo>
                  <a:lnTo>
                    <a:pt x="1685544" y="252729"/>
                  </a:lnTo>
                  <a:lnTo>
                    <a:pt x="1664208" y="257810"/>
                  </a:lnTo>
                  <a:lnTo>
                    <a:pt x="1653540" y="259079"/>
                  </a:lnTo>
                  <a:lnTo>
                    <a:pt x="1639824" y="260350"/>
                  </a:lnTo>
                  <a:lnTo>
                    <a:pt x="1627631" y="262889"/>
                  </a:lnTo>
                  <a:lnTo>
                    <a:pt x="1612392" y="264160"/>
                  </a:lnTo>
                  <a:lnTo>
                    <a:pt x="1597152" y="264160"/>
                  </a:lnTo>
                  <a:lnTo>
                    <a:pt x="1563624" y="266700"/>
                  </a:lnTo>
                  <a:lnTo>
                    <a:pt x="1527048" y="266700"/>
                  </a:lnTo>
                  <a:lnTo>
                    <a:pt x="1507236" y="267969"/>
                  </a:lnTo>
                  <a:lnTo>
                    <a:pt x="1745284" y="267969"/>
                  </a:lnTo>
                  <a:lnTo>
                    <a:pt x="1786127" y="251460"/>
                  </a:lnTo>
                  <a:lnTo>
                    <a:pt x="1839468" y="218439"/>
                  </a:lnTo>
                  <a:lnTo>
                    <a:pt x="1869948" y="176529"/>
                  </a:lnTo>
                  <a:lnTo>
                    <a:pt x="1874520" y="157479"/>
                  </a:lnTo>
                  <a:lnTo>
                    <a:pt x="1876044" y="157479"/>
                  </a:lnTo>
                  <a:lnTo>
                    <a:pt x="1876044" y="153669"/>
                  </a:lnTo>
                  <a:lnTo>
                    <a:pt x="1847088" y="153669"/>
                  </a:lnTo>
                  <a:lnTo>
                    <a:pt x="1847088" y="151129"/>
                  </a:lnTo>
                  <a:close/>
                </a:path>
                <a:path w="1876425" h="542289">
                  <a:moveTo>
                    <a:pt x="484631" y="243839"/>
                  </a:moveTo>
                  <a:lnTo>
                    <a:pt x="397764" y="243839"/>
                  </a:lnTo>
                  <a:lnTo>
                    <a:pt x="377951" y="245110"/>
                  </a:lnTo>
                  <a:lnTo>
                    <a:pt x="530351" y="245110"/>
                  </a:lnTo>
                  <a:lnTo>
                    <a:pt x="484631" y="243839"/>
                  </a:lnTo>
                  <a:close/>
                </a:path>
                <a:path w="1876425" h="542289">
                  <a:moveTo>
                    <a:pt x="1874955" y="137160"/>
                  </a:moveTo>
                  <a:lnTo>
                    <a:pt x="1847088" y="137160"/>
                  </a:lnTo>
                  <a:lnTo>
                    <a:pt x="1847088" y="153669"/>
                  </a:lnTo>
                  <a:lnTo>
                    <a:pt x="1876044" y="153669"/>
                  </a:lnTo>
                  <a:lnTo>
                    <a:pt x="1876044" y="143510"/>
                  </a:lnTo>
                  <a:lnTo>
                    <a:pt x="1874955" y="137160"/>
                  </a:lnTo>
                  <a:close/>
                </a:path>
                <a:path w="1876425" h="542289">
                  <a:moveTo>
                    <a:pt x="1844040" y="130810"/>
                  </a:moveTo>
                  <a:lnTo>
                    <a:pt x="1847088" y="140969"/>
                  </a:lnTo>
                  <a:lnTo>
                    <a:pt x="1847088" y="137160"/>
                  </a:lnTo>
                  <a:lnTo>
                    <a:pt x="1874955" y="137160"/>
                  </a:lnTo>
                  <a:lnTo>
                    <a:pt x="1874520" y="134619"/>
                  </a:lnTo>
                  <a:lnTo>
                    <a:pt x="1874520" y="133350"/>
                  </a:lnTo>
                  <a:lnTo>
                    <a:pt x="1845564" y="133350"/>
                  </a:lnTo>
                  <a:lnTo>
                    <a:pt x="1844040" y="130810"/>
                  </a:lnTo>
                  <a:close/>
                </a:path>
                <a:path w="1876425" h="542289">
                  <a:moveTo>
                    <a:pt x="1721612" y="27939"/>
                  </a:moveTo>
                  <a:lnTo>
                    <a:pt x="1226820" y="27939"/>
                  </a:lnTo>
                  <a:lnTo>
                    <a:pt x="1272540" y="29210"/>
                  </a:lnTo>
                  <a:lnTo>
                    <a:pt x="1357884" y="29210"/>
                  </a:lnTo>
                  <a:lnTo>
                    <a:pt x="1438655" y="31750"/>
                  </a:lnTo>
                  <a:lnTo>
                    <a:pt x="1476755" y="34289"/>
                  </a:lnTo>
                  <a:lnTo>
                    <a:pt x="1578864" y="38100"/>
                  </a:lnTo>
                  <a:lnTo>
                    <a:pt x="1609344" y="41910"/>
                  </a:lnTo>
                  <a:lnTo>
                    <a:pt x="1662684" y="46989"/>
                  </a:lnTo>
                  <a:lnTo>
                    <a:pt x="1729740" y="59689"/>
                  </a:lnTo>
                  <a:lnTo>
                    <a:pt x="1780031" y="76200"/>
                  </a:lnTo>
                  <a:lnTo>
                    <a:pt x="1816608" y="96519"/>
                  </a:lnTo>
                  <a:lnTo>
                    <a:pt x="1842516" y="125729"/>
                  </a:lnTo>
                  <a:lnTo>
                    <a:pt x="1845564" y="133350"/>
                  </a:lnTo>
                  <a:lnTo>
                    <a:pt x="1874520" y="133350"/>
                  </a:lnTo>
                  <a:lnTo>
                    <a:pt x="1871472" y="123189"/>
                  </a:lnTo>
                  <a:lnTo>
                    <a:pt x="1871472" y="120650"/>
                  </a:lnTo>
                  <a:lnTo>
                    <a:pt x="1866900" y="110489"/>
                  </a:lnTo>
                  <a:lnTo>
                    <a:pt x="1831848" y="72389"/>
                  </a:lnTo>
                  <a:lnTo>
                    <a:pt x="1790700" y="49529"/>
                  </a:lnTo>
                  <a:lnTo>
                    <a:pt x="1735836" y="30479"/>
                  </a:lnTo>
                  <a:lnTo>
                    <a:pt x="1721612" y="27939"/>
                  </a:lnTo>
                  <a:close/>
                </a:path>
                <a:path w="1876425" h="542289">
                  <a:moveTo>
                    <a:pt x="1400555" y="1269"/>
                  </a:moveTo>
                  <a:lnTo>
                    <a:pt x="928116" y="1269"/>
                  </a:lnTo>
                  <a:lnTo>
                    <a:pt x="874776" y="3810"/>
                  </a:lnTo>
                  <a:lnTo>
                    <a:pt x="765048" y="6350"/>
                  </a:lnTo>
                  <a:lnTo>
                    <a:pt x="710184" y="6350"/>
                  </a:lnTo>
                  <a:lnTo>
                    <a:pt x="653796" y="7619"/>
                  </a:lnTo>
                  <a:lnTo>
                    <a:pt x="539496" y="12700"/>
                  </a:lnTo>
                  <a:lnTo>
                    <a:pt x="190500" y="22860"/>
                  </a:lnTo>
                  <a:lnTo>
                    <a:pt x="190500" y="50800"/>
                  </a:lnTo>
                  <a:lnTo>
                    <a:pt x="541020" y="39369"/>
                  </a:lnTo>
                  <a:lnTo>
                    <a:pt x="766572" y="34289"/>
                  </a:lnTo>
                  <a:lnTo>
                    <a:pt x="821436" y="34289"/>
                  </a:lnTo>
                  <a:lnTo>
                    <a:pt x="928116" y="30479"/>
                  </a:lnTo>
                  <a:lnTo>
                    <a:pt x="981455" y="30479"/>
                  </a:lnTo>
                  <a:lnTo>
                    <a:pt x="1031748" y="29210"/>
                  </a:lnTo>
                  <a:lnTo>
                    <a:pt x="1132331" y="29210"/>
                  </a:lnTo>
                  <a:lnTo>
                    <a:pt x="1179576" y="27939"/>
                  </a:lnTo>
                  <a:lnTo>
                    <a:pt x="1721612" y="27939"/>
                  </a:lnTo>
                  <a:lnTo>
                    <a:pt x="1714500" y="26669"/>
                  </a:lnTo>
                  <a:lnTo>
                    <a:pt x="1667255" y="19050"/>
                  </a:lnTo>
                  <a:lnTo>
                    <a:pt x="1610868" y="12700"/>
                  </a:lnTo>
                  <a:lnTo>
                    <a:pt x="1580388" y="11429"/>
                  </a:lnTo>
                  <a:lnTo>
                    <a:pt x="1548384" y="7619"/>
                  </a:lnTo>
                  <a:lnTo>
                    <a:pt x="1440179" y="3810"/>
                  </a:lnTo>
                  <a:lnTo>
                    <a:pt x="1400555" y="1269"/>
                  </a:lnTo>
                  <a:close/>
                </a:path>
                <a:path w="1876425" h="542289">
                  <a:moveTo>
                    <a:pt x="1316736" y="0"/>
                  </a:moveTo>
                  <a:lnTo>
                    <a:pt x="1031748" y="0"/>
                  </a:lnTo>
                  <a:lnTo>
                    <a:pt x="979931" y="1269"/>
                  </a:lnTo>
                  <a:lnTo>
                    <a:pt x="1359408" y="1269"/>
                  </a:lnTo>
                  <a:lnTo>
                    <a:pt x="1316736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068311" y="3886200"/>
              <a:ext cx="201295" cy="50800"/>
            </a:xfrm>
            <a:custGeom>
              <a:avLst/>
              <a:gdLst/>
              <a:ahLst/>
              <a:cxnLst/>
              <a:rect l="l" t="t" r="r" b="b"/>
              <a:pathLst>
                <a:path w="201295" h="50800">
                  <a:moveTo>
                    <a:pt x="114010" y="0"/>
                  </a:moveTo>
                  <a:lnTo>
                    <a:pt x="0" y="0"/>
                  </a:lnTo>
                  <a:lnTo>
                    <a:pt x="5524" y="5524"/>
                  </a:lnTo>
                  <a:lnTo>
                    <a:pt x="13716" y="9144"/>
                  </a:lnTo>
                  <a:lnTo>
                    <a:pt x="201168" y="50291"/>
                  </a:lnTo>
                  <a:lnTo>
                    <a:pt x="196973" y="36575"/>
                  </a:lnTo>
                  <a:lnTo>
                    <a:pt x="153924" y="36575"/>
                  </a:lnTo>
                  <a:lnTo>
                    <a:pt x="114010" y="0"/>
                  </a:lnTo>
                  <a:close/>
                </a:path>
                <a:path w="201295" h="50800">
                  <a:moveTo>
                    <a:pt x="139343" y="0"/>
                  </a:moveTo>
                  <a:lnTo>
                    <a:pt x="114010" y="0"/>
                  </a:lnTo>
                  <a:lnTo>
                    <a:pt x="153924" y="36575"/>
                  </a:lnTo>
                  <a:lnTo>
                    <a:pt x="162632" y="27432"/>
                  </a:lnTo>
                  <a:lnTo>
                    <a:pt x="147828" y="27432"/>
                  </a:lnTo>
                  <a:lnTo>
                    <a:pt x="139343" y="0"/>
                  </a:lnTo>
                  <a:close/>
                </a:path>
                <a:path w="201295" h="50800">
                  <a:moveTo>
                    <a:pt x="185789" y="0"/>
                  </a:moveTo>
                  <a:lnTo>
                    <a:pt x="179416" y="0"/>
                  </a:lnTo>
                  <a:lnTo>
                    <a:pt x="184404" y="4572"/>
                  </a:lnTo>
                  <a:lnTo>
                    <a:pt x="153924" y="36575"/>
                  </a:lnTo>
                  <a:lnTo>
                    <a:pt x="196973" y="36575"/>
                  </a:lnTo>
                  <a:lnTo>
                    <a:pt x="185789" y="0"/>
                  </a:lnTo>
                  <a:close/>
                </a:path>
                <a:path w="201295" h="50800">
                  <a:moveTo>
                    <a:pt x="172372" y="0"/>
                  </a:moveTo>
                  <a:lnTo>
                    <a:pt x="139343" y="0"/>
                  </a:lnTo>
                  <a:lnTo>
                    <a:pt x="147828" y="27432"/>
                  </a:lnTo>
                  <a:lnTo>
                    <a:pt x="172372" y="0"/>
                  </a:lnTo>
                  <a:close/>
                </a:path>
                <a:path w="201295" h="50800">
                  <a:moveTo>
                    <a:pt x="179416" y="0"/>
                  </a:moveTo>
                  <a:lnTo>
                    <a:pt x="172372" y="0"/>
                  </a:lnTo>
                  <a:lnTo>
                    <a:pt x="147828" y="27432"/>
                  </a:lnTo>
                  <a:lnTo>
                    <a:pt x="162632" y="27432"/>
                  </a:lnTo>
                  <a:lnTo>
                    <a:pt x="184404" y="4572"/>
                  </a:lnTo>
                  <a:lnTo>
                    <a:pt x="17941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056119" y="4386580"/>
              <a:ext cx="1877695" cy="703580"/>
            </a:xfrm>
            <a:custGeom>
              <a:avLst/>
              <a:gdLst/>
              <a:ahLst/>
              <a:cxnLst/>
              <a:rect l="l" t="t" r="r" b="b"/>
              <a:pathLst>
                <a:path w="1877695" h="703579">
                  <a:moveTo>
                    <a:pt x="1747486" y="619759"/>
                  </a:moveTo>
                  <a:lnTo>
                    <a:pt x="1744979" y="619759"/>
                  </a:lnTo>
                  <a:lnTo>
                    <a:pt x="1746305" y="645159"/>
                  </a:lnTo>
                  <a:lnTo>
                    <a:pt x="1746371" y="646429"/>
                  </a:lnTo>
                  <a:lnTo>
                    <a:pt x="1746437" y="647699"/>
                  </a:lnTo>
                  <a:lnTo>
                    <a:pt x="1746503" y="648969"/>
                  </a:lnTo>
                  <a:lnTo>
                    <a:pt x="1695166" y="650728"/>
                  </a:lnTo>
                  <a:lnTo>
                    <a:pt x="1655063" y="675639"/>
                  </a:lnTo>
                  <a:lnTo>
                    <a:pt x="1647444" y="679449"/>
                  </a:lnTo>
                  <a:lnTo>
                    <a:pt x="1645920" y="688339"/>
                  </a:lnTo>
                  <a:lnTo>
                    <a:pt x="1650491" y="694689"/>
                  </a:lnTo>
                  <a:lnTo>
                    <a:pt x="1655063" y="702309"/>
                  </a:lnTo>
                  <a:lnTo>
                    <a:pt x="1664207" y="703579"/>
                  </a:lnTo>
                  <a:lnTo>
                    <a:pt x="1670303" y="699769"/>
                  </a:lnTo>
                  <a:lnTo>
                    <a:pt x="1773935" y="633729"/>
                  </a:lnTo>
                  <a:lnTo>
                    <a:pt x="1747486" y="619759"/>
                  </a:lnTo>
                  <a:close/>
                </a:path>
                <a:path w="1877695" h="703579">
                  <a:moveTo>
                    <a:pt x="716279" y="678179"/>
                  </a:moveTo>
                  <a:lnTo>
                    <a:pt x="571500" y="678179"/>
                  </a:lnTo>
                  <a:lnTo>
                    <a:pt x="618744" y="679449"/>
                  </a:lnTo>
                  <a:lnTo>
                    <a:pt x="716279" y="678179"/>
                  </a:lnTo>
                  <a:close/>
                </a:path>
                <a:path w="1877695" h="703579">
                  <a:moveTo>
                    <a:pt x="486155" y="328929"/>
                  </a:moveTo>
                  <a:lnTo>
                    <a:pt x="399287" y="328929"/>
                  </a:lnTo>
                  <a:lnTo>
                    <a:pt x="379475" y="330199"/>
                  </a:lnTo>
                  <a:lnTo>
                    <a:pt x="359663" y="330199"/>
                  </a:lnTo>
                  <a:lnTo>
                    <a:pt x="341375" y="332739"/>
                  </a:lnTo>
                  <a:lnTo>
                    <a:pt x="324611" y="332739"/>
                  </a:lnTo>
                  <a:lnTo>
                    <a:pt x="306324" y="334009"/>
                  </a:lnTo>
                  <a:lnTo>
                    <a:pt x="260603" y="337819"/>
                  </a:lnTo>
                  <a:lnTo>
                    <a:pt x="248411" y="340359"/>
                  </a:lnTo>
                  <a:lnTo>
                    <a:pt x="234696" y="341629"/>
                  </a:lnTo>
                  <a:lnTo>
                    <a:pt x="211835" y="347979"/>
                  </a:lnTo>
                  <a:lnTo>
                    <a:pt x="188975" y="351789"/>
                  </a:lnTo>
                  <a:lnTo>
                    <a:pt x="167639" y="359409"/>
                  </a:lnTo>
                  <a:lnTo>
                    <a:pt x="147827" y="365759"/>
                  </a:lnTo>
                  <a:lnTo>
                    <a:pt x="129539" y="374649"/>
                  </a:lnTo>
                  <a:lnTo>
                    <a:pt x="111251" y="382269"/>
                  </a:lnTo>
                  <a:lnTo>
                    <a:pt x="51815" y="421639"/>
                  </a:lnTo>
                  <a:lnTo>
                    <a:pt x="21335" y="455929"/>
                  </a:lnTo>
                  <a:lnTo>
                    <a:pt x="4572" y="494029"/>
                  </a:lnTo>
                  <a:lnTo>
                    <a:pt x="0" y="518159"/>
                  </a:lnTo>
                  <a:lnTo>
                    <a:pt x="1524" y="532129"/>
                  </a:lnTo>
                  <a:lnTo>
                    <a:pt x="4572" y="543559"/>
                  </a:lnTo>
                  <a:lnTo>
                    <a:pt x="4572" y="547369"/>
                  </a:lnTo>
                  <a:lnTo>
                    <a:pt x="44196" y="601979"/>
                  </a:lnTo>
                  <a:lnTo>
                    <a:pt x="89915" y="627379"/>
                  </a:lnTo>
                  <a:lnTo>
                    <a:pt x="128015" y="642619"/>
                  </a:lnTo>
                  <a:lnTo>
                    <a:pt x="150875" y="647699"/>
                  </a:lnTo>
                  <a:lnTo>
                    <a:pt x="173735" y="654049"/>
                  </a:lnTo>
                  <a:lnTo>
                    <a:pt x="199644" y="656589"/>
                  </a:lnTo>
                  <a:lnTo>
                    <a:pt x="227075" y="661669"/>
                  </a:lnTo>
                  <a:lnTo>
                    <a:pt x="257555" y="664209"/>
                  </a:lnTo>
                  <a:lnTo>
                    <a:pt x="289559" y="668019"/>
                  </a:lnTo>
                  <a:lnTo>
                    <a:pt x="324611" y="670559"/>
                  </a:lnTo>
                  <a:lnTo>
                    <a:pt x="399287" y="673099"/>
                  </a:lnTo>
                  <a:lnTo>
                    <a:pt x="481583" y="676909"/>
                  </a:lnTo>
                  <a:lnTo>
                    <a:pt x="525779" y="678179"/>
                  </a:lnTo>
                  <a:lnTo>
                    <a:pt x="819911" y="678179"/>
                  </a:lnTo>
                  <a:lnTo>
                    <a:pt x="929639" y="676909"/>
                  </a:lnTo>
                  <a:lnTo>
                    <a:pt x="1042415" y="673099"/>
                  </a:lnTo>
                  <a:lnTo>
                    <a:pt x="1158239" y="670559"/>
                  </a:lnTo>
                  <a:lnTo>
                    <a:pt x="1278635" y="665479"/>
                  </a:lnTo>
                  <a:lnTo>
                    <a:pt x="1695166" y="650728"/>
                  </a:lnTo>
                  <a:lnTo>
                    <a:pt x="1695951" y="650239"/>
                  </a:lnTo>
                  <a:lnTo>
                    <a:pt x="571500" y="650239"/>
                  </a:lnTo>
                  <a:lnTo>
                    <a:pt x="525779" y="648969"/>
                  </a:lnTo>
                  <a:lnTo>
                    <a:pt x="483107" y="648969"/>
                  </a:lnTo>
                  <a:lnTo>
                    <a:pt x="400811" y="646429"/>
                  </a:lnTo>
                  <a:lnTo>
                    <a:pt x="362711" y="642619"/>
                  </a:lnTo>
                  <a:lnTo>
                    <a:pt x="326135" y="641349"/>
                  </a:lnTo>
                  <a:lnTo>
                    <a:pt x="292607" y="638809"/>
                  </a:lnTo>
                  <a:lnTo>
                    <a:pt x="260603" y="634999"/>
                  </a:lnTo>
                  <a:lnTo>
                    <a:pt x="204215" y="629919"/>
                  </a:lnTo>
                  <a:lnTo>
                    <a:pt x="179831" y="624839"/>
                  </a:lnTo>
                  <a:lnTo>
                    <a:pt x="156972" y="619759"/>
                  </a:lnTo>
                  <a:lnTo>
                    <a:pt x="137159" y="615949"/>
                  </a:lnTo>
                  <a:lnTo>
                    <a:pt x="118872" y="609599"/>
                  </a:lnTo>
                  <a:lnTo>
                    <a:pt x="102107" y="601979"/>
                  </a:lnTo>
                  <a:lnTo>
                    <a:pt x="86868" y="595629"/>
                  </a:lnTo>
                  <a:lnTo>
                    <a:pt x="45720" y="563879"/>
                  </a:lnTo>
                  <a:lnTo>
                    <a:pt x="32681" y="538479"/>
                  </a:lnTo>
                  <a:lnTo>
                    <a:pt x="32003" y="538479"/>
                  </a:lnTo>
                  <a:lnTo>
                    <a:pt x="30479" y="530859"/>
                  </a:lnTo>
                  <a:lnTo>
                    <a:pt x="28955" y="520699"/>
                  </a:lnTo>
                  <a:lnTo>
                    <a:pt x="28955" y="511809"/>
                  </a:lnTo>
                  <a:lnTo>
                    <a:pt x="32003" y="502919"/>
                  </a:lnTo>
                  <a:lnTo>
                    <a:pt x="35051" y="492759"/>
                  </a:lnTo>
                  <a:lnTo>
                    <a:pt x="44196" y="472439"/>
                  </a:lnTo>
                  <a:lnTo>
                    <a:pt x="51815" y="463549"/>
                  </a:lnTo>
                  <a:lnTo>
                    <a:pt x="60959" y="454659"/>
                  </a:lnTo>
                  <a:lnTo>
                    <a:pt x="70103" y="443229"/>
                  </a:lnTo>
                  <a:lnTo>
                    <a:pt x="94487" y="425449"/>
                  </a:lnTo>
                  <a:lnTo>
                    <a:pt x="108203" y="417829"/>
                  </a:lnTo>
                  <a:lnTo>
                    <a:pt x="123444" y="408939"/>
                  </a:lnTo>
                  <a:lnTo>
                    <a:pt x="158496" y="393699"/>
                  </a:lnTo>
                  <a:lnTo>
                    <a:pt x="196596" y="380999"/>
                  </a:lnTo>
                  <a:lnTo>
                    <a:pt x="239268" y="370839"/>
                  </a:lnTo>
                  <a:lnTo>
                    <a:pt x="263651" y="365759"/>
                  </a:lnTo>
                  <a:lnTo>
                    <a:pt x="292607" y="363219"/>
                  </a:lnTo>
                  <a:lnTo>
                    <a:pt x="309372" y="363219"/>
                  </a:lnTo>
                  <a:lnTo>
                    <a:pt x="324611" y="360679"/>
                  </a:lnTo>
                  <a:lnTo>
                    <a:pt x="342900" y="359409"/>
                  </a:lnTo>
                  <a:lnTo>
                    <a:pt x="379475" y="359409"/>
                  </a:lnTo>
                  <a:lnTo>
                    <a:pt x="399287" y="358139"/>
                  </a:lnTo>
                  <a:lnTo>
                    <a:pt x="1228344" y="358139"/>
                  </a:lnTo>
                  <a:lnTo>
                    <a:pt x="1175003" y="356869"/>
                  </a:lnTo>
                  <a:lnTo>
                    <a:pt x="1121663" y="353059"/>
                  </a:lnTo>
                  <a:lnTo>
                    <a:pt x="1066800" y="351789"/>
                  </a:lnTo>
                  <a:lnTo>
                    <a:pt x="955548" y="347979"/>
                  </a:lnTo>
                  <a:lnTo>
                    <a:pt x="845820" y="341629"/>
                  </a:lnTo>
                  <a:lnTo>
                    <a:pt x="790955" y="340359"/>
                  </a:lnTo>
                  <a:lnTo>
                    <a:pt x="736091" y="336549"/>
                  </a:lnTo>
                  <a:lnTo>
                    <a:pt x="580644" y="332739"/>
                  </a:lnTo>
                  <a:lnTo>
                    <a:pt x="531876" y="330199"/>
                  </a:lnTo>
                  <a:lnTo>
                    <a:pt x="486155" y="328929"/>
                  </a:lnTo>
                  <a:close/>
                </a:path>
                <a:path w="1877695" h="703579">
                  <a:moveTo>
                    <a:pt x="1718120" y="636468"/>
                  </a:moveTo>
                  <a:lnTo>
                    <a:pt x="1695166" y="650728"/>
                  </a:lnTo>
                  <a:lnTo>
                    <a:pt x="1746503" y="648969"/>
                  </a:lnTo>
                  <a:lnTo>
                    <a:pt x="1746437" y="647699"/>
                  </a:lnTo>
                  <a:lnTo>
                    <a:pt x="1738883" y="647699"/>
                  </a:lnTo>
                  <a:lnTo>
                    <a:pt x="1718120" y="636468"/>
                  </a:lnTo>
                  <a:close/>
                </a:path>
                <a:path w="1877695" h="703579">
                  <a:moveTo>
                    <a:pt x="1691727" y="622191"/>
                  </a:moveTo>
                  <a:lnTo>
                    <a:pt x="1522476" y="629919"/>
                  </a:lnTo>
                  <a:lnTo>
                    <a:pt x="928115" y="647699"/>
                  </a:lnTo>
                  <a:lnTo>
                    <a:pt x="716279" y="650239"/>
                  </a:lnTo>
                  <a:lnTo>
                    <a:pt x="1695951" y="650239"/>
                  </a:lnTo>
                  <a:lnTo>
                    <a:pt x="1718120" y="636468"/>
                  </a:lnTo>
                  <a:lnTo>
                    <a:pt x="1691727" y="622191"/>
                  </a:lnTo>
                  <a:close/>
                </a:path>
                <a:path w="1877695" h="703579">
                  <a:moveTo>
                    <a:pt x="1738883" y="623569"/>
                  </a:moveTo>
                  <a:lnTo>
                    <a:pt x="1718120" y="636468"/>
                  </a:lnTo>
                  <a:lnTo>
                    <a:pt x="1738883" y="647699"/>
                  </a:lnTo>
                  <a:lnTo>
                    <a:pt x="1738883" y="623569"/>
                  </a:lnTo>
                  <a:close/>
                </a:path>
                <a:path w="1877695" h="703579">
                  <a:moveTo>
                    <a:pt x="1745178" y="623569"/>
                  </a:moveTo>
                  <a:lnTo>
                    <a:pt x="1738883" y="623569"/>
                  </a:lnTo>
                  <a:lnTo>
                    <a:pt x="1738883" y="647699"/>
                  </a:lnTo>
                  <a:lnTo>
                    <a:pt x="1746437" y="647699"/>
                  </a:lnTo>
                  <a:lnTo>
                    <a:pt x="1745245" y="624839"/>
                  </a:lnTo>
                  <a:lnTo>
                    <a:pt x="1745178" y="623569"/>
                  </a:lnTo>
                  <a:close/>
                </a:path>
                <a:path w="1877695" h="703579">
                  <a:moveTo>
                    <a:pt x="1744979" y="619759"/>
                  </a:moveTo>
                  <a:lnTo>
                    <a:pt x="1691727" y="622191"/>
                  </a:lnTo>
                  <a:lnTo>
                    <a:pt x="1718120" y="636468"/>
                  </a:lnTo>
                  <a:lnTo>
                    <a:pt x="1738883" y="623569"/>
                  </a:lnTo>
                  <a:lnTo>
                    <a:pt x="1745178" y="623569"/>
                  </a:lnTo>
                  <a:lnTo>
                    <a:pt x="1745106" y="622191"/>
                  </a:lnTo>
                  <a:lnTo>
                    <a:pt x="1744979" y="619759"/>
                  </a:lnTo>
                  <a:close/>
                </a:path>
                <a:path w="1877695" h="703579">
                  <a:moveTo>
                    <a:pt x="1658111" y="571499"/>
                  </a:moveTo>
                  <a:lnTo>
                    <a:pt x="1648968" y="574039"/>
                  </a:lnTo>
                  <a:lnTo>
                    <a:pt x="1645920" y="580389"/>
                  </a:lnTo>
                  <a:lnTo>
                    <a:pt x="1642872" y="588009"/>
                  </a:lnTo>
                  <a:lnTo>
                    <a:pt x="1644396" y="596899"/>
                  </a:lnTo>
                  <a:lnTo>
                    <a:pt x="1652015" y="600709"/>
                  </a:lnTo>
                  <a:lnTo>
                    <a:pt x="1691727" y="622191"/>
                  </a:lnTo>
                  <a:lnTo>
                    <a:pt x="1744979" y="619759"/>
                  </a:lnTo>
                  <a:lnTo>
                    <a:pt x="1747486" y="619759"/>
                  </a:lnTo>
                  <a:lnTo>
                    <a:pt x="1665731" y="576579"/>
                  </a:lnTo>
                  <a:lnTo>
                    <a:pt x="1658111" y="571499"/>
                  </a:lnTo>
                  <a:close/>
                </a:path>
                <a:path w="1877695" h="703579">
                  <a:moveTo>
                    <a:pt x="32003" y="535939"/>
                  </a:moveTo>
                  <a:lnTo>
                    <a:pt x="32003" y="538479"/>
                  </a:lnTo>
                  <a:lnTo>
                    <a:pt x="32681" y="538479"/>
                  </a:lnTo>
                  <a:lnTo>
                    <a:pt x="32003" y="535939"/>
                  </a:lnTo>
                  <a:close/>
                </a:path>
                <a:path w="1877695" h="703579">
                  <a:moveTo>
                    <a:pt x="1488948" y="389889"/>
                  </a:moveTo>
                  <a:lnTo>
                    <a:pt x="1400555" y="389889"/>
                  </a:lnTo>
                  <a:lnTo>
                    <a:pt x="1423415" y="391159"/>
                  </a:lnTo>
                  <a:lnTo>
                    <a:pt x="1467611" y="391159"/>
                  </a:lnTo>
                  <a:lnTo>
                    <a:pt x="1488948" y="389889"/>
                  </a:lnTo>
                  <a:close/>
                </a:path>
                <a:path w="1877695" h="703579">
                  <a:moveTo>
                    <a:pt x="1228344" y="358139"/>
                  </a:moveTo>
                  <a:lnTo>
                    <a:pt x="484631" y="358139"/>
                  </a:lnTo>
                  <a:lnTo>
                    <a:pt x="531876" y="359409"/>
                  </a:lnTo>
                  <a:lnTo>
                    <a:pt x="580644" y="359409"/>
                  </a:lnTo>
                  <a:lnTo>
                    <a:pt x="630935" y="360679"/>
                  </a:lnTo>
                  <a:lnTo>
                    <a:pt x="682751" y="364489"/>
                  </a:lnTo>
                  <a:lnTo>
                    <a:pt x="789431" y="367029"/>
                  </a:lnTo>
                  <a:lnTo>
                    <a:pt x="844296" y="370839"/>
                  </a:lnTo>
                  <a:lnTo>
                    <a:pt x="954024" y="374649"/>
                  </a:lnTo>
                  <a:lnTo>
                    <a:pt x="1065276" y="380999"/>
                  </a:lnTo>
                  <a:lnTo>
                    <a:pt x="1120139" y="382269"/>
                  </a:lnTo>
                  <a:lnTo>
                    <a:pt x="1173479" y="386079"/>
                  </a:lnTo>
                  <a:lnTo>
                    <a:pt x="1328927" y="389889"/>
                  </a:lnTo>
                  <a:lnTo>
                    <a:pt x="1528572" y="389889"/>
                  </a:lnTo>
                  <a:lnTo>
                    <a:pt x="1548383" y="388619"/>
                  </a:lnTo>
                  <a:lnTo>
                    <a:pt x="1566672" y="388619"/>
                  </a:lnTo>
                  <a:lnTo>
                    <a:pt x="1630679" y="382269"/>
                  </a:lnTo>
                  <a:lnTo>
                    <a:pt x="1645920" y="380999"/>
                  </a:lnTo>
                  <a:lnTo>
                    <a:pt x="1658111" y="378459"/>
                  </a:lnTo>
                  <a:lnTo>
                    <a:pt x="1671827" y="375919"/>
                  </a:lnTo>
                  <a:lnTo>
                    <a:pt x="1694687" y="370839"/>
                  </a:lnTo>
                  <a:lnTo>
                    <a:pt x="1716024" y="364489"/>
                  </a:lnTo>
                  <a:lnTo>
                    <a:pt x="1719326" y="363219"/>
                  </a:lnTo>
                  <a:lnTo>
                    <a:pt x="1377696" y="363219"/>
                  </a:lnTo>
                  <a:lnTo>
                    <a:pt x="1280159" y="359409"/>
                  </a:lnTo>
                  <a:lnTo>
                    <a:pt x="1228344" y="358139"/>
                  </a:lnTo>
                  <a:close/>
                </a:path>
                <a:path w="1877695" h="703579">
                  <a:moveTo>
                    <a:pt x="1687067" y="29209"/>
                  </a:moveTo>
                  <a:lnTo>
                    <a:pt x="1316735" y="29209"/>
                  </a:lnTo>
                  <a:lnTo>
                    <a:pt x="1440179" y="33019"/>
                  </a:lnTo>
                  <a:lnTo>
                    <a:pt x="1513331" y="36829"/>
                  </a:lnTo>
                  <a:lnTo>
                    <a:pt x="1546859" y="39369"/>
                  </a:lnTo>
                  <a:lnTo>
                    <a:pt x="1578863" y="43179"/>
                  </a:lnTo>
                  <a:lnTo>
                    <a:pt x="1609344" y="45719"/>
                  </a:lnTo>
                  <a:lnTo>
                    <a:pt x="1638300" y="50800"/>
                  </a:lnTo>
                  <a:lnTo>
                    <a:pt x="1664207" y="54609"/>
                  </a:lnTo>
                  <a:lnTo>
                    <a:pt x="1709927" y="63500"/>
                  </a:lnTo>
                  <a:lnTo>
                    <a:pt x="1748027" y="76200"/>
                  </a:lnTo>
                  <a:lnTo>
                    <a:pt x="1792224" y="100329"/>
                  </a:lnTo>
                  <a:lnTo>
                    <a:pt x="1824227" y="129539"/>
                  </a:lnTo>
                  <a:lnTo>
                    <a:pt x="1845563" y="170179"/>
                  </a:lnTo>
                  <a:lnTo>
                    <a:pt x="1848611" y="191769"/>
                  </a:lnTo>
                  <a:lnTo>
                    <a:pt x="1848611" y="203199"/>
                  </a:lnTo>
                  <a:lnTo>
                    <a:pt x="1827276" y="256539"/>
                  </a:lnTo>
                  <a:lnTo>
                    <a:pt x="1798320" y="287019"/>
                  </a:lnTo>
                  <a:lnTo>
                    <a:pt x="1758696" y="313689"/>
                  </a:lnTo>
                  <a:lnTo>
                    <a:pt x="1685544" y="342899"/>
                  </a:lnTo>
                  <a:lnTo>
                    <a:pt x="1641348" y="351789"/>
                  </a:lnTo>
                  <a:lnTo>
                    <a:pt x="1627631" y="353059"/>
                  </a:lnTo>
                  <a:lnTo>
                    <a:pt x="1581911" y="358139"/>
                  </a:lnTo>
                  <a:lnTo>
                    <a:pt x="1563624" y="359409"/>
                  </a:lnTo>
                  <a:lnTo>
                    <a:pt x="1546859" y="359409"/>
                  </a:lnTo>
                  <a:lnTo>
                    <a:pt x="1527048" y="360679"/>
                  </a:lnTo>
                  <a:lnTo>
                    <a:pt x="1508759" y="360679"/>
                  </a:lnTo>
                  <a:lnTo>
                    <a:pt x="1487424" y="363219"/>
                  </a:lnTo>
                  <a:lnTo>
                    <a:pt x="1719326" y="363219"/>
                  </a:lnTo>
                  <a:lnTo>
                    <a:pt x="1735835" y="356869"/>
                  </a:lnTo>
                  <a:lnTo>
                    <a:pt x="1772411" y="340359"/>
                  </a:lnTo>
                  <a:lnTo>
                    <a:pt x="1789176" y="328929"/>
                  </a:lnTo>
                  <a:lnTo>
                    <a:pt x="1804415" y="318769"/>
                  </a:lnTo>
                  <a:lnTo>
                    <a:pt x="1851659" y="271779"/>
                  </a:lnTo>
                  <a:lnTo>
                    <a:pt x="1871472" y="231139"/>
                  </a:lnTo>
                  <a:lnTo>
                    <a:pt x="1877568" y="190499"/>
                  </a:lnTo>
                  <a:lnTo>
                    <a:pt x="1876044" y="175259"/>
                  </a:lnTo>
                  <a:lnTo>
                    <a:pt x="1862327" y="135889"/>
                  </a:lnTo>
                  <a:lnTo>
                    <a:pt x="1822703" y="86359"/>
                  </a:lnTo>
                  <a:lnTo>
                    <a:pt x="1807463" y="77469"/>
                  </a:lnTo>
                  <a:lnTo>
                    <a:pt x="1792224" y="67309"/>
                  </a:lnTo>
                  <a:lnTo>
                    <a:pt x="1757172" y="50800"/>
                  </a:lnTo>
                  <a:lnTo>
                    <a:pt x="1716024" y="36829"/>
                  </a:lnTo>
                  <a:lnTo>
                    <a:pt x="1693163" y="30479"/>
                  </a:lnTo>
                  <a:lnTo>
                    <a:pt x="1687067" y="29209"/>
                  </a:lnTo>
                  <a:close/>
                </a:path>
                <a:path w="1877695" h="703579">
                  <a:moveTo>
                    <a:pt x="1272539" y="0"/>
                  </a:moveTo>
                  <a:lnTo>
                    <a:pt x="1083563" y="0"/>
                  </a:lnTo>
                  <a:lnTo>
                    <a:pt x="1033272" y="1269"/>
                  </a:lnTo>
                  <a:lnTo>
                    <a:pt x="981455" y="3809"/>
                  </a:lnTo>
                  <a:lnTo>
                    <a:pt x="929639" y="3809"/>
                  </a:lnTo>
                  <a:lnTo>
                    <a:pt x="711707" y="8889"/>
                  </a:lnTo>
                  <a:lnTo>
                    <a:pt x="655320" y="12700"/>
                  </a:lnTo>
                  <a:lnTo>
                    <a:pt x="190500" y="30479"/>
                  </a:lnTo>
                  <a:lnTo>
                    <a:pt x="191957" y="58419"/>
                  </a:lnTo>
                  <a:lnTo>
                    <a:pt x="192024" y="59689"/>
                  </a:lnTo>
                  <a:lnTo>
                    <a:pt x="309372" y="53339"/>
                  </a:lnTo>
                  <a:lnTo>
                    <a:pt x="426720" y="48259"/>
                  </a:lnTo>
                  <a:lnTo>
                    <a:pt x="542544" y="44450"/>
                  </a:lnTo>
                  <a:lnTo>
                    <a:pt x="655320" y="41909"/>
                  </a:lnTo>
                  <a:lnTo>
                    <a:pt x="711707" y="38100"/>
                  </a:lnTo>
                  <a:lnTo>
                    <a:pt x="822959" y="35559"/>
                  </a:lnTo>
                  <a:lnTo>
                    <a:pt x="929639" y="31750"/>
                  </a:lnTo>
                  <a:lnTo>
                    <a:pt x="981455" y="30479"/>
                  </a:lnTo>
                  <a:lnTo>
                    <a:pt x="1033272" y="30479"/>
                  </a:lnTo>
                  <a:lnTo>
                    <a:pt x="1083563" y="29209"/>
                  </a:lnTo>
                  <a:lnTo>
                    <a:pt x="1687067" y="29209"/>
                  </a:lnTo>
                  <a:lnTo>
                    <a:pt x="1668779" y="25400"/>
                  </a:lnTo>
                  <a:lnTo>
                    <a:pt x="1612391" y="17779"/>
                  </a:lnTo>
                  <a:lnTo>
                    <a:pt x="1549907" y="10159"/>
                  </a:lnTo>
                  <a:lnTo>
                    <a:pt x="1514855" y="8889"/>
                  </a:lnTo>
                  <a:lnTo>
                    <a:pt x="1478279" y="6350"/>
                  </a:lnTo>
                  <a:lnTo>
                    <a:pt x="1400555" y="3809"/>
                  </a:lnTo>
                  <a:lnTo>
                    <a:pt x="1359407" y="1269"/>
                  </a:lnTo>
                  <a:lnTo>
                    <a:pt x="1316735" y="1269"/>
                  </a:lnTo>
                  <a:lnTo>
                    <a:pt x="1272539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15</a:t>
            </a:fld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1" grpId="0" animBg="1"/>
      <p:bldP spid="12" grpId="0"/>
      <p:bldP spid="13" grpId="0"/>
      <p:bldP spid="1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839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/>
              <a:t>Find</a:t>
            </a:r>
            <a:r>
              <a:rPr spc="-30" dirty="0"/>
              <a:t> </a:t>
            </a:r>
            <a:r>
              <a:rPr dirty="0"/>
              <a:t>a</a:t>
            </a:r>
            <a:r>
              <a:rPr spc="-10" dirty="0"/>
              <a:t> </a:t>
            </a:r>
            <a:r>
              <a:rPr dirty="0"/>
              <a:t>value</a:t>
            </a:r>
            <a:r>
              <a:rPr spc="-45" dirty="0"/>
              <a:t> </a:t>
            </a:r>
            <a:r>
              <a:rPr dirty="0"/>
              <a:t>in</a:t>
            </a:r>
            <a:r>
              <a:rPr spc="-25" dirty="0"/>
              <a:t> 2D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83223" y="2452624"/>
            <a:ext cx="7783830" cy="4121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35"/>
              </a:spcBef>
              <a:buClr>
                <a:srgbClr val="3333CC"/>
              </a:buClr>
              <a:buSzPct val="60416"/>
              <a:buFont typeface="Wingdings"/>
              <a:buChar char=""/>
              <a:tabLst>
                <a:tab pos="355600" algn="l"/>
                <a:tab pos="5347970" algn="l"/>
              </a:tabLst>
            </a:pPr>
            <a:r>
              <a:rPr sz="2400" dirty="0">
                <a:latin typeface="Tahoma"/>
                <a:cs typeface="Tahoma"/>
              </a:rPr>
              <a:t>Find</a:t>
            </a:r>
            <a:r>
              <a:rPr sz="2400" spc="-3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the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number</a:t>
            </a:r>
            <a:r>
              <a:rPr sz="2400" spc="-3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of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times</a:t>
            </a:r>
            <a:r>
              <a:rPr sz="2400" spc="-10" dirty="0">
                <a:latin typeface="Tahoma"/>
                <a:cs typeface="Tahoma"/>
              </a:rPr>
              <a:t> </a:t>
            </a:r>
            <a:r>
              <a:rPr sz="2500" dirty="0">
                <a:latin typeface="Tahoma"/>
                <a:cs typeface="Tahoma"/>
              </a:rPr>
              <a:t>x</a:t>
            </a:r>
            <a:r>
              <a:rPr sz="2500" spc="-50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appears</a:t>
            </a:r>
            <a:r>
              <a:rPr sz="2400" dirty="0">
                <a:latin typeface="Tahoma"/>
                <a:cs typeface="Tahoma"/>
              </a:rPr>
              <a:t>	in</a:t>
            </a:r>
            <a:r>
              <a:rPr sz="2400" spc="-80" dirty="0">
                <a:latin typeface="Tahoma"/>
                <a:cs typeface="Tahoma"/>
              </a:rPr>
              <a:t> </a:t>
            </a:r>
            <a:r>
              <a:rPr sz="2500" dirty="0">
                <a:latin typeface="Tahoma"/>
                <a:cs typeface="Tahoma"/>
              </a:rPr>
              <a:t>int</a:t>
            </a:r>
            <a:r>
              <a:rPr sz="2500" spc="-125" dirty="0">
                <a:latin typeface="Tahoma"/>
                <a:cs typeface="Tahoma"/>
              </a:rPr>
              <a:t> </a:t>
            </a:r>
            <a:r>
              <a:rPr sz="2500" spc="-45" dirty="0">
                <a:latin typeface="Tahoma"/>
                <a:cs typeface="Tahoma"/>
              </a:rPr>
              <a:t>matrix[3][4]</a:t>
            </a:r>
            <a:endParaRPr sz="25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48652" y="3519855"/>
            <a:ext cx="15963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65150" algn="l"/>
                <a:tab pos="975360" algn="l"/>
                <a:tab pos="1457960" algn="l"/>
              </a:tabLst>
            </a:pPr>
            <a:r>
              <a:rPr sz="1800" spc="-50" dirty="0">
                <a:latin typeface="Tahoma"/>
                <a:cs typeface="Tahoma"/>
              </a:rPr>
              <a:t>0</a:t>
            </a:r>
            <a:r>
              <a:rPr sz="1800" dirty="0">
                <a:latin typeface="Tahoma"/>
                <a:cs typeface="Tahoma"/>
              </a:rPr>
              <a:t>	</a:t>
            </a:r>
            <a:r>
              <a:rPr sz="1800" spc="-50" dirty="0">
                <a:latin typeface="Tahoma"/>
                <a:cs typeface="Tahoma"/>
              </a:rPr>
              <a:t>1</a:t>
            </a:r>
            <a:r>
              <a:rPr sz="1800" dirty="0">
                <a:latin typeface="Tahoma"/>
                <a:cs typeface="Tahoma"/>
              </a:rPr>
              <a:t>	</a:t>
            </a:r>
            <a:r>
              <a:rPr sz="1800" spc="-50" dirty="0">
                <a:latin typeface="Tahoma"/>
                <a:cs typeface="Tahoma"/>
              </a:rPr>
              <a:t>2</a:t>
            </a:r>
            <a:r>
              <a:rPr sz="1800" dirty="0">
                <a:latin typeface="Tahoma"/>
                <a:cs typeface="Tahoma"/>
              </a:rPr>
              <a:t>	</a:t>
            </a:r>
            <a:r>
              <a:rPr sz="1800" spc="-50" dirty="0">
                <a:latin typeface="Tahoma"/>
                <a:cs typeface="Tahoma"/>
              </a:rPr>
              <a:t>3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18972" y="3512819"/>
            <a:ext cx="5556885" cy="373380"/>
          </a:xfrm>
          <a:custGeom>
            <a:avLst/>
            <a:gdLst/>
            <a:ahLst/>
            <a:cxnLst/>
            <a:rect l="l" t="t" r="r" b="b"/>
            <a:pathLst>
              <a:path w="5556885" h="373379">
                <a:moveTo>
                  <a:pt x="5556504" y="0"/>
                </a:moveTo>
                <a:lnTo>
                  <a:pt x="5551678" y="0"/>
                </a:lnTo>
                <a:lnTo>
                  <a:pt x="5551678" y="8890"/>
                </a:lnTo>
                <a:lnTo>
                  <a:pt x="5549760" y="8890"/>
                </a:lnTo>
                <a:lnTo>
                  <a:pt x="5549760" y="6972"/>
                </a:lnTo>
                <a:lnTo>
                  <a:pt x="5551678" y="8890"/>
                </a:lnTo>
                <a:lnTo>
                  <a:pt x="5551678" y="0"/>
                </a:lnTo>
                <a:lnTo>
                  <a:pt x="8636" y="0"/>
                </a:lnTo>
                <a:lnTo>
                  <a:pt x="8636" y="5080"/>
                </a:lnTo>
                <a:lnTo>
                  <a:pt x="6731" y="6985"/>
                </a:lnTo>
                <a:lnTo>
                  <a:pt x="6731" y="5080"/>
                </a:lnTo>
                <a:lnTo>
                  <a:pt x="8636" y="5080"/>
                </a:lnTo>
                <a:lnTo>
                  <a:pt x="8636" y="0"/>
                </a:lnTo>
                <a:lnTo>
                  <a:pt x="0" y="0"/>
                </a:lnTo>
                <a:lnTo>
                  <a:pt x="0" y="5080"/>
                </a:lnTo>
                <a:lnTo>
                  <a:pt x="0" y="8890"/>
                </a:lnTo>
                <a:lnTo>
                  <a:pt x="0" y="373380"/>
                </a:lnTo>
                <a:lnTo>
                  <a:pt x="9144" y="373380"/>
                </a:lnTo>
                <a:lnTo>
                  <a:pt x="9144" y="9144"/>
                </a:lnTo>
                <a:lnTo>
                  <a:pt x="5547360" y="9144"/>
                </a:lnTo>
                <a:lnTo>
                  <a:pt x="5547360" y="373380"/>
                </a:lnTo>
                <a:lnTo>
                  <a:pt x="5556504" y="373380"/>
                </a:lnTo>
                <a:lnTo>
                  <a:pt x="5556504" y="9144"/>
                </a:lnTo>
                <a:lnTo>
                  <a:pt x="5556504" y="8890"/>
                </a:lnTo>
                <a:lnTo>
                  <a:pt x="5556504" y="5080"/>
                </a:lnTo>
                <a:lnTo>
                  <a:pt x="5556504" y="4572"/>
                </a:lnTo>
                <a:lnTo>
                  <a:pt x="555650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244600" y="3602228"/>
            <a:ext cx="25844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Courier New"/>
                <a:cs typeface="Courier New"/>
              </a:rPr>
              <a:t>int</a:t>
            </a:r>
            <a:r>
              <a:rPr sz="2400" b="1" spc="-30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count</a:t>
            </a:r>
            <a:r>
              <a:rPr sz="2400" b="1" spc="-20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=</a:t>
            </a:r>
            <a:r>
              <a:rPr sz="2400" b="1" spc="-15" dirty="0">
                <a:latin typeface="Courier New"/>
                <a:cs typeface="Courier New"/>
              </a:rPr>
              <a:t> </a:t>
            </a:r>
            <a:r>
              <a:rPr sz="2400" b="1" spc="-25" dirty="0">
                <a:latin typeface="Courier New"/>
                <a:cs typeface="Courier New"/>
              </a:rPr>
              <a:t>0;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57200" y="3886200"/>
            <a:ext cx="9144000" cy="3429000"/>
          </a:xfrm>
          <a:custGeom>
            <a:avLst/>
            <a:gdLst/>
            <a:ahLst/>
            <a:cxnLst/>
            <a:rect l="l" t="t" r="r" b="b"/>
            <a:pathLst>
              <a:path w="9144000" h="3429000">
                <a:moveTo>
                  <a:pt x="9144000" y="0"/>
                </a:moveTo>
                <a:lnTo>
                  <a:pt x="0" y="0"/>
                </a:lnTo>
                <a:lnTo>
                  <a:pt x="0" y="3429000"/>
                </a:lnTo>
                <a:lnTo>
                  <a:pt x="9144000" y="3429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7065264" y="3850640"/>
          <a:ext cx="1827528" cy="13709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11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4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22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92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R="27305"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800" spc="-50" dirty="0">
                          <a:latin typeface="Tahoma"/>
                          <a:cs typeface="Tahoma"/>
                        </a:rPr>
                        <a:t>0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4254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0005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800" spc="-50" dirty="0">
                          <a:latin typeface="Tahoma"/>
                          <a:cs typeface="Tahoma"/>
                        </a:rPr>
                        <a:t>1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1079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800" spc="-50" dirty="0">
                          <a:latin typeface="Tahoma"/>
                          <a:cs typeface="Tahoma"/>
                        </a:rPr>
                        <a:t>0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107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800" spc="-50" dirty="0">
                          <a:latin typeface="Tahoma"/>
                          <a:cs typeface="Tahoma"/>
                        </a:rPr>
                        <a:t>2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1079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0385">
                <a:tc>
                  <a:txBody>
                    <a:bodyPr/>
                    <a:lstStyle/>
                    <a:p>
                      <a:pPr marL="46990" algn="ctr">
                        <a:lnSpc>
                          <a:spcPct val="100000"/>
                        </a:lnSpc>
                        <a:spcBef>
                          <a:spcPts val="1175"/>
                        </a:spcBef>
                      </a:pPr>
                      <a:r>
                        <a:rPr sz="1800" spc="-10" dirty="0">
                          <a:latin typeface="Tahoma"/>
                          <a:cs typeface="Tahoma"/>
                        </a:rPr>
                        <a:t>-</a:t>
                      </a:r>
                      <a:r>
                        <a:rPr sz="1800" spc="-60" dirty="0">
                          <a:latin typeface="Tahoma"/>
                          <a:cs typeface="Tahoma"/>
                        </a:rPr>
                        <a:t>1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14922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0005" algn="ctr">
                        <a:lnSpc>
                          <a:spcPct val="100000"/>
                        </a:lnSpc>
                        <a:spcBef>
                          <a:spcPts val="1175"/>
                        </a:spcBef>
                      </a:pPr>
                      <a:r>
                        <a:rPr sz="1800" spc="-50" dirty="0">
                          <a:latin typeface="Tahoma"/>
                          <a:cs typeface="Tahoma"/>
                        </a:rPr>
                        <a:t>2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14922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1175"/>
                        </a:spcBef>
                      </a:pPr>
                      <a:r>
                        <a:rPr sz="1800" spc="-50" dirty="0">
                          <a:latin typeface="Tahoma"/>
                          <a:cs typeface="Tahoma"/>
                        </a:rPr>
                        <a:t>4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1492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1175"/>
                        </a:spcBef>
                      </a:pPr>
                      <a:r>
                        <a:rPr sz="1800" spc="-50" dirty="0">
                          <a:latin typeface="Tahoma"/>
                          <a:cs typeface="Tahoma"/>
                        </a:rPr>
                        <a:t>3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14922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9580">
                <a:tc>
                  <a:txBody>
                    <a:bodyPr/>
                    <a:lstStyle/>
                    <a:p>
                      <a:pPr marR="27305"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800" spc="-50" dirty="0">
                          <a:latin typeface="Tahoma"/>
                          <a:cs typeface="Tahoma"/>
                        </a:rPr>
                        <a:t>0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4254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655"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800" spc="-10" dirty="0">
                          <a:latin typeface="Tahoma"/>
                          <a:cs typeface="Tahoma"/>
                        </a:rPr>
                        <a:t>-</a:t>
                      </a:r>
                      <a:r>
                        <a:rPr sz="1800" spc="-60" dirty="0">
                          <a:latin typeface="Tahoma"/>
                          <a:cs typeface="Tahoma"/>
                        </a:rPr>
                        <a:t>1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4254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800" spc="-50" dirty="0">
                          <a:latin typeface="Tahoma"/>
                          <a:cs typeface="Tahoma"/>
                        </a:rPr>
                        <a:t>3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800" spc="-50" dirty="0">
                          <a:latin typeface="Tahoma"/>
                          <a:cs typeface="Tahoma"/>
                        </a:rPr>
                        <a:t>1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4254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object 9"/>
          <p:cNvSpPr txBox="1"/>
          <p:nvPr/>
        </p:nvSpPr>
        <p:spPr>
          <a:xfrm>
            <a:off x="6549720" y="3948252"/>
            <a:ext cx="1504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Tahoma"/>
                <a:cs typeface="Tahoma"/>
              </a:rPr>
              <a:t>0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549720" y="4304639"/>
            <a:ext cx="150495" cy="897890"/>
          </a:xfrm>
          <a:prstGeom prst="rect">
            <a:avLst/>
          </a:prstGeom>
        </p:spPr>
        <p:txBody>
          <a:bodyPr vert="horz" wrap="square" lIns="0" tIns="1739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70"/>
              </a:spcBef>
            </a:pPr>
            <a:r>
              <a:rPr sz="1800" spc="-50" dirty="0">
                <a:latin typeface="Tahoma"/>
                <a:cs typeface="Tahoma"/>
              </a:rPr>
              <a:t>1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275"/>
              </a:spcBef>
            </a:pPr>
            <a:r>
              <a:rPr sz="1800" spc="-50" dirty="0">
                <a:latin typeface="Tahoma"/>
                <a:cs typeface="Tahoma"/>
              </a:rPr>
              <a:t>2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918972" y="3886200"/>
            <a:ext cx="5556885" cy="2819400"/>
          </a:xfrm>
          <a:custGeom>
            <a:avLst/>
            <a:gdLst/>
            <a:ahLst/>
            <a:cxnLst/>
            <a:rect l="l" t="t" r="r" b="b"/>
            <a:pathLst>
              <a:path w="5556885" h="2819400">
                <a:moveTo>
                  <a:pt x="5556504" y="0"/>
                </a:moveTo>
                <a:lnTo>
                  <a:pt x="5551678" y="0"/>
                </a:lnTo>
                <a:lnTo>
                  <a:pt x="5551678" y="2810510"/>
                </a:lnTo>
                <a:lnTo>
                  <a:pt x="5549773" y="2812427"/>
                </a:lnTo>
                <a:lnTo>
                  <a:pt x="5549773" y="2810510"/>
                </a:lnTo>
                <a:lnTo>
                  <a:pt x="5551678" y="2810510"/>
                </a:lnTo>
                <a:lnTo>
                  <a:pt x="5551678" y="0"/>
                </a:lnTo>
                <a:lnTo>
                  <a:pt x="5547360" y="0"/>
                </a:lnTo>
                <a:lnTo>
                  <a:pt x="5547360" y="2810268"/>
                </a:lnTo>
                <a:lnTo>
                  <a:pt x="9144" y="2810268"/>
                </a:lnTo>
                <a:lnTo>
                  <a:pt x="9144" y="0"/>
                </a:lnTo>
                <a:lnTo>
                  <a:pt x="8623" y="0"/>
                </a:lnTo>
                <a:lnTo>
                  <a:pt x="8623" y="2814320"/>
                </a:lnTo>
                <a:lnTo>
                  <a:pt x="6718" y="2814320"/>
                </a:lnTo>
                <a:lnTo>
                  <a:pt x="6718" y="2812415"/>
                </a:lnTo>
                <a:lnTo>
                  <a:pt x="8623" y="2814320"/>
                </a:lnTo>
                <a:lnTo>
                  <a:pt x="8623" y="0"/>
                </a:lnTo>
                <a:lnTo>
                  <a:pt x="0" y="0"/>
                </a:lnTo>
                <a:lnTo>
                  <a:pt x="0" y="2810510"/>
                </a:lnTo>
                <a:lnTo>
                  <a:pt x="0" y="2814320"/>
                </a:lnTo>
                <a:lnTo>
                  <a:pt x="0" y="2819400"/>
                </a:lnTo>
                <a:lnTo>
                  <a:pt x="5556504" y="2819400"/>
                </a:lnTo>
                <a:lnTo>
                  <a:pt x="5556504" y="2814828"/>
                </a:lnTo>
                <a:lnTo>
                  <a:pt x="5556504" y="2814320"/>
                </a:lnTo>
                <a:lnTo>
                  <a:pt x="5556504" y="2810510"/>
                </a:lnTo>
                <a:lnTo>
                  <a:pt x="5556504" y="2810268"/>
                </a:lnTo>
                <a:lnTo>
                  <a:pt x="555650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000760" y="3999991"/>
            <a:ext cx="4954270" cy="2219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60705" marR="733425" indent="-365760">
              <a:lnSpc>
                <a:spcPct val="120000"/>
              </a:lnSpc>
              <a:spcBef>
                <a:spcPts val="100"/>
              </a:spcBef>
            </a:pPr>
            <a:r>
              <a:rPr sz="2400" b="1" dirty="0">
                <a:latin typeface="Courier New"/>
                <a:cs typeface="Courier New"/>
              </a:rPr>
              <a:t>for</a:t>
            </a:r>
            <a:r>
              <a:rPr sz="2400" b="1" spc="-40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(i=0;</a:t>
            </a:r>
            <a:r>
              <a:rPr sz="2400" b="1" spc="-25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i&lt;3;</a:t>
            </a:r>
            <a:r>
              <a:rPr sz="2400" b="1" spc="-45" dirty="0">
                <a:latin typeface="Courier New"/>
                <a:cs typeface="Courier New"/>
              </a:rPr>
              <a:t> </a:t>
            </a:r>
            <a:r>
              <a:rPr sz="2400" b="1" spc="-20" dirty="0">
                <a:latin typeface="Courier New"/>
                <a:cs typeface="Courier New"/>
              </a:rPr>
              <a:t>i++) </a:t>
            </a:r>
            <a:r>
              <a:rPr sz="2400" b="1" dirty="0">
                <a:latin typeface="Courier New"/>
                <a:cs typeface="Courier New"/>
              </a:rPr>
              <a:t>for</a:t>
            </a:r>
            <a:r>
              <a:rPr sz="2400" b="1" spc="-50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(j=0;</a:t>
            </a:r>
            <a:r>
              <a:rPr sz="2400" b="1" spc="-30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j&lt;4;</a:t>
            </a:r>
            <a:r>
              <a:rPr sz="2400" b="1" spc="-30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j++){</a:t>
            </a:r>
            <a:endParaRPr sz="2400">
              <a:latin typeface="Courier New"/>
              <a:cs typeface="Courier New"/>
            </a:endParaRPr>
          </a:p>
          <a:p>
            <a:pPr marL="1475105" marR="5080" indent="-548640">
              <a:lnSpc>
                <a:spcPct val="120000"/>
              </a:lnSpc>
            </a:pPr>
            <a:r>
              <a:rPr sz="2400" b="1" dirty="0">
                <a:latin typeface="Courier New"/>
                <a:cs typeface="Courier New"/>
              </a:rPr>
              <a:t>if</a:t>
            </a:r>
            <a:r>
              <a:rPr sz="2400" b="1" spc="-60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(matrix[i][j]</a:t>
            </a:r>
            <a:r>
              <a:rPr sz="2400" b="1" spc="-40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==</a:t>
            </a:r>
            <a:r>
              <a:rPr sz="2400" b="1" spc="-45" dirty="0">
                <a:latin typeface="Courier New"/>
                <a:cs typeface="Courier New"/>
              </a:rPr>
              <a:t> </a:t>
            </a:r>
            <a:r>
              <a:rPr sz="2400" b="1" spc="-25" dirty="0">
                <a:latin typeface="Courier New"/>
                <a:cs typeface="Courier New"/>
              </a:rPr>
              <a:t>x) </a:t>
            </a:r>
            <a:r>
              <a:rPr sz="2400" b="1" dirty="0">
                <a:latin typeface="Courier New"/>
                <a:cs typeface="Courier New"/>
              </a:rPr>
              <a:t>count</a:t>
            </a:r>
            <a:r>
              <a:rPr sz="2400" b="1" spc="-30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=</a:t>
            </a:r>
            <a:r>
              <a:rPr sz="2400" b="1" spc="-20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count</a:t>
            </a:r>
            <a:r>
              <a:rPr sz="2400" b="1" spc="-30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+</a:t>
            </a:r>
            <a:r>
              <a:rPr sz="2400" b="1" spc="-20" dirty="0">
                <a:latin typeface="Courier New"/>
                <a:cs typeface="Courier New"/>
              </a:rPr>
              <a:t> </a:t>
            </a:r>
            <a:r>
              <a:rPr sz="2400" b="1" spc="-25" dirty="0">
                <a:latin typeface="Courier New"/>
                <a:cs typeface="Courier New"/>
              </a:rPr>
              <a:t>1;</a:t>
            </a:r>
            <a:endParaRPr sz="2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z="2400" b="1" spc="-50" dirty="0">
                <a:latin typeface="Courier New"/>
                <a:cs typeface="Courier New"/>
              </a:rPr>
              <a:t>}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16</a:t>
            </a:fld>
            <a:endParaRPr spc="-25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839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/>
              <a:t>Matrix</a:t>
            </a:r>
            <a:r>
              <a:rPr spc="-60" dirty="0"/>
              <a:t> </a:t>
            </a:r>
            <a:r>
              <a:rPr spc="-25" dirty="0"/>
              <a:t>sum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17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1383314" y="2506502"/>
            <a:ext cx="629348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5"/>
              </a:spcBef>
              <a:buClr>
                <a:srgbClr val="3333CC"/>
              </a:buClr>
              <a:buSzPct val="58928"/>
              <a:buFont typeface="Wingdings"/>
              <a:buChar char=""/>
              <a:tabLst>
                <a:tab pos="354965" algn="l"/>
              </a:tabLst>
            </a:pPr>
            <a:r>
              <a:rPr sz="2800" dirty="0">
                <a:latin typeface="Tahoma"/>
                <a:cs typeface="Tahoma"/>
              </a:rPr>
              <a:t>Compute</a:t>
            </a:r>
            <a:r>
              <a:rPr sz="2800" spc="-6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the</a:t>
            </a:r>
            <a:r>
              <a:rPr sz="2800" spc="-6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addition</a:t>
            </a:r>
            <a:r>
              <a:rPr sz="2800" spc="-4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of</a:t>
            </a:r>
            <a:r>
              <a:rPr sz="2800" spc="-7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two</a:t>
            </a:r>
            <a:r>
              <a:rPr sz="2800" spc="-60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matrices</a:t>
            </a:r>
            <a:endParaRPr sz="2800">
              <a:latin typeface="Tahoma"/>
              <a:cs typeface="Tahoma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7374635" y="3832859"/>
          <a:ext cx="1828163" cy="137096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1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4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16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989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R="27940"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800" spc="-50" dirty="0">
                          <a:latin typeface="Tahoma"/>
                          <a:cs typeface="Tahoma"/>
                        </a:rPr>
                        <a:t>3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4381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5100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800" spc="-50" dirty="0">
                          <a:latin typeface="Tahoma"/>
                          <a:cs typeface="Tahoma"/>
                        </a:rPr>
                        <a:t>0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120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800" spc="-50" dirty="0">
                          <a:latin typeface="Tahoma"/>
                          <a:cs typeface="Tahoma"/>
                        </a:rPr>
                        <a:t>3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1206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800" spc="-50" dirty="0">
                          <a:latin typeface="Tahoma"/>
                          <a:cs typeface="Tahoma"/>
                        </a:rPr>
                        <a:t>3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1206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1655">
                <a:tc>
                  <a:txBody>
                    <a:bodyPr/>
                    <a:lstStyle/>
                    <a:p>
                      <a:pPr marR="27940" algn="ctr">
                        <a:lnSpc>
                          <a:spcPct val="100000"/>
                        </a:lnSpc>
                        <a:spcBef>
                          <a:spcPts val="1185"/>
                        </a:spcBef>
                      </a:pPr>
                      <a:r>
                        <a:rPr sz="1800" spc="-50" dirty="0">
                          <a:latin typeface="Tahoma"/>
                          <a:cs typeface="Tahoma"/>
                        </a:rPr>
                        <a:t>0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15049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5100">
                        <a:lnSpc>
                          <a:spcPct val="100000"/>
                        </a:lnSpc>
                        <a:spcBef>
                          <a:spcPts val="1185"/>
                        </a:spcBef>
                      </a:pPr>
                      <a:r>
                        <a:rPr sz="1800" spc="-50" dirty="0">
                          <a:latin typeface="Tahoma"/>
                          <a:cs typeface="Tahoma"/>
                        </a:rPr>
                        <a:t>6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1504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1185"/>
                        </a:spcBef>
                      </a:pPr>
                      <a:r>
                        <a:rPr sz="1800" spc="-50" dirty="0">
                          <a:latin typeface="Tahoma"/>
                          <a:cs typeface="Tahoma"/>
                        </a:rPr>
                        <a:t>6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15049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1185"/>
                        </a:spcBef>
                      </a:pPr>
                      <a:r>
                        <a:rPr sz="1800" spc="-50" dirty="0">
                          <a:latin typeface="Tahoma"/>
                          <a:cs typeface="Tahoma"/>
                        </a:rPr>
                        <a:t>3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15049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8309">
                <a:tc>
                  <a:txBody>
                    <a:bodyPr/>
                    <a:lstStyle/>
                    <a:p>
                      <a:pPr marR="27940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800" spc="-50" dirty="0">
                          <a:latin typeface="Tahoma"/>
                          <a:cs typeface="Tahoma"/>
                        </a:rPr>
                        <a:t>2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4318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510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800" spc="-50" dirty="0">
                          <a:latin typeface="Tahoma"/>
                          <a:cs typeface="Tahoma"/>
                        </a:rPr>
                        <a:t>0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800" spc="-50" dirty="0">
                          <a:latin typeface="Tahoma"/>
                          <a:cs typeface="Tahoma"/>
                        </a:rPr>
                        <a:t>4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4318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800" spc="-50" dirty="0">
                          <a:latin typeface="Tahoma"/>
                          <a:cs typeface="Tahoma"/>
                        </a:rPr>
                        <a:t>4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4318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7457947" y="3501567"/>
            <a:ext cx="15963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65150" algn="l"/>
                <a:tab pos="975360" algn="l"/>
                <a:tab pos="1457960" algn="l"/>
              </a:tabLst>
            </a:pPr>
            <a:r>
              <a:rPr sz="1800" spc="-50" dirty="0">
                <a:latin typeface="Tahoma"/>
                <a:cs typeface="Tahoma"/>
              </a:rPr>
              <a:t>0</a:t>
            </a:r>
            <a:r>
              <a:rPr sz="1800" dirty="0">
                <a:latin typeface="Tahoma"/>
                <a:cs typeface="Tahoma"/>
              </a:rPr>
              <a:t>	</a:t>
            </a:r>
            <a:r>
              <a:rPr sz="1800" spc="-50" dirty="0">
                <a:latin typeface="Tahoma"/>
                <a:cs typeface="Tahoma"/>
              </a:rPr>
              <a:t>1</a:t>
            </a:r>
            <a:r>
              <a:rPr sz="1800" dirty="0">
                <a:latin typeface="Tahoma"/>
                <a:cs typeface="Tahoma"/>
              </a:rPr>
              <a:t>	</a:t>
            </a:r>
            <a:r>
              <a:rPr sz="1800" spc="-50" dirty="0">
                <a:latin typeface="Tahoma"/>
                <a:cs typeface="Tahoma"/>
              </a:rPr>
              <a:t>2</a:t>
            </a:r>
            <a:r>
              <a:rPr sz="1800" dirty="0">
                <a:latin typeface="Tahoma"/>
                <a:cs typeface="Tahoma"/>
              </a:rPr>
              <a:t>	</a:t>
            </a:r>
            <a:r>
              <a:rPr sz="1800" spc="-50" dirty="0">
                <a:latin typeface="Tahoma"/>
                <a:cs typeface="Tahoma"/>
              </a:rPr>
              <a:t>3</a:t>
            </a:r>
            <a:endParaRPr sz="1800">
              <a:latin typeface="Tahoma"/>
              <a:cs typeface="Tahoma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1338072" y="3850640"/>
          <a:ext cx="1828165" cy="13709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11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41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2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05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13398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800" spc="-50" dirty="0">
                          <a:latin typeface="Tahoma"/>
                          <a:cs typeface="Tahoma"/>
                        </a:rPr>
                        <a:t>0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4254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573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800" spc="-50" dirty="0">
                          <a:latin typeface="Tahoma"/>
                          <a:cs typeface="Tahoma"/>
                        </a:rPr>
                        <a:t>1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1079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800" spc="-50" dirty="0">
                          <a:latin typeface="Tahoma"/>
                          <a:cs typeface="Tahoma"/>
                        </a:rPr>
                        <a:t>0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1079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800" spc="-50" dirty="0">
                          <a:latin typeface="Tahoma"/>
                          <a:cs typeface="Tahoma"/>
                        </a:rPr>
                        <a:t>2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107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0385">
                <a:tc>
                  <a:txBody>
                    <a:bodyPr/>
                    <a:lstStyle/>
                    <a:p>
                      <a:pPr marL="133985">
                        <a:lnSpc>
                          <a:spcPct val="100000"/>
                        </a:lnSpc>
                        <a:spcBef>
                          <a:spcPts val="1175"/>
                        </a:spcBef>
                      </a:pPr>
                      <a:r>
                        <a:rPr sz="1800" spc="-10" dirty="0">
                          <a:latin typeface="Tahoma"/>
                          <a:cs typeface="Tahoma"/>
                        </a:rPr>
                        <a:t>-</a:t>
                      </a:r>
                      <a:r>
                        <a:rPr sz="1800" spc="-60" dirty="0">
                          <a:latin typeface="Tahoma"/>
                          <a:cs typeface="Tahoma"/>
                        </a:rPr>
                        <a:t>1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14922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5735">
                        <a:lnSpc>
                          <a:spcPct val="100000"/>
                        </a:lnSpc>
                        <a:spcBef>
                          <a:spcPts val="1175"/>
                        </a:spcBef>
                      </a:pPr>
                      <a:r>
                        <a:rPr sz="1800" spc="-50" dirty="0">
                          <a:latin typeface="Tahoma"/>
                          <a:cs typeface="Tahoma"/>
                        </a:rPr>
                        <a:t>2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14922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175"/>
                        </a:spcBef>
                      </a:pPr>
                      <a:r>
                        <a:rPr sz="1800" spc="-50" dirty="0">
                          <a:latin typeface="Tahoma"/>
                          <a:cs typeface="Tahoma"/>
                        </a:rPr>
                        <a:t>4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14922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1175"/>
                        </a:spcBef>
                      </a:pPr>
                      <a:r>
                        <a:rPr sz="1800" spc="-50" dirty="0">
                          <a:latin typeface="Tahoma"/>
                          <a:cs typeface="Tahoma"/>
                        </a:rPr>
                        <a:t>3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1492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9580">
                <a:tc>
                  <a:txBody>
                    <a:bodyPr/>
                    <a:lstStyle/>
                    <a:p>
                      <a:pPr marL="13398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800" spc="-50" dirty="0">
                          <a:latin typeface="Tahoma"/>
                          <a:cs typeface="Tahoma"/>
                        </a:rPr>
                        <a:t>0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4254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573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800" spc="-10" dirty="0">
                          <a:latin typeface="Tahoma"/>
                          <a:cs typeface="Tahoma"/>
                        </a:rPr>
                        <a:t>-</a:t>
                      </a:r>
                      <a:r>
                        <a:rPr sz="1800" spc="-60" dirty="0">
                          <a:latin typeface="Tahoma"/>
                          <a:cs typeface="Tahoma"/>
                        </a:rPr>
                        <a:t>1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4254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800" spc="-50" dirty="0">
                          <a:latin typeface="Tahoma"/>
                          <a:cs typeface="Tahoma"/>
                        </a:rPr>
                        <a:t>3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4254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800" spc="-50" dirty="0">
                          <a:latin typeface="Tahoma"/>
                          <a:cs typeface="Tahoma"/>
                        </a:rPr>
                        <a:t>1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1419936" y="3487851"/>
            <a:ext cx="15963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65150" algn="l"/>
                <a:tab pos="975360" algn="l"/>
                <a:tab pos="1457960" algn="l"/>
              </a:tabLst>
            </a:pPr>
            <a:r>
              <a:rPr sz="1800" spc="-50" dirty="0">
                <a:latin typeface="Tahoma"/>
                <a:cs typeface="Tahoma"/>
              </a:rPr>
              <a:t>0</a:t>
            </a:r>
            <a:r>
              <a:rPr sz="1800" dirty="0">
                <a:latin typeface="Tahoma"/>
                <a:cs typeface="Tahoma"/>
              </a:rPr>
              <a:t>	</a:t>
            </a:r>
            <a:r>
              <a:rPr sz="1800" spc="-50" dirty="0">
                <a:latin typeface="Tahoma"/>
                <a:cs typeface="Tahoma"/>
              </a:rPr>
              <a:t>1</a:t>
            </a:r>
            <a:r>
              <a:rPr sz="1800" dirty="0">
                <a:latin typeface="Tahoma"/>
                <a:cs typeface="Tahoma"/>
              </a:rPr>
              <a:t>	</a:t>
            </a:r>
            <a:r>
              <a:rPr sz="1800" spc="-50" dirty="0">
                <a:latin typeface="Tahoma"/>
                <a:cs typeface="Tahoma"/>
              </a:rPr>
              <a:t>2</a:t>
            </a:r>
            <a:r>
              <a:rPr sz="1800" dirty="0">
                <a:latin typeface="Tahoma"/>
                <a:cs typeface="Tahoma"/>
              </a:rPr>
              <a:t>	</a:t>
            </a:r>
            <a:r>
              <a:rPr sz="1800" spc="-50" dirty="0">
                <a:latin typeface="Tahoma"/>
                <a:cs typeface="Tahoma"/>
              </a:rPr>
              <a:t>3</a:t>
            </a:r>
            <a:endParaRPr sz="1800">
              <a:latin typeface="Tahoma"/>
              <a:cs typeface="Tahoma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4270247" y="3832859"/>
          <a:ext cx="1828163" cy="137096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11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41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16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11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R="30480"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800" spc="-50" dirty="0">
                          <a:latin typeface="Tahoma"/>
                          <a:cs typeface="Tahoma"/>
                        </a:rPr>
                        <a:t>3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4381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0"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800" spc="-10" dirty="0">
                          <a:latin typeface="Tahoma"/>
                          <a:cs typeface="Tahoma"/>
                        </a:rPr>
                        <a:t>-</a:t>
                      </a:r>
                      <a:r>
                        <a:rPr sz="1800" spc="-60" dirty="0">
                          <a:latin typeface="Tahoma"/>
                          <a:cs typeface="Tahoma"/>
                        </a:rPr>
                        <a:t>1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1206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800" spc="-50" dirty="0">
                          <a:latin typeface="Tahoma"/>
                          <a:cs typeface="Tahoma"/>
                        </a:rPr>
                        <a:t>3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1206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800" spc="-50" dirty="0">
                          <a:latin typeface="Tahoma"/>
                          <a:cs typeface="Tahoma"/>
                        </a:rPr>
                        <a:t>1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1206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1655">
                <a:tc>
                  <a:txBody>
                    <a:bodyPr/>
                    <a:lstStyle/>
                    <a:p>
                      <a:pPr marR="30480" algn="ctr">
                        <a:lnSpc>
                          <a:spcPct val="100000"/>
                        </a:lnSpc>
                        <a:spcBef>
                          <a:spcPts val="1185"/>
                        </a:spcBef>
                      </a:pPr>
                      <a:r>
                        <a:rPr sz="1800" spc="-50" dirty="0">
                          <a:latin typeface="Tahoma"/>
                          <a:cs typeface="Tahoma"/>
                        </a:rPr>
                        <a:t>1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15049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2545" algn="ctr">
                        <a:lnSpc>
                          <a:spcPct val="100000"/>
                        </a:lnSpc>
                        <a:spcBef>
                          <a:spcPts val="1185"/>
                        </a:spcBef>
                      </a:pPr>
                      <a:r>
                        <a:rPr sz="1800" spc="-50" dirty="0">
                          <a:latin typeface="Tahoma"/>
                          <a:cs typeface="Tahoma"/>
                        </a:rPr>
                        <a:t>4</a:t>
                      </a:r>
                      <a:endParaRPr sz="1800" dirty="0">
                        <a:latin typeface="Tahoma"/>
                        <a:cs typeface="Tahoma"/>
                      </a:endParaRPr>
                    </a:p>
                  </a:txBody>
                  <a:tcPr marL="0" marR="0" marT="15049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1185"/>
                        </a:spcBef>
                      </a:pPr>
                      <a:r>
                        <a:rPr sz="1800" spc="-50" dirty="0">
                          <a:latin typeface="Tahoma"/>
                          <a:cs typeface="Tahoma"/>
                        </a:rPr>
                        <a:t>2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15049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1185"/>
                        </a:spcBef>
                      </a:pPr>
                      <a:r>
                        <a:rPr sz="1800" spc="-50" dirty="0">
                          <a:latin typeface="Tahoma"/>
                          <a:cs typeface="Tahoma"/>
                        </a:rPr>
                        <a:t>0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15049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8309">
                <a:tc>
                  <a:txBody>
                    <a:bodyPr/>
                    <a:lstStyle/>
                    <a:p>
                      <a:pPr marR="30480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800" spc="-50" dirty="0">
                          <a:latin typeface="Tahoma"/>
                          <a:cs typeface="Tahoma"/>
                        </a:rPr>
                        <a:t>2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4318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2545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800" spc="-50" dirty="0">
                          <a:latin typeface="Tahoma"/>
                          <a:cs typeface="Tahoma"/>
                        </a:rPr>
                        <a:t>1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4318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800" spc="-50" dirty="0">
                          <a:latin typeface="Tahoma"/>
                          <a:cs typeface="Tahoma"/>
                        </a:rPr>
                        <a:t>1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4318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800" spc="-50" dirty="0">
                          <a:latin typeface="Tahoma"/>
                          <a:cs typeface="Tahoma"/>
                        </a:rPr>
                        <a:t>3</a:t>
                      </a:r>
                      <a:endParaRPr sz="1800" dirty="0">
                        <a:latin typeface="Tahoma"/>
                        <a:cs typeface="Tahoma"/>
                      </a:endParaRPr>
                    </a:p>
                  </a:txBody>
                  <a:tcPr marL="0" marR="0" marT="4318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object 9"/>
          <p:cNvSpPr txBox="1"/>
          <p:nvPr/>
        </p:nvSpPr>
        <p:spPr>
          <a:xfrm>
            <a:off x="4351959" y="3469563"/>
            <a:ext cx="15970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65150" algn="l"/>
                <a:tab pos="975994" algn="l"/>
                <a:tab pos="1458595" algn="l"/>
              </a:tabLst>
            </a:pPr>
            <a:r>
              <a:rPr sz="1800" spc="-50" dirty="0">
                <a:latin typeface="Tahoma"/>
                <a:cs typeface="Tahoma"/>
              </a:rPr>
              <a:t>0</a:t>
            </a:r>
            <a:r>
              <a:rPr sz="1800" dirty="0">
                <a:latin typeface="Tahoma"/>
                <a:cs typeface="Tahoma"/>
              </a:rPr>
              <a:t>	</a:t>
            </a:r>
            <a:r>
              <a:rPr sz="1800" spc="-50" dirty="0">
                <a:latin typeface="Tahoma"/>
                <a:cs typeface="Tahoma"/>
              </a:rPr>
              <a:t>1</a:t>
            </a:r>
            <a:r>
              <a:rPr sz="1800" dirty="0">
                <a:latin typeface="Tahoma"/>
                <a:cs typeface="Tahoma"/>
              </a:rPr>
              <a:t>	</a:t>
            </a:r>
            <a:r>
              <a:rPr sz="1800" spc="-50" dirty="0">
                <a:latin typeface="Tahoma"/>
                <a:cs typeface="Tahoma"/>
              </a:rPr>
              <a:t>2</a:t>
            </a:r>
            <a:r>
              <a:rPr sz="1800" dirty="0">
                <a:latin typeface="Tahoma"/>
                <a:cs typeface="Tahoma"/>
              </a:rPr>
              <a:t>	</a:t>
            </a:r>
            <a:r>
              <a:rPr sz="1800" spc="-50" dirty="0">
                <a:latin typeface="Tahoma"/>
                <a:cs typeface="Tahoma"/>
              </a:rPr>
              <a:t>3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859016" y="3929964"/>
            <a:ext cx="1504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Tahoma"/>
                <a:cs typeface="Tahoma"/>
              </a:rPr>
              <a:t>0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452108" y="4187444"/>
            <a:ext cx="557530" cy="996315"/>
          </a:xfrm>
          <a:prstGeom prst="rect">
            <a:avLst/>
          </a:prstGeom>
        </p:spPr>
        <p:txBody>
          <a:bodyPr vert="horz" wrap="square" lIns="0" tIns="2012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85"/>
              </a:spcBef>
              <a:tabLst>
                <a:tab pos="419100" algn="l"/>
              </a:tabLst>
            </a:pPr>
            <a:r>
              <a:rPr sz="2400" spc="-50" dirty="0">
                <a:latin typeface="Tahoma"/>
                <a:cs typeface="Tahoma"/>
              </a:rPr>
              <a:t>=</a:t>
            </a:r>
            <a:r>
              <a:rPr sz="2400" dirty="0">
                <a:latin typeface="Tahoma"/>
                <a:cs typeface="Tahoma"/>
              </a:rPr>
              <a:t>	</a:t>
            </a:r>
            <a:r>
              <a:rPr sz="1800" spc="-50" dirty="0">
                <a:latin typeface="Tahoma"/>
                <a:cs typeface="Tahoma"/>
              </a:rPr>
              <a:t>1</a:t>
            </a:r>
            <a:endParaRPr sz="1800">
              <a:latin typeface="Tahoma"/>
              <a:cs typeface="Tahoma"/>
            </a:endParaRPr>
          </a:p>
          <a:p>
            <a:pPr marR="5080" algn="r">
              <a:lnSpc>
                <a:spcPct val="100000"/>
              </a:lnSpc>
              <a:spcBef>
                <a:spcPts val="1115"/>
              </a:spcBef>
            </a:pPr>
            <a:r>
              <a:rPr sz="1800" spc="-50" dirty="0">
                <a:latin typeface="Tahoma"/>
                <a:cs typeface="Tahoma"/>
              </a:rPr>
              <a:t>2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22375" y="3948252"/>
            <a:ext cx="1504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Tahoma"/>
                <a:cs typeface="Tahoma"/>
              </a:rPr>
              <a:t>0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22375" y="4304639"/>
            <a:ext cx="150495" cy="897890"/>
          </a:xfrm>
          <a:prstGeom prst="rect">
            <a:avLst/>
          </a:prstGeom>
        </p:spPr>
        <p:txBody>
          <a:bodyPr vert="horz" wrap="square" lIns="0" tIns="1739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70"/>
              </a:spcBef>
            </a:pPr>
            <a:r>
              <a:rPr sz="1800" spc="-50" dirty="0">
                <a:latin typeface="Tahoma"/>
                <a:cs typeface="Tahoma"/>
              </a:rPr>
              <a:t>1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275"/>
              </a:spcBef>
            </a:pPr>
            <a:r>
              <a:rPr sz="1800" spc="-50" dirty="0">
                <a:latin typeface="Tahoma"/>
                <a:cs typeface="Tahoma"/>
              </a:rPr>
              <a:t>2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347720" y="4313935"/>
            <a:ext cx="2476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Tahoma"/>
                <a:cs typeface="Tahoma"/>
              </a:rPr>
              <a:t>+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753027" y="3929964"/>
            <a:ext cx="1504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Tahoma"/>
                <a:cs typeface="Tahoma"/>
              </a:rPr>
              <a:t>0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753027" y="4289552"/>
            <a:ext cx="150495" cy="894080"/>
          </a:xfrm>
          <a:prstGeom prst="rect">
            <a:avLst/>
          </a:prstGeom>
        </p:spPr>
        <p:txBody>
          <a:bodyPr vert="horz" wrap="square" lIns="0" tIns="1727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60"/>
              </a:spcBef>
            </a:pPr>
            <a:r>
              <a:rPr sz="1800" spc="-50" dirty="0">
                <a:latin typeface="Tahoma"/>
                <a:cs typeface="Tahoma"/>
              </a:rPr>
              <a:t>1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260"/>
              </a:spcBef>
            </a:pPr>
            <a:r>
              <a:rPr sz="1800" spc="-50" dirty="0">
                <a:latin typeface="Tahoma"/>
                <a:cs typeface="Tahoma"/>
              </a:rPr>
              <a:t>2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83945" rIns="0" bIns="0" rtlCol="0">
            <a:spAutoFit/>
          </a:bodyPr>
          <a:lstStyle/>
          <a:p>
            <a:pPr marL="2648585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solution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18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878839" y="2715260"/>
            <a:ext cx="8631555" cy="3536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67080" marR="5302250" indent="-754380">
              <a:lnSpc>
                <a:spcPct val="120000"/>
              </a:lnSpc>
              <a:spcBef>
                <a:spcPts val="100"/>
              </a:spcBef>
            </a:pPr>
            <a:r>
              <a:rPr sz="2400" b="1" dirty="0">
                <a:latin typeface="Courier New"/>
                <a:cs typeface="Courier New"/>
              </a:rPr>
              <a:t>int</a:t>
            </a:r>
            <a:r>
              <a:rPr sz="2400" b="1" spc="-15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matrix1[3][4], matrix2[3][4],</a:t>
            </a:r>
            <a:endParaRPr sz="2400">
              <a:latin typeface="Courier New"/>
              <a:cs typeface="Courier New"/>
            </a:endParaRPr>
          </a:p>
          <a:p>
            <a:pPr marL="767080">
              <a:lnSpc>
                <a:spcPct val="100000"/>
              </a:lnSpc>
              <a:spcBef>
                <a:spcPts val="575"/>
              </a:spcBef>
            </a:pPr>
            <a:r>
              <a:rPr sz="2400" b="1" spc="-10" dirty="0">
                <a:latin typeface="Courier New"/>
                <a:cs typeface="Courier New"/>
              </a:rPr>
              <a:t>sum[3][4];</a:t>
            </a:r>
            <a:endParaRPr sz="2400">
              <a:latin typeface="Courier New"/>
              <a:cs typeface="Courier New"/>
            </a:endParaRPr>
          </a:p>
          <a:p>
            <a:pPr marL="35560">
              <a:lnSpc>
                <a:spcPct val="100000"/>
              </a:lnSpc>
              <a:spcBef>
                <a:spcPts val="575"/>
              </a:spcBef>
            </a:pPr>
            <a:r>
              <a:rPr sz="2400" b="1" dirty="0">
                <a:latin typeface="Courier New"/>
                <a:cs typeface="Courier New"/>
              </a:rPr>
              <a:t>//</a:t>
            </a:r>
            <a:r>
              <a:rPr sz="2400" b="1" spc="-35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initialize</a:t>
            </a:r>
            <a:r>
              <a:rPr sz="2400" b="1" spc="-50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matrix1</a:t>
            </a:r>
            <a:r>
              <a:rPr sz="2400" b="1" spc="-55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and</a:t>
            </a:r>
            <a:r>
              <a:rPr sz="2400" b="1" spc="-30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matrix2</a:t>
            </a:r>
            <a:endParaRPr sz="24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735"/>
              </a:spcBef>
            </a:pPr>
            <a:endParaRPr sz="2400">
              <a:latin typeface="Courier New"/>
              <a:cs typeface="Courier New"/>
            </a:endParaRPr>
          </a:p>
          <a:p>
            <a:pPr marL="584200" marR="4570730" indent="-571500">
              <a:lnSpc>
                <a:spcPct val="120000"/>
              </a:lnSpc>
              <a:spcBef>
                <a:spcPts val="5"/>
              </a:spcBef>
            </a:pPr>
            <a:r>
              <a:rPr sz="2400" b="1" dirty="0">
                <a:latin typeface="Courier New"/>
                <a:cs typeface="Courier New"/>
              </a:rPr>
              <a:t>for</a:t>
            </a:r>
            <a:r>
              <a:rPr sz="2400" b="1" spc="-30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(i=0;</a:t>
            </a:r>
            <a:r>
              <a:rPr sz="2400" b="1" spc="-25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i&lt;3;</a:t>
            </a:r>
            <a:r>
              <a:rPr sz="2400" b="1" spc="-35" dirty="0">
                <a:latin typeface="Courier New"/>
                <a:cs typeface="Courier New"/>
              </a:rPr>
              <a:t> </a:t>
            </a:r>
            <a:r>
              <a:rPr sz="2400" b="1" spc="-20" dirty="0">
                <a:latin typeface="Courier New"/>
                <a:cs typeface="Courier New"/>
              </a:rPr>
              <a:t>i++) </a:t>
            </a:r>
            <a:r>
              <a:rPr sz="2400" b="1" dirty="0">
                <a:latin typeface="Courier New"/>
                <a:cs typeface="Courier New"/>
              </a:rPr>
              <a:t>for</a:t>
            </a:r>
            <a:r>
              <a:rPr sz="2400" b="1" spc="-30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(j=0;</a:t>
            </a:r>
            <a:r>
              <a:rPr sz="2400" b="1" spc="-25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j&lt;4;</a:t>
            </a:r>
            <a:r>
              <a:rPr sz="2400" b="1" spc="-35" dirty="0">
                <a:latin typeface="Courier New"/>
                <a:cs typeface="Courier New"/>
              </a:rPr>
              <a:t> </a:t>
            </a:r>
            <a:r>
              <a:rPr sz="2400" b="1" spc="-20" dirty="0">
                <a:latin typeface="Courier New"/>
                <a:cs typeface="Courier New"/>
              </a:rPr>
              <a:t>j++)</a:t>
            </a:r>
            <a:endParaRPr sz="2400">
              <a:latin typeface="Courier New"/>
              <a:cs typeface="Courier New"/>
            </a:endParaRPr>
          </a:p>
          <a:p>
            <a:pPr marL="1498600">
              <a:lnSpc>
                <a:spcPct val="100000"/>
              </a:lnSpc>
              <a:spcBef>
                <a:spcPts val="575"/>
              </a:spcBef>
            </a:pPr>
            <a:r>
              <a:rPr sz="2400" b="1" dirty="0">
                <a:latin typeface="Courier New"/>
                <a:cs typeface="Courier New"/>
              </a:rPr>
              <a:t>sum[i][j]=</a:t>
            </a:r>
            <a:r>
              <a:rPr sz="2400" b="1" spc="-70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matrix1[i][j]+matrix2[i][j];</a:t>
            </a:r>
            <a:endParaRPr sz="2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839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/>
              <a:t>Exchange</a:t>
            </a:r>
            <a:r>
              <a:rPr spc="-55" dirty="0"/>
              <a:t> </a:t>
            </a:r>
            <a:r>
              <a:rPr dirty="0"/>
              <a:t>Two</a:t>
            </a:r>
            <a:r>
              <a:rPr spc="-10" dirty="0"/>
              <a:t> </a:t>
            </a:r>
            <a:r>
              <a:rPr spc="-20" dirty="0"/>
              <a:t>Rows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940930" y="3558540"/>
            <a:ext cx="508000" cy="327660"/>
            <a:chOff x="3940930" y="3558540"/>
            <a:chExt cx="508000" cy="327660"/>
          </a:xfrm>
        </p:grpSpPr>
        <p:sp>
          <p:nvSpPr>
            <p:cNvPr id="4" name="object 4"/>
            <p:cNvSpPr/>
            <p:nvPr/>
          </p:nvSpPr>
          <p:spPr>
            <a:xfrm>
              <a:off x="3940930" y="3558540"/>
              <a:ext cx="508000" cy="99060"/>
            </a:xfrm>
            <a:custGeom>
              <a:avLst/>
              <a:gdLst/>
              <a:ahLst/>
              <a:cxnLst/>
              <a:rect l="l" t="t" r="r" b="b"/>
              <a:pathLst>
                <a:path w="508000" h="99060">
                  <a:moveTo>
                    <a:pt x="87001" y="0"/>
                  </a:moveTo>
                  <a:lnTo>
                    <a:pt x="83953" y="0"/>
                  </a:lnTo>
                  <a:lnTo>
                    <a:pt x="0" y="48845"/>
                  </a:lnTo>
                  <a:lnTo>
                    <a:pt x="263" y="48845"/>
                  </a:lnTo>
                  <a:lnTo>
                    <a:pt x="82429" y="97536"/>
                  </a:lnTo>
                  <a:lnTo>
                    <a:pt x="87001" y="99060"/>
                  </a:lnTo>
                  <a:lnTo>
                    <a:pt x="90049" y="96012"/>
                  </a:lnTo>
                  <a:lnTo>
                    <a:pt x="90049" y="92963"/>
                  </a:lnTo>
                  <a:lnTo>
                    <a:pt x="88525" y="89915"/>
                  </a:lnTo>
                  <a:lnTo>
                    <a:pt x="27658" y="53396"/>
                  </a:lnTo>
                  <a:lnTo>
                    <a:pt x="9277" y="53396"/>
                  </a:lnTo>
                  <a:lnTo>
                    <a:pt x="9277" y="44253"/>
                  </a:lnTo>
                  <a:lnTo>
                    <a:pt x="27992" y="44253"/>
                  </a:lnTo>
                  <a:lnTo>
                    <a:pt x="88525" y="9144"/>
                  </a:lnTo>
                  <a:lnTo>
                    <a:pt x="90049" y="6096"/>
                  </a:lnTo>
                  <a:lnTo>
                    <a:pt x="90049" y="3048"/>
                  </a:lnTo>
                  <a:lnTo>
                    <a:pt x="87001" y="0"/>
                  </a:lnTo>
                  <a:close/>
                </a:path>
                <a:path w="508000" h="99060">
                  <a:moveTo>
                    <a:pt x="27992" y="44253"/>
                  </a:moveTo>
                  <a:lnTo>
                    <a:pt x="20074" y="48845"/>
                  </a:lnTo>
                  <a:lnTo>
                    <a:pt x="27658" y="53396"/>
                  </a:lnTo>
                  <a:lnTo>
                    <a:pt x="507625" y="54863"/>
                  </a:lnTo>
                  <a:lnTo>
                    <a:pt x="507625" y="45720"/>
                  </a:lnTo>
                  <a:lnTo>
                    <a:pt x="27992" y="44253"/>
                  </a:lnTo>
                  <a:close/>
                </a:path>
                <a:path w="508000" h="99060">
                  <a:moveTo>
                    <a:pt x="12325" y="44253"/>
                  </a:moveTo>
                  <a:lnTo>
                    <a:pt x="9277" y="44253"/>
                  </a:lnTo>
                  <a:lnTo>
                    <a:pt x="9277" y="53396"/>
                  </a:lnTo>
                  <a:lnTo>
                    <a:pt x="12325" y="53396"/>
                  </a:lnTo>
                  <a:lnTo>
                    <a:pt x="12325" y="44253"/>
                  </a:lnTo>
                  <a:close/>
                </a:path>
                <a:path w="508000" h="99060">
                  <a:moveTo>
                    <a:pt x="12420" y="44253"/>
                  </a:moveTo>
                  <a:lnTo>
                    <a:pt x="12325" y="53396"/>
                  </a:lnTo>
                  <a:lnTo>
                    <a:pt x="20074" y="48845"/>
                  </a:lnTo>
                  <a:lnTo>
                    <a:pt x="12420" y="44253"/>
                  </a:lnTo>
                  <a:close/>
                </a:path>
                <a:path w="508000" h="99060">
                  <a:moveTo>
                    <a:pt x="20074" y="48845"/>
                  </a:moveTo>
                  <a:lnTo>
                    <a:pt x="12228" y="53396"/>
                  </a:lnTo>
                  <a:lnTo>
                    <a:pt x="27658" y="53396"/>
                  </a:lnTo>
                  <a:lnTo>
                    <a:pt x="20074" y="48845"/>
                  </a:lnTo>
                  <a:close/>
                </a:path>
                <a:path w="508000" h="99060">
                  <a:moveTo>
                    <a:pt x="27992" y="44253"/>
                  </a:moveTo>
                  <a:lnTo>
                    <a:pt x="12420" y="44253"/>
                  </a:lnTo>
                  <a:lnTo>
                    <a:pt x="20074" y="48845"/>
                  </a:lnTo>
                  <a:lnTo>
                    <a:pt x="27992" y="4425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101083" y="3653028"/>
              <a:ext cx="334010" cy="233679"/>
            </a:xfrm>
            <a:custGeom>
              <a:avLst/>
              <a:gdLst/>
              <a:ahLst/>
              <a:cxnLst/>
              <a:rect l="l" t="t" r="r" b="b"/>
              <a:pathLst>
                <a:path w="334010" h="233679">
                  <a:moveTo>
                    <a:pt x="166115" y="0"/>
                  </a:moveTo>
                  <a:lnTo>
                    <a:pt x="0" y="167639"/>
                  </a:lnTo>
                  <a:lnTo>
                    <a:pt x="83819" y="167639"/>
                  </a:lnTo>
                  <a:lnTo>
                    <a:pt x="83819" y="233172"/>
                  </a:lnTo>
                  <a:lnTo>
                    <a:pt x="249936" y="233172"/>
                  </a:lnTo>
                  <a:lnTo>
                    <a:pt x="249936" y="167639"/>
                  </a:lnTo>
                  <a:lnTo>
                    <a:pt x="333755" y="167639"/>
                  </a:lnTo>
                  <a:lnTo>
                    <a:pt x="166115" y="0"/>
                  </a:lnTo>
                  <a:close/>
                </a:path>
              </a:pathLst>
            </a:custGeom>
            <a:solidFill>
              <a:srgbClr val="00E4A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090415" y="3646932"/>
              <a:ext cx="355600" cy="239395"/>
            </a:xfrm>
            <a:custGeom>
              <a:avLst/>
              <a:gdLst/>
              <a:ahLst/>
              <a:cxnLst/>
              <a:rect l="l" t="t" r="r" b="b"/>
              <a:pathLst>
                <a:path w="355600" h="239395">
                  <a:moveTo>
                    <a:pt x="89916" y="173735"/>
                  </a:moveTo>
                  <a:lnTo>
                    <a:pt x="89916" y="239267"/>
                  </a:lnTo>
                  <a:lnTo>
                    <a:pt x="99060" y="239267"/>
                  </a:lnTo>
                  <a:lnTo>
                    <a:pt x="99060" y="178307"/>
                  </a:lnTo>
                  <a:lnTo>
                    <a:pt x="94487" y="178307"/>
                  </a:lnTo>
                  <a:lnTo>
                    <a:pt x="89916" y="173735"/>
                  </a:lnTo>
                  <a:close/>
                </a:path>
                <a:path w="355600" h="239395">
                  <a:moveTo>
                    <a:pt x="333686" y="169163"/>
                  </a:moveTo>
                  <a:lnTo>
                    <a:pt x="256032" y="169163"/>
                  </a:lnTo>
                  <a:lnTo>
                    <a:pt x="256032" y="239267"/>
                  </a:lnTo>
                  <a:lnTo>
                    <a:pt x="265175" y="239267"/>
                  </a:lnTo>
                  <a:lnTo>
                    <a:pt x="265175" y="178307"/>
                  </a:lnTo>
                  <a:lnTo>
                    <a:pt x="260604" y="178307"/>
                  </a:lnTo>
                  <a:lnTo>
                    <a:pt x="265175" y="173735"/>
                  </a:lnTo>
                  <a:lnTo>
                    <a:pt x="338300" y="173735"/>
                  </a:lnTo>
                  <a:lnTo>
                    <a:pt x="333686" y="169163"/>
                  </a:lnTo>
                  <a:close/>
                </a:path>
                <a:path w="355600" h="239395">
                  <a:moveTo>
                    <a:pt x="176784" y="0"/>
                  </a:moveTo>
                  <a:lnTo>
                    <a:pt x="0" y="178307"/>
                  </a:lnTo>
                  <a:lnTo>
                    <a:pt x="89916" y="178307"/>
                  </a:lnTo>
                  <a:lnTo>
                    <a:pt x="89916" y="176783"/>
                  </a:lnTo>
                  <a:lnTo>
                    <a:pt x="13716" y="176783"/>
                  </a:lnTo>
                  <a:lnTo>
                    <a:pt x="10668" y="169163"/>
                  </a:lnTo>
                  <a:lnTo>
                    <a:pt x="21405" y="169163"/>
                  </a:lnTo>
                  <a:lnTo>
                    <a:pt x="177546" y="14443"/>
                  </a:lnTo>
                  <a:lnTo>
                    <a:pt x="173736" y="10667"/>
                  </a:lnTo>
                  <a:lnTo>
                    <a:pt x="187451" y="10667"/>
                  </a:lnTo>
                  <a:lnTo>
                    <a:pt x="176784" y="0"/>
                  </a:lnTo>
                  <a:close/>
                </a:path>
                <a:path w="355600" h="239395">
                  <a:moveTo>
                    <a:pt x="99060" y="173735"/>
                  </a:moveTo>
                  <a:lnTo>
                    <a:pt x="89916" y="173735"/>
                  </a:lnTo>
                  <a:lnTo>
                    <a:pt x="94487" y="178307"/>
                  </a:lnTo>
                  <a:lnTo>
                    <a:pt x="99060" y="178307"/>
                  </a:lnTo>
                  <a:lnTo>
                    <a:pt x="99060" y="173735"/>
                  </a:lnTo>
                  <a:close/>
                </a:path>
                <a:path w="355600" h="239395">
                  <a:moveTo>
                    <a:pt x="265175" y="173735"/>
                  </a:moveTo>
                  <a:lnTo>
                    <a:pt x="260604" y="178307"/>
                  </a:lnTo>
                  <a:lnTo>
                    <a:pt x="265175" y="178307"/>
                  </a:lnTo>
                  <a:lnTo>
                    <a:pt x="265175" y="173735"/>
                  </a:lnTo>
                  <a:close/>
                </a:path>
                <a:path w="355600" h="239395">
                  <a:moveTo>
                    <a:pt x="338300" y="173735"/>
                  </a:moveTo>
                  <a:lnTo>
                    <a:pt x="265175" y="173735"/>
                  </a:lnTo>
                  <a:lnTo>
                    <a:pt x="265175" y="178307"/>
                  </a:lnTo>
                  <a:lnTo>
                    <a:pt x="355092" y="178307"/>
                  </a:lnTo>
                  <a:lnTo>
                    <a:pt x="353568" y="176783"/>
                  </a:lnTo>
                  <a:lnTo>
                    <a:pt x="341375" y="176783"/>
                  </a:lnTo>
                  <a:lnTo>
                    <a:pt x="338300" y="173735"/>
                  </a:lnTo>
                  <a:close/>
                </a:path>
                <a:path w="355600" h="239395">
                  <a:moveTo>
                    <a:pt x="21405" y="169163"/>
                  </a:moveTo>
                  <a:lnTo>
                    <a:pt x="10668" y="169163"/>
                  </a:lnTo>
                  <a:lnTo>
                    <a:pt x="13716" y="176783"/>
                  </a:lnTo>
                  <a:lnTo>
                    <a:pt x="21405" y="169163"/>
                  </a:lnTo>
                  <a:close/>
                </a:path>
                <a:path w="355600" h="239395">
                  <a:moveTo>
                    <a:pt x="99060" y="169163"/>
                  </a:moveTo>
                  <a:lnTo>
                    <a:pt x="21405" y="169163"/>
                  </a:lnTo>
                  <a:lnTo>
                    <a:pt x="13716" y="176783"/>
                  </a:lnTo>
                  <a:lnTo>
                    <a:pt x="89916" y="176783"/>
                  </a:lnTo>
                  <a:lnTo>
                    <a:pt x="89916" y="173735"/>
                  </a:lnTo>
                  <a:lnTo>
                    <a:pt x="99060" y="173735"/>
                  </a:lnTo>
                  <a:lnTo>
                    <a:pt x="99060" y="169163"/>
                  </a:lnTo>
                  <a:close/>
                </a:path>
                <a:path w="355600" h="239395">
                  <a:moveTo>
                    <a:pt x="187451" y="10667"/>
                  </a:moveTo>
                  <a:lnTo>
                    <a:pt x="181356" y="10667"/>
                  </a:lnTo>
                  <a:lnTo>
                    <a:pt x="177546" y="14443"/>
                  </a:lnTo>
                  <a:lnTo>
                    <a:pt x="341375" y="176783"/>
                  </a:lnTo>
                  <a:lnTo>
                    <a:pt x="344424" y="169163"/>
                  </a:lnTo>
                  <a:lnTo>
                    <a:pt x="345948" y="169163"/>
                  </a:lnTo>
                  <a:lnTo>
                    <a:pt x="187451" y="10667"/>
                  </a:lnTo>
                  <a:close/>
                </a:path>
                <a:path w="355600" h="239395">
                  <a:moveTo>
                    <a:pt x="345948" y="169163"/>
                  </a:moveTo>
                  <a:lnTo>
                    <a:pt x="344424" y="169163"/>
                  </a:lnTo>
                  <a:lnTo>
                    <a:pt x="341375" y="176783"/>
                  </a:lnTo>
                  <a:lnTo>
                    <a:pt x="353568" y="176783"/>
                  </a:lnTo>
                  <a:lnTo>
                    <a:pt x="345948" y="169163"/>
                  </a:lnTo>
                  <a:close/>
                </a:path>
                <a:path w="355600" h="239395">
                  <a:moveTo>
                    <a:pt x="181356" y="10667"/>
                  </a:moveTo>
                  <a:lnTo>
                    <a:pt x="173736" y="10667"/>
                  </a:lnTo>
                  <a:lnTo>
                    <a:pt x="177546" y="14443"/>
                  </a:lnTo>
                  <a:lnTo>
                    <a:pt x="181356" y="1066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1184147" y="2692907"/>
          <a:ext cx="2743200" cy="25711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2620"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2800" spc="-50" dirty="0">
                          <a:latin typeface="Tahoma"/>
                          <a:cs typeface="Tahoma"/>
                        </a:rPr>
                        <a:t>4</a:t>
                      </a:r>
                      <a:endParaRPr sz="2800">
                        <a:latin typeface="Tahoma"/>
                        <a:cs typeface="Tahoma"/>
                      </a:endParaRPr>
                    </a:p>
                  </a:txBody>
                  <a:tcPr marL="0" marR="0" marT="4254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2800" spc="-50" dirty="0">
                          <a:latin typeface="Tahoma"/>
                          <a:cs typeface="Tahoma"/>
                        </a:rPr>
                        <a:t>6</a:t>
                      </a:r>
                      <a:endParaRPr sz="2800">
                        <a:latin typeface="Tahoma"/>
                        <a:cs typeface="Tahoma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2800" spc="-50" dirty="0">
                          <a:latin typeface="Tahoma"/>
                          <a:cs typeface="Tahoma"/>
                        </a:rPr>
                        <a:t>2</a:t>
                      </a:r>
                      <a:endParaRPr sz="2800">
                        <a:latin typeface="Tahoma"/>
                        <a:cs typeface="Tahoma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3255"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2800" spc="-50" dirty="0">
                          <a:latin typeface="Tahoma"/>
                          <a:cs typeface="Tahoma"/>
                        </a:rPr>
                        <a:t>0</a:t>
                      </a:r>
                      <a:endParaRPr sz="2800">
                        <a:latin typeface="Tahoma"/>
                        <a:cs typeface="Tahoma"/>
                      </a:endParaRPr>
                    </a:p>
                  </a:txBody>
                  <a:tcPr marL="0" marR="0" marT="4318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2800" spc="-50" dirty="0">
                          <a:latin typeface="Tahoma"/>
                          <a:cs typeface="Tahoma"/>
                        </a:rPr>
                        <a:t>5</a:t>
                      </a:r>
                      <a:endParaRPr sz="2800">
                        <a:latin typeface="Tahoma"/>
                        <a:cs typeface="Tahoma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2800" spc="-50" dirty="0">
                          <a:latin typeface="Tahoma"/>
                          <a:cs typeface="Tahoma"/>
                        </a:rPr>
                        <a:t>3</a:t>
                      </a:r>
                      <a:endParaRPr sz="2800">
                        <a:latin typeface="Tahoma"/>
                        <a:cs typeface="Tahoma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2620"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2800" spc="-50" dirty="0">
                          <a:latin typeface="Tahoma"/>
                          <a:cs typeface="Tahoma"/>
                        </a:rPr>
                        <a:t>0</a:t>
                      </a:r>
                      <a:endParaRPr sz="2800">
                        <a:latin typeface="Tahoma"/>
                        <a:cs typeface="Tahoma"/>
                      </a:endParaRPr>
                    </a:p>
                  </a:txBody>
                  <a:tcPr marL="0" marR="0" marT="4381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2800" spc="-50" dirty="0">
                          <a:latin typeface="Tahoma"/>
                          <a:cs typeface="Tahoma"/>
                        </a:rPr>
                        <a:t>8</a:t>
                      </a:r>
                      <a:endParaRPr sz="2800">
                        <a:latin typeface="Tahoma"/>
                        <a:cs typeface="Tahoma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2800" spc="-50" dirty="0">
                          <a:latin typeface="Tahoma"/>
                          <a:cs typeface="Tahoma"/>
                        </a:rPr>
                        <a:t>1</a:t>
                      </a:r>
                      <a:endParaRPr sz="2800">
                        <a:latin typeface="Tahoma"/>
                        <a:cs typeface="Tahoma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2620"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2800" spc="-50" dirty="0">
                          <a:latin typeface="Tahoma"/>
                          <a:cs typeface="Tahoma"/>
                        </a:rPr>
                        <a:t>2</a:t>
                      </a:r>
                      <a:endParaRPr sz="2800">
                        <a:latin typeface="Tahoma"/>
                        <a:cs typeface="Tahoma"/>
                      </a:endParaRPr>
                    </a:p>
                  </a:txBody>
                  <a:tcPr marL="0" marR="0" marT="4318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2800" spc="-50" dirty="0">
                          <a:latin typeface="Tahoma"/>
                          <a:cs typeface="Tahoma"/>
                        </a:rPr>
                        <a:t>1</a:t>
                      </a:r>
                      <a:endParaRPr sz="2800">
                        <a:latin typeface="Tahoma"/>
                        <a:cs typeface="Tahoma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2800" spc="-50" dirty="0">
                          <a:latin typeface="Tahoma"/>
                          <a:cs typeface="Tahoma"/>
                        </a:rPr>
                        <a:t>4</a:t>
                      </a:r>
                      <a:endParaRPr sz="2800">
                        <a:latin typeface="Tahoma"/>
                        <a:cs typeface="Tahoma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object 8"/>
          <p:cNvSpPr txBox="1"/>
          <p:nvPr/>
        </p:nvSpPr>
        <p:spPr>
          <a:xfrm>
            <a:off x="4511979" y="3455847"/>
            <a:ext cx="781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Tahoma"/>
                <a:cs typeface="Tahoma"/>
              </a:rPr>
              <a:t>i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447868" y="2421204"/>
            <a:ext cx="3398520" cy="14033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ourier New"/>
                <a:cs typeface="Courier New"/>
              </a:rPr>
              <a:t>for</a:t>
            </a:r>
            <a:r>
              <a:rPr sz="1800" b="1" spc="-40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(k=0;</a:t>
            </a:r>
            <a:r>
              <a:rPr sz="1800" b="1" spc="-40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k&lt;3;</a:t>
            </a:r>
            <a:r>
              <a:rPr sz="1800" b="1" spc="-40" dirty="0">
                <a:latin typeface="Courier New"/>
                <a:cs typeface="Courier New"/>
              </a:rPr>
              <a:t> </a:t>
            </a:r>
            <a:r>
              <a:rPr sz="1800" b="1" spc="-20" dirty="0">
                <a:latin typeface="Courier New"/>
                <a:cs typeface="Courier New"/>
              </a:rPr>
              <a:t>k++){</a:t>
            </a:r>
            <a:endParaRPr sz="1800" dirty="0">
              <a:latin typeface="Courier New"/>
              <a:cs typeface="Courier New"/>
            </a:endParaRPr>
          </a:p>
          <a:p>
            <a:pPr marL="927100" marR="5080">
              <a:lnSpc>
                <a:spcPct val="100000"/>
              </a:lnSpc>
            </a:pPr>
            <a:r>
              <a:rPr sz="1800" b="1" dirty="0">
                <a:latin typeface="Courier New"/>
                <a:cs typeface="Courier New"/>
              </a:rPr>
              <a:t>t</a:t>
            </a:r>
            <a:r>
              <a:rPr sz="1800" b="1" spc="-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=</a:t>
            </a:r>
            <a:r>
              <a:rPr sz="1800" b="1" spc="-15" dirty="0">
                <a:latin typeface="Courier New"/>
                <a:cs typeface="Courier New"/>
              </a:rPr>
              <a:t> </a:t>
            </a:r>
            <a:r>
              <a:rPr sz="1800" b="1" spc="-10" dirty="0">
                <a:latin typeface="Courier New"/>
                <a:cs typeface="Courier New"/>
              </a:rPr>
              <a:t>a[i][k]; </a:t>
            </a:r>
            <a:r>
              <a:rPr sz="1800" b="1" dirty="0">
                <a:latin typeface="Courier New"/>
                <a:cs typeface="Courier New"/>
              </a:rPr>
              <a:t>a[i][k]</a:t>
            </a:r>
            <a:r>
              <a:rPr sz="1800" b="1" spc="-40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=</a:t>
            </a:r>
            <a:r>
              <a:rPr sz="1800" b="1" spc="-40" dirty="0">
                <a:latin typeface="Courier New"/>
                <a:cs typeface="Courier New"/>
              </a:rPr>
              <a:t> </a:t>
            </a:r>
            <a:r>
              <a:rPr sz="1800" b="1" spc="-10" dirty="0">
                <a:latin typeface="Courier New"/>
                <a:cs typeface="Courier New"/>
              </a:rPr>
              <a:t>a[j][k]; </a:t>
            </a:r>
            <a:r>
              <a:rPr sz="1800" b="1" dirty="0">
                <a:latin typeface="Courier New"/>
                <a:cs typeface="Courier New"/>
              </a:rPr>
              <a:t>a[j][k]</a:t>
            </a:r>
            <a:r>
              <a:rPr sz="1800" b="1" spc="-40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=</a:t>
            </a:r>
            <a:r>
              <a:rPr sz="1800" b="1" spc="-40" dirty="0">
                <a:latin typeface="Courier New"/>
                <a:cs typeface="Courier New"/>
              </a:rPr>
              <a:t> </a:t>
            </a:r>
            <a:r>
              <a:rPr sz="1800" b="1" spc="-25" dirty="0">
                <a:latin typeface="Courier New"/>
                <a:cs typeface="Courier New"/>
              </a:rPr>
              <a:t>t;</a:t>
            </a:r>
            <a:endParaRPr sz="18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z="1800" b="1" spc="-50" dirty="0">
                <a:latin typeface="Courier New"/>
                <a:cs typeface="Courier New"/>
              </a:rPr>
              <a:t>}</a:t>
            </a:r>
            <a:endParaRPr sz="1800" dirty="0">
              <a:latin typeface="Courier New"/>
              <a:cs typeface="Courier New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941064" y="4910328"/>
            <a:ext cx="508000" cy="97790"/>
          </a:xfrm>
          <a:custGeom>
            <a:avLst/>
            <a:gdLst/>
            <a:ahLst/>
            <a:cxnLst/>
            <a:rect l="l" t="t" r="r" b="b"/>
            <a:pathLst>
              <a:path w="508000" h="97789">
                <a:moveTo>
                  <a:pt x="86868" y="0"/>
                </a:moveTo>
                <a:lnTo>
                  <a:pt x="83820" y="0"/>
                </a:lnTo>
                <a:lnTo>
                  <a:pt x="0" y="48768"/>
                </a:lnTo>
                <a:lnTo>
                  <a:pt x="82296" y="97536"/>
                </a:lnTo>
                <a:lnTo>
                  <a:pt x="86868" y="97536"/>
                </a:lnTo>
                <a:lnTo>
                  <a:pt x="89915" y="96012"/>
                </a:lnTo>
                <a:lnTo>
                  <a:pt x="89915" y="91440"/>
                </a:lnTo>
                <a:lnTo>
                  <a:pt x="88391" y="88392"/>
                </a:lnTo>
                <a:lnTo>
                  <a:pt x="28057" y="53397"/>
                </a:lnTo>
                <a:lnTo>
                  <a:pt x="9144" y="53397"/>
                </a:lnTo>
                <a:lnTo>
                  <a:pt x="9144" y="44245"/>
                </a:lnTo>
                <a:lnTo>
                  <a:pt x="25245" y="44245"/>
                </a:lnTo>
                <a:lnTo>
                  <a:pt x="88391" y="7620"/>
                </a:lnTo>
                <a:lnTo>
                  <a:pt x="89915" y="4572"/>
                </a:lnTo>
                <a:lnTo>
                  <a:pt x="89915" y="1524"/>
                </a:lnTo>
                <a:lnTo>
                  <a:pt x="86868" y="0"/>
                </a:lnTo>
                <a:close/>
              </a:path>
              <a:path w="508000" h="97789">
                <a:moveTo>
                  <a:pt x="25245" y="44245"/>
                </a:moveTo>
                <a:lnTo>
                  <a:pt x="18760" y="48006"/>
                </a:lnTo>
                <a:lnTo>
                  <a:pt x="28057" y="53397"/>
                </a:lnTo>
                <a:lnTo>
                  <a:pt x="507491" y="54864"/>
                </a:lnTo>
                <a:lnTo>
                  <a:pt x="507491" y="45720"/>
                </a:lnTo>
                <a:lnTo>
                  <a:pt x="25245" y="44245"/>
                </a:lnTo>
                <a:close/>
              </a:path>
              <a:path w="508000" h="97789">
                <a:moveTo>
                  <a:pt x="12191" y="44245"/>
                </a:moveTo>
                <a:lnTo>
                  <a:pt x="9144" y="44245"/>
                </a:lnTo>
                <a:lnTo>
                  <a:pt x="9144" y="53397"/>
                </a:lnTo>
                <a:lnTo>
                  <a:pt x="28057" y="53397"/>
                </a:lnTo>
                <a:lnTo>
                  <a:pt x="25329" y="51816"/>
                </a:lnTo>
                <a:lnTo>
                  <a:pt x="12191" y="51816"/>
                </a:lnTo>
                <a:lnTo>
                  <a:pt x="12191" y="44245"/>
                </a:lnTo>
                <a:close/>
              </a:path>
              <a:path w="508000" h="97789">
                <a:moveTo>
                  <a:pt x="12276" y="44245"/>
                </a:moveTo>
                <a:lnTo>
                  <a:pt x="12191" y="51816"/>
                </a:lnTo>
                <a:lnTo>
                  <a:pt x="18760" y="48006"/>
                </a:lnTo>
                <a:lnTo>
                  <a:pt x="12276" y="44245"/>
                </a:lnTo>
                <a:close/>
              </a:path>
              <a:path w="508000" h="97789">
                <a:moveTo>
                  <a:pt x="18760" y="48006"/>
                </a:moveTo>
                <a:lnTo>
                  <a:pt x="12191" y="51816"/>
                </a:lnTo>
                <a:lnTo>
                  <a:pt x="25329" y="51816"/>
                </a:lnTo>
                <a:lnTo>
                  <a:pt x="18760" y="48006"/>
                </a:lnTo>
                <a:close/>
              </a:path>
              <a:path w="508000" h="97789">
                <a:moveTo>
                  <a:pt x="25245" y="44245"/>
                </a:moveTo>
                <a:lnTo>
                  <a:pt x="12276" y="44245"/>
                </a:lnTo>
                <a:lnTo>
                  <a:pt x="18760" y="48006"/>
                </a:lnTo>
                <a:lnTo>
                  <a:pt x="25245" y="4424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1" name="object 11"/>
          <p:cNvGrpSpPr/>
          <p:nvPr/>
        </p:nvGrpSpPr>
        <p:grpSpPr>
          <a:xfrm>
            <a:off x="4090415" y="3886200"/>
            <a:ext cx="355600" cy="977265"/>
            <a:chOff x="4090415" y="3886200"/>
            <a:chExt cx="355600" cy="977265"/>
          </a:xfrm>
        </p:grpSpPr>
        <p:sp>
          <p:nvSpPr>
            <p:cNvPr id="12" name="object 12"/>
            <p:cNvSpPr/>
            <p:nvPr/>
          </p:nvSpPr>
          <p:spPr>
            <a:xfrm>
              <a:off x="4101083" y="4264152"/>
              <a:ext cx="334010" cy="593090"/>
            </a:xfrm>
            <a:custGeom>
              <a:avLst/>
              <a:gdLst/>
              <a:ahLst/>
              <a:cxnLst/>
              <a:rect l="l" t="t" r="r" b="b"/>
              <a:pathLst>
                <a:path w="334010" h="593089">
                  <a:moveTo>
                    <a:pt x="249936" y="0"/>
                  </a:moveTo>
                  <a:lnTo>
                    <a:pt x="83819" y="0"/>
                  </a:lnTo>
                  <a:lnTo>
                    <a:pt x="83819" y="425196"/>
                  </a:lnTo>
                  <a:lnTo>
                    <a:pt x="0" y="425196"/>
                  </a:lnTo>
                  <a:lnTo>
                    <a:pt x="166115" y="592836"/>
                  </a:lnTo>
                  <a:lnTo>
                    <a:pt x="333755" y="425196"/>
                  </a:lnTo>
                  <a:lnTo>
                    <a:pt x="249936" y="425196"/>
                  </a:lnTo>
                  <a:lnTo>
                    <a:pt x="249936" y="0"/>
                  </a:lnTo>
                  <a:close/>
                </a:path>
              </a:pathLst>
            </a:custGeom>
            <a:solidFill>
              <a:srgbClr val="00E4A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090415" y="4259579"/>
              <a:ext cx="355600" cy="603885"/>
            </a:xfrm>
            <a:custGeom>
              <a:avLst/>
              <a:gdLst/>
              <a:ahLst/>
              <a:cxnLst/>
              <a:rect l="l" t="t" r="r" b="b"/>
              <a:pathLst>
                <a:path w="355600" h="603885">
                  <a:moveTo>
                    <a:pt x="89916" y="425196"/>
                  </a:moveTo>
                  <a:lnTo>
                    <a:pt x="0" y="425196"/>
                  </a:lnTo>
                  <a:lnTo>
                    <a:pt x="176784" y="603504"/>
                  </a:lnTo>
                  <a:lnTo>
                    <a:pt x="185928" y="594360"/>
                  </a:lnTo>
                  <a:lnTo>
                    <a:pt x="173736" y="594360"/>
                  </a:lnTo>
                  <a:lnTo>
                    <a:pt x="177546" y="590550"/>
                  </a:lnTo>
                  <a:lnTo>
                    <a:pt x="21336" y="434340"/>
                  </a:lnTo>
                  <a:lnTo>
                    <a:pt x="10668" y="434340"/>
                  </a:lnTo>
                  <a:lnTo>
                    <a:pt x="13716" y="426720"/>
                  </a:lnTo>
                  <a:lnTo>
                    <a:pt x="89916" y="426720"/>
                  </a:lnTo>
                  <a:lnTo>
                    <a:pt x="89916" y="425196"/>
                  </a:lnTo>
                  <a:close/>
                </a:path>
                <a:path w="355600" h="603885">
                  <a:moveTo>
                    <a:pt x="177546" y="590550"/>
                  </a:moveTo>
                  <a:lnTo>
                    <a:pt x="173736" y="594360"/>
                  </a:lnTo>
                  <a:lnTo>
                    <a:pt x="181356" y="594360"/>
                  </a:lnTo>
                  <a:lnTo>
                    <a:pt x="177546" y="590550"/>
                  </a:lnTo>
                  <a:close/>
                </a:path>
                <a:path w="355600" h="603885">
                  <a:moveTo>
                    <a:pt x="341375" y="426720"/>
                  </a:moveTo>
                  <a:lnTo>
                    <a:pt x="177546" y="590550"/>
                  </a:lnTo>
                  <a:lnTo>
                    <a:pt x="181356" y="594360"/>
                  </a:lnTo>
                  <a:lnTo>
                    <a:pt x="185928" y="594360"/>
                  </a:lnTo>
                  <a:lnTo>
                    <a:pt x="345948" y="434340"/>
                  </a:lnTo>
                  <a:lnTo>
                    <a:pt x="344424" y="434340"/>
                  </a:lnTo>
                  <a:lnTo>
                    <a:pt x="341375" y="426720"/>
                  </a:lnTo>
                  <a:close/>
                </a:path>
                <a:path w="355600" h="603885">
                  <a:moveTo>
                    <a:pt x="13716" y="426720"/>
                  </a:moveTo>
                  <a:lnTo>
                    <a:pt x="10668" y="434340"/>
                  </a:lnTo>
                  <a:lnTo>
                    <a:pt x="21336" y="434340"/>
                  </a:lnTo>
                  <a:lnTo>
                    <a:pt x="13716" y="426720"/>
                  </a:lnTo>
                  <a:close/>
                </a:path>
                <a:path w="355600" h="603885">
                  <a:moveTo>
                    <a:pt x="89916" y="426720"/>
                  </a:moveTo>
                  <a:lnTo>
                    <a:pt x="13716" y="426720"/>
                  </a:lnTo>
                  <a:lnTo>
                    <a:pt x="21336" y="434340"/>
                  </a:lnTo>
                  <a:lnTo>
                    <a:pt x="99060" y="434340"/>
                  </a:lnTo>
                  <a:lnTo>
                    <a:pt x="99060" y="429768"/>
                  </a:lnTo>
                  <a:lnTo>
                    <a:pt x="89916" y="429768"/>
                  </a:lnTo>
                  <a:lnTo>
                    <a:pt x="89916" y="426720"/>
                  </a:lnTo>
                  <a:close/>
                </a:path>
                <a:path w="355600" h="603885">
                  <a:moveTo>
                    <a:pt x="256032" y="4572"/>
                  </a:moveTo>
                  <a:lnTo>
                    <a:pt x="256032" y="434340"/>
                  </a:lnTo>
                  <a:lnTo>
                    <a:pt x="333756" y="434340"/>
                  </a:lnTo>
                  <a:lnTo>
                    <a:pt x="338327" y="429768"/>
                  </a:lnTo>
                  <a:lnTo>
                    <a:pt x="265175" y="429768"/>
                  </a:lnTo>
                  <a:lnTo>
                    <a:pt x="260604" y="425196"/>
                  </a:lnTo>
                  <a:lnTo>
                    <a:pt x="265175" y="425196"/>
                  </a:lnTo>
                  <a:lnTo>
                    <a:pt x="265175" y="10668"/>
                  </a:lnTo>
                  <a:lnTo>
                    <a:pt x="260604" y="10668"/>
                  </a:lnTo>
                  <a:lnTo>
                    <a:pt x="256032" y="4572"/>
                  </a:lnTo>
                  <a:close/>
                </a:path>
                <a:path w="355600" h="603885">
                  <a:moveTo>
                    <a:pt x="353568" y="426720"/>
                  </a:moveTo>
                  <a:lnTo>
                    <a:pt x="341375" y="426720"/>
                  </a:lnTo>
                  <a:lnTo>
                    <a:pt x="344424" y="434340"/>
                  </a:lnTo>
                  <a:lnTo>
                    <a:pt x="345948" y="434340"/>
                  </a:lnTo>
                  <a:lnTo>
                    <a:pt x="353568" y="426720"/>
                  </a:lnTo>
                  <a:close/>
                </a:path>
                <a:path w="355600" h="603885">
                  <a:moveTo>
                    <a:pt x="265175" y="0"/>
                  </a:moveTo>
                  <a:lnTo>
                    <a:pt x="89916" y="0"/>
                  </a:lnTo>
                  <a:lnTo>
                    <a:pt x="89916" y="429768"/>
                  </a:lnTo>
                  <a:lnTo>
                    <a:pt x="94487" y="425196"/>
                  </a:lnTo>
                  <a:lnTo>
                    <a:pt x="99060" y="425196"/>
                  </a:lnTo>
                  <a:lnTo>
                    <a:pt x="99060" y="10668"/>
                  </a:lnTo>
                  <a:lnTo>
                    <a:pt x="94487" y="10668"/>
                  </a:lnTo>
                  <a:lnTo>
                    <a:pt x="99060" y="4572"/>
                  </a:lnTo>
                  <a:lnTo>
                    <a:pt x="265175" y="4572"/>
                  </a:lnTo>
                  <a:lnTo>
                    <a:pt x="265175" y="0"/>
                  </a:lnTo>
                  <a:close/>
                </a:path>
                <a:path w="355600" h="603885">
                  <a:moveTo>
                    <a:pt x="99060" y="425196"/>
                  </a:moveTo>
                  <a:lnTo>
                    <a:pt x="94487" y="425196"/>
                  </a:lnTo>
                  <a:lnTo>
                    <a:pt x="89916" y="429768"/>
                  </a:lnTo>
                  <a:lnTo>
                    <a:pt x="99060" y="429768"/>
                  </a:lnTo>
                  <a:lnTo>
                    <a:pt x="99060" y="425196"/>
                  </a:lnTo>
                  <a:close/>
                </a:path>
                <a:path w="355600" h="603885">
                  <a:moveTo>
                    <a:pt x="265175" y="425196"/>
                  </a:moveTo>
                  <a:lnTo>
                    <a:pt x="260604" y="425196"/>
                  </a:lnTo>
                  <a:lnTo>
                    <a:pt x="265175" y="429768"/>
                  </a:lnTo>
                  <a:lnTo>
                    <a:pt x="265175" y="425196"/>
                  </a:lnTo>
                  <a:close/>
                </a:path>
                <a:path w="355600" h="603885">
                  <a:moveTo>
                    <a:pt x="355092" y="425196"/>
                  </a:moveTo>
                  <a:lnTo>
                    <a:pt x="265175" y="425196"/>
                  </a:lnTo>
                  <a:lnTo>
                    <a:pt x="265175" y="429768"/>
                  </a:lnTo>
                  <a:lnTo>
                    <a:pt x="338327" y="429768"/>
                  </a:lnTo>
                  <a:lnTo>
                    <a:pt x="341375" y="426720"/>
                  </a:lnTo>
                  <a:lnTo>
                    <a:pt x="353568" y="426720"/>
                  </a:lnTo>
                  <a:lnTo>
                    <a:pt x="355092" y="425196"/>
                  </a:lnTo>
                  <a:close/>
                </a:path>
                <a:path w="355600" h="603885">
                  <a:moveTo>
                    <a:pt x="99060" y="4572"/>
                  </a:moveTo>
                  <a:lnTo>
                    <a:pt x="94487" y="10668"/>
                  </a:lnTo>
                  <a:lnTo>
                    <a:pt x="99060" y="10668"/>
                  </a:lnTo>
                  <a:lnTo>
                    <a:pt x="99060" y="4572"/>
                  </a:lnTo>
                  <a:close/>
                </a:path>
                <a:path w="355600" h="603885">
                  <a:moveTo>
                    <a:pt x="256032" y="4572"/>
                  </a:moveTo>
                  <a:lnTo>
                    <a:pt x="99060" y="4572"/>
                  </a:lnTo>
                  <a:lnTo>
                    <a:pt x="99060" y="10668"/>
                  </a:lnTo>
                  <a:lnTo>
                    <a:pt x="256032" y="10668"/>
                  </a:lnTo>
                  <a:lnTo>
                    <a:pt x="256032" y="4572"/>
                  </a:lnTo>
                  <a:close/>
                </a:path>
                <a:path w="355600" h="603885">
                  <a:moveTo>
                    <a:pt x="265175" y="4572"/>
                  </a:moveTo>
                  <a:lnTo>
                    <a:pt x="256032" y="4572"/>
                  </a:lnTo>
                  <a:lnTo>
                    <a:pt x="260604" y="10668"/>
                  </a:lnTo>
                  <a:lnTo>
                    <a:pt x="265175" y="10668"/>
                  </a:lnTo>
                  <a:lnTo>
                    <a:pt x="265175" y="457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184903" y="3886200"/>
              <a:ext cx="166370" cy="502920"/>
            </a:xfrm>
            <a:custGeom>
              <a:avLst/>
              <a:gdLst/>
              <a:ahLst/>
              <a:cxnLst/>
              <a:rect l="l" t="t" r="r" b="b"/>
              <a:pathLst>
                <a:path w="166370" h="502920">
                  <a:moveTo>
                    <a:pt x="166116" y="0"/>
                  </a:moveTo>
                  <a:lnTo>
                    <a:pt x="0" y="0"/>
                  </a:lnTo>
                  <a:lnTo>
                    <a:pt x="0" y="502920"/>
                  </a:lnTo>
                  <a:lnTo>
                    <a:pt x="166116" y="502920"/>
                  </a:lnTo>
                  <a:lnTo>
                    <a:pt x="166116" y="0"/>
                  </a:lnTo>
                  <a:close/>
                </a:path>
              </a:pathLst>
            </a:custGeom>
            <a:solidFill>
              <a:srgbClr val="00E4A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180332" y="3886199"/>
              <a:ext cx="175260" cy="508000"/>
            </a:xfrm>
            <a:custGeom>
              <a:avLst/>
              <a:gdLst/>
              <a:ahLst/>
              <a:cxnLst/>
              <a:rect l="l" t="t" r="r" b="b"/>
              <a:pathLst>
                <a:path w="175260" h="508000">
                  <a:moveTo>
                    <a:pt x="175260" y="0"/>
                  </a:moveTo>
                  <a:lnTo>
                    <a:pt x="166116" y="0"/>
                  </a:lnTo>
                  <a:lnTo>
                    <a:pt x="166116" y="497840"/>
                  </a:lnTo>
                  <a:lnTo>
                    <a:pt x="166116" y="498348"/>
                  </a:lnTo>
                  <a:lnTo>
                    <a:pt x="9144" y="498348"/>
                  </a:lnTo>
                  <a:lnTo>
                    <a:pt x="9144" y="502920"/>
                  </a:lnTo>
                  <a:lnTo>
                    <a:pt x="6591" y="502920"/>
                  </a:lnTo>
                  <a:lnTo>
                    <a:pt x="6591" y="500367"/>
                  </a:lnTo>
                  <a:lnTo>
                    <a:pt x="9144" y="502920"/>
                  </a:lnTo>
                  <a:lnTo>
                    <a:pt x="9144" y="498348"/>
                  </a:lnTo>
                  <a:lnTo>
                    <a:pt x="6591" y="498348"/>
                  </a:lnTo>
                  <a:lnTo>
                    <a:pt x="6591" y="497840"/>
                  </a:lnTo>
                  <a:lnTo>
                    <a:pt x="9144" y="497840"/>
                  </a:lnTo>
                  <a:lnTo>
                    <a:pt x="9144" y="0"/>
                  </a:lnTo>
                  <a:lnTo>
                    <a:pt x="0" y="0"/>
                  </a:lnTo>
                  <a:lnTo>
                    <a:pt x="0" y="497840"/>
                  </a:lnTo>
                  <a:lnTo>
                    <a:pt x="0" y="502920"/>
                  </a:lnTo>
                  <a:lnTo>
                    <a:pt x="0" y="508000"/>
                  </a:lnTo>
                  <a:lnTo>
                    <a:pt x="175260" y="508000"/>
                  </a:lnTo>
                  <a:lnTo>
                    <a:pt x="175260" y="502920"/>
                  </a:lnTo>
                  <a:lnTo>
                    <a:pt x="175260" y="498348"/>
                  </a:lnTo>
                  <a:lnTo>
                    <a:pt x="170688" y="498348"/>
                  </a:lnTo>
                  <a:lnTo>
                    <a:pt x="168656" y="500380"/>
                  </a:lnTo>
                  <a:lnTo>
                    <a:pt x="168656" y="497840"/>
                  </a:lnTo>
                  <a:lnTo>
                    <a:pt x="175260" y="497840"/>
                  </a:lnTo>
                  <a:lnTo>
                    <a:pt x="17526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16" name="object 16"/>
          <p:cNvGraphicFramePr>
            <a:graphicFrameLocks noGrp="1"/>
          </p:cNvGraphicFramePr>
          <p:nvPr/>
        </p:nvGraphicFramePr>
        <p:xfrm>
          <a:off x="5667755" y="4113276"/>
          <a:ext cx="2743200" cy="25730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389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2800" spc="-50" dirty="0">
                          <a:latin typeface="Tahoma"/>
                          <a:cs typeface="Tahoma"/>
                        </a:rPr>
                        <a:t>4</a:t>
                      </a:r>
                      <a:endParaRPr sz="2800">
                        <a:latin typeface="Tahoma"/>
                        <a:cs typeface="Tahoma"/>
                      </a:endParaRPr>
                    </a:p>
                  </a:txBody>
                  <a:tcPr marL="0" marR="0" marT="4254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2800" spc="-50" dirty="0">
                          <a:latin typeface="Tahoma"/>
                          <a:cs typeface="Tahoma"/>
                        </a:rPr>
                        <a:t>6</a:t>
                      </a:r>
                      <a:endParaRPr sz="2800">
                        <a:latin typeface="Tahoma"/>
                        <a:cs typeface="Tahoma"/>
                      </a:endParaRPr>
                    </a:p>
                  </a:txBody>
                  <a:tcPr marL="0" marR="0" marT="4254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2800" spc="-50" dirty="0">
                          <a:latin typeface="Tahoma"/>
                          <a:cs typeface="Tahoma"/>
                        </a:rPr>
                        <a:t>2</a:t>
                      </a:r>
                      <a:endParaRPr sz="2800">
                        <a:latin typeface="Tahoma"/>
                        <a:cs typeface="Tahoma"/>
                      </a:endParaRPr>
                    </a:p>
                  </a:txBody>
                  <a:tcPr marL="0" marR="0" marT="4254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389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2800" spc="-50" dirty="0">
                          <a:latin typeface="Tahoma"/>
                          <a:cs typeface="Tahoma"/>
                        </a:rPr>
                        <a:t>2</a:t>
                      </a:r>
                      <a:endParaRPr sz="2800">
                        <a:latin typeface="Tahoma"/>
                        <a:cs typeface="Tahoma"/>
                      </a:endParaRPr>
                    </a:p>
                  </a:txBody>
                  <a:tcPr marL="0" marR="0" marT="4191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2800" spc="-50" dirty="0">
                          <a:latin typeface="Tahoma"/>
                          <a:cs typeface="Tahoma"/>
                        </a:rPr>
                        <a:t>1</a:t>
                      </a:r>
                      <a:endParaRPr sz="2800">
                        <a:latin typeface="Tahoma"/>
                        <a:cs typeface="Tahoma"/>
                      </a:endParaRPr>
                    </a:p>
                  </a:txBody>
                  <a:tcPr marL="0" marR="0" marT="4191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2800" spc="-50" dirty="0">
                          <a:latin typeface="Tahoma"/>
                          <a:cs typeface="Tahoma"/>
                        </a:rPr>
                        <a:t>4</a:t>
                      </a:r>
                      <a:endParaRPr sz="2800">
                        <a:latin typeface="Tahoma"/>
                        <a:cs typeface="Tahoma"/>
                      </a:endParaRPr>
                    </a:p>
                  </a:txBody>
                  <a:tcPr marL="0" marR="0" marT="4191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262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2800" spc="-50" dirty="0">
                          <a:latin typeface="Tahoma"/>
                          <a:cs typeface="Tahoma"/>
                        </a:rPr>
                        <a:t>0</a:t>
                      </a:r>
                      <a:endParaRPr sz="2800">
                        <a:latin typeface="Tahoma"/>
                        <a:cs typeface="Tahoma"/>
                      </a:endParaRPr>
                    </a:p>
                  </a:txBody>
                  <a:tcPr marL="0" marR="0" marT="4254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2800" spc="-50" dirty="0">
                          <a:latin typeface="Tahoma"/>
                          <a:cs typeface="Tahoma"/>
                        </a:rPr>
                        <a:t>8</a:t>
                      </a:r>
                      <a:endParaRPr sz="2800">
                        <a:latin typeface="Tahoma"/>
                        <a:cs typeface="Tahoma"/>
                      </a:endParaRPr>
                    </a:p>
                  </a:txBody>
                  <a:tcPr marL="0" marR="0" marT="4254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2800" spc="-50" dirty="0">
                          <a:latin typeface="Tahoma"/>
                          <a:cs typeface="Tahoma"/>
                        </a:rPr>
                        <a:t>1</a:t>
                      </a:r>
                      <a:endParaRPr sz="2800">
                        <a:latin typeface="Tahoma"/>
                        <a:cs typeface="Tahoma"/>
                      </a:endParaRPr>
                    </a:p>
                  </a:txBody>
                  <a:tcPr marL="0" marR="0" marT="4254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262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2800" spc="-50" dirty="0">
                          <a:latin typeface="Tahoma"/>
                          <a:cs typeface="Tahoma"/>
                        </a:rPr>
                        <a:t>0</a:t>
                      </a:r>
                      <a:endParaRPr sz="2800">
                        <a:latin typeface="Tahoma"/>
                        <a:cs typeface="Tahoma"/>
                      </a:endParaRPr>
                    </a:p>
                  </a:txBody>
                  <a:tcPr marL="0" marR="0" marT="4254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2800" spc="-50" dirty="0">
                          <a:latin typeface="Tahoma"/>
                          <a:cs typeface="Tahoma"/>
                        </a:rPr>
                        <a:t>5</a:t>
                      </a:r>
                      <a:endParaRPr sz="2800">
                        <a:latin typeface="Tahoma"/>
                        <a:cs typeface="Tahoma"/>
                      </a:endParaRPr>
                    </a:p>
                  </a:txBody>
                  <a:tcPr marL="0" marR="0" marT="4254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2800" spc="-50" dirty="0">
                          <a:latin typeface="Tahoma"/>
                          <a:cs typeface="Tahoma"/>
                        </a:rPr>
                        <a:t>3</a:t>
                      </a:r>
                      <a:endParaRPr sz="2800">
                        <a:latin typeface="Tahoma"/>
                        <a:cs typeface="Tahoma"/>
                      </a:endParaRPr>
                    </a:p>
                  </a:txBody>
                  <a:tcPr marL="0" marR="0" marT="4254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19</a:t>
            </a:fld>
            <a:endParaRPr spc="-25" dirty="0"/>
          </a:p>
        </p:txBody>
      </p:sp>
      <p:sp>
        <p:nvSpPr>
          <p:cNvPr id="17" name="object 17"/>
          <p:cNvSpPr txBox="1"/>
          <p:nvPr/>
        </p:nvSpPr>
        <p:spPr>
          <a:xfrm>
            <a:off x="4563871" y="4797044"/>
            <a:ext cx="901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Tahoma"/>
                <a:cs typeface="Tahoma"/>
              </a:rPr>
              <a:t>j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85216" y="1447800"/>
            <a:ext cx="8542020" cy="2438400"/>
            <a:chOff x="585216" y="1447800"/>
            <a:chExt cx="8542020" cy="2438400"/>
          </a:xfrm>
        </p:grpSpPr>
        <p:sp>
          <p:nvSpPr>
            <p:cNvPr id="3" name="object 3"/>
            <p:cNvSpPr/>
            <p:nvPr/>
          </p:nvSpPr>
          <p:spPr>
            <a:xfrm>
              <a:off x="3346704" y="1508760"/>
              <a:ext cx="5765800" cy="2377440"/>
            </a:xfrm>
            <a:custGeom>
              <a:avLst/>
              <a:gdLst/>
              <a:ahLst/>
              <a:cxnLst/>
              <a:rect l="l" t="t" r="r" b="b"/>
              <a:pathLst>
                <a:path w="5765800" h="2377440">
                  <a:moveTo>
                    <a:pt x="5765292" y="0"/>
                  </a:moveTo>
                  <a:lnTo>
                    <a:pt x="0" y="0"/>
                  </a:lnTo>
                  <a:lnTo>
                    <a:pt x="0" y="2377440"/>
                  </a:lnTo>
                  <a:lnTo>
                    <a:pt x="5765292" y="2377440"/>
                  </a:lnTo>
                  <a:lnTo>
                    <a:pt x="576529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342132" y="1503679"/>
              <a:ext cx="5774690" cy="2382520"/>
            </a:xfrm>
            <a:custGeom>
              <a:avLst/>
              <a:gdLst/>
              <a:ahLst/>
              <a:cxnLst/>
              <a:rect l="l" t="t" r="r" b="b"/>
              <a:pathLst>
                <a:path w="5774690" h="2382520">
                  <a:moveTo>
                    <a:pt x="5774436" y="0"/>
                  </a:moveTo>
                  <a:lnTo>
                    <a:pt x="9144" y="0"/>
                  </a:lnTo>
                  <a:lnTo>
                    <a:pt x="9144" y="5080"/>
                  </a:lnTo>
                  <a:lnTo>
                    <a:pt x="6604" y="7620"/>
                  </a:lnTo>
                  <a:lnTo>
                    <a:pt x="6604" y="5080"/>
                  </a:lnTo>
                  <a:lnTo>
                    <a:pt x="9144" y="5080"/>
                  </a:lnTo>
                  <a:lnTo>
                    <a:pt x="9144" y="0"/>
                  </a:lnTo>
                  <a:lnTo>
                    <a:pt x="0" y="0"/>
                  </a:lnTo>
                  <a:lnTo>
                    <a:pt x="0" y="5080"/>
                  </a:lnTo>
                  <a:lnTo>
                    <a:pt x="0" y="10160"/>
                  </a:lnTo>
                  <a:lnTo>
                    <a:pt x="0" y="2382520"/>
                  </a:lnTo>
                  <a:lnTo>
                    <a:pt x="9144" y="2382520"/>
                  </a:lnTo>
                  <a:lnTo>
                    <a:pt x="9144" y="10160"/>
                  </a:lnTo>
                  <a:lnTo>
                    <a:pt x="6604" y="10160"/>
                  </a:lnTo>
                  <a:lnTo>
                    <a:pt x="6604" y="9652"/>
                  </a:lnTo>
                  <a:lnTo>
                    <a:pt x="9144" y="9652"/>
                  </a:lnTo>
                  <a:lnTo>
                    <a:pt x="5763768" y="9652"/>
                  </a:lnTo>
                  <a:lnTo>
                    <a:pt x="5763768" y="10160"/>
                  </a:lnTo>
                  <a:lnTo>
                    <a:pt x="5763768" y="2382520"/>
                  </a:lnTo>
                  <a:lnTo>
                    <a:pt x="5774436" y="2382520"/>
                  </a:lnTo>
                  <a:lnTo>
                    <a:pt x="5774436" y="10160"/>
                  </a:lnTo>
                  <a:lnTo>
                    <a:pt x="5767146" y="10160"/>
                  </a:lnTo>
                  <a:lnTo>
                    <a:pt x="5767146" y="7620"/>
                  </a:lnTo>
                  <a:lnTo>
                    <a:pt x="5769864" y="9652"/>
                  </a:lnTo>
                  <a:lnTo>
                    <a:pt x="5774436" y="9652"/>
                  </a:lnTo>
                  <a:lnTo>
                    <a:pt x="5774436" y="5080"/>
                  </a:lnTo>
                  <a:lnTo>
                    <a:pt x="577443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396847" y="764540"/>
            <a:ext cx="209994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0" dirty="0"/>
              <a:t>Transpose</a:t>
            </a:r>
            <a:endParaRPr sz="3600"/>
          </a:p>
        </p:txBody>
      </p:sp>
      <p:sp>
        <p:nvSpPr>
          <p:cNvPr id="6" name="object 6"/>
          <p:cNvSpPr txBox="1"/>
          <p:nvPr/>
        </p:nvSpPr>
        <p:spPr>
          <a:xfrm>
            <a:off x="3951223" y="1870964"/>
            <a:ext cx="367728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Courier New"/>
                <a:cs typeface="Courier New"/>
              </a:rPr>
              <a:t>int</a:t>
            </a:r>
            <a:r>
              <a:rPr sz="2400" b="1" spc="-20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N</a:t>
            </a:r>
            <a:r>
              <a:rPr sz="2400" b="1" spc="-20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=</a:t>
            </a:r>
            <a:r>
              <a:rPr sz="2400" b="1" spc="-15" dirty="0">
                <a:latin typeface="Courier New"/>
                <a:cs typeface="Courier New"/>
              </a:rPr>
              <a:t> </a:t>
            </a:r>
            <a:r>
              <a:rPr sz="2400" b="1" spc="-25" dirty="0">
                <a:latin typeface="Courier New"/>
                <a:cs typeface="Courier New"/>
              </a:rPr>
              <a:t>3;</a:t>
            </a:r>
            <a:endParaRPr sz="2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400" b="1" dirty="0">
                <a:latin typeface="Courier New"/>
                <a:cs typeface="Courier New"/>
              </a:rPr>
              <a:t>int</a:t>
            </a:r>
            <a:r>
              <a:rPr sz="2400" b="1" spc="-25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a[N][N],b[N][N];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768344" y="2602484"/>
            <a:ext cx="477139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67080" marR="5080" indent="-754380">
              <a:lnSpc>
                <a:spcPct val="100000"/>
              </a:lnSpc>
              <a:spcBef>
                <a:spcPts val="100"/>
              </a:spcBef>
              <a:tabLst>
                <a:tab pos="743585" algn="l"/>
                <a:tab pos="4232275" algn="l"/>
              </a:tabLst>
            </a:pPr>
            <a:r>
              <a:rPr sz="2400" b="1" spc="-25" dirty="0">
                <a:latin typeface="Courier New"/>
                <a:cs typeface="Courier New"/>
              </a:rPr>
              <a:t>/*</a:t>
            </a:r>
            <a:r>
              <a:rPr sz="2400" b="1" dirty="0">
                <a:latin typeface="Courier New"/>
                <a:cs typeface="Courier New"/>
              </a:rPr>
              <a:t>	Transfer</a:t>
            </a:r>
            <a:r>
              <a:rPr sz="2400" b="1" spc="-55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values</a:t>
            </a:r>
            <a:r>
              <a:rPr sz="2400" b="1" spc="-40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to</a:t>
            </a:r>
            <a:r>
              <a:rPr sz="2400" b="1" spc="-45" dirty="0">
                <a:latin typeface="Courier New"/>
                <a:cs typeface="Courier New"/>
              </a:rPr>
              <a:t> </a:t>
            </a:r>
            <a:r>
              <a:rPr sz="2400" b="1" spc="-25" dirty="0">
                <a:latin typeface="Courier New"/>
                <a:cs typeface="Courier New"/>
              </a:rPr>
              <a:t>the </a:t>
            </a:r>
            <a:r>
              <a:rPr sz="2400" b="1" dirty="0">
                <a:latin typeface="Courier New"/>
                <a:cs typeface="Courier New"/>
              </a:rPr>
              <a:t>transpose</a:t>
            </a:r>
            <a:r>
              <a:rPr sz="2400" b="1" spc="-85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matrix.</a:t>
            </a:r>
            <a:r>
              <a:rPr sz="2400" b="1" dirty="0">
                <a:latin typeface="Courier New"/>
                <a:cs typeface="Courier New"/>
              </a:rPr>
              <a:t>	</a:t>
            </a:r>
            <a:r>
              <a:rPr sz="2400" b="1" spc="-25" dirty="0">
                <a:latin typeface="Courier New"/>
                <a:cs typeface="Courier New"/>
              </a:rPr>
              <a:t>*/</a:t>
            </a:r>
            <a:endParaRPr sz="2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400" b="1" dirty="0">
                <a:latin typeface="Courier New"/>
                <a:cs typeface="Courier New"/>
              </a:rPr>
              <a:t>for(i=0;</a:t>
            </a:r>
            <a:r>
              <a:rPr sz="2400" b="1" spc="-55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i&lt;N;</a:t>
            </a:r>
            <a:r>
              <a:rPr sz="2400" b="1" spc="-30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i++)</a:t>
            </a:r>
            <a:r>
              <a:rPr sz="2400" b="1" spc="-1215" dirty="0">
                <a:latin typeface="Courier New"/>
                <a:cs typeface="Courier New"/>
              </a:rPr>
              <a:t> </a:t>
            </a:r>
            <a:r>
              <a:rPr sz="2400" b="1" spc="-50" dirty="0">
                <a:latin typeface="Courier New"/>
                <a:cs typeface="Courier New"/>
              </a:rPr>
              <a:t>{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85799" y="2561335"/>
            <a:ext cx="1625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latin typeface="Tahoma"/>
                <a:cs typeface="Tahoma"/>
              </a:rPr>
              <a:t>a</a:t>
            </a:r>
            <a:endParaRPr sz="1800">
              <a:latin typeface="Tahoma"/>
              <a:cs typeface="Tahom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457200" y="3886200"/>
            <a:ext cx="9144000" cy="3429000"/>
            <a:chOff x="457200" y="3886200"/>
            <a:chExt cx="9144000" cy="3429000"/>
          </a:xfrm>
        </p:grpSpPr>
        <p:sp>
          <p:nvSpPr>
            <p:cNvPr id="10" name="object 10"/>
            <p:cNvSpPr/>
            <p:nvPr/>
          </p:nvSpPr>
          <p:spPr>
            <a:xfrm>
              <a:off x="457200" y="3886200"/>
              <a:ext cx="9144000" cy="3429000"/>
            </a:xfrm>
            <a:custGeom>
              <a:avLst/>
              <a:gdLst/>
              <a:ahLst/>
              <a:cxnLst/>
              <a:rect l="l" t="t" r="r" b="b"/>
              <a:pathLst>
                <a:path w="9144000" h="3429000">
                  <a:moveTo>
                    <a:pt x="9144000" y="0"/>
                  </a:moveTo>
                  <a:lnTo>
                    <a:pt x="0" y="0"/>
                  </a:lnTo>
                  <a:lnTo>
                    <a:pt x="0" y="3429000"/>
                  </a:lnTo>
                  <a:lnTo>
                    <a:pt x="9144000" y="342900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342132" y="3886199"/>
              <a:ext cx="5774690" cy="3279140"/>
            </a:xfrm>
            <a:custGeom>
              <a:avLst/>
              <a:gdLst/>
              <a:ahLst/>
              <a:cxnLst/>
              <a:rect l="l" t="t" r="r" b="b"/>
              <a:pathLst>
                <a:path w="5774690" h="3279140">
                  <a:moveTo>
                    <a:pt x="5774436" y="0"/>
                  </a:moveTo>
                  <a:lnTo>
                    <a:pt x="5763768" y="0"/>
                  </a:lnTo>
                  <a:lnTo>
                    <a:pt x="5763768" y="3268980"/>
                  </a:lnTo>
                  <a:lnTo>
                    <a:pt x="5763768" y="3273564"/>
                  </a:lnTo>
                  <a:lnTo>
                    <a:pt x="5763768" y="3274060"/>
                  </a:lnTo>
                  <a:lnTo>
                    <a:pt x="7112" y="3274060"/>
                  </a:lnTo>
                  <a:lnTo>
                    <a:pt x="7112" y="3271532"/>
                  </a:lnTo>
                  <a:lnTo>
                    <a:pt x="9144" y="3273564"/>
                  </a:lnTo>
                  <a:lnTo>
                    <a:pt x="5763755" y="3273564"/>
                  </a:lnTo>
                  <a:lnTo>
                    <a:pt x="5763768" y="3268992"/>
                  </a:lnTo>
                  <a:lnTo>
                    <a:pt x="9144" y="3268992"/>
                  </a:lnTo>
                  <a:lnTo>
                    <a:pt x="7112" y="3268992"/>
                  </a:lnTo>
                  <a:lnTo>
                    <a:pt x="9144" y="3268980"/>
                  </a:lnTo>
                  <a:lnTo>
                    <a:pt x="9144" y="0"/>
                  </a:lnTo>
                  <a:lnTo>
                    <a:pt x="0" y="0"/>
                  </a:lnTo>
                  <a:lnTo>
                    <a:pt x="0" y="3268980"/>
                  </a:lnTo>
                  <a:lnTo>
                    <a:pt x="0" y="3274060"/>
                  </a:lnTo>
                  <a:lnTo>
                    <a:pt x="0" y="3279140"/>
                  </a:lnTo>
                  <a:lnTo>
                    <a:pt x="5774436" y="3279140"/>
                  </a:lnTo>
                  <a:lnTo>
                    <a:pt x="5774436" y="3274060"/>
                  </a:lnTo>
                  <a:lnTo>
                    <a:pt x="5766473" y="3274060"/>
                  </a:lnTo>
                  <a:lnTo>
                    <a:pt x="5766473" y="3273564"/>
                  </a:lnTo>
                  <a:lnTo>
                    <a:pt x="5774436" y="3273564"/>
                  </a:lnTo>
                  <a:lnTo>
                    <a:pt x="5774436" y="3268992"/>
                  </a:lnTo>
                  <a:lnTo>
                    <a:pt x="5769864" y="3268992"/>
                  </a:lnTo>
                  <a:lnTo>
                    <a:pt x="5766473" y="3271532"/>
                  </a:lnTo>
                  <a:lnTo>
                    <a:pt x="5766473" y="3268980"/>
                  </a:lnTo>
                  <a:lnTo>
                    <a:pt x="5774436" y="3268980"/>
                  </a:lnTo>
                  <a:lnTo>
                    <a:pt x="577443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4339844" y="3699764"/>
            <a:ext cx="422592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27100" marR="5080" indent="-9144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Courier New"/>
                <a:cs typeface="Courier New"/>
              </a:rPr>
              <a:t>for(j=0;</a:t>
            </a:r>
            <a:r>
              <a:rPr sz="2400" b="1" spc="-50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j&lt;N;</a:t>
            </a:r>
            <a:r>
              <a:rPr sz="2400" b="1" spc="-35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j++)</a:t>
            </a:r>
            <a:r>
              <a:rPr sz="2400" b="1" spc="-35" dirty="0">
                <a:latin typeface="Courier New"/>
                <a:cs typeface="Courier New"/>
              </a:rPr>
              <a:t> </a:t>
            </a:r>
            <a:r>
              <a:rPr sz="2400" b="1" spc="-50" dirty="0">
                <a:latin typeface="Courier New"/>
                <a:cs typeface="Courier New"/>
              </a:rPr>
              <a:t>{ </a:t>
            </a:r>
            <a:r>
              <a:rPr sz="2400" b="1" dirty="0">
                <a:latin typeface="Courier New"/>
                <a:cs typeface="Courier New"/>
              </a:rPr>
              <a:t>b[j][i]</a:t>
            </a:r>
            <a:r>
              <a:rPr sz="2400" b="1" spc="-40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=</a:t>
            </a:r>
            <a:r>
              <a:rPr sz="2400" b="1" spc="-20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a[i][j];</a:t>
            </a:r>
            <a:endParaRPr sz="2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400" b="1" spc="-50" dirty="0">
                <a:latin typeface="Courier New"/>
                <a:cs typeface="Courier New"/>
              </a:rPr>
              <a:t>}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20</a:t>
            </a:fld>
            <a:endParaRPr spc="-25" dirty="0"/>
          </a:p>
        </p:txBody>
      </p:sp>
      <p:sp>
        <p:nvSpPr>
          <p:cNvPr id="13" name="object 13"/>
          <p:cNvSpPr txBox="1"/>
          <p:nvPr/>
        </p:nvSpPr>
        <p:spPr>
          <a:xfrm>
            <a:off x="3768344" y="4797044"/>
            <a:ext cx="2089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0" dirty="0">
                <a:latin typeface="Courier New"/>
                <a:cs typeface="Courier New"/>
              </a:rPr>
              <a:t>}</a:t>
            </a:r>
            <a:endParaRPr sz="2400">
              <a:latin typeface="Courier New"/>
              <a:cs typeface="Courier New"/>
            </a:endParaRPr>
          </a:p>
        </p:txBody>
      </p:sp>
      <p:graphicFrame>
        <p:nvGraphicFramePr>
          <p:cNvPr id="14" name="object 14"/>
          <p:cNvGraphicFramePr>
            <a:graphicFrameLocks noGrp="1"/>
          </p:cNvGraphicFramePr>
          <p:nvPr/>
        </p:nvGraphicFramePr>
        <p:xfrm>
          <a:off x="692658" y="2883407"/>
          <a:ext cx="2032000" cy="17913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781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5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81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769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2800" spc="-50" dirty="0">
                          <a:latin typeface="Tahoma"/>
                          <a:cs typeface="Tahoma"/>
                        </a:rPr>
                        <a:t>1</a:t>
                      </a:r>
                      <a:endParaRPr sz="2800">
                        <a:latin typeface="Tahoma"/>
                        <a:cs typeface="Tahoma"/>
                      </a:endParaRPr>
                    </a:p>
                  </a:txBody>
                  <a:tcPr marL="0" marR="0" marT="4254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2800" spc="-50" dirty="0">
                          <a:latin typeface="Tahoma"/>
                          <a:cs typeface="Tahoma"/>
                        </a:rPr>
                        <a:t>5</a:t>
                      </a:r>
                      <a:endParaRPr sz="2800">
                        <a:latin typeface="Tahoma"/>
                        <a:cs typeface="Tahoma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2800" spc="-50" dirty="0">
                          <a:latin typeface="Tahoma"/>
                          <a:cs typeface="Tahoma"/>
                        </a:rPr>
                        <a:t>3</a:t>
                      </a:r>
                      <a:endParaRPr sz="2800">
                        <a:latin typeface="Tahoma"/>
                        <a:cs typeface="Tahoma"/>
                      </a:endParaRPr>
                    </a:p>
                  </a:txBody>
                  <a:tcPr marL="0" marR="0" marT="4254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182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2800" spc="-50" dirty="0">
                          <a:latin typeface="Tahoma"/>
                          <a:cs typeface="Tahoma"/>
                        </a:rPr>
                        <a:t>4</a:t>
                      </a:r>
                      <a:endParaRPr sz="2800">
                        <a:latin typeface="Tahoma"/>
                        <a:cs typeface="Tahoma"/>
                      </a:endParaRPr>
                    </a:p>
                  </a:txBody>
                  <a:tcPr marL="0" marR="0" marT="4254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2800" spc="-50" dirty="0">
                          <a:latin typeface="Tahoma"/>
                          <a:cs typeface="Tahoma"/>
                        </a:rPr>
                        <a:t>2</a:t>
                      </a:r>
                      <a:endParaRPr sz="2800">
                        <a:latin typeface="Tahoma"/>
                        <a:cs typeface="Tahoma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2800" spc="-50" dirty="0">
                          <a:latin typeface="Tahoma"/>
                          <a:cs typeface="Tahoma"/>
                        </a:rPr>
                        <a:t>6</a:t>
                      </a:r>
                      <a:endParaRPr sz="2800">
                        <a:latin typeface="Tahoma"/>
                        <a:cs typeface="Tahoma"/>
                      </a:endParaRPr>
                    </a:p>
                  </a:txBody>
                  <a:tcPr marL="0" marR="0" marT="4254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182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2800" spc="-50" dirty="0">
                          <a:latin typeface="Tahoma"/>
                          <a:cs typeface="Tahoma"/>
                        </a:rPr>
                        <a:t>7</a:t>
                      </a:r>
                      <a:endParaRPr sz="2800">
                        <a:latin typeface="Tahoma"/>
                        <a:cs typeface="Tahoma"/>
                      </a:endParaRPr>
                    </a:p>
                  </a:txBody>
                  <a:tcPr marL="0" marR="0" marT="4381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2800" spc="-50" dirty="0">
                          <a:latin typeface="Tahoma"/>
                          <a:cs typeface="Tahoma"/>
                        </a:rPr>
                        <a:t>9</a:t>
                      </a:r>
                      <a:endParaRPr sz="2800">
                        <a:latin typeface="Tahoma"/>
                        <a:cs typeface="Tahoma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2800" spc="-50" dirty="0">
                          <a:latin typeface="Tahoma"/>
                          <a:cs typeface="Tahoma"/>
                        </a:rPr>
                        <a:t>8</a:t>
                      </a:r>
                      <a:endParaRPr sz="2800">
                        <a:latin typeface="Tahoma"/>
                        <a:cs typeface="Tahoma"/>
                      </a:endParaRPr>
                    </a:p>
                  </a:txBody>
                  <a:tcPr marL="0" marR="0" marT="4381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5" name="object 15"/>
          <p:cNvSpPr txBox="1"/>
          <p:nvPr/>
        </p:nvSpPr>
        <p:spPr>
          <a:xfrm>
            <a:off x="741680" y="4813731"/>
            <a:ext cx="1701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latin typeface="Tahoma"/>
                <a:cs typeface="Tahoma"/>
              </a:rPr>
              <a:t>b</a:t>
            </a:r>
            <a:endParaRPr sz="1800">
              <a:latin typeface="Tahoma"/>
              <a:cs typeface="Tahoma"/>
            </a:endParaRPr>
          </a:p>
        </p:txBody>
      </p:sp>
      <p:graphicFrame>
        <p:nvGraphicFramePr>
          <p:cNvPr id="16" name="object 16"/>
          <p:cNvGraphicFramePr>
            <a:graphicFrameLocks noGrp="1"/>
          </p:cNvGraphicFramePr>
          <p:nvPr/>
        </p:nvGraphicFramePr>
        <p:xfrm>
          <a:off x="714755" y="5256276"/>
          <a:ext cx="2032000" cy="17913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781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5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81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8330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2800" spc="-50" dirty="0">
                          <a:latin typeface="Tahoma"/>
                          <a:cs typeface="Tahoma"/>
                        </a:rPr>
                        <a:t>1</a:t>
                      </a:r>
                      <a:endParaRPr sz="2800">
                        <a:latin typeface="Tahoma"/>
                        <a:cs typeface="Tahoma"/>
                      </a:endParaRPr>
                    </a:p>
                  </a:txBody>
                  <a:tcPr marL="0" marR="0" marT="4254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2800" spc="-50" dirty="0">
                          <a:latin typeface="Tahoma"/>
                          <a:cs typeface="Tahoma"/>
                        </a:rPr>
                        <a:t>4</a:t>
                      </a:r>
                      <a:endParaRPr sz="2800">
                        <a:latin typeface="Tahoma"/>
                        <a:cs typeface="Tahoma"/>
                      </a:endParaRPr>
                    </a:p>
                  </a:txBody>
                  <a:tcPr marL="0" marR="0" marT="4254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2800" spc="-50" dirty="0">
                          <a:latin typeface="Tahoma"/>
                          <a:cs typeface="Tahoma"/>
                        </a:rPr>
                        <a:t>7</a:t>
                      </a:r>
                      <a:endParaRPr sz="2800">
                        <a:latin typeface="Tahoma"/>
                        <a:cs typeface="Tahoma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1185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2800" spc="-50" dirty="0">
                          <a:latin typeface="Tahoma"/>
                          <a:cs typeface="Tahoma"/>
                        </a:rPr>
                        <a:t>5</a:t>
                      </a:r>
                      <a:endParaRPr sz="2800">
                        <a:latin typeface="Tahoma"/>
                        <a:cs typeface="Tahoma"/>
                      </a:endParaRPr>
                    </a:p>
                  </a:txBody>
                  <a:tcPr marL="0" marR="0" marT="4191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2800" spc="-50" dirty="0">
                          <a:latin typeface="Tahoma"/>
                          <a:cs typeface="Tahoma"/>
                        </a:rPr>
                        <a:t>2</a:t>
                      </a:r>
                      <a:endParaRPr sz="2800">
                        <a:latin typeface="Tahoma"/>
                        <a:cs typeface="Tahoma"/>
                      </a:endParaRPr>
                    </a:p>
                  </a:txBody>
                  <a:tcPr marL="0" marR="0" marT="4191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2800" spc="-50" dirty="0">
                          <a:latin typeface="Tahoma"/>
                          <a:cs typeface="Tahoma"/>
                        </a:rPr>
                        <a:t>9</a:t>
                      </a:r>
                      <a:endParaRPr sz="2800">
                        <a:latin typeface="Tahoma"/>
                        <a:cs typeface="Tahoma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1820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2800" spc="-50" dirty="0">
                          <a:latin typeface="Tahoma"/>
                          <a:cs typeface="Tahoma"/>
                        </a:rPr>
                        <a:t>3</a:t>
                      </a:r>
                      <a:endParaRPr sz="2800">
                        <a:latin typeface="Tahoma"/>
                        <a:cs typeface="Tahoma"/>
                      </a:endParaRPr>
                    </a:p>
                  </a:txBody>
                  <a:tcPr marL="0" marR="0" marT="4318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2800" spc="-50" dirty="0">
                          <a:latin typeface="Tahoma"/>
                          <a:cs typeface="Tahoma"/>
                        </a:rPr>
                        <a:t>6</a:t>
                      </a:r>
                      <a:endParaRPr sz="2800">
                        <a:latin typeface="Tahoma"/>
                        <a:cs typeface="Tahoma"/>
                      </a:endParaRPr>
                    </a:p>
                  </a:txBody>
                  <a:tcPr marL="0" marR="0" marT="431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2800" spc="-50" dirty="0">
                          <a:latin typeface="Tahoma"/>
                          <a:cs typeface="Tahoma"/>
                        </a:rPr>
                        <a:t>8</a:t>
                      </a:r>
                      <a:endParaRPr sz="2800">
                        <a:latin typeface="Tahoma"/>
                        <a:cs typeface="Tahoma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85216" y="1447800"/>
            <a:ext cx="8542020" cy="2438400"/>
            <a:chOff x="585216" y="1447800"/>
            <a:chExt cx="8542020" cy="2438400"/>
          </a:xfrm>
        </p:grpSpPr>
        <p:sp>
          <p:nvSpPr>
            <p:cNvPr id="3" name="object 3"/>
            <p:cNvSpPr/>
            <p:nvPr/>
          </p:nvSpPr>
          <p:spPr>
            <a:xfrm>
              <a:off x="3346704" y="1508760"/>
              <a:ext cx="5765800" cy="2377440"/>
            </a:xfrm>
            <a:custGeom>
              <a:avLst/>
              <a:gdLst/>
              <a:ahLst/>
              <a:cxnLst/>
              <a:rect l="l" t="t" r="r" b="b"/>
              <a:pathLst>
                <a:path w="5765800" h="2377440">
                  <a:moveTo>
                    <a:pt x="5765292" y="0"/>
                  </a:moveTo>
                  <a:lnTo>
                    <a:pt x="0" y="0"/>
                  </a:lnTo>
                  <a:lnTo>
                    <a:pt x="0" y="2377440"/>
                  </a:lnTo>
                  <a:lnTo>
                    <a:pt x="5765292" y="2377440"/>
                  </a:lnTo>
                  <a:lnTo>
                    <a:pt x="576529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342132" y="1503679"/>
              <a:ext cx="5774690" cy="2382520"/>
            </a:xfrm>
            <a:custGeom>
              <a:avLst/>
              <a:gdLst/>
              <a:ahLst/>
              <a:cxnLst/>
              <a:rect l="l" t="t" r="r" b="b"/>
              <a:pathLst>
                <a:path w="5774690" h="2382520">
                  <a:moveTo>
                    <a:pt x="5774436" y="0"/>
                  </a:moveTo>
                  <a:lnTo>
                    <a:pt x="9144" y="0"/>
                  </a:lnTo>
                  <a:lnTo>
                    <a:pt x="9144" y="5080"/>
                  </a:lnTo>
                  <a:lnTo>
                    <a:pt x="6604" y="7620"/>
                  </a:lnTo>
                  <a:lnTo>
                    <a:pt x="6604" y="5080"/>
                  </a:lnTo>
                  <a:lnTo>
                    <a:pt x="9144" y="5080"/>
                  </a:lnTo>
                  <a:lnTo>
                    <a:pt x="9144" y="0"/>
                  </a:lnTo>
                  <a:lnTo>
                    <a:pt x="0" y="0"/>
                  </a:lnTo>
                  <a:lnTo>
                    <a:pt x="0" y="5080"/>
                  </a:lnTo>
                  <a:lnTo>
                    <a:pt x="0" y="10160"/>
                  </a:lnTo>
                  <a:lnTo>
                    <a:pt x="0" y="2382520"/>
                  </a:lnTo>
                  <a:lnTo>
                    <a:pt x="9144" y="2382520"/>
                  </a:lnTo>
                  <a:lnTo>
                    <a:pt x="9144" y="10160"/>
                  </a:lnTo>
                  <a:lnTo>
                    <a:pt x="6604" y="10160"/>
                  </a:lnTo>
                  <a:lnTo>
                    <a:pt x="6604" y="9652"/>
                  </a:lnTo>
                  <a:lnTo>
                    <a:pt x="9144" y="9652"/>
                  </a:lnTo>
                  <a:lnTo>
                    <a:pt x="5763768" y="9652"/>
                  </a:lnTo>
                  <a:lnTo>
                    <a:pt x="5763768" y="10160"/>
                  </a:lnTo>
                  <a:lnTo>
                    <a:pt x="5763768" y="2382520"/>
                  </a:lnTo>
                  <a:lnTo>
                    <a:pt x="5774436" y="2382520"/>
                  </a:lnTo>
                  <a:lnTo>
                    <a:pt x="5774436" y="10160"/>
                  </a:lnTo>
                  <a:lnTo>
                    <a:pt x="5767146" y="10160"/>
                  </a:lnTo>
                  <a:lnTo>
                    <a:pt x="5767146" y="7620"/>
                  </a:lnTo>
                  <a:lnTo>
                    <a:pt x="5769864" y="9652"/>
                  </a:lnTo>
                  <a:lnTo>
                    <a:pt x="5774436" y="9652"/>
                  </a:lnTo>
                  <a:lnTo>
                    <a:pt x="5774436" y="5080"/>
                  </a:lnTo>
                  <a:lnTo>
                    <a:pt x="577443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396829" y="357636"/>
            <a:ext cx="4603115" cy="10013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3840"/>
              </a:lnSpc>
              <a:spcBef>
                <a:spcPts val="100"/>
              </a:spcBef>
            </a:pPr>
            <a:r>
              <a:rPr sz="3200" spc="-10" dirty="0"/>
              <a:t>In-</a:t>
            </a:r>
            <a:r>
              <a:rPr sz="3200" dirty="0"/>
              <a:t>place</a:t>
            </a:r>
            <a:r>
              <a:rPr sz="3200" spc="-120" dirty="0"/>
              <a:t> </a:t>
            </a:r>
            <a:r>
              <a:rPr sz="3200" spc="-10" dirty="0"/>
              <a:t>Transpose</a:t>
            </a:r>
            <a:endParaRPr sz="3200"/>
          </a:p>
          <a:p>
            <a:pPr marL="12700">
              <a:lnSpc>
                <a:spcPct val="100000"/>
              </a:lnSpc>
            </a:pPr>
            <a:r>
              <a:rPr sz="3200" dirty="0"/>
              <a:t>(you</a:t>
            </a:r>
            <a:r>
              <a:rPr sz="3200" spc="-50" dirty="0"/>
              <a:t> </a:t>
            </a:r>
            <a:r>
              <a:rPr sz="3200" dirty="0"/>
              <a:t>can</a:t>
            </a:r>
            <a:r>
              <a:rPr sz="3200" spc="-40" dirty="0"/>
              <a:t> </a:t>
            </a:r>
            <a:r>
              <a:rPr sz="3200" dirty="0"/>
              <a:t>not</a:t>
            </a:r>
            <a:r>
              <a:rPr sz="3200" spc="-30" dirty="0"/>
              <a:t> </a:t>
            </a:r>
            <a:r>
              <a:rPr sz="3200" dirty="0"/>
              <a:t>use</a:t>
            </a:r>
            <a:r>
              <a:rPr sz="3200" spc="-30" dirty="0"/>
              <a:t> </a:t>
            </a:r>
            <a:r>
              <a:rPr sz="3200" dirty="0"/>
              <a:t>b</a:t>
            </a:r>
            <a:r>
              <a:rPr sz="3200" spc="-30" dirty="0"/>
              <a:t> </a:t>
            </a:r>
            <a:r>
              <a:rPr sz="3200" spc="-10" dirty="0"/>
              <a:t>array)</a:t>
            </a:r>
            <a:endParaRPr sz="3200"/>
          </a:p>
        </p:txBody>
      </p:sp>
      <p:sp>
        <p:nvSpPr>
          <p:cNvPr id="6" name="object 6"/>
          <p:cNvSpPr txBox="1"/>
          <p:nvPr/>
        </p:nvSpPr>
        <p:spPr>
          <a:xfrm>
            <a:off x="3951223" y="1870964"/>
            <a:ext cx="367728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Courier New"/>
                <a:cs typeface="Courier New"/>
              </a:rPr>
              <a:t>int</a:t>
            </a:r>
            <a:r>
              <a:rPr sz="2400" b="1" spc="-20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N</a:t>
            </a:r>
            <a:r>
              <a:rPr sz="2400" b="1" spc="-20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=</a:t>
            </a:r>
            <a:r>
              <a:rPr sz="2400" b="1" spc="-15" dirty="0">
                <a:latin typeface="Courier New"/>
                <a:cs typeface="Courier New"/>
              </a:rPr>
              <a:t> </a:t>
            </a:r>
            <a:r>
              <a:rPr sz="2400" b="1" spc="-20" dirty="0">
                <a:latin typeface="Courier New"/>
                <a:cs typeface="Courier New"/>
              </a:rPr>
              <a:t>3,t;</a:t>
            </a:r>
            <a:endParaRPr sz="24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400" b="1" dirty="0">
                <a:latin typeface="Courier New"/>
                <a:cs typeface="Courier New"/>
              </a:rPr>
              <a:t>int</a:t>
            </a:r>
            <a:r>
              <a:rPr sz="2400" b="1" spc="-25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a[N][N],b[N][N];</a:t>
            </a:r>
            <a:endParaRPr sz="2400" dirty="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768344" y="2602484"/>
            <a:ext cx="477139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67080" marR="5080" indent="-754380">
              <a:lnSpc>
                <a:spcPct val="100000"/>
              </a:lnSpc>
              <a:spcBef>
                <a:spcPts val="100"/>
              </a:spcBef>
              <a:tabLst>
                <a:tab pos="743585" algn="l"/>
                <a:tab pos="4232275" algn="l"/>
              </a:tabLst>
            </a:pPr>
            <a:r>
              <a:rPr sz="2400" b="1" spc="-25" dirty="0">
                <a:latin typeface="Courier New"/>
                <a:cs typeface="Courier New"/>
              </a:rPr>
              <a:t>/*</a:t>
            </a:r>
            <a:r>
              <a:rPr sz="2400" b="1" dirty="0">
                <a:latin typeface="Courier New"/>
                <a:cs typeface="Courier New"/>
              </a:rPr>
              <a:t>	Transfer</a:t>
            </a:r>
            <a:r>
              <a:rPr sz="2400" b="1" spc="-55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values</a:t>
            </a:r>
            <a:r>
              <a:rPr sz="2400" b="1" spc="-40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to</a:t>
            </a:r>
            <a:r>
              <a:rPr sz="2400" b="1" spc="-45" dirty="0">
                <a:latin typeface="Courier New"/>
                <a:cs typeface="Courier New"/>
              </a:rPr>
              <a:t> </a:t>
            </a:r>
            <a:r>
              <a:rPr sz="2400" b="1" spc="-25" dirty="0">
                <a:latin typeface="Courier New"/>
                <a:cs typeface="Courier New"/>
              </a:rPr>
              <a:t>the </a:t>
            </a:r>
            <a:r>
              <a:rPr sz="2400" b="1" dirty="0">
                <a:latin typeface="Courier New"/>
                <a:cs typeface="Courier New"/>
              </a:rPr>
              <a:t>transpose</a:t>
            </a:r>
            <a:r>
              <a:rPr sz="2400" b="1" spc="-85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matrix.</a:t>
            </a:r>
            <a:r>
              <a:rPr sz="2400" b="1" dirty="0">
                <a:latin typeface="Courier New"/>
                <a:cs typeface="Courier New"/>
              </a:rPr>
              <a:t>	</a:t>
            </a:r>
            <a:r>
              <a:rPr sz="2400" b="1" spc="-25" dirty="0">
                <a:latin typeface="Courier New"/>
                <a:cs typeface="Courier New"/>
              </a:rPr>
              <a:t>*/</a:t>
            </a:r>
            <a:endParaRPr sz="24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400" b="1" dirty="0">
                <a:latin typeface="Courier New"/>
                <a:cs typeface="Courier New"/>
              </a:rPr>
              <a:t>for(i=0;</a:t>
            </a:r>
            <a:r>
              <a:rPr sz="2400" b="1" spc="-55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i&lt;N;</a:t>
            </a:r>
            <a:r>
              <a:rPr sz="2400" b="1" spc="-30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i++)</a:t>
            </a:r>
            <a:r>
              <a:rPr sz="2400" b="1" spc="-1215" dirty="0">
                <a:latin typeface="Courier New"/>
                <a:cs typeface="Courier New"/>
              </a:rPr>
              <a:t> </a:t>
            </a:r>
            <a:r>
              <a:rPr sz="2400" b="1" spc="-50" dirty="0">
                <a:latin typeface="Courier New"/>
                <a:cs typeface="Courier New"/>
              </a:rPr>
              <a:t>{</a:t>
            </a:r>
            <a:endParaRPr sz="2400" dirty="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85799" y="2561335"/>
            <a:ext cx="1625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latin typeface="Tahoma"/>
                <a:cs typeface="Tahoma"/>
              </a:rPr>
              <a:t>a</a:t>
            </a:r>
            <a:endParaRPr sz="1800">
              <a:latin typeface="Tahoma"/>
              <a:cs typeface="Tahom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457200" y="3886200"/>
            <a:ext cx="9144000" cy="3429000"/>
            <a:chOff x="457200" y="3886200"/>
            <a:chExt cx="9144000" cy="3429000"/>
          </a:xfrm>
        </p:grpSpPr>
        <p:sp>
          <p:nvSpPr>
            <p:cNvPr id="10" name="object 10"/>
            <p:cNvSpPr/>
            <p:nvPr/>
          </p:nvSpPr>
          <p:spPr>
            <a:xfrm>
              <a:off x="457200" y="3886200"/>
              <a:ext cx="9144000" cy="3429000"/>
            </a:xfrm>
            <a:custGeom>
              <a:avLst/>
              <a:gdLst/>
              <a:ahLst/>
              <a:cxnLst/>
              <a:rect l="l" t="t" r="r" b="b"/>
              <a:pathLst>
                <a:path w="9144000" h="3429000">
                  <a:moveTo>
                    <a:pt x="9144000" y="0"/>
                  </a:moveTo>
                  <a:lnTo>
                    <a:pt x="0" y="0"/>
                  </a:lnTo>
                  <a:lnTo>
                    <a:pt x="0" y="3429000"/>
                  </a:lnTo>
                  <a:lnTo>
                    <a:pt x="9144000" y="342900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342132" y="3886199"/>
              <a:ext cx="5774690" cy="3279140"/>
            </a:xfrm>
            <a:custGeom>
              <a:avLst/>
              <a:gdLst/>
              <a:ahLst/>
              <a:cxnLst/>
              <a:rect l="l" t="t" r="r" b="b"/>
              <a:pathLst>
                <a:path w="5774690" h="3279140">
                  <a:moveTo>
                    <a:pt x="5774436" y="0"/>
                  </a:moveTo>
                  <a:lnTo>
                    <a:pt x="5763768" y="0"/>
                  </a:lnTo>
                  <a:lnTo>
                    <a:pt x="5763768" y="3268980"/>
                  </a:lnTo>
                  <a:lnTo>
                    <a:pt x="5763768" y="3273564"/>
                  </a:lnTo>
                  <a:lnTo>
                    <a:pt x="5763768" y="3274060"/>
                  </a:lnTo>
                  <a:lnTo>
                    <a:pt x="7112" y="3274060"/>
                  </a:lnTo>
                  <a:lnTo>
                    <a:pt x="7112" y="3271532"/>
                  </a:lnTo>
                  <a:lnTo>
                    <a:pt x="9144" y="3273564"/>
                  </a:lnTo>
                  <a:lnTo>
                    <a:pt x="5763755" y="3273564"/>
                  </a:lnTo>
                  <a:lnTo>
                    <a:pt x="5763768" y="3268992"/>
                  </a:lnTo>
                  <a:lnTo>
                    <a:pt x="9144" y="3268992"/>
                  </a:lnTo>
                  <a:lnTo>
                    <a:pt x="7112" y="3268992"/>
                  </a:lnTo>
                  <a:lnTo>
                    <a:pt x="9144" y="3268980"/>
                  </a:lnTo>
                  <a:lnTo>
                    <a:pt x="9144" y="0"/>
                  </a:lnTo>
                  <a:lnTo>
                    <a:pt x="0" y="0"/>
                  </a:lnTo>
                  <a:lnTo>
                    <a:pt x="0" y="3268980"/>
                  </a:lnTo>
                  <a:lnTo>
                    <a:pt x="0" y="3274060"/>
                  </a:lnTo>
                  <a:lnTo>
                    <a:pt x="0" y="3279140"/>
                  </a:lnTo>
                  <a:lnTo>
                    <a:pt x="5774436" y="3279140"/>
                  </a:lnTo>
                  <a:lnTo>
                    <a:pt x="5774436" y="3274060"/>
                  </a:lnTo>
                  <a:lnTo>
                    <a:pt x="5766473" y="3274060"/>
                  </a:lnTo>
                  <a:lnTo>
                    <a:pt x="5766473" y="3273564"/>
                  </a:lnTo>
                  <a:lnTo>
                    <a:pt x="5774436" y="3273564"/>
                  </a:lnTo>
                  <a:lnTo>
                    <a:pt x="5774436" y="3268992"/>
                  </a:lnTo>
                  <a:lnTo>
                    <a:pt x="5769864" y="3268992"/>
                  </a:lnTo>
                  <a:lnTo>
                    <a:pt x="5766473" y="3271532"/>
                  </a:lnTo>
                  <a:lnTo>
                    <a:pt x="5766473" y="3268980"/>
                  </a:lnTo>
                  <a:lnTo>
                    <a:pt x="5774436" y="3268980"/>
                  </a:lnTo>
                  <a:lnTo>
                    <a:pt x="577443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4339844" y="3699764"/>
            <a:ext cx="40430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Courier New"/>
                <a:cs typeface="Courier New"/>
              </a:rPr>
              <a:t>for(j=i+1;</a:t>
            </a:r>
            <a:r>
              <a:rPr sz="2400" b="1" spc="-40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j&lt;N;</a:t>
            </a:r>
            <a:r>
              <a:rPr sz="2400" b="1" spc="-55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j++)</a:t>
            </a:r>
            <a:r>
              <a:rPr sz="2400" b="1" spc="-35" dirty="0">
                <a:latin typeface="Courier New"/>
                <a:cs typeface="Courier New"/>
              </a:rPr>
              <a:t> </a:t>
            </a:r>
            <a:r>
              <a:rPr sz="2400" b="1" spc="-50" dirty="0">
                <a:latin typeface="Courier New"/>
                <a:cs typeface="Courier New"/>
              </a:rPr>
              <a:t>{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251196" y="4065523"/>
            <a:ext cx="331152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54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Courier New"/>
                <a:cs typeface="Courier New"/>
              </a:rPr>
              <a:t>t</a:t>
            </a:r>
            <a:r>
              <a:rPr sz="2400" b="1" spc="-15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=</a:t>
            </a:r>
            <a:r>
              <a:rPr sz="2400" b="1" spc="-5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a[i][j]; </a:t>
            </a:r>
            <a:r>
              <a:rPr sz="2400" b="1" dirty="0">
                <a:latin typeface="Courier New"/>
                <a:cs typeface="Courier New"/>
              </a:rPr>
              <a:t>a[i][j]</a:t>
            </a:r>
            <a:r>
              <a:rPr sz="2400" b="1" spc="-30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=</a:t>
            </a:r>
            <a:r>
              <a:rPr sz="2400" b="1" spc="-30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a[j][i]; </a:t>
            </a:r>
            <a:r>
              <a:rPr sz="2400" b="1" dirty="0">
                <a:latin typeface="Courier New"/>
                <a:cs typeface="Courier New"/>
              </a:rPr>
              <a:t>a[j][i]</a:t>
            </a:r>
            <a:r>
              <a:rPr sz="2400" b="1" spc="-30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=</a:t>
            </a:r>
            <a:r>
              <a:rPr sz="2400" b="1" spc="-30" dirty="0">
                <a:latin typeface="Courier New"/>
                <a:cs typeface="Courier New"/>
              </a:rPr>
              <a:t> </a:t>
            </a:r>
            <a:r>
              <a:rPr sz="2400" b="1" spc="-25" dirty="0">
                <a:latin typeface="Courier New"/>
                <a:cs typeface="Courier New"/>
              </a:rPr>
              <a:t>t;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768344" y="5162804"/>
            <a:ext cx="78041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84200">
              <a:lnSpc>
                <a:spcPct val="100000"/>
              </a:lnSpc>
              <a:spcBef>
                <a:spcPts val="100"/>
              </a:spcBef>
            </a:pPr>
            <a:r>
              <a:rPr sz="2400" b="1" spc="-50" dirty="0">
                <a:latin typeface="Courier New"/>
                <a:cs typeface="Courier New"/>
              </a:rPr>
              <a:t>}</a:t>
            </a:r>
            <a:endParaRPr sz="2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400" b="1" spc="-50" dirty="0">
                <a:latin typeface="Courier New"/>
                <a:cs typeface="Courier New"/>
              </a:rPr>
              <a:t>}</a:t>
            </a:r>
            <a:endParaRPr sz="2400">
              <a:latin typeface="Courier New"/>
              <a:cs typeface="Courier New"/>
            </a:endParaRPr>
          </a:p>
        </p:txBody>
      </p:sp>
      <p:graphicFrame>
        <p:nvGraphicFramePr>
          <p:cNvPr id="15" name="object 15"/>
          <p:cNvGraphicFramePr>
            <a:graphicFrameLocks noGrp="1"/>
          </p:cNvGraphicFramePr>
          <p:nvPr/>
        </p:nvGraphicFramePr>
        <p:xfrm>
          <a:off x="692658" y="2883407"/>
          <a:ext cx="2032000" cy="17913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781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5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81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769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2800" spc="-50" dirty="0">
                          <a:latin typeface="Tahoma"/>
                          <a:cs typeface="Tahoma"/>
                        </a:rPr>
                        <a:t>1</a:t>
                      </a:r>
                      <a:endParaRPr sz="2800">
                        <a:latin typeface="Tahoma"/>
                        <a:cs typeface="Tahoma"/>
                      </a:endParaRPr>
                    </a:p>
                  </a:txBody>
                  <a:tcPr marL="0" marR="0" marT="4254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2800" spc="-50" dirty="0">
                          <a:latin typeface="Tahoma"/>
                          <a:cs typeface="Tahoma"/>
                        </a:rPr>
                        <a:t>5</a:t>
                      </a:r>
                      <a:endParaRPr sz="2800">
                        <a:latin typeface="Tahoma"/>
                        <a:cs typeface="Tahoma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2800" spc="-50" dirty="0">
                          <a:latin typeface="Tahoma"/>
                          <a:cs typeface="Tahoma"/>
                        </a:rPr>
                        <a:t>3</a:t>
                      </a:r>
                      <a:endParaRPr sz="2800">
                        <a:latin typeface="Tahoma"/>
                        <a:cs typeface="Tahoma"/>
                      </a:endParaRPr>
                    </a:p>
                  </a:txBody>
                  <a:tcPr marL="0" marR="0" marT="4254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182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2800" spc="-50" dirty="0">
                          <a:latin typeface="Tahoma"/>
                          <a:cs typeface="Tahoma"/>
                        </a:rPr>
                        <a:t>4</a:t>
                      </a:r>
                      <a:endParaRPr sz="2800">
                        <a:latin typeface="Tahoma"/>
                        <a:cs typeface="Tahoma"/>
                      </a:endParaRPr>
                    </a:p>
                  </a:txBody>
                  <a:tcPr marL="0" marR="0" marT="4254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2800" spc="-50" dirty="0">
                          <a:latin typeface="Tahoma"/>
                          <a:cs typeface="Tahoma"/>
                        </a:rPr>
                        <a:t>2</a:t>
                      </a:r>
                      <a:endParaRPr sz="2800">
                        <a:latin typeface="Tahoma"/>
                        <a:cs typeface="Tahoma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2800" spc="-50" dirty="0">
                          <a:latin typeface="Tahoma"/>
                          <a:cs typeface="Tahoma"/>
                        </a:rPr>
                        <a:t>6</a:t>
                      </a:r>
                      <a:endParaRPr sz="2800">
                        <a:latin typeface="Tahoma"/>
                        <a:cs typeface="Tahoma"/>
                      </a:endParaRPr>
                    </a:p>
                  </a:txBody>
                  <a:tcPr marL="0" marR="0" marT="4254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182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2800" spc="-50" dirty="0">
                          <a:latin typeface="Tahoma"/>
                          <a:cs typeface="Tahoma"/>
                        </a:rPr>
                        <a:t>7</a:t>
                      </a:r>
                      <a:endParaRPr sz="2800">
                        <a:latin typeface="Tahoma"/>
                        <a:cs typeface="Tahoma"/>
                      </a:endParaRPr>
                    </a:p>
                  </a:txBody>
                  <a:tcPr marL="0" marR="0" marT="4381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2800" spc="-50" dirty="0">
                          <a:latin typeface="Tahoma"/>
                          <a:cs typeface="Tahoma"/>
                        </a:rPr>
                        <a:t>9</a:t>
                      </a:r>
                      <a:endParaRPr sz="2800">
                        <a:latin typeface="Tahoma"/>
                        <a:cs typeface="Tahoma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2800" spc="-50" dirty="0">
                          <a:latin typeface="Tahoma"/>
                          <a:cs typeface="Tahoma"/>
                        </a:rPr>
                        <a:t>8</a:t>
                      </a:r>
                      <a:endParaRPr sz="2800">
                        <a:latin typeface="Tahoma"/>
                        <a:cs typeface="Tahoma"/>
                      </a:endParaRPr>
                    </a:p>
                  </a:txBody>
                  <a:tcPr marL="0" marR="0" marT="4381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6" name="object 16"/>
          <p:cNvSpPr txBox="1"/>
          <p:nvPr/>
        </p:nvSpPr>
        <p:spPr>
          <a:xfrm>
            <a:off x="741680" y="4813731"/>
            <a:ext cx="1701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latin typeface="Tahoma"/>
                <a:cs typeface="Tahoma"/>
              </a:rPr>
              <a:t>b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714756" y="5256276"/>
            <a:ext cx="2060575" cy="1821180"/>
          </a:xfrm>
          <a:custGeom>
            <a:avLst/>
            <a:gdLst/>
            <a:ahLst/>
            <a:cxnLst/>
            <a:rect l="l" t="t" r="r" b="b"/>
            <a:pathLst>
              <a:path w="2060575" h="1821179">
                <a:moveTo>
                  <a:pt x="2060448" y="617220"/>
                </a:moveTo>
                <a:lnTo>
                  <a:pt x="1374648" y="617220"/>
                </a:lnTo>
                <a:lnTo>
                  <a:pt x="1374648" y="0"/>
                </a:lnTo>
                <a:lnTo>
                  <a:pt x="1362456" y="0"/>
                </a:lnTo>
                <a:lnTo>
                  <a:pt x="1362456" y="617220"/>
                </a:lnTo>
                <a:lnTo>
                  <a:pt x="1362456" y="629412"/>
                </a:lnTo>
                <a:lnTo>
                  <a:pt x="1362456" y="1208532"/>
                </a:lnTo>
                <a:lnTo>
                  <a:pt x="699516" y="1208532"/>
                </a:lnTo>
                <a:lnTo>
                  <a:pt x="699516" y="629412"/>
                </a:lnTo>
                <a:lnTo>
                  <a:pt x="1362456" y="629412"/>
                </a:lnTo>
                <a:lnTo>
                  <a:pt x="1362456" y="617220"/>
                </a:lnTo>
                <a:lnTo>
                  <a:pt x="699516" y="617220"/>
                </a:lnTo>
                <a:lnTo>
                  <a:pt x="699516" y="0"/>
                </a:lnTo>
                <a:lnTo>
                  <a:pt x="685800" y="0"/>
                </a:lnTo>
                <a:lnTo>
                  <a:pt x="685800" y="617220"/>
                </a:lnTo>
                <a:lnTo>
                  <a:pt x="0" y="617220"/>
                </a:lnTo>
                <a:lnTo>
                  <a:pt x="0" y="629412"/>
                </a:lnTo>
                <a:lnTo>
                  <a:pt x="685800" y="629412"/>
                </a:lnTo>
                <a:lnTo>
                  <a:pt x="685800" y="1208532"/>
                </a:lnTo>
                <a:lnTo>
                  <a:pt x="0" y="1208532"/>
                </a:lnTo>
                <a:lnTo>
                  <a:pt x="0" y="1220724"/>
                </a:lnTo>
                <a:lnTo>
                  <a:pt x="685800" y="1220724"/>
                </a:lnTo>
                <a:lnTo>
                  <a:pt x="685800" y="1821180"/>
                </a:lnTo>
                <a:lnTo>
                  <a:pt x="699516" y="1821180"/>
                </a:lnTo>
                <a:lnTo>
                  <a:pt x="699516" y="1220724"/>
                </a:lnTo>
                <a:lnTo>
                  <a:pt x="1362456" y="1220724"/>
                </a:lnTo>
                <a:lnTo>
                  <a:pt x="1362456" y="1821180"/>
                </a:lnTo>
                <a:lnTo>
                  <a:pt x="1374648" y="1821180"/>
                </a:lnTo>
                <a:lnTo>
                  <a:pt x="1374648" y="1220724"/>
                </a:lnTo>
                <a:lnTo>
                  <a:pt x="2060448" y="1220724"/>
                </a:lnTo>
                <a:lnTo>
                  <a:pt x="2060448" y="1208532"/>
                </a:lnTo>
                <a:lnTo>
                  <a:pt x="1374648" y="1208532"/>
                </a:lnTo>
                <a:lnTo>
                  <a:pt x="1374648" y="629412"/>
                </a:lnTo>
                <a:lnTo>
                  <a:pt x="2060448" y="629412"/>
                </a:lnTo>
                <a:lnTo>
                  <a:pt x="2060448" y="61722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714756" y="5256276"/>
            <a:ext cx="2060575" cy="1821180"/>
          </a:xfrm>
          <a:custGeom>
            <a:avLst/>
            <a:gdLst/>
            <a:ahLst/>
            <a:cxnLst/>
            <a:rect l="l" t="t" r="r" b="b"/>
            <a:pathLst>
              <a:path w="2060575" h="1821179">
                <a:moveTo>
                  <a:pt x="2060448" y="0"/>
                </a:moveTo>
                <a:lnTo>
                  <a:pt x="2033016" y="0"/>
                </a:lnTo>
                <a:lnTo>
                  <a:pt x="2033016" y="28956"/>
                </a:lnTo>
                <a:lnTo>
                  <a:pt x="2033016" y="1792224"/>
                </a:lnTo>
                <a:lnTo>
                  <a:pt x="28956" y="1792224"/>
                </a:lnTo>
                <a:lnTo>
                  <a:pt x="28956" y="28956"/>
                </a:lnTo>
                <a:lnTo>
                  <a:pt x="2033016" y="28956"/>
                </a:lnTo>
                <a:lnTo>
                  <a:pt x="2033016" y="0"/>
                </a:lnTo>
                <a:lnTo>
                  <a:pt x="28956" y="0"/>
                </a:lnTo>
                <a:lnTo>
                  <a:pt x="0" y="0"/>
                </a:lnTo>
                <a:lnTo>
                  <a:pt x="0" y="28956"/>
                </a:lnTo>
                <a:lnTo>
                  <a:pt x="0" y="1792224"/>
                </a:lnTo>
                <a:lnTo>
                  <a:pt x="0" y="1821180"/>
                </a:lnTo>
                <a:lnTo>
                  <a:pt x="28956" y="1821180"/>
                </a:lnTo>
                <a:lnTo>
                  <a:pt x="2033016" y="1821180"/>
                </a:lnTo>
                <a:lnTo>
                  <a:pt x="2060448" y="1821180"/>
                </a:lnTo>
                <a:lnTo>
                  <a:pt x="2060448" y="1792224"/>
                </a:lnTo>
                <a:lnTo>
                  <a:pt x="2060448" y="28956"/>
                </a:lnTo>
                <a:lnTo>
                  <a:pt x="206044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9" name="object 19"/>
          <p:cNvGraphicFramePr>
            <a:graphicFrameLocks noGrp="1"/>
          </p:cNvGraphicFramePr>
          <p:nvPr/>
        </p:nvGraphicFramePr>
        <p:xfrm>
          <a:off x="788157" y="5313924"/>
          <a:ext cx="1612899" cy="162877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679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75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73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8159">
                <a:tc>
                  <a:txBody>
                    <a:bodyPr/>
                    <a:lstStyle/>
                    <a:p>
                      <a:pPr marL="31750">
                        <a:lnSpc>
                          <a:spcPts val="3354"/>
                        </a:lnSpc>
                      </a:pPr>
                      <a:r>
                        <a:rPr sz="2800" spc="-50" dirty="0">
                          <a:latin typeface="Tahoma"/>
                          <a:cs typeface="Tahoma"/>
                        </a:rPr>
                        <a:t>1</a:t>
                      </a:r>
                      <a:endParaRPr sz="280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3354"/>
                        </a:lnSpc>
                      </a:pPr>
                      <a:r>
                        <a:rPr sz="2800" spc="-50" dirty="0">
                          <a:latin typeface="Tahoma"/>
                          <a:cs typeface="Tahoma"/>
                        </a:rPr>
                        <a:t>4</a:t>
                      </a:r>
                      <a:endParaRPr sz="280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3354"/>
                        </a:lnSpc>
                      </a:pPr>
                      <a:r>
                        <a:rPr sz="2800" spc="-50" dirty="0">
                          <a:latin typeface="Tahoma"/>
                          <a:cs typeface="Tahoma"/>
                        </a:rPr>
                        <a:t>7</a:t>
                      </a:r>
                      <a:endParaRPr sz="280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007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705"/>
                        </a:spcBef>
                      </a:pPr>
                      <a:r>
                        <a:rPr sz="2800" spc="-50" dirty="0">
                          <a:latin typeface="Tahoma"/>
                          <a:cs typeface="Tahoma"/>
                        </a:rPr>
                        <a:t>5</a:t>
                      </a:r>
                      <a:endParaRPr sz="2800">
                        <a:latin typeface="Tahoma"/>
                        <a:cs typeface="Tahoma"/>
                      </a:endParaRPr>
                    </a:p>
                  </a:txBody>
                  <a:tcPr marL="0" marR="0" marT="89535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705"/>
                        </a:spcBef>
                      </a:pPr>
                      <a:r>
                        <a:rPr sz="2800" spc="-50" dirty="0">
                          <a:latin typeface="Tahoma"/>
                          <a:cs typeface="Tahoma"/>
                        </a:rPr>
                        <a:t>2</a:t>
                      </a:r>
                      <a:endParaRPr sz="2800">
                        <a:latin typeface="Tahoma"/>
                        <a:cs typeface="Tahoma"/>
                      </a:endParaRPr>
                    </a:p>
                  </a:txBody>
                  <a:tcPr marL="0" marR="0" marT="89535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705"/>
                        </a:spcBef>
                      </a:pPr>
                      <a:r>
                        <a:rPr sz="2800" spc="-50" dirty="0">
                          <a:latin typeface="Tahoma"/>
                          <a:cs typeface="Tahoma"/>
                        </a:rPr>
                        <a:t>9</a:t>
                      </a:r>
                      <a:endParaRPr sz="2800">
                        <a:latin typeface="Tahoma"/>
                        <a:cs typeface="Tahoma"/>
                      </a:endParaRPr>
                    </a:p>
                  </a:txBody>
                  <a:tcPr marL="0" marR="0" marT="89535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0540">
                <a:tc>
                  <a:txBody>
                    <a:bodyPr/>
                    <a:lstStyle/>
                    <a:p>
                      <a:pPr marL="31750">
                        <a:lnSpc>
                          <a:spcPts val="3275"/>
                        </a:lnSpc>
                        <a:spcBef>
                          <a:spcPts val="640"/>
                        </a:spcBef>
                      </a:pPr>
                      <a:r>
                        <a:rPr sz="2800" spc="-50" dirty="0">
                          <a:latin typeface="Tahoma"/>
                          <a:cs typeface="Tahoma"/>
                        </a:rPr>
                        <a:t>3</a:t>
                      </a:r>
                      <a:endParaRPr sz="2800">
                        <a:latin typeface="Tahoma"/>
                        <a:cs typeface="Tahoma"/>
                      </a:endParaRPr>
                    </a:p>
                  </a:txBody>
                  <a:tcPr marL="0" marR="0" marT="81280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3275"/>
                        </a:lnSpc>
                        <a:spcBef>
                          <a:spcPts val="640"/>
                        </a:spcBef>
                      </a:pPr>
                      <a:r>
                        <a:rPr sz="2800" spc="-50" dirty="0">
                          <a:latin typeface="Tahoma"/>
                          <a:cs typeface="Tahoma"/>
                        </a:rPr>
                        <a:t>6</a:t>
                      </a:r>
                      <a:endParaRPr sz="2800">
                        <a:latin typeface="Tahoma"/>
                        <a:cs typeface="Tahoma"/>
                      </a:endParaRPr>
                    </a:p>
                  </a:txBody>
                  <a:tcPr marL="0" marR="0" marT="8128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3275"/>
                        </a:lnSpc>
                        <a:spcBef>
                          <a:spcPts val="640"/>
                        </a:spcBef>
                      </a:pPr>
                      <a:r>
                        <a:rPr sz="2800" spc="-50" dirty="0">
                          <a:latin typeface="Tahoma"/>
                          <a:cs typeface="Tahoma"/>
                        </a:rPr>
                        <a:t>8</a:t>
                      </a:r>
                      <a:endParaRPr sz="2800">
                        <a:latin typeface="Tahoma"/>
                        <a:cs typeface="Tahoma"/>
                      </a:endParaRPr>
                    </a:p>
                  </a:txBody>
                  <a:tcPr marL="0" marR="0" marT="8128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0" name="object 20"/>
          <p:cNvSpPr/>
          <p:nvPr/>
        </p:nvSpPr>
        <p:spPr>
          <a:xfrm>
            <a:off x="457187" y="4779263"/>
            <a:ext cx="2501265" cy="2385060"/>
          </a:xfrm>
          <a:custGeom>
            <a:avLst/>
            <a:gdLst/>
            <a:ahLst/>
            <a:cxnLst/>
            <a:rect l="l" t="t" r="r" b="b"/>
            <a:pathLst>
              <a:path w="2501265" h="2385059">
                <a:moveTo>
                  <a:pt x="2500896" y="2377440"/>
                </a:moveTo>
                <a:lnTo>
                  <a:pt x="1253147" y="1189113"/>
                </a:lnTo>
                <a:lnTo>
                  <a:pt x="2286012" y="6096"/>
                </a:lnTo>
                <a:lnTo>
                  <a:pt x="2278392" y="0"/>
                </a:lnTo>
                <a:lnTo>
                  <a:pt x="1246492" y="1182776"/>
                </a:lnTo>
                <a:lnTo>
                  <a:pt x="4584" y="0"/>
                </a:lnTo>
                <a:lnTo>
                  <a:pt x="12" y="3657"/>
                </a:lnTo>
                <a:lnTo>
                  <a:pt x="0" y="9004"/>
                </a:lnTo>
                <a:lnTo>
                  <a:pt x="1240104" y="1190104"/>
                </a:lnTo>
                <a:lnTo>
                  <a:pt x="204228" y="2377440"/>
                </a:lnTo>
                <a:lnTo>
                  <a:pt x="210324" y="2383536"/>
                </a:lnTo>
                <a:lnTo>
                  <a:pt x="1246759" y="1196428"/>
                </a:lnTo>
                <a:lnTo>
                  <a:pt x="2494800" y="2385060"/>
                </a:lnTo>
                <a:lnTo>
                  <a:pt x="2500896" y="237744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21</a:t>
            </a:fld>
            <a:endParaRPr spc="-25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14886" y="730876"/>
            <a:ext cx="4405630" cy="13677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/>
              <a:t>Distance</a:t>
            </a:r>
            <a:r>
              <a:rPr spc="-70" dirty="0"/>
              <a:t> </a:t>
            </a:r>
            <a:r>
              <a:rPr spc="-10" dirty="0"/>
              <a:t>between </a:t>
            </a:r>
            <a:r>
              <a:rPr dirty="0"/>
              <a:t>two</a:t>
            </a:r>
            <a:r>
              <a:rPr spc="-25" dirty="0"/>
              <a:t> </a:t>
            </a:r>
            <a:r>
              <a:rPr spc="-10" dirty="0"/>
              <a:t>points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01745" y="3256326"/>
            <a:ext cx="128270" cy="1905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050" spc="-50" dirty="0">
                <a:solidFill>
                  <a:srgbClr val="3333CC"/>
                </a:solidFill>
                <a:latin typeface="Wingdings"/>
                <a:cs typeface="Wingdings"/>
              </a:rPr>
              <a:t></a:t>
            </a:r>
            <a:endParaRPr sz="1050">
              <a:latin typeface="Wingdings"/>
              <a:cs typeface="Wingding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1745" y="2451653"/>
            <a:ext cx="8425180" cy="3229859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622300" marR="5080" indent="-610235" algn="just">
              <a:lnSpc>
                <a:spcPct val="80000"/>
              </a:lnSpc>
              <a:spcBef>
                <a:spcPts val="530"/>
              </a:spcBef>
              <a:buClr>
                <a:srgbClr val="3333CC"/>
              </a:buClr>
              <a:buSzPct val="58333"/>
              <a:buFont typeface="Wingdings"/>
              <a:buChar char=""/>
              <a:tabLst>
                <a:tab pos="622300" algn="l"/>
                <a:tab pos="7282815" algn="l"/>
              </a:tabLst>
            </a:pPr>
            <a:r>
              <a:rPr sz="2400" dirty="0">
                <a:latin typeface="Tahoma"/>
                <a:cs typeface="Tahoma"/>
              </a:rPr>
              <a:t>Imagine</a:t>
            </a:r>
            <a:r>
              <a:rPr sz="2400" spc="-4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a</a:t>
            </a:r>
            <a:r>
              <a:rPr sz="2400" spc="-3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point</a:t>
            </a:r>
            <a:r>
              <a:rPr sz="2400" spc="-3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in</a:t>
            </a:r>
            <a:r>
              <a:rPr sz="2400" spc="-5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a</a:t>
            </a:r>
            <a:r>
              <a:rPr sz="2400" spc="-35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2-</a:t>
            </a:r>
            <a:r>
              <a:rPr sz="2400" dirty="0">
                <a:latin typeface="Tahoma"/>
                <a:cs typeface="Tahoma"/>
              </a:rPr>
              <a:t>dimentional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space</a:t>
            </a:r>
            <a:r>
              <a:rPr sz="2400" spc="-4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(each</a:t>
            </a:r>
            <a:r>
              <a:rPr sz="2400" spc="-3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point</a:t>
            </a:r>
            <a:r>
              <a:rPr sz="2400" spc="-3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is</a:t>
            </a:r>
            <a:r>
              <a:rPr sz="2400" spc="-4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represented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by</a:t>
            </a:r>
            <a:r>
              <a:rPr sz="2400" spc="-35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(x,y)) </a:t>
            </a:r>
            <a:r>
              <a:rPr sz="2400" dirty="0">
                <a:latin typeface="Tahoma"/>
                <a:cs typeface="Tahoma"/>
              </a:rPr>
              <a:t>and</a:t>
            </a:r>
            <a:r>
              <a:rPr sz="2400" spc="-4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we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store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3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points</a:t>
            </a:r>
            <a:r>
              <a:rPr sz="2400" spc="-4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in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an</a:t>
            </a:r>
            <a:r>
              <a:rPr sz="2400" spc="-3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array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declared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by</a:t>
            </a:r>
            <a:r>
              <a:rPr sz="2400" spc="-35" dirty="0">
                <a:latin typeface="Tahoma"/>
                <a:cs typeface="Tahoma"/>
              </a:rPr>
              <a:t> </a:t>
            </a:r>
            <a:r>
              <a:rPr sz="2400" b="1" dirty="0">
                <a:latin typeface="Tahoma"/>
                <a:cs typeface="Tahoma"/>
              </a:rPr>
              <a:t>double</a:t>
            </a:r>
            <a:r>
              <a:rPr sz="2400" b="1" spc="-20" dirty="0">
                <a:latin typeface="Tahoma"/>
                <a:cs typeface="Tahoma"/>
              </a:rPr>
              <a:t> </a:t>
            </a:r>
            <a:r>
              <a:rPr sz="2400" b="1" dirty="0">
                <a:latin typeface="Tahoma"/>
                <a:cs typeface="Tahoma"/>
              </a:rPr>
              <a:t>p[3][2]</a:t>
            </a:r>
            <a:r>
              <a:rPr sz="2400" b="1" spc="-1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(you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spc="-25" dirty="0">
                <a:latin typeface="Tahoma"/>
                <a:cs typeface="Tahoma"/>
              </a:rPr>
              <a:t>can</a:t>
            </a:r>
            <a:r>
              <a:rPr sz="2400" dirty="0">
                <a:latin typeface="Tahoma"/>
                <a:cs typeface="Tahoma"/>
              </a:rPr>
              <a:t> think</a:t>
            </a:r>
            <a:r>
              <a:rPr sz="2400" spc="-3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that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b="1" dirty="0">
                <a:latin typeface="Tahoma"/>
                <a:cs typeface="Tahoma"/>
              </a:rPr>
              <a:t>p[i][0]</a:t>
            </a:r>
            <a:r>
              <a:rPr sz="2400" b="1" spc="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is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the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x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value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and</a:t>
            </a:r>
            <a:r>
              <a:rPr sz="2400" spc="-10" dirty="0">
                <a:latin typeface="Tahoma"/>
                <a:cs typeface="Tahoma"/>
              </a:rPr>
              <a:t> </a:t>
            </a:r>
            <a:r>
              <a:rPr sz="2400" b="1" dirty="0">
                <a:latin typeface="Tahoma"/>
                <a:cs typeface="Tahoma"/>
              </a:rPr>
              <a:t>p[i][1]</a:t>
            </a:r>
            <a:r>
              <a:rPr sz="2400" b="1" spc="1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is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the</a:t>
            </a:r>
            <a:r>
              <a:rPr lang="en-US" sz="2400" spc="-1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y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value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of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spc="-25" dirty="0" err="1">
                <a:latin typeface="Tahoma"/>
                <a:cs typeface="Tahoma"/>
              </a:rPr>
              <a:t>ith</a:t>
            </a:r>
            <a:r>
              <a:rPr lang="en-US" sz="2400" spc="-25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point).</a:t>
            </a:r>
            <a:endParaRPr sz="2400" dirty="0">
              <a:latin typeface="Tahoma"/>
              <a:cs typeface="Tahoma"/>
            </a:endParaRPr>
          </a:p>
          <a:p>
            <a:pPr marL="622300" marR="2159635" algn="just">
              <a:lnSpc>
                <a:spcPct val="80000"/>
              </a:lnSpc>
              <a:spcBef>
                <a:spcPts val="434"/>
              </a:spcBef>
              <a:tabLst>
                <a:tab pos="2272665" algn="l"/>
              </a:tabLst>
            </a:pPr>
            <a:r>
              <a:rPr sz="2400" dirty="0">
                <a:latin typeface="Tahoma"/>
                <a:cs typeface="Tahoma"/>
              </a:rPr>
              <a:t>We</a:t>
            </a:r>
            <a:r>
              <a:rPr sz="2400" spc="-4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are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now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interested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in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finding</a:t>
            </a:r>
            <a:r>
              <a:rPr sz="2400" spc="-3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the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closest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two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points. </a:t>
            </a:r>
            <a:r>
              <a:rPr sz="2400" dirty="0">
                <a:latin typeface="Tahoma"/>
                <a:cs typeface="Tahoma"/>
              </a:rPr>
              <a:t>For</a:t>
            </a:r>
            <a:r>
              <a:rPr sz="2400" spc="-6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example,</a:t>
            </a:r>
            <a:r>
              <a:rPr sz="2400" spc="-30" dirty="0">
                <a:latin typeface="Tahoma"/>
                <a:cs typeface="Tahoma"/>
              </a:rPr>
              <a:t> </a:t>
            </a:r>
            <a:endParaRPr lang="en-US" sz="2400" spc="-30" dirty="0">
              <a:latin typeface="Tahoma"/>
              <a:cs typeface="Tahoma"/>
            </a:endParaRPr>
          </a:p>
          <a:p>
            <a:pPr marL="622300" marR="2159635" algn="just">
              <a:lnSpc>
                <a:spcPct val="80000"/>
              </a:lnSpc>
              <a:spcBef>
                <a:spcPts val="434"/>
              </a:spcBef>
              <a:tabLst>
                <a:tab pos="2272665" algn="l"/>
              </a:tabLst>
            </a:pPr>
            <a:r>
              <a:rPr lang="en-US" sz="2400" spc="-25" dirty="0">
                <a:latin typeface="Tahoma"/>
                <a:cs typeface="Tahoma"/>
              </a:rPr>
              <a:t>I</a:t>
            </a:r>
            <a:r>
              <a:rPr sz="2400" spc="-25" dirty="0">
                <a:latin typeface="Tahoma"/>
                <a:cs typeface="Tahoma"/>
              </a:rPr>
              <a:t>f</a:t>
            </a:r>
            <a:r>
              <a:rPr lang="en-US" sz="2400" spc="-25" dirty="0">
                <a:latin typeface="Tahoma"/>
                <a:cs typeface="Tahoma"/>
              </a:rPr>
              <a:t> </a:t>
            </a:r>
            <a:r>
              <a:rPr sz="2400" b="1" dirty="0">
                <a:latin typeface="Tahoma"/>
                <a:cs typeface="Tahoma"/>
              </a:rPr>
              <a:t>p[3][2]</a:t>
            </a:r>
            <a:r>
              <a:rPr sz="2400" b="1" spc="-35" dirty="0">
                <a:latin typeface="Tahoma"/>
                <a:cs typeface="Tahoma"/>
              </a:rPr>
              <a:t> </a:t>
            </a:r>
            <a:r>
              <a:rPr sz="2400" b="1" dirty="0">
                <a:latin typeface="Tahoma"/>
                <a:cs typeface="Tahoma"/>
              </a:rPr>
              <a:t>=</a:t>
            </a:r>
            <a:r>
              <a:rPr sz="2400" b="1" spc="-25" dirty="0">
                <a:latin typeface="Tahoma"/>
                <a:cs typeface="Tahoma"/>
              </a:rPr>
              <a:t> </a:t>
            </a:r>
            <a:r>
              <a:rPr sz="2400" b="1" spc="-10" dirty="0">
                <a:latin typeface="Tahoma"/>
                <a:cs typeface="Tahoma"/>
              </a:rPr>
              <a:t>{{1,1},</a:t>
            </a:r>
            <a:endParaRPr lang="en-US" sz="2400" b="1" spc="-10" dirty="0">
              <a:latin typeface="Tahoma"/>
              <a:cs typeface="Tahoma"/>
            </a:endParaRPr>
          </a:p>
          <a:p>
            <a:pPr marL="622300" marR="2159635" algn="just">
              <a:lnSpc>
                <a:spcPct val="80000"/>
              </a:lnSpc>
              <a:spcBef>
                <a:spcPts val="434"/>
              </a:spcBef>
              <a:tabLst>
                <a:tab pos="2272665" algn="l"/>
              </a:tabLst>
            </a:pPr>
            <a:r>
              <a:rPr lang="en-US" sz="2400" b="1" spc="-10" dirty="0">
                <a:latin typeface="Tahoma"/>
                <a:cs typeface="Tahoma"/>
              </a:rPr>
              <a:t>	    </a:t>
            </a:r>
            <a:r>
              <a:rPr sz="2400" b="1" spc="-10" dirty="0">
                <a:latin typeface="Tahoma"/>
                <a:cs typeface="Tahoma"/>
              </a:rPr>
              <a:t>{2,1},</a:t>
            </a:r>
            <a:r>
              <a:rPr lang="en-US" sz="2400" b="1" dirty="0">
                <a:latin typeface="Tahoma"/>
                <a:cs typeface="Tahoma"/>
              </a:rPr>
              <a:t> </a:t>
            </a:r>
          </a:p>
          <a:p>
            <a:pPr marL="622300" marR="2159635" algn="just">
              <a:lnSpc>
                <a:spcPct val="80000"/>
              </a:lnSpc>
              <a:spcBef>
                <a:spcPts val="434"/>
              </a:spcBef>
              <a:tabLst>
                <a:tab pos="2272665" algn="l"/>
              </a:tabLst>
            </a:pPr>
            <a:r>
              <a:rPr lang="en-US" sz="2400" b="1" dirty="0">
                <a:latin typeface="Tahoma"/>
                <a:cs typeface="Tahoma"/>
              </a:rPr>
              <a:t>	    {1,3}</a:t>
            </a:r>
            <a:r>
              <a:rPr lang="en-US" sz="2400" b="1" spc="-45" dirty="0">
                <a:latin typeface="Tahoma"/>
                <a:cs typeface="Tahoma"/>
              </a:rPr>
              <a:t> </a:t>
            </a:r>
            <a:r>
              <a:rPr lang="en-US" sz="2400" b="1" spc="-25" dirty="0">
                <a:latin typeface="Tahoma"/>
                <a:cs typeface="Tahoma"/>
              </a:rPr>
              <a:t>};</a:t>
            </a:r>
            <a:endParaRPr lang="en-US" sz="2400" dirty="0">
              <a:latin typeface="Tahoma"/>
              <a:cs typeface="Tahoma"/>
            </a:endParaRPr>
          </a:p>
          <a:p>
            <a:pPr marL="622300" marR="2159635">
              <a:lnSpc>
                <a:spcPct val="80000"/>
              </a:lnSpc>
              <a:spcBef>
                <a:spcPts val="434"/>
              </a:spcBef>
              <a:tabLst>
                <a:tab pos="2272665" algn="l"/>
              </a:tabLst>
            </a:pPr>
            <a:endParaRPr sz="2000" dirty="0">
              <a:latin typeface="Tahoma"/>
              <a:cs typeface="Tahoma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86343" y="958596"/>
            <a:ext cx="132587" cy="134111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8086343" y="1578863"/>
            <a:ext cx="626745" cy="132715"/>
            <a:chOff x="8086343" y="1578863"/>
            <a:chExt cx="626745" cy="132715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086343" y="1578863"/>
              <a:ext cx="132587" cy="132587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80119" y="1578863"/>
              <a:ext cx="132587" cy="132587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8169656" y="1982215"/>
            <a:ext cx="59436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04825" algn="l"/>
              </a:tabLst>
            </a:pPr>
            <a:r>
              <a:rPr sz="1200" spc="-50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	</a:t>
            </a:r>
            <a:r>
              <a:rPr sz="1200" spc="-50" dirty="0">
                <a:latin typeface="Times New Roman"/>
                <a:cs typeface="Times New Roman"/>
              </a:rPr>
              <a:t>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553959" y="1610359"/>
            <a:ext cx="1016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latin typeface="Times New Roman"/>
                <a:cs typeface="Times New Roman"/>
              </a:rPr>
              <a:t>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7598524" y="891539"/>
            <a:ext cx="1478915" cy="1239520"/>
          </a:xfrm>
          <a:custGeom>
            <a:avLst/>
            <a:gdLst/>
            <a:ahLst/>
            <a:cxnLst/>
            <a:rect l="l" t="t" r="r" b="b"/>
            <a:pathLst>
              <a:path w="1478915" h="1239520">
                <a:moveTo>
                  <a:pt x="1478546" y="1063840"/>
                </a:moveTo>
                <a:lnTo>
                  <a:pt x="1470558" y="1059180"/>
                </a:lnTo>
                <a:lnTo>
                  <a:pt x="1394599" y="1014984"/>
                </a:lnTo>
                <a:lnTo>
                  <a:pt x="1391551" y="1014984"/>
                </a:lnTo>
                <a:lnTo>
                  <a:pt x="1388503" y="1016508"/>
                </a:lnTo>
                <a:lnTo>
                  <a:pt x="1386979" y="1021080"/>
                </a:lnTo>
                <a:lnTo>
                  <a:pt x="1390027" y="1024128"/>
                </a:lnTo>
                <a:lnTo>
                  <a:pt x="1450428" y="1059180"/>
                </a:lnTo>
                <a:lnTo>
                  <a:pt x="160159" y="1059180"/>
                </a:lnTo>
                <a:lnTo>
                  <a:pt x="160159" y="27965"/>
                </a:lnTo>
                <a:lnTo>
                  <a:pt x="195211" y="88392"/>
                </a:lnTo>
                <a:lnTo>
                  <a:pt x="198259" y="89916"/>
                </a:lnTo>
                <a:lnTo>
                  <a:pt x="201307" y="89916"/>
                </a:lnTo>
                <a:lnTo>
                  <a:pt x="204355" y="86868"/>
                </a:lnTo>
                <a:lnTo>
                  <a:pt x="202831" y="82296"/>
                </a:lnTo>
                <a:lnTo>
                  <a:pt x="160159" y="10287"/>
                </a:lnTo>
                <a:lnTo>
                  <a:pt x="160159" y="9144"/>
                </a:lnTo>
                <a:lnTo>
                  <a:pt x="159473" y="9144"/>
                </a:lnTo>
                <a:lnTo>
                  <a:pt x="154063" y="0"/>
                </a:lnTo>
                <a:lnTo>
                  <a:pt x="106819" y="82296"/>
                </a:lnTo>
                <a:lnTo>
                  <a:pt x="105295" y="86868"/>
                </a:lnTo>
                <a:lnTo>
                  <a:pt x="108343" y="89916"/>
                </a:lnTo>
                <a:lnTo>
                  <a:pt x="111391" y="89916"/>
                </a:lnTo>
                <a:lnTo>
                  <a:pt x="114439" y="88392"/>
                </a:lnTo>
                <a:lnTo>
                  <a:pt x="149491" y="27965"/>
                </a:lnTo>
                <a:lnTo>
                  <a:pt x="150799" y="1059180"/>
                </a:lnTo>
                <a:lnTo>
                  <a:pt x="25463" y="1059180"/>
                </a:lnTo>
                <a:lnTo>
                  <a:pt x="88531" y="1022604"/>
                </a:lnTo>
                <a:lnTo>
                  <a:pt x="91579" y="1019556"/>
                </a:lnTo>
                <a:lnTo>
                  <a:pt x="88531" y="1013460"/>
                </a:lnTo>
                <a:lnTo>
                  <a:pt x="83959" y="1014984"/>
                </a:lnTo>
                <a:lnTo>
                  <a:pt x="0" y="1063840"/>
                </a:lnTo>
                <a:lnTo>
                  <a:pt x="266" y="1063840"/>
                </a:lnTo>
                <a:lnTo>
                  <a:pt x="83959" y="1112520"/>
                </a:lnTo>
                <a:lnTo>
                  <a:pt x="87007" y="1112520"/>
                </a:lnTo>
                <a:lnTo>
                  <a:pt x="90055" y="1109472"/>
                </a:lnTo>
                <a:lnTo>
                  <a:pt x="91579" y="1106424"/>
                </a:lnTo>
                <a:lnTo>
                  <a:pt x="88531" y="1103376"/>
                </a:lnTo>
                <a:lnTo>
                  <a:pt x="28092" y="1068324"/>
                </a:lnTo>
                <a:lnTo>
                  <a:pt x="150812" y="1068324"/>
                </a:lnTo>
                <a:lnTo>
                  <a:pt x="150914" y="1149096"/>
                </a:lnTo>
                <a:lnTo>
                  <a:pt x="150990" y="1211541"/>
                </a:lnTo>
                <a:lnTo>
                  <a:pt x="114439" y="1150620"/>
                </a:lnTo>
                <a:lnTo>
                  <a:pt x="112915" y="1149096"/>
                </a:lnTo>
                <a:lnTo>
                  <a:pt x="108343" y="1149096"/>
                </a:lnTo>
                <a:lnTo>
                  <a:pt x="106819" y="1152144"/>
                </a:lnTo>
                <a:lnTo>
                  <a:pt x="106819" y="1155192"/>
                </a:lnTo>
                <a:lnTo>
                  <a:pt x="155587" y="1239012"/>
                </a:lnTo>
                <a:lnTo>
                  <a:pt x="160896" y="1229868"/>
                </a:lnTo>
                <a:lnTo>
                  <a:pt x="204355" y="1155192"/>
                </a:lnTo>
                <a:lnTo>
                  <a:pt x="204355" y="1152144"/>
                </a:lnTo>
                <a:lnTo>
                  <a:pt x="202831" y="1149096"/>
                </a:lnTo>
                <a:lnTo>
                  <a:pt x="198259" y="1149096"/>
                </a:lnTo>
                <a:lnTo>
                  <a:pt x="195211" y="1150620"/>
                </a:lnTo>
                <a:lnTo>
                  <a:pt x="160159" y="1211059"/>
                </a:lnTo>
                <a:lnTo>
                  <a:pt x="160159" y="1068324"/>
                </a:lnTo>
                <a:lnTo>
                  <a:pt x="1450987" y="1068324"/>
                </a:lnTo>
                <a:lnTo>
                  <a:pt x="1390027" y="1104900"/>
                </a:lnTo>
                <a:lnTo>
                  <a:pt x="1386979" y="1106424"/>
                </a:lnTo>
                <a:lnTo>
                  <a:pt x="1388503" y="1110996"/>
                </a:lnTo>
                <a:lnTo>
                  <a:pt x="1391551" y="1112520"/>
                </a:lnTo>
                <a:lnTo>
                  <a:pt x="1394599" y="1112520"/>
                </a:lnTo>
                <a:lnTo>
                  <a:pt x="1470558" y="1068324"/>
                </a:lnTo>
                <a:lnTo>
                  <a:pt x="1478280" y="1063840"/>
                </a:lnTo>
                <a:lnTo>
                  <a:pt x="1478546" y="106384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7553959" y="929131"/>
            <a:ext cx="116839" cy="51815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94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latin typeface="Times New Roman"/>
                <a:cs typeface="Times New Roman"/>
              </a:rPr>
              <a:t>3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94"/>
              </a:spcBef>
            </a:pPr>
            <a:r>
              <a:rPr sz="1200" spc="-50" dirty="0">
                <a:latin typeface="Times New Roman"/>
                <a:cs typeface="Times New Roman"/>
              </a:rPr>
              <a:t>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65880" y="5565055"/>
            <a:ext cx="7774940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22300">
              <a:lnSpc>
                <a:spcPct val="100000"/>
              </a:lnSpc>
            </a:pPr>
            <a:r>
              <a:rPr sz="2400" dirty="0">
                <a:latin typeface="Tahoma"/>
                <a:cs typeface="Tahoma"/>
              </a:rPr>
              <a:t>Then</a:t>
            </a:r>
            <a:r>
              <a:rPr sz="2400" spc="-6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we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will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say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that</a:t>
            </a:r>
            <a:r>
              <a:rPr sz="2400" spc="-3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points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(1,1)</a:t>
            </a:r>
            <a:r>
              <a:rPr sz="2400" spc="-1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and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(2,1)</a:t>
            </a:r>
            <a:r>
              <a:rPr sz="2400" spc="-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are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the</a:t>
            </a:r>
            <a:r>
              <a:rPr sz="2400" spc="-3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closest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two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points.</a:t>
            </a:r>
            <a:endParaRPr sz="2400" dirty="0">
              <a:latin typeface="Tahoma"/>
              <a:cs typeface="Tahoma"/>
            </a:endParaRPr>
          </a:p>
          <a:p>
            <a:pPr marL="621665" indent="-608965">
              <a:lnSpc>
                <a:spcPct val="100000"/>
              </a:lnSpc>
              <a:buClr>
                <a:srgbClr val="3333CC"/>
              </a:buClr>
              <a:buSzPct val="58333"/>
              <a:buFont typeface="Wingdings"/>
              <a:buChar char=""/>
              <a:tabLst>
                <a:tab pos="621665" algn="l"/>
              </a:tabLst>
            </a:pPr>
            <a:r>
              <a:rPr sz="2400" dirty="0">
                <a:latin typeface="Tahoma"/>
                <a:cs typeface="Tahoma"/>
              </a:rPr>
              <a:t>Write</a:t>
            </a:r>
            <a:r>
              <a:rPr sz="2400" spc="-3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a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program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to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do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that:</a:t>
            </a:r>
            <a:endParaRPr sz="2400" dirty="0">
              <a:latin typeface="Tahoma"/>
              <a:cs typeface="Tahoma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22</a:t>
            </a:fld>
            <a:endParaRPr spc="-25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74775" y="1556003"/>
            <a:ext cx="184785" cy="475615"/>
          </a:xfrm>
          <a:custGeom>
            <a:avLst/>
            <a:gdLst/>
            <a:ahLst/>
            <a:cxnLst/>
            <a:rect l="l" t="t" r="r" b="b"/>
            <a:pathLst>
              <a:path w="184784" h="475614">
                <a:moveTo>
                  <a:pt x="0" y="475488"/>
                </a:moveTo>
                <a:lnTo>
                  <a:pt x="184404" y="475488"/>
                </a:lnTo>
                <a:lnTo>
                  <a:pt x="184404" y="0"/>
                </a:lnTo>
                <a:lnTo>
                  <a:pt x="0" y="0"/>
                </a:lnTo>
                <a:lnTo>
                  <a:pt x="0" y="475488"/>
                </a:lnTo>
                <a:close/>
              </a:path>
            </a:pathLst>
          </a:custGeom>
          <a:solidFill>
            <a:srgbClr val="FFCF0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57300" y="1556003"/>
            <a:ext cx="313944" cy="475488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585216" y="816863"/>
            <a:ext cx="8823960" cy="3069590"/>
            <a:chOff x="585216" y="816863"/>
            <a:chExt cx="8823960" cy="3069590"/>
          </a:xfrm>
        </p:grpSpPr>
        <p:sp>
          <p:nvSpPr>
            <p:cNvPr id="5" name="object 5"/>
            <p:cNvSpPr/>
            <p:nvPr/>
          </p:nvSpPr>
          <p:spPr>
            <a:xfrm>
              <a:off x="999744" y="1978152"/>
              <a:ext cx="59690" cy="475615"/>
            </a:xfrm>
            <a:custGeom>
              <a:avLst/>
              <a:gdLst/>
              <a:ahLst/>
              <a:cxnLst/>
              <a:rect l="l" t="t" r="r" b="b"/>
              <a:pathLst>
                <a:path w="59690" h="475614">
                  <a:moveTo>
                    <a:pt x="0" y="475488"/>
                  </a:moveTo>
                  <a:lnTo>
                    <a:pt x="59436" y="475488"/>
                  </a:lnTo>
                  <a:lnTo>
                    <a:pt x="59436" y="0"/>
                  </a:lnTo>
                  <a:lnTo>
                    <a:pt x="0" y="0"/>
                  </a:lnTo>
                  <a:lnTo>
                    <a:pt x="0" y="475488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85216" y="1905000"/>
              <a:ext cx="8542019" cy="54863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059180" y="821435"/>
              <a:ext cx="8345805" cy="3065145"/>
            </a:xfrm>
            <a:custGeom>
              <a:avLst/>
              <a:gdLst/>
              <a:ahLst/>
              <a:cxnLst/>
              <a:rect l="l" t="t" r="r" b="b"/>
              <a:pathLst>
                <a:path w="8345805" h="3065145">
                  <a:moveTo>
                    <a:pt x="8345424" y="0"/>
                  </a:moveTo>
                  <a:lnTo>
                    <a:pt x="0" y="0"/>
                  </a:lnTo>
                  <a:lnTo>
                    <a:pt x="0" y="3064764"/>
                  </a:lnTo>
                  <a:lnTo>
                    <a:pt x="8345424" y="3064764"/>
                  </a:lnTo>
                  <a:lnTo>
                    <a:pt x="834542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54608" y="816863"/>
              <a:ext cx="8354695" cy="3069590"/>
            </a:xfrm>
            <a:custGeom>
              <a:avLst/>
              <a:gdLst/>
              <a:ahLst/>
              <a:cxnLst/>
              <a:rect l="l" t="t" r="r" b="b"/>
              <a:pathLst>
                <a:path w="8354695" h="3069590">
                  <a:moveTo>
                    <a:pt x="8349996" y="0"/>
                  </a:moveTo>
                  <a:lnTo>
                    <a:pt x="4571" y="0"/>
                  </a:lnTo>
                  <a:lnTo>
                    <a:pt x="1523" y="1524"/>
                  </a:lnTo>
                  <a:lnTo>
                    <a:pt x="0" y="4571"/>
                  </a:lnTo>
                  <a:lnTo>
                    <a:pt x="0" y="3069336"/>
                  </a:lnTo>
                  <a:lnTo>
                    <a:pt x="9143" y="3069336"/>
                  </a:lnTo>
                  <a:lnTo>
                    <a:pt x="9143" y="9143"/>
                  </a:lnTo>
                  <a:lnTo>
                    <a:pt x="4571" y="9143"/>
                  </a:lnTo>
                  <a:lnTo>
                    <a:pt x="9143" y="4571"/>
                  </a:lnTo>
                  <a:lnTo>
                    <a:pt x="8354568" y="4571"/>
                  </a:lnTo>
                  <a:lnTo>
                    <a:pt x="8354568" y="1524"/>
                  </a:lnTo>
                  <a:lnTo>
                    <a:pt x="8349996" y="0"/>
                  </a:lnTo>
                  <a:close/>
                </a:path>
                <a:path w="8354695" h="3069590">
                  <a:moveTo>
                    <a:pt x="8345424" y="4571"/>
                  </a:moveTo>
                  <a:lnTo>
                    <a:pt x="8345424" y="3069336"/>
                  </a:lnTo>
                  <a:lnTo>
                    <a:pt x="8354568" y="3069336"/>
                  </a:lnTo>
                  <a:lnTo>
                    <a:pt x="8354568" y="9143"/>
                  </a:lnTo>
                  <a:lnTo>
                    <a:pt x="8349996" y="9143"/>
                  </a:lnTo>
                  <a:lnTo>
                    <a:pt x="8345424" y="4571"/>
                  </a:lnTo>
                  <a:close/>
                </a:path>
                <a:path w="8354695" h="3069590">
                  <a:moveTo>
                    <a:pt x="9143" y="4571"/>
                  </a:moveTo>
                  <a:lnTo>
                    <a:pt x="4571" y="9143"/>
                  </a:lnTo>
                  <a:lnTo>
                    <a:pt x="9143" y="9143"/>
                  </a:lnTo>
                  <a:lnTo>
                    <a:pt x="9143" y="4571"/>
                  </a:lnTo>
                  <a:close/>
                </a:path>
                <a:path w="8354695" h="3069590">
                  <a:moveTo>
                    <a:pt x="8345424" y="4571"/>
                  </a:moveTo>
                  <a:lnTo>
                    <a:pt x="9143" y="4571"/>
                  </a:lnTo>
                  <a:lnTo>
                    <a:pt x="9143" y="9143"/>
                  </a:lnTo>
                  <a:lnTo>
                    <a:pt x="8345424" y="9143"/>
                  </a:lnTo>
                  <a:lnTo>
                    <a:pt x="8345424" y="4571"/>
                  </a:lnTo>
                  <a:close/>
                </a:path>
                <a:path w="8354695" h="3069590">
                  <a:moveTo>
                    <a:pt x="8354568" y="4571"/>
                  </a:moveTo>
                  <a:lnTo>
                    <a:pt x="8345424" y="4571"/>
                  </a:lnTo>
                  <a:lnTo>
                    <a:pt x="8349996" y="9143"/>
                  </a:lnTo>
                  <a:lnTo>
                    <a:pt x="8354568" y="9143"/>
                  </a:lnTo>
                  <a:lnTo>
                    <a:pt x="8354568" y="457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9116531" y="6897534"/>
            <a:ext cx="194945" cy="21526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r>
              <a:rPr sz="1400" spc="-25" dirty="0">
                <a:latin typeface="Tahoma"/>
                <a:cs typeface="Tahoma"/>
              </a:rPr>
              <a:t>23</a:t>
            </a:r>
            <a:endParaRPr sz="1400">
              <a:latin typeface="Tahoma"/>
              <a:cs typeface="Tahom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054608" y="3886200"/>
            <a:ext cx="8354695" cy="3276600"/>
            <a:chOff x="1054608" y="3886200"/>
            <a:chExt cx="8354695" cy="3276600"/>
          </a:xfrm>
        </p:grpSpPr>
        <p:sp>
          <p:nvSpPr>
            <p:cNvPr id="11" name="object 11"/>
            <p:cNvSpPr/>
            <p:nvPr/>
          </p:nvSpPr>
          <p:spPr>
            <a:xfrm>
              <a:off x="1059180" y="3886200"/>
              <a:ext cx="8345805" cy="3272154"/>
            </a:xfrm>
            <a:custGeom>
              <a:avLst/>
              <a:gdLst/>
              <a:ahLst/>
              <a:cxnLst/>
              <a:rect l="l" t="t" r="r" b="b"/>
              <a:pathLst>
                <a:path w="8345805" h="3272154">
                  <a:moveTo>
                    <a:pt x="8345424" y="0"/>
                  </a:moveTo>
                  <a:lnTo>
                    <a:pt x="0" y="0"/>
                  </a:lnTo>
                  <a:lnTo>
                    <a:pt x="0" y="3272028"/>
                  </a:lnTo>
                  <a:lnTo>
                    <a:pt x="8345424" y="3272028"/>
                  </a:lnTo>
                  <a:lnTo>
                    <a:pt x="834542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054608" y="3886199"/>
              <a:ext cx="8354695" cy="3276600"/>
            </a:xfrm>
            <a:custGeom>
              <a:avLst/>
              <a:gdLst/>
              <a:ahLst/>
              <a:cxnLst/>
              <a:rect l="l" t="t" r="r" b="b"/>
              <a:pathLst>
                <a:path w="8354695" h="3276600">
                  <a:moveTo>
                    <a:pt x="8354568" y="0"/>
                  </a:moveTo>
                  <a:lnTo>
                    <a:pt x="8349742" y="0"/>
                  </a:lnTo>
                  <a:lnTo>
                    <a:pt x="8349742" y="3267710"/>
                  </a:lnTo>
                  <a:lnTo>
                    <a:pt x="8347837" y="3269615"/>
                  </a:lnTo>
                  <a:lnTo>
                    <a:pt x="8347837" y="3267710"/>
                  </a:lnTo>
                  <a:lnTo>
                    <a:pt x="8349742" y="3267710"/>
                  </a:lnTo>
                  <a:lnTo>
                    <a:pt x="8349742" y="0"/>
                  </a:lnTo>
                  <a:lnTo>
                    <a:pt x="8345424" y="0"/>
                  </a:lnTo>
                  <a:lnTo>
                    <a:pt x="8345424" y="3267456"/>
                  </a:lnTo>
                  <a:lnTo>
                    <a:pt x="9144" y="3267456"/>
                  </a:lnTo>
                  <a:lnTo>
                    <a:pt x="9144" y="0"/>
                  </a:lnTo>
                  <a:lnTo>
                    <a:pt x="8636" y="0"/>
                  </a:lnTo>
                  <a:lnTo>
                    <a:pt x="8636" y="3271520"/>
                  </a:lnTo>
                  <a:lnTo>
                    <a:pt x="6731" y="3271520"/>
                  </a:lnTo>
                  <a:lnTo>
                    <a:pt x="6731" y="3269615"/>
                  </a:lnTo>
                  <a:lnTo>
                    <a:pt x="8636" y="3271520"/>
                  </a:lnTo>
                  <a:lnTo>
                    <a:pt x="8636" y="0"/>
                  </a:lnTo>
                  <a:lnTo>
                    <a:pt x="0" y="0"/>
                  </a:lnTo>
                  <a:lnTo>
                    <a:pt x="0" y="3267710"/>
                  </a:lnTo>
                  <a:lnTo>
                    <a:pt x="0" y="3271520"/>
                  </a:lnTo>
                  <a:lnTo>
                    <a:pt x="673" y="3271520"/>
                  </a:lnTo>
                  <a:lnTo>
                    <a:pt x="673" y="3276600"/>
                  </a:lnTo>
                  <a:lnTo>
                    <a:pt x="8354568" y="3276600"/>
                  </a:lnTo>
                  <a:lnTo>
                    <a:pt x="8354568" y="3272028"/>
                  </a:lnTo>
                  <a:lnTo>
                    <a:pt x="8354568" y="3271520"/>
                  </a:lnTo>
                  <a:lnTo>
                    <a:pt x="8354568" y="3267710"/>
                  </a:lnTo>
                  <a:lnTo>
                    <a:pt x="8354568" y="3267456"/>
                  </a:lnTo>
                  <a:lnTo>
                    <a:pt x="8354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1480819" y="1183640"/>
            <a:ext cx="4801870" cy="5511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Courier New"/>
                <a:cs typeface="Courier New"/>
              </a:rPr>
              <a:t>double</a:t>
            </a:r>
            <a:r>
              <a:rPr sz="2400" b="1" spc="-50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p[3][2]</a:t>
            </a:r>
            <a:r>
              <a:rPr sz="2400" b="1" spc="-35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=</a:t>
            </a:r>
            <a:r>
              <a:rPr sz="2400" b="1" spc="-35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{{1,1},</a:t>
            </a:r>
            <a:endParaRPr sz="2400">
              <a:latin typeface="Courier New"/>
              <a:cs typeface="Courier New"/>
            </a:endParaRPr>
          </a:p>
          <a:p>
            <a:pPr marL="3510279">
              <a:lnSpc>
                <a:spcPct val="100000"/>
              </a:lnSpc>
            </a:pPr>
            <a:r>
              <a:rPr sz="2400" b="1" spc="-10" dirty="0">
                <a:latin typeface="Courier New"/>
                <a:cs typeface="Courier New"/>
              </a:rPr>
              <a:t>{2,1},</a:t>
            </a:r>
            <a:endParaRPr sz="2400">
              <a:latin typeface="Courier New"/>
              <a:cs typeface="Courier New"/>
            </a:endParaRPr>
          </a:p>
          <a:p>
            <a:pPr marL="3510279">
              <a:lnSpc>
                <a:spcPct val="100000"/>
              </a:lnSpc>
            </a:pPr>
            <a:r>
              <a:rPr sz="2400" b="1" spc="-10" dirty="0">
                <a:latin typeface="Courier New"/>
                <a:cs typeface="Courier New"/>
              </a:rPr>
              <a:t>{1,3}};</a:t>
            </a:r>
            <a:endParaRPr sz="2400">
              <a:latin typeface="Courier New"/>
              <a:cs typeface="Courier New"/>
            </a:endParaRPr>
          </a:p>
          <a:p>
            <a:pPr marL="34925" marR="763905" indent="-22860">
              <a:lnSpc>
                <a:spcPct val="100000"/>
              </a:lnSpc>
            </a:pPr>
            <a:r>
              <a:rPr sz="2400" b="1" dirty="0">
                <a:latin typeface="Courier New"/>
                <a:cs typeface="Courier New"/>
              </a:rPr>
              <a:t>double</a:t>
            </a:r>
            <a:r>
              <a:rPr sz="2400" b="1" spc="-40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d1,d2,d3,dx,dy; </a:t>
            </a:r>
            <a:r>
              <a:rPr sz="2400" b="1" dirty="0">
                <a:latin typeface="Courier New"/>
                <a:cs typeface="Courier New"/>
              </a:rPr>
              <a:t>dx =</a:t>
            </a:r>
            <a:r>
              <a:rPr sz="2400" b="1" spc="-5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p[0][0]-p[1][0];</a:t>
            </a:r>
            <a:endParaRPr sz="2400">
              <a:latin typeface="Courier New"/>
              <a:cs typeface="Courier New"/>
            </a:endParaRPr>
          </a:p>
          <a:p>
            <a:pPr marL="34925">
              <a:lnSpc>
                <a:spcPct val="100000"/>
              </a:lnSpc>
            </a:pPr>
            <a:r>
              <a:rPr sz="2400" b="1" dirty="0">
                <a:latin typeface="Courier New"/>
                <a:cs typeface="Courier New"/>
              </a:rPr>
              <a:t>dy =</a:t>
            </a:r>
            <a:r>
              <a:rPr sz="2400" b="1" spc="-5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p[0][1]-p[1][1];</a:t>
            </a:r>
            <a:endParaRPr sz="2400">
              <a:latin typeface="Courier New"/>
              <a:cs typeface="Courier New"/>
            </a:endParaRPr>
          </a:p>
          <a:p>
            <a:pPr marL="34925" marR="923925">
              <a:lnSpc>
                <a:spcPct val="100000"/>
              </a:lnSpc>
            </a:pPr>
            <a:r>
              <a:rPr sz="2400" b="1" dirty="0">
                <a:latin typeface="Courier New"/>
                <a:cs typeface="Courier New"/>
              </a:rPr>
              <a:t>d1</a:t>
            </a:r>
            <a:r>
              <a:rPr sz="2400" b="1" spc="-15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=</a:t>
            </a:r>
            <a:r>
              <a:rPr sz="2400" b="1" spc="-25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dx*dx</a:t>
            </a:r>
            <a:r>
              <a:rPr sz="2400" b="1" spc="-15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+</a:t>
            </a:r>
            <a:r>
              <a:rPr sz="2400" b="1" spc="-20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dy*dy; </a:t>
            </a:r>
            <a:r>
              <a:rPr sz="2400" b="1" dirty="0">
                <a:latin typeface="Courier New"/>
                <a:cs typeface="Courier New"/>
              </a:rPr>
              <a:t>dx =</a:t>
            </a:r>
            <a:r>
              <a:rPr sz="2400" b="1" spc="-5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p[0][0]-p[2][0];</a:t>
            </a:r>
            <a:endParaRPr sz="2400">
              <a:latin typeface="Courier New"/>
              <a:cs typeface="Courier New"/>
            </a:endParaRPr>
          </a:p>
          <a:p>
            <a:pPr marL="34925">
              <a:lnSpc>
                <a:spcPct val="100000"/>
              </a:lnSpc>
            </a:pPr>
            <a:r>
              <a:rPr sz="2400" b="1" dirty="0">
                <a:latin typeface="Courier New"/>
                <a:cs typeface="Courier New"/>
              </a:rPr>
              <a:t>dy =</a:t>
            </a:r>
            <a:r>
              <a:rPr sz="2400" b="1" spc="-5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p[0][1]-p[2][1];</a:t>
            </a:r>
            <a:endParaRPr sz="2400">
              <a:latin typeface="Courier New"/>
              <a:cs typeface="Courier New"/>
            </a:endParaRPr>
          </a:p>
          <a:p>
            <a:pPr marL="34925" marR="923925">
              <a:lnSpc>
                <a:spcPct val="100000"/>
              </a:lnSpc>
            </a:pPr>
            <a:r>
              <a:rPr sz="2400" b="1" dirty="0">
                <a:latin typeface="Courier New"/>
                <a:cs typeface="Courier New"/>
              </a:rPr>
              <a:t>d2</a:t>
            </a:r>
            <a:r>
              <a:rPr sz="2400" b="1" spc="-15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=</a:t>
            </a:r>
            <a:r>
              <a:rPr sz="2400" b="1" spc="-25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dx*dx</a:t>
            </a:r>
            <a:r>
              <a:rPr sz="2400" b="1" spc="-15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+</a:t>
            </a:r>
            <a:r>
              <a:rPr sz="2400" b="1" spc="-20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dy*dy; </a:t>
            </a:r>
            <a:r>
              <a:rPr sz="2400" b="1" dirty="0">
                <a:latin typeface="Courier New"/>
                <a:cs typeface="Courier New"/>
              </a:rPr>
              <a:t>dx =</a:t>
            </a:r>
            <a:r>
              <a:rPr sz="2400" b="1" spc="-5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p[1][0]-p[2][0];</a:t>
            </a:r>
            <a:endParaRPr sz="2400">
              <a:latin typeface="Courier New"/>
              <a:cs typeface="Courier New"/>
            </a:endParaRPr>
          </a:p>
          <a:p>
            <a:pPr marL="34925">
              <a:lnSpc>
                <a:spcPct val="100000"/>
              </a:lnSpc>
            </a:pPr>
            <a:r>
              <a:rPr sz="2400" b="1" dirty="0">
                <a:latin typeface="Courier New"/>
                <a:cs typeface="Courier New"/>
              </a:rPr>
              <a:t>dy =</a:t>
            </a:r>
            <a:r>
              <a:rPr sz="2400" b="1" spc="-5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p[1][1]-p[2][1];</a:t>
            </a:r>
            <a:endParaRPr sz="2400">
              <a:latin typeface="Courier New"/>
              <a:cs typeface="Courier New"/>
            </a:endParaRPr>
          </a:p>
          <a:p>
            <a:pPr marL="34925" marR="742315">
              <a:lnSpc>
                <a:spcPct val="100000"/>
              </a:lnSpc>
            </a:pPr>
            <a:r>
              <a:rPr sz="2400" b="1" dirty="0">
                <a:latin typeface="Courier New"/>
                <a:cs typeface="Courier New"/>
              </a:rPr>
              <a:t>d3</a:t>
            </a:r>
            <a:r>
              <a:rPr sz="2400" b="1" spc="-15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=</a:t>
            </a:r>
            <a:r>
              <a:rPr sz="2400" b="1" spc="-25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dx*dx</a:t>
            </a:r>
            <a:r>
              <a:rPr sz="2400" b="1" spc="-15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+</a:t>
            </a:r>
            <a:r>
              <a:rPr sz="2400" b="1" spc="-20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dy*dy; </a:t>
            </a:r>
            <a:r>
              <a:rPr sz="2400" b="1" dirty="0">
                <a:latin typeface="Courier New"/>
                <a:cs typeface="Courier New"/>
              </a:rPr>
              <a:t>min</a:t>
            </a:r>
            <a:r>
              <a:rPr sz="2400" b="1" spc="-25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=</a:t>
            </a:r>
            <a:r>
              <a:rPr sz="2400" b="1" spc="-40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(d1&lt;d2)?</a:t>
            </a:r>
            <a:r>
              <a:rPr sz="2400" b="1" spc="-30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d1:</a:t>
            </a:r>
            <a:r>
              <a:rPr sz="2400" b="1" spc="-20" dirty="0">
                <a:latin typeface="Courier New"/>
                <a:cs typeface="Courier New"/>
              </a:rPr>
              <a:t> </a:t>
            </a:r>
            <a:r>
              <a:rPr sz="2400" b="1" spc="-25" dirty="0">
                <a:latin typeface="Courier New"/>
                <a:cs typeface="Courier New"/>
              </a:rPr>
              <a:t>d2;</a:t>
            </a:r>
            <a:endParaRPr sz="2400">
              <a:latin typeface="Courier New"/>
              <a:cs typeface="Courier New"/>
            </a:endParaRPr>
          </a:p>
          <a:p>
            <a:pPr marL="34925">
              <a:lnSpc>
                <a:spcPct val="100000"/>
              </a:lnSpc>
            </a:pPr>
            <a:r>
              <a:rPr sz="2400" b="1" dirty="0">
                <a:latin typeface="Courier New"/>
                <a:cs typeface="Courier New"/>
              </a:rPr>
              <a:t>min</a:t>
            </a:r>
            <a:r>
              <a:rPr sz="2400" b="1" spc="-25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=</a:t>
            </a:r>
            <a:r>
              <a:rPr sz="2400" b="1" spc="-35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(min</a:t>
            </a:r>
            <a:r>
              <a:rPr sz="2400" b="1" spc="-15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&lt;</a:t>
            </a:r>
            <a:r>
              <a:rPr sz="2400" b="1" spc="-25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d3?</a:t>
            </a:r>
            <a:r>
              <a:rPr sz="2400" b="1" spc="-10" dirty="0">
                <a:latin typeface="Courier New"/>
                <a:cs typeface="Courier New"/>
              </a:rPr>
              <a:t> Min:d3;</a:t>
            </a:r>
            <a:endParaRPr sz="2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139</TotalTime>
  <Words>1692</Words>
  <Application>Microsoft Office PowerPoint</Application>
  <PresentationFormat>Custom</PresentationFormat>
  <Paragraphs>521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0" baseType="lpstr">
      <vt:lpstr>Arial</vt:lpstr>
      <vt:lpstr>Arial MT</vt:lpstr>
      <vt:lpstr>Courier New</vt:lpstr>
      <vt:lpstr>Tahoma</vt:lpstr>
      <vt:lpstr>Times New Roman</vt:lpstr>
      <vt:lpstr>Wingdings</vt:lpstr>
      <vt:lpstr>Office Theme</vt:lpstr>
      <vt:lpstr>2D Arrays and Matrices</vt:lpstr>
      <vt:lpstr>Imagine……</vt:lpstr>
      <vt:lpstr>PowerPoint Presentation</vt:lpstr>
      <vt:lpstr>Efficient solution…</vt:lpstr>
      <vt:lpstr>Pictorially</vt:lpstr>
      <vt:lpstr>In general a 2D-array</vt:lpstr>
      <vt:lpstr>In general a 2D-array</vt:lpstr>
      <vt:lpstr>Accessing Array Elements</vt:lpstr>
      <vt:lpstr>Initialization (1st way) Initialize when you declare</vt:lpstr>
      <vt:lpstr>Initialization (2nd way) Using assignment operator</vt:lpstr>
      <vt:lpstr>Initialization (3rd way) By taking input from user</vt:lpstr>
      <vt:lpstr>Exercise</vt:lpstr>
      <vt:lpstr>Showing content of a 2-Dim Array</vt:lpstr>
      <vt:lpstr>Computations on 2D arrays</vt:lpstr>
      <vt:lpstr>Max in 2D</vt:lpstr>
      <vt:lpstr>Find a value in 2D</vt:lpstr>
      <vt:lpstr>Matrix sum</vt:lpstr>
      <vt:lpstr>solution</vt:lpstr>
      <vt:lpstr>Exchange Two Rows</vt:lpstr>
      <vt:lpstr>Transpose</vt:lpstr>
      <vt:lpstr>In-place Transpose (you can not use b array)</vt:lpstr>
      <vt:lpstr>Distance between two points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2D Arrays and Matrices</dc:title>
  <cp:lastModifiedBy>Asif Rifat</cp:lastModifiedBy>
  <cp:revision>8</cp:revision>
  <dcterms:created xsi:type="dcterms:W3CDTF">2024-12-19T00:29:27Z</dcterms:created>
  <dcterms:modified xsi:type="dcterms:W3CDTF">2025-04-21T01:34:59Z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2016-07-18T00:00:00Z</vt:filetime>
  </property>
  <property fmtid="{D5CDD505-2E9C-101B-9397-08002B2CF9AE}" pid="3" name="LastSaved">
    <vt:filetime>2024-12-19T00:00:00Z</vt:filetime>
  </property>
  <property fmtid="{D5CDD505-2E9C-101B-9397-08002B2CF9AE}" pid="4" name="Producer">
    <vt:lpwstr>Foxit Reader PDF Printer Version 7.0.6.1107</vt:lpwstr>
  </property>
</Properties>
</file>