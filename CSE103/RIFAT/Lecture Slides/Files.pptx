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>
      <p:cViewPr varScale="1">
        <p:scale>
          <a:sx n="72" d="100"/>
          <a:sy n="72" d="100"/>
        </p:scale>
        <p:origin x="157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045" y="761576"/>
            <a:ext cx="206502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90600" y="1514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19">
                <a:moveTo>
                  <a:pt x="8077200" y="19812"/>
                </a:moveTo>
                <a:lnTo>
                  <a:pt x="0" y="19812"/>
                </a:lnTo>
                <a:lnTo>
                  <a:pt x="0" y="0"/>
                </a:lnTo>
                <a:lnTo>
                  <a:pt x="8077200" y="0"/>
                </a:lnTo>
                <a:lnTo>
                  <a:pt x="8077200" y="19812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5957" y="654883"/>
            <a:ext cx="6879679" cy="6257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600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5379" y="1482294"/>
            <a:ext cx="6480175" cy="5344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FF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93157" y="6662832"/>
            <a:ext cx="897889" cy="464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Rahman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12333" y="6901784"/>
            <a:ext cx="43307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5105" y="6901784"/>
            <a:ext cx="286664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4181855"/>
            <a:ext cx="8077200" cy="20320"/>
          </a:xfrm>
          <a:custGeom>
            <a:avLst/>
            <a:gdLst/>
            <a:ahLst/>
            <a:cxnLst/>
            <a:rect l="l" t="t" r="r" b="b"/>
            <a:pathLst>
              <a:path w="8077200" h="20320">
                <a:moveTo>
                  <a:pt x="8077200" y="19811"/>
                </a:moveTo>
                <a:lnTo>
                  <a:pt x="0" y="19811"/>
                </a:lnTo>
                <a:lnTo>
                  <a:pt x="0" y="0"/>
                </a:lnTo>
                <a:lnTo>
                  <a:pt x="8077200" y="0"/>
                </a:lnTo>
                <a:lnTo>
                  <a:pt x="8077200" y="19811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2365" y="3094714"/>
            <a:ext cx="1827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Files</a:t>
            </a:r>
            <a:r>
              <a:rPr sz="2800" spc="-35" dirty="0"/>
              <a:t> </a:t>
            </a:r>
            <a:r>
              <a:rPr sz="2800" dirty="0"/>
              <a:t>in</a:t>
            </a:r>
            <a:r>
              <a:rPr sz="2800" spc="-35" dirty="0"/>
              <a:t> </a:t>
            </a:r>
            <a:r>
              <a:rPr sz="2800" spc="-50" dirty="0"/>
              <a:t>C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467" y="1808541"/>
            <a:ext cx="8236584" cy="437769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4640" marR="5715" indent="-282575">
              <a:lnSpc>
                <a:spcPct val="70000"/>
              </a:lnSpc>
              <a:spcBef>
                <a:spcPts val="1105"/>
              </a:spcBef>
              <a:buFont typeface="Times New Roman"/>
              <a:buChar char="●"/>
              <a:tabLst>
                <a:tab pos="295910" algn="l"/>
              </a:tabLst>
            </a:pP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i="1" dirty="0">
                <a:solidFill>
                  <a:srgbClr val="006600"/>
                </a:solidFill>
                <a:latin typeface="Verdana"/>
                <a:cs typeface="Verdana"/>
              </a:rPr>
              <a:t>file</a:t>
            </a:r>
            <a:r>
              <a:rPr sz="2800" b="1" i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is</a:t>
            </a:r>
            <a:r>
              <a:rPr sz="28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collection</a:t>
            </a:r>
            <a:r>
              <a:rPr sz="28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related</a:t>
            </a:r>
            <a:r>
              <a:rPr sz="2800" b="1" spc="-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data </a:t>
            </a: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that 	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computer</a:t>
            </a:r>
            <a:r>
              <a:rPr sz="28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treats</a:t>
            </a:r>
            <a:r>
              <a:rPr sz="28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as</a:t>
            </a:r>
            <a:r>
              <a:rPr sz="28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single</a:t>
            </a:r>
            <a:r>
              <a:rPr sz="28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unit.</a:t>
            </a:r>
            <a:endParaRPr sz="2800">
              <a:latin typeface="Verdana"/>
              <a:cs typeface="Verdana"/>
            </a:endParaRPr>
          </a:p>
          <a:p>
            <a:pPr marL="295275" indent="-282575">
              <a:lnSpc>
                <a:spcPts val="2855"/>
              </a:lnSpc>
              <a:spcBef>
                <a:spcPts val="2685"/>
              </a:spcBef>
              <a:buFont typeface="Times New Roman"/>
              <a:buChar char="●"/>
              <a:tabLst>
                <a:tab pos="295275" algn="l"/>
                <a:tab pos="2816860" algn="l"/>
                <a:tab pos="4208780" algn="l"/>
                <a:tab pos="5405755" algn="l"/>
                <a:tab pos="6169025" algn="l"/>
              </a:tabLst>
            </a:pP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Computers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store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files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secondary</a:t>
            </a:r>
            <a:endParaRPr sz="2800">
              <a:latin typeface="Verdana"/>
              <a:cs typeface="Verdana"/>
            </a:endParaRPr>
          </a:p>
          <a:p>
            <a:pPr marL="295910">
              <a:lnSpc>
                <a:spcPts val="2350"/>
              </a:lnSpc>
              <a:tabLst>
                <a:tab pos="2000250" algn="l"/>
                <a:tab pos="3101340" algn="l"/>
                <a:tab pos="4006850" algn="l"/>
                <a:tab pos="4649470" algn="l"/>
                <a:tab pos="5650865" algn="l"/>
                <a:tab pos="6488430" algn="l"/>
              </a:tabLst>
            </a:pP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storage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(HD,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FD)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so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contents</a:t>
            </a:r>
            <a:endParaRPr sz="2800">
              <a:latin typeface="Verdana"/>
              <a:cs typeface="Verdana"/>
            </a:endParaRPr>
          </a:p>
          <a:p>
            <a:pPr marL="295910" marR="7620">
              <a:lnSpc>
                <a:spcPct val="70000"/>
              </a:lnSpc>
              <a:spcBef>
                <a:spcPts val="505"/>
              </a:spcBef>
            </a:pP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800" b="1" spc="18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files</a:t>
            </a:r>
            <a:r>
              <a:rPr sz="2800" b="1" spc="18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remain</a:t>
            </a:r>
            <a:r>
              <a:rPr sz="2800" b="1" spc="1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intact</a:t>
            </a:r>
            <a:r>
              <a:rPr sz="2800" b="1" spc="1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when</a:t>
            </a:r>
            <a:r>
              <a:rPr sz="2800" b="1" spc="1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spc="1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computer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shuts</a:t>
            </a:r>
            <a:r>
              <a:rPr sz="28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down.</a:t>
            </a:r>
            <a:endParaRPr sz="2800">
              <a:latin typeface="Verdana"/>
              <a:cs typeface="Verdana"/>
            </a:endParaRPr>
          </a:p>
          <a:p>
            <a:pPr marL="295275" indent="-282575">
              <a:lnSpc>
                <a:spcPts val="2855"/>
              </a:lnSpc>
              <a:spcBef>
                <a:spcPts val="2690"/>
              </a:spcBef>
              <a:buFont typeface="Times New Roman"/>
              <a:buChar char="●"/>
              <a:tabLst>
                <a:tab pos="295275" algn="l"/>
                <a:tab pos="1684020" algn="l"/>
                <a:tab pos="2163445" algn="l"/>
                <a:tab pos="4311650" algn="l"/>
                <a:tab pos="5807075" algn="l"/>
                <a:tab pos="6456680" algn="l"/>
                <a:tab pos="6936105" algn="l"/>
                <a:tab pos="7937500" algn="l"/>
              </a:tabLst>
            </a:pP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When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computer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writes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50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file,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it</a:t>
            </a:r>
            <a:endParaRPr sz="2800">
              <a:latin typeface="Verdana"/>
              <a:cs typeface="Verdana"/>
            </a:endParaRPr>
          </a:p>
          <a:p>
            <a:pPr marL="295910">
              <a:lnSpc>
                <a:spcPts val="2350"/>
              </a:lnSpc>
              <a:tabLst>
                <a:tab pos="2426335" algn="l"/>
                <a:tab pos="3630295" algn="l"/>
                <a:tab pos="4890770" algn="l"/>
                <a:tab pos="6847205" algn="l"/>
                <a:tab pos="7567930" algn="l"/>
              </a:tabLst>
            </a:pP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transfers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data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0" dirty="0">
                <a:solidFill>
                  <a:srgbClr val="006600"/>
                </a:solidFill>
                <a:latin typeface="Verdana"/>
                <a:cs typeface="Verdana"/>
              </a:rPr>
              <a:t>from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memory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35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	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endParaRPr sz="2800">
              <a:latin typeface="Verdana"/>
              <a:cs typeface="Verdana"/>
            </a:endParaRPr>
          </a:p>
          <a:p>
            <a:pPr marL="295910">
              <a:lnSpc>
                <a:spcPts val="2350"/>
              </a:lnSpc>
            </a:pP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storage</a:t>
            </a:r>
            <a:r>
              <a:rPr sz="2800" b="1" spc="3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device;</a:t>
            </a:r>
            <a:r>
              <a:rPr sz="2800" b="1" spc="3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when</a:t>
            </a:r>
            <a:r>
              <a:rPr sz="2800" b="1" spc="3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it</a:t>
            </a:r>
            <a:r>
              <a:rPr sz="2800" b="1" spc="3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reads</a:t>
            </a:r>
            <a:r>
              <a:rPr sz="2800" b="1" spc="3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800" b="1" spc="38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file,</a:t>
            </a:r>
            <a:r>
              <a:rPr sz="2800" b="1" spc="3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it</a:t>
            </a:r>
            <a:endParaRPr sz="2800">
              <a:latin typeface="Verdana"/>
              <a:cs typeface="Verdana"/>
            </a:endParaRPr>
          </a:p>
          <a:p>
            <a:pPr marL="295910" marR="5080">
              <a:lnSpc>
                <a:spcPct val="70000"/>
              </a:lnSpc>
              <a:spcBef>
                <a:spcPts val="500"/>
              </a:spcBef>
            </a:pP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copies</a:t>
            </a:r>
            <a:r>
              <a:rPr sz="2800" b="1" spc="254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800" b="1" spc="2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file</a:t>
            </a:r>
            <a:r>
              <a:rPr sz="2800" b="1" spc="254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from</a:t>
            </a:r>
            <a:r>
              <a:rPr sz="2800" b="1" spc="2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800" b="1" spc="2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storage</a:t>
            </a:r>
            <a:r>
              <a:rPr sz="2800" b="1" spc="254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device </a:t>
            </a:r>
            <a:r>
              <a:rPr sz="28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8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006600"/>
                </a:solidFill>
                <a:latin typeface="Verdana"/>
                <a:cs typeface="Verdana"/>
              </a:rPr>
              <a:t>memory.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What</a:t>
            </a:r>
            <a:r>
              <a:rPr spc="-4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is</a:t>
            </a:r>
            <a:r>
              <a:rPr spc="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15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Steps</a:t>
            </a:r>
            <a:r>
              <a:rPr spc="-4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in</a:t>
            </a:r>
            <a:r>
              <a:rPr spc="-4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Processing</a:t>
            </a:r>
            <a:r>
              <a:rPr spc="-3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-30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151579" y="1863214"/>
            <a:ext cx="8161020" cy="12331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5134" indent="-432434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445134" algn="l"/>
              </a:tabLst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Open</a:t>
            </a:r>
            <a:r>
              <a:rPr sz="24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file,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associate</a:t>
            </a:r>
            <a:r>
              <a:rPr sz="24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it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with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file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name.</a:t>
            </a:r>
            <a:endParaRPr sz="2400">
              <a:latin typeface="Verdana"/>
              <a:cs typeface="Verdana"/>
            </a:endParaRPr>
          </a:p>
          <a:p>
            <a:pPr marL="445134" indent="-432434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445134" algn="l"/>
              </a:tabLst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Read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or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data.</a:t>
            </a:r>
            <a:endParaRPr sz="2400">
              <a:latin typeface="Verdana"/>
              <a:cs typeface="Verdana"/>
            </a:endParaRPr>
          </a:p>
          <a:p>
            <a:pPr marL="445134" indent="-432434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445134" algn="l"/>
              </a:tabLst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Close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file.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1579" y="4338278"/>
            <a:ext cx="706247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5910" marR="5080" indent="-283845" algn="just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Thanks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6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C,</a:t>
            </a:r>
            <a:r>
              <a:rPr sz="2400" b="1" spc="-7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we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have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library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functions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to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perform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all</a:t>
            </a:r>
            <a:r>
              <a:rPr sz="2400" b="1" spc="-5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of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above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tasks,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you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just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need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know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what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are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those…..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Writing</a:t>
            </a:r>
            <a:r>
              <a:rPr spc="-4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to</a:t>
            </a:r>
            <a:r>
              <a:rPr spc="-3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-5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5379" y="1482294"/>
            <a:ext cx="6231255" cy="10318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5134" indent="-432434">
              <a:lnSpc>
                <a:spcPct val="100000"/>
              </a:lnSpc>
              <a:spcBef>
                <a:spcPts val="385"/>
              </a:spcBef>
              <a:buClr>
                <a:srgbClr val="006600"/>
              </a:buClr>
              <a:buSzPct val="133333"/>
              <a:buAutoNum type="arabicPeriod"/>
              <a:tabLst>
                <a:tab pos="445134" algn="l"/>
              </a:tabLst>
            </a:pP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Open</a:t>
            </a:r>
            <a:r>
              <a:rPr sz="1800" b="1" spc="-5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the</a:t>
            </a:r>
            <a:r>
              <a:rPr sz="1800" b="1" spc="-1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file,</a:t>
            </a:r>
            <a:r>
              <a:rPr sz="1800" b="1" spc="-3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associate</a:t>
            </a:r>
            <a:r>
              <a:rPr sz="1800" b="1" spc="-3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it</a:t>
            </a:r>
            <a:r>
              <a:rPr sz="1800" b="1" spc="-4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with</a:t>
            </a:r>
            <a:r>
              <a:rPr sz="1800" b="1" spc="-3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the</a:t>
            </a:r>
            <a:r>
              <a:rPr sz="1800" b="1" spc="-3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file</a:t>
            </a:r>
            <a:r>
              <a:rPr sz="1800" b="1" spc="-3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BF0000"/>
                </a:solidFill>
                <a:latin typeface="Verdana"/>
                <a:cs typeface="Verdana"/>
              </a:rPr>
              <a:t>name.</a:t>
            </a:r>
            <a:endParaRPr sz="18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372745" algn="l"/>
              </a:tabLst>
            </a:pP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Read</a:t>
            </a:r>
            <a:r>
              <a:rPr sz="18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or</a:t>
            </a:r>
            <a:r>
              <a:rPr sz="18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18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18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Verdana"/>
                <a:cs typeface="Verdana"/>
              </a:rPr>
              <a:t>data.</a:t>
            </a:r>
            <a:endParaRPr sz="18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372745" algn="l"/>
              </a:tabLst>
            </a:pP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Close</a:t>
            </a:r>
            <a:r>
              <a:rPr sz="18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1800" b="1" spc="-10" dirty="0">
                <a:solidFill>
                  <a:srgbClr val="006600"/>
                </a:solidFill>
                <a:latin typeface="Verdana"/>
                <a:cs typeface="Verdana"/>
              </a:rPr>
              <a:t> file.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8427" y="2738627"/>
            <a:ext cx="4430395" cy="2712720"/>
          </a:xfrm>
          <a:custGeom>
            <a:avLst/>
            <a:gdLst/>
            <a:ahLst/>
            <a:cxnLst/>
            <a:rect l="l" t="t" r="r" b="b"/>
            <a:pathLst>
              <a:path w="4430395" h="2712720">
                <a:moveTo>
                  <a:pt x="4430268" y="2712719"/>
                </a:moveTo>
                <a:lnTo>
                  <a:pt x="0" y="2712719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702052"/>
                </a:lnTo>
                <a:lnTo>
                  <a:pt x="4572" y="2702052"/>
                </a:lnTo>
                <a:lnTo>
                  <a:pt x="10668" y="2706624"/>
                </a:lnTo>
                <a:lnTo>
                  <a:pt x="4430268" y="2706624"/>
                </a:lnTo>
                <a:lnTo>
                  <a:pt x="4430268" y="2712719"/>
                </a:lnTo>
                <a:close/>
              </a:path>
              <a:path w="4430395" h="271272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71272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702052"/>
                </a:lnTo>
                <a:lnTo>
                  <a:pt x="4424172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712720">
                <a:moveTo>
                  <a:pt x="10668" y="2706624"/>
                </a:moveTo>
                <a:lnTo>
                  <a:pt x="4572" y="2702052"/>
                </a:lnTo>
                <a:lnTo>
                  <a:pt x="10668" y="2702052"/>
                </a:lnTo>
                <a:lnTo>
                  <a:pt x="10668" y="2706624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10668" y="2706624"/>
                </a:lnTo>
                <a:lnTo>
                  <a:pt x="10668" y="2702052"/>
                </a:lnTo>
                <a:lnTo>
                  <a:pt x="4419600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2706624"/>
                </a:moveTo>
                <a:lnTo>
                  <a:pt x="4419600" y="2706624"/>
                </a:lnTo>
                <a:lnTo>
                  <a:pt x="4424172" y="2702052"/>
                </a:lnTo>
                <a:lnTo>
                  <a:pt x="4430268" y="2702052"/>
                </a:lnTo>
                <a:lnTo>
                  <a:pt x="4430268" y="270662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753" y="2703889"/>
            <a:ext cx="4237990" cy="265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19935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FILE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*fp;</a:t>
            </a:r>
            <a:endParaRPr sz="1600" dirty="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fopen(“</a:t>
            </a:r>
            <a:r>
              <a:rPr sz="1600" b="1" spc="-10" dirty="0" err="1">
                <a:solidFill>
                  <a:srgbClr val="006600"/>
                </a:solidFill>
                <a:latin typeface="Courier New"/>
                <a:cs typeface="Courier New"/>
              </a:rPr>
              <a:t>data.txt”,”w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”);</a:t>
            </a:r>
            <a:endParaRPr lang="en-US" sz="1600" b="1" spc="-10" dirty="0">
              <a:solidFill>
                <a:srgbClr val="006600"/>
              </a:solidFill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if(fp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NULL){</a:t>
            </a:r>
            <a:endParaRPr sz="1600" dirty="0">
              <a:latin typeface="Courier New"/>
              <a:cs typeface="Courier New"/>
            </a:endParaRPr>
          </a:p>
          <a:p>
            <a:pPr marL="1840864" marR="191135">
              <a:lnSpc>
                <a:spcPct val="120000"/>
              </a:lnSpc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printf(“Error….”); return;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5D00BCF-9A88-4095-AB6F-DED4BA37E35A}"/>
              </a:ext>
            </a:extLst>
          </p:cNvPr>
          <p:cNvGrpSpPr/>
          <p:nvPr/>
        </p:nvGrpSpPr>
        <p:grpSpPr>
          <a:xfrm>
            <a:off x="6479501" y="3059663"/>
            <a:ext cx="2814955" cy="1137948"/>
            <a:chOff x="6479501" y="3059663"/>
            <a:chExt cx="2814955" cy="1137948"/>
          </a:xfrm>
        </p:grpSpPr>
        <p:sp>
          <p:nvSpPr>
            <p:cNvPr id="6" name="object 6"/>
            <p:cNvSpPr txBox="1"/>
            <p:nvPr/>
          </p:nvSpPr>
          <p:spPr>
            <a:xfrm>
              <a:off x="6479501" y="3059663"/>
              <a:ext cx="2814955" cy="574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357505" algn="l"/>
                  <a:tab pos="1452245" algn="l"/>
                  <a:tab pos="2252345" algn="l"/>
                </a:tabLst>
              </a:pPr>
              <a:r>
                <a:rPr sz="1800" spc="-50" dirty="0">
                  <a:solidFill>
                    <a:srgbClr val="FF0000"/>
                  </a:solidFill>
                  <a:latin typeface="Arial MT"/>
                  <a:cs typeface="Arial MT"/>
                </a:rPr>
                <a:t>A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structure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called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b="1" spc="-20" dirty="0">
                  <a:solidFill>
                    <a:srgbClr val="FF0000"/>
                  </a:solidFill>
                  <a:latin typeface="Courier New"/>
                  <a:cs typeface="Courier New"/>
                </a:rPr>
                <a:t>FILE</a:t>
              </a:r>
              <a:endParaRPr sz="1800" dirty="0">
                <a:latin typeface="Courier New"/>
                <a:cs typeface="Courier New"/>
              </a:endParaRPr>
            </a:p>
            <a:p>
              <a:pPr marL="12700">
                <a:lnSpc>
                  <a:spcPct val="100000"/>
                </a:lnSpc>
                <a:tabLst>
                  <a:tab pos="1034415" algn="l"/>
                  <a:tab pos="1406525" algn="l"/>
                  <a:tab pos="2635885" algn="l"/>
                </a:tabLst>
              </a:pP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(defined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in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b="1" spc="-10" dirty="0">
                  <a:solidFill>
                    <a:srgbClr val="FF0000"/>
                  </a:solidFill>
                  <a:latin typeface="Courier New"/>
                  <a:cs typeface="Courier New"/>
                </a:rPr>
                <a:t>stdio.h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)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is</a:t>
              </a:r>
              <a:endParaRPr sz="1800" dirty="0">
                <a:latin typeface="Arial MT"/>
                <a:cs typeface="Arial MT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479501" y="3623571"/>
              <a:ext cx="2812415" cy="5740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used</a:t>
              </a:r>
              <a:r>
                <a:rPr sz="1800" spc="140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to</a:t>
              </a:r>
              <a:r>
                <a:rPr sz="1800" spc="160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store</a:t>
              </a:r>
              <a:r>
                <a:rPr sz="1800" spc="140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the</a:t>
              </a:r>
              <a:r>
                <a:rPr sz="1800" spc="160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attributes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of</a:t>
              </a:r>
              <a:r>
                <a:rPr sz="1800" spc="-1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a</a:t>
              </a:r>
              <a:r>
                <a:rPr sz="1800" spc="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file.</a:t>
              </a:r>
              <a:endParaRPr sz="1800" dirty="0">
                <a:latin typeface="Arial MT"/>
                <a:cs typeface="Arial M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17D967-EABF-46D1-A172-1E77E42F18B8}"/>
              </a:ext>
            </a:extLst>
          </p:cNvPr>
          <p:cNvGrpSpPr/>
          <p:nvPr/>
        </p:nvGrpSpPr>
        <p:grpSpPr>
          <a:xfrm>
            <a:off x="6479501" y="4446551"/>
            <a:ext cx="2811394" cy="1945593"/>
            <a:chOff x="6479501" y="4446551"/>
            <a:chExt cx="2811394" cy="1945593"/>
          </a:xfrm>
        </p:grpSpPr>
        <p:sp>
          <p:nvSpPr>
            <p:cNvPr id="8" name="object 8"/>
            <p:cNvSpPr txBox="1"/>
            <p:nvPr/>
          </p:nvSpPr>
          <p:spPr>
            <a:xfrm>
              <a:off x="6479501" y="4446551"/>
              <a:ext cx="2811145" cy="112268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  <a:tabLst>
                  <a:tab pos="661670" algn="l"/>
                  <a:tab pos="1171575" algn="l"/>
                  <a:tab pos="2072005" algn="l"/>
                  <a:tab pos="2480945" algn="l"/>
                </a:tabLst>
              </a:pP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Error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can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happen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for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the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following</a:t>
              </a:r>
              <a:r>
                <a:rPr sz="1800" spc="-4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reasons:</a:t>
              </a:r>
              <a:endParaRPr sz="1800" dirty="0">
                <a:latin typeface="Arial MT"/>
                <a:cs typeface="Arial MT"/>
              </a:endParaRPr>
            </a:p>
            <a:p>
              <a:pPr marL="12700">
                <a:lnSpc>
                  <a:spcPct val="100000"/>
                </a:lnSpc>
              </a:pP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-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-There</a:t>
              </a:r>
              <a:r>
                <a:rPr sz="1800" spc="-3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is</a:t>
              </a:r>
              <a:r>
                <a:rPr sz="1800" spc="-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no</a:t>
              </a:r>
              <a:r>
                <a:rPr sz="1800" spc="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space</a:t>
              </a:r>
              <a:endParaRPr sz="1800" dirty="0">
                <a:latin typeface="Arial MT"/>
                <a:cs typeface="Arial MT"/>
              </a:endParaRPr>
            </a:p>
            <a:p>
              <a:pPr marL="12700">
                <a:lnSpc>
                  <a:spcPct val="100000"/>
                </a:lnSpc>
              </a:pP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-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-Wrong</a:t>
              </a:r>
              <a:r>
                <a:rPr sz="1800" spc="-7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spc="-20" dirty="0">
                  <a:solidFill>
                    <a:srgbClr val="FF0000"/>
                  </a:solidFill>
                  <a:latin typeface="Arial MT"/>
                  <a:cs typeface="Arial MT"/>
                </a:rPr>
                <a:t>drive</a:t>
              </a:r>
              <a:endParaRPr sz="1800" dirty="0">
                <a:latin typeface="Arial MT"/>
                <a:cs typeface="Arial M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7940250" y="5543784"/>
              <a:ext cx="13506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857885" algn="l"/>
                </a:tabLst>
              </a:pPr>
              <a:r>
                <a:rPr sz="1800" spc="-20" dirty="0">
                  <a:solidFill>
                    <a:srgbClr val="FF0000"/>
                  </a:solidFill>
                  <a:latin typeface="Arial MT"/>
                  <a:cs typeface="Arial MT"/>
                </a:rPr>
                <a:t>have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	</a:t>
              </a:r>
              <a:r>
                <a:rPr sz="1800" spc="-20" dirty="0">
                  <a:solidFill>
                    <a:srgbClr val="FF0000"/>
                  </a:solidFill>
                  <a:latin typeface="Arial MT"/>
                  <a:cs typeface="Arial MT"/>
                </a:rPr>
                <a:t>write</a:t>
              </a:r>
              <a:endParaRPr sz="1800">
                <a:latin typeface="Arial MT"/>
                <a:cs typeface="Arial MT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479501" y="5543784"/>
              <a:ext cx="1134110" cy="8483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just">
                <a:lnSpc>
                  <a:spcPct val="100000"/>
                </a:lnSpc>
                <a:spcBef>
                  <a:spcPts val="100"/>
                </a:spcBef>
              </a:pP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-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-Do</a:t>
              </a:r>
              <a:r>
                <a:rPr sz="1800" spc="409" dirty="0">
                  <a:solidFill>
                    <a:srgbClr val="FF0000"/>
                  </a:solidFill>
                  <a:latin typeface="Arial MT"/>
                  <a:cs typeface="Arial MT"/>
                </a:rPr>
                <a:t>   </a:t>
              </a:r>
              <a:r>
                <a:rPr sz="1800" spc="-25" dirty="0">
                  <a:solidFill>
                    <a:srgbClr val="FF0000"/>
                  </a:solidFill>
                  <a:latin typeface="Arial MT"/>
                  <a:cs typeface="Arial MT"/>
                </a:rPr>
                <a:t>not 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permission </a:t>
              </a:r>
              <a:r>
                <a:rPr sz="1800" dirty="0">
                  <a:solidFill>
                    <a:srgbClr val="FF0000"/>
                  </a:solidFill>
                  <a:latin typeface="Arial MT"/>
                  <a:cs typeface="Arial MT"/>
                </a:rPr>
                <a:t>etc</a:t>
              </a:r>
              <a:r>
                <a:rPr sz="1800" spc="-1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800" spc="-10" dirty="0">
                  <a:solidFill>
                    <a:srgbClr val="FF0000"/>
                  </a:solidFill>
                  <a:latin typeface="Arial MT"/>
                  <a:cs typeface="Arial MT"/>
                </a:rPr>
                <a:t>etc….</a:t>
              </a:r>
              <a:endParaRPr sz="1800">
                <a:latin typeface="Arial MT"/>
                <a:cs typeface="Arial M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Writing</a:t>
            </a:r>
            <a:r>
              <a:rPr spc="-4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to</a:t>
            </a:r>
            <a:r>
              <a:rPr spc="-3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-5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</a:t>
            </a:r>
          </a:p>
        </p:txBody>
      </p:sp>
      <p:sp>
        <p:nvSpPr>
          <p:cNvPr id="3" name="object 3"/>
          <p:cNvSpPr/>
          <p:nvPr/>
        </p:nvSpPr>
        <p:spPr>
          <a:xfrm>
            <a:off x="1138427" y="2738627"/>
            <a:ext cx="6182995" cy="3895725"/>
          </a:xfrm>
          <a:custGeom>
            <a:avLst/>
            <a:gdLst/>
            <a:ahLst/>
            <a:cxnLst/>
            <a:rect l="l" t="t" r="r" b="b"/>
            <a:pathLst>
              <a:path w="6182995" h="3895725">
                <a:moveTo>
                  <a:pt x="6182868" y="3895344"/>
                </a:moveTo>
                <a:lnTo>
                  <a:pt x="0" y="3895344"/>
                </a:lnTo>
                <a:lnTo>
                  <a:pt x="0" y="0"/>
                </a:lnTo>
                <a:lnTo>
                  <a:pt x="6182868" y="0"/>
                </a:lnTo>
                <a:lnTo>
                  <a:pt x="61828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3884676"/>
                </a:lnTo>
                <a:lnTo>
                  <a:pt x="4572" y="3884676"/>
                </a:lnTo>
                <a:lnTo>
                  <a:pt x="10668" y="3889248"/>
                </a:lnTo>
                <a:lnTo>
                  <a:pt x="6182868" y="3889248"/>
                </a:lnTo>
                <a:lnTo>
                  <a:pt x="6182868" y="3895344"/>
                </a:lnTo>
                <a:close/>
              </a:path>
              <a:path w="6182995" h="389572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6182995" h="3895725">
                <a:moveTo>
                  <a:pt x="61722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6172200" y="4572"/>
                </a:lnTo>
                <a:lnTo>
                  <a:pt x="6172200" y="10668"/>
                </a:lnTo>
                <a:close/>
              </a:path>
              <a:path w="6182995" h="3895725">
                <a:moveTo>
                  <a:pt x="6172200" y="3889248"/>
                </a:moveTo>
                <a:lnTo>
                  <a:pt x="6172200" y="4572"/>
                </a:lnTo>
                <a:lnTo>
                  <a:pt x="6176771" y="10668"/>
                </a:lnTo>
                <a:lnTo>
                  <a:pt x="6182868" y="10668"/>
                </a:lnTo>
                <a:lnTo>
                  <a:pt x="6182868" y="3884676"/>
                </a:lnTo>
                <a:lnTo>
                  <a:pt x="6176771" y="3884676"/>
                </a:lnTo>
                <a:lnTo>
                  <a:pt x="6172200" y="3889248"/>
                </a:lnTo>
                <a:close/>
              </a:path>
              <a:path w="6182995" h="3895725">
                <a:moveTo>
                  <a:pt x="6182868" y="10668"/>
                </a:moveTo>
                <a:lnTo>
                  <a:pt x="6176771" y="10668"/>
                </a:lnTo>
                <a:lnTo>
                  <a:pt x="6172200" y="4572"/>
                </a:lnTo>
                <a:lnTo>
                  <a:pt x="6182868" y="4572"/>
                </a:lnTo>
                <a:lnTo>
                  <a:pt x="6182868" y="10668"/>
                </a:lnTo>
                <a:close/>
              </a:path>
              <a:path w="6182995" h="3895725">
                <a:moveTo>
                  <a:pt x="10668" y="3889248"/>
                </a:moveTo>
                <a:lnTo>
                  <a:pt x="4572" y="3884676"/>
                </a:lnTo>
                <a:lnTo>
                  <a:pt x="10668" y="3884676"/>
                </a:lnTo>
                <a:lnTo>
                  <a:pt x="10668" y="3889248"/>
                </a:lnTo>
                <a:close/>
              </a:path>
              <a:path w="6182995" h="3895725">
                <a:moveTo>
                  <a:pt x="6172200" y="3889248"/>
                </a:moveTo>
                <a:lnTo>
                  <a:pt x="10668" y="3889248"/>
                </a:lnTo>
                <a:lnTo>
                  <a:pt x="10668" y="3884676"/>
                </a:lnTo>
                <a:lnTo>
                  <a:pt x="6172200" y="3884676"/>
                </a:lnTo>
                <a:lnTo>
                  <a:pt x="6172200" y="3889248"/>
                </a:lnTo>
                <a:close/>
              </a:path>
              <a:path w="6182995" h="3895725">
                <a:moveTo>
                  <a:pt x="6182868" y="3889248"/>
                </a:moveTo>
                <a:lnTo>
                  <a:pt x="6172200" y="3889248"/>
                </a:lnTo>
                <a:lnTo>
                  <a:pt x="6176771" y="3884676"/>
                </a:lnTo>
                <a:lnTo>
                  <a:pt x="6182868" y="3884676"/>
                </a:lnTo>
                <a:lnTo>
                  <a:pt x="6182868" y="3889248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2679" y="1482294"/>
            <a:ext cx="6256655" cy="499893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57834" indent="-432434">
              <a:lnSpc>
                <a:spcPct val="100000"/>
              </a:lnSpc>
              <a:spcBef>
                <a:spcPts val="385"/>
              </a:spcBef>
              <a:buClr>
                <a:srgbClr val="006600"/>
              </a:buClr>
              <a:buSzPct val="133333"/>
              <a:buAutoNum type="arabicPeriod"/>
              <a:tabLst>
                <a:tab pos="457834" algn="l"/>
              </a:tabLst>
            </a:pP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Open</a:t>
            </a:r>
            <a:r>
              <a:rPr sz="1800" b="1" spc="-5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the</a:t>
            </a:r>
            <a:r>
              <a:rPr sz="1800" b="1" spc="-1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file,</a:t>
            </a:r>
            <a:r>
              <a:rPr sz="1800" b="1" spc="-3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associate</a:t>
            </a:r>
            <a:r>
              <a:rPr sz="1800" b="1" spc="-3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it</a:t>
            </a:r>
            <a:r>
              <a:rPr sz="1800" b="1" spc="-4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with</a:t>
            </a:r>
            <a:r>
              <a:rPr sz="1800" b="1" spc="-3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the</a:t>
            </a:r>
            <a:r>
              <a:rPr sz="1800" b="1" spc="-3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file</a:t>
            </a:r>
            <a:r>
              <a:rPr sz="1800" b="1" spc="-3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008000"/>
                </a:solidFill>
                <a:latin typeface="Verdana"/>
                <a:cs typeface="Verdana"/>
              </a:rPr>
              <a:t>name.</a:t>
            </a:r>
            <a:endParaRPr sz="1800" dirty="0">
              <a:latin typeface="Verdana"/>
              <a:cs typeface="Verdana"/>
            </a:endParaRPr>
          </a:p>
          <a:p>
            <a:pPr marL="385445" indent="-360045">
              <a:lnSpc>
                <a:spcPct val="100000"/>
              </a:lnSpc>
              <a:spcBef>
                <a:spcPts val="219"/>
              </a:spcBef>
              <a:buClr>
                <a:srgbClr val="006600"/>
              </a:buClr>
              <a:buAutoNum type="arabicPeriod"/>
              <a:tabLst>
                <a:tab pos="385445" algn="l"/>
              </a:tabLst>
            </a:pP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Read</a:t>
            </a:r>
            <a:r>
              <a:rPr sz="1800" b="1" spc="-2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or</a:t>
            </a:r>
            <a:r>
              <a:rPr sz="1800" b="1" spc="-3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write</a:t>
            </a:r>
            <a:r>
              <a:rPr sz="1800" b="1" spc="-3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the</a:t>
            </a:r>
            <a:r>
              <a:rPr sz="1800" b="1" spc="-3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BF0000"/>
                </a:solidFill>
                <a:latin typeface="Verdana"/>
                <a:cs typeface="Verdana"/>
              </a:rPr>
              <a:t>data.</a:t>
            </a:r>
            <a:endParaRPr sz="1800" dirty="0">
              <a:latin typeface="Verdana"/>
              <a:cs typeface="Verdana"/>
            </a:endParaRPr>
          </a:p>
          <a:p>
            <a:pPr marL="385445" indent="-36004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385445" algn="l"/>
              </a:tabLst>
            </a:pP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Close</a:t>
            </a:r>
            <a:r>
              <a:rPr sz="18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1800" b="1" spc="-10" dirty="0">
                <a:solidFill>
                  <a:srgbClr val="006600"/>
                </a:solidFill>
                <a:latin typeface="Verdana"/>
                <a:cs typeface="Verdana"/>
              </a:rPr>
              <a:t> file.</a:t>
            </a:r>
            <a:endParaRPr sz="1800" dirty="0">
              <a:latin typeface="Verdana"/>
              <a:cs typeface="Verdana"/>
            </a:endParaRPr>
          </a:p>
          <a:p>
            <a:pPr marL="171450" marR="3879215">
              <a:lnSpc>
                <a:spcPct val="120000"/>
              </a:lnSpc>
              <a:spcBef>
                <a:spcPts val="17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108585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FILE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*fp;</a:t>
            </a:r>
            <a:endParaRPr sz="1600" dirty="0">
              <a:latin typeface="Courier New"/>
              <a:cs typeface="Courier New"/>
            </a:endParaRPr>
          </a:p>
          <a:p>
            <a:pPr marL="1085850" marR="186436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fopen(“data.txt”,”w”);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if(fp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NULL){</a:t>
            </a:r>
            <a:endParaRPr sz="1600" dirty="0">
              <a:latin typeface="Courier New"/>
              <a:cs typeface="Courier New"/>
            </a:endParaRPr>
          </a:p>
          <a:p>
            <a:pPr marL="2000250" marR="2050414">
              <a:lnSpc>
                <a:spcPct val="12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printf(“Error….”); return;</a:t>
            </a:r>
            <a:endParaRPr sz="1600" dirty="0">
              <a:latin typeface="Courier New"/>
              <a:cs typeface="Courier New"/>
            </a:endParaRPr>
          </a:p>
          <a:p>
            <a:pPr marL="108585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085850" marR="3453129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76;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9.8;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‘Z’;</a:t>
            </a:r>
            <a:endParaRPr sz="1600" dirty="0">
              <a:latin typeface="Courier New"/>
              <a:cs typeface="Courier New"/>
            </a:endParaRPr>
          </a:p>
          <a:p>
            <a:pPr marL="947419">
              <a:lnSpc>
                <a:spcPct val="100000"/>
              </a:lnSpc>
              <a:spcBef>
                <a:spcPts val="385"/>
              </a:spcBef>
            </a:pPr>
            <a:r>
              <a:rPr lang="en-US"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f</a:t>
            </a:r>
            <a:r>
              <a:rPr sz="1600" b="1" dirty="0" err="1">
                <a:solidFill>
                  <a:srgbClr val="006600"/>
                </a:solidFill>
                <a:latin typeface="Courier New"/>
                <a:cs typeface="Courier New"/>
              </a:rPr>
              <a:t>printf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(</a:t>
            </a:r>
            <a:r>
              <a:rPr sz="1600" b="1" spc="-4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="1" spc="-30" baseline="6944" dirty="0">
                <a:solidFill>
                  <a:srgbClr val="006600"/>
                </a:solidFill>
                <a:latin typeface="Courier New"/>
                <a:cs typeface="Courier New"/>
              </a:rPr>
              <a:t>fp,</a:t>
            </a:r>
            <a:r>
              <a:rPr sz="2400" b="1" spc="-794" baseline="6944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“%d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b="1" spc="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f,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c);</a:t>
            </a:r>
            <a:endParaRPr sz="1600" dirty="0">
              <a:latin typeface="Courier New"/>
              <a:cs typeface="Courier New"/>
            </a:endParaRPr>
          </a:p>
          <a:p>
            <a:pPr marL="17145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Writing</a:t>
            </a:r>
            <a:r>
              <a:rPr spc="-4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to</a:t>
            </a:r>
            <a:r>
              <a:rPr spc="-3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-5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</a:t>
            </a:r>
          </a:p>
        </p:txBody>
      </p:sp>
      <p:sp>
        <p:nvSpPr>
          <p:cNvPr id="3" name="object 3"/>
          <p:cNvSpPr/>
          <p:nvPr/>
        </p:nvSpPr>
        <p:spPr>
          <a:xfrm>
            <a:off x="1138427" y="2738627"/>
            <a:ext cx="6182995" cy="4189729"/>
          </a:xfrm>
          <a:custGeom>
            <a:avLst/>
            <a:gdLst/>
            <a:ahLst/>
            <a:cxnLst/>
            <a:rect l="l" t="t" r="r" b="b"/>
            <a:pathLst>
              <a:path w="6182995" h="4189729">
                <a:moveTo>
                  <a:pt x="6182868" y="4189476"/>
                </a:moveTo>
                <a:lnTo>
                  <a:pt x="0" y="4189476"/>
                </a:lnTo>
                <a:lnTo>
                  <a:pt x="0" y="0"/>
                </a:lnTo>
                <a:lnTo>
                  <a:pt x="6182868" y="0"/>
                </a:lnTo>
                <a:lnTo>
                  <a:pt x="61828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4180332"/>
                </a:lnTo>
                <a:lnTo>
                  <a:pt x="4572" y="4180332"/>
                </a:lnTo>
                <a:lnTo>
                  <a:pt x="10668" y="4184903"/>
                </a:lnTo>
                <a:lnTo>
                  <a:pt x="6182868" y="4184903"/>
                </a:lnTo>
                <a:lnTo>
                  <a:pt x="6182868" y="4189476"/>
                </a:lnTo>
                <a:close/>
              </a:path>
              <a:path w="6182995" h="4189729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6182995" h="4189729">
                <a:moveTo>
                  <a:pt x="61722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6172200" y="4572"/>
                </a:lnTo>
                <a:lnTo>
                  <a:pt x="6172200" y="10668"/>
                </a:lnTo>
                <a:close/>
              </a:path>
              <a:path w="6182995" h="4189729">
                <a:moveTo>
                  <a:pt x="6172200" y="4184903"/>
                </a:moveTo>
                <a:lnTo>
                  <a:pt x="6172200" y="4572"/>
                </a:lnTo>
                <a:lnTo>
                  <a:pt x="6176771" y="10668"/>
                </a:lnTo>
                <a:lnTo>
                  <a:pt x="6182868" y="10668"/>
                </a:lnTo>
                <a:lnTo>
                  <a:pt x="6182868" y="4180332"/>
                </a:lnTo>
                <a:lnTo>
                  <a:pt x="6176771" y="4180332"/>
                </a:lnTo>
                <a:lnTo>
                  <a:pt x="6172200" y="4184903"/>
                </a:lnTo>
                <a:close/>
              </a:path>
              <a:path w="6182995" h="4189729">
                <a:moveTo>
                  <a:pt x="6182868" y="10668"/>
                </a:moveTo>
                <a:lnTo>
                  <a:pt x="6176771" y="10668"/>
                </a:lnTo>
                <a:lnTo>
                  <a:pt x="6172200" y="4572"/>
                </a:lnTo>
                <a:lnTo>
                  <a:pt x="6182868" y="4572"/>
                </a:lnTo>
                <a:lnTo>
                  <a:pt x="6182868" y="10668"/>
                </a:lnTo>
                <a:close/>
              </a:path>
              <a:path w="6182995" h="4189729">
                <a:moveTo>
                  <a:pt x="10668" y="4184903"/>
                </a:moveTo>
                <a:lnTo>
                  <a:pt x="4572" y="4180332"/>
                </a:lnTo>
                <a:lnTo>
                  <a:pt x="10668" y="4180332"/>
                </a:lnTo>
                <a:lnTo>
                  <a:pt x="10668" y="4184903"/>
                </a:lnTo>
                <a:close/>
              </a:path>
              <a:path w="6182995" h="4189729">
                <a:moveTo>
                  <a:pt x="6172200" y="4184903"/>
                </a:moveTo>
                <a:lnTo>
                  <a:pt x="10668" y="4184903"/>
                </a:lnTo>
                <a:lnTo>
                  <a:pt x="10668" y="4180332"/>
                </a:lnTo>
                <a:lnTo>
                  <a:pt x="6172200" y="4180332"/>
                </a:lnTo>
                <a:lnTo>
                  <a:pt x="6172200" y="4184903"/>
                </a:lnTo>
                <a:close/>
              </a:path>
              <a:path w="6182995" h="4189729">
                <a:moveTo>
                  <a:pt x="6182868" y="4184903"/>
                </a:moveTo>
                <a:lnTo>
                  <a:pt x="6172200" y="4184903"/>
                </a:lnTo>
                <a:lnTo>
                  <a:pt x="6176771" y="4180332"/>
                </a:lnTo>
                <a:lnTo>
                  <a:pt x="6182868" y="4180332"/>
                </a:lnTo>
                <a:lnTo>
                  <a:pt x="6182868" y="4184903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75379" y="1482294"/>
            <a:ext cx="6231255" cy="53441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5134" indent="-432434">
              <a:lnSpc>
                <a:spcPct val="100000"/>
              </a:lnSpc>
              <a:spcBef>
                <a:spcPts val="385"/>
              </a:spcBef>
              <a:buClr>
                <a:srgbClr val="006600"/>
              </a:buClr>
              <a:buSzPct val="133333"/>
              <a:buAutoNum type="arabicPeriod"/>
              <a:tabLst>
                <a:tab pos="445134" algn="l"/>
              </a:tabLst>
            </a:pP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Open</a:t>
            </a:r>
            <a:r>
              <a:rPr sz="1800" b="1" spc="-5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the</a:t>
            </a:r>
            <a:r>
              <a:rPr sz="1800" b="1" spc="-1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file,</a:t>
            </a:r>
            <a:r>
              <a:rPr sz="1800" b="1" spc="-3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associate</a:t>
            </a:r>
            <a:r>
              <a:rPr sz="1800" b="1" spc="-3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it</a:t>
            </a:r>
            <a:r>
              <a:rPr sz="1800" b="1" spc="-4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with</a:t>
            </a:r>
            <a:r>
              <a:rPr sz="1800" b="1" spc="-3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the</a:t>
            </a:r>
            <a:r>
              <a:rPr sz="1800" b="1" spc="-3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8000"/>
                </a:solidFill>
                <a:latin typeface="Verdana"/>
                <a:cs typeface="Verdana"/>
              </a:rPr>
              <a:t>file</a:t>
            </a:r>
            <a:r>
              <a:rPr sz="1800" b="1" spc="-3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008000"/>
                </a:solidFill>
                <a:latin typeface="Verdana"/>
                <a:cs typeface="Verdana"/>
              </a:rPr>
              <a:t>name.</a:t>
            </a:r>
            <a:endParaRPr sz="1800" dirty="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219"/>
              </a:spcBef>
              <a:buClr>
                <a:srgbClr val="006600"/>
              </a:buClr>
              <a:buAutoNum type="arabicPeriod"/>
              <a:tabLst>
                <a:tab pos="372745" algn="l"/>
              </a:tabLst>
            </a:pPr>
            <a:r>
              <a:rPr sz="1800" b="1" dirty="0">
                <a:solidFill>
                  <a:srgbClr val="186600"/>
                </a:solidFill>
                <a:latin typeface="Verdana"/>
                <a:cs typeface="Verdana"/>
              </a:rPr>
              <a:t>Read</a:t>
            </a:r>
            <a:r>
              <a:rPr sz="1800" b="1" spc="-2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186600"/>
                </a:solidFill>
                <a:latin typeface="Verdana"/>
                <a:cs typeface="Verdana"/>
              </a:rPr>
              <a:t>or</a:t>
            </a:r>
            <a:r>
              <a:rPr sz="1800" b="1" spc="-35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186600"/>
                </a:solidFill>
                <a:latin typeface="Verdana"/>
                <a:cs typeface="Verdana"/>
              </a:rPr>
              <a:t>write</a:t>
            </a:r>
            <a:r>
              <a:rPr sz="1800" b="1" spc="-3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186600"/>
                </a:solidFill>
                <a:latin typeface="Verdana"/>
                <a:cs typeface="Verdana"/>
              </a:rPr>
              <a:t>the</a:t>
            </a:r>
            <a:r>
              <a:rPr sz="1800" b="1" spc="-30" dirty="0">
                <a:solidFill>
                  <a:srgbClr val="186600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86600"/>
                </a:solidFill>
                <a:latin typeface="Verdana"/>
                <a:cs typeface="Verdana"/>
              </a:rPr>
              <a:t>data.</a:t>
            </a:r>
            <a:endParaRPr sz="1800" dirty="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215"/>
              </a:spcBef>
              <a:buClr>
                <a:srgbClr val="006600"/>
              </a:buClr>
              <a:buAutoNum type="arabicPeriod"/>
              <a:tabLst>
                <a:tab pos="372745" algn="l"/>
              </a:tabLst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Close</a:t>
            </a:r>
            <a:r>
              <a:rPr sz="18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 file.</a:t>
            </a:r>
            <a:endParaRPr sz="1800" dirty="0">
              <a:latin typeface="Verdana"/>
              <a:cs typeface="Verdana"/>
            </a:endParaRPr>
          </a:p>
          <a:p>
            <a:pPr marL="158750" marR="3866515">
              <a:lnSpc>
                <a:spcPct val="120000"/>
              </a:lnSpc>
              <a:spcBef>
                <a:spcPts val="17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FILE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*fp;</a:t>
            </a:r>
            <a:endParaRPr sz="1600" dirty="0">
              <a:latin typeface="Courier New"/>
              <a:cs typeface="Courier New"/>
            </a:endParaRPr>
          </a:p>
          <a:p>
            <a:pPr marL="1073150" marR="185166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fopen(“data.txt”,”w”);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if(fp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NULL){</a:t>
            </a:r>
            <a:endParaRPr sz="1600" dirty="0">
              <a:latin typeface="Courier New"/>
              <a:cs typeface="Courier New"/>
            </a:endParaRPr>
          </a:p>
          <a:p>
            <a:pPr marL="1987550" marR="2037714">
              <a:lnSpc>
                <a:spcPct val="12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printf(“Error….”); return;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073150" marR="3440429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76;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9.8;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‘Z’;</a:t>
            </a:r>
            <a:endParaRPr sz="1600" dirty="0">
              <a:latin typeface="Courier New"/>
              <a:cs typeface="Courier New"/>
            </a:endParaRPr>
          </a:p>
          <a:p>
            <a:pPr marL="1073150" marR="111760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fprintf(fp,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“%d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f,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c);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fclose(fp);</a:t>
            </a:r>
            <a:endParaRPr sz="1600" dirty="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Reading</a:t>
            </a:r>
            <a:r>
              <a:rPr spc="-5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from</a:t>
            </a:r>
            <a:r>
              <a:rPr spc="-1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-15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5379" y="1482294"/>
            <a:ext cx="6480175" cy="10318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5134" indent="-432434">
              <a:lnSpc>
                <a:spcPct val="100000"/>
              </a:lnSpc>
              <a:spcBef>
                <a:spcPts val="385"/>
              </a:spcBef>
              <a:buClr>
                <a:srgbClr val="006600"/>
              </a:buClr>
              <a:buSzPct val="133333"/>
              <a:buAutoNum type="arabicPeriod"/>
              <a:tabLst>
                <a:tab pos="445134" algn="l"/>
              </a:tabLst>
            </a:pP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Open</a:t>
            </a:r>
            <a:r>
              <a:rPr sz="1800" b="1" spc="-5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the</a:t>
            </a:r>
            <a:r>
              <a:rPr sz="1800" b="1" spc="-1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file,</a:t>
            </a:r>
            <a:r>
              <a:rPr sz="1800" b="1" spc="-3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associating</a:t>
            </a:r>
            <a:r>
              <a:rPr sz="1800" b="1" spc="-3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it</a:t>
            </a:r>
            <a:r>
              <a:rPr sz="1800" b="1" spc="-4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with</a:t>
            </a:r>
            <a:r>
              <a:rPr sz="1800" b="1" spc="-3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the</a:t>
            </a:r>
            <a:r>
              <a:rPr sz="1800" b="1" spc="-40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BF0000"/>
                </a:solidFill>
                <a:latin typeface="Verdana"/>
                <a:cs typeface="Verdana"/>
              </a:rPr>
              <a:t>file</a:t>
            </a:r>
            <a:r>
              <a:rPr sz="1800" b="1" spc="-35" dirty="0">
                <a:solidFill>
                  <a:srgbClr val="B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BF0000"/>
                </a:solidFill>
                <a:latin typeface="Verdana"/>
                <a:cs typeface="Verdana"/>
              </a:rPr>
              <a:t>name.</a:t>
            </a:r>
            <a:endParaRPr sz="18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372745" algn="l"/>
              </a:tabLst>
            </a:pP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Read</a:t>
            </a:r>
            <a:r>
              <a:rPr sz="18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or</a:t>
            </a:r>
            <a:r>
              <a:rPr sz="18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18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18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006600"/>
                </a:solidFill>
                <a:latin typeface="Verdana"/>
                <a:cs typeface="Verdana"/>
              </a:rPr>
              <a:t>data.</a:t>
            </a:r>
            <a:endParaRPr sz="1800">
              <a:latin typeface="Verdana"/>
              <a:cs typeface="Verdana"/>
            </a:endParaRPr>
          </a:p>
          <a:p>
            <a:pPr marL="372745" indent="-36004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372745" algn="l"/>
              </a:tabLst>
            </a:pP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Close</a:t>
            </a:r>
            <a:r>
              <a:rPr sz="18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1800" b="1" spc="-10" dirty="0">
                <a:solidFill>
                  <a:srgbClr val="006600"/>
                </a:solidFill>
                <a:latin typeface="Verdana"/>
                <a:cs typeface="Verdana"/>
              </a:rPr>
              <a:t> file.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8427" y="2738627"/>
            <a:ext cx="4430395" cy="2712720"/>
          </a:xfrm>
          <a:custGeom>
            <a:avLst/>
            <a:gdLst/>
            <a:ahLst/>
            <a:cxnLst/>
            <a:rect l="l" t="t" r="r" b="b"/>
            <a:pathLst>
              <a:path w="4430395" h="2712720">
                <a:moveTo>
                  <a:pt x="4430268" y="2712719"/>
                </a:moveTo>
                <a:lnTo>
                  <a:pt x="0" y="2712719"/>
                </a:lnTo>
                <a:lnTo>
                  <a:pt x="0" y="0"/>
                </a:lnTo>
                <a:lnTo>
                  <a:pt x="4430268" y="0"/>
                </a:lnTo>
                <a:lnTo>
                  <a:pt x="44302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702052"/>
                </a:lnTo>
                <a:lnTo>
                  <a:pt x="4572" y="2702052"/>
                </a:lnTo>
                <a:lnTo>
                  <a:pt x="10668" y="2706624"/>
                </a:lnTo>
                <a:lnTo>
                  <a:pt x="4430268" y="2706624"/>
                </a:lnTo>
                <a:lnTo>
                  <a:pt x="4430268" y="2712719"/>
                </a:lnTo>
                <a:close/>
              </a:path>
              <a:path w="4430395" h="2712720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4430395" h="2712720">
                <a:moveTo>
                  <a:pt x="44196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4419600" y="4572"/>
                </a:lnTo>
                <a:lnTo>
                  <a:pt x="4419600" y="10668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4419600" y="4572"/>
                </a:lnTo>
                <a:lnTo>
                  <a:pt x="4424172" y="10668"/>
                </a:lnTo>
                <a:lnTo>
                  <a:pt x="4430268" y="10668"/>
                </a:lnTo>
                <a:lnTo>
                  <a:pt x="4430268" y="2702052"/>
                </a:lnTo>
                <a:lnTo>
                  <a:pt x="4424172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10668"/>
                </a:moveTo>
                <a:lnTo>
                  <a:pt x="4424172" y="10668"/>
                </a:lnTo>
                <a:lnTo>
                  <a:pt x="4419600" y="4572"/>
                </a:lnTo>
                <a:lnTo>
                  <a:pt x="4430268" y="4572"/>
                </a:lnTo>
                <a:lnTo>
                  <a:pt x="4430268" y="10668"/>
                </a:lnTo>
                <a:close/>
              </a:path>
              <a:path w="4430395" h="2712720">
                <a:moveTo>
                  <a:pt x="10668" y="2706624"/>
                </a:moveTo>
                <a:lnTo>
                  <a:pt x="4572" y="2702052"/>
                </a:lnTo>
                <a:lnTo>
                  <a:pt x="10668" y="2702052"/>
                </a:lnTo>
                <a:lnTo>
                  <a:pt x="10668" y="2706624"/>
                </a:lnTo>
                <a:close/>
              </a:path>
              <a:path w="4430395" h="2712720">
                <a:moveTo>
                  <a:pt x="4419600" y="2706624"/>
                </a:moveTo>
                <a:lnTo>
                  <a:pt x="10668" y="2706624"/>
                </a:lnTo>
                <a:lnTo>
                  <a:pt x="10668" y="2702052"/>
                </a:lnTo>
                <a:lnTo>
                  <a:pt x="4419600" y="2702052"/>
                </a:lnTo>
                <a:lnTo>
                  <a:pt x="4419600" y="2706624"/>
                </a:lnTo>
                <a:close/>
              </a:path>
              <a:path w="4430395" h="2712720">
                <a:moveTo>
                  <a:pt x="4430268" y="2706624"/>
                </a:moveTo>
                <a:lnTo>
                  <a:pt x="4419600" y="2706624"/>
                </a:lnTo>
                <a:lnTo>
                  <a:pt x="4424172" y="2702052"/>
                </a:lnTo>
                <a:lnTo>
                  <a:pt x="4430268" y="2702052"/>
                </a:lnTo>
                <a:lnTo>
                  <a:pt x="4430268" y="2706624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753" y="2703889"/>
            <a:ext cx="4237990" cy="265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19935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FILE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*fp;</a:t>
            </a:r>
            <a:endParaRPr sz="1600" dirty="0">
              <a:latin typeface="Courier New"/>
              <a:cs typeface="Courier New"/>
            </a:endParaRPr>
          </a:p>
          <a:p>
            <a:pPr marL="926465" marR="508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fopen(“data.txt”,”r”);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if(fp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NULL){</a:t>
            </a:r>
            <a:endParaRPr sz="1600" dirty="0">
              <a:latin typeface="Courier New"/>
              <a:cs typeface="Courier New"/>
            </a:endParaRPr>
          </a:p>
          <a:p>
            <a:pPr marL="1840864" marR="191135">
              <a:lnSpc>
                <a:spcPct val="120000"/>
              </a:lnSpc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printf(“Error….”); return;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6479501" y="3059663"/>
            <a:ext cx="28149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7505" algn="l"/>
                <a:tab pos="1452245" algn="l"/>
                <a:tab pos="2252345" algn="l"/>
              </a:tabLst>
            </a:pP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structure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called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b="1" spc="-20" dirty="0">
                <a:solidFill>
                  <a:srgbClr val="FF0000"/>
                </a:solidFill>
                <a:latin typeface="Courier New"/>
                <a:cs typeface="Courier New"/>
              </a:rPr>
              <a:t>FILE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1034415" algn="l"/>
                <a:tab pos="1406525" algn="l"/>
                <a:tab pos="2635885" algn="l"/>
              </a:tabLst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(defined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stdio.h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9501" y="3623571"/>
            <a:ext cx="2812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used</a:t>
            </a:r>
            <a:r>
              <a:rPr sz="1800" spc="1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800" spc="1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store</a:t>
            </a:r>
            <a:r>
              <a:rPr sz="1800" spc="1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00" spc="1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attributes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file.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9501" y="4446551"/>
            <a:ext cx="28111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61670" algn="l"/>
                <a:tab pos="1171575" algn="l"/>
                <a:tab pos="2072005" algn="l"/>
                <a:tab pos="2480945" algn="l"/>
              </a:tabLst>
            </a:pP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Error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happen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following</a:t>
            </a:r>
            <a:r>
              <a:rPr sz="1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reasons: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-The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ile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does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exist</a:t>
            </a:r>
            <a:endParaRPr sz="1800" dirty="0">
              <a:latin typeface="Arial MT"/>
              <a:cs typeface="Arial MT"/>
            </a:endParaRPr>
          </a:p>
          <a:p>
            <a:pPr marL="12700" marR="1411605">
              <a:lnSpc>
                <a:spcPct val="100000"/>
              </a:lnSpc>
            </a:pPr>
            <a:r>
              <a:rPr sz="1800" spc="-25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-Wrong</a:t>
            </a:r>
            <a:r>
              <a:rPr sz="18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drive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etc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etc….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Reading</a:t>
            </a:r>
            <a:r>
              <a:rPr spc="-5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from</a:t>
            </a:r>
            <a:r>
              <a:rPr spc="-1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-15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</a:t>
            </a:r>
          </a:p>
        </p:txBody>
      </p:sp>
      <p:sp>
        <p:nvSpPr>
          <p:cNvPr id="3" name="object 3"/>
          <p:cNvSpPr/>
          <p:nvPr/>
        </p:nvSpPr>
        <p:spPr>
          <a:xfrm>
            <a:off x="1138427" y="2738627"/>
            <a:ext cx="6182995" cy="4189729"/>
          </a:xfrm>
          <a:custGeom>
            <a:avLst/>
            <a:gdLst/>
            <a:ahLst/>
            <a:cxnLst/>
            <a:rect l="l" t="t" r="r" b="b"/>
            <a:pathLst>
              <a:path w="6182995" h="4189729">
                <a:moveTo>
                  <a:pt x="6182868" y="4189476"/>
                </a:moveTo>
                <a:lnTo>
                  <a:pt x="0" y="4189476"/>
                </a:lnTo>
                <a:lnTo>
                  <a:pt x="0" y="0"/>
                </a:lnTo>
                <a:lnTo>
                  <a:pt x="6182868" y="0"/>
                </a:lnTo>
                <a:lnTo>
                  <a:pt x="61828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4180332"/>
                </a:lnTo>
                <a:lnTo>
                  <a:pt x="4572" y="4180332"/>
                </a:lnTo>
                <a:lnTo>
                  <a:pt x="10668" y="4184903"/>
                </a:lnTo>
                <a:lnTo>
                  <a:pt x="6182868" y="4184903"/>
                </a:lnTo>
                <a:lnTo>
                  <a:pt x="6182868" y="4189476"/>
                </a:lnTo>
                <a:close/>
              </a:path>
              <a:path w="6182995" h="4189729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6182995" h="4189729">
                <a:moveTo>
                  <a:pt x="61722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6172200" y="4572"/>
                </a:lnTo>
                <a:lnTo>
                  <a:pt x="6172200" y="10668"/>
                </a:lnTo>
                <a:close/>
              </a:path>
              <a:path w="6182995" h="4189729">
                <a:moveTo>
                  <a:pt x="6172200" y="4184903"/>
                </a:moveTo>
                <a:lnTo>
                  <a:pt x="6172200" y="4572"/>
                </a:lnTo>
                <a:lnTo>
                  <a:pt x="6176771" y="10668"/>
                </a:lnTo>
                <a:lnTo>
                  <a:pt x="6182868" y="10668"/>
                </a:lnTo>
                <a:lnTo>
                  <a:pt x="6182868" y="4180332"/>
                </a:lnTo>
                <a:lnTo>
                  <a:pt x="6176771" y="4180332"/>
                </a:lnTo>
                <a:lnTo>
                  <a:pt x="6172200" y="4184903"/>
                </a:lnTo>
                <a:close/>
              </a:path>
              <a:path w="6182995" h="4189729">
                <a:moveTo>
                  <a:pt x="6182868" y="10668"/>
                </a:moveTo>
                <a:lnTo>
                  <a:pt x="6176771" y="10668"/>
                </a:lnTo>
                <a:lnTo>
                  <a:pt x="6172200" y="4572"/>
                </a:lnTo>
                <a:lnTo>
                  <a:pt x="6182868" y="4572"/>
                </a:lnTo>
                <a:lnTo>
                  <a:pt x="6182868" y="10668"/>
                </a:lnTo>
                <a:close/>
              </a:path>
              <a:path w="6182995" h="4189729">
                <a:moveTo>
                  <a:pt x="10668" y="4184903"/>
                </a:moveTo>
                <a:lnTo>
                  <a:pt x="4572" y="4180332"/>
                </a:lnTo>
                <a:lnTo>
                  <a:pt x="10668" y="4180332"/>
                </a:lnTo>
                <a:lnTo>
                  <a:pt x="10668" y="4184903"/>
                </a:lnTo>
                <a:close/>
              </a:path>
              <a:path w="6182995" h="4189729">
                <a:moveTo>
                  <a:pt x="6172200" y="4184903"/>
                </a:moveTo>
                <a:lnTo>
                  <a:pt x="10668" y="4184903"/>
                </a:lnTo>
                <a:lnTo>
                  <a:pt x="10668" y="4180332"/>
                </a:lnTo>
                <a:lnTo>
                  <a:pt x="6172200" y="4180332"/>
                </a:lnTo>
                <a:lnTo>
                  <a:pt x="6172200" y="4184903"/>
                </a:lnTo>
                <a:close/>
              </a:path>
              <a:path w="6182995" h="4189729">
                <a:moveTo>
                  <a:pt x="6182868" y="4184903"/>
                </a:moveTo>
                <a:lnTo>
                  <a:pt x="6172200" y="4184903"/>
                </a:lnTo>
                <a:lnTo>
                  <a:pt x="6176771" y="4180332"/>
                </a:lnTo>
                <a:lnTo>
                  <a:pt x="6182868" y="4180332"/>
                </a:lnTo>
                <a:lnTo>
                  <a:pt x="6182868" y="4184903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5134" indent="-432434">
              <a:lnSpc>
                <a:spcPct val="100000"/>
              </a:lnSpc>
              <a:spcBef>
                <a:spcPts val="385"/>
              </a:spcBef>
              <a:buClr>
                <a:srgbClr val="006600"/>
              </a:buClr>
              <a:buSzPct val="133333"/>
              <a:buAutoNum type="arabicPeriod"/>
              <a:tabLst>
                <a:tab pos="445134" algn="l"/>
              </a:tabLst>
            </a:pPr>
            <a:r>
              <a:rPr sz="1800" dirty="0">
                <a:solidFill>
                  <a:srgbClr val="008000"/>
                </a:solidFill>
              </a:rPr>
              <a:t>Open</a:t>
            </a:r>
            <a:r>
              <a:rPr sz="1800" spc="-55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the</a:t>
            </a:r>
            <a:r>
              <a:rPr sz="1800" spc="-15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file,</a:t>
            </a:r>
            <a:r>
              <a:rPr sz="1800" spc="-35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associating</a:t>
            </a:r>
            <a:r>
              <a:rPr sz="1800" spc="-3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it</a:t>
            </a:r>
            <a:r>
              <a:rPr sz="1800" spc="-4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with</a:t>
            </a:r>
            <a:r>
              <a:rPr sz="1800" spc="-3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the</a:t>
            </a:r>
            <a:r>
              <a:rPr sz="1800" spc="-4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file</a:t>
            </a:r>
            <a:r>
              <a:rPr sz="1800" spc="-35" dirty="0">
                <a:solidFill>
                  <a:srgbClr val="008000"/>
                </a:solidFill>
              </a:rPr>
              <a:t> </a:t>
            </a:r>
            <a:r>
              <a:rPr sz="1800" spc="-10" dirty="0">
                <a:solidFill>
                  <a:srgbClr val="008000"/>
                </a:solidFill>
              </a:rPr>
              <a:t>name.</a:t>
            </a:r>
            <a:endParaRPr sz="1800" dirty="0"/>
          </a:p>
          <a:p>
            <a:pPr marL="372745" indent="-360045">
              <a:lnSpc>
                <a:spcPct val="100000"/>
              </a:lnSpc>
              <a:spcBef>
                <a:spcPts val="219"/>
              </a:spcBef>
              <a:buClr>
                <a:srgbClr val="006600"/>
              </a:buClr>
              <a:buAutoNum type="arabicPeriod"/>
              <a:tabLst>
                <a:tab pos="372745" algn="l"/>
              </a:tabLst>
            </a:pPr>
            <a:r>
              <a:rPr sz="1800" dirty="0">
                <a:solidFill>
                  <a:srgbClr val="BF0000"/>
                </a:solidFill>
              </a:rPr>
              <a:t>Read</a:t>
            </a:r>
            <a:r>
              <a:rPr sz="1800" spc="-20" dirty="0">
                <a:solidFill>
                  <a:srgbClr val="BF0000"/>
                </a:solidFill>
              </a:rPr>
              <a:t> </a:t>
            </a:r>
            <a:r>
              <a:rPr sz="1800" dirty="0">
                <a:solidFill>
                  <a:srgbClr val="BF0000"/>
                </a:solidFill>
              </a:rPr>
              <a:t>or</a:t>
            </a:r>
            <a:r>
              <a:rPr sz="1800" spc="-35" dirty="0">
                <a:solidFill>
                  <a:srgbClr val="BF0000"/>
                </a:solidFill>
              </a:rPr>
              <a:t> </a:t>
            </a:r>
            <a:r>
              <a:rPr sz="1800" dirty="0">
                <a:solidFill>
                  <a:srgbClr val="BF0000"/>
                </a:solidFill>
              </a:rPr>
              <a:t>write</a:t>
            </a:r>
            <a:r>
              <a:rPr sz="1800" spc="-30" dirty="0">
                <a:solidFill>
                  <a:srgbClr val="BF0000"/>
                </a:solidFill>
              </a:rPr>
              <a:t> </a:t>
            </a:r>
            <a:r>
              <a:rPr sz="1800" dirty="0">
                <a:solidFill>
                  <a:srgbClr val="BF0000"/>
                </a:solidFill>
              </a:rPr>
              <a:t>the</a:t>
            </a:r>
            <a:r>
              <a:rPr sz="1800" spc="-30" dirty="0">
                <a:solidFill>
                  <a:srgbClr val="BF0000"/>
                </a:solidFill>
              </a:rPr>
              <a:t> </a:t>
            </a:r>
            <a:r>
              <a:rPr sz="1800" spc="-20" dirty="0">
                <a:solidFill>
                  <a:srgbClr val="BF0000"/>
                </a:solidFill>
              </a:rPr>
              <a:t>data.</a:t>
            </a:r>
            <a:endParaRPr sz="1800" dirty="0"/>
          </a:p>
          <a:p>
            <a:pPr marL="372745" indent="-36004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372745" algn="l"/>
              </a:tabLst>
            </a:pPr>
            <a:r>
              <a:rPr sz="1800" dirty="0">
                <a:solidFill>
                  <a:srgbClr val="006600"/>
                </a:solidFill>
              </a:rPr>
              <a:t>Close</a:t>
            </a:r>
            <a:r>
              <a:rPr sz="1800" spc="-55" dirty="0">
                <a:solidFill>
                  <a:srgbClr val="006600"/>
                </a:solidFill>
              </a:rPr>
              <a:t> </a:t>
            </a:r>
            <a:r>
              <a:rPr sz="1800" dirty="0">
                <a:solidFill>
                  <a:srgbClr val="006600"/>
                </a:solidFill>
              </a:rPr>
              <a:t>the</a:t>
            </a:r>
            <a:r>
              <a:rPr sz="1800" spc="-10" dirty="0">
                <a:solidFill>
                  <a:srgbClr val="006600"/>
                </a:solidFill>
              </a:rPr>
              <a:t> file.</a:t>
            </a:r>
            <a:endParaRPr sz="1800" dirty="0"/>
          </a:p>
          <a:p>
            <a:pPr marL="158750" marR="4115435">
              <a:lnSpc>
                <a:spcPct val="120000"/>
              </a:lnSpc>
              <a:spcBef>
                <a:spcPts val="1700"/>
              </a:spcBef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FILE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006600"/>
                </a:solidFill>
                <a:latin typeface="Courier New"/>
                <a:cs typeface="Courier New"/>
              </a:rPr>
              <a:t>*fp;</a:t>
            </a:r>
            <a:endParaRPr sz="1600" dirty="0">
              <a:latin typeface="Courier New"/>
              <a:cs typeface="Courier New"/>
            </a:endParaRPr>
          </a:p>
          <a:p>
            <a:pPr marL="1073150" marR="2100580">
              <a:lnSpc>
                <a:spcPct val="120000"/>
              </a:lnSpc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fp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fopen(“data.txt”,”r”);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if(fp</a:t>
            </a:r>
            <a:r>
              <a:rPr sz="1600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NULL){</a:t>
            </a:r>
            <a:endParaRPr sz="1600" dirty="0">
              <a:latin typeface="Courier New"/>
              <a:cs typeface="Courier New"/>
            </a:endParaRPr>
          </a:p>
          <a:p>
            <a:pPr marL="1987550" marR="2286635">
              <a:lnSpc>
                <a:spcPct val="120000"/>
              </a:lnSpc>
              <a:spcBef>
                <a:spcPts val="5"/>
              </a:spcBef>
            </a:pP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printf(“Error….”); return;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380"/>
              </a:spcBef>
            </a:pPr>
            <a:r>
              <a:rPr sz="1600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073150" marR="4421505">
              <a:lnSpc>
                <a:spcPct val="120000"/>
              </a:lnSpc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a;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f;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c;</a:t>
            </a:r>
            <a:endParaRPr sz="1600" dirty="0">
              <a:latin typeface="Courier New"/>
              <a:cs typeface="Courier New"/>
            </a:endParaRPr>
          </a:p>
          <a:p>
            <a:pPr marL="949960">
              <a:lnSpc>
                <a:spcPct val="100000"/>
              </a:lnSpc>
              <a:spcBef>
                <a:spcPts val="385"/>
              </a:spcBef>
            </a:pPr>
            <a:r>
              <a:rPr sz="2400" spc="-15" baseline="3472" dirty="0">
                <a:solidFill>
                  <a:srgbClr val="006600"/>
                </a:solidFill>
                <a:latin typeface="Courier New"/>
                <a:cs typeface="Courier New"/>
              </a:rPr>
              <a:t>f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scanf(</a:t>
            </a:r>
            <a:r>
              <a:rPr sz="1600" spc="-1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400" baseline="3472" dirty="0">
                <a:solidFill>
                  <a:srgbClr val="006600"/>
                </a:solidFill>
                <a:latin typeface="Courier New"/>
                <a:cs typeface="Courier New"/>
              </a:rPr>
              <a:t>fp,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“%d</a:t>
            </a:r>
            <a:r>
              <a:rPr sz="1600" spc="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%f %c”,</a:t>
            </a:r>
            <a:r>
              <a:rPr sz="1600" spc="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&amp;a, &amp;f,</a:t>
            </a:r>
            <a:r>
              <a:rPr sz="1600" spc="1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006600"/>
                </a:solidFill>
                <a:latin typeface="Courier New"/>
                <a:cs typeface="Courier New"/>
              </a:rPr>
              <a:t>&amp;c);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printf(“%d</a:t>
            </a:r>
            <a:r>
              <a:rPr sz="1600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f,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c);</a:t>
            </a:r>
            <a:endParaRPr sz="1600" dirty="0">
              <a:latin typeface="Courier New"/>
              <a:cs typeface="Courier New"/>
            </a:endParaRPr>
          </a:p>
          <a:p>
            <a:pPr marL="158750">
              <a:lnSpc>
                <a:spcPct val="100000"/>
              </a:lnSpc>
              <a:spcBef>
                <a:spcPts val="385"/>
              </a:spcBef>
            </a:pPr>
            <a:r>
              <a:rPr sz="1600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6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Reading</a:t>
            </a:r>
            <a:r>
              <a:rPr spc="-5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from</a:t>
            </a:r>
            <a:r>
              <a:rPr spc="-1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a</a:t>
            </a:r>
            <a:r>
              <a:rPr spc="-15" dirty="0">
                <a:solidFill>
                  <a:srgbClr val="750033"/>
                </a:solidFill>
              </a:rPr>
              <a:t> </a:t>
            </a:r>
            <a:r>
              <a:rPr spc="-20" dirty="0">
                <a:solidFill>
                  <a:srgbClr val="750033"/>
                </a:solidFill>
              </a:rPr>
              <a:t>File</a:t>
            </a:r>
          </a:p>
        </p:txBody>
      </p:sp>
      <p:sp>
        <p:nvSpPr>
          <p:cNvPr id="3" name="object 3"/>
          <p:cNvSpPr/>
          <p:nvPr/>
        </p:nvSpPr>
        <p:spPr>
          <a:xfrm>
            <a:off x="1138427" y="2519172"/>
            <a:ext cx="6182995" cy="4483735"/>
          </a:xfrm>
          <a:custGeom>
            <a:avLst/>
            <a:gdLst/>
            <a:ahLst/>
            <a:cxnLst/>
            <a:rect l="l" t="t" r="r" b="b"/>
            <a:pathLst>
              <a:path w="6182995" h="4483734">
                <a:moveTo>
                  <a:pt x="6182868" y="4483608"/>
                </a:moveTo>
                <a:lnTo>
                  <a:pt x="0" y="4483608"/>
                </a:lnTo>
                <a:lnTo>
                  <a:pt x="0" y="0"/>
                </a:lnTo>
                <a:lnTo>
                  <a:pt x="6182868" y="0"/>
                </a:lnTo>
                <a:lnTo>
                  <a:pt x="6182868" y="4572"/>
                </a:ln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lnTo>
                  <a:pt x="10668" y="4474464"/>
                </a:lnTo>
                <a:lnTo>
                  <a:pt x="4572" y="4474464"/>
                </a:lnTo>
                <a:lnTo>
                  <a:pt x="10668" y="4479036"/>
                </a:lnTo>
                <a:lnTo>
                  <a:pt x="6182868" y="4479036"/>
                </a:lnTo>
                <a:lnTo>
                  <a:pt x="6182868" y="4483608"/>
                </a:lnTo>
                <a:close/>
              </a:path>
              <a:path w="6182995" h="4483734">
                <a:moveTo>
                  <a:pt x="10668" y="9144"/>
                </a:move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close/>
              </a:path>
              <a:path w="6182995" h="4483734">
                <a:moveTo>
                  <a:pt x="6172200" y="9144"/>
                </a:moveTo>
                <a:lnTo>
                  <a:pt x="10668" y="9144"/>
                </a:lnTo>
                <a:lnTo>
                  <a:pt x="10668" y="4572"/>
                </a:lnTo>
                <a:lnTo>
                  <a:pt x="6172200" y="4572"/>
                </a:lnTo>
                <a:lnTo>
                  <a:pt x="6172200" y="9144"/>
                </a:lnTo>
                <a:close/>
              </a:path>
              <a:path w="6182995" h="4483734">
                <a:moveTo>
                  <a:pt x="6172200" y="4479036"/>
                </a:moveTo>
                <a:lnTo>
                  <a:pt x="6172200" y="4572"/>
                </a:lnTo>
                <a:lnTo>
                  <a:pt x="6176771" y="9144"/>
                </a:lnTo>
                <a:lnTo>
                  <a:pt x="6182868" y="9144"/>
                </a:lnTo>
                <a:lnTo>
                  <a:pt x="6182868" y="4474464"/>
                </a:lnTo>
                <a:lnTo>
                  <a:pt x="6176771" y="4474464"/>
                </a:lnTo>
                <a:lnTo>
                  <a:pt x="6172200" y="4479036"/>
                </a:lnTo>
                <a:close/>
              </a:path>
              <a:path w="6182995" h="4483734">
                <a:moveTo>
                  <a:pt x="6182868" y="9144"/>
                </a:moveTo>
                <a:lnTo>
                  <a:pt x="6176771" y="9144"/>
                </a:lnTo>
                <a:lnTo>
                  <a:pt x="6172200" y="4572"/>
                </a:lnTo>
                <a:lnTo>
                  <a:pt x="6182868" y="4572"/>
                </a:lnTo>
                <a:lnTo>
                  <a:pt x="6182868" y="9144"/>
                </a:lnTo>
                <a:close/>
              </a:path>
              <a:path w="6182995" h="4483734">
                <a:moveTo>
                  <a:pt x="10668" y="4479036"/>
                </a:moveTo>
                <a:lnTo>
                  <a:pt x="4572" y="4474464"/>
                </a:lnTo>
                <a:lnTo>
                  <a:pt x="10668" y="4474464"/>
                </a:lnTo>
                <a:lnTo>
                  <a:pt x="10668" y="4479036"/>
                </a:lnTo>
                <a:close/>
              </a:path>
              <a:path w="6182995" h="4483734">
                <a:moveTo>
                  <a:pt x="6172200" y="4479036"/>
                </a:moveTo>
                <a:lnTo>
                  <a:pt x="10668" y="4479036"/>
                </a:lnTo>
                <a:lnTo>
                  <a:pt x="10668" y="4474464"/>
                </a:lnTo>
                <a:lnTo>
                  <a:pt x="6172200" y="4474464"/>
                </a:lnTo>
                <a:lnTo>
                  <a:pt x="6172200" y="4479036"/>
                </a:lnTo>
                <a:close/>
              </a:path>
              <a:path w="6182995" h="4483734">
                <a:moveTo>
                  <a:pt x="6182868" y="4479036"/>
                </a:moveTo>
                <a:lnTo>
                  <a:pt x="6172200" y="4479036"/>
                </a:lnTo>
                <a:lnTo>
                  <a:pt x="6176771" y="4474464"/>
                </a:lnTo>
                <a:lnTo>
                  <a:pt x="6182868" y="4474464"/>
                </a:lnTo>
                <a:lnTo>
                  <a:pt x="6182868" y="4479036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5134" indent="-432434">
              <a:lnSpc>
                <a:spcPct val="100000"/>
              </a:lnSpc>
              <a:spcBef>
                <a:spcPts val="385"/>
              </a:spcBef>
              <a:buClr>
                <a:srgbClr val="006600"/>
              </a:buClr>
              <a:buSzPct val="133333"/>
              <a:buAutoNum type="arabicPeriod"/>
              <a:tabLst>
                <a:tab pos="445134" algn="l"/>
              </a:tabLst>
            </a:pPr>
            <a:r>
              <a:rPr sz="1800" dirty="0">
                <a:solidFill>
                  <a:srgbClr val="008000"/>
                </a:solidFill>
              </a:rPr>
              <a:t>Open</a:t>
            </a:r>
            <a:r>
              <a:rPr sz="1800" spc="-55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the</a:t>
            </a:r>
            <a:r>
              <a:rPr sz="1800" spc="-15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file,</a:t>
            </a:r>
            <a:r>
              <a:rPr sz="1800" spc="-35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associating</a:t>
            </a:r>
            <a:r>
              <a:rPr sz="1800" spc="-3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it</a:t>
            </a:r>
            <a:r>
              <a:rPr sz="1800" spc="-4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with</a:t>
            </a:r>
            <a:r>
              <a:rPr sz="1800" spc="-3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the</a:t>
            </a:r>
            <a:r>
              <a:rPr sz="1800" spc="-40" dirty="0">
                <a:solidFill>
                  <a:srgbClr val="008000"/>
                </a:solidFill>
              </a:rPr>
              <a:t> </a:t>
            </a:r>
            <a:r>
              <a:rPr sz="1800" dirty="0">
                <a:solidFill>
                  <a:srgbClr val="008000"/>
                </a:solidFill>
              </a:rPr>
              <a:t>file</a:t>
            </a:r>
            <a:r>
              <a:rPr sz="1800" spc="-35" dirty="0">
                <a:solidFill>
                  <a:srgbClr val="008000"/>
                </a:solidFill>
              </a:rPr>
              <a:t> </a:t>
            </a:r>
            <a:r>
              <a:rPr sz="1800" spc="-10" dirty="0">
                <a:solidFill>
                  <a:srgbClr val="008000"/>
                </a:solidFill>
              </a:rPr>
              <a:t>name.</a:t>
            </a:r>
            <a:endParaRPr sz="1800" dirty="0"/>
          </a:p>
          <a:p>
            <a:pPr marL="372745" indent="-360045">
              <a:lnSpc>
                <a:spcPct val="100000"/>
              </a:lnSpc>
              <a:spcBef>
                <a:spcPts val="219"/>
              </a:spcBef>
              <a:buClr>
                <a:srgbClr val="006600"/>
              </a:buClr>
              <a:buAutoNum type="arabicPeriod"/>
              <a:tabLst>
                <a:tab pos="372745" algn="l"/>
              </a:tabLst>
            </a:pPr>
            <a:r>
              <a:rPr sz="1800" dirty="0">
                <a:solidFill>
                  <a:srgbClr val="186600"/>
                </a:solidFill>
              </a:rPr>
              <a:t>Read</a:t>
            </a:r>
            <a:r>
              <a:rPr sz="1800" spc="-20" dirty="0">
                <a:solidFill>
                  <a:srgbClr val="186600"/>
                </a:solidFill>
              </a:rPr>
              <a:t> </a:t>
            </a:r>
            <a:r>
              <a:rPr sz="1800" dirty="0">
                <a:solidFill>
                  <a:srgbClr val="186600"/>
                </a:solidFill>
              </a:rPr>
              <a:t>or</a:t>
            </a:r>
            <a:r>
              <a:rPr sz="1800" spc="-35" dirty="0">
                <a:solidFill>
                  <a:srgbClr val="186600"/>
                </a:solidFill>
              </a:rPr>
              <a:t> </a:t>
            </a:r>
            <a:r>
              <a:rPr sz="1800" dirty="0">
                <a:solidFill>
                  <a:srgbClr val="186600"/>
                </a:solidFill>
              </a:rPr>
              <a:t>write</a:t>
            </a:r>
            <a:r>
              <a:rPr sz="1800" spc="-30" dirty="0">
                <a:solidFill>
                  <a:srgbClr val="186600"/>
                </a:solidFill>
              </a:rPr>
              <a:t> </a:t>
            </a:r>
            <a:r>
              <a:rPr sz="1800" dirty="0">
                <a:solidFill>
                  <a:srgbClr val="186600"/>
                </a:solidFill>
              </a:rPr>
              <a:t>the</a:t>
            </a:r>
            <a:r>
              <a:rPr sz="1800" spc="-30" dirty="0">
                <a:solidFill>
                  <a:srgbClr val="186600"/>
                </a:solidFill>
              </a:rPr>
              <a:t> </a:t>
            </a:r>
            <a:r>
              <a:rPr sz="1800" spc="-20" dirty="0">
                <a:solidFill>
                  <a:srgbClr val="186600"/>
                </a:solidFill>
              </a:rPr>
              <a:t>data.</a:t>
            </a:r>
            <a:endParaRPr sz="1800" dirty="0"/>
          </a:p>
          <a:p>
            <a:pPr marL="158750" marR="4115435" indent="-146685">
              <a:lnSpc>
                <a:spcPts val="2300"/>
              </a:lnSpc>
              <a:spcBef>
                <a:spcPts val="175"/>
              </a:spcBef>
              <a:buClr>
                <a:srgbClr val="006600"/>
              </a:buClr>
              <a:buAutoNum type="arabicPeriod"/>
              <a:tabLst>
                <a:tab pos="158750" algn="l"/>
                <a:tab pos="372110" algn="l"/>
              </a:tabLst>
            </a:pPr>
            <a:r>
              <a:rPr sz="1800" dirty="0">
                <a:solidFill>
                  <a:srgbClr val="FF0000"/>
                </a:solidFill>
              </a:rPr>
              <a:t>Close</a:t>
            </a:r>
            <a:r>
              <a:rPr sz="1800" spc="-5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the</a:t>
            </a:r>
            <a:r>
              <a:rPr sz="1800" spc="-10" dirty="0">
                <a:solidFill>
                  <a:srgbClr val="FF0000"/>
                </a:solidFill>
              </a:rPr>
              <a:t> file.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250"/>
              </a:spcBef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FILE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006600"/>
                </a:solidFill>
                <a:latin typeface="Courier New"/>
                <a:cs typeface="Courier New"/>
              </a:rPr>
              <a:t>*fp;</a:t>
            </a:r>
            <a:endParaRPr sz="1600" dirty="0">
              <a:latin typeface="Courier New"/>
              <a:cs typeface="Courier New"/>
            </a:endParaRPr>
          </a:p>
          <a:p>
            <a:pPr marL="1073150" marR="2100580">
              <a:lnSpc>
                <a:spcPct val="120000"/>
              </a:lnSpc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fp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fopen(“data.txt”,”r”);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if(fp</a:t>
            </a:r>
            <a:r>
              <a:rPr sz="1600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NULL){</a:t>
            </a:r>
            <a:endParaRPr sz="1600" dirty="0">
              <a:latin typeface="Courier New"/>
              <a:cs typeface="Courier New"/>
            </a:endParaRPr>
          </a:p>
          <a:p>
            <a:pPr marL="1987550" marR="2286635">
              <a:lnSpc>
                <a:spcPct val="120000"/>
              </a:lnSpc>
            </a:pP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printf(“Error….”); return;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385"/>
              </a:spcBef>
            </a:pPr>
            <a:r>
              <a:rPr sz="1600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073150" marR="4421505">
              <a:lnSpc>
                <a:spcPct val="120000"/>
              </a:lnSpc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int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a;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float</a:t>
            </a:r>
            <a:r>
              <a:rPr sz="1600" spc="-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f;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c;</a:t>
            </a:r>
            <a:endParaRPr sz="1600" dirty="0">
              <a:latin typeface="Courier New"/>
              <a:cs typeface="Courier New"/>
            </a:endParaRPr>
          </a:p>
          <a:p>
            <a:pPr marL="1073150">
              <a:lnSpc>
                <a:spcPct val="100000"/>
              </a:lnSpc>
              <a:spcBef>
                <a:spcPts val="384"/>
              </a:spcBef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fscanf(fp,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“%d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&amp;a,</a:t>
            </a:r>
            <a:r>
              <a:rPr sz="1600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&amp;f,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006600"/>
                </a:solidFill>
                <a:latin typeface="Courier New"/>
                <a:cs typeface="Courier New"/>
              </a:rPr>
              <a:t>&amp;c);</a:t>
            </a:r>
            <a:endParaRPr sz="1600" dirty="0">
              <a:latin typeface="Courier New"/>
              <a:cs typeface="Courier New"/>
            </a:endParaRPr>
          </a:p>
          <a:p>
            <a:pPr marL="1073150" marR="1979295">
              <a:lnSpc>
                <a:spcPct val="120000"/>
              </a:lnSpc>
            </a:pP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printf(“%d</a:t>
            </a:r>
            <a:r>
              <a:rPr sz="1600" spc="-5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%f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%c”,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a,</a:t>
            </a:r>
            <a:r>
              <a:rPr sz="1600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6600"/>
                </a:solidFill>
                <a:latin typeface="Courier New"/>
                <a:cs typeface="Courier New"/>
              </a:rPr>
              <a:t>f,</a:t>
            </a:r>
            <a:r>
              <a:rPr sz="1600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006600"/>
                </a:solidFill>
                <a:latin typeface="Courier New"/>
                <a:cs typeface="Courier New"/>
              </a:rPr>
              <a:t>c); </a:t>
            </a:r>
            <a:r>
              <a:rPr sz="1600" spc="-10" dirty="0">
                <a:solidFill>
                  <a:srgbClr val="006600"/>
                </a:solidFill>
                <a:latin typeface="Courier New"/>
                <a:cs typeface="Courier New"/>
              </a:rPr>
              <a:t>fclose(fp);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93157" y="6662832"/>
            <a:ext cx="897889" cy="234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>
              <a:lnSpc>
                <a:spcPts val="1750"/>
              </a:lnSpc>
            </a:pPr>
            <a:r>
              <a:rPr sz="1600" spc="-50" dirty="0"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133600"/>
            <a:ext cx="8372855" cy="38101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File</a:t>
            </a:r>
            <a:r>
              <a:rPr spc="-35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Open</a:t>
            </a:r>
            <a:r>
              <a:rPr spc="-60" dirty="0">
                <a:solidFill>
                  <a:srgbClr val="750033"/>
                </a:solidFill>
              </a:rPr>
              <a:t> </a:t>
            </a:r>
            <a:r>
              <a:rPr spc="-10" dirty="0">
                <a:solidFill>
                  <a:srgbClr val="750033"/>
                </a:solidFill>
              </a:rPr>
              <a:t>Modes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750033"/>
                </a:solidFill>
              </a:rPr>
              <a:t>More</a:t>
            </a:r>
            <a:r>
              <a:rPr spc="-7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on</a:t>
            </a:r>
            <a:r>
              <a:rPr spc="-3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File</a:t>
            </a:r>
            <a:r>
              <a:rPr spc="-40" dirty="0">
                <a:solidFill>
                  <a:srgbClr val="750033"/>
                </a:solidFill>
              </a:rPr>
              <a:t> </a:t>
            </a:r>
            <a:r>
              <a:rPr dirty="0">
                <a:solidFill>
                  <a:srgbClr val="750033"/>
                </a:solidFill>
              </a:rPr>
              <a:t>Open</a:t>
            </a:r>
            <a:r>
              <a:rPr spc="-25" dirty="0">
                <a:solidFill>
                  <a:srgbClr val="750033"/>
                </a:solidFill>
              </a:rPr>
              <a:t> </a:t>
            </a:r>
            <a:r>
              <a:rPr spc="-10" dirty="0">
                <a:solidFill>
                  <a:srgbClr val="750033"/>
                </a:solidFill>
              </a:rPr>
              <a:t>Modes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463" y="2209800"/>
            <a:ext cx="8729471" cy="36911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</a:rPr>
              <a:t>Additionally,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45477" y="1936496"/>
            <a:ext cx="7131050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690" marR="5080" indent="-174625">
              <a:lnSpc>
                <a:spcPct val="100000"/>
              </a:lnSpc>
              <a:spcBef>
                <a:spcPts val="100"/>
              </a:spcBef>
              <a:buSzPct val="95833"/>
              <a:buFont typeface="Verdana"/>
              <a:buChar char="•"/>
              <a:tabLst>
                <a:tab pos="187960" algn="l"/>
                <a:tab pos="1172210" algn="l"/>
              </a:tabLst>
            </a:pP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“r+”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open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for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reading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writing,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start 	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at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beginning</a:t>
            </a:r>
            <a:endParaRPr sz="2400">
              <a:latin typeface="Verdana"/>
              <a:cs typeface="Verdana"/>
            </a:endParaRPr>
          </a:p>
          <a:p>
            <a:pPr marL="186690" marR="887730" indent="-174625">
              <a:lnSpc>
                <a:spcPct val="100000"/>
              </a:lnSpc>
              <a:spcBef>
                <a:spcPts val="575"/>
              </a:spcBef>
              <a:buSzPct val="95833"/>
              <a:buFont typeface="Verdana"/>
              <a:buChar char="•"/>
              <a:tabLst>
                <a:tab pos="187960" algn="l"/>
                <a:tab pos="1318260" algn="l"/>
              </a:tabLst>
            </a:pP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“w+”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	open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for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reading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writing 	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(overwrite</a:t>
            </a:r>
            <a:r>
              <a:rPr sz="2400" b="1" spc="-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file)</a:t>
            </a:r>
            <a:endParaRPr sz="2400">
              <a:latin typeface="Verdana"/>
              <a:cs typeface="Verdana"/>
            </a:endParaRPr>
          </a:p>
          <a:p>
            <a:pPr marL="186690" marR="1089025" indent="-174625">
              <a:lnSpc>
                <a:spcPct val="100000"/>
              </a:lnSpc>
              <a:spcBef>
                <a:spcPts val="575"/>
              </a:spcBef>
              <a:buSzPct val="95833"/>
              <a:buFont typeface="Verdana"/>
              <a:buChar char="•"/>
              <a:tabLst>
                <a:tab pos="187960" algn="l"/>
              </a:tabLst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“a+”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open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for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reading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and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writing 	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(append</a:t>
            </a:r>
            <a:r>
              <a:rPr sz="2400" b="1" spc="-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if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file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exists)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01" rIns="0" bIns="0" rtlCol="0">
            <a:spAutoFit/>
          </a:bodyPr>
          <a:lstStyle/>
          <a:p>
            <a:pPr marL="103759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750033"/>
                </a:solidFill>
              </a:rPr>
              <a:t>fgetc()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9993" rIns="0" bIns="0" rtlCol="0">
            <a:spAutoFit/>
          </a:bodyPr>
          <a:lstStyle/>
          <a:p>
            <a:pPr marL="774065">
              <a:lnSpc>
                <a:spcPct val="100000"/>
              </a:lnSpc>
              <a:spcBef>
                <a:spcPts val="385"/>
              </a:spcBef>
            </a:pPr>
            <a:r>
              <a:rPr spc="-10" dirty="0"/>
              <a:t>Syntax:</a:t>
            </a:r>
          </a:p>
          <a:p>
            <a:pPr marL="774065" marR="5080">
              <a:lnSpc>
                <a:spcPct val="110000"/>
              </a:lnSpc>
            </a:pPr>
            <a:r>
              <a:rPr dirty="0">
                <a:solidFill>
                  <a:srgbClr val="006600"/>
                </a:solidFill>
              </a:rPr>
              <a:t>identifier</a:t>
            </a:r>
            <a:r>
              <a:rPr spc="-35" dirty="0">
                <a:solidFill>
                  <a:srgbClr val="006600"/>
                </a:solidFill>
              </a:rPr>
              <a:t> </a:t>
            </a:r>
            <a:r>
              <a:rPr dirty="0">
                <a:solidFill>
                  <a:srgbClr val="006600"/>
                </a:solidFill>
              </a:rPr>
              <a:t>=</a:t>
            </a:r>
            <a:r>
              <a:rPr spc="-30" dirty="0">
                <a:solidFill>
                  <a:srgbClr val="006600"/>
                </a:solidFill>
              </a:rPr>
              <a:t> </a:t>
            </a:r>
            <a:r>
              <a:rPr dirty="0">
                <a:solidFill>
                  <a:srgbClr val="006600"/>
                </a:solidFill>
              </a:rPr>
              <a:t>fgetc</a:t>
            </a:r>
            <a:r>
              <a:rPr spc="-60" dirty="0">
                <a:solidFill>
                  <a:srgbClr val="006600"/>
                </a:solidFill>
              </a:rPr>
              <a:t> </a:t>
            </a:r>
            <a:r>
              <a:rPr dirty="0">
                <a:solidFill>
                  <a:srgbClr val="006600"/>
                </a:solidFill>
              </a:rPr>
              <a:t>(file</a:t>
            </a:r>
            <a:r>
              <a:rPr spc="-30" dirty="0">
                <a:solidFill>
                  <a:srgbClr val="006600"/>
                </a:solidFill>
              </a:rPr>
              <a:t> </a:t>
            </a:r>
            <a:r>
              <a:rPr spc="-10" dirty="0">
                <a:solidFill>
                  <a:srgbClr val="006600"/>
                </a:solidFill>
              </a:rPr>
              <a:t>pointer); </a:t>
            </a:r>
            <a:r>
              <a:rPr spc="-10" dirty="0">
                <a:solidFill>
                  <a:srgbClr val="00CCFF"/>
                </a:solidFill>
              </a:rPr>
              <a:t>Example:</a:t>
            </a:r>
          </a:p>
          <a:p>
            <a:pPr marL="774065" marR="864235">
              <a:lnSpc>
                <a:spcPct val="110000"/>
              </a:lnSpc>
            </a:pPr>
            <a:r>
              <a:rPr dirty="0">
                <a:solidFill>
                  <a:srgbClr val="006600"/>
                </a:solidFill>
              </a:rPr>
              <a:t>FILE</a:t>
            </a:r>
            <a:r>
              <a:rPr spc="-40" dirty="0">
                <a:solidFill>
                  <a:srgbClr val="006600"/>
                </a:solidFill>
              </a:rPr>
              <a:t> </a:t>
            </a:r>
            <a:r>
              <a:rPr spc="-20" dirty="0">
                <a:solidFill>
                  <a:srgbClr val="006600"/>
                </a:solidFill>
              </a:rPr>
              <a:t>*fp; </a:t>
            </a:r>
            <a:r>
              <a:rPr spc="-10" dirty="0">
                <a:solidFill>
                  <a:srgbClr val="006600"/>
                </a:solidFill>
              </a:rPr>
              <a:t>fp=fopen(“input.txt”,”r”); </a:t>
            </a:r>
            <a:r>
              <a:rPr dirty="0">
                <a:solidFill>
                  <a:srgbClr val="006600"/>
                </a:solidFill>
              </a:rPr>
              <a:t>char</a:t>
            </a:r>
            <a:r>
              <a:rPr spc="-45" dirty="0">
                <a:solidFill>
                  <a:srgbClr val="006600"/>
                </a:solidFill>
              </a:rPr>
              <a:t> </a:t>
            </a:r>
            <a:r>
              <a:rPr spc="-25" dirty="0">
                <a:solidFill>
                  <a:srgbClr val="006600"/>
                </a:solidFill>
              </a:rPr>
              <a:t>ch;</a:t>
            </a:r>
          </a:p>
          <a:p>
            <a:pPr marL="774065" marR="2513330">
              <a:lnSpc>
                <a:spcPct val="110000"/>
              </a:lnSpc>
            </a:pPr>
            <a:r>
              <a:rPr dirty="0">
                <a:solidFill>
                  <a:srgbClr val="006600"/>
                </a:solidFill>
              </a:rPr>
              <a:t>ch</a:t>
            </a:r>
            <a:r>
              <a:rPr spc="-25" dirty="0">
                <a:solidFill>
                  <a:srgbClr val="006600"/>
                </a:solidFill>
              </a:rPr>
              <a:t> </a:t>
            </a:r>
            <a:r>
              <a:rPr dirty="0">
                <a:solidFill>
                  <a:srgbClr val="006600"/>
                </a:solidFill>
              </a:rPr>
              <a:t>=</a:t>
            </a:r>
            <a:r>
              <a:rPr spc="-35" dirty="0">
                <a:solidFill>
                  <a:srgbClr val="006600"/>
                </a:solidFill>
              </a:rPr>
              <a:t> </a:t>
            </a:r>
            <a:r>
              <a:rPr dirty="0">
                <a:solidFill>
                  <a:srgbClr val="006600"/>
                </a:solidFill>
              </a:rPr>
              <a:t>fgetc</a:t>
            </a:r>
            <a:r>
              <a:rPr spc="-35" dirty="0">
                <a:solidFill>
                  <a:srgbClr val="006600"/>
                </a:solidFill>
              </a:rPr>
              <a:t> </a:t>
            </a:r>
            <a:r>
              <a:rPr spc="-20" dirty="0">
                <a:solidFill>
                  <a:srgbClr val="006600"/>
                </a:solidFill>
              </a:rPr>
              <a:t>(fp); </a:t>
            </a:r>
            <a:r>
              <a:rPr spc="-10" dirty="0">
                <a:solidFill>
                  <a:srgbClr val="006600"/>
                </a:solidFill>
              </a:rPr>
              <a:t>printf(“%c”,ch);</a:t>
            </a:r>
          </a:p>
          <a:p>
            <a:pPr marL="774065">
              <a:lnSpc>
                <a:spcPct val="100000"/>
              </a:lnSpc>
              <a:spcBef>
                <a:spcPts val="315"/>
              </a:spcBef>
            </a:pPr>
            <a:r>
              <a:rPr spc="-10" dirty="0">
                <a:solidFill>
                  <a:srgbClr val="000066"/>
                </a:solidFill>
              </a:rPr>
              <a:t>fclose(fp);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4782" y="2088896"/>
            <a:ext cx="6489065" cy="339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single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character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the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output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file,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pointed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by</a:t>
            </a:r>
            <a:r>
              <a:rPr sz="2400" b="1" spc="-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006600"/>
                </a:solidFill>
                <a:latin typeface="Verdana"/>
                <a:cs typeface="Verdana"/>
              </a:rPr>
              <a:t>fp.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solidFill>
                  <a:srgbClr val="00CCFF"/>
                </a:solidFill>
                <a:latin typeface="Verdana"/>
                <a:cs typeface="Verdana"/>
              </a:rPr>
              <a:t>Example:</a:t>
            </a:r>
            <a:endParaRPr sz="2400">
              <a:latin typeface="Verdana"/>
              <a:cs typeface="Verdana"/>
            </a:endParaRPr>
          </a:p>
          <a:p>
            <a:pPr marL="12700" marR="4181475">
              <a:lnSpc>
                <a:spcPct val="120000"/>
              </a:lnSpc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FILE</a:t>
            </a:r>
            <a:r>
              <a:rPr sz="2400" b="1" spc="-4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*fp;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char</a:t>
            </a:r>
            <a:r>
              <a:rPr sz="2400" b="1" spc="-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ch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=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‘A’;</a:t>
            </a:r>
            <a:endParaRPr sz="2400">
              <a:latin typeface="Verdana"/>
              <a:cs typeface="Verdana"/>
            </a:endParaRPr>
          </a:p>
          <a:p>
            <a:pPr marL="12700" marR="1837689">
              <a:lnSpc>
                <a:spcPct val="120000"/>
              </a:lnSpc>
            </a:pP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fp=fopen(“input.txt”,”w”);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fputc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(ch,</a:t>
            </a:r>
            <a:r>
              <a:rPr sz="2400" b="1" spc="-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fp);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10" dirty="0">
                <a:solidFill>
                  <a:srgbClr val="000066"/>
                </a:solidFill>
                <a:latin typeface="Verdana"/>
                <a:cs typeface="Verdana"/>
              </a:rPr>
              <a:t>fclose(fp);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750033"/>
                </a:solidFill>
              </a:rPr>
              <a:t>fputc()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077" y="2927094"/>
            <a:ext cx="80727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5080" indent="-175895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Write</a:t>
            </a:r>
            <a:r>
              <a:rPr sz="2400" b="1" spc="3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down</a:t>
            </a:r>
            <a:r>
              <a:rPr sz="2400" b="1" spc="33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</a:t>
            </a:r>
            <a:r>
              <a:rPr sz="2400" b="1" spc="3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program</a:t>
            </a:r>
            <a:r>
              <a:rPr sz="2400" b="1" spc="32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that</a:t>
            </a:r>
            <a:r>
              <a:rPr sz="2400" b="1" spc="33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3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copy</a:t>
            </a:r>
            <a:r>
              <a:rPr sz="2400" b="1" spc="34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one</a:t>
            </a:r>
            <a:r>
              <a:rPr sz="2400" b="1" spc="3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06600"/>
                </a:solidFill>
                <a:latin typeface="Verdana"/>
                <a:cs typeface="Verdana"/>
              </a:rPr>
              <a:t>file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21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another</a:t>
            </a:r>
            <a:r>
              <a:rPr sz="2400" b="1" spc="27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file.</a:t>
            </a:r>
            <a:r>
              <a:rPr sz="2400" b="1" spc="2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Both</a:t>
            </a:r>
            <a:r>
              <a:rPr sz="2400" b="1" spc="28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file</a:t>
            </a:r>
            <a:r>
              <a:rPr sz="2400" b="1" spc="30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names</a:t>
            </a:r>
            <a:r>
              <a:rPr sz="2400" b="1" spc="254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will</a:t>
            </a:r>
            <a:r>
              <a:rPr sz="2400" b="1" spc="260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be</a:t>
            </a:r>
            <a:r>
              <a:rPr sz="2400" b="1" spc="28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input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to</a:t>
            </a:r>
            <a:r>
              <a:rPr sz="2400" b="1" spc="-55" dirty="0">
                <a:solidFill>
                  <a:srgbClr val="00660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6600"/>
                </a:solidFill>
                <a:latin typeface="Verdana"/>
                <a:cs typeface="Verdana"/>
              </a:rPr>
              <a:t>your</a:t>
            </a:r>
            <a:r>
              <a:rPr sz="2400" b="1" spc="-10" dirty="0">
                <a:solidFill>
                  <a:srgbClr val="006600"/>
                </a:solidFill>
                <a:latin typeface="Verdana"/>
                <a:cs typeface="Verdana"/>
              </a:rPr>
              <a:t> program.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40505" y="6884894"/>
            <a:ext cx="2228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26954" y="6808713"/>
            <a:ext cx="4330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6600"/>
                </a:solidFill>
                <a:latin typeface="Arial"/>
                <a:cs typeface="Arial"/>
              </a:rPr>
              <a:t>Files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93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Program</a:t>
            </a:r>
          </a:p>
        </p:txBody>
      </p:sp>
      <p:sp>
        <p:nvSpPr>
          <p:cNvPr id="6" name="object 6"/>
          <p:cNvSpPr/>
          <p:nvPr/>
        </p:nvSpPr>
        <p:spPr>
          <a:xfrm>
            <a:off x="1900428" y="1519440"/>
            <a:ext cx="5497195" cy="5796280"/>
          </a:xfrm>
          <a:custGeom>
            <a:avLst/>
            <a:gdLst/>
            <a:ahLst/>
            <a:cxnLst/>
            <a:rect l="l" t="t" r="r" b="b"/>
            <a:pathLst>
              <a:path w="5497195" h="5796280">
                <a:moveTo>
                  <a:pt x="5497068" y="0"/>
                </a:moveTo>
                <a:lnTo>
                  <a:pt x="5490591" y="0"/>
                </a:lnTo>
                <a:lnTo>
                  <a:pt x="5490591" y="10160"/>
                </a:lnTo>
                <a:lnTo>
                  <a:pt x="5488686" y="10160"/>
                </a:lnTo>
                <a:lnTo>
                  <a:pt x="5488686" y="7607"/>
                </a:lnTo>
                <a:lnTo>
                  <a:pt x="5490591" y="10160"/>
                </a:lnTo>
                <a:lnTo>
                  <a:pt x="5490591" y="0"/>
                </a:lnTo>
                <a:lnTo>
                  <a:pt x="10147" y="0"/>
                </a:lnTo>
                <a:lnTo>
                  <a:pt x="10147" y="5080"/>
                </a:lnTo>
                <a:lnTo>
                  <a:pt x="7607" y="7620"/>
                </a:lnTo>
                <a:lnTo>
                  <a:pt x="7607" y="5080"/>
                </a:lnTo>
                <a:lnTo>
                  <a:pt x="10147" y="5080"/>
                </a:lnTo>
                <a:lnTo>
                  <a:pt x="10147" y="0"/>
                </a:lnTo>
                <a:lnTo>
                  <a:pt x="0" y="0"/>
                </a:lnTo>
                <a:lnTo>
                  <a:pt x="0" y="5080"/>
                </a:lnTo>
                <a:lnTo>
                  <a:pt x="0" y="10160"/>
                </a:lnTo>
                <a:lnTo>
                  <a:pt x="0" y="5796280"/>
                </a:lnTo>
                <a:lnTo>
                  <a:pt x="10668" y="5796280"/>
                </a:lnTo>
                <a:lnTo>
                  <a:pt x="10668" y="10655"/>
                </a:lnTo>
                <a:lnTo>
                  <a:pt x="5486400" y="10655"/>
                </a:lnTo>
                <a:lnTo>
                  <a:pt x="5486400" y="5796280"/>
                </a:lnTo>
                <a:lnTo>
                  <a:pt x="5497068" y="5796280"/>
                </a:lnTo>
                <a:lnTo>
                  <a:pt x="5497068" y="10655"/>
                </a:lnTo>
                <a:lnTo>
                  <a:pt x="5497068" y="10160"/>
                </a:lnTo>
                <a:lnTo>
                  <a:pt x="5497068" y="5080"/>
                </a:lnTo>
                <a:lnTo>
                  <a:pt x="5497068" y="4559"/>
                </a:lnTo>
                <a:lnTo>
                  <a:pt x="549706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83724" y="1484678"/>
            <a:ext cx="4726305" cy="587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0825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#include</a:t>
            </a:r>
            <a:r>
              <a:rPr sz="1600" b="1" spc="-8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&lt;stdio.h&gt;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void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main(){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FILE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*fp1,*fp2;</a:t>
            </a:r>
            <a:endParaRPr sz="1600" dirty="0">
              <a:latin typeface="Courier New"/>
              <a:cs typeface="Courier New"/>
            </a:endParaRPr>
          </a:p>
          <a:p>
            <a:pPr marL="926465" marR="134874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char</a:t>
            </a:r>
            <a:r>
              <a:rPr sz="1600" b="1" spc="-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s[80],t[80],ch; gets(s);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0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gets(t);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fp1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fopen(s,”r”);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fp2</a:t>
            </a:r>
            <a:r>
              <a:rPr sz="1600" b="1" spc="-1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fopen(t,”w”);</a:t>
            </a:r>
            <a:endParaRPr sz="1600" dirty="0">
              <a:latin typeface="Courier New"/>
              <a:cs typeface="Courier New"/>
            </a:endParaRPr>
          </a:p>
          <a:p>
            <a:pPr marL="1840864" marR="5080" indent="-914400">
              <a:lnSpc>
                <a:spcPct val="120000"/>
              </a:lnSpc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if(fp1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NULL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||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fp2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NULL){ printf(“Error….”); return;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while(1==1){</a:t>
            </a:r>
            <a:endParaRPr sz="1600" dirty="0">
              <a:latin typeface="Courier New"/>
              <a:cs typeface="Courier New"/>
            </a:endParaRPr>
          </a:p>
          <a:p>
            <a:pPr marL="1840864" marR="316865">
              <a:lnSpc>
                <a:spcPct val="120000"/>
              </a:lnSpc>
              <a:tabLst>
                <a:tab pos="3669665" algn="l"/>
              </a:tabLst>
            </a:pP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ch</a:t>
            </a:r>
            <a:r>
              <a:rPr sz="1600" b="1" spc="-2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fgetc(fp1);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if(ch</a:t>
            </a:r>
            <a:r>
              <a:rPr sz="1600" b="1" spc="-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==</a:t>
            </a:r>
            <a:r>
              <a:rPr sz="1600" b="1" spc="-3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006600"/>
                </a:solidFill>
                <a:latin typeface="Courier New"/>
                <a:cs typeface="Courier New"/>
              </a:rPr>
              <a:t>EOF)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	</a:t>
            </a: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break; fputc(ch,fp2);</a:t>
            </a:r>
            <a:endParaRPr sz="16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0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926465" marR="2327910">
              <a:lnSpc>
                <a:spcPct val="120000"/>
              </a:lnSpc>
            </a:pPr>
            <a:r>
              <a:rPr sz="1600" b="1" spc="-10" dirty="0">
                <a:solidFill>
                  <a:srgbClr val="006600"/>
                </a:solidFill>
                <a:latin typeface="Courier New"/>
                <a:cs typeface="Courier New"/>
              </a:rPr>
              <a:t>fclose(fp1); fclose(fp2);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b="1" spc="-50" dirty="0">
                <a:solidFill>
                  <a:srgbClr val="006600"/>
                </a:solidFill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1113</Words>
  <Application>Microsoft Office PowerPoint</Application>
  <PresentationFormat>Custom</PresentationFormat>
  <Paragraphs>163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Courier New</vt:lpstr>
      <vt:lpstr>Times New Roman</vt:lpstr>
      <vt:lpstr>Verdana</vt:lpstr>
      <vt:lpstr>Office Theme</vt:lpstr>
      <vt:lpstr>Files in C</vt:lpstr>
      <vt:lpstr>What is a File?</vt:lpstr>
      <vt:lpstr>Steps in Processing a File</vt:lpstr>
      <vt:lpstr>Writing to a File</vt:lpstr>
      <vt:lpstr>Writing to a File</vt:lpstr>
      <vt:lpstr>Writing to a File</vt:lpstr>
      <vt:lpstr>Reading from a File</vt:lpstr>
      <vt:lpstr>Reading from a File</vt:lpstr>
      <vt:lpstr>Reading from a File</vt:lpstr>
      <vt:lpstr>File Open Modes</vt:lpstr>
      <vt:lpstr>More on File Open Modes</vt:lpstr>
      <vt:lpstr>Additionally,</vt:lpstr>
      <vt:lpstr>fgetc()</vt:lpstr>
      <vt:lpstr>fputc()</vt:lpstr>
      <vt:lpstr>Question</vt:lpstr>
      <vt:lpstr>The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Files [Compatibility Mode]</dc:title>
  <dc:creator>TEL-Workshop-02</dc:creator>
  <cp:lastModifiedBy>Asif Rifat</cp:lastModifiedBy>
  <cp:revision>8</cp:revision>
  <dcterms:created xsi:type="dcterms:W3CDTF">2025-01-22T17:53:07Z</dcterms:created>
  <dcterms:modified xsi:type="dcterms:W3CDTF">2025-01-23T01:52:05Z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2020-04-21T00:00:00Z</vt:filetime>
  </property>
  <property fmtid="{D5CDD505-2E9C-101B-9397-08002B2CF9AE}" pid="3" name="LastSaved">
    <vt:filetime>2025-01-22T00:00:00Z</vt:filetime>
  </property>
  <property fmtid="{D5CDD505-2E9C-101B-9397-08002B2CF9AE}" pid="4" name="Producer">
    <vt:lpwstr>Microsoft: Print To PDF</vt:lpwstr>
  </property>
</Properties>
</file>