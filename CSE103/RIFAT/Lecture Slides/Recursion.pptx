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55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66003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A</a:t>
            </a:r>
            <a:r>
              <a:rPr spc="-55" dirty="0"/>
              <a:t> </a:t>
            </a:r>
            <a:r>
              <a:rPr spc="-10" dirty="0"/>
              <a:t>Rahman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0" dirty="0"/>
              <a:t>Recursion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6003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A</a:t>
            </a:r>
            <a:r>
              <a:rPr spc="-55" dirty="0"/>
              <a:t> </a:t>
            </a:r>
            <a:r>
              <a:rPr spc="-10" dirty="0"/>
              <a:t>Rahman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0" dirty="0"/>
              <a:t>Recursion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6003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A</a:t>
            </a:r>
            <a:r>
              <a:rPr spc="-55" dirty="0"/>
              <a:t> </a:t>
            </a:r>
            <a:r>
              <a:rPr spc="-10" dirty="0"/>
              <a:t>Rahman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0" dirty="0"/>
              <a:t>Recursion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90600" y="4181855"/>
            <a:ext cx="8077200" cy="20320"/>
          </a:xfrm>
          <a:custGeom>
            <a:avLst/>
            <a:gdLst/>
            <a:ahLst/>
            <a:cxnLst/>
            <a:rect l="l" t="t" r="r" b="b"/>
            <a:pathLst>
              <a:path w="8077200" h="20320">
                <a:moveTo>
                  <a:pt x="8077200" y="19811"/>
                </a:moveTo>
                <a:lnTo>
                  <a:pt x="0" y="19811"/>
                </a:lnTo>
                <a:lnTo>
                  <a:pt x="0" y="0"/>
                </a:lnTo>
                <a:lnTo>
                  <a:pt x="8077200" y="0"/>
                </a:lnTo>
                <a:lnTo>
                  <a:pt x="8077200" y="19811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6003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A</a:t>
            </a:r>
            <a:r>
              <a:rPr spc="-55" dirty="0"/>
              <a:t> </a:t>
            </a:r>
            <a:r>
              <a:rPr spc="-10" dirty="0"/>
              <a:t>Rahman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0" dirty="0"/>
              <a:t>Recursion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A</a:t>
            </a:r>
            <a:r>
              <a:rPr spc="-55" dirty="0"/>
              <a:t> </a:t>
            </a:r>
            <a:r>
              <a:rPr spc="-10" dirty="0"/>
              <a:t>Rahman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0" dirty="0"/>
              <a:t>Recursion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90600" y="1514855"/>
            <a:ext cx="8077200" cy="20320"/>
          </a:xfrm>
          <a:custGeom>
            <a:avLst/>
            <a:gdLst/>
            <a:ahLst/>
            <a:cxnLst/>
            <a:rect l="l" t="t" r="r" b="b"/>
            <a:pathLst>
              <a:path w="8077200" h="20319">
                <a:moveTo>
                  <a:pt x="8077200" y="19812"/>
                </a:moveTo>
                <a:lnTo>
                  <a:pt x="0" y="19812"/>
                </a:lnTo>
                <a:lnTo>
                  <a:pt x="0" y="0"/>
                </a:lnTo>
                <a:lnTo>
                  <a:pt x="8077200" y="0"/>
                </a:lnTo>
                <a:lnTo>
                  <a:pt x="8077200" y="19812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5957" y="654883"/>
            <a:ext cx="7036533" cy="6889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66003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74160" y="1809370"/>
            <a:ext cx="5824220" cy="2567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93157" y="6901784"/>
            <a:ext cx="897889" cy="224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A</a:t>
            </a:r>
            <a:r>
              <a:rPr spc="-55" dirty="0"/>
              <a:t> </a:t>
            </a:r>
            <a:r>
              <a:rPr spc="-10" dirty="0"/>
              <a:t>Rahman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80654" y="6901784"/>
            <a:ext cx="895985" cy="224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0" dirty="0"/>
              <a:t>Recursion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913174" y="6901784"/>
            <a:ext cx="188595" cy="224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1980" y="3094714"/>
            <a:ext cx="2889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Recursion</a:t>
            </a:r>
            <a:r>
              <a:rPr sz="2800" spc="-55" dirty="0"/>
              <a:t> </a:t>
            </a:r>
            <a:r>
              <a:rPr sz="2800" dirty="0"/>
              <a:t>in</a:t>
            </a:r>
            <a:r>
              <a:rPr sz="2800" spc="-80" dirty="0"/>
              <a:t> </a:t>
            </a:r>
            <a:r>
              <a:rPr sz="2800" spc="-50" dirty="0"/>
              <a:t>C</a:t>
            </a:r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94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00"/>
              </a:spcBef>
            </a:pPr>
            <a:r>
              <a:rPr dirty="0"/>
              <a:t>Consider</a:t>
            </a:r>
            <a:r>
              <a:rPr spc="-60" dirty="0"/>
              <a:t> </a:t>
            </a:r>
            <a:r>
              <a:rPr dirty="0"/>
              <a:t>a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/>
          <p:nvPr/>
        </p:nvSpPr>
        <p:spPr>
          <a:xfrm>
            <a:off x="1748027" y="1748027"/>
            <a:ext cx="4430395" cy="2417445"/>
          </a:xfrm>
          <a:custGeom>
            <a:avLst/>
            <a:gdLst/>
            <a:ahLst/>
            <a:cxnLst/>
            <a:rect l="l" t="t" r="r" b="b"/>
            <a:pathLst>
              <a:path w="4430395" h="2417445">
                <a:moveTo>
                  <a:pt x="4430268" y="2417064"/>
                </a:moveTo>
                <a:lnTo>
                  <a:pt x="0" y="2417064"/>
                </a:lnTo>
                <a:lnTo>
                  <a:pt x="0" y="0"/>
                </a:lnTo>
                <a:lnTo>
                  <a:pt x="4430268" y="0"/>
                </a:lnTo>
                <a:lnTo>
                  <a:pt x="4430268" y="4572"/>
                </a:lnTo>
                <a:lnTo>
                  <a:pt x="10668" y="4572"/>
                </a:lnTo>
                <a:lnTo>
                  <a:pt x="4572" y="10668"/>
                </a:lnTo>
                <a:lnTo>
                  <a:pt x="10668" y="10668"/>
                </a:lnTo>
                <a:lnTo>
                  <a:pt x="10668" y="2407920"/>
                </a:lnTo>
                <a:lnTo>
                  <a:pt x="4572" y="2407920"/>
                </a:lnTo>
                <a:lnTo>
                  <a:pt x="10668" y="2412492"/>
                </a:lnTo>
                <a:lnTo>
                  <a:pt x="4430268" y="2412492"/>
                </a:lnTo>
                <a:lnTo>
                  <a:pt x="4430268" y="2417064"/>
                </a:lnTo>
                <a:close/>
              </a:path>
              <a:path w="4430395" h="2417445">
                <a:moveTo>
                  <a:pt x="10668" y="10668"/>
                </a:move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close/>
              </a:path>
              <a:path w="4430395" h="2417445">
                <a:moveTo>
                  <a:pt x="4419600" y="10668"/>
                </a:moveTo>
                <a:lnTo>
                  <a:pt x="10668" y="10668"/>
                </a:lnTo>
                <a:lnTo>
                  <a:pt x="10668" y="4572"/>
                </a:lnTo>
                <a:lnTo>
                  <a:pt x="4419600" y="4572"/>
                </a:lnTo>
                <a:lnTo>
                  <a:pt x="4419600" y="10668"/>
                </a:lnTo>
                <a:close/>
              </a:path>
              <a:path w="4430395" h="2417445">
                <a:moveTo>
                  <a:pt x="4419600" y="2412492"/>
                </a:moveTo>
                <a:lnTo>
                  <a:pt x="4419600" y="4572"/>
                </a:lnTo>
                <a:lnTo>
                  <a:pt x="4424172" y="10668"/>
                </a:lnTo>
                <a:lnTo>
                  <a:pt x="4430268" y="10668"/>
                </a:lnTo>
                <a:lnTo>
                  <a:pt x="4430268" y="2407920"/>
                </a:lnTo>
                <a:lnTo>
                  <a:pt x="4424172" y="2407920"/>
                </a:lnTo>
                <a:lnTo>
                  <a:pt x="4419600" y="2412492"/>
                </a:lnTo>
                <a:close/>
              </a:path>
              <a:path w="4430395" h="2417445">
                <a:moveTo>
                  <a:pt x="4430268" y="10668"/>
                </a:moveTo>
                <a:lnTo>
                  <a:pt x="4424172" y="10668"/>
                </a:lnTo>
                <a:lnTo>
                  <a:pt x="4419600" y="4572"/>
                </a:lnTo>
                <a:lnTo>
                  <a:pt x="4430268" y="4572"/>
                </a:lnTo>
                <a:lnTo>
                  <a:pt x="4430268" y="10668"/>
                </a:lnTo>
                <a:close/>
              </a:path>
              <a:path w="4430395" h="2417445">
                <a:moveTo>
                  <a:pt x="10668" y="2412492"/>
                </a:moveTo>
                <a:lnTo>
                  <a:pt x="4572" y="2407920"/>
                </a:lnTo>
                <a:lnTo>
                  <a:pt x="10668" y="2407920"/>
                </a:lnTo>
                <a:lnTo>
                  <a:pt x="10668" y="2412492"/>
                </a:lnTo>
                <a:close/>
              </a:path>
              <a:path w="4430395" h="2417445">
                <a:moveTo>
                  <a:pt x="4419600" y="2412492"/>
                </a:moveTo>
                <a:lnTo>
                  <a:pt x="10668" y="2412492"/>
                </a:lnTo>
                <a:lnTo>
                  <a:pt x="10668" y="2407920"/>
                </a:lnTo>
                <a:lnTo>
                  <a:pt x="4419600" y="2407920"/>
                </a:lnTo>
                <a:lnTo>
                  <a:pt x="4419600" y="2412492"/>
                </a:lnTo>
                <a:close/>
              </a:path>
              <a:path w="4430395" h="2417445">
                <a:moveTo>
                  <a:pt x="4430268" y="2412492"/>
                </a:moveTo>
                <a:lnTo>
                  <a:pt x="4419600" y="2412492"/>
                </a:lnTo>
                <a:lnTo>
                  <a:pt x="4424172" y="2407920"/>
                </a:lnTo>
                <a:lnTo>
                  <a:pt x="4430268" y="2407920"/>
                </a:lnTo>
                <a:lnTo>
                  <a:pt x="4430268" y="2412492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31310" y="1713298"/>
            <a:ext cx="2223135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#include</a:t>
            </a:r>
            <a:r>
              <a:rPr sz="1600" b="1" spc="-8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&lt;stdio.h&gt;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callMe(){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31310" y="2591262"/>
            <a:ext cx="3870960" cy="148844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926465">
              <a:lnSpc>
                <a:spcPct val="100000"/>
              </a:lnSpc>
              <a:spcBef>
                <a:spcPts val="484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printf(“Hello</a:t>
            </a:r>
            <a:r>
              <a:rPr sz="1600" b="1" spc="-1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World\n”);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 dirty="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85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callMe();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396228" y="1748027"/>
            <a:ext cx="2906395" cy="940435"/>
          </a:xfrm>
          <a:custGeom>
            <a:avLst/>
            <a:gdLst/>
            <a:ahLst/>
            <a:cxnLst/>
            <a:rect l="l" t="t" r="r" b="b"/>
            <a:pathLst>
              <a:path w="2906395" h="940435">
                <a:moveTo>
                  <a:pt x="2906268" y="940308"/>
                </a:moveTo>
                <a:lnTo>
                  <a:pt x="0" y="940308"/>
                </a:lnTo>
                <a:lnTo>
                  <a:pt x="0" y="0"/>
                </a:lnTo>
                <a:lnTo>
                  <a:pt x="2906268" y="0"/>
                </a:lnTo>
                <a:lnTo>
                  <a:pt x="2906268" y="4572"/>
                </a:lnTo>
                <a:lnTo>
                  <a:pt x="10668" y="4572"/>
                </a:lnTo>
                <a:lnTo>
                  <a:pt x="4572" y="10668"/>
                </a:lnTo>
                <a:lnTo>
                  <a:pt x="10668" y="10668"/>
                </a:lnTo>
                <a:lnTo>
                  <a:pt x="10668" y="931164"/>
                </a:lnTo>
                <a:lnTo>
                  <a:pt x="4572" y="931164"/>
                </a:lnTo>
                <a:lnTo>
                  <a:pt x="10668" y="935736"/>
                </a:lnTo>
                <a:lnTo>
                  <a:pt x="2906268" y="935736"/>
                </a:lnTo>
                <a:lnTo>
                  <a:pt x="2906268" y="940308"/>
                </a:lnTo>
                <a:close/>
              </a:path>
              <a:path w="2906395" h="940435">
                <a:moveTo>
                  <a:pt x="10668" y="10668"/>
                </a:move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close/>
              </a:path>
              <a:path w="2906395" h="940435">
                <a:moveTo>
                  <a:pt x="2895600" y="10668"/>
                </a:moveTo>
                <a:lnTo>
                  <a:pt x="10668" y="10668"/>
                </a:lnTo>
                <a:lnTo>
                  <a:pt x="10668" y="4572"/>
                </a:lnTo>
                <a:lnTo>
                  <a:pt x="2895600" y="4572"/>
                </a:lnTo>
                <a:lnTo>
                  <a:pt x="2895600" y="10668"/>
                </a:lnTo>
                <a:close/>
              </a:path>
              <a:path w="2906395" h="940435">
                <a:moveTo>
                  <a:pt x="2895600" y="935736"/>
                </a:moveTo>
                <a:lnTo>
                  <a:pt x="2895600" y="4572"/>
                </a:lnTo>
                <a:lnTo>
                  <a:pt x="2900172" y="10668"/>
                </a:lnTo>
                <a:lnTo>
                  <a:pt x="2906268" y="10668"/>
                </a:lnTo>
                <a:lnTo>
                  <a:pt x="2906268" y="931164"/>
                </a:lnTo>
                <a:lnTo>
                  <a:pt x="2900172" y="931164"/>
                </a:lnTo>
                <a:lnTo>
                  <a:pt x="2895600" y="935736"/>
                </a:lnTo>
                <a:close/>
              </a:path>
              <a:path w="2906395" h="940435">
                <a:moveTo>
                  <a:pt x="2906268" y="10668"/>
                </a:moveTo>
                <a:lnTo>
                  <a:pt x="2900172" y="10668"/>
                </a:lnTo>
                <a:lnTo>
                  <a:pt x="2895600" y="4572"/>
                </a:lnTo>
                <a:lnTo>
                  <a:pt x="2906268" y="4572"/>
                </a:lnTo>
                <a:lnTo>
                  <a:pt x="2906268" y="10668"/>
                </a:lnTo>
                <a:close/>
              </a:path>
              <a:path w="2906395" h="940435">
                <a:moveTo>
                  <a:pt x="10668" y="935736"/>
                </a:moveTo>
                <a:lnTo>
                  <a:pt x="4572" y="931164"/>
                </a:lnTo>
                <a:lnTo>
                  <a:pt x="10668" y="931164"/>
                </a:lnTo>
                <a:lnTo>
                  <a:pt x="10668" y="935736"/>
                </a:lnTo>
                <a:close/>
              </a:path>
              <a:path w="2906395" h="940435">
                <a:moveTo>
                  <a:pt x="2895600" y="935736"/>
                </a:moveTo>
                <a:lnTo>
                  <a:pt x="10668" y="935736"/>
                </a:lnTo>
                <a:lnTo>
                  <a:pt x="10668" y="931164"/>
                </a:lnTo>
                <a:lnTo>
                  <a:pt x="2895600" y="931164"/>
                </a:lnTo>
                <a:lnTo>
                  <a:pt x="2895600" y="935736"/>
                </a:lnTo>
                <a:close/>
              </a:path>
              <a:path w="2906395" h="940435">
                <a:moveTo>
                  <a:pt x="2906268" y="935736"/>
                </a:moveTo>
                <a:lnTo>
                  <a:pt x="2895600" y="935736"/>
                </a:lnTo>
                <a:lnTo>
                  <a:pt x="2900172" y="931164"/>
                </a:lnTo>
                <a:lnTo>
                  <a:pt x="2906268" y="931164"/>
                </a:lnTo>
                <a:lnTo>
                  <a:pt x="2906268" y="935736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79552" y="1762724"/>
            <a:ext cx="7575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urier New"/>
                <a:cs typeface="Courier New"/>
              </a:rPr>
              <a:t>Output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8" name="object 8"/>
          <p:cNvSpPr txBox="1"/>
          <p:nvPr/>
        </p:nvSpPr>
        <p:spPr>
          <a:xfrm>
            <a:off x="7393912" y="2347934"/>
            <a:ext cx="13677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Hello</a:t>
            </a:r>
            <a:r>
              <a:rPr sz="1600" b="1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FF0000"/>
                </a:solidFill>
                <a:latin typeface="Courier New"/>
                <a:cs typeface="Courier New"/>
              </a:rPr>
              <a:t>World</a:t>
            </a:r>
            <a:endParaRPr sz="1600" dirty="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94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00"/>
              </a:spcBef>
            </a:pPr>
            <a:r>
              <a:rPr dirty="0"/>
              <a:t>Consider</a:t>
            </a:r>
            <a:r>
              <a:rPr spc="-60" dirty="0"/>
              <a:t> </a:t>
            </a:r>
            <a:r>
              <a:rPr dirty="0"/>
              <a:t>a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/>
          <p:nvPr/>
        </p:nvSpPr>
        <p:spPr>
          <a:xfrm>
            <a:off x="1748027" y="1748027"/>
            <a:ext cx="4430395" cy="2712720"/>
          </a:xfrm>
          <a:custGeom>
            <a:avLst/>
            <a:gdLst/>
            <a:ahLst/>
            <a:cxnLst/>
            <a:rect l="l" t="t" r="r" b="b"/>
            <a:pathLst>
              <a:path w="4430395" h="2712720">
                <a:moveTo>
                  <a:pt x="4430268" y="2712719"/>
                </a:moveTo>
                <a:lnTo>
                  <a:pt x="0" y="2712719"/>
                </a:lnTo>
                <a:lnTo>
                  <a:pt x="0" y="0"/>
                </a:lnTo>
                <a:lnTo>
                  <a:pt x="4430268" y="0"/>
                </a:lnTo>
                <a:lnTo>
                  <a:pt x="4430268" y="4572"/>
                </a:lnTo>
                <a:lnTo>
                  <a:pt x="10668" y="4572"/>
                </a:lnTo>
                <a:lnTo>
                  <a:pt x="4572" y="10668"/>
                </a:lnTo>
                <a:lnTo>
                  <a:pt x="10668" y="10668"/>
                </a:lnTo>
                <a:lnTo>
                  <a:pt x="10668" y="2702052"/>
                </a:lnTo>
                <a:lnTo>
                  <a:pt x="4572" y="2702052"/>
                </a:lnTo>
                <a:lnTo>
                  <a:pt x="10668" y="2706624"/>
                </a:lnTo>
                <a:lnTo>
                  <a:pt x="4430268" y="2706624"/>
                </a:lnTo>
                <a:lnTo>
                  <a:pt x="4430268" y="2712719"/>
                </a:lnTo>
                <a:close/>
              </a:path>
              <a:path w="4430395" h="2712720">
                <a:moveTo>
                  <a:pt x="10668" y="10668"/>
                </a:move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close/>
              </a:path>
              <a:path w="4430395" h="2712720">
                <a:moveTo>
                  <a:pt x="4419600" y="10668"/>
                </a:moveTo>
                <a:lnTo>
                  <a:pt x="10668" y="10668"/>
                </a:lnTo>
                <a:lnTo>
                  <a:pt x="10668" y="4572"/>
                </a:lnTo>
                <a:lnTo>
                  <a:pt x="4419600" y="4572"/>
                </a:lnTo>
                <a:lnTo>
                  <a:pt x="4419600" y="10668"/>
                </a:lnTo>
                <a:close/>
              </a:path>
              <a:path w="4430395" h="2712720">
                <a:moveTo>
                  <a:pt x="4419600" y="2706624"/>
                </a:moveTo>
                <a:lnTo>
                  <a:pt x="4419600" y="4572"/>
                </a:lnTo>
                <a:lnTo>
                  <a:pt x="4424172" y="10668"/>
                </a:lnTo>
                <a:lnTo>
                  <a:pt x="4430268" y="10668"/>
                </a:lnTo>
                <a:lnTo>
                  <a:pt x="4430268" y="2702052"/>
                </a:lnTo>
                <a:lnTo>
                  <a:pt x="4424172" y="2702052"/>
                </a:lnTo>
                <a:lnTo>
                  <a:pt x="4419600" y="2706624"/>
                </a:lnTo>
                <a:close/>
              </a:path>
              <a:path w="4430395" h="2712720">
                <a:moveTo>
                  <a:pt x="4430268" y="10668"/>
                </a:moveTo>
                <a:lnTo>
                  <a:pt x="4424172" y="10668"/>
                </a:lnTo>
                <a:lnTo>
                  <a:pt x="4419600" y="4572"/>
                </a:lnTo>
                <a:lnTo>
                  <a:pt x="4430268" y="4572"/>
                </a:lnTo>
                <a:lnTo>
                  <a:pt x="4430268" y="10668"/>
                </a:lnTo>
                <a:close/>
              </a:path>
              <a:path w="4430395" h="2712720">
                <a:moveTo>
                  <a:pt x="10668" y="2706624"/>
                </a:moveTo>
                <a:lnTo>
                  <a:pt x="4572" y="2702052"/>
                </a:lnTo>
                <a:lnTo>
                  <a:pt x="10668" y="2702052"/>
                </a:lnTo>
                <a:lnTo>
                  <a:pt x="10668" y="2706624"/>
                </a:lnTo>
                <a:close/>
              </a:path>
              <a:path w="4430395" h="2712720">
                <a:moveTo>
                  <a:pt x="4419600" y="2706624"/>
                </a:moveTo>
                <a:lnTo>
                  <a:pt x="10668" y="2706624"/>
                </a:lnTo>
                <a:lnTo>
                  <a:pt x="10668" y="2702052"/>
                </a:lnTo>
                <a:lnTo>
                  <a:pt x="4419600" y="2702052"/>
                </a:lnTo>
                <a:lnTo>
                  <a:pt x="4419600" y="2706624"/>
                </a:lnTo>
                <a:close/>
              </a:path>
              <a:path w="4430395" h="2712720">
                <a:moveTo>
                  <a:pt x="4430268" y="2706624"/>
                </a:moveTo>
                <a:lnTo>
                  <a:pt x="4419600" y="2706624"/>
                </a:lnTo>
                <a:lnTo>
                  <a:pt x="4424172" y="2702052"/>
                </a:lnTo>
                <a:lnTo>
                  <a:pt x="4430268" y="2702052"/>
                </a:lnTo>
                <a:lnTo>
                  <a:pt x="4430268" y="2706624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31310" y="1713298"/>
            <a:ext cx="2223135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#include</a:t>
            </a:r>
            <a:r>
              <a:rPr sz="1600" b="1" spc="-8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&lt;stdio.h&gt;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callMe(){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45695" y="2591262"/>
            <a:ext cx="2956560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printf(“Hello</a:t>
            </a:r>
            <a:r>
              <a:rPr sz="1600" b="1" spc="-1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World\n”); </a:t>
            </a:r>
            <a:endParaRPr lang="en-US" sz="1600" b="1" spc="-10" dirty="0">
              <a:solidFill>
                <a:srgbClr val="006600"/>
              </a:solidFill>
              <a:latin typeface="Courier New"/>
              <a:cs typeface="Courier New"/>
            </a:endParaRPr>
          </a:p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600" b="1" spc="-10" dirty="0" err="1">
                <a:solidFill>
                  <a:srgbClr val="006600"/>
                </a:solidFill>
                <a:latin typeface="Courier New"/>
                <a:cs typeface="Courier New"/>
              </a:rPr>
              <a:t>callMe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();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1310" y="3176472"/>
            <a:ext cx="2038985" cy="119634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 dirty="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85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callMe();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96228" y="1748027"/>
            <a:ext cx="2753995" cy="2121535"/>
          </a:xfrm>
          <a:custGeom>
            <a:avLst/>
            <a:gdLst/>
            <a:ahLst/>
            <a:cxnLst/>
            <a:rect l="l" t="t" r="r" b="b"/>
            <a:pathLst>
              <a:path w="2753995" h="2121535">
                <a:moveTo>
                  <a:pt x="2753868" y="2121408"/>
                </a:moveTo>
                <a:lnTo>
                  <a:pt x="0" y="2121408"/>
                </a:lnTo>
                <a:lnTo>
                  <a:pt x="0" y="0"/>
                </a:lnTo>
                <a:lnTo>
                  <a:pt x="2753868" y="0"/>
                </a:lnTo>
                <a:lnTo>
                  <a:pt x="2753868" y="4572"/>
                </a:lnTo>
                <a:lnTo>
                  <a:pt x="10668" y="4572"/>
                </a:lnTo>
                <a:lnTo>
                  <a:pt x="4572" y="10668"/>
                </a:lnTo>
                <a:lnTo>
                  <a:pt x="10668" y="10668"/>
                </a:lnTo>
                <a:lnTo>
                  <a:pt x="10668" y="2112264"/>
                </a:lnTo>
                <a:lnTo>
                  <a:pt x="4572" y="2112264"/>
                </a:lnTo>
                <a:lnTo>
                  <a:pt x="10668" y="2116836"/>
                </a:lnTo>
                <a:lnTo>
                  <a:pt x="2753868" y="2116836"/>
                </a:lnTo>
                <a:lnTo>
                  <a:pt x="2753868" y="2121408"/>
                </a:lnTo>
                <a:close/>
              </a:path>
              <a:path w="2753995" h="2121535">
                <a:moveTo>
                  <a:pt x="10668" y="10668"/>
                </a:move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close/>
              </a:path>
              <a:path w="2753995" h="2121535">
                <a:moveTo>
                  <a:pt x="2743200" y="10668"/>
                </a:moveTo>
                <a:lnTo>
                  <a:pt x="10668" y="10668"/>
                </a:lnTo>
                <a:lnTo>
                  <a:pt x="10668" y="4572"/>
                </a:lnTo>
                <a:lnTo>
                  <a:pt x="2743200" y="4572"/>
                </a:lnTo>
                <a:lnTo>
                  <a:pt x="2743200" y="10668"/>
                </a:lnTo>
                <a:close/>
              </a:path>
              <a:path w="2753995" h="2121535">
                <a:moveTo>
                  <a:pt x="2743200" y="2116836"/>
                </a:moveTo>
                <a:lnTo>
                  <a:pt x="2743200" y="4572"/>
                </a:lnTo>
                <a:lnTo>
                  <a:pt x="2747772" y="10668"/>
                </a:lnTo>
                <a:lnTo>
                  <a:pt x="2753868" y="10668"/>
                </a:lnTo>
                <a:lnTo>
                  <a:pt x="2753868" y="2112264"/>
                </a:lnTo>
                <a:lnTo>
                  <a:pt x="2747772" y="2112264"/>
                </a:lnTo>
                <a:lnTo>
                  <a:pt x="2743200" y="2116836"/>
                </a:lnTo>
                <a:close/>
              </a:path>
              <a:path w="2753995" h="2121535">
                <a:moveTo>
                  <a:pt x="2753868" y="10668"/>
                </a:moveTo>
                <a:lnTo>
                  <a:pt x="2747772" y="10668"/>
                </a:lnTo>
                <a:lnTo>
                  <a:pt x="2743200" y="4572"/>
                </a:lnTo>
                <a:lnTo>
                  <a:pt x="2753868" y="4572"/>
                </a:lnTo>
                <a:lnTo>
                  <a:pt x="2753868" y="10668"/>
                </a:lnTo>
                <a:close/>
              </a:path>
              <a:path w="2753995" h="2121535">
                <a:moveTo>
                  <a:pt x="10668" y="2116836"/>
                </a:moveTo>
                <a:lnTo>
                  <a:pt x="4572" y="2112264"/>
                </a:lnTo>
                <a:lnTo>
                  <a:pt x="10668" y="2112264"/>
                </a:lnTo>
                <a:lnTo>
                  <a:pt x="10668" y="2116836"/>
                </a:lnTo>
                <a:close/>
              </a:path>
              <a:path w="2753995" h="2121535">
                <a:moveTo>
                  <a:pt x="2743200" y="2116836"/>
                </a:moveTo>
                <a:lnTo>
                  <a:pt x="10668" y="2116836"/>
                </a:lnTo>
                <a:lnTo>
                  <a:pt x="10668" y="2112264"/>
                </a:lnTo>
                <a:lnTo>
                  <a:pt x="2743200" y="2112264"/>
                </a:lnTo>
                <a:lnTo>
                  <a:pt x="2743200" y="2116836"/>
                </a:lnTo>
                <a:close/>
              </a:path>
              <a:path w="2753995" h="2121535">
                <a:moveTo>
                  <a:pt x="2753868" y="2116836"/>
                </a:moveTo>
                <a:lnTo>
                  <a:pt x="2743200" y="2116836"/>
                </a:lnTo>
                <a:lnTo>
                  <a:pt x="2747772" y="2112264"/>
                </a:lnTo>
                <a:lnTo>
                  <a:pt x="2753868" y="2112264"/>
                </a:lnTo>
                <a:lnTo>
                  <a:pt x="2753868" y="2116836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79552" y="1762724"/>
            <a:ext cx="7575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urier New"/>
                <a:cs typeface="Courier New"/>
              </a:rPr>
              <a:t>Output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9" name="object 9"/>
          <p:cNvSpPr txBox="1"/>
          <p:nvPr/>
        </p:nvSpPr>
        <p:spPr>
          <a:xfrm>
            <a:off x="7393912" y="2298508"/>
            <a:ext cx="136779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Hello</a:t>
            </a:r>
            <a:r>
              <a:rPr sz="1600" b="1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FF0000"/>
                </a:solidFill>
                <a:latin typeface="Courier New"/>
                <a:cs typeface="Courier New"/>
              </a:rPr>
              <a:t>World </a:t>
            </a: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Hello</a:t>
            </a:r>
            <a:r>
              <a:rPr sz="1600" b="1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FF0000"/>
                </a:solidFill>
                <a:latin typeface="Courier New"/>
                <a:cs typeface="Courier New"/>
              </a:rPr>
              <a:t>World </a:t>
            </a: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Hello</a:t>
            </a:r>
            <a:r>
              <a:rPr sz="1600" b="1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FF0000"/>
                </a:solidFill>
                <a:latin typeface="Courier New"/>
                <a:cs typeface="Courier New"/>
              </a:rPr>
              <a:t>World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spc="-25" dirty="0">
                <a:solidFill>
                  <a:srgbClr val="FF0000"/>
                </a:solidFill>
                <a:latin typeface="Courier New"/>
                <a:cs typeface="Courier New"/>
              </a:rPr>
              <a:t>….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600" b="1" spc="-50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 sz="1600" dirty="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94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00"/>
              </a:spcBef>
            </a:pPr>
            <a:r>
              <a:rPr dirty="0"/>
              <a:t>Consider</a:t>
            </a:r>
            <a:r>
              <a:rPr spc="-60" dirty="0"/>
              <a:t> </a:t>
            </a:r>
            <a:r>
              <a:rPr dirty="0"/>
              <a:t>a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/>
          <p:nvPr/>
        </p:nvSpPr>
        <p:spPr>
          <a:xfrm>
            <a:off x="1748027" y="1748027"/>
            <a:ext cx="4430395" cy="2712720"/>
          </a:xfrm>
          <a:custGeom>
            <a:avLst/>
            <a:gdLst/>
            <a:ahLst/>
            <a:cxnLst/>
            <a:rect l="l" t="t" r="r" b="b"/>
            <a:pathLst>
              <a:path w="4430395" h="2712720">
                <a:moveTo>
                  <a:pt x="4430268" y="2712719"/>
                </a:moveTo>
                <a:lnTo>
                  <a:pt x="0" y="2712719"/>
                </a:lnTo>
                <a:lnTo>
                  <a:pt x="0" y="0"/>
                </a:lnTo>
                <a:lnTo>
                  <a:pt x="4430268" y="0"/>
                </a:lnTo>
                <a:lnTo>
                  <a:pt x="4430268" y="4572"/>
                </a:lnTo>
                <a:lnTo>
                  <a:pt x="10668" y="4572"/>
                </a:lnTo>
                <a:lnTo>
                  <a:pt x="4572" y="10668"/>
                </a:lnTo>
                <a:lnTo>
                  <a:pt x="10668" y="10668"/>
                </a:lnTo>
                <a:lnTo>
                  <a:pt x="10668" y="2702052"/>
                </a:lnTo>
                <a:lnTo>
                  <a:pt x="4572" y="2702052"/>
                </a:lnTo>
                <a:lnTo>
                  <a:pt x="10668" y="2706624"/>
                </a:lnTo>
                <a:lnTo>
                  <a:pt x="4430268" y="2706624"/>
                </a:lnTo>
                <a:lnTo>
                  <a:pt x="4430268" y="2712719"/>
                </a:lnTo>
                <a:close/>
              </a:path>
              <a:path w="4430395" h="2712720">
                <a:moveTo>
                  <a:pt x="10668" y="10668"/>
                </a:move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close/>
              </a:path>
              <a:path w="4430395" h="2712720">
                <a:moveTo>
                  <a:pt x="4419600" y="10668"/>
                </a:moveTo>
                <a:lnTo>
                  <a:pt x="10668" y="10668"/>
                </a:lnTo>
                <a:lnTo>
                  <a:pt x="10668" y="4572"/>
                </a:lnTo>
                <a:lnTo>
                  <a:pt x="4419600" y="4572"/>
                </a:lnTo>
                <a:lnTo>
                  <a:pt x="4419600" y="10668"/>
                </a:lnTo>
                <a:close/>
              </a:path>
              <a:path w="4430395" h="2712720">
                <a:moveTo>
                  <a:pt x="4419600" y="2706624"/>
                </a:moveTo>
                <a:lnTo>
                  <a:pt x="4419600" y="4572"/>
                </a:lnTo>
                <a:lnTo>
                  <a:pt x="4424172" y="10668"/>
                </a:lnTo>
                <a:lnTo>
                  <a:pt x="4430268" y="10668"/>
                </a:lnTo>
                <a:lnTo>
                  <a:pt x="4430268" y="2702052"/>
                </a:lnTo>
                <a:lnTo>
                  <a:pt x="4424172" y="2702052"/>
                </a:lnTo>
                <a:lnTo>
                  <a:pt x="4419600" y="2706624"/>
                </a:lnTo>
                <a:close/>
              </a:path>
              <a:path w="4430395" h="2712720">
                <a:moveTo>
                  <a:pt x="4430268" y="10668"/>
                </a:moveTo>
                <a:lnTo>
                  <a:pt x="4424172" y="10668"/>
                </a:lnTo>
                <a:lnTo>
                  <a:pt x="4419600" y="4572"/>
                </a:lnTo>
                <a:lnTo>
                  <a:pt x="4430268" y="4572"/>
                </a:lnTo>
                <a:lnTo>
                  <a:pt x="4430268" y="10668"/>
                </a:lnTo>
                <a:close/>
              </a:path>
              <a:path w="4430395" h="2712720">
                <a:moveTo>
                  <a:pt x="10668" y="2706624"/>
                </a:moveTo>
                <a:lnTo>
                  <a:pt x="4572" y="2702052"/>
                </a:lnTo>
                <a:lnTo>
                  <a:pt x="10668" y="2702052"/>
                </a:lnTo>
                <a:lnTo>
                  <a:pt x="10668" y="2706624"/>
                </a:lnTo>
                <a:close/>
              </a:path>
              <a:path w="4430395" h="2712720">
                <a:moveTo>
                  <a:pt x="4419600" y="2706624"/>
                </a:moveTo>
                <a:lnTo>
                  <a:pt x="10668" y="2706624"/>
                </a:lnTo>
                <a:lnTo>
                  <a:pt x="10668" y="2702052"/>
                </a:lnTo>
                <a:lnTo>
                  <a:pt x="4419600" y="2702052"/>
                </a:lnTo>
                <a:lnTo>
                  <a:pt x="4419600" y="2706624"/>
                </a:lnTo>
                <a:close/>
              </a:path>
              <a:path w="4430395" h="2712720">
                <a:moveTo>
                  <a:pt x="4430268" y="2706624"/>
                </a:moveTo>
                <a:lnTo>
                  <a:pt x="4419600" y="2706624"/>
                </a:lnTo>
                <a:lnTo>
                  <a:pt x="4424172" y="2702052"/>
                </a:lnTo>
                <a:lnTo>
                  <a:pt x="4430268" y="2702052"/>
                </a:lnTo>
                <a:lnTo>
                  <a:pt x="4430268" y="2706624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31310" y="1713298"/>
            <a:ext cx="2223135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#include</a:t>
            </a:r>
            <a:r>
              <a:rPr sz="1600" b="1" spc="-8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&lt;stdio.h&gt;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callMe(){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45695" y="2591262"/>
            <a:ext cx="2956560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printf(“Hello</a:t>
            </a:r>
            <a:r>
              <a:rPr sz="1600" b="1" spc="-1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World\n”); callMe();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1310" y="3176472"/>
            <a:ext cx="2038985" cy="119634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85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callMe();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96228" y="1748027"/>
            <a:ext cx="2677795" cy="2121535"/>
          </a:xfrm>
          <a:custGeom>
            <a:avLst/>
            <a:gdLst/>
            <a:ahLst/>
            <a:cxnLst/>
            <a:rect l="l" t="t" r="r" b="b"/>
            <a:pathLst>
              <a:path w="2677795" h="2121535">
                <a:moveTo>
                  <a:pt x="2677668" y="2121408"/>
                </a:moveTo>
                <a:lnTo>
                  <a:pt x="0" y="2121408"/>
                </a:lnTo>
                <a:lnTo>
                  <a:pt x="0" y="0"/>
                </a:lnTo>
                <a:lnTo>
                  <a:pt x="2677668" y="0"/>
                </a:lnTo>
                <a:lnTo>
                  <a:pt x="2677668" y="4572"/>
                </a:lnTo>
                <a:lnTo>
                  <a:pt x="10668" y="4572"/>
                </a:lnTo>
                <a:lnTo>
                  <a:pt x="4572" y="10668"/>
                </a:lnTo>
                <a:lnTo>
                  <a:pt x="10668" y="10668"/>
                </a:lnTo>
                <a:lnTo>
                  <a:pt x="10668" y="2112264"/>
                </a:lnTo>
                <a:lnTo>
                  <a:pt x="4572" y="2112264"/>
                </a:lnTo>
                <a:lnTo>
                  <a:pt x="10668" y="2116836"/>
                </a:lnTo>
                <a:lnTo>
                  <a:pt x="2677668" y="2116836"/>
                </a:lnTo>
                <a:lnTo>
                  <a:pt x="2677668" y="2121408"/>
                </a:lnTo>
                <a:close/>
              </a:path>
              <a:path w="2677795" h="2121535">
                <a:moveTo>
                  <a:pt x="10668" y="10668"/>
                </a:move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close/>
              </a:path>
              <a:path w="2677795" h="2121535">
                <a:moveTo>
                  <a:pt x="2667000" y="10668"/>
                </a:moveTo>
                <a:lnTo>
                  <a:pt x="10668" y="10668"/>
                </a:lnTo>
                <a:lnTo>
                  <a:pt x="10668" y="4572"/>
                </a:lnTo>
                <a:lnTo>
                  <a:pt x="2667000" y="4572"/>
                </a:lnTo>
                <a:lnTo>
                  <a:pt x="2667000" y="10668"/>
                </a:lnTo>
                <a:close/>
              </a:path>
              <a:path w="2677795" h="2121535">
                <a:moveTo>
                  <a:pt x="2667000" y="2116836"/>
                </a:moveTo>
                <a:lnTo>
                  <a:pt x="2667000" y="4572"/>
                </a:lnTo>
                <a:lnTo>
                  <a:pt x="2671572" y="10668"/>
                </a:lnTo>
                <a:lnTo>
                  <a:pt x="2677668" y="10668"/>
                </a:lnTo>
                <a:lnTo>
                  <a:pt x="2677668" y="2112264"/>
                </a:lnTo>
                <a:lnTo>
                  <a:pt x="2671572" y="2112264"/>
                </a:lnTo>
                <a:lnTo>
                  <a:pt x="2667000" y="2116836"/>
                </a:lnTo>
                <a:close/>
              </a:path>
              <a:path w="2677795" h="2121535">
                <a:moveTo>
                  <a:pt x="2677668" y="10668"/>
                </a:moveTo>
                <a:lnTo>
                  <a:pt x="2671572" y="10668"/>
                </a:lnTo>
                <a:lnTo>
                  <a:pt x="2667000" y="4572"/>
                </a:lnTo>
                <a:lnTo>
                  <a:pt x="2677668" y="4572"/>
                </a:lnTo>
                <a:lnTo>
                  <a:pt x="2677668" y="10668"/>
                </a:lnTo>
                <a:close/>
              </a:path>
              <a:path w="2677795" h="2121535">
                <a:moveTo>
                  <a:pt x="10668" y="2116836"/>
                </a:moveTo>
                <a:lnTo>
                  <a:pt x="4572" y="2112264"/>
                </a:lnTo>
                <a:lnTo>
                  <a:pt x="10668" y="2112264"/>
                </a:lnTo>
                <a:lnTo>
                  <a:pt x="10668" y="2116836"/>
                </a:lnTo>
                <a:close/>
              </a:path>
              <a:path w="2677795" h="2121535">
                <a:moveTo>
                  <a:pt x="2667000" y="2116836"/>
                </a:moveTo>
                <a:lnTo>
                  <a:pt x="10668" y="2116836"/>
                </a:lnTo>
                <a:lnTo>
                  <a:pt x="10668" y="2112264"/>
                </a:lnTo>
                <a:lnTo>
                  <a:pt x="2667000" y="2112264"/>
                </a:lnTo>
                <a:lnTo>
                  <a:pt x="2667000" y="2116836"/>
                </a:lnTo>
                <a:close/>
              </a:path>
              <a:path w="2677795" h="2121535">
                <a:moveTo>
                  <a:pt x="2677668" y="2116836"/>
                </a:moveTo>
                <a:lnTo>
                  <a:pt x="2667000" y="2116836"/>
                </a:lnTo>
                <a:lnTo>
                  <a:pt x="2671572" y="2112264"/>
                </a:lnTo>
                <a:lnTo>
                  <a:pt x="2677668" y="2112264"/>
                </a:lnTo>
                <a:lnTo>
                  <a:pt x="2677668" y="2116836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79552" y="1762724"/>
            <a:ext cx="7575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urier New"/>
                <a:cs typeface="Courier New"/>
              </a:rPr>
              <a:t>Output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93912" y="2298508"/>
            <a:ext cx="136779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Hello</a:t>
            </a:r>
            <a:r>
              <a:rPr sz="1600" b="1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FF0000"/>
                </a:solidFill>
                <a:latin typeface="Courier New"/>
                <a:cs typeface="Courier New"/>
              </a:rPr>
              <a:t>World </a:t>
            </a: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Hello</a:t>
            </a:r>
            <a:r>
              <a:rPr sz="1600" b="1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FF0000"/>
                </a:solidFill>
                <a:latin typeface="Courier New"/>
                <a:cs typeface="Courier New"/>
              </a:rPr>
              <a:t>World </a:t>
            </a: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Hello</a:t>
            </a:r>
            <a:r>
              <a:rPr sz="1600" b="1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FF0000"/>
                </a:solidFill>
                <a:latin typeface="Courier New"/>
                <a:cs typeface="Courier New"/>
              </a:rPr>
              <a:t>World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spc="-25" dirty="0">
                <a:solidFill>
                  <a:srgbClr val="FF0000"/>
                </a:solidFill>
                <a:latin typeface="Courier New"/>
                <a:cs typeface="Courier New"/>
              </a:rPr>
              <a:t>….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600" b="1" spc="-50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 sz="1600">
              <a:latin typeface="Courier New"/>
              <a:cs typeface="Courier New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" y="5081015"/>
            <a:ext cx="7555991" cy="80010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492953" y="5335053"/>
            <a:ext cx="593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000C3"/>
                </a:solidFill>
                <a:latin typeface="Verdana"/>
                <a:cs typeface="Verdana"/>
              </a:rPr>
              <a:t>main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12" name="object 12"/>
          <p:cNvSpPr txBox="1"/>
          <p:nvPr/>
        </p:nvSpPr>
        <p:spPr>
          <a:xfrm>
            <a:off x="3935997" y="5322774"/>
            <a:ext cx="737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00C3"/>
                </a:solidFill>
                <a:latin typeface="Verdana"/>
                <a:cs typeface="Verdana"/>
              </a:rPr>
              <a:t>callMe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83945" y="4736095"/>
            <a:ext cx="152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Hello</a:t>
            </a:r>
            <a:r>
              <a:rPr sz="1800" b="1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ourier New"/>
                <a:cs typeface="Courier New"/>
              </a:rPr>
              <a:t>World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50591" y="5322774"/>
            <a:ext cx="737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00C3"/>
                </a:solidFill>
                <a:latin typeface="Verdana"/>
                <a:cs typeface="Verdana"/>
              </a:rPr>
              <a:t>callMe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98539" y="4736095"/>
            <a:ext cx="152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Hello</a:t>
            </a:r>
            <a:r>
              <a:rPr sz="1800" b="1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ourier New"/>
                <a:cs typeface="Courier New"/>
              </a:rPr>
              <a:t>World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5467" y="1851193"/>
            <a:ext cx="8236584" cy="318262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94640" marR="5080" indent="-282575">
              <a:lnSpc>
                <a:spcPts val="2690"/>
              </a:lnSpc>
              <a:spcBef>
                <a:spcPts val="745"/>
              </a:spcBef>
              <a:buFont typeface="Times New Roman"/>
              <a:buChar char="●"/>
              <a:tabLst>
                <a:tab pos="295910" algn="l"/>
                <a:tab pos="1882775" algn="l"/>
                <a:tab pos="2561590" algn="l"/>
                <a:tab pos="4652645" algn="l"/>
                <a:tab pos="5998845" algn="l"/>
                <a:tab pos="7567930" algn="l"/>
              </a:tabLst>
            </a:pPr>
            <a:r>
              <a:rPr sz="2800" b="1" spc="-20" dirty="0">
                <a:solidFill>
                  <a:srgbClr val="006600"/>
                </a:solidFill>
                <a:latin typeface="Verdana"/>
                <a:cs typeface="Verdana"/>
              </a:rPr>
              <a:t>When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50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10" dirty="0">
                <a:solidFill>
                  <a:srgbClr val="006600"/>
                </a:solidFill>
                <a:latin typeface="Verdana"/>
                <a:cs typeface="Verdana"/>
              </a:rPr>
              <a:t>function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10" dirty="0">
                <a:solidFill>
                  <a:srgbClr val="006600"/>
                </a:solidFill>
                <a:latin typeface="Verdana"/>
                <a:cs typeface="Verdana"/>
              </a:rPr>
              <a:t>calls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10" dirty="0">
                <a:solidFill>
                  <a:srgbClr val="006600"/>
                </a:solidFill>
                <a:latin typeface="Verdana"/>
                <a:cs typeface="Verdana"/>
              </a:rPr>
              <a:t>itself,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25" dirty="0">
                <a:solidFill>
                  <a:srgbClr val="006600"/>
                </a:solidFill>
                <a:latin typeface="Verdana"/>
                <a:cs typeface="Verdana"/>
              </a:rPr>
              <a:t>the 	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phenomenon</a:t>
            </a:r>
            <a:r>
              <a:rPr sz="2800" b="1" spc="-5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is</a:t>
            </a:r>
            <a:r>
              <a:rPr sz="2800" b="1" spc="-10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called</a:t>
            </a:r>
            <a:r>
              <a:rPr sz="2800" b="1" spc="-9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00"/>
                </a:solidFill>
                <a:latin typeface="Verdana"/>
                <a:cs typeface="Verdana"/>
              </a:rPr>
              <a:t>RECURSION.</a:t>
            </a:r>
            <a:endParaRPr sz="2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buClr>
                <a:srgbClr val="006600"/>
              </a:buClr>
              <a:buFont typeface="Times New Roman"/>
              <a:buChar char="●"/>
            </a:pPr>
            <a:endParaRPr sz="2800" dirty="0">
              <a:latin typeface="Verdana"/>
              <a:cs typeface="Verdana"/>
            </a:endParaRPr>
          </a:p>
          <a:p>
            <a:pPr marL="294640" marR="6350" indent="-282575">
              <a:lnSpc>
                <a:spcPts val="2690"/>
              </a:lnSpc>
              <a:buFont typeface="Times New Roman"/>
              <a:buChar char="●"/>
              <a:tabLst>
                <a:tab pos="295910" algn="l"/>
                <a:tab pos="2781300" algn="l"/>
                <a:tab pos="4876800" algn="l"/>
                <a:tab pos="5760720" algn="l"/>
                <a:tab pos="7042784" algn="l"/>
              </a:tabLst>
            </a:pPr>
            <a:r>
              <a:rPr sz="2800" b="1" spc="-20" dirty="0">
                <a:solidFill>
                  <a:srgbClr val="006600"/>
                </a:solidFill>
                <a:latin typeface="Verdana"/>
                <a:cs typeface="Verdana"/>
              </a:rPr>
              <a:t>Self-</a:t>
            </a:r>
            <a:r>
              <a:rPr sz="2800" b="1" spc="-10" dirty="0">
                <a:solidFill>
                  <a:srgbClr val="006600"/>
                </a:solidFill>
                <a:latin typeface="Verdana"/>
                <a:cs typeface="Verdana"/>
              </a:rPr>
              <a:t>calling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10" dirty="0">
                <a:solidFill>
                  <a:srgbClr val="006600"/>
                </a:solidFill>
                <a:latin typeface="Verdana"/>
                <a:cs typeface="Verdana"/>
              </a:rPr>
              <a:t>functions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25" dirty="0">
                <a:solidFill>
                  <a:srgbClr val="006600"/>
                </a:solidFill>
                <a:latin typeface="Verdana"/>
                <a:cs typeface="Verdana"/>
              </a:rPr>
              <a:t>are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10" dirty="0">
                <a:solidFill>
                  <a:srgbClr val="006600"/>
                </a:solidFill>
                <a:latin typeface="Verdana"/>
                <a:cs typeface="Verdana"/>
              </a:rPr>
              <a:t>often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10" dirty="0">
                <a:solidFill>
                  <a:srgbClr val="006600"/>
                </a:solidFill>
                <a:latin typeface="Verdana"/>
                <a:cs typeface="Verdana"/>
              </a:rPr>
              <a:t>called 	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recursive</a:t>
            </a:r>
            <a:r>
              <a:rPr sz="2800" b="1" spc="-9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00"/>
                </a:solidFill>
                <a:latin typeface="Verdana"/>
                <a:cs typeface="Verdana"/>
              </a:rPr>
              <a:t>function.</a:t>
            </a:r>
            <a:endParaRPr sz="2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25"/>
              </a:spcBef>
              <a:buClr>
                <a:srgbClr val="006600"/>
              </a:buClr>
              <a:buFont typeface="Times New Roman"/>
              <a:buChar char="●"/>
            </a:pPr>
            <a:endParaRPr sz="2800" dirty="0">
              <a:latin typeface="Verdana"/>
              <a:cs typeface="Verdana"/>
            </a:endParaRPr>
          </a:p>
          <a:p>
            <a:pPr marL="294640" marR="6350" indent="-282575">
              <a:lnSpc>
                <a:spcPts val="2690"/>
              </a:lnSpc>
              <a:buFont typeface="Times New Roman"/>
              <a:buChar char="●"/>
              <a:tabLst>
                <a:tab pos="295910" algn="l"/>
              </a:tabLst>
            </a:pP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For</a:t>
            </a:r>
            <a:r>
              <a:rPr sz="28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successful</a:t>
            </a:r>
            <a:r>
              <a:rPr sz="28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recursion</a:t>
            </a:r>
            <a:r>
              <a:rPr sz="2800" b="1" spc="-4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the</a:t>
            </a:r>
            <a:r>
              <a:rPr sz="2800" b="1" spc="-4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self</a:t>
            </a:r>
            <a:r>
              <a:rPr sz="2800" b="1" spc="-6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00"/>
                </a:solidFill>
                <a:latin typeface="Verdana"/>
                <a:cs typeface="Verdana"/>
              </a:rPr>
              <a:t>calling 	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must</a:t>
            </a:r>
            <a:r>
              <a:rPr sz="28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be</a:t>
            </a:r>
            <a:r>
              <a:rPr sz="28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00"/>
                </a:solidFill>
                <a:latin typeface="Verdana"/>
                <a:cs typeface="Verdana"/>
              </a:rPr>
              <a:t>stopped.</a:t>
            </a:r>
            <a:endParaRPr sz="28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750033"/>
                </a:solidFill>
              </a:rPr>
              <a:t>What</a:t>
            </a:r>
            <a:r>
              <a:rPr spc="-45" dirty="0">
                <a:solidFill>
                  <a:srgbClr val="750033"/>
                </a:solidFill>
              </a:rPr>
              <a:t> </a:t>
            </a:r>
            <a:r>
              <a:rPr dirty="0">
                <a:solidFill>
                  <a:srgbClr val="750033"/>
                </a:solidFill>
              </a:rPr>
              <a:t>is</a:t>
            </a:r>
            <a:r>
              <a:rPr spc="-5" dirty="0">
                <a:solidFill>
                  <a:srgbClr val="750033"/>
                </a:solidFill>
              </a:rPr>
              <a:t> </a:t>
            </a:r>
            <a:r>
              <a:rPr spc="-10" dirty="0">
                <a:solidFill>
                  <a:srgbClr val="750033"/>
                </a:solidFill>
              </a:rPr>
              <a:t>Recursion?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94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4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20" dirty="0"/>
              <a:t>stop?</a:t>
            </a:r>
          </a:p>
        </p:txBody>
      </p:sp>
      <p:sp>
        <p:nvSpPr>
          <p:cNvPr id="3" name="object 3"/>
          <p:cNvSpPr/>
          <p:nvPr/>
        </p:nvSpPr>
        <p:spPr>
          <a:xfrm>
            <a:off x="1748027" y="1748027"/>
            <a:ext cx="4430395" cy="2712720"/>
          </a:xfrm>
          <a:custGeom>
            <a:avLst/>
            <a:gdLst/>
            <a:ahLst/>
            <a:cxnLst/>
            <a:rect l="l" t="t" r="r" b="b"/>
            <a:pathLst>
              <a:path w="4430395" h="2712720">
                <a:moveTo>
                  <a:pt x="4430268" y="2712719"/>
                </a:moveTo>
                <a:lnTo>
                  <a:pt x="0" y="2712719"/>
                </a:lnTo>
                <a:lnTo>
                  <a:pt x="0" y="0"/>
                </a:lnTo>
                <a:lnTo>
                  <a:pt x="4430268" y="0"/>
                </a:lnTo>
                <a:lnTo>
                  <a:pt x="4430268" y="4572"/>
                </a:lnTo>
                <a:lnTo>
                  <a:pt x="10668" y="4572"/>
                </a:lnTo>
                <a:lnTo>
                  <a:pt x="4572" y="10668"/>
                </a:lnTo>
                <a:lnTo>
                  <a:pt x="10668" y="10668"/>
                </a:lnTo>
                <a:lnTo>
                  <a:pt x="10668" y="2702052"/>
                </a:lnTo>
                <a:lnTo>
                  <a:pt x="4572" y="2702052"/>
                </a:lnTo>
                <a:lnTo>
                  <a:pt x="10668" y="2706624"/>
                </a:lnTo>
                <a:lnTo>
                  <a:pt x="4430268" y="2706624"/>
                </a:lnTo>
                <a:lnTo>
                  <a:pt x="4430268" y="2712719"/>
                </a:lnTo>
                <a:close/>
              </a:path>
              <a:path w="4430395" h="2712720">
                <a:moveTo>
                  <a:pt x="10668" y="10668"/>
                </a:move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close/>
              </a:path>
              <a:path w="4430395" h="2712720">
                <a:moveTo>
                  <a:pt x="4419600" y="10668"/>
                </a:moveTo>
                <a:lnTo>
                  <a:pt x="10668" y="10668"/>
                </a:lnTo>
                <a:lnTo>
                  <a:pt x="10668" y="4572"/>
                </a:lnTo>
                <a:lnTo>
                  <a:pt x="4419600" y="4572"/>
                </a:lnTo>
                <a:lnTo>
                  <a:pt x="4419600" y="10668"/>
                </a:lnTo>
                <a:close/>
              </a:path>
              <a:path w="4430395" h="2712720">
                <a:moveTo>
                  <a:pt x="4419600" y="2706624"/>
                </a:moveTo>
                <a:lnTo>
                  <a:pt x="4419600" y="4572"/>
                </a:lnTo>
                <a:lnTo>
                  <a:pt x="4424172" y="10668"/>
                </a:lnTo>
                <a:lnTo>
                  <a:pt x="4430268" y="10668"/>
                </a:lnTo>
                <a:lnTo>
                  <a:pt x="4430268" y="2702052"/>
                </a:lnTo>
                <a:lnTo>
                  <a:pt x="4424172" y="2702052"/>
                </a:lnTo>
                <a:lnTo>
                  <a:pt x="4419600" y="2706624"/>
                </a:lnTo>
                <a:close/>
              </a:path>
              <a:path w="4430395" h="2712720">
                <a:moveTo>
                  <a:pt x="4430268" y="10668"/>
                </a:moveTo>
                <a:lnTo>
                  <a:pt x="4424172" y="10668"/>
                </a:lnTo>
                <a:lnTo>
                  <a:pt x="4419600" y="4572"/>
                </a:lnTo>
                <a:lnTo>
                  <a:pt x="4430268" y="4572"/>
                </a:lnTo>
                <a:lnTo>
                  <a:pt x="4430268" y="10668"/>
                </a:lnTo>
                <a:close/>
              </a:path>
              <a:path w="4430395" h="2712720">
                <a:moveTo>
                  <a:pt x="10668" y="2706624"/>
                </a:moveTo>
                <a:lnTo>
                  <a:pt x="4572" y="2702052"/>
                </a:lnTo>
                <a:lnTo>
                  <a:pt x="10668" y="2702052"/>
                </a:lnTo>
                <a:lnTo>
                  <a:pt x="10668" y="2706624"/>
                </a:lnTo>
                <a:close/>
              </a:path>
              <a:path w="4430395" h="2712720">
                <a:moveTo>
                  <a:pt x="4419600" y="2706624"/>
                </a:moveTo>
                <a:lnTo>
                  <a:pt x="10668" y="2706624"/>
                </a:lnTo>
                <a:lnTo>
                  <a:pt x="10668" y="2702052"/>
                </a:lnTo>
                <a:lnTo>
                  <a:pt x="4419600" y="2702052"/>
                </a:lnTo>
                <a:lnTo>
                  <a:pt x="4419600" y="2706624"/>
                </a:lnTo>
                <a:close/>
              </a:path>
              <a:path w="4430395" h="2712720">
                <a:moveTo>
                  <a:pt x="4430268" y="2706624"/>
                </a:moveTo>
                <a:lnTo>
                  <a:pt x="4419600" y="2706624"/>
                </a:lnTo>
                <a:lnTo>
                  <a:pt x="4424172" y="2702052"/>
                </a:lnTo>
                <a:lnTo>
                  <a:pt x="4430268" y="2702052"/>
                </a:lnTo>
                <a:lnTo>
                  <a:pt x="4430268" y="2706624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31310" y="1713298"/>
            <a:ext cx="3870960" cy="26802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30985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#include</a:t>
            </a:r>
            <a:r>
              <a:rPr sz="1600" b="1" spc="-8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&lt;stdio.h&gt;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600" b="1" spc="-6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callMe(int</a:t>
            </a:r>
            <a:r>
              <a:rPr sz="1600" b="1" spc="-7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n){</a:t>
            </a:r>
            <a:endParaRPr sz="1600" dirty="0">
              <a:latin typeface="Courier New"/>
              <a:cs typeface="Courier New"/>
            </a:endParaRPr>
          </a:p>
          <a:p>
            <a:pPr marL="926465" marR="5080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if(n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==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0)</a:t>
            </a:r>
            <a:r>
              <a:rPr sz="16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return; </a:t>
            </a:r>
            <a:endParaRPr lang="en-US" sz="1600" b="1" spc="-10" dirty="0">
              <a:solidFill>
                <a:srgbClr val="006600"/>
              </a:solidFill>
              <a:latin typeface="Courier New"/>
              <a:cs typeface="Courier New"/>
            </a:endParaRPr>
          </a:p>
          <a:p>
            <a:pPr marL="926465" marR="5080">
              <a:lnSpc>
                <a:spcPct val="120000"/>
              </a:lnSpc>
            </a:pPr>
            <a:r>
              <a:rPr sz="1600" b="1" dirty="0" err="1">
                <a:solidFill>
                  <a:srgbClr val="006600"/>
                </a:solidFill>
                <a:latin typeface="Courier New"/>
                <a:cs typeface="Courier New"/>
              </a:rPr>
              <a:t>printf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(“Hello</a:t>
            </a:r>
            <a:r>
              <a:rPr sz="1600" b="1" spc="-1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World\n”); </a:t>
            </a:r>
            <a:endParaRPr lang="en-US" sz="1600" b="1" spc="-10" dirty="0">
              <a:solidFill>
                <a:srgbClr val="006600"/>
              </a:solidFill>
              <a:latin typeface="Courier New"/>
              <a:cs typeface="Courier New"/>
            </a:endParaRPr>
          </a:p>
          <a:p>
            <a:pPr marL="926465" marR="5080">
              <a:lnSpc>
                <a:spcPct val="120000"/>
              </a:lnSpc>
            </a:pPr>
            <a:r>
              <a:rPr sz="1600" b="1" spc="-20" dirty="0" err="1">
                <a:solidFill>
                  <a:srgbClr val="006600"/>
                </a:solidFill>
                <a:latin typeface="Courier New"/>
                <a:cs typeface="Courier New"/>
              </a:rPr>
              <a:t>callMe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(n-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1);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 dirty="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85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callMe(2);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96228" y="1748027"/>
            <a:ext cx="2753995" cy="1236345"/>
          </a:xfrm>
          <a:custGeom>
            <a:avLst/>
            <a:gdLst/>
            <a:ahLst/>
            <a:cxnLst/>
            <a:rect l="l" t="t" r="r" b="b"/>
            <a:pathLst>
              <a:path w="2753995" h="1236345">
                <a:moveTo>
                  <a:pt x="2753868" y="1235963"/>
                </a:moveTo>
                <a:lnTo>
                  <a:pt x="0" y="1235963"/>
                </a:lnTo>
                <a:lnTo>
                  <a:pt x="0" y="0"/>
                </a:lnTo>
                <a:lnTo>
                  <a:pt x="2753868" y="0"/>
                </a:lnTo>
                <a:lnTo>
                  <a:pt x="2753868" y="4572"/>
                </a:lnTo>
                <a:lnTo>
                  <a:pt x="10668" y="4572"/>
                </a:lnTo>
                <a:lnTo>
                  <a:pt x="4572" y="10668"/>
                </a:lnTo>
                <a:lnTo>
                  <a:pt x="10668" y="10668"/>
                </a:lnTo>
                <a:lnTo>
                  <a:pt x="10668" y="1226820"/>
                </a:lnTo>
                <a:lnTo>
                  <a:pt x="4572" y="1226820"/>
                </a:lnTo>
                <a:lnTo>
                  <a:pt x="10668" y="1231392"/>
                </a:lnTo>
                <a:lnTo>
                  <a:pt x="2753868" y="1231392"/>
                </a:lnTo>
                <a:lnTo>
                  <a:pt x="2753868" y="1235963"/>
                </a:lnTo>
                <a:close/>
              </a:path>
              <a:path w="2753995" h="1236345">
                <a:moveTo>
                  <a:pt x="10668" y="10668"/>
                </a:move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close/>
              </a:path>
              <a:path w="2753995" h="1236345">
                <a:moveTo>
                  <a:pt x="2743200" y="10668"/>
                </a:moveTo>
                <a:lnTo>
                  <a:pt x="10668" y="10668"/>
                </a:lnTo>
                <a:lnTo>
                  <a:pt x="10668" y="4572"/>
                </a:lnTo>
                <a:lnTo>
                  <a:pt x="2743200" y="4572"/>
                </a:lnTo>
                <a:lnTo>
                  <a:pt x="2743200" y="10668"/>
                </a:lnTo>
                <a:close/>
              </a:path>
              <a:path w="2753995" h="1236345">
                <a:moveTo>
                  <a:pt x="2743200" y="1231392"/>
                </a:moveTo>
                <a:lnTo>
                  <a:pt x="2743200" y="4572"/>
                </a:lnTo>
                <a:lnTo>
                  <a:pt x="2747772" y="10668"/>
                </a:lnTo>
                <a:lnTo>
                  <a:pt x="2753868" y="10668"/>
                </a:lnTo>
                <a:lnTo>
                  <a:pt x="2753868" y="1226820"/>
                </a:lnTo>
                <a:lnTo>
                  <a:pt x="2747772" y="1226820"/>
                </a:lnTo>
                <a:lnTo>
                  <a:pt x="2743200" y="1231392"/>
                </a:lnTo>
                <a:close/>
              </a:path>
              <a:path w="2753995" h="1236345">
                <a:moveTo>
                  <a:pt x="2753868" y="10668"/>
                </a:moveTo>
                <a:lnTo>
                  <a:pt x="2747772" y="10668"/>
                </a:lnTo>
                <a:lnTo>
                  <a:pt x="2743200" y="4572"/>
                </a:lnTo>
                <a:lnTo>
                  <a:pt x="2753868" y="4572"/>
                </a:lnTo>
                <a:lnTo>
                  <a:pt x="2753868" y="10668"/>
                </a:lnTo>
                <a:close/>
              </a:path>
              <a:path w="2753995" h="1236345">
                <a:moveTo>
                  <a:pt x="10668" y="1231392"/>
                </a:moveTo>
                <a:lnTo>
                  <a:pt x="4572" y="1226820"/>
                </a:lnTo>
                <a:lnTo>
                  <a:pt x="10668" y="1226820"/>
                </a:lnTo>
                <a:lnTo>
                  <a:pt x="10668" y="1231392"/>
                </a:lnTo>
                <a:close/>
              </a:path>
              <a:path w="2753995" h="1236345">
                <a:moveTo>
                  <a:pt x="2743200" y="1231392"/>
                </a:moveTo>
                <a:lnTo>
                  <a:pt x="10668" y="1231392"/>
                </a:lnTo>
                <a:lnTo>
                  <a:pt x="10668" y="1226820"/>
                </a:lnTo>
                <a:lnTo>
                  <a:pt x="2743200" y="1226820"/>
                </a:lnTo>
                <a:lnTo>
                  <a:pt x="2743200" y="1231392"/>
                </a:lnTo>
                <a:close/>
              </a:path>
              <a:path w="2753995" h="1236345">
                <a:moveTo>
                  <a:pt x="2753868" y="1231392"/>
                </a:moveTo>
                <a:lnTo>
                  <a:pt x="2743200" y="1231392"/>
                </a:lnTo>
                <a:lnTo>
                  <a:pt x="2747772" y="1226820"/>
                </a:lnTo>
                <a:lnTo>
                  <a:pt x="2753868" y="1226820"/>
                </a:lnTo>
                <a:lnTo>
                  <a:pt x="2753868" y="1231392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79552" y="1762724"/>
            <a:ext cx="75755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urier New"/>
                <a:cs typeface="Courier New"/>
              </a:rPr>
              <a:t>Output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93912" y="2298508"/>
            <a:ext cx="1367790" cy="5914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Hello</a:t>
            </a:r>
            <a:r>
              <a:rPr sz="1600" b="1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FF0000"/>
                </a:solidFill>
                <a:latin typeface="Courier New"/>
                <a:cs typeface="Courier New"/>
              </a:rPr>
              <a:t>World </a:t>
            </a: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Hello</a:t>
            </a:r>
            <a:r>
              <a:rPr sz="1600" b="1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FF0000"/>
                </a:solidFill>
                <a:latin typeface="Courier New"/>
                <a:cs typeface="Courier New"/>
              </a:rPr>
              <a:t>World</a:t>
            </a:r>
            <a:endParaRPr sz="1600" dirty="0">
              <a:latin typeface="Courier New"/>
              <a:cs typeface="Courier New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2208" y="5283708"/>
            <a:ext cx="8660892" cy="82600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40590" y="5563652"/>
            <a:ext cx="593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000C3"/>
                </a:solidFill>
                <a:latin typeface="Verdana"/>
                <a:cs typeface="Verdana"/>
              </a:rPr>
              <a:t>main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10" name="object 10"/>
          <p:cNvSpPr txBox="1"/>
          <p:nvPr/>
        </p:nvSpPr>
        <p:spPr>
          <a:xfrm>
            <a:off x="3783523" y="5551374"/>
            <a:ext cx="737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00C3"/>
                </a:solidFill>
                <a:latin typeface="Verdana"/>
                <a:cs typeface="Verdana"/>
              </a:rPr>
              <a:t>callMe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31583" y="4964695"/>
            <a:ext cx="152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Hello</a:t>
            </a:r>
            <a:r>
              <a:rPr sz="1800" b="1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ourier New"/>
                <a:cs typeface="Courier New"/>
              </a:rPr>
              <a:t>World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98117" y="5551374"/>
            <a:ext cx="737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00C3"/>
                </a:solidFill>
                <a:latin typeface="Verdana"/>
                <a:cs typeface="Verdana"/>
              </a:rPr>
              <a:t>callMe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46176" y="4964695"/>
            <a:ext cx="152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Hello</a:t>
            </a:r>
            <a:r>
              <a:rPr sz="1800" b="1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ourier New"/>
                <a:cs typeface="Courier New"/>
              </a:rPr>
              <a:t>World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93311" y="5269420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Courier New"/>
                <a:cs typeface="Courier New"/>
              </a:rPr>
              <a:t>n=2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42383" y="5345657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Courier New"/>
                <a:cs typeface="Courier New"/>
              </a:rPr>
              <a:t>n=1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57644" y="5525478"/>
            <a:ext cx="737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00C3"/>
                </a:solidFill>
                <a:latin typeface="Verdana"/>
                <a:cs typeface="Verdana"/>
              </a:rPr>
              <a:t>callMe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80753" y="5345657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Courier New"/>
                <a:cs typeface="Courier New"/>
              </a:rPr>
              <a:t>n=0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94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00"/>
              </a:spcBef>
            </a:pPr>
            <a:r>
              <a:rPr dirty="0"/>
              <a:t>Another</a:t>
            </a:r>
            <a:r>
              <a:rPr spc="-10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1748027" y="1748027"/>
            <a:ext cx="4430395" cy="3007360"/>
          </a:xfrm>
          <a:custGeom>
            <a:avLst/>
            <a:gdLst/>
            <a:ahLst/>
            <a:cxnLst/>
            <a:rect l="l" t="t" r="r" b="b"/>
            <a:pathLst>
              <a:path w="4430395" h="3007360">
                <a:moveTo>
                  <a:pt x="4430268" y="3006852"/>
                </a:moveTo>
                <a:lnTo>
                  <a:pt x="0" y="3006852"/>
                </a:lnTo>
                <a:lnTo>
                  <a:pt x="0" y="0"/>
                </a:lnTo>
                <a:lnTo>
                  <a:pt x="4430268" y="0"/>
                </a:lnTo>
                <a:lnTo>
                  <a:pt x="4430268" y="4572"/>
                </a:lnTo>
                <a:lnTo>
                  <a:pt x="10668" y="4572"/>
                </a:lnTo>
                <a:lnTo>
                  <a:pt x="4572" y="10668"/>
                </a:lnTo>
                <a:lnTo>
                  <a:pt x="10668" y="10668"/>
                </a:lnTo>
                <a:lnTo>
                  <a:pt x="10668" y="2997708"/>
                </a:lnTo>
                <a:lnTo>
                  <a:pt x="4572" y="2997708"/>
                </a:lnTo>
                <a:lnTo>
                  <a:pt x="10668" y="3002280"/>
                </a:lnTo>
                <a:lnTo>
                  <a:pt x="4430268" y="3002280"/>
                </a:lnTo>
                <a:lnTo>
                  <a:pt x="4430268" y="3006852"/>
                </a:lnTo>
                <a:close/>
              </a:path>
              <a:path w="4430395" h="3007360">
                <a:moveTo>
                  <a:pt x="10668" y="10668"/>
                </a:move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close/>
              </a:path>
              <a:path w="4430395" h="3007360">
                <a:moveTo>
                  <a:pt x="4419600" y="10668"/>
                </a:moveTo>
                <a:lnTo>
                  <a:pt x="10668" y="10668"/>
                </a:lnTo>
                <a:lnTo>
                  <a:pt x="10668" y="4572"/>
                </a:lnTo>
                <a:lnTo>
                  <a:pt x="4419600" y="4572"/>
                </a:lnTo>
                <a:lnTo>
                  <a:pt x="4419600" y="10668"/>
                </a:lnTo>
                <a:close/>
              </a:path>
              <a:path w="4430395" h="3007360">
                <a:moveTo>
                  <a:pt x="4419600" y="3002280"/>
                </a:moveTo>
                <a:lnTo>
                  <a:pt x="4419600" y="4572"/>
                </a:lnTo>
                <a:lnTo>
                  <a:pt x="4424172" y="10668"/>
                </a:lnTo>
                <a:lnTo>
                  <a:pt x="4430268" y="10668"/>
                </a:lnTo>
                <a:lnTo>
                  <a:pt x="4430268" y="2997708"/>
                </a:lnTo>
                <a:lnTo>
                  <a:pt x="4424172" y="2997708"/>
                </a:lnTo>
                <a:lnTo>
                  <a:pt x="4419600" y="3002280"/>
                </a:lnTo>
                <a:close/>
              </a:path>
              <a:path w="4430395" h="3007360">
                <a:moveTo>
                  <a:pt x="4430268" y="10668"/>
                </a:moveTo>
                <a:lnTo>
                  <a:pt x="4424172" y="10668"/>
                </a:lnTo>
                <a:lnTo>
                  <a:pt x="4419600" y="4572"/>
                </a:lnTo>
                <a:lnTo>
                  <a:pt x="4430268" y="4572"/>
                </a:lnTo>
                <a:lnTo>
                  <a:pt x="4430268" y="10668"/>
                </a:lnTo>
                <a:close/>
              </a:path>
              <a:path w="4430395" h="3007360">
                <a:moveTo>
                  <a:pt x="10668" y="3002280"/>
                </a:moveTo>
                <a:lnTo>
                  <a:pt x="4572" y="2997708"/>
                </a:lnTo>
                <a:lnTo>
                  <a:pt x="10668" y="2997708"/>
                </a:lnTo>
                <a:lnTo>
                  <a:pt x="10668" y="3002280"/>
                </a:lnTo>
                <a:close/>
              </a:path>
              <a:path w="4430395" h="3007360">
                <a:moveTo>
                  <a:pt x="4419600" y="3002280"/>
                </a:moveTo>
                <a:lnTo>
                  <a:pt x="10668" y="3002280"/>
                </a:lnTo>
                <a:lnTo>
                  <a:pt x="10668" y="2997708"/>
                </a:lnTo>
                <a:lnTo>
                  <a:pt x="4419600" y="2997708"/>
                </a:lnTo>
                <a:lnTo>
                  <a:pt x="4419600" y="3002280"/>
                </a:lnTo>
                <a:close/>
              </a:path>
              <a:path w="4430395" h="3007360">
                <a:moveTo>
                  <a:pt x="4430268" y="3002280"/>
                </a:moveTo>
                <a:lnTo>
                  <a:pt x="4419600" y="3002280"/>
                </a:lnTo>
                <a:lnTo>
                  <a:pt x="4424172" y="2997708"/>
                </a:lnTo>
                <a:lnTo>
                  <a:pt x="4430268" y="2997708"/>
                </a:lnTo>
                <a:lnTo>
                  <a:pt x="4430268" y="300228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31310" y="1713298"/>
            <a:ext cx="4237990" cy="29777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98014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#include</a:t>
            </a:r>
            <a:r>
              <a:rPr sz="1600" b="1" spc="-8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&lt;stdio.h&gt;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600" b="1" spc="-6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callMe(int</a:t>
            </a:r>
            <a:r>
              <a:rPr sz="1600" b="1" spc="-7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n){</a:t>
            </a:r>
            <a:endParaRPr sz="1600" dirty="0">
              <a:latin typeface="Courier New"/>
              <a:cs typeface="Courier New"/>
            </a:endParaRPr>
          </a:p>
          <a:p>
            <a:pPr marL="926465" marR="371475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if(n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==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0)</a:t>
            </a:r>
            <a:r>
              <a:rPr sz="16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return;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printf(“Hello</a:t>
            </a:r>
            <a:r>
              <a:rPr sz="1600" b="1" spc="-1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World\n”);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callMe(n-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1);</a:t>
            </a:r>
            <a:endParaRPr sz="1600" dirty="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85"/>
              </a:spcBef>
            </a:pPr>
            <a:r>
              <a:rPr sz="1600" b="1" dirty="0" err="1">
                <a:solidFill>
                  <a:srgbClr val="006600"/>
                </a:solidFill>
                <a:latin typeface="Courier New"/>
                <a:cs typeface="Courier New"/>
              </a:rPr>
              <a:t>printf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(“Biday</a:t>
            </a:r>
            <a:r>
              <a:rPr sz="1600" b="1" spc="-1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Prithibi\n”);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 dirty="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85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callMe(2);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96228" y="1748027"/>
            <a:ext cx="2982595" cy="1826260"/>
          </a:xfrm>
          <a:custGeom>
            <a:avLst/>
            <a:gdLst/>
            <a:ahLst/>
            <a:cxnLst/>
            <a:rect l="l" t="t" r="r" b="b"/>
            <a:pathLst>
              <a:path w="2982595" h="1826260">
                <a:moveTo>
                  <a:pt x="2982468" y="1825751"/>
                </a:moveTo>
                <a:lnTo>
                  <a:pt x="0" y="1825751"/>
                </a:lnTo>
                <a:lnTo>
                  <a:pt x="0" y="0"/>
                </a:lnTo>
                <a:lnTo>
                  <a:pt x="2982468" y="0"/>
                </a:lnTo>
                <a:lnTo>
                  <a:pt x="2982468" y="4572"/>
                </a:lnTo>
                <a:lnTo>
                  <a:pt x="10668" y="4572"/>
                </a:lnTo>
                <a:lnTo>
                  <a:pt x="4572" y="10668"/>
                </a:lnTo>
                <a:lnTo>
                  <a:pt x="10668" y="10668"/>
                </a:lnTo>
                <a:lnTo>
                  <a:pt x="10668" y="1816608"/>
                </a:lnTo>
                <a:lnTo>
                  <a:pt x="4572" y="1816608"/>
                </a:lnTo>
                <a:lnTo>
                  <a:pt x="10668" y="1821180"/>
                </a:lnTo>
                <a:lnTo>
                  <a:pt x="2982468" y="1821180"/>
                </a:lnTo>
                <a:lnTo>
                  <a:pt x="2982468" y="1825751"/>
                </a:lnTo>
                <a:close/>
              </a:path>
              <a:path w="2982595" h="1826260">
                <a:moveTo>
                  <a:pt x="10668" y="10668"/>
                </a:move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close/>
              </a:path>
              <a:path w="2982595" h="1826260">
                <a:moveTo>
                  <a:pt x="2971800" y="10668"/>
                </a:moveTo>
                <a:lnTo>
                  <a:pt x="10668" y="10668"/>
                </a:lnTo>
                <a:lnTo>
                  <a:pt x="10668" y="4572"/>
                </a:lnTo>
                <a:lnTo>
                  <a:pt x="2971800" y="4572"/>
                </a:lnTo>
                <a:lnTo>
                  <a:pt x="2971800" y="10668"/>
                </a:lnTo>
                <a:close/>
              </a:path>
              <a:path w="2982595" h="1826260">
                <a:moveTo>
                  <a:pt x="2971800" y="1821180"/>
                </a:moveTo>
                <a:lnTo>
                  <a:pt x="2971800" y="4572"/>
                </a:lnTo>
                <a:lnTo>
                  <a:pt x="2976372" y="10668"/>
                </a:lnTo>
                <a:lnTo>
                  <a:pt x="2982468" y="10668"/>
                </a:lnTo>
                <a:lnTo>
                  <a:pt x="2982468" y="1816608"/>
                </a:lnTo>
                <a:lnTo>
                  <a:pt x="2976372" y="1816608"/>
                </a:lnTo>
                <a:lnTo>
                  <a:pt x="2971800" y="1821180"/>
                </a:lnTo>
                <a:close/>
              </a:path>
              <a:path w="2982595" h="1826260">
                <a:moveTo>
                  <a:pt x="2982468" y="10668"/>
                </a:moveTo>
                <a:lnTo>
                  <a:pt x="2976372" y="10668"/>
                </a:lnTo>
                <a:lnTo>
                  <a:pt x="2971800" y="4572"/>
                </a:lnTo>
                <a:lnTo>
                  <a:pt x="2982468" y="4572"/>
                </a:lnTo>
                <a:lnTo>
                  <a:pt x="2982468" y="10668"/>
                </a:lnTo>
                <a:close/>
              </a:path>
              <a:path w="2982595" h="1826260">
                <a:moveTo>
                  <a:pt x="10668" y="1821180"/>
                </a:moveTo>
                <a:lnTo>
                  <a:pt x="4572" y="1816608"/>
                </a:lnTo>
                <a:lnTo>
                  <a:pt x="10668" y="1816608"/>
                </a:lnTo>
                <a:lnTo>
                  <a:pt x="10668" y="1821180"/>
                </a:lnTo>
                <a:close/>
              </a:path>
              <a:path w="2982595" h="1826260">
                <a:moveTo>
                  <a:pt x="2971800" y="1821180"/>
                </a:moveTo>
                <a:lnTo>
                  <a:pt x="10668" y="1821180"/>
                </a:lnTo>
                <a:lnTo>
                  <a:pt x="10668" y="1816608"/>
                </a:lnTo>
                <a:lnTo>
                  <a:pt x="2971800" y="1816608"/>
                </a:lnTo>
                <a:lnTo>
                  <a:pt x="2971800" y="1821180"/>
                </a:lnTo>
                <a:close/>
              </a:path>
              <a:path w="2982595" h="1826260">
                <a:moveTo>
                  <a:pt x="2982468" y="1821180"/>
                </a:moveTo>
                <a:lnTo>
                  <a:pt x="2971800" y="1821180"/>
                </a:lnTo>
                <a:lnTo>
                  <a:pt x="2976372" y="1816608"/>
                </a:lnTo>
                <a:lnTo>
                  <a:pt x="2982468" y="1816608"/>
                </a:lnTo>
                <a:lnTo>
                  <a:pt x="2982468" y="182118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79552" y="1762724"/>
            <a:ext cx="7575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urier New"/>
                <a:cs typeface="Courier New"/>
              </a:rPr>
              <a:t>Output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93912" y="2298508"/>
            <a:ext cx="1734185" cy="1196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Hello</a:t>
            </a:r>
            <a:r>
              <a:rPr sz="1600" b="1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FF0000"/>
                </a:solidFill>
                <a:latin typeface="Courier New"/>
                <a:cs typeface="Courier New"/>
              </a:rPr>
              <a:t>World </a:t>
            </a: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Hello</a:t>
            </a:r>
            <a:r>
              <a:rPr sz="1600" b="1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FF0000"/>
                </a:solidFill>
                <a:latin typeface="Courier New"/>
                <a:cs typeface="Courier New"/>
              </a:rPr>
              <a:t>World </a:t>
            </a: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Biday</a:t>
            </a:r>
            <a:r>
              <a:rPr sz="1600" b="1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ourier New"/>
                <a:cs typeface="Courier New"/>
              </a:rPr>
              <a:t>Prithibi </a:t>
            </a: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Biday</a:t>
            </a:r>
            <a:r>
              <a:rPr sz="1600" b="1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ourier New"/>
                <a:cs typeface="Courier New"/>
              </a:rPr>
              <a:t>Prithibi</a:t>
            </a:r>
            <a:endParaRPr sz="1600" dirty="0">
              <a:latin typeface="Courier New"/>
              <a:cs typeface="Courier New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2208" y="5283708"/>
            <a:ext cx="8660892" cy="82600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40590" y="5563652"/>
            <a:ext cx="593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000C3"/>
                </a:solidFill>
                <a:latin typeface="Verdana"/>
                <a:cs typeface="Verdana"/>
              </a:rPr>
              <a:t>main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10" name="object 10"/>
          <p:cNvSpPr txBox="1"/>
          <p:nvPr/>
        </p:nvSpPr>
        <p:spPr>
          <a:xfrm>
            <a:off x="3783523" y="5551374"/>
            <a:ext cx="3252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26665" algn="l"/>
              </a:tabLst>
            </a:pPr>
            <a:r>
              <a:rPr sz="1800" spc="-10" dirty="0">
                <a:solidFill>
                  <a:srgbClr val="0000C3"/>
                </a:solidFill>
                <a:latin typeface="Verdana"/>
                <a:cs typeface="Verdana"/>
              </a:rPr>
              <a:t>callMe</a:t>
            </a:r>
            <a:r>
              <a:rPr sz="1800" dirty="0">
                <a:solidFill>
                  <a:srgbClr val="0000C3"/>
                </a:solidFill>
                <a:latin typeface="Verdana"/>
                <a:cs typeface="Verdana"/>
              </a:rPr>
              <a:t>	</a:t>
            </a:r>
            <a:r>
              <a:rPr sz="1800" spc="-10" dirty="0">
                <a:solidFill>
                  <a:srgbClr val="0000C3"/>
                </a:solidFill>
                <a:latin typeface="Verdana"/>
                <a:cs typeface="Verdana"/>
              </a:rPr>
              <a:t>callMe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31583" y="4964695"/>
            <a:ext cx="4042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26665" algn="l"/>
              </a:tabLst>
            </a:pP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Hello</a:t>
            </a:r>
            <a:r>
              <a:rPr sz="1800" b="1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ourier New"/>
                <a:cs typeface="Courier New"/>
              </a:rPr>
              <a:t>World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	Hello</a:t>
            </a:r>
            <a:r>
              <a:rPr sz="1800" b="1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ourier New"/>
                <a:cs typeface="Courier New"/>
              </a:rPr>
              <a:t>World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93311" y="5269420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Courier New"/>
                <a:cs typeface="Courier New"/>
              </a:rPr>
              <a:t>n=2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42383" y="5345657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Courier New"/>
                <a:cs typeface="Courier New"/>
              </a:rPr>
              <a:t>n=1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57644" y="5525478"/>
            <a:ext cx="737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00C3"/>
                </a:solidFill>
                <a:latin typeface="Verdana"/>
                <a:cs typeface="Verdana"/>
              </a:rPr>
              <a:t>callMe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80753" y="5345657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Courier New"/>
                <a:cs typeface="Courier New"/>
              </a:rPr>
              <a:t>n=0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93702" y="6107691"/>
            <a:ext cx="19392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Biday</a:t>
            </a:r>
            <a:r>
              <a:rPr sz="1800" b="1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ourier New"/>
                <a:cs typeface="Courier New"/>
              </a:rPr>
              <a:t>Prithibi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05005" y="6145755"/>
            <a:ext cx="19392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Biday</a:t>
            </a:r>
            <a:r>
              <a:rPr sz="1800" b="1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ourier New"/>
                <a:cs typeface="Courier New"/>
              </a:rPr>
              <a:t>Prithibi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94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00"/>
              </a:spcBef>
            </a:pPr>
            <a:r>
              <a:rPr dirty="0"/>
              <a:t>Printing</a:t>
            </a:r>
            <a:r>
              <a:rPr spc="-35" dirty="0"/>
              <a:t> </a:t>
            </a:r>
            <a:r>
              <a:rPr dirty="0"/>
              <a:t>numbers</a:t>
            </a:r>
            <a:r>
              <a:rPr spc="-110" dirty="0"/>
              <a:t> </a:t>
            </a:r>
            <a:r>
              <a:rPr spc="-10" dirty="0"/>
              <a:t>(downward)</a:t>
            </a:r>
          </a:p>
        </p:txBody>
      </p:sp>
      <p:sp>
        <p:nvSpPr>
          <p:cNvPr id="3" name="object 3"/>
          <p:cNvSpPr/>
          <p:nvPr/>
        </p:nvSpPr>
        <p:spPr>
          <a:xfrm>
            <a:off x="1748027" y="1748027"/>
            <a:ext cx="4430395" cy="2712720"/>
          </a:xfrm>
          <a:custGeom>
            <a:avLst/>
            <a:gdLst/>
            <a:ahLst/>
            <a:cxnLst/>
            <a:rect l="l" t="t" r="r" b="b"/>
            <a:pathLst>
              <a:path w="4430395" h="2712720">
                <a:moveTo>
                  <a:pt x="4430268" y="2712719"/>
                </a:moveTo>
                <a:lnTo>
                  <a:pt x="0" y="2712719"/>
                </a:lnTo>
                <a:lnTo>
                  <a:pt x="0" y="0"/>
                </a:lnTo>
                <a:lnTo>
                  <a:pt x="4430268" y="0"/>
                </a:lnTo>
                <a:lnTo>
                  <a:pt x="4430268" y="4572"/>
                </a:lnTo>
                <a:lnTo>
                  <a:pt x="10668" y="4572"/>
                </a:lnTo>
                <a:lnTo>
                  <a:pt x="4572" y="10668"/>
                </a:lnTo>
                <a:lnTo>
                  <a:pt x="10668" y="10668"/>
                </a:lnTo>
                <a:lnTo>
                  <a:pt x="10668" y="2702052"/>
                </a:lnTo>
                <a:lnTo>
                  <a:pt x="4572" y="2702052"/>
                </a:lnTo>
                <a:lnTo>
                  <a:pt x="10668" y="2706624"/>
                </a:lnTo>
                <a:lnTo>
                  <a:pt x="4430268" y="2706624"/>
                </a:lnTo>
                <a:lnTo>
                  <a:pt x="4430268" y="2712719"/>
                </a:lnTo>
                <a:close/>
              </a:path>
              <a:path w="4430395" h="2712720">
                <a:moveTo>
                  <a:pt x="10668" y="10668"/>
                </a:move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close/>
              </a:path>
              <a:path w="4430395" h="2712720">
                <a:moveTo>
                  <a:pt x="4419600" y="10668"/>
                </a:moveTo>
                <a:lnTo>
                  <a:pt x="10668" y="10668"/>
                </a:lnTo>
                <a:lnTo>
                  <a:pt x="10668" y="4572"/>
                </a:lnTo>
                <a:lnTo>
                  <a:pt x="4419600" y="4572"/>
                </a:lnTo>
                <a:lnTo>
                  <a:pt x="4419600" y="10668"/>
                </a:lnTo>
                <a:close/>
              </a:path>
              <a:path w="4430395" h="2712720">
                <a:moveTo>
                  <a:pt x="4419600" y="2706624"/>
                </a:moveTo>
                <a:lnTo>
                  <a:pt x="4419600" y="4572"/>
                </a:lnTo>
                <a:lnTo>
                  <a:pt x="4424172" y="10668"/>
                </a:lnTo>
                <a:lnTo>
                  <a:pt x="4430268" y="10668"/>
                </a:lnTo>
                <a:lnTo>
                  <a:pt x="4430268" y="2702052"/>
                </a:lnTo>
                <a:lnTo>
                  <a:pt x="4424172" y="2702052"/>
                </a:lnTo>
                <a:lnTo>
                  <a:pt x="4419600" y="2706624"/>
                </a:lnTo>
                <a:close/>
              </a:path>
              <a:path w="4430395" h="2712720">
                <a:moveTo>
                  <a:pt x="4430268" y="10668"/>
                </a:moveTo>
                <a:lnTo>
                  <a:pt x="4424172" y="10668"/>
                </a:lnTo>
                <a:lnTo>
                  <a:pt x="4419600" y="4572"/>
                </a:lnTo>
                <a:lnTo>
                  <a:pt x="4430268" y="4572"/>
                </a:lnTo>
                <a:lnTo>
                  <a:pt x="4430268" y="10668"/>
                </a:lnTo>
                <a:close/>
              </a:path>
              <a:path w="4430395" h="2712720">
                <a:moveTo>
                  <a:pt x="10668" y="2706624"/>
                </a:moveTo>
                <a:lnTo>
                  <a:pt x="4572" y="2702052"/>
                </a:lnTo>
                <a:lnTo>
                  <a:pt x="10668" y="2702052"/>
                </a:lnTo>
                <a:lnTo>
                  <a:pt x="10668" y="2706624"/>
                </a:lnTo>
                <a:close/>
              </a:path>
              <a:path w="4430395" h="2712720">
                <a:moveTo>
                  <a:pt x="4419600" y="2706624"/>
                </a:moveTo>
                <a:lnTo>
                  <a:pt x="10668" y="2706624"/>
                </a:lnTo>
                <a:lnTo>
                  <a:pt x="10668" y="2702052"/>
                </a:lnTo>
                <a:lnTo>
                  <a:pt x="4419600" y="2702052"/>
                </a:lnTo>
                <a:lnTo>
                  <a:pt x="4419600" y="2706624"/>
                </a:lnTo>
                <a:close/>
              </a:path>
              <a:path w="4430395" h="2712720">
                <a:moveTo>
                  <a:pt x="4430268" y="2706624"/>
                </a:moveTo>
                <a:lnTo>
                  <a:pt x="4419600" y="2706624"/>
                </a:lnTo>
                <a:lnTo>
                  <a:pt x="4424172" y="2702052"/>
                </a:lnTo>
                <a:lnTo>
                  <a:pt x="4430268" y="2702052"/>
                </a:lnTo>
                <a:lnTo>
                  <a:pt x="4430268" y="2706624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396228" y="1748027"/>
            <a:ext cx="2753995" cy="1236345"/>
          </a:xfrm>
          <a:custGeom>
            <a:avLst/>
            <a:gdLst/>
            <a:ahLst/>
            <a:cxnLst/>
            <a:rect l="l" t="t" r="r" b="b"/>
            <a:pathLst>
              <a:path w="2753995" h="1236345">
                <a:moveTo>
                  <a:pt x="2753868" y="1235963"/>
                </a:moveTo>
                <a:lnTo>
                  <a:pt x="0" y="1235963"/>
                </a:lnTo>
                <a:lnTo>
                  <a:pt x="0" y="0"/>
                </a:lnTo>
                <a:lnTo>
                  <a:pt x="2753868" y="0"/>
                </a:lnTo>
                <a:lnTo>
                  <a:pt x="2753868" y="4572"/>
                </a:lnTo>
                <a:lnTo>
                  <a:pt x="10668" y="4572"/>
                </a:lnTo>
                <a:lnTo>
                  <a:pt x="4572" y="10668"/>
                </a:lnTo>
                <a:lnTo>
                  <a:pt x="10668" y="10668"/>
                </a:lnTo>
                <a:lnTo>
                  <a:pt x="10668" y="1226820"/>
                </a:lnTo>
                <a:lnTo>
                  <a:pt x="4572" y="1226820"/>
                </a:lnTo>
                <a:lnTo>
                  <a:pt x="10668" y="1231392"/>
                </a:lnTo>
                <a:lnTo>
                  <a:pt x="2753868" y="1231392"/>
                </a:lnTo>
                <a:lnTo>
                  <a:pt x="2753868" y="1235963"/>
                </a:lnTo>
                <a:close/>
              </a:path>
              <a:path w="2753995" h="1236345">
                <a:moveTo>
                  <a:pt x="10668" y="10668"/>
                </a:move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close/>
              </a:path>
              <a:path w="2753995" h="1236345">
                <a:moveTo>
                  <a:pt x="2743200" y="10668"/>
                </a:moveTo>
                <a:lnTo>
                  <a:pt x="10668" y="10668"/>
                </a:lnTo>
                <a:lnTo>
                  <a:pt x="10668" y="4572"/>
                </a:lnTo>
                <a:lnTo>
                  <a:pt x="2743200" y="4572"/>
                </a:lnTo>
                <a:lnTo>
                  <a:pt x="2743200" y="10668"/>
                </a:lnTo>
                <a:close/>
              </a:path>
              <a:path w="2753995" h="1236345">
                <a:moveTo>
                  <a:pt x="2743200" y="1231392"/>
                </a:moveTo>
                <a:lnTo>
                  <a:pt x="2743200" y="4572"/>
                </a:lnTo>
                <a:lnTo>
                  <a:pt x="2747772" y="10668"/>
                </a:lnTo>
                <a:lnTo>
                  <a:pt x="2753868" y="10668"/>
                </a:lnTo>
                <a:lnTo>
                  <a:pt x="2753868" y="1226820"/>
                </a:lnTo>
                <a:lnTo>
                  <a:pt x="2747772" y="1226820"/>
                </a:lnTo>
                <a:lnTo>
                  <a:pt x="2743200" y="1231392"/>
                </a:lnTo>
                <a:close/>
              </a:path>
              <a:path w="2753995" h="1236345">
                <a:moveTo>
                  <a:pt x="2753868" y="10668"/>
                </a:moveTo>
                <a:lnTo>
                  <a:pt x="2747772" y="10668"/>
                </a:lnTo>
                <a:lnTo>
                  <a:pt x="2743200" y="4572"/>
                </a:lnTo>
                <a:lnTo>
                  <a:pt x="2753868" y="4572"/>
                </a:lnTo>
                <a:lnTo>
                  <a:pt x="2753868" y="10668"/>
                </a:lnTo>
                <a:close/>
              </a:path>
              <a:path w="2753995" h="1236345">
                <a:moveTo>
                  <a:pt x="10668" y="1231392"/>
                </a:moveTo>
                <a:lnTo>
                  <a:pt x="4572" y="1226820"/>
                </a:lnTo>
                <a:lnTo>
                  <a:pt x="10668" y="1226820"/>
                </a:lnTo>
                <a:lnTo>
                  <a:pt x="10668" y="1231392"/>
                </a:lnTo>
                <a:close/>
              </a:path>
              <a:path w="2753995" h="1236345">
                <a:moveTo>
                  <a:pt x="2743200" y="1231392"/>
                </a:moveTo>
                <a:lnTo>
                  <a:pt x="10668" y="1231392"/>
                </a:lnTo>
                <a:lnTo>
                  <a:pt x="10668" y="1226820"/>
                </a:lnTo>
                <a:lnTo>
                  <a:pt x="2743200" y="1226820"/>
                </a:lnTo>
                <a:lnTo>
                  <a:pt x="2743200" y="1231392"/>
                </a:lnTo>
                <a:close/>
              </a:path>
              <a:path w="2753995" h="1236345">
                <a:moveTo>
                  <a:pt x="2753868" y="1231392"/>
                </a:moveTo>
                <a:lnTo>
                  <a:pt x="2743200" y="1231392"/>
                </a:lnTo>
                <a:lnTo>
                  <a:pt x="2747772" y="1226820"/>
                </a:lnTo>
                <a:lnTo>
                  <a:pt x="2753868" y="1226820"/>
                </a:lnTo>
                <a:lnTo>
                  <a:pt x="2753868" y="1231392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114647"/>
              </p:ext>
            </p:extLst>
          </p:nvPr>
        </p:nvGraphicFramePr>
        <p:xfrm>
          <a:off x="1812261" y="1809370"/>
          <a:ext cx="4485856" cy="2640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53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2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4080">
                <a:tc>
                  <a:txBody>
                    <a:bodyPr/>
                    <a:lstStyle/>
                    <a:p>
                      <a:pPr marL="31750">
                        <a:lnSpc>
                          <a:spcPts val="1650"/>
                        </a:lnSpc>
                      </a:pPr>
                      <a:r>
                        <a:rPr sz="1600" b="1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#include</a:t>
                      </a:r>
                      <a:r>
                        <a:rPr sz="1600" b="1" spc="-8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&lt;stdio.h&gt;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600" b="1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void</a:t>
                      </a:r>
                      <a:r>
                        <a:rPr sz="1600" b="1" spc="-6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callMe(int</a:t>
                      </a:r>
                      <a:r>
                        <a:rPr sz="1600" b="1" spc="-7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n){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7715">
                        <a:lnSpc>
                          <a:spcPts val="1650"/>
                        </a:lnSpc>
                      </a:pP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68">
                <a:tc>
                  <a:txBody>
                    <a:bodyPr/>
                    <a:lstStyle/>
                    <a:p>
                      <a:pPr marL="945515">
                        <a:lnSpc>
                          <a:spcPts val="1895"/>
                        </a:lnSpc>
                      </a:pPr>
                      <a:r>
                        <a:rPr sz="1600" b="1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if(n</a:t>
                      </a: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==</a:t>
                      </a: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0)</a:t>
                      </a:r>
                      <a:endParaRPr lang="en-US" sz="1600" b="1" dirty="0">
                        <a:solidFill>
                          <a:srgbClr val="006600"/>
                        </a:solidFill>
                        <a:latin typeface="Courier New"/>
                        <a:cs typeface="Courier New"/>
                      </a:endParaRPr>
                    </a:p>
                    <a:p>
                      <a:pPr marL="945515">
                        <a:lnSpc>
                          <a:spcPts val="1895"/>
                        </a:lnSpc>
                      </a:pPr>
                      <a:r>
                        <a:rPr lang="en-US"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    </a:t>
                      </a: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return;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 algn="ctr">
                        <a:lnSpc>
                          <a:spcPts val="1895"/>
                        </a:lnSpc>
                      </a:pP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464">
                <a:tc>
                  <a:txBody>
                    <a:bodyPr/>
                    <a:lstStyle/>
                    <a:p>
                      <a:pPr marL="945515">
                        <a:lnSpc>
                          <a:spcPts val="1895"/>
                        </a:lnSpc>
                      </a:pPr>
                      <a:r>
                        <a:rPr sz="1600" b="1" spc="-10" dirty="0" err="1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printf</a:t>
                      </a: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(“%d\n”,n);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 algn="ctr">
                        <a:lnSpc>
                          <a:spcPts val="1895"/>
                        </a:lnSpc>
                      </a:pP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464">
                <a:tc>
                  <a:txBody>
                    <a:bodyPr/>
                    <a:lstStyle/>
                    <a:p>
                      <a:pPr marL="945515">
                        <a:lnSpc>
                          <a:spcPts val="1895"/>
                        </a:lnSpc>
                      </a:pPr>
                      <a:r>
                        <a:rPr sz="1600" b="1" spc="-20" dirty="0" err="1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callMe</a:t>
                      </a:r>
                      <a:r>
                        <a:rPr sz="16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(n-</a:t>
                      </a: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1);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rowSpan="5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5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464">
                <a:tc>
                  <a:txBody>
                    <a:bodyPr/>
                    <a:lstStyle/>
                    <a:p>
                      <a:pPr marL="31750">
                        <a:lnSpc>
                          <a:spcPts val="1895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464">
                <a:tc>
                  <a:txBody>
                    <a:bodyPr/>
                    <a:lstStyle/>
                    <a:p>
                      <a:pPr marL="31750">
                        <a:lnSpc>
                          <a:spcPts val="1895"/>
                        </a:lnSpc>
                      </a:pPr>
                      <a:r>
                        <a:rPr sz="1600" b="1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void</a:t>
                      </a:r>
                      <a:r>
                        <a:rPr sz="1600" b="1" spc="-4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main(){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464">
                <a:tc>
                  <a:txBody>
                    <a:bodyPr/>
                    <a:lstStyle/>
                    <a:p>
                      <a:pPr marL="945515">
                        <a:lnSpc>
                          <a:spcPts val="1895"/>
                        </a:lnSpc>
                      </a:pP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callMe(2);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980">
                <a:tc>
                  <a:txBody>
                    <a:bodyPr/>
                    <a:lstStyle/>
                    <a:p>
                      <a:pPr marL="31750">
                        <a:lnSpc>
                          <a:spcPts val="1895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2208" y="5283708"/>
            <a:ext cx="8660892" cy="82600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340590" y="5563652"/>
            <a:ext cx="593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000C3"/>
                </a:solidFill>
                <a:latin typeface="Verdana"/>
                <a:cs typeface="Verdana"/>
              </a:rPr>
              <a:t>main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8" name="object 8"/>
          <p:cNvSpPr txBox="1"/>
          <p:nvPr/>
        </p:nvSpPr>
        <p:spPr>
          <a:xfrm>
            <a:off x="3783523" y="5551374"/>
            <a:ext cx="737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00C3"/>
                </a:solidFill>
                <a:latin typeface="Verdana"/>
                <a:cs typeface="Verdana"/>
              </a:rPr>
              <a:t>callMe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41144" y="4888458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ourier New"/>
                <a:cs typeface="Courier New"/>
              </a:rPr>
              <a:t>2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98117" y="5551374"/>
            <a:ext cx="737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00C3"/>
                </a:solidFill>
                <a:latin typeface="Verdana"/>
                <a:cs typeface="Verdana"/>
              </a:rPr>
              <a:t>callMe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31975" y="4964695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93311" y="5269420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Courier New"/>
                <a:cs typeface="Courier New"/>
              </a:rPr>
              <a:t>n=2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42383" y="5345657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Courier New"/>
                <a:cs typeface="Courier New"/>
              </a:rPr>
              <a:t>n=1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57644" y="5525478"/>
            <a:ext cx="737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00C3"/>
                </a:solidFill>
                <a:latin typeface="Verdana"/>
                <a:cs typeface="Verdana"/>
              </a:rPr>
              <a:t>callMe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80753" y="5345657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Courier New"/>
                <a:cs typeface="Courier New"/>
              </a:rPr>
              <a:t>n=0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E61D953-429D-4C90-9780-197D0ECA2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261633"/>
              </p:ext>
            </p:extLst>
          </p:nvPr>
        </p:nvGraphicFramePr>
        <p:xfrm>
          <a:off x="5863725" y="1860740"/>
          <a:ext cx="1835785" cy="1137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1310">
                  <a:extLst>
                    <a:ext uri="{9D8B030D-6E8A-4147-A177-3AD203B41FA5}">
                      <a16:colId xmlns:a16="http://schemas.microsoft.com/office/drawing/2014/main" val="223166741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309725808"/>
                    </a:ext>
                  </a:extLst>
                </a:gridCol>
              </a:tblGrid>
              <a:tr h="553720">
                <a:tc>
                  <a:txBody>
                    <a:bodyPr/>
                    <a:lstStyle/>
                    <a:p>
                      <a:pPr marL="767715">
                        <a:lnSpc>
                          <a:spcPts val="1650"/>
                        </a:lnSpc>
                      </a:pPr>
                      <a:r>
                        <a:rPr sz="1600" b="1" u="sng" spc="-10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Courier New"/>
                          <a:cs typeface="Courier New"/>
                        </a:rPr>
                        <a:t>Output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0013654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 algn="ctr">
                        <a:lnSpc>
                          <a:spcPts val="1895"/>
                        </a:lnSpc>
                      </a:pPr>
                      <a:r>
                        <a:rPr sz="16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8310297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 algn="ctr">
                        <a:lnSpc>
                          <a:spcPts val="1895"/>
                        </a:lnSpc>
                      </a:pPr>
                      <a:r>
                        <a:rPr sz="16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5923909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8027" y="1748027"/>
            <a:ext cx="4430395" cy="2712720"/>
          </a:xfrm>
          <a:custGeom>
            <a:avLst/>
            <a:gdLst/>
            <a:ahLst/>
            <a:cxnLst/>
            <a:rect l="l" t="t" r="r" b="b"/>
            <a:pathLst>
              <a:path w="4430395" h="2712720">
                <a:moveTo>
                  <a:pt x="4430268" y="2712719"/>
                </a:moveTo>
                <a:lnTo>
                  <a:pt x="0" y="2712719"/>
                </a:lnTo>
                <a:lnTo>
                  <a:pt x="0" y="0"/>
                </a:lnTo>
                <a:lnTo>
                  <a:pt x="4430268" y="0"/>
                </a:lnTo>
                <a:lnTo>
                  <a:pt x="4430268" y="4572"/>
                </a:lnTo>
                <a:lnTo>
                  <a:pt x="10668" y="4572"/>
                </a:lnTo>
                <a:lnTo>
                  <a:pt x="4572" y="10668"/>
                </a:lnTo>
                <a:lnTo>
                  <a:pt x="10668" y="10668"/>
                </a:lnTo>
                <a:lnTo>
                  <a:pt x="10668" y="2702052"/>
                </a:lnTo>
                <a:lnTo>
                  <a:pt x="4572" y="2702052"/>
                </a:lnTo>
                <a:lnTo>
                  <a:pt x="10668" y="2706624"/>
                </a:lnTo>
                <a:lnTo>
                  <a:pt x="4430268" y="2706624"/>
                </a:lnTo>
                <a:lnTo>
                  <a:pt x="4430268" y="2712719"/>
                </a:lnTo>
                <a:close/>
              </a:path>
              <a:path w="4430395" h="2712720">
                <a:moveTo>
                  <a:pt x="10668" y="10668"/>
                </a:move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close/>
              </a:path>
              <a:path w="4430395" h="2712720">
                <a:moveTo>
                  <a:pt x="4419600" y="10668"/>
                </a:moveTo>
                <a:lnTo>
                  <a:pt x="10668" y="10668"/>
                </a:lnTo>
                <a:lnTo>
                  <a:pt x="10668" y="4572"/>
                </a:lnTo>
                <a:lnTo>
                  <a:pt x="4419600" y="4572"/>
                </a:lnTo>
                <a:lnTo>
                  <a:pt x="4419600" y="10668"/>
                </a:lnTo>
                <a:close/>
              </a:path>
              <a:path w="4430395" h="2712720">
                <a:moveTo>
                  <a:pt x="4419600" y="2706624"/>
                </a:moveTo>
                <a:lnTo>
                  <a:pt x="4419600" y="4572"/>
                </a:lnTo>
                <a:lnTo>
                  <a:pt x="4424172" y="10668"/>
                </a:lnTo>
                <a:lnTo>
                  <a:pt x="4430268" y="10668"/>
                </a:lnTo>
                <a:lnTo>
                  <a:pt x="4430268" y="2702052"/>
                </a:lnTo>
                <a:lnTo>
                  <a:pt x="4424172" y="2702052"/>
                </a:lnTo>
                <a:lnTo>
                  <a:pt x="4419600" y="2706624"/>
                </a:lnTo>
                <a:close/>
              </a:path>
              <a:path w="4430395" h="2712720">
                <a:moveTo>
                  <a:pt x="4430268" y="10668"/>
                </a:moveTo>
                <a:lnTo>
                  <a:pt x="4424172" y="10668"/>
                </a:lnTo>
                <a:lnTo>
                  <a:pt x="4419600" y="4572"/>
                </a:lnTo>
                <a:lnTo>
                  <a:pt x="4430268" y="4572"/>
                </a:lnTo>
                <a:lnTo>
                  <a:pt x="4430268" y="10668"/>
                </a:lnTo>
                <a:close/>
              </a:path>
              <a:path w="4430395" h="2712720">
                <a:moveTo>
                  <a:pt x="10668" y="2706624"/>
                </a:moveTo>
                <a:lnTo>
                  <a:pt x="4572" y="2702052"/>
                </a:lnTo>
                <a:lnTo>
                  <a:pt x="10668" y="2702052"/>
                </a:lnTo>
                <a:lnTo>
                  <a:pt x="10668" y="2706624"/>
                </a:lnTo>
                <a:close/>
              </a:path>
              <a:path w="4430395" h="2712720">
                <a:moveTo>
                  <a:pt x="4419600" y="2706624"/>
                </a:moveTo>
                <a:lnTo>
                  <a:pt x="10668" y="2706624"/>
                </a:lnTo>
                <a:lnTo>
                  <a:pt x="10668" y="2702052"/>
                </a:lnTo>
                <a:lnTo>
                  <a:pt x="4419600" y="2702052"/>
                </a:lnTo>
                <a:lnTo>
                  <a:pt x="4419600" y="2706624"/>
                </a:lnTo>
                <a:close/>
              </a:path>
              <a:path w="4430395" h="2712720">
                <a:moveTo>
                  <a:pt x="4430268" y="2706624"/>
                </a:moveTo>
                <a:lnTo>
                  <a:pt x="4419600" y="2706624"/>
                </a:lnTo>
                <a:lnTo>
                  <a:pt x="4424172" y="2702052"/>
                </a:lnTo>
                <a:lnTo>
                  <a:pt x="4430268" y="2702052"/>
                </a:lnTo>
                <a:lnTo>
                  <a:pt x="4430268" y="2706624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96228" y="1748027"/>
            <a:ext cx="2753995" cy="1236345"/>
          </a:xfrm>
          <a:custGeom>
            <a:avLst/>
            <a:gdLst/>
            <a:ahLst/>
            <a:cxnLst/>
            <a:rect l="l" t="t" r="r" b="b"/>
            <a:pathLst>
              <a:path w="2753995" h="1236345">
                <a:moveTo>
                  <a:pt x="2753868" y="1235963"/>
                </a:moveTo>
                <a:lnTo>
                  <a:pt x="0" y="1235963"/>
                </a:lnTo>
                <a:lnTo>
                  <a:pt x="0" y="0"/>
                </a:lnTo>
                <a:lnTo>
                  <a:pt x="2753868" y="0"/>
                </a:lnTo>
                <a:lnTo>
                  <a:pt x="2753868" y="4572"/>
                </a:lnTo>
                <a:lnTo>
                  <a:pt x="10668" y="4572"/>
                </a:lnTo>
                <a:lnTo>
                  <a:pt x="4572" y="10668"/>
                </a:lnTo>
                <a:lnTo>
                  <a:pt x="10668" y="10668"/>
                </a:lnTo>
                <a:lnTo>
                  <a:pt x="10668" y="1226820"/>
                </a:lnTo>
                <a:lnTo>
                  <a:pt x="4572" y="1226820"/>
                </a:lnTo>
                <a:lnTo>
                  <a:pt x="10668" y="1231392"/>
                </a:lnTo>
                <a:lnTo>
                  <a:pt x="2753868" y="1231392"/>
                </a:lnTo>
                <a:lnTo>
                  <a:pt x="2753868" y="1235963"/>
                </a:lnTo>
                <a:close/>
              </a:path>
              <a:path w="2753995" h="1236345">
                <a:moveTo>
                  <a:pt x="10668" y="10668"/>
                </a:move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close/>
              </a:path>
              <a:path w="2753995" h="1236345">
                <a:moveTo>
                  <a:pt x="2743200" y="10668"/>
                </a:moveTo>
                <a:lnTo>
                  <a:pt x="10668" y="10668"/>
                </a:lnTo>
                <a:lnTo>
                  <a:pt x="10668" y="4572"/>
                </a:lnTo>
                <a:lnTo>
                  <a:pt x="2743200" y="4572"/>
                </a:lnTo>
                <a:lnTo>
                  <a:pt x="2743200" y="10668"/>
                </a:lnTo>
                <a:close/>
              </a:path>
              <a:path w="2753995" h="1236345">
                <a:moveTo>
                  <a:pt x="2743200" y="1231392"/>
                </a:moveTo>
                <a:lnTo>
                  <a:pt x="2743200" y="4572"/>
                </a:lnTo>
                <a:lnTo>
                  <a:pt x="2747772" y="10668"/>
                </a:lnTo>
                <a:lnTo>
                  <a:pt x="2753868" y="10668"/>
                </a:lnTo>
                <a:lnTo>
                  <a:pt x="2753868" y="1226820"/>
                </a:lnTo>
                <a:lnTo>
                  <a:pt x="2747772" y="1226820"/>
                </a:lnTo>
                <a:lnTo>
                  <a:pt x="2743200" y="1231392"/>
                </a:lnTo>
                <a:close/>
              </a:path>
              <a:path w="2753995" h="1236345">
                <a:moveTo>
                  <a:pt x="2753868" y="10668"/>
                </a:moveTo>
                <a:lnTo>
                  <a:pt x="2747772" y="10668"/>
                </a:lnTo>
                <a:lnTo>
                  <a:pt x="2743200" y="4572"/>
                </a:lnTo>
                <a:lnTo>
                  <a:pt x="2753868" y="4572"/>
                </a:lnTo>
                <a:lnTo>
                  <a:pt x="2753868" y="10668"/>
                </a:lnTo>
                <a:close/>
              </a:path>
              <a:path w="2753995" h="1236345">
                <a:moveTo>
                  <a:pt x="10668" y="1231392"/>
                </a:moveTo>
                <a:lnTo>
                  <a:pt x="4572" y="1226820"/>
                </a:lnTo>
                <a:lnTo>
                  <a:pt x="10668" y="1226820"/>
                </a:lnTo>
                <a:lnTo>
                  <a:pt x="10668" y="1231392"/>
                </a:lnTo>
                <a:close/>
              </a:path>
              <a:path w="2753995" h="1236345">
                <a:moveTo>
                  <a:pt x="2743200" y="1231392"/>
                </a:moveTo>
                <a:lnTo>
                  <a:pt x="10668" y="1231392"/>
                </a:lnTo>
                <a:lnTo>
                  <a:pt x="10668" y="1226820"/>
                </a:lnTo>
                <a:lnTo>
                  <a:pt x="2743200" y="1226820"/>
                </a:lnTo>
                <a:lnTo>
                  <a:pt x="2743200" y="1231392"/>
                </a:lnTo>
                <a:close/>
              </a:path>
              <a:path w="2753995" h="1236345">
                <a:moveTo>
                  <a:pt x="2753868" y="1231392"/>
                </a:moveTo>
                <a:lnTo>
                  <a:pt x="2743200" y="1231392"/>
                </a:lnTo>
                <a:lnTo>
                  <a:pt x="2747772" y="1226820"/>
                </a:lnTo>
                <a:lnTo>
                  <a:pt x="2753868" y="1226820"/>
                </a:lnTo>
                <a:lnTo>
                  <a:pt x="2753868" y="1231392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2208" y="5283708"/>
            <a:ext cx="8660892" cy="82600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40590" y="5563652"/>
            <a:ext cx="593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000C3"/>
                </a:solidFill>
                <a:latin typeface="Verdana"/>
                <a:cs typeface="Verdana"/>
              </a:rPr>
              <a:t>main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7" name="object 7"/>
          <p:cNvSpPr txBox="1"/>
          <p:nvPr/>
        </p:nvSpPr>
        <p:spPr>
          <a:xfrm>
            <a:off x="3783523" y="5551374"/>
            <a:ext cx="737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00C3"/>
                </a:solidFill>
                <a:latin typeface="Verdana"/>
                <a:cs typeface="Verdana"/>
              </a:rPr>
              <a:t>callMe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70860" y="6180651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ourier New"/>
                <a:cs typeface="Courier New"/>
              </a:rPr>
              <a:t>2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98117" y="5551374"/>
            <a:ext cx="737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00C3"/>
                </a:solidFill>
                <a:latin typeface="Verdana"/>
                <a:cs typeface="Verdana"/>
              </a:rPr>
              <a:t>callMe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67052" y="6206030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93311" y="5269420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Courier New"/>
                <a:cs typeface="Courier New"/>
              </a:rPr>
              <a:t>n=2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42383" y="5345657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Courier New"/>
                <a:cs typeface="Courier New"/>
              </a:rPr>
              <a:t>n=1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57644" y="5525478"/>
            <a:ext cx="737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00C3"/>
                </a:solidFill>
                <a:latin typeface="Verdana"/>
                <a:cs typeface="Verdana"/>
              </a:rPr>
              <a:t>callMe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80753" y="5345657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Courier New"/>
                <a:cs typeface="Courier New"/>
              </a:rPr>
              <a:t>n=0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94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00"/>
              </a:spcBef>
            </a:pPr>
            <a:r>
              <a:rPr dirty="0"/>
              <a:t>Printing</a:t>
            </a:r>
            <a:r>
              <a:rPr spc="-35" dirty="0"/>
              <a:t> </a:t>
            </a:r>
            <a:r>
              <a:rPr dirty="0"/>
              <a:t>numbers</a:t>
            </a:r>
            <a:r>
              <a:rPr spc="-110" dirty="0"/>
              <a:t> </a:t>
            </a:r>
            <a:r>
              <a:rPr spc="-10" dirty="0"/>
              <a:t>(upward)</a:t>
            </a:r>
          </a:p>
        </p:txBody>
      </p:sp>
      <p:graphicFrame>
        <p:nvGraphicFramePr>
          <p:cNvPr id="19" name="object 5">
            <a:extLst>
              <a:ext uri="{FF2B5EF4-FFF2-40B4-BE49-F238E27FC236}">
                <a16:creationId xmlns:a16="http://schemas.microsoft.com/office/drawing/2014/main" id="{D69F0A84-FA04-45B1-B8DB-52B360CBEF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640915"/>
              </p:ext>
            </p:extLst>
          </p:nvPr>
        </p:nvGraphicFramePr>
        <p:xfrm>
          <a:off x="1812261" y="1809370"/>
          <a:ext cx="4485856" cy="2640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53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2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4080">
                <a:tc>
                  <a:txBody>
                    <a:bodyPr/>
                    <a:lstStyle/>
                    <a:p>
                      <a:pPr marL="31750">
                        <a:lnSpc>
                          <a:spcPts val="1650"/>
                        </a:lnSpc>
                      </a:pPr>
                      <a:r>
                        <a:rPr sz="1600" b="1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#include</a:t>
                      </a:r>
                      <a:r>
                        <a:rPr sz="1600" b="1" spc="-8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&lt;stdio.h&gt;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600" b="1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void</a:t>
                      </a:r>
                      <a:r>
                        <a:rPr sz="1600" b="1" spc="-6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callMe(int</a:t>
                      </a:r>
                      <a:r>
                        <a:rPr sz="1600" b="1" spc="-7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n){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7715">
                        <a:lnSpc>
                          <a:spcPts val="1650"/>
                        </a:lnSpc>
                      </a:pP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68">
                <a:tc>
                  <a:txBody>
                    <a:bodyPr/>
                    <a:lstStyle/>
                    <a:p>
                      <a:pPr marL="945515">
                        <a:lnSpc>
                          <a:spcPts val="1895"/>
                        </a:lnSpc>
                      </a:pPr>
                      <a:r>
                        <a:rPr sz="1600" b="1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if(n</a:t>
                      </a: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==</a:t>
                      </a: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0)</a:t>
                      </a:r>
                      <a:endParaRPr lang="en-US" sz="1600" b="1" dirty="0">
                        <a:solidFill>
                          <a:srgbClr val="006600"/>
                        </a:solidFill>
                        <a:latin typeface="Courier New"/>
                        <a:cs typeface="Courier New"/>
                      </a:endParaRPr>
                    </a:p>
                    <a:p>
                      <a:pPr marL="945515">
                        <a:lnSpc>
                          <a:spcPts val="1895"/>
                        </a:lnSpc>
                      </a:pPr>
                      <a:r>
                        <a:rPr lang="en-US"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    </a:t>
                      </a: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return;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 algn="ctr">
                        <a:lnSpc>
                          <a:spcPts val="1895"/>
                        </a:lnSpc>
                      </a:pP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464">
                <a:tc>
                  <a:txBody>
                    <a:bodyPr/>
                    <a:lstStyle/>
                    <a:p>
                      <a:pPr marL="945515">
                        <a:lnSpc>
                          <a:spcPts val="1895"/>
                        </a:lnSpc>
                      </a:pPr>
                      <a:r>
                        <a:rPr lang="en-US" sz="1600" b="1" spc="-20" dirty="0" err="1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callMe</a:t>
                      </a:r>
                      <a:r>
                        <a:rPr lang="en-US" sz="16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(n-</a:t>
                      </a:r>
                      <a:r>
                        <a:rPr lang="en-US"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1);</a:t>
                      </a:r>
                      <a:r>
                        <a:rPr lang="en-US"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 algn="ctr">
                        <a:lnSpc>
                          <a:spcPts val="1895"/>
                        </a:lnSpc>
                      </a:pP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464">
                <a:tc>
                  <a:txBody>
                    <a:bodyPr/>
                    <a:lstStyle/>
                    <a:p>
                      <a:pPr marL="945515" marR="0" lvl="0" indent="0" defTabSz="914400" eaLnBrk="1" fontAlgn="auto" latinLnBrk="0" hangingPunct="1">
                        <a:lnSpc>
                          <a:spcPts val="18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spc="-10" dirty="0" err="1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printf</a:t>
                      </a:r>
                      <a:r>
                        <a:rPr lang="en-US"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(“%d\</a:t>
                      </a:r>
                      <a:r>
                        <a:rPr lang="en-US" sz="1600" b="1" spc="-10" dirty="0" err="1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n”,n</a:t>
                      </a:r>
                      <a:r>
                        <a:rPr lang="en-US"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);</a:t>
                      </a:r>
                      <a:endParaRPr lang="en-US"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rowSpan="5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5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464">
                <a:tc>
                  <a:txBody>
                    <a:bodyPr/>
                    <a:lstStyle/>
                    <a:p>
                      <a:pPr marL="31750">
                        <a:lnSpc>
                          <a:spcPts val="1895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464">
                <a:tc>
                  <a:txBody>
                    <a:bodyPr/>
                    <a:lstStyle/>
                    <a:p>
                      <a:pPr marL="31750">
                        <a:lnSpc>
                          <a:spcPts val="1895"/>
                        </a:lnSpc>
                      </a:pPr>
                      <a:r>
                        <a:rPr sz="1600" b="1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void</a:t>
                      </a:r>
                      <a:r>
                        <a:rPr sz="1600" b="1" spc="-4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main(){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464">
                <a:tc>
                  <a:txBody>
                    <a:bodyPr/>
                    <a:lstStyle/>
                    <a:p>
                      <a:pPr marL="945515">
                        <a:lnSpc>
                          <a:spcPts val="1895"/>
                        </a:lnSpc>
                      </a:pP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callMe(2);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980">
                <a:tc>
                  <a:txBody>
                    <a:bodyPr/>
                    <a:lstStyle/>
                    <a:p>
                      <a:pPr marL="31750">
                        <a:lnSpc>
                          <a:spcPts val="1895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37CF863-4B2B-496A-B540-D76B5A50A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368041"/>
              </p:ext>
            </p:extLst>
          </p:nvPr>
        </p:nvGraphicFramePr>
        <p:xfrm>
          <a:off x="5863725" y="1860740"/>
          <a:ext cx="1835785" cy="1137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1310">
                  <a:extLst>
                    <a:ext uri="{9D8B030D-6E8A-4147-A177-3AD203B41FA5}">
                      <a16:colId xmlns:a16="http://schemas.microsoft.com/office/drawing/2014/main" val="223166741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309725808"/>
                    </a:ext>
                  </a:extLst>
                </a:gridCol>
              </a:tblGrid>
              <a:tr h="553720">
                <a:tc>
                  <a:txBody>
                    <a:bodyPr/>
                    <a:lstStyle/>
                    <a:p>
                      <a:pPr marL="767715">
                        <a:lnSpc>
                          <a:spcPts val="1650"/>
                        </a:lnSpc>
                      </a:pPr>
                      <a:r>
                        <a:rPr sz="1600" b="1" u="sng" spc="-10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Courier New"/>
                          <a:cs typeface="Courier New"/>
                        </a:rPr>
                        <a:t>Output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0013654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 algn="ctr">
                        <a:lnSpc>
                          <a:spcPts val="1895"/>
                        </a:lnSpc>
                      </a:pPr>
                      <a:r>
                        <a:rPr lang="en-US" sz="16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8310297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 algn="ctr">
                        <a:lnSpc>
                          <a:spcPts val="1895"/>
                        </a:lnSpc>
                      </a:pPr>
                      <a:r>
                        <a:rPr lang="en-US" sz="16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5923909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8839200" y="6901784"/>
            <a:ext cx="262569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10</a:t>
            </a:fld>
            <a:endParaRPr spc="-50"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4EACD772-91D6-4C48-9F71-533CF55EC93B}"/>
              </a:ext>
            </a:extLst>
          </p:cNvPr>
          <p:cNvSpPr txBox="1"/>
          <p:nvPr/>
        </p:nvSpPr>
        <p:spPr>
          <a:xfrm>
            <a:off x="1219200" y="2590800"/>
            <a:ext cx="76962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We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did</a:t>
            </a:r>
            <a:r>
              <a:rPr sz="2400" b="1" spc="-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some</a:t>
            </a:r>
            <a:r>
              <a:rPr sz="2400" b="1" spc="-1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analysis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of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recursion.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Now</a:t>
            </a:r>
            <a:r>
              <a:rPr sz="24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we</a:t>
            </a:r>
            <a:r>
              <a:rPr sz="2400" b="1" spc="-1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006600"/>
                </a:solidFill>
                <a:latin typeface="Verdana"/>
                <a:cs typeface="Verdana"/>
              </a:rPr>
              <a:t>will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see</a:t>
            </a:r>
            <a:r>
              <a:rPr sz="2400" b="1" spc="-4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some</a:t>
            </a:r>
            <a:r>
              <a:rPr sz="2400" b="1" spc="-4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problem</a:t>
            </a:r>
            <a:r>
              <a:rPr sz="2400" b="1" spc="-4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solving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using</a:t>
            </a:r>
            <a:r>
              <a:rPr sz="24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recursion.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43855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8839200" y="6901784"/>
            <a:ext cx="262569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11</a:t>
            </a:fld>
            <a:endParaRPr spc="-50" dirty="0"/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AB9E87FC-EFE6-4ED6-90A8-9500988B6BE7}"/>
              </a:ext>
            </a:extLst>
          </p:cNvPr>
          <p:cNvSpPr txBox="1"/>
          <p:nvPr/>
        </p:nvSpPr>
        <p:spPr>
          <a:xfrm>
            <a:off x="1219200" y="838200"/>
            <a:ext cx="518160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200" b="1" dirty="0">
                <a:solidFill>
                  <a:srgbClr val="660033"/>
                </a:solidFill>
                <a:latin typeface="Verdana"/>
                <a:cs typeface="Verdana"/>
              </a:rPr>
              <a:t>Recursion</a:t>
            </a:r>
            <a:r>
              <a:rPr sz="3200" b="1" spc="-65" dirty="0">
                <a:solidFill>
                  <a:srgbClr val="660033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660033"/>
                </a:solidFill>
                <a:latin typeface="Verdana"/>
                <a:cs typeface="Verdana"/>
              </a:rPr>
              <a:t>main</a:t>
            </a:r>
            <a:r>
              <a:rPr sz="3200" b="1" spc="-80" dirty="0">
                <a:solidFill>
                  <a:srgbClr val="660033"/>
                </a:solidFill>
                <a:latin typeface="Verdana"/>
                <a:cs typeface="Verdana"/>
              </a:rPr>
              <a:t> </a:t>
            </a:r>
            <a:r>
              <a:rPr sz="3200" b="1" spc="-10" dirty="0">
                <a:solidFill>
                  <a:srgbClr val="660033"/>
                </a:solidFill>
                <a:latin typeface="Verdana"/>
                <a:cs typeface="Verdana"/>
              </a:rPr>
              <a:t>logic</a:t>
            </a:r>
            <a:endParaRPr sz="3200" dirty="0">
              <a:latin typeface="Verdana"/>
              <a:cs typeface="Verdana"/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5BFDE34F-BB9C-4AAE-9A02-CBF2C62ECD6F}"/>
              </a:ext>
            </a:extLst>
          </p:cNvPr>
          <p:cNvSpPr txBox="1"/>
          <p:nvPr/>
        </p:nvSpPr>
        <p:spPr>
          <a:xfrm>
            <a:off x="1219212" y="1568108"/>
            <a:ext cx="8494019" cy="3028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904" marR="482600" indent="-256540">
              <a:lnSpc>
                <a:spcPct val="250000"/>
              </a:lnSpc>
              <a:spcBef>
                <a:spcPts val="100"/>
              </a:spcBef>
              <a:buAutoNum type="alphaLcParenR"/>
              <a:tabLst>
                <a:tab pos="257175" algn="l"/>
              </a:tabLst>
            </a:pP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Find</a:t>
            </a:r>
            <a:r>
              <a:rPr sz="2000" b="1" spc="-4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Recursive</a:t>
            </a:r>
            <a:r>
              <a:rPr sz="2000" b="1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Definition</a:t>
            </a:r>
            <a:r>
              <a:rPr sz="2000" b="1" spc="-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(RD)</a:t>
            </a:r>
            <a:r>
              <a:rPr sz="20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of</a:t>
            </a:r>
            <a:r>
              <a:rPr sz="20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spc="-25" dirty="0">
                <a:solidFill>
                  <a:srgbClr val="006600"/>
                </a:solidFill>
                <a:latin typeface="Verdana"/>
                <a:cs typeface="Verdana"/>
              </a:rPr>
              <a:t>the</a:t>
            </a:r>
            <a:r>
              <a:rPr lang="en-US" sz="2000" b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006600"/>
                </a:solidFill>
                <a:latin typeface="Verdana"/>
                <a:cs typeface="Verdana"/>
              </a:rPr>
              <a:t>problem</a:t>
            </a:r>
            <a:endParaRPr sz="2000" dirty="0">
              <a:latin typeface="Verdana"/>
              <a:cs typeface="Verdana"/>
            </a:endParaRPr>
          </a:p>
          <a:p>
            <a:pPr marL="255904" marR="60325" indent="-256540">
              <a:lnSpc>
                <a:spcPct val="250000"/>
              </a:lnSpc>
              <a:spcBef>
                <a:spcPts val="285"/>
              </a:spcBef>
              <a:buAutoNum type="alphaLcParenR"/>
              <a:tabLst>
                <a:tab pos="257175" algn="l"/>
              </a:tabLst>
            </a:pP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Find</a:t>
            </a:r>
            <a:r>
              <a:rPr sz="20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Base</a:t>
            </a:r>
            <a:r>
              <a:rPr sz="2000" b="1" spc="-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case</a:t>
            </a:r>
            <a:r>
              <a:rPr sz="2000" b="1" spc="-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where we</a:t>
            </a:r>
            <a:r>
              <a:rPr sz="2000" b="1" spc="-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do</a:t>
            </a:r>
            <a:r>
              <a:rPr sz="2000" b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not</a:t>
            </a:r>
            <a:r>
              <a:rPr sz="2000" b="1" spc="-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need</a:t>
            </a:r>
            <a:r>
              <a:rPr sz="2000" b="1" spc="-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spc="-25" dirty="0">
                <a:solidFill>
                  <a:srgbClr val="006600"/>
                </a:solidFill>
                <a:latin typeface="Verdana"/>
                <a:cs typeface="Verdana"/>
              </a:rPr>
              <a:t>any 	</a:t>
            </a:r>
            <a:r>
              <a:rPr sz="2000" b="1" spc="-10" dirty="0">
                <a:solidFill>
                  <a:srgbClr val="006600"/>
                </a:solidFill>
                <a:latin typeface="Verdana"/>
                <a:cs typeface="Verdana"/>
              </a:rPr>
              <a:t>recursion</a:t>
            </a:r>
            <a:endParaRPr sz="2000" dirty="0">
              <a:latin typeface="Verdana"/>
              <a:cs typeface="Verdana"/>
            </a:endParaRPr>
          </a:p>
          <a:p>
            <a:pPr marL="257175" marR="5080" indent="-257810">
              <a:lnSpc>
                <a:spcPct val="250000"/>
              </a:lnSpc>
              <a:spcBef>
                <a:spcPts val="290"/>
              </a:spcBef>
              <a:buAutoNum type="alphaLcParenR"/>
              <a:tabLst>
                <a:tab pos="257175" algn="l"/>
              </a:tabLst>
            </a:pP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Put</a:t>
            </a:r>
            <a:r>
              <a:rPr sz="20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Base</a:t>
            </a:r>
            <a:r>
              <a:rPr sz="2000" b="1" spc="-1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case</a:t>
            </a:r>
            <a:r>
              <a:rPr sz="2000" b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inside</a:t>
            </a:r>
            <a:r>
              <a:rPr sz="2000" b="1" spc="-1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if</a:t>
            </a:r>
            <a:r>
              <a:rPr sz="2000" b="1" spc="-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block</a:t>
            </a:r>
            <a:r>
              <a:rPr sz="2000" b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and</a:t>
            </a:r>
            <a:r>
              <a:rPr sz="2000" b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006600"/>
                </a:solidFill>
                <a:latin typeface="Verdana"/>
                <a:cs typeface="Verdana"/>
              </a:rPr>
              <a:t>recursive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part</a:t>
            </a:r>
            <a:r>
              <a:rPr sz="2000" b="1" spc="-6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under</a:t>
            </a:r>
            <a:r>
              <a:rPr sz="2000" b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else</a:t>
            </a:r>
            <a:r>
              <a:rPr sz="2000" b="1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006600"/>
                </a:solidFill>
                <a:latin typeface="Verdana"/>
                <a:cs typeface="Verdana"/>
              </a:rPr>
              <a:t>block.</a:t>
            </a:r>
            <a:endParaRPr sz="20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889219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8839200" y="6901784"/>
            <a:ext cx="262569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12</a:t>
            </a:fld>
            <a:endParaRPr spc="-50" dirty="0"/>
          </a:p>
        </p:txBody>
      </p:sp>
      <p:sp>
        <p:nvSpPr>
          <p:cNvPr id="6" name="object 14">
            <a:extLst>
              <a:ext uri="{FF2B5EF4-FFF2-40B4-BE49-F238E27FC236}">
                <a16:creationId xmlns:a16="http://schemas.microsoft.com/office/drawing/2014/main" id="{E81DA439-564C-4C2E-A42C-238EFEE87DA1}"/>
              </a:ext>
            </a:extLst>
          </p:cNvPr>
          <p:cNvSpPr txBox="1"/>
          <p:nvPr/>
        </p:nvSpPr>
        <p:spPr>
          <a:xfrm>
            <a:off x="1219212" y="838200"/>
            <a:ext cx="379935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200" b="1" dirty="0">
                <a:solidFill>
                  <a:srgbClr val="660033"/>
                </a:solidFill>
                <a:latin typeface="Verdana"/>
                <a:cs typeface="Verdana"/>
              </a:rPr>
              <a:t>Problem</a:t>
            </a:r>
            <a:r>
              <a:rPr sz="3200" b="1" spc="-80" dirty="0">
                <a:solidFill>
                  <a:srgbClr val="660033"/>
                </a:solidFill>
                <a:latin typeface="Verdana"/>
                <a:cs typeface="Verdana"/>
              </a:rPr>
              <a:t> </a:t>
            </a:r>
            <a:r>
              <a:rPr sz="3200" b="1" spc="-50" dirty="0">
                <a:solidFill>
                  <a:srgbClr val="660033"/>
                </a:solidFill>
                <a:latin typeface="Verdana"/>
                <a:cs typeface="Verdana"/>
              </a:rPr>
              <a:t>1</a:t>
            </a:r>
            <a:endParaRPr sz="3200" dirty="0">
              <a:latin typeface="Verdana"/>
              <a:cs typeface="Verdan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26E9CA-EEA7-4A5A-92E0-784AA68570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9412"/>
          <a:stretch/>
        </p:blipFill>
        <p:spPr>
          <a:xfrm>
            <a:off x="1231617" y="2209800"/>
            <a:ext cx="7649308" cy="274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7DCC80-92A5-4904-84F5-002F748A3D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0588"/>
          <a:stretch/>
        </p:blipFill>
        <p:spPr>
          <a:xfrm>
            <a:off x="1231617" y="4953000"/>
            <a:ext cx="7649308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810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8839200" y="6901784"/>
            <a:ext cx="262569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13</a:t>
            </a:fld>
            <a:endParaRPr spc="-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01D375-8B73-469E-A9CA-4614AAE55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68266"/>
            <a:ext cx="8263569" cy="634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529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8839200" y="6901784"/>
            <a:ext cx="262569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14</a:t>
            </a:fld>
            <a:endParaRPr spc="-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D9E662-753D-447B-B2A8-5CD4B2C7C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65" y="666265"/>
            <a:ext cx="897427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189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8839200" y="6901784"/>
            <a:ext cx="262569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15</a:t>
            </a:fld>
            <a:endParaRPr spc="-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67A6D9-16A8-4C46-B8B9-826269777E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7758"/>
          <a:stretch/>
        </p:blipFill>
        <p:spPr>
          <a:xfrm>
            <a:off x="570595" y="666265"/>
            <a:ext cx="8917209" cy="43629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855879-EE75-4220-8162-1278765D07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3504"/>
          <a:stretch/>
        </p:blipFill>
        <p:spPr>
          <a:xfrm>
            <a:off x="570595" y="5105400"/>
            <a:ext cx="8917209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278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8839200" y="6901784"/>
            <a:ext cx="262569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16</a:t>
            </a:fld>
            <a:endParaRPr spc="-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3DD79D-9E2A-4C44-BE9F-DE61D7A51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812" y="455428"/>
            <a:ext cx="8266775" cy="644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488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8839200" y="6901784"/>
            <a:ext cx="262569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17</a:t>
            </a:fld>
            <a:endParaRPr spc="-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AFDA4A-6F5D-437E-9ACB-450EDE912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27" y="762000"/>
            <a:ext cx="8990546" cy="589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847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8839200" y="6901784"/>
            <a:ext cx="262569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18</a:t>
            </a:fld>
            <a:endParaRPr spc="-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4ACB45-C328-434C-858E-71390F65AA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3500"/>
          <a:stretch/>
        </p:blipFill>
        <p:spPr>
          <a:xfrm>
            <a:off x="708370" y="761999"/>
            <a:ext cx="8664229" cy="4267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3972C4-4E82-46FD-A3C6-597DA27B89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7866"/>
          <a:stretch/>
        </p:blipFill>
        <p:spPr>
          <a:xfrm>
            <a:off x="708370" y="5105400"/>
            <a:ext cx="8664229" cy="123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020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8839200" y="6901784"/>
            <a:ext cx="262569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19</a:t>
            </a:fld>
            <a:endParaRPr spc="-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FD629D-CEA9-407C-9D4A-7AD228430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308" y="457200"/>
            <a:ext cx="8263247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401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8839200" y="6901784"/>
            <a:ext cx="262569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20</a:t>
            </a:fld>
            <a:endParaRPr spc="-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493397-A76E-4CE5-94BC-0A2A368E2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39" y="661551"/>
            <a:ext cx="8904321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515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738</TotalTime>
  <Words>517</Words>
  <Application>Microsoft Office PowerPoint</Application>
  <PresentationFormat>Custom</PresentationFormat>
  <Paragraphs>154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Courier New</vt:lpstr>
      <vt:lpstr>Times New Roman</vt:lpstr>
      <vt:lpstr>Verdana</vt:lpstr>
      <vt:lpstr>Office Theme</vt:lpstr>
      <vt:lpstr>Recursion in C</vt:lpstr>
      <vt:lpstr>Consider a function</vt:lpstr>
      <vt:lpstr>Consider a function</vt:lpstr>
      <vt:lpstr>Consider a function</vt:lpstr>
      <vt:lpstr>What is Recursion?</vt:lpstr>
      <vt:lpstr>How to stop?</vt:lpstr>
      <vt:lpstr>Another example</vt:lpstr>
      <vt:lpstr>Printing numbers (downward)</vt:lpstr>
      <vt:lpstr>Printing numbers (upward)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Recursion [Compatibility Mode]</dc:title>
  <dc:creator>TEL-Workshop-02</dc:creator>
  <cp:lastModifiedBy>Asif Rifat</cp:lastModifiedBy>
  <cp:revision>12</cp:revision>
  <dcterms:created xsi:type="dcterms:W3CDTF">2025-01-01T13:32:44Z</dcterms:created>
  <dcterms:modified xsi:type="dcterms:W3CDTF">2025-05-05T01:30:51Z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2020-04-25T00:00:00Z</vt:filetime>
  </property>
  <property fmtid="{D5CDD505-2E9C-101B-9397-08002B2CF9AE}" pid="3" name="LastSaved">
    <vt:filetime>2025-01-01T00:00:00Z</vt:filetime>
  </property>
  <property fmtid="{D5CDD505-2E9C-101B-9397-08002B2CF9AE}" pid="4" name="Producer">
    <vt:lpwstr>Microsoft: Print To PDF</vt:lpwstr>
  </property>
</Properties>
</file>