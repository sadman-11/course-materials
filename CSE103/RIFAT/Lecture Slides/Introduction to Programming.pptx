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1692"/>
            <a:ext cx="6090285" cy="516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692"/>
            <a:ext cx="6932295" cy="516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7975" y="1454065"/>
            <a:ext cx="490220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99675" y="4750367"/>
            <a:ext cx="28702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asif.rifat@ewubd.ed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687" y="1087373"/>
            <a:ext cx="721677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CSE</a:t>
            </a:r>
            <a:r>
              <a:rPr sz="5200" spc="-30" dirty="0"/>
              <a:t> </a:t>
            </a:r>
            <a:r>
              <a:rPr sz="5200" spc="-25" dirty="0"/>
              <a:t>103</a:t>
            </a:r>
            <a:endParaRPr sz="5200"/>
          </a:p>
          <a:p>
            <a:pPr algn="ctr">
              <a:lnSpc>
                <a:spcPct val="100000"/>
              </a:lnSpc>
            </a:pPr>
            <a:r>
              <a:rPr sz="5200" dirty="0"/>
              <a:t>Structured</a:t>
            </a:r>
            <a:r>
              <a:rPr sz="5200" spc="-55" dirty="0"/>
              <a:t> </a:t>
            </a:r>
            <a:r>
              <a:rPr sz="5200" spc="-10" dirty="0"/>
              <a:t>Programming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2181558" y="2858788"/>
            <a:ext cx="4778375" cy="160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Lecture</a:t>
            </a:r>
            <a:r>
              <a:rPr sz="2800" spc="-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01:</a:t>
            </a:r>
            <a:r>
              <a:rPr sz="2800" spc="-1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Introductory</a:t>
            </a:r>
            <a:r>
              <a:rPr sz="2800" spc="-114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95959"/>
                </a:solidFill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  <a:p>
            <a:pPr marL="12700" marR="5080" indent="865505">
              <a:lnSpc>
                <a:spcPts val="3020"/>
              </a:lnSpc>
              <a:spcBef>
                <a:spcPts val="3070"/>
              </a:spcBef>
            </a:pP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Md.</a:t>
            </a:r>
            <a:r>
              <a:rPr sz="2800" spc="-1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Asif</a:t>
            </a:r>
            <a:r>
              <a:rPr sz="2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Khan</a:t>
            </a:r>
            <a:r>
              <a:rPr sz="2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95959"/>
                </a:solidFill>
                <a:latin typeface="Arial MT"/>
                <a:cs typeface="Arial MT"/>
              </a:rPr>
              <a:t>Rifat Lecturer,</a:t>
            </a:r>
            <a:r>
              <a:rPr sz="2800" spc="-10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East</a:t>
            </a:r>
            <a:r>
              <a:rPr sz="2800" spc="-1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West</a:t>
            </a:r>
            <a:r>
              <a:rPr sz="2800" spc="-1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Course</a:t>
            </a:r>
            <a:r>
              <a:rPr sz="2500" spc="-25" dirty="0"/>
              <a:t> </a:t>
            </a:r>
            <a:r>
              <a:rPr sz="2500" spc="-10" dirty="0"/>
              <a:t>Resources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59424" y="1169620"/>
            <a:ext cx="7223759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Google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Classroom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Code: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kl3fajf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teaching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materials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uploaded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google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classroom.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3904" y="47335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0327" y="2571738"/>
            <a:ext cx="2463324" cy="1385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Course</a:t>
            </a:r>
            <a:r>
              <a:rPr spc="-25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22362"/>
            <a:ext cx="837057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 algn="just">
              <a:lnSpc>
                <a:spcPct val="114999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Objective</a:t>
            </a:r>
            <a:r>
              <a:rPr sz="2000" b="1" spc="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1:</a:t>
            </a:r>
            <a:r>
              <a:rPr sz="2000" b="1" spc="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Understand</a:t>
            </a:r>
            <a:r>
              <a:rPr sz="2000" b="1" spc="21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apply</a:t>
            </a:r>
            <a:r>
              <a:rPr sz="2000" b="1" spc="19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fundamentals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programming, </a:t>
            </a:r>
            <a:r>
              <a:rPr sz="2000" dirty="0">
                <a:latin typeface="Arial MT"/>
                <a:cs typeface="Arial MT"/>
              </a:rPr>
              <a:t>basics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elementary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programming,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statements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language.</a:t>
            </a:r>
            <a:endParaRPr sz="2000" dirty="0">
              <a:latin typeface="Arial MT"/>
              <a:cs typeface="Arial MT"/>
            </a:endParaRPr>
          </a:p>
          <a:p>
            <a:pPr marL="12700" marR="35560" algn="just">
              <a:lnSpc>
                <a:spcPct val="114999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Objective</a:t>
            </a:r>
            <a:r>
              <a:rPr sz="2000" b="1" spc="3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2:</a:t>
            </a:r>
            <a:r>
              <a:rPr sz="2000" b="1" spc="3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Understand</a:t>
            </a:r>
            <a:r>
              <a:rPr sz="2000" b="1" spc="38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apply</a:t>
            </a:r>
            <a:r>
              <a:rPr sz="2000" b="1" spc="3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implementing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programs.</a:t>
            </a:r>
            <a:endParaRPr sz="2000" dirty="0">
              <a:latin typeface="Arial MT"/>
              <a:cs typeface="Arial MT"/>
            </a:endParaRPr>
          </a:p>
          <a:p>
            <a:pPr marL="12700" marR="44450" algn="just">
              <a:lnSpc>
                <a:spcPct val="114999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Objective</a:t>
            </a:r>
            <a:r>
              <a:rPr sz="2000" b="1" spc="4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3:</a:t>
            </a:r>
            <a:r>
              <a:rPr sz="2000" b="1" spc="4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Understand</a:t>
            </a:r>
            <a:r>
              <a:rPr sz="2000" b="1" spc="49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4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4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structures,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4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defined</a:t>
            </a:r>
            <a:r>
              <a:rPr sz="2000" spc="4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 </a:t>
            </a:r>
            <a:r>
              <a:rPr sz="2000" dirty="0">
                <a:latin typeface="Arial MT"/>
                <a:cs typeface="Arial MT"/>
              </a:rPr>
              <a:t>types,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dynamic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implementing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programs.</a:t>
            </a:r>
            <a:endParaRPr sz="2000" dirty="0">
              <a:latin typeface="Arial MT"/>
              <a:cs typeface="Arial MT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Objective</a:t>
            </a:r>
            <a:r>
              <a:rPr sz="2000" b="1" spc="235" dirty="0">
                <a:latin typeface="Arial"/>
                <a:cs typeface="Arial"/>
              </a:rPr>
              <a:t>  </a:t>
            </a:r>
            <a:r>
              <a:rPr sz="2000" b="1" dirty="0">
                <a:latin typeface="Arial"/>
                <a:cs typeface="Arial"/>
              </a:rPr>
              <a:t>4:</a:t>
            </a:r>
            <a:r>
              <a:rPr sz="2000" b="1" spc="235" dirty="0">
                <a:latin typeface="Arial"/>
                <a:cs typeface="Arial"/>
              </a:rPr>
              <a:t>  </a:t>
            </a:r>
            <a:r>
              <a:rPr sz="2000" b="1" dirty="0">
                <a:latin typeface="Arial"/>
                <a:cs typeface="Arial"/>
              </a:rPr>
              <a:t>Demonstrate</a:t>
            </a:r>
            <a:r>
              <a:rPr sz="2000" b="1" spc="235" dirty="0">
                <a:latin typeface="Arial"/>
                <a:cs typeface="Arial"/>
              </a:rPr>
              <a:t>  </a:t>
            </a:r>
            <a:r>
              <a:rPr sz="2000" dirty="0">
                <a:latin typeface="Arial MT"/>
                <a:cs typeface="Arial MT"/>
              </a:rPr>
              <a:t>skills</a:t>
            </a:r>
            <a:r>
              <a:rPr sz="2000" spc="2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2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choose</a:t>
            </a:r>
            <a:r>
              <a:rPr sz="2000" spc="2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appropriate</a:t>
            </a:r>
            <a:r>
              <a:rPr sz="2000" spc="23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language </a:t>
            </a:r>
            <a:r>
              <a:rPr sz="2000" dirty="0">
                <a:latin typeface="Arial MT"/>
                <a:cs typeface="Arial MT"/>
              </a:rPr>
              <a:t>constructs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structures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design,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build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realistic,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complex applications.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3904" y="47335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Course</a:t>
            </a:r>
            <a:r>
              <a:rPr spc="-85" dirty="0"/>
              <a:t> </a:t>
            </a:r>
            <a:r>
              <a:rPr spc="-30"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424" y="1169620"/>
            <a:ext cx="4730115" cy="38811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Introduction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Syntax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Types,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Variables,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Operators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(if-</a:t>
            </a:r>
            <a:r>
              <a:rPr sz="2000" dirty="0">
                <a:latin typeface="Arial MT"/>
                <a:cs typeface="Arial MT"/>
              </a:rPr>
              <a:t>else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loops)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Recursion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1D,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2D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Strings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Pointers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Structures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I/O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(Input/Output)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Error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Handling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Debugging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Dynamic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Allocation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3904" y="473352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026" name="Picture 2" descr="4,850 C Language Stock Vectors and Vector Art | Shutterstock">
            <a:extLst>
              <a:ext uri="{FF2B5EF4-FFF2-40B4-BE49-F238E27FC236}">
                <a16:creationId xmlns:a16="http://schemas.microsoft.com/office/drawing/2014/main" id="{AEBF5EE0-8479-435F-8EA2-68A38A3CC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971" y="1581150"/>
            <a:ext cx="2857501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074" y="1169620"/>
            <a:ext cx="6506209" cy="216212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481965" algn="l"/>
              </a:tabLst>
            </a:pPr>
            <a:r>
              <a:rPr sz="1900" spc="-50" dirty="0">
                <a:latin typeface="MS PGothic"/>
                <a:cs typeface="MS PGothic"/>
              </a:rPr>
              <a:t>❏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course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tx2"/>
                </a:solidFill>
                <a:latin typeface="Arial MT"/>
                <a:cs typeface="Arial MT"/>
              </a:rPr>
              <a:t>practical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oriented.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81965" algn="l"/>
              </a:tabLst>
            </a:pPr>
            <a:r>
              <a:rPr sz="1900" spc="-50" dirty="0">
                <a:latin typeface="MS PGothic"/>
                <a:cs typeface="MS PGothic"/>
              </a:rPr>
              <a:t>❏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Memorization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result.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81965" algn="l"/>
              </a:tabLst>
            </a:pPr>
            <a:r>
              <a:rPr sz="1900" spc="-50" dirty="0">
                <a:latin typeface="MS PGothic"/>
                <a:cs typeface="MS PGothic"/>
              </a:rPr>
              <a:t>❏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Three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course:</a:t>
            </a:r>
            <a:endParaRPr sz="2000" dirty="0">
              <a:latin typeface="Arial MT"/>
              <a:cs typeface="Arial MT"/>
            </a:endParaRPr>
          </a:p>
          <a:p>
            <a:pPr marL="939165" indent="-44005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939165" algn="l"/>
              </a:tabLst>
            </a:pPr>
            <a:r>
              <a:rPr sz="2000" spc="-10" dirty="0">
                <a:latin typeface="Arial MT"/>
                <a:cs typeface="Arial MT"/>
              </a:rPr>
              <a:t>Practice</a:t>
            </a:r>
            <a:endParaRPr sz="2000" dirty="0">
              <a:latin typeface="Arial MT"/>
              <a:cs typeface="Arial MT"/>
            </a:endParaRPr>
          </a:p>
          <a:p>
            <a:pPr marL="939165" indent="-44005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939165" algn="l"/>
              </a:tabLst>
            </a:pP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&amp;</a:t>
            </a:r>
            <a:endParaRPr sz="2000" dirty="0">
              <a:latin typeface="Arial MT"/>
              <a:cs typeface="Arial MT"/>
            </a:endParaRPr>
          </a:p>
          <a:p>
            <a:pPr marL="939165" indent="-44005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939165" algn="l"/>
              </a:tabLst>
            </a:pPr>
            <a:r>
              <a:rPr sz="2000" spc="-10" dirty="0">
                <a:latin typeface="Arial MT"/>
                <a:cs typeface="Arial MT"/>
              </a:rPr>
              <a:t>Practice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CF281-E738-42C5-9EB1-0E8711D63772}"/>
              </a:ext>
            </a:extLst>
          </p:cNvPr>
          <p:cNvSpPr txBox="1"/>
          <p:nvPr/>
        </p:nvSpPr>
        <p:spPr>
          <a:xfrm>
            <a:off x="384725" y="3638550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• Copying Code:</a:t>
            </a:r>
          </a:p>
          <a:p>
            <a:pPr lvl="6"/>
            <a:r>
              <a:rPr lang="en-US" dirty="0">
                <a:solidFill>
                  <a:srgbClr val="FF0000"/>
                </a:solidFill>
              </a:rPr>
              <a:t>• Strictly prohibited.</a:t>
            </a:r>
          </a:p>
          <a:p>
            <a:pPr lvl="3"/>
            <a:r>
              <a:rPr lang="en-US" dirty="0">
                <a:solidFill>
                  <a:srgbClr val="FF0000"/>
                </a:solidFill>
              </a:rPr>
              <a:t>• Will be severely punished if you are caught.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Reference</a:t>
            </a:r>
            <a:r>
              <a:rPr spc="-40" dirty="0"/>
              <a:t> </a:t>
            </a:r>
            <a:r>
              <a:rPr spc="-10" dirty="0"/>
              <a:t>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575" y="1169620"/>
            <a:ext cx="5248910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52755" indent="-44005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52755" algn="l"/>
              </a:tabLst>
            </a:pPr>
            <a:r>
              <a:rPr sz="2000" spc="-55" dirty="0">
                <a:latin typeface="Arial MT"/>
                <a:cs typeface="Arial MT"/>
              </a:rPr>
              <a:t>Teach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Yourself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Herbert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Schildt</a:t>
            </a:r>
            <a:endParaRPr sz="2000">
              <a:latin typeface="Arial MT"/>
              <a:cs typeface="Arial MT"/>
            </a:endParaRPr>
          </a:p>
          <a:p>
            <a:pPr marL="452755" indent="-440055">
              <a:lnSpc>
                <a:spcPct val="100000"/>
              </a:lnSpc>
              <a:spcBef>
                <a:spcPts val="359"/>
              </a:spcBef>
              <a:buAutoNum type="arabicPeriod"/>
              <a:tabLst>
                <a:tab pos="452755" algn="l"/>
              </a:tabLst>
            </a:pPr>
            <a:r>
              <a:rPr sz="2000" dirty="0">
                <a:latin typeface="Arial MT"/>
                <a:cs typeface="Arial MT"/>
              </a:rPr>
              <a:t>Programming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ANSI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E.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Balagurusamy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075" y="2829899"/>
            <a:ext cx="1121699" cy="1735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0300" y="2829900"/>
            <a:ext cx="1301967" cy="17359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Timetable</a:t>
            </a:r>
            <a:r>
              <a:rPr spc="-160" dirty="0"/>
              <a:t> </a:t>
            </a:r>
            <a:r>
              <a:rPr spc="-10" dirty="0"/>
              <a:t>Synopsis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424" y="1190955"/>
            <a:ext cx="7329170" cy="3193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Lectures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ts val="2160"/>
              </a:lnSpc>
              <a:tabLst>
                <a:tab pos="9518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Day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Time:</a:t>
            </a:r>
            <a:endParaRPr sz="2000" dirty="0">
              <a:latin typeface="Arial MT"/>
              <a:cs typeface="Arial MT"/>
            </a:endParaRPr>
          </a:p>
          <a:p>
            <a:pPr marL="927100">
              <a:lnSpc>
                <a:spcPts val="2160"/>
              </a:lnSpc>
              <a:tabLst>
                <a:tab pos="14090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Section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10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lang="en-US" sz="2000" dirty="0">
                <a:latin typeface="Arial MT"/>
                <a:cs typeface="Arial MT"/>
              </a:rPr>
              <a:t>MW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8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lang="en-US" sz="2000" dirty="0">
                <a:latin typeface="Arial MT"/>
                <a:cs typeface="Arial MT"/>
              </a:rPr>
              <a:t>30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10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lang="en-US" sz="2000" dirty="0">
                <a:latin typeface="Arial MT"/>
                <a:cs typeface="Arial MT"/>
              </a:rPr>
              <a:t>0</a:t>
            </a:r>
            <a:r>
              <a:rPr sz="2000" dirty="0">
                <a:latin typeface="Arial MT"/>
                <a:cs typeface="Arial MT"/>
              </a:rPr>
              <a:t>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PM)</a:t>
            </a:r>
            <a:endParaRPr sz="2000" dirty="0">
              <a:latin typeface="Arial MT"/>
              <a:cs typeface="Arial MT"/>
            </a:endParaRPr>
          </a:p>
          <a:p>
            <a:pPr marL="927100">
              <a:lnSpc>
                <a:spcPts val="2280"/>
              </a:lnSpc>
              <a:tabLst>
                <a:tab pos="1409065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ts val="2280"/>
              </a:lnSpc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Office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Hours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ts val="2160"/>
              </a:lnSpc>
              <a:tabLst>
                <a:tab pos="9518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Day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course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outline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ts val="2280"/>
              </a:lnSpc>
              <a:tabLst>
                <a:tab pos="9518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Room: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AB3-303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000" dirty="0">
              <a:latin typeface="Arial MT"/>
              <a:cs typeface="Arial MT"/>
            </a:endParaRPr>
          </a:p>
          <a:p>
            <a:pPr marL="3746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Email: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  <a:hlinkClick r:id="rId2"/>
              </a:rPr>
              <a:t>asif.rifat@ewubd.edu</a:t>
            </a:r>
            <a:endParaRPr sz="2000" dirty="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hesitate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contact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concerns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questions.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40374" y="553129"/>
          <a:ext cx="4957445" cy="273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56515">
                        <a:lnSpc>
                          <a:spcPts val="3554"/>
                        </a:lnSpc>
                      </a:pPr>
                      <a:r>
                        <a:rPr sz="3200" dirty="0">
                          <a:latin typeface="Arial MT"/>
                          <a:cs typeface="Arial MT"/>
                        </a:rPr>
                        <a:t>Marks </a:t>
                      </a:r>
                      <a:r>
                        <a:rPr sz="3200" spc="-10" dirty="0">
                          <a:latin typeface="Arial MT"/>
                          <a:cs typeface="Arial MT"/>
                        </a:rPr>
                        <a:t>Distribution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Class</a:t>
                      </a:r>
                      <a:r>
                        <a:rPr sz="20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Test/Quizzes: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10%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Mid-term</a:t>
                      </a:r>
                      <a:r>
                        <a:rPr sz="2000" spc="-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Assessment: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30%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Final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Exam: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30%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Lab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Performance/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Experiments: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10%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Lab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Final: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10%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  <a:spcBef>
                          <a:spcPts val="70"/>
                        </a:spcBef>
                        <a:tabLst>
                          <a:tab pos="513715" algn="l"/>
                        </a:tabLst>
                      </a:pPr>
                      <a:r>
                        <a:rPr sz="2000" spc="-50" dirty="0">
                          <a:latin typeface="MS PGothic"/>
                          <a:cs typeface="MS PGothic"/>
                        </a:rPr>
                        <a:t>❏</a:t>
                      </a:r>
                      <a:r>
                        <a:rPr sz="2000" dirty="0">
                          <a:latin typeface="MS PGothic"/>
                          <a:cs typeface="MS PGothic"/>
                        </a:rPr>
                        <a:t>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Mini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(Group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Based):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7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10%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84725" y="3470859"/>
            <a:ext cx="610489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Grading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Policy: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EWU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Makeup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exam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taken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except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medical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issues.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Programming?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88493"/>
            <a:ext cx="803529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computer.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925" y="2510862"/>
            <a:ext cx="4974643" cy="23886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Programming</a:t>
            </a:r>
            <a:r>
              <a:rPr spc="-7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48647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Programming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Language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types: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921" y="2021079"/>
            <a:ext cx="5553909" cy="25132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Structured</a:t>
            </a:r>
            <a:r>
              <a:rPr spc="-45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8272" y="4733525"/>
            <a:ext cx="210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424" y="1169620"/>
            <a:ext cx="8383270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10795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programming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modular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programming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 </a:t>
            </a:r>
            <a:r>
              <a:rPr sz="2000" dirty="0">
                <a:latin typeface="Arial MT"/>
                <a:cs typeface="Arial MT"/>
              </a:rPr>
              <a:t>paradigm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facilitates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reusable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components.</a:t>
            </a:r>
            <a:endParaRPr sz="2000">
              <a:latin typeface="Arial MT"/>
              <a:cs typeface="Arial MT"/>
            </a:endParaRPr>
          </a:p>
          <a:p>
            <a:pPr marL="37465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Principles:</a:t>
            </a:r>
            <a:endParaRPr sz="2000">
              <a:latin typeface="Arial MT"/>
              <a:cs typeface="Arial MT"/>
            </a:endParaRPr>
          </a:p>
          <a:p>
            <a:pPr marL="494665" marR="5080" indent="-482600">
              <a:lnSpc>
                <a:spcPct val="100000"/>
              </a:lnSpc>
              <a:spcBef>
                <a:spcPts val="1560"/>
              </a:spcBef>
              <a:tabLst>
                <a:tab pos="494665" algn="l"/>
                <a:tab pos="1946275" algn="l"/>
                <a:tab pos="3160395" algn="l"/>
                <a:tab pos="3979545" algn="l"/>
                <a:tab pos="5264150" algn="l"/>
                <a:tab pos="5885180" algn="l"/>
                <a:tab pos="6972300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Modularity: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Breaking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down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programs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into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smaller,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manageable functions.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424" y="3684220"/>
            <a:ext cx="83972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marR="5080" indent="-482600">
              <a:lnSpc>
                <a:spcPct val="100000"/>
              </a:lnSpc>
              <a:spcBef>
                <a:spcPts val="100"/>
              </a:spcBef>
              <a:tabLst>
                <a:tab pos="494665" algn="l"/>
                <a:tab pos="1471930" algn="l"/>
                <a:tab pos="2236470" algn="l"/>
                <a:tab pos="3044825" algn="l"/>
                <a:tab pos="4331970" algn="l"/>
                <a:tab pos="5253355" algn="l"/>
                <a:tab pos="6654165" algn="l"/>
                <a:tab pos="7193915" algn="l"/>
                <a:tab pos="795972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Control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Flow: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Using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structured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control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statements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like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loops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spc="-10" dirty="0">
                <a:latin typeface="Arial MT"/>
                <a:cs typeface="Arial MT"/>
              </a:rPr>
              <a:t>conditionals.</a:t>
            </a:r>
            <a:endParaRPr sz="2000">
              <a:latin typeface="Arial MT"/>
              <a:cs typeface="Arial MT"/>
            </a:endParaRPr>
          </a:p>
          <a:p>
            <a:pPr marL="494665" marR="5080" indent="-482600">
              <a:lnSpc>
                <a:spcPct val="100000"/>
              </a:lnSpc>
              <a:tabLst>
                <a:tab pos="494665" algn="l"/>
                <a:tab pos="1341755" algn="l"/>
                <a:tab pos="2793365" algn="l"/>
                <a:tab pos="4064000" algn="l"/>
                <a:tab pos="5066030" algn="l"/>
                <a:tab pos="5842000" algn="l"/>
                <a:tab pos="6265545" algn="l"/>
                <a:tab pos="7211695" algn="l"/>
                <a:tab pos="7733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Block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Structures: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Grouping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related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code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blocks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better readability.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C:</a:t>
            </a:r>
            <a:r>
              <a:rPr spc="-35" dirty="0"/>
              <a:t> </a:t>
            </a:r>
            <a:r>
              <a:rPr dirty="0"/>
              <a:t>Structured</a:t>
            </a:r>
            <a:r>
              <a:rPr spc="-35" dirty="0"/>
              <a:t> </a:t>
            </a:r>
            <a:r>
              <a:rPr dirty="0"/>
              <a:t>Programming</a:t>
            </a:r>
            <a:r>
              <a:rPr spc="-30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424" y="1215340"/>
            <a:ext cx="76174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dirty="0">
                <a:latin typeface="Arial MT"/>
                <a:cs typeface="Arial MT"/>
              </a:rPr>
              <a:t>History: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Developed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1970s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Dennis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Ritchie.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424" y="1672539"/>
            <a:ext cx="83959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  <a:tab pos="1612900" algn="l"/>
                <a:tab pos="2306955" algn="l"/>
                <a:tab pos="3338829" algn="l"/>
                <a:tab pos="4696460" algn="l"/>
                <a:tab pos="5939155" algn="l"/>
                <a:tab pos="738187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10" dirty="0">
                <a:latin typeface="Arial MT"/>
                <a:cs typeface="Arial MT"/>
              </a:rPr>
              <a:t>Popular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Use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Cases: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Operating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systems,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embedded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systems,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424" y="1824940"/>
            <a:ext cx="8380095" cy="1244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drivers.</a:t>
            </a:r>
            <a:endParaRPr sz="2000">
              <a:latin typeface="Arial MT"/>
              <a:cs typeface="Arial MT"/>
            </a:endParaRPr>
          </a:p>
          <a:p>
            <a:pPr marL="494665" marR="5080" indent="-482600">
              <a:lnSpc>
                <a:spcPct val="100000"/>
              </a:lnSpc>
              <a:spcBef>
                <a:spcPts val="1200"/>
              </a:spcBef>
              <a:tabLst>
                <a:tab pos="494665" algn="l"/>
              </a:tabLst>
            </a:pPr>
            <a:r>
              <a:rPr sz="2000" spc="-50" dirty="0">
                <a:latin typeface="MS PGothic"/>
                <a:cs typeface="MS PGothic"/>
              </a:rPr>
              <a:t>❏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25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Access: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Provides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hardware,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powerful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spc="-190" dirty="0"/>
              <a:t> </a:t>
            </a:r>
            <a:r>
              <a:rPr dirty="0"/>
              <a:t>Simple</a:t>
            </a:r>
            <a:r>
              <a:rPr spc="-10" dirty="0"/>
              <a:t> </a:t>
            </a:r>
            <a:r>
              <a:rPr dirty="0"/>
              <a:t>C</a:t>
            </a:r>
            <a:r>
              <a:rPr spc="-5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/>
          <p:nvPr/>
        </p:nvSpPr>
        <p:spPr>
          <a:xfrm>
            <a:off x="3634949" y="1543599"/>
            <a:ext cx="5386705" cy="3300729"/>
          </a:xfrm>
          <a:custGeom>
            <a:avLst/>
            <a:gdLst/>
            <a:ahLst/>
            <a:cxnLst/>
            <a:rect l="l" t="t" r="r" b="b"/>
            <a:pathLst>
              <a:path w="5386705" h="3300729">
                <a:moveTo>
                  <a:pt x="0" y="0"/>
                </a:moveTo>
                <a:lnTo>
                  <a:pt x="5386199" y="0"/>
                </a:lnTo>
                <a:lnTo>
                  <a:pt x="5386199" y="3300599"/>
                </a:lnTo>
                <a:lnTo>
                  <a:pt x="0" y="33005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38680">
              <a:lnSpc>
                <a:spcPct val="150000"/>
              </a:lnSpc>
              <a:spcBef>
                <a:spcPts val="100"/>
              </a:spcBef>
            </a:pPr>
            <a:r>
              <a:rPr dirty="0"/>
              <a:t>#include</a:t>
            </a:r>
            <a:r>
              <a:rPr spc="-40" dirty="0"/>
              <a:t> </a:t>
            </a:r>
            <a:r>
              <a:rPr spc="-10" dirty="0"/>
              <a:t>&lt;stdio.h&gt; </a:t>
            </a:r>
            <a:r>
              <a:rPr dirty="0"/>
              <a:t>int</a:t>
            </a:r>
            <a:r>
              <a:rPr spc="-15" dirty="0"/>
              <a:t> </a:t>
            </a:r>
            <a:r>
              <a:rPr spc="-10" dirty="0"/>
              <a:t>main()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pc="-50" dirty="0"/>
              <a:t>{</a:t>
            </a:r>
          </a:p>
          <a:p>
            <a:pPr marL="469900" marR="5080">
              <a:lnSpc>
                <a:spcPct val="150000"/>
              </a:lnSpc>
            </a:pPr>
            <a:r>
              <a:rPr dirty="0"/>
              <a:t>/*</a:t>
            </a:r>
            <a:r>
              <a:rPr spc="-30" dirty="0"/>
              <a:t> </a:t>
            </a:r>
            <a:r>
              <a:rPr dirty="0"/>
              <a:t>My</a:t>
            </a:r>
            <a:r>
              <a:rPr spc="-15" dirty="0"/>
              <a:t> </a:t>
            </a:r>
            <a:r>
              <a:rPr dirty="0"/>
              <a:t>first</a:t>
            </a:r>
            <a:r>
              <a:rPr spc="-15" dirty="0"/>
              <a:t> </a:t>
            </a:r>
            <a:r>
              <a:rPr dirty="0"/>
              <a:t>program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spc="-25" dirty="0"/>
              <a:t>*/ </a:t>
            </a:r>
            <a:r>
              <a:rPr dirty="0"/>
              <a:t>printf(“Welcome</a:t>
            </a:r>
            <a:r>
              <a:rPr spc="-4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CSE</a:t>
            </a:r>
            <a:r>
              <a:rPr spc="-30" dirty="0"/>
              <a:t> </a:t>
            </a:r>
            <a:r>
              <a:rPr spc="-10" dirty="0"/>
              <a:t>103”);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65175" y="3892465"/>
            <a:ext cx="1397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return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7975" y="4349665"/>
            <a:ext cx="178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049" y="1779115"/>
            <a:ext cx="15360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Preprocessor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049" y="2388715"/>
            <a:ext cx="1620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Main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049" y="2998315"/>
            <a:ext cx="1972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Begin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049" y="3607915"/>
            <a:ext cx="13106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Statements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049" y="4217515"/>
            <a:ext cx="1775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End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59537" y="1797760"/>
            <a:ext cx="2489200" cy="2778760"/>
            <a:chOff x="1659537" y="1797760"/>
            <a:chExt cx="2489200" cy="2778760"/>
          </a:xfrm>
        </p:grpSpPr>
        <p:sp>
          <p:nvSpPr>
            <p:cNvPr id="13" name="object 13"/>
            <p:cNvSpPr/>
            <p:nvPr/>
          </p:nvSpPr>
          <p:spPr>
            <a:xfrm>
              <a:off x="1859874" y="1818187"/>
              <a:ext cx="1820545" cy="170815"/>
            </a:xfrm>
            <a:custGeom>
              <a:avLst/>
              <a:gdLst/>
              <a:ahLst/>
              <a:cxnLst/>
              <a:rect l="l" t="t" r="r" b="b"/>
              <a:pathLst>
                <a:path w="1820545" h="170814">
                  <a:moveTo>
                    <a:pt x="0" y="170762"/>
                  </a:moveTo>
                  <a:lnTo>
                    <a:pt x="18204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78905" y="1802523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938" y="31327"/>
                  </a:moveTo>
                  <a:lnTo>
                    <a:pt x="0" y="0"/>
                  </a:lnTo>
                  <a:lnTo>
                    <a:pt x="44505" y="11627"/>
                  </a:lnTo>
                  <a:lnTo>
                    <a:pt x="2938" y="313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78905" y="1802523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938" y="31327"/>
                  </a:moveTo>
                  <a:lnTo>
                    <a:pt x="44505" y="11627"/>
                  </a:lnTo>
                  <a:lnTo>
                    <a:pt x="0" y="0"/>
                  </a:lnTo>
                  <a:lnTo>
                    <a:pt x="2938" y="3132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67424" y="2321725"/>
              <a:ext cx="1723389" cy="313055"/>
            </a:xfrm>
            <a:custGeom>
              <a:avLst/>
              <a:gdLst/>
              <a:ahLst/>
              <a:cxnLst/>
              <a:rect l="l" t="t" r="r" b="b"/>
              <a:pathLst>
                <a:path w="1723389" h="313055">
                  <a:moveTo>
                    <a:pt x="0" y="312599"/>
                  </a:moveTo>
                  <a:lnTo>
                    <a:pt x="172336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87984" y="2306244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615" y="30960"/>
                  </a:moveTo>
                  <a:lnTo>
                    <a:pt x="0" y="0"/>
                  </a:lnTo>
                  <a:lnTo>
                    <a:pt x="45338" y="7765"/>
                  </a:lnTo>
                  <a:lnTo>
                    <a:pt x="5615" y="3096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87984" y="2306244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615" y="30960"/>
                  </a:moveTo>
                  <a:lnTo>
                    <a:pt x="45338" y="7765"/>
                  </a:lnTo>
                  <a:lnTo>
                    <a:pt x="0" y="0"/>
                  </a:lnTo>
                  <a:lnTo>
                    <a:pt x="5615" y="3096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70574" y="2805870"/>
              <a:ext cx="1421765" cy="386080"/>
            </a:xfrm>
            <a:custGeom>
              <a:avLst/>
              <a:gdLst/>
              <a:ahLst/>
              <a:cxnLst/>
              <a:rect l="l" t="t" r="r" b="b"/>
              <a:pathLst>
                <a:path w="1421764" h="386080">
                  <a:moveTo>
                    <a:pt x="0" y="385829"/>
                  </a:moveTo>
                  <a:lnTo>
                    <a:pt x="14214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87899" y="279068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8242" y="30366"/>
                  </a:moveTo>
                  <a:lnTo>
                    <a:pt x="0" y="0"/>
                  </a:lnTo>
                  <a:lnTo>
                    <a:pt x="45837" y="3860"/>
                  </a:lnTo>
                  <a:lnTo>
                    <a:pt x="8242" y="303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87899" y="279068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8242" y="30366"/>
                  </a:moveTo>
                  <a:lnTo>
                    <a:pt x="45837" y="3860"/>
                  </a:lnTo>
                  <a:lnTo>
                    <a:pt x="0" y="0"/>
                  </a:lnTo>
                  <a:lnTo>
                    <a:pt x="8242" y="303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64299" y="3817525"/>
              <a:ext cx="2436495" cy="29209"/>
            </a:xfrm>
            <a:custGeom>
              <a:avLst/>
              <a:gdLst/>
              <a:ahLst/>
              <a:cxnLst/>
              <a:rect l="l" t="t" r="r" b="b"/>
              <a:pathLst>
                <a:path w="2436495" h="29210">
                  <a:moveTo>
                    <a:pt x="0" y="0"/>
                  </a:moveTo>
                  <a:lnTo>
                    <a:pt x="2436453" y="2872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00568" y="38305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3"/>
                  </a:moveTo>
                  <a:lnTo>
                    <a:pt x="371" y="0"/>
                  </a:lnTo>
                  <a:lnTo>
                    <a:pt x="43407" y="16241"/>
                  </a:lnTo>
                  <a:lnTo>
                    <a:pt x="0" y="3146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00568" y="38305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3"/>
                  </a:moveTo>
                  <a:lnTo>
                    <a:pt x="43407" y="16241"/>
                  </a:lnTo>
                  <a:lnTo>
                    <a:pt x="371" y="0"/>
                  </a:lnTo>
                  <a:lnTo>
                    <a:pt x="0" y="314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04324" y="4423800"/>
              <a:ext cx="1586230" cy="132080"/>
            </a:xfrm>
            <a:custGeom>
              <a:avLst/>
              <a:gdLst/>
              <a:ahLst/>
              <a:cxnLst/>
              <a:rect l="l" t="t" r="r" b="b"/>
              <a:pathLst>
                <a:path w="1586229" h="132079">
                  <a:moveTo>
                    <a:pt x="0" y="0"/>
                  </a:moveTo>
                  <a:lnTo>
                    <a:pt x="1585847" y="13205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88866" y="4540179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56"/>
                  </a:moveTo>
                  <a:lnTo>
                    <a:pt x="2611" y="0"/>
                  </a:lnTo>
                  <a:lnTo>
                    <a:pt x="44381" y="19265"/>
                  </a:lnTo>
                  <a:lnTo>
                    <a:pt x="0" y="313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88866" y="4540179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56"/>
                  </a:moveTo>
                  <a:lnTo>
                    <a:pt x="44381" y="19265"/>
                  </a:lnTo>
                  <a:lnTo>
                    <a:pt x="2611" y="0"/>
                  </a:lnTo>
                  <a:lnTo>
                    <a:pt x="0" y="313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656</Words>
  <Application>Microsoft Office PowerPoint</Application>
  <PresentationFormat>On-screen Show (16:9)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MS PGothic</vt:lpstr>
      <vt:lpstr>Arial</vt:lpstr>
      <vt:lpstr>Arial MT</vt:lpstr>
      <vt:lpstr>Courier New</vt:lpstr>
      <vt:lpstr>Times New Roman</vt:lpstr>
      <vt:lpstr>Office Theme</vt:lpstr>
      <vt:lpstr>CSE 103 Structured Programming</vt:lpstr>
      <vt:lpstr>Course Resources</vt:lpstr>
      <vt:lpstr>Course Outcomes</vt:lpstr>
      <vt:lpstr>Course Topics</vt:lpstr>
      <vt:lpstr>Learning Style</vt:lpstr>
      <vt:lpstr>Reference Books</vt:lpstr>
      <vt:lpstr>Timetable Synopsis</vt:lpstr>
      <vt:lpstr>PowerPoint Presentation</vt:lpstr>
      <vt:lpstr>What is Computer Programming?</vt:lpstr>
      <vt:lpstr>Types of Programming Language</vt:lpstr>
      <vt:lpstr>Structured Programming</vt:lpstr>
      <vt:lpstr>C: Structured Programming Language</vt:lpstr>
      <vt:lpstr>A Simple C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CSE103 L1</dc:title>
  <cp:lastModifiedBy>Asif Rifat</cp:lastModifiedBy>
  <cp:revision>2</cp:revision>
  <dcterms:created xsi:type="dcterms:W3CDTF">2025-02-17T01:03:19Z</dcterms:created>
  <dcterms:modified xsi:type="dcterms:W3CDTF">2025-02-17T01:16:25Z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2025-02-17T00:00:00Z</vt:filetime>
  </property>
</Properties>
</file>