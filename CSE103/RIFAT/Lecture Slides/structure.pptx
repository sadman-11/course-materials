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55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1C422-15A2-44F4-BD67-D6A97362C040}" type="datetimeFigureOut">
              <a:rPr lang="en-US" smtClean="0"/>
              <a:t>12/28/2024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DFE76-704C-47AE-BC4B-1637A2E5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56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DFE76-704C-47AE-BC4B-1637A2E55CE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64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6600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66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600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66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600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64972" y="1722261"/>
            <a:ext cx="4055745" cy="5402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66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600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90600" y="1514855"/>
            <a:ext cx="8077200" cy="20320"/>
          </a:xfrm>
          <a:custGeom>
            <a:avLst/>
            <a:gdLst/>
            <a:ahLst/>
            <a:cxnLst/>
            <a:rect l="l" t="t" r="r" b="b"/>
            <a:pathLst>
              <a:path w="8077200" h="20319">
                <a:moveTo>
                  <a:pt x="8077200" y="0"/>
                </a:moveTo>
                <a:lnTo>
                  <a:pt x="0" y="0"/>
                </a:lnTo>
                <a:lnTo>
                  <a:pt x="0" y="19812"/>
                </a:lnTo>
                <a:lnTo>
                  <a:pt x="8077200" y="19812"/>
                </a:lnTo>
                <a:lnTo>
                  <a:pt x="8077200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7863" y="586318"/>
            <a:ext cx="8102673" cy="1001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6600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39" y="1784096"/>
            <a:ext cx="7720965" cy="4488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66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8757" y="3094856"/>
            <a:ext cx="29946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Structures</a:t>
            </a:r>
            <a:r>
              <a:rPr sz="2800" spc="-105" dirty="0"/>
              <a:t> </a:t>
            </a:r>
            <a:r>
              <a:rPr sz="2800" dirty="0"/>
              <a:t>in</a:t>
            </a:r>
            <a:r>
              <a:rPr sz="2800" spc="-100" dirty="0"/>
              <a:t> </a:t>
            </a:r>
            <a:r>
              <a:rPr sz="2800" spc="-50" dirty="0"/>
              <a:t>C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990600" y="4181855"/>
            <a:ext cx="8077200" cy="20320"/>
          </a:xfrm>
          <a:custGeom>
            <a:avLst/>
            <a:gdLst/>
            <a:ahLst/>
            <a:cxnLst/>
            <a:rect l="l" t="t" r="r" b="b"/>
            <a:pathLst>
              <a:path w="8077200" h="20320">
                <a:moveTo>
                  <a:pt x="8077200" y="0"/>
                </a:moveTo>
                <a:lnTo>
                  <a:pt x="0" y="0"/>
                </a:lnTo>
                <a:lnTo>
                  <a:pt x="0" y="19812"/>
                </a:lnTo>
                <a:lnTo>
                  <a:pt x="8077200" y="19812"/>
                </a:lnTo>
                <a:lnTo>
                  <a:pt x="8077200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7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25347" rIns="0" bIns="0" rtlCol="0">
            <a:spAutoFit/>
          </a:bodyPr>
          <a:lstStyle/>
          <a:p>
            <a:pPr marL="241300">
              <a:lnSpc>
                <a:spcPts val="2875"/>
              </a:lnSpc>
              <a:spcBef>
                <a:spcPts val="100"/>
              </a:spcBef>
            </a:pPr>
            <a:r>
              <a:rPr spc="-10" dirty="0"/>
              <a:t>Structure</a:t>
            </a:r>
          </a:p>
          <a:p>
            <a:pPr marL="698500" marR="3592829">
              <a:lnSpc>
                <a:spcPts val="2400"/>
              </a:lnSpc>
              <a:spcBef>
                <a:spcPts val="75"/>
              </a:spcBef>
            </a:pPr>
            <a:r>
              <a:rPr sz="2000" dirty="0"/>
              <a:t>Definition</a:t>
            </a:r>
            <a:r>
              <a:rPr sz="2000" spc="-90" dirty="0"/>
              <a:t> </a:t>
            </a:r>
            <a:r>
              <a:rPr sz="2000" dirty="0"/>
              <a:t>of</a:t>
            </a:r>
            <a:r>
              <a:rPr sz="2000" spc="-60" dirty="0"/>
              <a:t> </a:t>
            </a:r>
            <a:r>
              <a:rPr sz="2000" spc="-10" dirty="0"/>
              <a:t>structures </a:t>
            </a:r>
            <a:r>
              <a:rPr sz="2000" dirty="0"/>
              <a:t>Creating</a:t>
            </a:r>
            <a:r>
              <a:rPr sz="2000" spc="-55" dirty="0"/>
              <a:t> </a:t>
            </a:r>
            <a:r>
              <a:rPr sz="2000" dirty="0"/>
              <a:t>structures</a:t>
            </a:r>
            <a:r>
              <a:rPr sz="2000" spc="-20" dirty="0"/>
              <a:t> </a:t>
            </a:r>
            <a:r>
              <a:rPr sz="2000" dirty="0"/>
              <a:t>in</a:t>
            </a:r>
            <a:r>
              <a:rPr sz="2000" spc="-30" dirty="0"/>
              <a:t> </a:t>
            </a:r>
            <a:r>
              <a:rPr sz="2000" spc="-50" dirty="0"/>
              <a:t>C</a:t>
            </a:r>
            <a:endParaRPr sz="2000"/>
          </a:p>
          <a:p>
            <a:pPr marL="196850" marR="470534" algn="ctr">
              <a:lnSpc>
                <a:spcPts val="2300"/>
              </a:lnSpc>
            </a:pPr>
            <a:r>
              <a:rPr sz="2000" dirty="0">
                <a:latin typeface="Arial"/>
                <a:cs typeface="Arial"/>
              </a:rPr>
              <a:t>dot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printf,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scanf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structure</a:t>
            </a:r>
            <a:endParaRPr sz="200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  <a:spcBef>
                <a:spcPts val="20"/>
              </a:spcBef>
            </a:pPr>
            <a:r>
              <a:rPr sz="2000" dirty="0"/>
              <a:t>typedef</a:t>
            </a:r>
            <a:r>
              <a:rPr sz="2000" spc="-40" dirty="0"/>
              <a:t> </a:t>
            </a:r>
            <a:r>
              <a:rPr sz="2000" dirty="0"/>
              <a:t>vs</a:t>
            </a:r>
            <a:r>
              <a:rPr sz="2000" spc="-20" dirty="0"/>
              <a:t> </a:t>
            </a:r>
            <a:r>
              <a:rPr sz="2000" spc="-10" dirty="0"/>
              <a:t>struct</a:t>
            </a:r>
            <a:endParaRPr sz="2000"/>
          </a:p>
          <a:p>
            <a:pPr marL="698500" marR="87630">
              <a:lnSpc>
                <a:spcPct val="100000"/>
              </a:lnSpc>
              <a:spcBef>
                <a:spcPts val="5"/>
              </a:spcBef>
            </a:pPr>
            <a:r>
              <a:rPr sz="2000" dirty="0"/>
              <a:t>Problem</a:t>
            </a:r>
            <a:r>
              <a:rPr sz="2000" spc="-55" dirty="0"/>
              <a:t> </a:t>
            </a:r>
            <a:r>
              <a:rPr sz="2000" dirty="0"/>
              <a:t>solving</a:t>
            </a:r>
            <a:r>
              <a:rPr sz="2000" spc="-20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structure</a:t>
            </a:r>
            <a:r>
              <a:rPr sz="2000" spc="-35" dirty="0"/>
              <a:t> </a:t>
            </a:r>
            <a:r>
              <a:rPr sz="2000" dirty="0"/>
              <a:t>(similar</a:t>
            </a:r>
            <a:r>
              <a:rPr sz="2000" spc="-15" dirty="0"/>
              <a:t> </a:t>
            </a:r>
            <a:r>
              <a:rPr sz="2000" spc="-10" dirty="0"/>
              <a:t>type) </a:t>
            </a:r>
            <a:r>
              <a:rPr sz="2000" dirty="0"/>
              <a:t>Problem</a:t>
            </a:r>
            <a:r>
              <a:rPr sz="2000" spc="-80" dirty="0"/>
              <a:t> </a:t>
            </a:r>
            <a:r>
              <a:rPr sz="2000" dirty="0"/>
              <a:t>solving</a:t>
            </a:r>
            <a:r>
              <a:rPr sz="2000" spc="-45" dirty="0"/>
              <a:t> </a:t>
            </a:r>
            <a:r>
              <a:rPr sz="2000" dirty="0"/>
              <a:t>with</a:t>
            </a:r>
            <a:r>
              <a:rPr sz="2000" spc="-45" dirty="0"/>
              <a:t> </a:t>
            </a:r>
            <a:r>
              <a:rPr sz="2000" dirty="0"/>
              <a:t>structure</a:t>
            </a:r>
            <a:r>
              <a:rPr sz="2000" spc="-60" dirty="0"/>
              <a:t> </a:t>
            </a:r>
            <a:r>
              <a:rPr sz="2000" dirty="0"/>
              <a:t>(dissimilar</a:t>
            </a:r>
            <a:r>
              <a:rPr sz="2000" spc="-45" dirty="0"/>
              <a:t> </a:t>
            </a:r>
            <a:r>
              <a:rPr sz="2000" spc="-10" dirty="0"/>
              <a:t>type) </a:t>
            </a:r>
            <a:r>
              <a:rPr sz="2000" dirty="0"/>
              <a:t>Passing</a:t>
            </a:r>
            <a:r>
              <a:rPr sz="2000" spc="-55" dirty="0"/>
              <a:t> </a:t>
            </a:r>
            <a:r>
              <a:rPr sz="2000" dirty="0"/>
              <a:t>structure</a:t>
            </a:r>
            <a:r>
              <a:rPr sz="2000" spc="-35" dirty="0"/>
              <a:t> </a:t>
            </a:r>
            <a:r>
              <a:rPr sz="2000" dirty="0"/>
              <a:t>as</a:t>
            </a:r>
            <a:r>
              <a:rPr sz="2000" spc="-30" dirty="0"/>
              <a:t> </a:t>
            </a:r>
            <a:r>
              <a:rPr sz="2000" dirty="0"/>
              <a:t>function</a:t>
            </a:r>
            <a:r>
              <a:rPr sz="2000" spc="-45" dirty="0"/>
              <a:t> </a:t>
            </a:r>
            <a:r>
              <a:rPr sz="2000" spc="-10" dirty="0"/>
              <a:t>parameter</a:t>
            </a:r>
            <a:endParaRPr sz="2000"/>
          </a:p>
          <a:p>
            <a:pPr marL="698500">
              <a:lnSpc>
                <a:spcPts val="2400"/>
              </a:lnSpc>
            </a:pPr>
            <a:r>
              <a:rPr sz="2000" dirty="0"/>
              <a:t>Arrays</a:t>
            </a:r>
            <a:r>
              <a:rPr sz="2000" spc="-60" dirty="0"/>
              <a:t> </a:t>
            </a:r>
            <a:r>
              <a:rPr sz="2000" dirty="0"/>
              <a:t>of</a:t>
            </a:r>
            <a:r>
              <a:rPr sz="2000" spc="-30" dirty="0"/>
              <a:t> </a:t>
            </a:r>
            <a:r>
              <a:rPr sz="2000" spc="-10" dirty="0"/>
              <a:t>structure</a:t>
            </a:r>
            <a:endParaRPr sz="2000"/>
          </a:p>
          <a:p>
            <a:pPr marL="698500" marR="5080">
              <a:lnSpc>
                <a:spcPct val="100000"/>
              </a:lnSpc>
            </a:pPr>
            <a:r>
              <a:rPr sz="2000" dirty="0"/>
              <a:t>Passing</a:t>
            </a:r>
            <a:r>
              <a:rPr sz="2000" spc="-50" dirty="0"/>
              <a:t> </a:t>
            </a:r>
            <a:r>
              <a:rPr sz="2000" dirty="0"/>
              <a:t>array</a:t>
            </a:r>
            <a:r>
              <a:rPr sz="2000" spc="-30" dirty="0"/>
              <a:t> </a:t>
            </a:r>
            <a:r>
              <a:rPr sz="2000" dirty="0"/>
              <a:t>of</a:t>
            </a:r>
            <a:r>
              <a:rPr sz="2000" spc="-15" dirty="0"/>
              <a:t> </a:t>
            </a:r>
            <a:r>
              <a:rPr sz="2000" dirty="0"/>
              <a:t>structure</a:t>
            </a:r>
            <a:r>
              <a:rPr sz="2000" spc="-20" dirty="0"/>
              <a:t> </a:t>
            </a:r>
            <a:r>
              <a:rPr sz="2000" dirty="0"/>
              <a:t>as</a:t>
            </a:r>
            <a:r>
              <a:rPr sz="2000" spc="-25" dirty="0"/>
              <a:t> </a:t>
            </a:r>
            <a:r>
              <a:rPr sz="2000" dirty="0"/>
              <a:t>function</a:t>
            </a:r>
            <a:r>
              <a:rPr sz="2000" spc="-35" dirty="0"/>
              <a:t> </a:t>
            </a:r>
            <a:r>
              <a:rPr sz="2000" spc="-10" dirty="0"/>
              <a:t>parameter </a:t>
            </a:r>
            <a:r>
              <a:rPr sz="2000" dirty="0"/>
              <a:t>Determining</a:t>
            </a:r>
            <a:r>
              <a:rPr sz="2000" spc="-60" dirty="0"/>
              <a:t> </a:t>
            </a:r>
            <a:r>
              <a:rPr sz="2000" dirty="0"/>
              <a:t>size</a:t>
            </a:r>
            <a:r>
              <a:rPr sz="2000" spc="-35" dirty="0"/>
              <a:t> </a:t>
            </a:r>
            <a:r>
              <a:rPr sz="2000" dirty="0"/>
              <a:t>of</a:t>
            </a:r>
            <a:r>
              <a:rPr sz="2000" spc="-35" dirty="0"/>
              <a:t> </a:t>
            </a:r>
            <a:r>
              <a:rPr sz="2000" spc="-10" dirty="0"/>
              <a:t>structure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7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960" marR="244475" indent="-175260">
              <a:lnSpc>
                <a:spcPct val="100000"/>
              </a:lnSpc>
              <a:spcBef>
                <a:spcPts val="100"/>
              </a:spcBef>
            </a:pPr>
            <a:r>
              <a:rPr dirty="0"/>
              <a:t>Be</a:t>
            </a:r>
            <a:r>
              <a:rPr spc="-50" dirty="0"/>
              <a:t> </a:t>
            </a:r>
            <a:r>
              <a:rPr dirty="0"/>
              <a:t>able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use</a:t>
            </a:r>
            <a:r>
              <a:rPr spc="-30" dirty="0"/>
              <a:t> </a:t>
            </a:r>
            <a:r>
              <a:rPr dirty="0"/>
              <a:t>compound</a:t>
            </a:r>
            <a:r>
              <a:rPr spc="-25" dirty="0"/>
              <a:t> </a:t>
            </a:r>
            <a:r>
              <a:rPr dirty="0"/>
              <a:t>data</a:t>
            </a:r>
            <a:r>
              <a:rPr spc="-6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spc="-25" dirty="0"/>
              <a:t>in </a:t>
            </a:r>
            <a:r>
              <a:rPr spc="-10" dirty="0"/>
              <a:t>programs</a:t>
            </a: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pc="-10" dirty="0"/>
          </a:p>
          <a:p>
            <a:pPr marL="187960" marR="893444" indent="-175260">
              <a:lnSpc>
                <a:spcPct val="100000"/>
              </a:lnSpc>
            </a:pPr>
            <a:r>
              <a:rPr dirty="0"/>
              <a:t>Be</a:t>
            </a:r>
            <a:r>
              <a:rPr spc="-55" dirty="0"/>
              <a:t> </a:t>
            </a:r>
            <a:r>
              <a:rPr dirty="0"/>
              <a:t>able</a:t>
            </a:r>
            <a:r>
              <a:rPr spc="-4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use</a:t>
            </a:r>
            <a:r>
              <a:rPr spc="-35" dirty="0"/>
              <a:t> </a:t>
            </a:r>
            <a:r>
              <a:rPr dirty="0"/>
              <a:t>arrays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compound</a:t>
            </a:r>
            <a:r>
              <a:rPr spc="-30" dirty="0"/>
              <a:t> </a:t>
            </a:r>
            <a:r>
              <a:rPr spc="-20" dirty="0"/>
              <a:t>data </a:t>
            </a:r>
            <a:r>
              <a:rPr spc="-10" dirty="0"/>
              <a:t>structures</a:t>
            </a: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pc="-10" dirty="0"/>
          </a:p>
          <a:p>
            <a:pPr marL="187960" marR="5080" indent="-175260">
              <a:lnSpc>
                <a:spcPct val="100000"/>
              </a:lnSpc>
            </a:pPr>
            <a:r>
              <a:rPr dirty="0"/>
              <a:t>Be</a:t>
            </a:r>
            <a:r>
              <a:rPr spc="-45" dirty="0"/>
              <a:t> </a:t>
            </a:r>
            <a:r>
              <a:rPr dirty="0"/>
              <a:t>able</a:t>
            </a:r>
            <a:r>
              <a:rPr spc="-3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pass</a:t>
            </a:r>
            <a:r>
              <a:rPr spc="-45" dirty="0"/>
              <a:t> </a:t>
            </a:r>
            <a:r>
              <a:rPr dirty="0"/>
              <a:t>compound</a:t>
            </a:r>
            <a:r>
              <a:rPr spc="-3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structures</a:t>
            </a:r>
            <a:r>
              <a:rPr spc="-25" dirty="0"/>
              <a:t> as </a:t>
            </a:r>
            <a:r>
              <a:rPr dirty="0"/>
              <a:t>function</a:t>
            </a:r>
            <a:r>
              <a:rPr spc="-130" dirty="0"/>
              <a:t> </a:t>
            </a:r>
            <a:r>
              <a:rPr spc="-10" dirty="0"/>
              <a:t>arguments</a:t>
            </a: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pc="-10" dirty="0"/>
          </a:p>
          <a:p>
            <a:pPr marL="187960" marR="897890" indent="-175260">
              <a:lnSpc>
                <a:spcPct val="100000"/>
              </a:lnSpc>
            </a:pPr>
            <a:r>
              <a:rPr dirty="0"/>
              <a:t>Be</a:t>
            </a:r>
            <a:r>
              <a:rPr spc="-40" dirty="0"/>
              <a:t> </a:t>
            </a:r>
            <a:r>
              <a:rPr dirty="0"/>
              <a:t>able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pass</a:t>
            </a:r>
            <a:r>
              <a:rPr spc="-40" dirty="0"/>
              <a:t> </a:t>
            </a:r>
            <a:r>
              <a:rPr dirty="0"/>
              <a:t>array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compound</a:t>
            </a:r>
            <a:r>
              <a:rPr spc="-10" dirty="0"/>
              <a:t> </a:t>
            </a:r>
            <a:r>
              <a:rPr spc="-20" dirty="0"/>
              <a:t>data </a:t>
            </a:r>
            <a:r>
              <a:rPr dirty="0"/>
              <a:t>structures</a:t>
            </a:r>
            <a:r>
              <a:rPr spc="-75" dirty="0"/>
              <a:t> </a:t>
            </a:r>
            <a:r>
              <a:rPr dirty="0"/>
              <a:t>as</a:t>
            </a:r>
            <a:r>
              <a:rPr spc="-85" dirty="0"/>
              <a:t> </a:t>
            </a:r>
            <a:r>
              <a:rPr dirty="0"/>
              <a:t>function</a:t>
            </a:r>
            <a:r>
              <a:rPr spc="-50" dirty="0"/>
              <a:t> </a:t>
            </a:r>
            <a:r>
              <a:rPr spc="-10" dirty="0"/>
              <a:t>arguments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39252" y="6884920"/>
            <a:ext cx="125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6600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7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928116" y="2888122"/>
            <a:ext cx="533400" cy="171450"/>
          </a:xfrm>
          <a:custGeom>
            <a:avLst/>
            <a:gdLst/>
            <a:ahLst/>
            <a:cxnLst/>
            <a:rect l="l" t="t" r="r" b="b"/>
            <a:pathLst>
              <a:path w="533400" h="171450">
                <a:moveTo>
                  <a:pt x="425393" y="104798"/>
                </a:moveTo>
                <a:lnTo>
                  <a:pt x="371856" y="135493"/>
                </a:lnTo>
                <a:lnTo>
                  <a:pt x="366164" y="140827"/>
                </a:lnTo>
                <a:lnTo>
                  <a:pt x="362902" y="147304"/>
                </a:lnTo>
                <a:lnTo>
                  <a:pt x="362211" y="154352"/>
                </a:lnTo>
                <a:lnTo>
                  <a:pt x="364236" y="161401"/>
                </a:lnTo>
                <a:lnTo>
                  <a:pt x="369570" y="167092"/>
                </a:lnTo>
                <a:lnTo>
                  <a:pt x="376047" y="170354"/>
                </a:lnTo>
                <a:lnTo>
                  <a:pt x="383095" y="171045"/>
                </a:lnTo>
                <a:lnTo>
                  <a:pt x="390144" y="169021"/>
                </a:lnTo>
                <a:lnTo>
                  <a:pt x="501565" y="105013"/>
                </a:lnTo>
                <a:lnTo>
                  <a:pt x="495300" y="105013"/>
                </a:lnTo>
                <a:lnTo>
                  <a:pt x="425393" y="104798"/>
                </a:lnTo>
                <a:close/>
              </a:path>
              <a:path w="533400" h="171450">
                <a:moveTo>
                  <a:pt x="458566" y="85779"/>
                </a:moveTo>
                <a:lnTo>
                  <a:pt x="425393" y="104798"/>
                </a:lnTo>
                <a:lnTo>
                  <a:pt x="495300" y="105013"/>
                </a:lnTo>
                <a:lnTo>
                  <a:pt x="495300" y="101965"/>
                </a:lnTo>
                <a:lnTo>
                  <a:pt x="486156" y="101965"/>
                </a:lnTo>
                <a:lnTo>
                  <a:pt x="458566" y="85779"/>
                </a:lnTo>
                <a:close/>
              </a:path>
              <a:path w="533400" h="171450">
                <a:moveTo>
                  <a:pt x="384381" y="0"/>
                </a:moveTo>
                <a:lnTo>
                  <a:pt x="376809" y="238"/>
                </a:lnTo>
                <a:lnTo>
                  <a:pt x="369808" y="3333"/>
                </a:lnTo>
                <a:lnTo>
                  <a:pt x="364236" y="9001"/>
                </a:lnTo>
                <a:lnTo>
                  <a:pt x="362211" y="16263"/>
                </a:lnTo>
                <a:lnTo>
                  <a:pt x="362902" y="23669"/>
                </a:lnTo>
                <a:lnTo>
                  <a:pt x="366164" y="30218"/>
                </a:lnTo>
                <a:lnTo>
                  <a:pt x="371856" y="34909"/>
                </a:lnTo>
                <a:lnTo>
                  <a:pt x="426045" y="66700"/>
                </a:lnTo>
                <a:lnTo>
                  <a:pt x="495300" y="66913"/>
                </a:lnTo>
                <a:lnTo>
                  <a:pt x="495300" y="105013"/>
                </a:lnTo>
                <a:lnTo>
                  <a:pt x="501565" y="105013"/>
                </a:lnTo>
                <a:lnTo>
                  <a:pt x="533400" y="86725"/>
                </a:lnTo>
                <a:lnTo>
                  <a:pt x="391668" y="2905"/>
                </a:lnTo>
                <a:lnTo>
                  <a:pt x="384381" y="0"/>
                </a:lnTo>
                <a:close/>
              </a:path>
              <a:path w="533400" h="171450">
                <a:moveTo>
                  <a:pt x="0" y="65389"/>
                </a:moveTo>
                <a:lnTo>
                  <a:pt x="0" y="103489"/>
                </a:lnTo>
                <a:lnTo>
                  <a:pt x="425393" y="104798"/>
                </a:lnTo>
                <a:lnTo>
                  <a:pt x="458566" y="85779"/>
                </a:lnTo>
                <a:lnTo>
                  <a:pt x="426045" y="66700"/>
                </a:lnTo>
                <a:lnTo>
                  <a:pt x="0" y="65389"/>
                </a:lnTo>
                <a:close/>
              </a:path>
              <a:path w="533400" h="171450">
                <a:moveTo>
                  <a:pt x="486156" y="69961"/>
                </a:moveTo>
                <a:lnTo>
                  <a:pt x="458566" y="85779"/>
                </a:lnTo>
                <a:lnTo>
                  <a:pt x="486156" y="101965"/>
                </a:lnTo>
                <a:lnTo>
                  <a:pt x="486156" y="69961"/>
                </a:lnTo>
                <a:close/>
              </a:path>
              <a:path w="533400" h="171450">
                <a:moveTo>
                  <a:pt x="495300" y="69961"/>
                </a:moveTo>
                <a:lnTo>
                  <a:pt x="486156" y="69961"/>
                </a:lnTo>
                <a:lnTo>
                  <a:pt x="486156" y="101965"/>
                </a:lnTo>
                <a:lnTo>
                  <a:pt x="495300" y="101965"/>
                </a:lnTo>
                <a:lnTo>
                  <a:pt x="495300" y="69961"/>
                </a:lnTo>
                <a:close/>
              </a:path>
              <a:path w="533400" h="171450">
                <a:moveTo>
                  <a:pt x="426045" y="66700"/>
                </a:moveTo>
                <a:lnTo>
                  <a:pt x="458566" y="85779"/>
                </a:lnTo>
                <a:lnTo>
                  <a:pt x="486156" y="69961"/>
                </a:lnTo>
                <a:lnTo>
                  <a:pt x="495300" y="69961"/>
                </a:lnTo>
                <a:lnTo>
                  <a:pt x="495300" y="66913"/>
                </a:lnTo>
                <a:lnTo>
                  <a:pt x="426045" y="66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25347" rIns="0" bIns="0" rtlCol="0">
            <a:spAutoFit/>
          </a:bodyPr>
          <a:lstStyle/>
          <a:p>
            <a:pPr marL="241300">
              <a:lnSpc>
                <a:spcPts val="2875"/>
              </a:lnSpc>
              <a:spcBef>
                <a:spcPts val="100"/>
              </a:spcBef>
            </a:pPr>
            <a:r>
              <a:rPr spc="-10" dirty="0"/>
              <a:t>Structure</a:t>
            </a:r>
          </a:p>
          <a:p>
            <a:pPr marL="698500" marR="3592829">
              <a:lnSpc>
                <a:spcPts val="2400"/>
              </a:lnSpc>
              <a:spcBef>
                <a:spcPts val="75"/>
              </a:spcBef>
            </a:pPr>
            <a:r>
              <a:rPr sz="2000" dirty="0">
                <a:solidFill>
                  <a:srgbClr val="FF0000"/>
                </a:solidFill>
              </a:rPr>
              <a:t>Definition</a:t>
            </a:r>
            <a:r>
              <a:rPr sz="2000" spc="-9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of</a:t>
            </a:r>
            <a:r>
              <a:rPr sz="2000" spc="-60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structures </a:t>
            </a:r>
            <a:r>
              <a:rPr sz="2000" dirty="0"/>
              <a:t>Creating</a:t>
            </a:r>
            <a:r>
              <a:rPr sz="2000" spc="-55" dirty="0"/>
              <a:t> </a:t>
            </a:r>
            <a:r>
              <a:rPr sz="2000" dirty="0"/>
              <a:t>structures</a:t>
            </a:r>
            <a:r>
              <a:rPr sz="2000" spc="-20" dirty="0"/>
              <a:t> </a:t>
            </a:r>
            <a:r>
              <a:rPr sz="2000" dirty="0"/>
              <a:t>in</a:t>
            </a:r>
            <a:r>
              <a:rPr sz="2000" spc="-30" dirty="0"/>
              <a:t> </a:t>
            </a:r>
            <a:r>
              <a:rPr sz="2000" spc="-50" dirty="0"/>
              <a:t>C</a:t>
            </a:r>
            <a:endParaRPr sz="2000"/>
          </a:p>
          <a:p>
            <a:pPr marL="196850" marR="470534" algn="ctr">
              <a:lnSpc>
                <a:spcPts val="2300"/>
              </a:lnSpc>
            </a:pPr>
            <a:r>
              <a:rPr sz="2000" dirty="0">
                <a:latin typeface="Arial"/>
                <a:cs typeface="Arial"/>
              </a:rPr>
              <a:t>dot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printf,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scanf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structure</a:t>
            </a:r>
            <a:endParaRPr sz="200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  <a:spcBef>
                <a:spcPts val="20"/>
              </a:spcBef>
            </a:pPr>
            <a:r>
              <a:rPr sz="2000" dirty="0"/>
              <a:t>typedef</a:t>
            </a:r>
            <a:r>
              <a:rPr sz="2000" spc="-40" dirty="0"/>
              <a:t> </a:t>
            </a:r>
            <a:r>
              <a:rPr sz="2000" dirty="0"/>
              <a:t>vs</a:t>
            </a:r>
            <a:r>
              <a:rPr sz="2000" spc="-20" dirty="0"/>
              <a:t> </a:t>
            </a:r>
            <a:r>
              <a:rPr sz="2000" spc="-10" dirty="0"/>
              <a:t>struct</a:t>
            </a:r>
            <a:endParaRPr sz="2000"/>
          </a:p>
          <a:p>
            <a:pPr marL="698500" marR="87630">
              <a:lnSpc>
                <a:spcPct val="100000"/>
              </a:lnSpc>
              <a:spcBef>
                <a:spcPts val="5"/>
              </a:spcBef>
            </a:pPr>
            <a:r>
              <a:rPr sz="2000" dirty="0"/>
              <a:t>Problem</a:t>
            </a:r>
            <a:r>
              <a:rPr sz="2000" spc="-55" dirty="0"/>
              <a:t> </a:t>
            </a:r>
            <a:r>
              <a:rPr sz="2000" dirty="0"/>
              <a:t>solving</a:t>
            </a:r>
            <a:r>
              <a:rPr sz="2000" spc="-20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structure</a:t>
            </a:r>
            <a:r>
              <a:rPr sz="2000" spc="-35" dirty="0"/>
              <a:t> </a:t>
            </a:r>
            <a:r>
              <a:rPr sz="2000" dirty="0"/>
              <a:t>(similar</a:t>
            </a:r>
            <a:r>
              <a:rPr sz="2000" spc="-15" dirty="0"/>
              <a:t> </a:t>
            </a:r>
            <a:r>
              <a:rPr sz="2000" spc="-10" dirty="0"/>
              <a:t>type) </a:t>
            </a:r>
            <a:r>
              <a:rPr sz="2000" dirty="0"/>
              <a:t>Problem</a:t>
            </a:r>
            <a:r>
              <a:rPr sz="2000" spc="-80" dirty="0"/>
              <a:t> </a:t>
            </a:r>
            <a:r>
              <a:rPr sz="2000" dirty="0"/>
              <a:t>solving</a:t>
            </a:r>
            <a:r>
              <a:rPr sz="2000" spc="-45" dirty="0"/>
              <a:t> </a:t>
            </a:r>
            <a:r>
              <a:rPr sz="2000" dirty="0"/>
              <a:t>with</a:t>
            </a:r>
            <a:r>
              <a:rPr sz="2000" spc="-45" dirty="0"/>
              <a:t> </a:t>
            </a:r>
            <a:r>
              <a:rPr sz="2000" dirty="0"/>
              <a:t>structure</a:t>
            </a:r>
            <a:r>
              <a:rPr sz="2000" spc="-60" dirty="0"/>
              <a:t> </a:t>
            </a:r>
            <a:r>
              <a:rPr sz="2000" dirty="0"/>
              <a:t>(dissimilar</a:t>
            </a:r>
            <a:r>
              <a:rPr sz="2000" spc="-45" dirty="0"/>
              <a:t> </a:t>
            </a:r>
            <a:r>
              <a:rPr sz="2000" spc="-10" dirty="0"/>
              <a:t>type) </a:t>
            </a:r>
            <a:r>
              <a:rPr sz="2000" dirty="0"/>
              <a:t>Passing</a:t>
            </a:r>
            <a:r>
              <a:rPr sz="2000" spc="-55" dirty="0"/>
              <a:t> </a:t>
            </a:r>
            <a:r>
              <a:rPr sz="2000" dirty="0"/>
              <a:t>structure</a:t>
            </a:r>
            <a:r>
              <a:rPr sz="2000" spc="-35" dirty="0"/>
              <a:t> </a:t>
            </a:r>
            <a:r>
              <a:rPr sz="2000" dirty="0"/>
              <a:t>as</a:t>
            </a:r>
            <a:r>
              <a:rPr sz="2000" spc="-30" dirty="0"/>
              <a:t> </a:t>
            </a:r>
            <a:r>
              <a:rPr sz="2000" dirty="0"/>
              <a:t>function</a:t>
            </a:r>
            <a:r>
              <a:rPr sz="2000" spc="-45" dirty="0"/>
              <a:t> </a:t>
            </a:r>
            <a:r>
              <a:rPr sz="2000" spc="-10" dirty="0"/>
              <a:t>parameter</a:t>
            </a:r>
            <a:endParaRPr sz="2000"/>
          </a:p>
          <a:p>
            <a:pPr marL="698500">
              <a:lnSpc>
                <a:spcPts val="2400"/>
              </a:lnSpc>
            </a:pPr>
            <a:r>
              <a:rPr sz="2000" dirty="0"/>
              <a:t>Arrays</a:t>
            </a:r>
            <a:r>
              <a:rPr sz="2000" spc="-60" dirty="0"/>
              <a:t> </a:t>
            </a:r>
            <a:r>
              <a:rPr sz="2000" dirty="0"/>
              <a:t>of</a:t>
            </a:r>
            <a:r>
              <a:rPr sz="2000" spc="-30" dirty="0"/>
              <a:t> </a:t>
            </a:r>
            <a:r>
              <a:rPr sz="2000" spc="-10" dirty="0"/>
              <a:t>structure</a:t>
            </a:r>
            <a:endParaRPr sz="2000"/>
          </a:p>
          <a:p>
            <a:pPr marL="698500" marR="5080">
              <a:lnSpc>
                <a:spcPct val="100000"/>
              </a:lnSpc>
            </a:pPr>
            <a:r>
              <a:rPr sz="2000" dirty="0"/>
              <a:t>Passing</a:t>
            </a:r>
            <a:r>
              <a:rPr sz="2000" spc="-50" dirty="0"/>
              <a:t> </a:t>
            </a:r>
            <a:r>
              <a:rPr sz="2000" dirty="0"/>
              <a:t>array</a:t>
            </a:r>
            <a:r>
              <a:rPr sz="2000" spc="-30" dirty="0"/>
              <a:t> </a:t>
            </a:r>
            <a:r>
              <a:rPr sz="2000" dirty="0"/>
              <a:t>of</a:t>
            </a:r>
            <a:r>
              <a:rPr sz="2000" spc="-15" dirty="0"/>
              <a:t> </a:t>
            </a:r>
            <a:r>
              <a:rPr sz="2000" dirty="0"/>
              <a:t>structure</a:t>
            </a:r>
            <a:r>
              <a:rPr sz="2000" spc="-20" dirty="0"/>
              <a:t> </a:t>
            </a:r>
            <a:r>
              <a:rPr sz="2000" dirty="0"/>
              <a:t>as</a:t>
            </a:r>
            <a:r>
              <a:rPr sz="2000" spc="-25" dirty="0"/>
              <a:t> </a:t>
            </a:r>
            <a:r>
              <a:rPr sz="2000" dirty="0"/>
              <a:t>function</a:t>
            </a:r>
            <a:r>
              <a:rPr sz="2000" spc="-35" dirty="0"/>
              <a:t> </a:t>
            </a:r>
            <a:r>
              <a:rPr sz="2000" spc="-10" dirty="0"/>
              <a:t>parameter </a:t>
            </a:r>
            <a:r>
              <a:rPr sz="2000" dirty="0"/>
              <a:t>Determining</a:t>
            </a:r>
            <a:r>
              <a:rPr sz="2000" spc="-60" dirty="0"/>
              <a:t> </a:t>
            </a:r>
            <a:r>
              <a:rPr sz="2000" dirty="0"/>
              <a:t>size</a:t>
            </a:r>
            <a:r>
              <a:rPr sz="2000" spc="-35" dirty="0"/>
              <a:t> </a:t>
            </a:r>
            <a:r>
              <a:rPr sz="2000" dirty="0"/>
              <a:t>of</a:t>
            </a:r>
            <a:r>
              <a:rPr sz="2000" spc="-35" dirty="0"/>
              <a:t> </a:t>
            </a:r>
            <a:r>
              <a:rPr sz="2000" spc="-10" dirty="0"/>
              <a:t>structure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7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Structures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0657" y="2143798"/>
            <a:ext cx="7985759" cy="3486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 indent="-290830">
              <a:lnSpc>
                <a:spcPct val="100000"/>
              </a:lnSpc>
              <a:spcBef>
                <a:spcPts val="100"/>
              </a:spcBef>
              <a:buSzPct val="88888"/>
              <a:buFont typeface="Wingdings"/>
              <a:buChar char=""/>
              <a:tabLst>
                <a:tab pos="303530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Arrays</a:t>
            </a:r>
            <a:r>
              <a:rPr sz="1800" b="1" spc="-6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require</a:t>
            </a:r>
            <a:r>
              <a:rPr sz="1800" b="1" spc="-3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that</a:t>
            </a:r>
            <a:r>
              <a:rPr sz="1800" b="1" spc="-3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all</a:t>
            </a:r>
            <a:r>
              <a:rPr sz="1800" b="1" spc="-5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elements</a:t>
            </a:r>
            <a:r>
              <a:rPr sz="1800" b="1" spc="-5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be</a:t>
            </a:r>
            <a:r>
              <a:rPr sz="1800" b="1" spc="-3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of</a:t>
            </a:r>
            <a:r>
              <a:rPr sz="1800" b="1" spc="-4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the</a:t>
            </a:r>
            <a:r>
              <a:rPr sz="1800" b="1" spc="-3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same</a:t>
            </a:r>
            <a:r>
              <a:rPr sz="1800" b="1" spc="-5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data</a:t>
            </a:r>
            <a:r>
              <a:rPr sz="1800" b="1" spc="-4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000066"/>
                </a:solidFill>
                <a:latin typeface="Verdana"/>
                <a:cs typeface="Verdana"/>
              </a:rPr>
              <a:t>type.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35"/>
              </a:spcBef>
              <a:buClr>
                <a:srgbClr val="000066"/>
              </a:buClr>
              <a:buFont typeface="Wingdings"/>
              <a:buChar char=""/>
            </a:pPr>
            <a:endParaRPr sz="1800" dirty="0">
              <a:latin typeface="Verdana"/>
              <a:cs typeface="Verdana"/>
            </a:endParaRPr>
          </a:p>
          <a:p>
            <a:pPr marL="303530" marR="5080" indent="-291465">
              <a:lnSpc>
                <a:spcPct val="100000"/>
              </a:lnSpc>
              <a:buSzPct val="88888"/>
              <a:buFont typeface="Wingdings"/>
              <a:buChar char=""/>
              <a:tabLst>
                <a:tab pos="303530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Many</a:t>
            </a:r>
            <a:r>
              <a:rPr sz="1800" b="1" spc="-6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times</a:t>
            </a:r>
            <a:r>
              <a:rPr sz="1800" b="1" spc="-5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it</a:t>
            </a:r>
            <a:r>
              <a:rPr sz="1800" b="1" spc="-6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is</a:t>
            </a:r>
            <a:r>
              <a:rPr sz="1800" b="1" spc="-6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necessary</a:t>
            </a:r>
            <a:r>
              <a:rPr sz="1800" b="1" spc="-4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to</a:t>
            </a:r>
            <a:r>
              <a:rPr sz="1800" b="1" spc="-5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group</a:t>
            </a:r>
            <a:r>
              <a:rPr sz="1800" b="1" spc="-4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information</a:t>
            </a:r>
            <a:r>
              <a:rPr sz="1800" b="1" spc="-4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of</a:t>
            </a:r>
            <a:r>
              <a:rPr sz="1800" b="1" spc="-5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000066"/>
                </a:solidFill>
                <a:latin typeface="Verdana"/>
                <a:cs typeface="Verdana"/>
              </a:rPr>
              <a:t>different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data</a:t>
            </a:r>
            <a:r>
              <a:rPr sz="1800" b="1" spc="-5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000066"/>
                </a:solidFill>
                <a:latin typeface="Verdana"/>
                <a:cs typeface="Verdana"/>
              </a:rPr>
              <a:t>types</a:t>
            </a:r>
            <a:endParaRPr sz="1800" dirty="0">
              <a:latin typeface="Verdana"/>
              <a:cs typeface="Verdana"/>
            </a:endParaRPr>
          </a:p>
          <a:p>
            <a:pPr marL="697865" marR="224790" lvl="1" indent="-280670">
              <a:lnSpc>
                <a:spcPct val="100000"/>
              </a:lnSpc>
              <a:spcBef>
                <a:spcPts val="340"/>
              </a:spcBef>
              <a:buFont typeface="Verdana"/>
              <a:buChar char="•"/>
              <a:tabLst>
                <a:tab pos="697865" algn="l"/>
              </a:tabLst>
            </a:pPr>
            <a:r>
              <a:rPr sz="1400" b="1" dirty="0">
                <a:latin typeface="Verdana"/>
                <a:cs typeface="Verdana"/>
              </a:rPr>
              <a:t>An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example</a:t>
            </a:r>
            <a:r>
              <a:rPr sz="1400" b="1" spc="-5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is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student</a:t>
            </a:r>
            <a:r>
              <a:rPr sz="1400" b="1" spc="-3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list</a:t>
            </a:r>
            <a:r>
              <a:rPr sz="1400" b="1" spc="-5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for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course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(list</a:t>
            </a:r>
            <a:r>
              <a:rPr sz="1400" b="1" spc="-4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typically</a:t>
            </a:r>
            <a:r>
              <a:rPr sz="1400" b="1" spc="-3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includes</a:t>
            </a:r>
            <a:r>
              <a:rPr sz="1400" b="1" spc="-55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several </a:t>
            </a:r>
            <a:r>
              <a:rPr sz="1400" b="1" dirty="0">
                <a:latin typeface="Verdana"/>
                <a:cs typeface="Verdana"/>
              </a:rPr>
              <a:t>students</a:t>
            </a:r>
            <a:r>
              <a:rPr sz="1400" b="1" spc="-7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info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including</a:t>
            </a:r>
            <a:r>
              <a:rPr sz="1400" b="1" spc="-4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name,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an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id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number,</a:t>
            </a:r>
            <a:r>
              <a:rPr sz="1400" b="1" spc="-4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mark,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and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grade</a:t>
            </a:r>
            <a:r>
              <a:rPr sz="1400" b="1" spc="-45" dirty="0">
                <a:latin typeface="Verdana"/>
                <a:cs typeface="Verdana"/>
              </a:rPr>
              <a:t> </a:t>
            </a:r>
            <a:r>
              <a:rPr sz="1400" b="1" spc="-25" dirty="0">
                <a:latin typeface="Verdana"/>
                <a:cs typeface="Verdana"/>
              </a:rPr>
              <a:t>for </a:t>
            </a:r>
            <a:r>
              <a:rPr sz="1400" b="1" dirty="0">
                <a:latin typeface="Verdana"/>
                <a:cs typeface="Verdana"/>
              </a:rPr>
              <a:t>each</a:t>
            </a:r>
            <a:r>
              <a:rPr sz="1400" b="1" spc="-50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student)</a:t>
            </a:r>
            <a:endParaRPr sz="1400" dirty="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1320"/>
              </a:spcBef>
              <a:buFont typeface="Verdana"/>
              <a:buChar char="•"/>
            </a:pPr>
            <a:endParaRPr sz="1400" dirty="0">
              <a:latin typeface="Verdana"/>
              <a:cs typeface="Verdana"/>
            </a:endParaRPr>
          </a:p>
          <a:p>
            <a:pPr marL="303530" marR="247015" indent="-291465">
              <a:lnSpc>
                <a:spcPct val="100000"/>
              </a:lnSpc>
              <a:buSzPct val="88888"/>
              <a:buFont typeface="Wingdings"/>
              <a:buChar char=""/>
              <a:tabLst>
                <a:tab pos="303530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C</a:t>
            </a:r>
            <a:r>
              <a:rPr sz="1800" b="1" spc="-10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supports</a:t>
            </a:r>
            <a:r>
              <a:rPr sz="1800" b="1" spc="-7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data</a:t>
            </a:r>
            <a:r>
              <a:rPr sz="1800" b="1" spc="-7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structures</a:t>
            </a:r>
            <a:r>
              <a:rPr sz="1800" b="1" spc="-5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that</a:t>
            </a:r>
            <a:r>
              <a:rPr sz="1800" b="1" spc="-7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can</a:t>
            </a:r>
            <a:r>
              <a:rPr sz="1800" b="1" spc="-7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store</a:t>
            </a:r>
            <a:r>
              <a:rPr sz="1800" b="1" spc="-7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combinations</a:t>
            </a:r>
            <a:r>
              <a:rPr sz="1800" b="1" spc="-6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spc="-25" dirty="0">
                <a:solidFill>
                  <a:srgbClr val="000066"/>
                </a:solidFill>
                <a:latin typeface="Verdana"/>
                <a:cs typeface="Verdana"/>
              </a:rPr>
              <a:t>of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character,</a:t>
            </a:r>
            <a:r>
              <a:rPr sz="1800" b="1" spc="-6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integer,</a:t>
            </a:r>
            <a:r>
              <a:rPr sz="1800" b="1" spc="-5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float</a:t>
            </a:r>
            <a:r>
              <a:rPr sz="1800" b="1" spc="-6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and</a:t>
            </a:r>
            <a:r>
              <a:rPr sz="1800" b="1" spc="-5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000066"/>
                </a:solidFill>
                <a:latin typeface="Verdana"/>
                <a:cs typeface="Verdana"/>
              </a:rPr>
              <a:t>double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80"/>
              </a:spcBef>
              <a:buClr>
                <a:srgbClr val="000066"/>
              </a:buClr>
              <a:buFont typeface="Wingdings"/>
              <a:buChar char=""/>
            </a:pPr>
            <a:endParaRPr sz="1800" dirty="0">
              <a:latin typeface="Verdana"/>
              <a:cs typeface="Verdana"/>
            </a:endParaRPr>
          </a:p>
          <a:p>
            <a:pPr marL="303530" indent="-290830">
              <a:lnSpc>
                <a:spcPct val="100000"/>
              </a:lnSpc>
              <a:buSzPct val="88888"/>
              <a:buFont typeface="Wingdings"/>
              <a:buChar char=""/>
              <a:tabLst>
                <a:tab pos="303530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They</a:t>
            </a:r>
            <a:r>
              <a:rPr sz="1800" b="1" spc="-5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are</a:t>
            </a:r>
            <a:r>
              <a:rPr sz="1800" b="1" spc="-3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called</a:t>
            </a:r>
            <a:r>
              <a:rPr sz="1800" b="1" spc="-2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</a:t>
            </a:r>
            <a:r>
              <a:rPr sz="1800" b="1" spc="-5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i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Verdana"/>
                <a:cs typeface="Verdana"/>
              </a:rPr>
              <a:t>struct</a:t>
            </a:r>
            <a:r>
              <a:rPr sz="1800" b="1" spc="-10" dirty="0">
                <a:solidFill>
                  <a:srgbClr val="000066"/>
                </a:solidFill>
                <a:latin typeface="Verdana"/>
                <a:cs typeface="Verdana"/>
              </a:rPr>
              <a:t>.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39252" y="6884920"/>
            <a:ext cx="125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6600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7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dirty="0"/>
              <a:t>Structure:</a:t>
            </a:r>
            <a:r>
              <a:rPr spc="-100" dirty="0"/>
              <a:t> </a:t>
            </a:r>
            <a:r>
              <a:rPr dirty="0"/>
              <a:t>Formal</a:t>
            </a:r>
            <a:r>
              <a:rPr spc="-50" dirty="0"/>
              <a:t> </a:t>
            </a:r>
            <a:r>
              <a:rPr spc="-10" dirty="0"/>
              <a:t>Definition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9339" y="1784096"/>
            <a:ext cx="7791450" cy="353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960" marR="170815" indent="-17526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structure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is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compound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data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type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that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consists</a:t>
            </a:r>
            <a:r>
              <a:rPr sz="24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of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two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or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more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variables</a:t>
            </a:r>
            <a:r>
              <a:rPr sz="24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of</a:t>
            </a:r>
            <a:r>
              <a:rPr sz="24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similar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or</a:t>
            </a:r>
            <a:r>
              <a:rPr sz="2400" b="1" spc="-7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dissimilar</a:t>
            </a:r>
            <a:r>
              <a:rPr sz="24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primitive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data</a:t>
            </a:r>
            <a:r>
              <a:rPr sz="2400" b="1" spc="-7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types.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2400">
              <a:latin typeface="Verdana"/>
              <a:cs typeface="Verdana"/>
            </a:endParaRPr>
          </a:p>
          <a:p>
            <a:pPr marL="187960" marR="896619" indent="-175260">
              <a:lnSpc>
                <a:spcPts val="2830"/>
              </a:lnSpc>
            </a:pPr>
            <a:r>
              <a:rPr sz="2400" b="1" dirty="0">
                <a:solidFill>
                  <a:srgbClr val="186600"/>
                </a:solidFill>
                <a:latin typeface="Verdana"/>
                <a:cs typeface="Verdana"/>
              </a:rPr>
              <a:t>The</a:t>
            </a:r>
            <a:r>
              <a:rPr sz="2400" b="1" spc="-70" dirty="0">
                <a:solidFill>
                  <a:srgbClr val="18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186600"/>
                </a:solidFill>
                <a:latin typeface="Verdana"/>
                <a:cs typeface="Verdana"/>
              </a:rPr>
              <a:t>variables</a:t>
            </a:r>
            <a:r>
              <a:rPr sz="2400" b="1" spc="-60" dirty="0">
                <a:solidFill>
                  <a:srgbClr val="18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186600"/>
                </a:solidFill>
                <a:latin typeface="Verdana"/>
                <a:cs typeface="Verdana"/>
              </a:rPr>
              <a:t>are</a:t>
            </a:r>
            <a:r>
              <a:rPr sz="2400" b="1" spc="-70" dirty="0">
                <a:solidFill>
                  <a:srgbClr val="18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186600"/>
                </a:solidFill>
                <a:latin typeface="Verdana"/>
                <a:cs typeface="Verdana"/>
              </a:rPr>
              <a:t>called</a:t>
            </a:r>
            <a:r>
              <a:rPr sz="2400" b="1" spc="-45" dirty="0">
                <a:solidFill>
                  <a:srgbClr val="18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C00000"/>
                </a:solidFill>
                <a:latin typeface="Verdana"/>
                <a:cs typeface="Verdana"/>
              </a:rPr>
              <a:t>members</a:t>
            </a:r>
            <a:r>
              <a:rPr sz="2400" b="1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186600"/>
                </a:solidFill>
                <a:latin typeface="Verdana"/>
                <a:cs typeface="Verdana"/>
              </a:rPr>
              <a:t>of</a:t>
            </a:r>
            <a:r>
              <a:rPr sz="2400" b="1" spc="-65" dirty="0">
                <a:solidFill>
                  <a:srgbClr val="186600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186600"/>
                </a:solidFill>
                <a:latin typeface="Verdana"/>
                <a:cs typeface="Verdana"/>
              </a:rPr>
              <a:t>the </a:t>
            </a:r>
            <a:r>
              <a:rPr sz="2400" b="1" spc="-10" dirty="0">
                <a:solidFill>
                  <a:srgbClr val="186600"/>
                </a:solidFill>
                <a:latin typeface="Verdana"/>
                <a:cs typeface="Verdana"/>
              </a:rPr>
              <a:t>structure.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2400">
              <a:latin typeface="Verdana"/>
              <a:cs typeface="Verdana"/>
            </a:endParaRPr>
          </a:p>
          <a:p>
            <a:pPr marL="187960" marR="5080" indent="-175260">
              <a:lnSpc>
                <a:spcPts val="2830"/>
              </a:lnSpc>
            </a:pPr>
            <a:r>
              <a:rPr sz="2400" b="1" dirty="0">
                <a:solidFill>
                  <a:srgbClr val="186600"/>
                </a:solidFill>
                <a:latin typeface="Verdana"/>
                <a:cs typeface="Verdana"/>
              </a:rPr>
              <a:t>The</a:t>
            </a:r>
            <a:r>
              <a:rPr sz="2400" b="1" spc="-60" dirty="0">
                <a:solidFill>
                  <a:srgbClr val="18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186600"/>
                </a:solidFill>
                <a:latin typeface="Verdana"/>
                <a:cs typeface="Verdana"/>
              </a:rPr>
              <a:t>structure</a:t>
            </a:r>
            <a:r>
              <a:rPr sz="2400" b="1" spc="-55" dirty="0">
                <a:solidFill>
                  <a:srgbClr val="18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186600"/>
                </a:solidFill>
                <a:latin typeface="Verdana"/>
                <a:cs typeface="Verdana"/>
              </a:rPr>
              <a:t>is</a:t>
            </a:r>
            <a:r>
              <a:rPr sz="2400" b="1" spc="-50" dirty="0">
                <a:solidFill>
                  <a:srgbClr val="18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186600"/>
                </a:solidFill>
                <a:latin typeface="Verdana"/>
                <a:cs typeface="Verdana"/>
              </a:rPr>
              <a:t>also</a:t>
            </a:r>
            <a:r>
              <a:rPr sz="2400" b="1" spc="-55" dirty="0">
                <a:solidFill>
                  <a:srgbClr val="18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186600"/>
                </a:solidFill>
                <a:latin typeface="Verdana"/>
                <a:cs typeface="Verdana"/>
              </a:rPr>
              <a:t>called</a:t>
            </a:r>
            <a:r>
              <a:rPr sz="2400" b="1" spc="-50" dirty="0">
                <a:solidFill>
                  <a:srgbClr val="186600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C00000"/>
                </a:solidFill>
                <a:latin typeface="Verdana"/>
                <a:cs typeface="Verdana"/>
              </a:rPr>
              <a:t>user-</a:t>
            </a:r>
            <a:r>
              <a:rPr sz="2400" b="1" dirty="0">
                <a:solidFill>
                  <a:srgbClr val="C00000"/>
                </a:solidFill>
                <a:latin typeface="Verdana"/>
                <a:cs typeface="Verdana"/>
              </a:rPr>
              <a:t>defined</a:t>
            </a:r>
            <a:r>
              <a:rPr sz="2400" b="1" spc="-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Verdana"/>
                <a:cs typeface="Verdana"/>
              </a:rPr>
              <a:t>data </a:t>
            </a:r>
            <a:r>
              <a:rPr sz="2400" b="1" spc="-10" dirty="0">
                <a:solidFill>
                  <a:srgbClr val="C00000"/>
                </a:solidFill>
                <a:latin typeface="Verdana"/>
                <a:cs typeface="Verdana"/>
              </a:rPr>
              <a:t>types</a:t>
            </a:r>
            <a:r>
              <a:rPr sz="2400" b="1" spc="-10" dirty="0">
                <a:solidFill>
                  <a:srgbClr val="186600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5" y="5734304"/>
            <a:ext cx="7165340" cy="1390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160" marR="5080" indent="-17526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Later</a:t>
            </a:r>
            <a:r>
              <a:rPr sz="2400" b="1" spc="-6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on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we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will</a:t>
            </a:r>
            <a:r>
              <a:rPr sz="2400" b="1" spc="-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see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that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structure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may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contain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even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C00000"/>
                </a:solidFill>
                <a:latin typeface="Verdana"/>
                <a:cs typeface="Verdana"/>
              </a:rPr>
              <a:t>compound</a:t>
            </a:r>
            <a:r>
              <a:rPr sz="2400" b="1" spc="-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data</a:t>
            </a:r>
            <a:r>
              <a:rPr sz="2400" b="1" spc="-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types</a:t>
            </a:r>
            <a:r>
              <a:rPr sz="24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(i.e.,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structure</a:t>
            </a:r>
            <a:r>
              <a:rPr sz="2400" b="1" spc="-6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within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structure).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  <a:tabLst>
                <a:tab pos="3084830" algn="l"/>
              </a:tabLst>
            </a:pP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	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39252" y="6884920"/>
            <a:ext cx="125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6600"/>
                </a:solidFill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7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3192922"/>
            <a:ext cx="535305" cy="171450"/>
          </a:xfrm>
          <a:custGeom>
            <a:avLst/>
            <a:gdLst/>
            <a:ahLst/>
            <a:cxnLst/>
            <a:rect l="l" t="t" r="r" b="b"/>
            <a:pathLst>
              <a:path w="535305" h="171450">
                <a:moveTo>
                  <a:pt x="425400" y="104794"/>
                </a:moveTo>
                <a:lnTo>
                  <a:pt x="371856" y="135493"/>
                </a:lnTo>
                <a:lnTo>
                  <a:pt x="366188" y="140827"/>
                </a:lnTo>
                <a:lnTo>
                  <a:pt x="363092" y="147304"/>
                </a:lnTo>
                <a:lnTo>
                  <a:pt x="362854" y="154352"/>
                </a:lnTo>
                <a:lnTo>
                  <a:pt x="365759" y="161401"/>
                </a:lnTo>
                <a:lnTo>
                  <a:pt x="370451" y="167092"/>
                </a:lnTo>
                <a:lnTo>
                  <a:pt x="376999" y="170354"/>
                </a:lnTo>
                <a:lnTo>
                  <a:pt x="384405" y="171045"/>
                </a:lnTo>
                <a:lnTo>
                  <a:pt x="391668" y="169021"/>
                </a:lnTo>
                <a:lnTo>
                  <a:pt x="503089" y="105013"/>
                </a:lnTo>
                <a:lnTo>
                  <a:pt x="496824" y="105013"/>
                </a:lnTo>
                <a:lnTo>
                  <a:pt x="425400" y="104794"/>
                </a:lnTo>
                <a:close/>
              </a:path>
              <a:path w="535305" h="171450">
                <a:moveTo>
                  <a:pt x="458753" y="85671"/>
                </a:moveTo>
                <a:lnTo>
                  <a:pt x="425400" y="104794"/>
                </a:lnTo>
                <a:lnTo>
                  <a:pt x="496824" y="105013"/>
                </a:lnTo>
                <a:lnTo>
                  <a:pt x="496824" y="101965"/>
                </a:lnTo>
                <a:lnTo>
                  <a:pt x="486156" y="101965"/>
                </a:lnTo>
                <a:lnTo>
                  <a:pt x="458753" y="85671"/>
                </a:lnTo>
                <a:close/>
              </a:path>
              <a:path w="535305" h="171450">
                <a:moveTo>
                  <a:pt x="384619" y="0"/>
                </a:moveTo>
                <a:lnTo>
                  <a:pt x="377571" y="238"/>
                </a:lnTo>
                <a:lnTo>
                  <a:pt x="371094" y="3333"/>
                </a:lnTo>
                <a:lnTo>
                  <a:pt x="365759" y="9001"/>
                </a:lnTo>
                <a:lnTo>
                  <a:pt x="363735" y="16263"/>
                </a:lnTo>
                <a:lnTo>
                  <a:pt x="364426" y="23669"/>
                </a:lnTo>
                <a:lnTo>
                  <a:pt x="367688" y="30218"/>
                </a:lnTo>
                <a:lnTo>
                  <a:pt x="373380" y="34909"/>
                </a:lnTo>
                <a:lnTo>
                  <a:pt x="426842" y="66697"/>
                </a:lnTo>
                <a:lnTo>
                  <a:pt x="496824" y="66913"/>
                </a:lnTo>
                <a:lnTo>
                  <a:pt x="496824" y="105013"/>
                </a:lnTo>
                <a:lnTo>
                  <a:pt x="503089" y="105013"/>
                </a:lnTo>
                <a:lnTo>
                  <a:pt x="534924" y="86725"/>
                </a:lnTo>
                <a:lnTo>
                  <a:pt x="391668" y="2905"/>
                </a:lnTo>
                <a:lnTo>
                  <a:pt x="384619" y="0"/>
                </a:lnTo>
                <a:close/>
              </a:path>
              <a:path w="535305" h="171450">
                <a:moveTo>
                  <a:pt x="1524" y="65389"/>
                </a:moveTo>
                <a:lnTo>
                  <a:pt x="60" y="101965"/>
                </a:lnTo>
                <a:lnTo>
                  <a:pt x="0" y="103489"/>
                </a:lnTo>
                <a:lnTo>
                  <a:pt x="425400" y="104794"/>
                </a:lnTo>
                <a:lnTo>
                  <a:pt x="458753" y="85671"/>
                </a:lnTo>
                <a:lnTo>
                  <a:pt x="426842" y="66697"/>
                </a:lnTo>
                <a:lnTo>
                  <a:pt x="1524" y="65389"/>
                </a:lnTo>
                <a:close/>
              </a:path>
              <a:path w="535305" h="171450">
                <a:moveTo>
                  <a:pt x="486156" y="69961"/>
                </a:moveTo>
                <a:lnTo>
                  <a:pt x="458753" y="85671"/>
                </a:lnTo>
                <a:lnTo>
                  <a:pt x="486156" y="101965"/>
                </a:lnTo>
                <a:lnTo>
                  <a:pt x="486156" y="69961"/>
                </a:lnTo>
                <a:close/>
              </a:path>
              <a:path w="535305" h="171450">
                <a:moveTo>
                  <a:pt x="496824" y="69961"/>
                </a:moveTo>
                <a:lnTo>
                  <a:pt x="486156" y="69961"/>
                </a:lnTo>
                <a:lnTo>
                  <a:pt x="486156" y="101965"/>
                </a:lnTo>
                <a:lnTo>
                  <a:pt x="496824" y="101965"/>
                </a:lnTo>
                <a:lnTo>
                  <a:pt x="496824" y="69961"/>
                </a:lnTo>
                <a:close/>
              </a:path>
              <a:path w="535305" h="171450">
                <a:moveTo>
                  <a:pt x="426842" y="66697"/>
                </a:moveTo>
                <a:lnTo>
                  <a:pt x="458753" y="85671"/>
                </a:lnTo>
                <a:lnTo>
                  <a:pt x="486156" y="69961"/>
                </a:lnTo>
                <a:lnTo>
                  <a:pt x="496824" y="69961"/>
                </a:lnTo>
                <a:lnTo>
                  <a:pt x="496824" y="66913"/>
                </a:lnTo>
                <a:lnTo>
                  <a:pt x="426842" y="6669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25347" rIns="0" bIns="0" rtlCol="0">
            <a:spAutoFit/>
          </a:bodyPr>
          <a:lstStyle/>
          <a:p>
            <a:pPr marL="241300">
              <a:lnSpc>
                <a:spcPts val="2875"/>
              </a:lnSpc>
              <a:spcBef>
                <a:spcPts val="100"/>
              </a:spcBef>
            </a:pPr>
            <a:r>
              <a:rPr spc="-10" dirty="0"/>
              <a:t>Structure</a:t>
            </a:r>
          </a:p>
          <a:p>
            <a:pPr marL="698500" marR="3592829">
              <a:lnSpc>
                <a:spcPts val="2400"/>
              </a:lnSpc>
              <a:spcBef>
                <a:spcPts val="75"/>
              </a:spcBef>
            </a:pPr>
            <a:r>
              <a:rPr sz="2000" dirty="0"/>
              <a:t>Definition</a:t>
            </a:r>
            <a:r>
              <a:rPr sz="2000" spc="-90" dirty="0"/>
              <a:t> </a:t>
            </a:r>
            <a:r>
              <a:rPr sz="2000" dirty="0"/>
              <a:t>of</a:t>
            </a:r>
            <a:r>
              <a:rPr sz="2000" spc="-60" dirty="0"/>
              <a:t> </a:t>
            </a:r>
            <a:r>
              <a:rPr sz="2000" spc="-10" dirty="0"/>
              <a:t>structures </a:t>
            </a:r>
            <a:r>
              <a:rPr sz="2000" dirty="0">
                <a:solidFill>
                  <a:srgbClr val="FF0000"/>
                </a:solidFill>
              </a:rPr>
              <a:t>Creating</a:t>
            </a:r>
            <a:r>
              <a:rPr sz="2000" spc="-5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structures</a:t>
            </a:r>
            <a:r>
              <a:rPr sz="2000" spc="-2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in</a:t>
            </a:r>
            <a:r>
              <a:rPr sz="2000" spc="-30" dirty="0">
                <a:solidFill>
                  <a:srgbClr val="FF0000"/>
                </a:solidFill>
              </a:rPr>
              <a:t> </a:t>
            </a:r>
            <a:r>
              <a:rPr sz="2000" spc="-50" dirty="0">
                <a:solidFill>
                  <a:srgbClr val="FF0000"/>
                </a:solidFill>
              </a:rPr>
              <a:t>C</a:t>
            </a:r>
            <a:endParaRPr sz="2000"/>
          </a:p>
          <a:p>
            <a:pPr marL="196850" marR="470534" algn="ctr">
              <a:lnSpc>
                <a:spcPts val="2300"/>
              </a:lnSpc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dot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operator,</a:t>
            </a:r>
            <a:r>
              <a:rPr sz="20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printf,</a:t>
            </a:r>
            <a:r>
              <a:rPr sz="20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scanf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used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structure</a:t>
            </a:r>
            <a:endParaRPr sz="200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  <a:spcBef>
                <a:spcPts val="20"/>
              </a:spcBef>
            </a:pPr>
            <a:r>
              <a:rPr sz="2000" dirty="0"/>
              <a:t>typedef</a:t>
            </a:r>
            <a:r>
              <a:rPr sz="2000" spc="-40" dirty="0"/>
              <a:t> </a:t>
            </a:r>
            <a:r>
              <a:rPr sz="2000" dirty="0"/>
              <a:t>vs</a:t>
            </a:r>
            <a:r>
              <a:rPr sz="2000" spc="-20" dirty="0"/>
              <a:t> </a:t>
            </a:r>
            <a:r>
              <a:rPr sz="2000" spc="-10" dirty="0"/>
              <a:t>struct</a:t>
            </a:r>
            <a:endParaRPr sz="2000"/>
          </a:p>
          <a:p>
            <a:pPr marL="698500" marR="87630">
              <a:lnSpc>
                <a:spcPct val="100000"/>
              </a:lnSpc>
              <a:spcBef>
                <a:spcPts val="5"/>
              </a:spcBef>
            </a:pPr>
            <a:r>
              <a:rPr sz="2000" dirty="0"/>
              <a:t>Problem</a:t>
            </a:r>
            <a:r>
              <a:rPr sz="2000" spc="-55" dirty="0"/>
              <a:t> </a:t>
            </a:r>
            <a:r>
              <a:rPr sz="2000" dirty="0"/>
              <a:t>solving</a:t>
            </a:r>
            <a:r>
              <a:rPr sz="2000" spc="-20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structure</a:t>
            </a:r>
            <a:r>
              <a:rPr sz="2000" spc="-35" dirty="0"/>
              <a:t> </a:t>
            </a:r>
            <a:r>
              <a:rPr sz="2000" dirty="0"/>
              <a:t>(similar</a:t>
            </a:r>
            <a:r>
              <a:rPr sz="2000" spc="-15" dirty="0"/>
              <a:t> </a:t>
            </a:r>
            <a:r>
              <a:rPr sz="2000" spc="-10" dirty="0"/>
              <a:t>type) </a:t>
            </a:r>
            <a:r>
              <a:rPr sz="2000" dirty="0"/>
              <a:t>Problem</a:t>
            </a:r>
            <a:r>
              <a:rPr sz="2000" spc="-80" dirty="0"/>
              <a:t> </a:t>
            </a:r>
            <a:r>
              <a:rPr sz="2000" dirty="0"/>
              <a:t>solving</a:t>
            </a:r>
            <a:r>
              <a:rPr sz="2000" spc="-45" dirty="0"/>
              <a:t> </a:t>
            </a:r>
            <a:r>
              <a:rPr sz="2000" dirty="0"/>
              <a:t>with</a:t>
            </a:r>
            <a:r>
              <a:rPr sz="2000" spc="-45" dirty="0"/>
              <a:t> </a:t>
            </a:r>
            <a:r>
              <a:rPr sz="2000" dirty="0"/>
              <a:t>structure</a:t>
            </a:r>
            <a:r>
              <a:rPr sz="2000" spc="-60" dirty="0"/>
              <a:t> </a:t>
            </a:r>
            <a:r>
              <a:rPr sz="2000" dirty="0"/>
              <a:t>(dissimilar</a:t>
            </a:r>
            <a:r>
              <a:rPr sz="2000" spc="-45" dirty="0"/>
              <a:t> </a:t>
            </a:r>
            <a:r>
              <a:rPr sz="2000" spc="-10" dirty="0"/>
              <a:t>type) </a:t>
            </a:r>
            <a:r>
              <a:rPr sz="2000" dirty="0"/>
              <a:t>Passing</a:t>
            </a:r>
            <a:r>
              <a:rPr sz="2000" spc="-55" dirty="0"/>
              <a:t> </a:t>
            </a:r>
            <a:r>
              <a:rPr sz="2000" dirty="0"/>
              <a:t>structure</a:t>
            </a:r>
            <a:r>
              <a:rPr sz="2000" spc="-35" dirty="0"/>
              <a:t> </a:t>
            </a:r>
            <a:r>
              <a:rPr sz="2000" dirty="0"/>
              <a:t>as</a:t>
            </a:r>
            <a:r>
              <a:rPr sz="2000" spc="-30" dirty="0"/>
              <a:t> </a:t>
            </a:r>
            <a:r>
              <a:rPr sz="2000" dirty="0"/>
              <a:t>function</a:t>
            </a:r>
            <a:r>
              <a:rPr sz="2000" spc="-45" dirty="0"/>
              <a:t> </a:t>
            </a:r>
            <a:r>
              <a:rPr sz="2000" spc="-10" dirty="0"/>
              <a:t>parameter</a:t>
            </a:r>
            <a:endParaRPr sz="2000"/>
          </a:p>
          <a:p>
            <a:pPr marL="698500">
              <a:lnSpc>
                <a:spcPts val="2400"/>
              </a:lnSpc>
            </a:pPr>
            <a:r>
              <a:rPr sz="2000" dirty="0"/>
              <a:t>Arrays</a:t>
            </a:r>
            <a:r>
              <a:rPr sz="2000" spc="-60" dirty="0"/>
              <a:t> </a:t>
            </a:r>
            <a:r>
              <a:rPr sz="2000" dirty="0"/>
              <a:t>of</a:t>
            </a:r>
            <a:r>
              <a:rPr sz="2000" spc="-30" dirty="0"/>
              <a:t> </a:t>
            </a:r>
            <a:r>
              <a:rPr sz="2000" spc="-10" dirty="0"/>
              <a:t>structure</a:t>
            </a:r>
            <a:endParaRPr sz="2000"/>
          </a:p>
          <a:p>
            <a:pPr marL="698500" marR="5080">
              <a:lnSpc>
                <a:spcPct val="100000"/>
              </a:lnSpc>
            </a:pPr>
            <a:r>
              <a:rPr sz="2000" dirty="0"/>
              <a:t>Passing</a:t>
            </a:r>
            <a:r>
              <a:rPr sz="2000" spc="-50" dirty="0"/>
              <a:t> </a:t>
            </a:r>
            <a:r>
              <a:rPr sz="2000" dirty="0"/>
              <a:t>array</a:t>
            </a:r>
            <a:r>
              <a:rPr sz="2000" spc="-30" dirty="0"/>
              <a:t> </a:t>
            </a:r>
            <a:r>
              <a:rPr sz="2000" dirty="0"/>
              <a:t>of</a:t>
            </a:r>
            <a:r>
              <a:rPr sz="2000" spc="-15" dirty="0"/>
              <a:t> </a:t>
            </a:r>
            <a:r>
              <a:rPr sz="2000" dirty="0"/>
              <a:t>structure</a:t>
            </a:r>
            <a:r>
              <a:rPr sz="2000" spc="-20" dirty="0"/>
              <a:t> </a:t>
            </a:r>
            <a:r>
              <a:rPr sz="2000" dirty="0"/>
              <a:t>as</a:t>
            </a:r>
            <a:r>
              <a:rPr sz="2000" spc="-25" dirty="0"/>
              <a:t> </a:t>
            </a:r>
            <a:r>
              <a:rPr sz="2000" dirty="0"/>
              <a:t>function</a:t>
            </a:r>
            <a:r>
              <a:rPr sz="2000" spc="-35" dirty="0"/>
              <a:t> </a:t>
            </a:r>
            <a:r>
              <a:rPr sz="2000" spc="-10" dirty="0"/>
              <a:t>parameter </a:t>
            </a:r>
            <a:r>
              <a:rPr sz="2000" dirty="0"/>
              <a:t>Determining</a:t>
            </a:r>
            <a:r>
              <a:rPr sz="2000" spc="-60" dirty="0"/>
              <a:t> </a:t>
            </a:r>
            <a:r>
              <a:rPr sz="2000" dirty="0"/>
              <a:t>size</a:t>
            </a:r>
            <a:r>
              <a:rPr sz="2000" spc="-35" dirty="0"/>
              <a:t> </a:t>
            </a:r>
            <a:r>
              <a:rPr sz="2000" dirty="0"/>
              <a:t>of</a:t>
            </a:r>
            <a:r>
              <a:rPr sz="2000" spc="-35" dirty="0"/>
              <a:t> </a:t>
            </a:r>
            <a:r>
              <a:rPr sz="2000" spc="-10" dirty="0"/>
              <a:t>structure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7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dirty="0"/>
              <a:t>Defining</a:t>
            </a:r>
            <a:r>
              <a:rPr spc="-50" dirty="0"/>
              <a:t> </a:t>
            </a:r>
            <a:r>
              <a:rPr spc="-10" dirty="0"/>
              <a:t>Structures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15" y="1782579"/>
            <a:ext cx="23679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Compound</a:t>
            </a:r>
            <a:r>
              <a:rPr sz="20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Verdana"/>
                <a:cs typeface="Verdana"/>
              </a:rPr>
              <a:t>data: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15" y="2473947"/>
            <a:ext cx="2839085" cy="133985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0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date</a:t>
            </a:r>
            <a:r>
              <a:rPr sz="2000" b="1" spc="-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is</a:t>
            </a:r>
            <a:endParaRPr sz="20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280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an</a:t>
            </a:r>
            <a:r>
              <a:rPr sz="1800" b="1" spc="-2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int</a:t>
            </a:r>
            <a:r>
              <a:rPr sz="1800" b="1" spc="-15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0066"/>
                </a:solidFill>
                <a:latin typeface="Courier New"/>
                <a:cs typeface="Courier New"/>
              </a:rPr>
              <a:t>month</a:t>
            </a:r>
            <a:r>
              <a:rPr sz="1800" b="1" spc="-495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u="heavy" spc="-25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Verdana"/>
                <a:cs typeface="Verdana"/>
              </a:rPr>
              <a:t>and</a:t>
            </a:r>
            <a:endParaRPr sz="18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434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an</a:t>
            </a:r>
            <a:r>
              <a:rPr sz="1800" b="1" spc="-3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int</a:t>
            </a:r>
            <a:r>
              <a:rPr sz="1800" b="1" spc="-2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0066"/>
                </a:solidFill>
                <a:latin typeface="Courier New"/>
                <a:cs typeface="Courier New"/>
              </a:rPr>
              <a:t>day</a:t>
            </a:r>
            <a:r>
              <a:rPr sz="1800" b="1" spc="-495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u="heavy" spc="-25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Verdana"/>
                <a:cs typeface="Verdana"/>
              </a:rPr>
              <a:t>and</a:t>
            </a:r>
            <a:endParaRPr sz="18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430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an</a:t>
            </a:r>
            <a:r>
              <a:rPr sz="1800" b="1" spc="-3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int</a:t>
            </a:r>
            <a:r>
              <a:rPr sz="1800" b="1" spc="-4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0066"/>
                </a:solidFill>
                <a:latin typeface="Courier New"/>
                <a:cs typeface="Courier New"/>
              </a:rPr>
              <a:t>year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27903" y="1822704"/>
            <a:ext cx="3595370" cy="1828800"/>
          </a:xfrm>
          <a:custGeom>
            <a:avLst/>
            <a:gdLst/>
            <a:ahLst/>
            <a:cxnLst/>
            <a:rect l="l" t="t" r="r" b="b"/>
            <a:pathLst>
              <a:path w="3595370" h="1828800">
                <a:moveTo>
                  <a:pt x="3595116" y="0"/>
                </a:moveTo>
                <a:lnTo>
                  <a:pt x="0" y="0"/>
                </a:lnTo>
                <a:lnTo>
                  <a:pt x="0" y="1828800"/>
                </a:lnTo>
                <a:lnTo>
                  <a:pt x="3595116" y="1828800"/>
                </a:lnTo>
                <a:lnTo>
                  <a:pt x="3595116" y="1822704"/>
                </a:lnTo>
                <a:lnTo>
                  <a:pt x="13716" y="1822704"/>
                </a:lnTo>
                <a:lnTo>
                  <a:pt x="6096" y="1816608"/>
                </a:lnTo>
                <a:lnTo>
                  <a:pt x="13716" y="1816608"/>
                </a:lnTo>
                <a:lnTo>
                  <a:pt x="13716" y="13716"/>
                </a:lnTo>
                <a:lnTo>
                  <a:pt x="6096" y="13716"/>
                </a:lnTo>
                <a:lnTo>
                  <a:pt x="13716" y="6096"/>
                </a:lnTo>
                <a:lnTo>
                  <a:pt x="3595116" y="6096"/>
                </a:lnTo>
                <a:lnTo>
                  <a:pt x="3595116" y="0"/>
                </a:lnTo>
                <a:close/>
              </a:path>
              <a:path w="3595370" h="1828800">
                <a:moveTo>
                  <a:pt x="13716" y="1816608"/>
                </a:moveTo>
                <a:lnTo>
                  <a:pt x="6096" y="1816608"/>
                </a:lnTo>
                <a:lnTo>
                  <a:pt x="13716" y="1822704"/>
                </a:lnTo>
                <a:lnTo>
                  <a:pt x="13716" y="1816608"/>
                </a:lnTo>
                <a:close/>
              </a:path>
              <a:path w="3595370" h="1828800">
                <a:moveTo>
                  <a:pt x="3581400" y="1816608"/>
                </a:moveTo>
                <a:lnTo>
                  <a:pt x="13716" y="1816608"/>
                </a:lnTo>
                <a:lnTo>
                  <a:pt x="13716" y="1822704"/>
                </a:lnTo>
                <a:lnTo>
                  <a:pt x="3581400" y="1822704"/>
                </a:lnTo>
                <a:lnTo>
                  <a:pt x="3581400" y="1816608"/>
                </a:lnTo>
                <a:close/>
              </a:path>
              <a:path w="3595370" h="1828800">
                <a:moveTo>
                  <a:pt x="3581400" y="6096"/>
                </a:moveTo>
                <a:lnTo>
                  <a:pt x="3581400" y="1822704"/>
                </a:lnTo>
                <a:lnTo>
                  <a:pt x="3587496" y="1816608"/>
                </a:lnTo>
                <a:lnTo>
                  <a:pt x="3595116" y="1816608"/>
                </a:lnTo>
                <a:lnTo>
                  <a:pt x="3595116" y="13716"/>
                </a:lnTo>
                <a:lnTo>
                  <a:pt x="3587496" y="13716"/>
                </a:lnTo>
                <a:lnTo>
                  <a:pt x="3581400" y="6096"/>
                </a:lnTo>
                <a:close/>
              </a:path>
              <a:path w="3595370" h="1828800">
                <a:moveTo>
                  <a:pt x="3595116" y="1816608"/>
                </a:moveTo>
                <a:lnTo>
                  <a:pt x="3587496" y="1816608"/>
                </a:lnTo>
                <a:lnTo>
                  <a:pt x="3581400" y="1822704"/>
                </a:lnTo>
                <a:lnTo>
                  <a:pt x="3595116" y="1822704"/>
                </a:lnTo>
                <a:lnTo>
                  <a:pt x="3595116" y="1816608"/>
                </a:lnTo>
                <a:close/>
              </a:path>
              <a:path w="3595370" h="1828800">
                <a:moveTo>
                  <a:pt x="13716" y="6096"/>
                </a:moveTo>
                <a:lnTo>
                  <a:pt x="6096" y="13716"/>
                </a:lnTo>
                <a:lnTo>
                  <a:pt x="13716" y="13716"/>
                </a:lnTo>
                <a:lnTo>
                  <a:pt x="13716" y="6096"/>
                </a:lnTo>
                <a:close/>
              </a:path>
              <a:path w="3595370" h="1828800">
                <a:moveTo>
                  <a:pt x="3581400" y="6096"/>
                </a:moveTo>
                <a:lnTo>
                  <a:pt x="13716" y="6096"/>
                </a:lnTo>
                <a:lnTo>
                  <a:pt x="13716" y="13716"/>
                </a:lnTo>
                <a:lnTo>
                  <a:pt x="3581400" y="13716"/>
                </a:lnTo>
                <a:lnTo>
                  <a:pt x="3581400" y="6096"/>
                </a:lnTo>
                <a:close/>
              </a:path>
              <a:path w="3595370" h="1828800">
                <a:moveTo>
                  <a:pt x="3595116" y="6096"/>
                </a:moveTo>
                <a:lnTo>
                  <a:pt x="3581400" y="6096"/>
                </a:lnTo>
                <a:lnTo>
                  <a:pt x="3587496" y="13716"/>
                </a:lnTo>
                <a:lnTo>
                  <a:pt x="3595116" y="13716"/>
                </a:lnTo>
                <a:lnTo>
                  <a:pt x="3595116" y="6096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89537" y="2082094"/>
            <a:ext cx="75628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month; day;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year;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12756" y="1838863"/>
            <a:ext cx="18999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typedef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struct</a:t>
            </a:r>
            <a:r>
              <a:rPr sz="1600" b="1" spc="-60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42625" y="2082094"/>
            <a:ext cx="946785" cy="1202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8309" marR="125095" algn="just">
              <a:lnSpc>
                <a:spcPct val="12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 int int</a:t>
            </a:r>
            <a:endParaRPr sz="1600">
              <a:latin typeface="Courier New"/>
              <a:cs typeface="Courier New"/>
            </a:endParaRPr>
          </a:p>
          <a:p>
            <a:pPr marL="12700" algn="just">
              <a:lnSpc>
                <a:spcPct val="100000"/>
              </a:lnSpc>
              <a:spcBef>
                <a:spcPts val="430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r>
              <a:rPr sz="1600" b="1" spc="-4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2400" b="1" spc="-15" baseline="1736" dirty="0">
                <a:solidFill>
                  <a:srgbClr val="006600"/>
                </a:solidFill>
                <a:latin typeface="Courier New"/>
                <a:cs typeface="Courier New"/>
              </a:rPr>
              <a:t>ADate;</a:t>
            </a:r>
            <a:endParaRPr sz="2400" baseline="1736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39252" y="6884920"/>
            <a:ext cx="125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6600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41704" y="4184903"/>
            <a:ext cx="1309370" cy="1385570"/>
          </a:xfrm>
          <a:custGeom>
            <a:avLst/>
            <a:gdLst/>
            <a:ahLst/>
            <a:cxnLst/>
            <a:rect l="l" t="t" r="r" b="b"/>
            <a:pathLst>
              <a:path w="1309370" h="1385570">
                <a:moveTo>
                  <a:pt x="1309116" y="475488"/>
                </a:moveTo>
                <a:lnTo>
                  <a:pt x="1306068" y="472440"/>
                </a:lnTo>
                <a:lnTo>
                  <a:pt x="1295400" y="472440"/>
                </a:lnTo>
                <a:lnTo>
                  <a:pt x="1295400" y="484632"/>
                </a:lnTo>
                <a:lnTo>
                  <a:pt x="1295400" y="914400"/>
                </a:lnTo>
                <a:lnTo>
                  <a:pt x="1295400" y="928116"/>
                </a:lnTo>
                <a:lnTo>
                  <a:pt x="1295400" y="929640"/>
                </a:lnTo>
                <a:lnTo>
                  <a:pt x="1295400" y="941832"/>
                </a:lnTo>
                <a:lnTo>
                  <a:pt x="1295400" y="1371600"/>
                </a:lnTo>
                <a:lnTo>
                  <a:pt x="13716" y="1371600"/>
                </a:lnTo>
                <a:lnTo>
                  <a:pt x="13716" y="941832"/>
                </a:lnTo>
                <a:lnTo>
                  <a:pt x="1295400" y="941832"/>
                </a:lnTo>
                <a:lnTo>
                  <a:pt x="1295400" y="929640"/>
                </a:lnTo>
                <a:lnTo>
                  <a:pt x="13716" y="929640"/>
                </a:lnTo>
                <a:lnTo>
                  <a:pt x="13716" y="928116"/>
                </a:lnTo>
                <a:lnTo>
                  <a:pt x="1295400" y="928116"/>
                </a:lnTo>
                <a:lnTo>
                  <a:pt x="1295400" y="914400"/>
                </a:lnTo>
                <a:lnTo>
                  <a:pt x="13716" y="914400"/>
                </a:lnTo>
                <a:lnTo>
                  <a:pt x="13716" y="484632"/>
                </a:lnTo>
                <a:lnTo>
                  <a:pt x="1295400" y="484632"/>
                </a:lnTo>
                <a:lnTo>
                  <a:pt x="1295400" y="472440"/>
                </a:lnTo>
                <a:lnTo>
                  <a:pt x="3048" y="472440"/>
                </a:lnTo>
                <a:lnTo>
                  <a:pt x="0" y="475488"/>
                </a:lnTo>
                <a:lnTo>
                  <a:pt x="0" y="917448"/>
                </a:lnTo>
                <a:lnTo>
                  <a:pt x="0" y="938784"/>
                </a:lnTo>
                <a:lnTo>
                  <a:pt x="0" y="1382268"/>
                </a:lnTo>
                <a:lnTo>
                  <a:pt x="3048" y="1385316"/>
                </a:lnTo>
                <a:lnTo>
                  <a:pt x="1306068" y="1385316"/>
                </a:lnTo>
                <a:lnTo>
                  <a:pt x="1309116" y="1382268"/>
                </a:lnTo>
                <a:lnTo>
                  <a:pt x="1309116" y="1377696"/>
                </a:lnTo>
                <a:lnTo>
                  <a:pt x="1309116" y="1371600"/>
                </a:lnTo>
                <a:lnTo>
                  <a:pt x="1309116" y="478536"/>
                </a:lnTo>
                <a:lnTo>
                  <a:pt x="1309116" y="475488"/>
                </a:lnTo>
                <a:close/>
              </a:path>
              <a:path w="1309370" h="1385570">
                <a:moveTo>
                  <a:pt x="1309116" y="3048"/>
                </a:moveTo>
                <a:lnTo>
                  <a:pt x="1306068" y="0"/>
                </a:lnTo>
                <a:lnTo>
                  <a:pt x="1295400" y="0"/>
                </a:lnTo>
                <a:lnTo>
                  <a:pt x="1295400" y="13716"/>
                </a:lnTo>
                <a:lnTo>
                  <a:pt x="1295400" y="457200"/>
                </a:lnTo>
                <a:lnTo>
                  <a:pt x="13716" y="457200"/>
                </a:lnTo>
                <a:lnTo>
                  <a:pt x="13716" y="13716"/>
                </a:lnTo>
                <a:lnTo>
                  <a:pt x="1295400" y="13716"/>
                </a:lnTo>
                <a:lnTo>
                  <a:pt x="1295400" y="0"/>
                </a:lnTo>
                <a:lnTo>
                  <a:pt x="3048" y="0"/>
                </a:lnTo>
                <a:lnTo>
                  <a:pt x="0" y="3048"/>
                </a:lnTo>
                <a:lnTo>
                  <a:pt x="0" y="467868"/>
                </a:lnTo>
                <a:lnTo>
                  <a:pt x="3048" y="470916"/>
                </a:lnTo>
                <a:lnTo>
                  <a:pt x="1306068" y="470916"/>
                </a:lnTo>
                <a:lnTo>
                  <a:pt x="1309116" y="467868"/>
                </a:lnTo>
                <a:lnTo>
                  <a:pt x="1309116" y="463296"/>
                </a:lnTo>
                <a:lnTo>
                  <a:pt x="1309116" y="457200"/>
                </a:lnTo>
                <a:lnTo>
                  <a:pt x="1309116" y="13716"/>
                </a:lnTo>
                <a:lnTo>
                  <a:pt x="1309116" y="6096"/>
                </a:lnTo>
                <a:lnTo>
                  <a:pt x="1309116" y="3048"/>
                </a:lnTo>
                <a:close/>
              </a:path>
            </a:pathLst>
          </a:custGeom>
          <a:solidFill>
            <a:srgbClr val="55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035223" y="4278807"/>
            <a:ext cx="727075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month</a:t>
            </a:r>
            <a:endParaRPr sz="1800">
              <a:latin typeface="Courier New"/>
              <a:cs typeface="Courier New"/>
            </a:endParaRPr>
          </a:p>
          <a:p>
            <a:pPr marL="12700" marR="157480" indent="15240">
              <a:lnSpc>
                <a:spcPct val="166700"/>
              </a:lnSpc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day 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year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38600" y="4026407"/>
            <a:ext cx="242570" cy="1702435"/>
          </a:xfrm>
          <a:custGeom>
            <a:avLst/>
            <a:gdLst/>
            <a:ahLst/>
            <a:cxnLst/>
            <a:rect l="l" t="t" r="r" b="b"/>
            <a:pathLst>
              <a:path w="242570" h="1702435">
                <a:moveTo>
                  <a:pt x="242316" y="844296"/>
                </a:moveTo>
                <a:lnTo>
                  <a:pt x="236220" y="838200"/>
                </a:lnTo>
                <a:lnTo>
                  <a:pt x="228600" y="838200"/>
                </a:lnTo>
                <a:lnTo>
                  <a:pt x="207264" y="838200"/>
                </a:lnTo>
                <a:lnTo>
                  <a:pt x="185928" y="836676"/>
                </a:lnTo>
                <a:lnTo>
                  <a:pt x="176784" y="836676"/>
                </a:lnTo>
                <a:lnTo>
                  <a:pt x="158496" y="833628"/>
                </a:lnTo>
                <a:lnTo>
                  <a:pt x="150876" y="833628"/>
                </a:lnTo>
                <a:lnTo>
                  <a:pt x="143256" y="832104"/>
                </a:lnTo>
                <a:lnTo>
                  <a:pt x="137160" y="830580"/>
                </a:lnTo>
                <a:lnTo>
                  <a:pt x="132588" y="829056"/>
                </a:lnTo>
                <a:lnTo>
                  <a:pt x="129540" y="827532"/>
                </a:lnTo>
                <a:lnTo>
                  <a:pt x="128016" y="827024"/>
                </a:lnTo>
                <a:lnTo>
                  <a:pt x="128016" y="826008"/>
                </a:lnTo>
                <a:lnTo>
                  <a:pt x="128016" y="38100"/>
                </a:lnTo>
                <a:lnTo>
                  <a:pt x="128016" y="32004"/>
                </a:lnTo>
                <a:lnTo>
                  <a:pt x="128016" y="28956"/>
                </a:lnTo>
                <a:lnTo>
                  <a:pt x="126492" y="28956"/>
                </a:lnTo>
                <a:lnTo>
                  <a:pt x="126492" y="24384"/>
                </a:lnTo>
                <a:lnTo>
                  <a:pt x="121920" y="19812"/>
                </a:lnTo>
                <a:lnTo>
                  <a:pt x="121920" y="18288"/>
                </a:lnTo>
                <a:lnTo>
                  <a:pt x="120396" y="18288"/>
                </a:lnTo>
                <a:lnTo>
                  <a:pt x="118872" y="16764"/>
                </a:lnTo>
                <a:lnTo>
                  <a:pt x="109728" y="12192"/>
                </a:lnTo>
                <a:lnTo>
                  <a:pt x="105156" y="10668"/>
                </a:lnTo>
                <a:lnTo>
                  <a:pt x="97536" y="9144"/>
                </a:lnTo>
                <a:lnTo>
                  <a:pt x="91440" y="7620"/>
                </a:lnTo>
                <a:lnTo>
                  <a:pt x="83820" y="6096"/>
                </a:lnTo>
                <a:lnTo>
                  <a:pt x="65532" y="3048"/>
                </a:lnTo>
                <a:lnTo>
                  <a:pt x="56388" y="3048"/>
                </a:lnTo>
                <a:lnTo>
                  <a:pt x="45720" y="1524"/>
                </a:lnTo>
                <a:lnTo>
                  <a:pt x="24384" y="0"/>
                </a:lnTo>
                <a:lnTo>
                  <a:pt x="1524" y="0"/>
                </a:lnTo>
                <a:lnTo>
                  <a:pt x="88" y="24384"/>
                </a:lnTo>
                <a:lnTo>
                  <a:pt x="0" y="25908"/>
                </a:lnTo>
                <a:lnTo>
                  <a:pt x="22860" y="25908"/>
                </a:lnTo>
                <a:lnTo>
                  <a:pt x="44196" y="27432"/>
                </a:lnTo>
                <a:lnTo>
                  <a:pt x="54864" y="27432"/>
                </a:lnTo>
                <a:lnTo>
                  <a:pt x="64008" y="28956"/>
                </a:lnTo>
                <a:lnTo>
                  <a:pt x="71628" y="30480"/>
                </a:lnTo>
                <a:lnTo>
                  <a:pt x="79248" y="30480"/>
                </a:lnTo>
                <a:lnTo>
                  <a:pt x="86868" y="32004"/>
                </a:lnTo>
                <a:lnTo>
                  <a:pt x="92964" y="33528"/>
                </a:lnTo>
                <a:lnTo>
                  <a:pt x="102108" y="36576"/>
                </a:lnTo>
                <a:lnTo>
                  <a:pt x="102108" y="835152"/>
                </a:lnTo>
                <a:lnTo>
                  <a:pt x="103632" y="838200"/>
                </a:lnTo>
                <a:lnTo>
                  <a:pt x="103632" y="839724"/>
                </a:lnTo>
                <a:lnTo>
                  <a:pt x="108204" y="844296"/>
                </a:lnTo>
                <a:lnTo>
                  <a:pt x="108204" y="845820"/>
                </a:lnTo>
                <a:lnTo>
                  <a:pt x="109728" y="845820"/>
                </a:lnTo>
                <a:lnTo>
                  <a:pt x="112776" y="848868"/>
                </a:lnTo>
                <a:lnTo>
                  <a:pt x="114300" y="848868"/>
                </a:lnTo>
                <a:lnTo>
                  <a:pt x="118872" y="850392"/>
                </a:lnTo>
                <a:lnTo>
                  <a:pt x="119634" y="850773"/>
                </a:lnTo>
                <a:lnTo>
                  <a:pt x="111252" y="854964"/>
                </a:lnTo>
                <a:lnTo>
                  <a:pt x="109728" y="856488"/>
                </a:lnTo>
                <a:lnTo>
                  <a:pt x="108204" y="856488"/>
                </a:lnTo>
                <a:lnTo>
                  <a:pt x="108204" y="858012"/>
                </a:lnTo>
                <a:lnTo>
                  <a:pt x="103632" y="862584"/>
                </a:lnTo>
                <a:lnTo>
                  <a:pt x="103632" y="864108"/>
                </a:lnTo>
                <a:lnTo>
                  <a:pt x="102108" y="867156"/>
                </a:lnTo>
                <a:lnTo>
                  <a:pt x="102108" y="1665224"/>
                </a:lnTo>
                <a:lnTo>
                  <a:pt x="100584" y="1665732"/>
                </a:lnTo>
                <a:lnTo>
                  <a:pt x="97536" y="1667256"/>
                </a:lnTo>
                <a:lnTo>
                  <a:pt x="92964" y="1668780"/>
                </a:lnTo>
                <a:lnTo>
                  <a:pt x="86868" y="1670304"/>
                </a:lnTo>
                <a:lnTo>
                  <a:pt x="79248" y="1671828"/>
                </a:lnTo>
                <a:lnTo>
                  <a:pt x="71628" y="1671828"/>
                </a:lnTo>
                <a:lnTo>
                  <a:pt x="53340" y="1674876"/>
                </a:lnTo>
                <a:lnTo>
                  <a:pt x="44196" y="1674876"/>
                </a:lnTo>
                <a:lnTo>
                  <a:pt x="22860" y="1676400"/>
                </a:lnTo>
                <a:lnTo>
                  <a:pt x="0" y="1676400"/>
                </a:lnTo>
                <a:lnTo>
                  <a:pt x="1333" y="1699260"/>
                </a:lnTo>
                <a:lnTo>
                  <a:pt x="1422" y="1700784"/>
                </a:lnTo>
                <a:lnTo>
                  <a:pt x="1524" y="1702308"/>
                </a:lnTo>
                <a:lnTo>
                  <a:pt x="24384" y="1702308"/>
                </a:lnTo>
                <a:lnTo>
                  <a:pt x="45720" y="1700784"/>
                </a:lnTo>
                <a:lnTo>
                  <a:pt x="56388" y="1699260"/>
                </a:lnTo>
                <a:lnTo>
                  <a:pt x="65532" y="1699260"/>
                </a:lnTo>
                <a:lnTo>
                  <a:pt x="83820" y="1696212"/>
                </a:lnTo>
                <a:lnTo>
                  <a:pt x="99060" y="1693164"/>
                </a:lnTo>
                <a:lnTo>
                  <a:pt x="105156" y="1691640"/>
                </a:lnTo>
                <a:lnTo>
                  <a:pt x="111252" y="1688592"/>
                </a:lnTo>
                <a:lnTo>
                  <a:pt x="115824" y="1687068"/>
                </a:lnTo>
                <a:lnTo>
                  <a:pt x="117348" y="1687068"/>
                </a:lnTo>
                <a:lnTo>
                  <a:pt x="120396" y="1684020"/>
                </a:lnTo>
                <a:lnTo>
                  <a:pt x="121920" y="1684020"/>
                </a:lnTo>
                <a:lnTo>
                  <a:pt x="121920" y="1682496"/>
                </a:lnTo>
                <a:lnTo>
                  <a:pt x="126492" y="1677924"/>
                </a:lnTo>
                <a:lnTo>
                  <a:pt x="126492" y="1673352"/>
                </a:lnTo>
                <a:lnTo>
                  <a:pt x="128016" y="1673352"/>
                </a:lnTo>
                <a:lnTo>
                  <a:pt x="128016" y="1668780"/>
                </a:lnTo>
                <a:lnTo>
                  <a:pt x="128016" y="1664208"/>
                </a:lnTo>
                <a:lnTo>
                  <a:pt x="128016" y="876300"/>
                </a:lnTo>
                <a:lnTo>
                  <a:pt x="128016" y="874776"/>
                </a:lnTo>
                <a:lnTo>
                  <a:pt x="137160" y="871728"/>
                </a:lnTo>
                <a:lnTo>
                  <a:pt x="143256" y="870204"/>
                </a:lnTo>
                <a:lnTo>
                  <a:pt x="150876" y="868680"/>
                </a:lnTo>
                <a:lnTo>
                  <a:pt x="158496" y="868680"/>
                </a:lnTo>
                <a:lnTo>
                  <a:pt x="166116" y="867156"/>
                </a:lnTo>
                <a:lnTo>
                  <a:pt x="175260" y="865632"/>
                </a:lnTo>
                <a:lnTo>
                  <a:pt x="185928" y="865632"/>
                </a:lnTo>
                <a:lnTo>
                  <a:pt x="205740" y="864108"/>
                </a:lnTo>
                <a:lnTo>
                  <a:pt x="228600" y="864108"/>
                </a:lnTo>
                <a:lnTo>
                  <a:pt x="236220" y="864108"/>
                </a:lnTo>
                <a:lnTo>
                  <a:pt x="242316" y="858012"/>
                </a:lnTo>
                <a:lnTo>
                  <a:pt x="242316" y="844296"/>
                </a:lnTo>
                <a:close/>
              </a:path>
            </a:pathLst>
          </a:custGeom>
          <a:solidFill>
            <a:srgbClr val="55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726863" y="4659883"/>
            <a:ext cx="71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ADate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070166" y="4406146"/>
          <a:ext cx="2301238" cy="1716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4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ts val="1939"/>
                        </a:lnSpc>
                      </a:pPr>
                      <a:r>
                        <a:rPr sz="18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939"/>
                        </a:lnSpc>
                      </a:pPr>
                      <a:r>
                        <a:rPr sz="18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Byte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marL="31750">
                        <a:lnSpc>
                          <a:spcPts val="1839"/>
                        </a:lnSpc>
                      </a:pPr>
                      <a:r>
                        <a:rPr sz="18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Bytes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float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ts val="2100"/>
                        </a:lnSpc>
                      </a:pPr>
                      <a:r>
                        <a:rPr sz="18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2100"/>
                        </a:lnSpc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Bytes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double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Bytes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ADate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2857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Bytes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7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dirty="0"/>
              <a:t>Defining</a:t>
            </a:r>
            <a:r>
              <a:rPr spc="-50" dirty="0"/>
              <a:t> </a:t>
            </a:r>
            <a:r>
              <a:rPr spc="-10" dirty="0"/>
              <a:t>Structures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15" y="1782579"/>
            <a:ext cx="23679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Compound</a:t>
            </a:r>
            <a:r>
              <a:rPr sz="20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Verdana"/>
                <a:cs typeface="Verdana"/>
              </a:rPr>
              <a:t>data: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15" y="2473947"/>
            <a:ext cx="2839085" cy="133985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0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date</a:t>
            </a:r>
            <a:r>
              <a:rPr sz="2000" b="1" spc="-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is</a:t>
            </a:r>
            <a:endParaRPr sz="20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280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an</a:t>
            </a:r>
            <a:r>
              <a:rPr sz="1800" b="1" spc="-2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int</a:t>
            </a:r>
            <a:r>
              <a:rPr sz="1800" b="1" spc="-15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0066"/>
                </a:solidFill>
                <a:latin typeface="Courier New"/>
                <a:cs typeface="Courier New"/>
              </a:rPr>
              <a:t>month</a:t>
            </a:r>
            <a:r>
              <a:rPr sz="1800" b="1" spc="-495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u="heavy" spc="-25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Verdana"/>
                <a:cs typeface="Verdana"/>
              </a:rPr>
              <a:t>and</a:t>
            </a:r>
            <a:endParaRPr sz="18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434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an</a:t>
            </a:r>
            <a:r>
              <a:rPr sz="1800" b="1" spc="-3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int</a:t>
            </a:r>
            <a:r>
              <a:rPr sz="1800" b="1" spc="-2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0066"/>
                </a:solidFill>
                <a:latin typeface="Courier New"/>
                <a:cs typeface="Courier New"/>
              </a:rPr>
              <a:t>day</a:t>
            </a:r>
            <a:r>
              <a:rPr sz="1800" b="1" spc="-495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u="heavy" spc="-25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Verdana"/>
                <a:cs typeface="Verdana"/>
              </a:rPr>
              <a:t>and</a:t>
            </a:r>
            <a:endParaRPr sz="18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430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an</a:t>
            </a:r>
            <a:r>
              <a:rPr sz="1800" b="1" spc="-3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int</a:t>
            </a:r>
            <a:r>
              <a:rPr sz="1800" b="1" spc="-4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0066"/>
                </a:solidFill>
                <a:latin typeface="Courier New"/>
                <a:cs typeface="Courier New"/>
              </a:rPr>
              <a:t>year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27903" y="1746504"/>
            <a:ext cx="3823970" cy="2139950"/>
          </a:xfrm>
          <a:custGeom>
            <a:avLst/>
            <a:gdLst/>
            <a:ahLst/>
            <a:cxnLst/>
            <a:rect l="l" t="t" r="r" b="b"/>
            <a:pathLst>
              <a:path w="3823970" h="2139950">
                <a:moveTo>
                  <a:pt x="3823716" y="0"/>
                </a:moveTo>
                <a:lnTo>
                  <a:pt x="0" y="0"/>
                </a:lnTo>
                <a:lnTo>
                  <a:pt x="0" y="2139696"/>
                </a:lnTo>
                <a:lnTo>
                  <a:pt x="13716" y="2139696"/>
                </a:lnTo>
                <a:lnTo>
                  <a:pt x="13716" y="13716"/>
                </a:lnTo>
                <a:lnTo>
                  <a:pt x="6095" y="13716"/>
                </a:lnTo>
                <a:lnTo>
                  <a:pt x="13716" y="6096"/>
                </a:lnTo>
                <a:lnTo>
                  <a:pt x="3823716" y="6096"/>
                </a:lnTo>
                <a:lnTo>
                  <a:pt x="3823716" y="0"/>
                </a:lnTo>
                <a:close/>
              </a:path>
              <a:path w="3823970" h="2139950">
                <a:moveTo>
                  <a:pt x="3810000" y="6096"/>
                </a:moveTo>
                <a:lnTo>
                  <a:pt x="3810000" y="2139696"/>
                </a:lnTo>
                <a:lnTo>
                  <a:pt x="3823716" y="2139696"/>
                </a:lnTo>
                <a:lnTo>
                  <a:pt x="3823716" y="13716"/>
                </a:lnTo>
                <a:lnTo>
                  <a:pt x="3816096" y="13716"/>
                </a:lnTo>
                <a:lnTo>
                  <a:pt x="3810000" y="6096"/>
                </a:lnTo>
                <a:close/>
              </a:path>
              <a:path w="3823970" h="2139950">
                <a:moveTo>
                  <a:pt x="13716" y="6096"/>
                </a:moveTo>
                <a:lnTo>
                  <a:pt x="6095" y="13716"/>
                </a:lnTo>
                <a:lnTo>
                  <a:pt x="13716" y="13716"/>
                </a:lnTo>
                <a:lnTo>
                  <a:pt x="13716" y="6096"/>
                </a:lnTo>
                <a:close/>
              </a:path>
              <a:path w="3823970" h="2139950">
                <a:moveTo>
                  <a:pt x="3810000" y="6096"/>
                </a:moveTo>
                <a:lnTo>
                  <a:pt x="13716" y="6096"/>
                </a:lnTo>
                <a:lnTo>
                  <a:pt x="13716" y="13716"/>
                </a:lnTo>
                <a:lnTo>
                  <a:pt x="3810000" y="13716"/>
                </a:lnTo>
                <a:lnTo>
                  <a:pt x="3810000" y="6096"/>
                </a:lnTo>
                <a:close/>
              </a:path>
              <a:path w="3823970" h="2139950">
                <a:moveTo>
                  <a:pt x="3823716" y="6096"/>
                </a:moveTo>
                <a:lnTo>
                  <a:pt x="3810000" y="6096"/>
                </a:lnTo>
                <a:lnTo>
                  <a:pt x="3816096" y="13716"/>
                </a:lnTo>
                <a:lnTo>
                  <a:pt x="3823716" y="13716"/>
                </a:lnTo>
                <a:lnTo>
                  <a:pt x="3823716" y="6096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12756" y="1762854"/>
            <a:ext cx="19792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typedef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struct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{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9537" y="2005882"/>
            <a:ext cx="75628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month; day;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year;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12756" y="2005882"/>
            <a:ext cx="998855" cy="11967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 marR="247015" algn="just">
              <a:lnSpc>
                <a:spcPct val="12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 int int</a:t>
            </a:r>
            <a:endParaRPr sz="1600" dirty="0">
              <a:latin typeface="Courier New"/>
              <a:cs typeface="Courier New"/>
            </a:endParaRPr>
          </a:p>
          <a:p>
            <a:pPr marL="12700" algn="just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ADate;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27903" y="3886200"/>
            <a:ext cx="3823970" cy="2940050"/>
          </a:xfrm>
          <a:custGeom>
            <a:avLst/>
            <a:gdLst/>
            <a:ahLst/>
            <a:cxnLst/>
            <a:rect l="l" t="t" r="r" b="b"/>
            <a:pathLst>
              <a:path w="3823970" h="2940050">
                <a:moveTo>
                  <a:pt x="13716" y="0"/>
                </a:moveTo>
                <a:lnTo>
                  <a:pt x="0" y="0"/>
                </a:lnTo>
                <a:lnTo>
                  <a:pt x="0" y="2939796"/>
                </a:lnTo>
                <a:lnTo>
                  <a:pt x="3823716" y="2939796"/>
                </a:lnTo>
                <a:lnTo>
                  <a:pt x="3823716" y="2932176"/>
                </a:lnTo>
                <a:lnTo>
                  <a:pt x="13716" y="2932176"/>
                </a:lnTo>
                <a:lnTo>
                  <a:pt x="6096" y="2926080"/>
                </a:lnTo>
                <a:lnTo>
                  <a:pt x="13716" y="2926080"/>
                </a:lnTo>
                <a:lnTo>
                  <a:pt x="13716" y="0"/>
                </a:lnTo>
                <a:close/>
              </a:path>
              <a:path w="3823970" h="2940050">
                <a:moveTo>
                  <a:pt x="13716" y="2926080"/>
                </a:moveTo>
                <a:lnTo>
                  <a:pt x="6096" y="2926080"/>
                </a:lnTo>
                <a:lnTo>
                  <a:pt x="13716" y="2932176"/>
                </a:lnTo>
                <a:lnTo>
                  <a:pt x="13716" y="2926080"/>
                </a:lnTo>
                <a:close/>
              </a:path>
              <a:path w="3823970" h="2940050">
                <a:moveTo>
                  <a:pt x="3810000" y="2926080"/>
                </a:moveTo>
                <a:lnTo>
                  <a:pt x="13716" y="2926080"/>
                </a:lnTo>
                <a:lnTo>
                  <a:pt x="13716" y="2932176"/>
                </a:lnTo>
                <a:lnTo>
                  <a:pt x="3810000" y="2932176"/>
                </a:lnTo>
                <a:lnTo>
                  <a:pt x="3810000" y="2926080"/>
                </a:lnTo>
                <a:close/>
              </a:path>
              <a:path w="3823970" h="2940050">
                <a:moveTo>
                  <a:pt x="3823716" y="0"/>
                </a:moveTo>
                <a:lnTo>
                  <a:pt x="3810000" y="0"/>
                </a:lnTo>
                <a:lnTo>
                  <a:pt x="3810000" y="2932176"/>
                </a:lnTo>
                <a:lnTo>
                  <a:pt x="3816096" y="2926080"/>
                </a:lnTo>
                <a:lnTo>
                  <a:pt x="3823716" y="2926080"/>
                </a:lnTo>
                <a:lnTo>
                  <a:pt x="3823716" y="0"/>
                </a:lnTo>
                <a:close/>
              </a:path>
              <a:path w="3823970" h="2940050">
                <a:moveTo>
                  <a:pt x="3823716" y="2926080"/>
                </a:moveTo>
                <a:lnTo>
                  <a:pt x="3816096" y="2926080"/>
                </a:lnTo>
                <a:lnTo>
                  <a:pt x="3810000" y="2932176"/>
                </a:lnTo>
                <a:lnTo>
                  <a:pt x="3823716" y="2932176"/>
                </a:lnTo>
                <a:lnTo>
                  <a:pt x="3823716" y="292608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065560" y="3468913"/>
            <a:ext cx="4998720" cy="3691907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359535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 dirty="0">
              <a:latin typeface="Courier New"/>
              <a:cs typeface="Courier New"/>
            </a:endParaRPr>
          </a:p>
          <a:p>
            <a:pPr marL="2273935" marR="1497330">
              <a:lnSpc>
                <a:spcPct val="1199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x;</a:t>
            </a:r>
            <a:endParaRPr lang="en-US" sz="1600" b="1" spc="-25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2273935" marR="1497330">
              <a:lnSpc>
                <a:spcPct val="119900"/>
              </a:lnSpc>
            </a:pPr>
            <a:r>
              <a:rPr sz="1600" b="1" dirty="0" err="1">
                <a:solidFill>
                  <a:srgbClr val="006600"/>
                </a:solidFill>
                <a:latin typeface="Courier New"/>
                <a:cs typeface="Courier New"/>
              </a:rPr>
              <a:t>ADate</a:t>
            </a:r>
            <a:r>
              <a:rPr sz="1600" b="1" spc="-6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d,p;</a:t>
            </a:r>
            <a:endParaRPr sz="1600" dirty="0">
              <a:latin typeface="Courier New"/>
              <a:cs typeface="Courier New"/>
            </a:endParaRPr>
          </a:p>
          <a:p>
            <a:pPr marL="2273935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d.month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1;</a:t>
            </a:r>
            <a:endParaRPr sz="1600" dirty="0">
              <a:latin typeface="Courier New"/>
              <a:cs typeface="Courier New"/>
            </a:endParaRPr>
          </a:p>
          <a:p>
            <a:pPr marL="2273935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d.day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18;</a:t>
            </a:r>
            <a:endParaRPr sz="1600" dirty="0">
              <a:latin typeface="Courier New"/>
              <a:cs typeface="Courier New"/>
            </a:endParaRPr>
          </a:p>
          <a:p>
            <a:pPr marL="2273935" marR="274955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d.year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201</a:t>
            </a:r>
            <a:r>
              <a:rPr lang="en-US"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8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; </a:t>
            </a:r>
            <a:r>
              <a:rPr sz="1600" b="1" dirty="0" err="1">
                <a:solidFill>
                  <a:srgbClr val="006600"/>
                </a:solidFill>
                <a:latin typeface="Courier New"/>
                <a:cs typeface="Courier New"/>
              </a:rPr>
              <a:t>printf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(“%d”,</a:t>
            </a:r>
            <a:r>
              <a:rPr sz="1600" b="1" spc="-114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 err="1">
                <a:solidFill>
                  <a:srgbClr val="006600"/>
                </a:solidFill>
                <a:latin typeface="Courier New"/>
                <a:cs typeface="Courier New"/>
              </a:rPr>
              <a:t>d.day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);</a:t>
            </a:r>
            <a:endParaRPr sz="1600" dirty="0">
              <a:latin typeface="Courier New"/>
              <a:cs typeface="Courier New"/>
            </a:endParaRPr>
          </a:p>
          <a:p>
            <a:pPr marL="2273935">
              <a:lnSpc>
                <a:spcPct val="100000"/>
              </a:lnSpc>
              <a:spcBef>
                <a:spcPts val="384"/>
              </a:spcBef>
            </a:pPr>
            <a:r>
              <a:rPr sz="1600" b="1" dirty="0" err="1">
                <a:solidFill>
                  <a:srgbClr val="006600"/>
                </a:solidFill>
                <a:latin typeface="Courier New"/>
                <a:cs typeface="Courier New"/>
              </a:rPr>
              <a:t>printf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(“%d”,</a:t>
            </a:r>
            <a:r>
              <a:rPr sz="1600" b="1" spc="-114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d.month);</a:t>
            </a:r>
            <a:endParaRPr sz="1600" dirty="0">
              <a:latin typeface="Courier New"/>
              <a:cs typeface="Courier New"/>
            </a:endParaRPr>
          </a:p>
          <a:p>
            <a:pPr marL="2273935" marR="153035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printf(“%d”,</a:t>
            </a:r>
            <a:r>
              <a:rPr sz="1600" b="1" spc="-114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d.year);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return</a:t>
            </a:r>
            <a:r>
              <a:rPr sz="1600" b="1" spc="-7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0;</a:t>
            </a:r>
            <a:endParaRPr sz="1600" dirty="0">
              <a:latin typeface="Courier New"/>
              <a:cs typeface="Courier New"/>
            </a:endParaRPr>
          </a:p>
          <a:p>
            <a:pPr marL="1359535">
              <a:lnSpc>
                <a:spcPct val="100000"/>
              </a:lnSpc>
              <a:spcBef>
                <a:spcPts val="380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  <a:tabLst>
                <a:tab pos="4886325" algn="l"/>
              </a:tabLst>
            </a:pP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	</a:t>
            </a:r>
            <a:r>
              <a:rPr sz="1400" b="1" spc="-50" dirty="0">
                <a:solidFill>
                  <a:srgbClr val="006600"/>
                </a:solidFill>
                <a:latin typeface="Arial"/>
                <a:cs typeface="Arial"/>
              </a:rPr>
              <a:t>9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0339" y="4314012"/>
            <a:ext cx="1665605" cy="118999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month</a:t>
            </a:r>
            <a:r>
              <a:rPr sz="1800" b="1" spc="-6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1;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day</a:t>
            </a:r>
            <a:r>
              <a:rPr sz="18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18;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year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2018;</a:t>
            </a:r>
            <a:endParaRPr sz="1800" dirty="0">
              <a:latin typeface="Courier New"/>
              <a:cs typeface="Courier New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4503" y="5739384"/>
            <a:ext cx="3735324" cy="53035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8052" y="6417564"/>
            <a:ext cx="3156204" cy="4191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3D1495-DB96-4BD4-A681-47AFDAC57571}"/>
              </a:ext>
            </a:extLst>
          </p:cNvPr>
          <p:cNvCxnSpPr/>
          <p:nvPr/>
        </p:nvCxnSpPr>
        <p:spPr>
          <a:xfrm>
            <a:off x="1450339" y="4314012"/>
            <a:ext cx="1521461" cy="11899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052DA01-1405-4B60-961C-C61313A1E10D}"/>
              </a:ext>
            </a:extLst>
          </p:cNvPr>
          <p:cNvCxnSpPr>
            <a:cxnSpLocks/>
          </p:cNvCxnSpPr>
          <p:nvPr/>
        </p:nvCxnSpPr>
        <p:spPr>
          <a:xfrm flipH="1">
            <a:off x="1450339" y="4270235"/>
            <a:ext cx="1369516" cy="123376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7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02522"/>
            <a:ext cx="9144000" cy="3512820"/>
            <a:chOff x="457200" y="3802522"/>
            <a:chExt cx="9144000" cy="3512820"/>
          </a:xfrm>
        </p:grpSpPr>
        <p:sp>
          <p:nvSpPr>
            <p:cNvPr id="4" name="object 4"/>
            <p:cNvSpPr/>
            <p:nvPr/>
          </p:nvSpPr>
          <p:spPr>
            <a:xfrm>
              <a:off x="920495" y="3802522"/>
              <a:ext cx="528320" cy="83820"/>
            </a:xfrm>
            <a:custGeom>
              <a:avLst/>
              <a:gdLst/>
              <a:ahLst/>
              <a:cxnLst/>
              <a:rect l="l" t="t" r="r" b="b"/>
              <a:pathLst>
                <a:path w="528319" h="83820">
                  <a:moveTo>
                    <a:pt x="0" y="65389"/>
                  </a:moveTo>
                  <a:lnTo>
                    <a:pt x="0" y="83677"/>
                  </a:lnTo>
                  <a:lnTo>
                    <a:pt x="454983" y="83677"/>
                  </a:lnTo>
                  <a:lnTo>
                    <a:pt x="426045" y="66700"/>
                  </a:lnTo>
                  <a:lnTo>
                    <a:pt x="0" y="65389"/>
                  </a:lnTo>
                  <a:close/>
                </a:path>
                <a:path w="528319" h="83820">
                  <a:moveTo>
                    <a:pt x="426045" y="66700"/>
                  </a:moveTo>
                  <a:lnTo>
                    <a:pt x="454983" y="83677"/>
                  </a:lnTo>
                  <a:lnTo>
                    <a:pt x="461913" y="83677"/>
                  </a:lnTo>
                  <a:lnTo>
                    <a:pt x="486156" y="69961"/>
                  </a:lnTo>
                  <a:lnTo>
                    <a:pt x="495300" y="69961"/>
                  </a:lnTo>
                  <a:lnTo>
                    <a:pt x="495300" y="66913"/>
                  </a:lnTo>
                  <a:lnTo>
                    <a:pt x="426045" y="66700"/>
                  </a:lnTo>
                  <a:close/>
                </a:path>
                <a:path w="528319" h="83820">
                  <a:moveTo>
                    <a:pt x="486156" y="69961"/>
                  </a:moveTo>
                  <a:lnTo>
                    <a:pt x="461913" y="83677"/>
                  </a:lnTo>
                  <a:lnTo>
                    <a:pt x="486156" y="83677"/>
                  </a:lnTo>
                  <a:lnTo>
                    <a:pt x="486156" y="69961"/>
                  </a:lnTo>
                  <a:close/>
                </a:path>
                <a:path w="528319" h="83820">
                  <a:moveTo>
                    <a:pt x="495300" y="69961"/>
                  </a:moveTo>
                  <a:lnTo>
                    <a:pt x="486156" y="69961"/>
                  </a:lnTo>
                  <a:lnTo>
                    <a:pt x="486156" y="83677"/>
                  </a:lnTo>
                  <a:lnTo>
                    <a:pt x="495300" y="83677"/>
                  </a:lnTo>
                  <a:lnTo>
                    <a:pt x="495300" y="69961"/>
                  </a:lnTo>
                  <a:close/>
                </a:path>
                <a:path w="528319" h="83820">
                  <a:moveTo>
                    <a:pt x="383095" y="0"/>
                  </a:moveTo>
                  <a:lnTo>
                    <a:pt x="376047" y="238"/>
                  </a:lnTo>
                  <a:lnTo>
                    <a:pt x="369569" y="3333"/>
                  </a:lnTo>
                  <a:lnTo>
                    <a:pt x="364235" y="9001"/>
                  </a:lnTo>
                  <a:lnTo>
                    <a:pt x="362211" y="16263"/>
                  </a:lnTo>
                  <a:lnTo>
                    <a:pt x="362902" y="23669"/>
                  </a:lnTo>
                  <a:lnTo>
                    <a:pt x="366164" y="30218"/>
                  </a:lnTo>
                  <a:lnTo>
                    <a:pt x="371856" y="34909"/>
                  </a:lnTo>
                  <a:lnTo>
                    <a:pt x="426045" y="66700"/>
                  </a:lnTo>
                  <a:lnTo>
                    <a:pt x="495300" y="66913"/>
                  </a:lnTo>
                  <a:lnTo>
                    <a:pt x="495300" y="83677"/>
                  </a:lnTo>
                  <a:lnTo>
                    <a:pt x="528190" y="83677"/>
                  </a:lnTo>
                  <a:lnTo>
                    <a:pt x="390144" y="2905"/>
                  </a:lnTo>
                  <a:lnTo>
                    <a:pt x="38309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25347" rIns="0" bIns="0" rtlCol="0">
            <a:spAutoFit/>
          </a:bodyPr>
          <a:lstStyle/>
          <a:p>
            <a:pPr marL="241300">
              <a:lnSpc>
                <a:spcPts val="2875"/>
              </a:lnSpc>
              <a:spcBef>
                <a:spcPts val="100"/>
              </a:spcBef>
            </a:pPr>
            <a:r>
              <a:rPr spc="-10" dirty="0"/>
              <a:t>Structure</a:t>
            </a:r>
          </a:p>
          <a:p>
            <a:pPr marL="698500" marR="3592829">
              <a:lnSpc>
                <a:spcPts val="2400"/>
              </a:lnSpc>
              <a:spcBef>
                <a:spcPts val="75"/>
              </a:spcBef>
            </a:pPr>
            <a:r>
              <a:rPr sz="2000" dirty="0"/>
              <a:t>Definition</a:t>
            </a:r>
            <a:r>
              <a:rPr sz="2000" spc="-90" dirty="0"/>
              <a:t> </a:t>
            </a:r>
            <a:r>
              <a:rPr sz="2000" dirty="0"/>
              <a:t>of</a:t>
            </a:r>
            <a:r>
              <a:rPr sz="2000" spc="-60" dirty="0"/>
              <a:t> </a:t>
            </a:r>
            <a:r>
              <a:rPr sz="2000" spc="-10" dirty="0"/>
              <a:t>structures </a:t>
            </a:r>
            <a:r>
              <a:rPr sz="2000" dirty="0"/>
              <a:t>Creating</a:t>
            </a:r>
            <a:r>
              <a:rPr sz="2000" spc="-55" dirty="0"/>
              <a:t> </a:t>
            </a:r>
            <a:r>
              <a:rPr sz="2000" dirty="0"/>
              <a:t>structures</a:t>
            </a:r>
            <a:r>
              <a:rPr sz="2000" spc="-20" dirty="0"/>
              <a:t> </a:t>
            </a:r>
            <a:r>
              <a:rPr sz="2000" dirty="0"/>
              <a:t>in</a:t>
            </a:r>
            <a:r>
              <a:rPr sz="2000" spc="-30" dirty="0"/>
              <a:t> </a:t>
            </a:r>
            <a:r>
              <a:rPr sz="2000" spc="-50" dirty="0"/>
              <a:t>C</a:t>
            </a:r>
            <a:endParaRPr sz="2000"/>
          </a:p>
          <a:p>
            <a:pPr marL="196850" marR="470534" algn="ctr">
              <a:lnSpc>
                <a:spcPts val="2300"/>
              </a:lnSpc>
            </a:pPr>
            <a:r>
              <a:rPr sz="2000" dirty="0">
                <a:latin typeface="Arial"/>
                <a:cs typeface="Arial"/>
              </a:rPr>
              <a:t>dot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printf,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scanf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structure</a:t>
            </a:r>
            <a:endParaRPr sz="200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  <a:spcBef>
                <a:spcPts val="20"/>
              </a:spcBef>
            </a:pPr>
            <a:r>
              <a:rPr sz="2000" dirty="0">
                <a:solidFill>
                  <a:srgbClr val="FF0000"/>
                </a:solidFill>
              </a:rPr>
              <a:t>typedef</a:t>
            </a:r>
            <a:r>
              <a:rPr sz="2000" spc="-4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vs</a:t>
            </a:r>
            <a:r>
              <a:rPr sz="2000" spc="-20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struct</a:t>
            </a:r>
            <a:endParaRPr sz="2000"/>
          </a:p>
          <a:p>
            <a:pPr marL="698500" marR="87630">
              <a:lnSpc>
                <a:spcPct val="100000"/>
              </a:lnSpc>
              <a:spcBef>
                <a:spcPts val="5"/>
              </a:spcBef>
            </a:pPr>
            <a:r>
              <a:rPr sz="2000" dirty="0"/>
              <a:t>Problem</a:t>
            </a:r>
            <a:r>
              <a:rPr sz="2000" spc="-55" dirty="0"/>
              <a:t> </a:t>
            </a:r>
            <a:r>
              <a:rPr sz="2000" dirty="0"/>
              <a:t>solving</a:t>
            </a:r>
            <a:r>
              <a:rPr sz="2000" spc="-20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structure</a:t>
            </a:r>
            <a:r>
              <a:rPr sz="2000" spc="-35" dirty="0"/>
              <a:t> </a:t>
            </a:r>
            <a:r>
              <a:rPr sz="2000" dirty="0"/>
              <a:t>(similar</a:t>
            </a:r>
            <a:r>
              <a:rPr sz="2000" spc="-15" dirty="0"/>
              <a:t> </a:t>
            </a:r>
            <a:r>
              <a:rPr sz="2000" spc="-10" dirty="0"/>
              <a:t>type) </a:t>
            </a:r>
            <a:r>
              <a:rPr sz="2000" dirty="0"/>
              <a:t>Problem</a:t>
            </a:r>
            <a:r>
              <a:rPr sz="2000" spc="-80" dirty="0"/>
              <a:t> </a:t>
            </a:r>
            <a:r>
              <a:rPr sz="2000" dirty="0"/>
              <a:t>solving</a:t>
            </a:r>
            <a:r>
              <a:rPr sz="2000" spc="-45" dirty="0"/>
              <a:t> </a:t>
            </a:r>
            <a:r>
              <a:rPr sz="2000" dirty="0"/>
              <a:t>with</a:t>
            </a:r>
            <a:r>
              <a:rPr sz="2000" spc="-45" dirty="0"/>
              <a:t> </a:t>
            </a:r>
            <a:r>
              <a:rPr sz="2000" dirty="0"/>
              <a:t>structure</a:t>
            </a:r>
            <a:r>
              <a:rPr sz="2000" spc="-60" dirty="0"/>
              <a:t> </a:t>
            </a:r>
            <a:r>
              <a:rPr sz="2000" dirty="0"/>
              <a:t>(dissimilar</a:t>
            </a:r>
            <a:r>
              <a:rPr sz="2000" spc="-45" dirty="0"/>
              <a:t> </a:t>
            </a:r>
            <a:r>
              <a:rPr sz="2000" spc="-10" dirty="0"/>
              <a:t>type) </a:t>
            </a:r>
            <a:r>
              <a:rPr sz="2000" dirty="0"/>
              <a:t>Passing</a:t>
            </a:r>
            <a:r>
              <a:rPr sz="2000" spc="-55" dirty="0"/>
              <a:t> </a:t>
            </a:r>
            <a:r>
              <a:rPr sz="2000" dirty="0"/>
              <a:t>structure</a:t>
            </a:r>
            <a:r>
              <a:rPr sz="2000" spc="-35" dirty="0"/>
              <a:t> </a:t>
            </a:r>
            <a:r>
              <a:rPr sz="2000" dirty="0"/>
              <a:t>as</a:t>
            </a:r>
            <a:r>
              <a:rPr sz="2000" spc="-30" dirty="0"/>
              <a:t> </a:t>
            </a:r>
            <a:r>
              <a:rPr sz="2000" dirty="0"/>
              <a:t>function</a:t>
            </a:r>
            <a:r>
              <a:rPr sz="2000" spc="-45" dirty="0"/>
              <a:t> </a:t>
            </a:r>
            <a:r>
              <a:rPr sz="2000" spc="-10" dirty="0"/>
              <a:t>parameter</a:t>
            </a:r>
            <a:endParaRPr sz="2000"/>
          </a:p>
          <a:p>
            <a:pPr marL="698500">
              <a:lnSpc>
                <a:spcPts val="2400"/>
              </a:lnSpc>
            </a:pPr>
            <a:r>
              <a:rPr sz="2000" dirty="0"/>
              <a:t>Arrays</a:t>
            </a:r>
            <a:r>
              <a:rPr sz="2000" spc="-60" dirty="0"/>
              <a:t> </a:t>
            </a:r>
            <a:r>
              <a:rPr sz="2000" dirty="0"/>
              <a:t>of</a:t>
            </a:r>
            <a:r>
              <a:rPr sz="2000" spc="-30" dirty="0"/>
              <a:t> </a:t>
            </a:r>
            <a:r>
              <a:rPr sz="2000" spc="-10" dirty="0"/>
              <a:t>structure</a:t>
            </a:r>
            <a:endParaRPr sz="2000"/>
          </a:p>
          <a:p>
            <a:pPr marL="698500" marR="5080">
              <a:lnSpc>
                <a:spcPct val="100000"/>
              </a:lnSpc>
            </a:pPr>
            <a:r>
              <a:rPr sz="2000" dirty="0"/>
              <a:t>Passing</a:t>
            </a:r>
            <a:r>
              <a:rPr sz="2000" spc="-50" dirty="0"/>
              <a:t> </a:t>
            </a:r>
            <a:r>
              <a:rPr sz="2000" dirty="0"/>
              <a:t>array</a:t>
            </a:r>
            <a:r>
              <a:rPr sz="2000" spc="-30" dirty="0"/>
              <a:t> </a:t>
            </a:r>
            <a:r>
              <a:rPr sz="2000" dirty="0"/>
              <a:t>of</a:t>
            </a:r>
            <a:r>
              <a:rPr sz="2000" spc="-15" dirty="0"/>
              <a:t> </a:t>
            </a:r>
            <a:r>
              <a:rPr sz="2000" dirty="0"/>
              <a:t>structure</a:t>
            </a:r>
            <a:r>
              <a:rPr sz="2000" spc="-20" dirty="0"/>
              <a:t> </a:t>
            </a:r>
            <a:r>
              <a:rPr sz="2000" dirty="0"/>
              <a:t>as</a:t>
            </a:r>
            <a:r>
              <a:rPr sz="2000" spc="-25" dirty="0"/>
              <a:t> </a:t>
            </a:r>
            <a:r>
              <a:rPr sz="2000" dirty="0"/>
              <a:t>function</a:t>
            </a:r>
            <a:r>
              <a:rPr sz="2000" spc="-35" dirty="0"/>
              <a:t> </a:t>
            </a:r>
            <a:r>
              <a:rPr sz="2000" spc="-10" dirty="0"/>
              <a:t>parameter </a:t>
            </a:r>
            <a:r>
              <a:rPr sz="2000" dirty="0"/>
              <a:t>Determining</a:t>
            </a:r>
            <a:r>
              <a:rPr sz="2000" spc="-60" dirty="0"/>
              <a:t> </a:t>
            </a:r>
            <a:r>
              <a:rPr sz="2000" dirty="0"/>
              <a:t>size</a:t>
            </a:r>
            <a:r>
              <a:rPr sz="2000" spc="-35" dirty="0"/>
              <a:t> </a:t>
            </a:r>
            <a:r>
              <a:rPr sz="2000" dirty="0"/>
              <a:t>of</a:t>
            </a:r>
            <a:r>
              <a:rPr sz="2000" spc="-35" dirty="0"/>
              <a:t> </a:t>
            </a:r>
            <a:r>
              <a:rPr sz="2000" spc="-10" dirty="0"/>
              <a:t>structure</a:t>
            </a:r>
            <a:endParaRPr sz="2000"/>
          </a:p>
        </p:txBody>
      </p:sp>
      <p:sp>
        <p:nvSpPr>
          <p:cNvPr id="7" name="object 7"/>
          <p:cNvSpPr/>
          <p:nvPr/>
        </p:nvSpPr>
        <p:spPr>
          <a:xfrm>
            <a:off x="920496" y="3886200"/>
            <a:ext cx="533400" cy="87630"/>
          </a:xfrm>
          <a:custGeom>
            <a:avLst/>
            <a:gdLst/>
            <a:ahLst/>
            <a:cxnLst/>
            <a:rect l="l" t="t" r="r" b="b"/>
            <a:pathLst>
              <a:path w="533400" h="87629">
                <a:moveTo>
                  <a:pt x="424588" y="21118"/>
                </a:moveTo>
                <a:lnTo>
                  <a:pt x="370331" y="51815"/>
                </a:lnTo>
                <a:lnTo>
                  <a:pt x="364664" y="57150"/>
                </a:lnTo>
                <a:lnTo>
                  <a:pt x="361569" y="63626"/>
                </a:lnTo>
                <a:lnTo>
                  <a:pt x="361330" y="70675"/>
                </a:lnTo>
                <a:lnTo>
                  <a:pt x="364235" y="77724"/>
                </a:lnTo>
                <a:lnTo>
                  <a:pt x="368927" y="83415"/>
                </a:lnTo>
                <a:lnTo>
                  <a:pt x="375475" y="86677"/>
                </a:lnTo>
                <a:lnTo>
                  <a:pt x="382881" y="87368"/>
                </a:lnTo>
                <a:lnTo>
                  <a:pt x="390144" y="85344"/>
                </a:lnTo>
                <a:lnTo>
                  <a:pt x="501565" y="21336"/>
                </a:lnTo>
                <a:lnTo>
                  <a:pt x="495300" y="21336"/>
                </a:lnTo>
                <a:lnTo>
                  <a:pt x="424588" y="21118"/>
                </a:lnTo>
                <a:close/>
              </a:path>
              <a:path w="533400" h="87629">
                <a:moveTo>
                  <a:pt x="458385" y="1996"/>
                </a:moveTo>
                <a:lnTo>
                  <a:pt x="424588" y="21118"/>
                </a:lnTo>
                <a:lnTo>
                  <a:pt x="495300" y="21336"/>
                </a:lnTo>
                <a:lnTo>
                  <a:pt x="495300" y="18287"/>
                </a:lnTo>
                <a:lnTo>
                  <a:pt x="486156" y="18287"/>
                </a:lnTo>
                <a:lnTo>
                  <a:pt x="458385" y="1996"/>
                </a:lnTo>
                <a:close/>
              </a:path>
              <a:path w="533400" h="87629">
                <a:moveTo>
                  <a:pt x="528190" y="0"/>
                </a:moveTo>
                <a:lnTo>
                  <a:pt x="495300" y="0"/>
                </a:lnTo>
                <a:lnTo>
                  <a:pt x="495300" y="21336"/>
                </a:lnTo>
                <a:lnTo>
                  <a:pt x="501565" y="21336"/>
                </a:lnTo>
                <a:lnTo>
                  <a:pt x="533400" y="3048"/>
                </a:lnTo>
                <a:lnTo>
                  <a:pt x="528190" y="0"/>
                </a:lnTo>
                <a:close/>
              </a:path>
              <a:path w="533400" h="87629">
                <a:moveTo>
                  <a:pt x="454983" y="0"/>
                </a:moveTo>
                <a:lnTo>
                  <a:pt x="0" y="0"/>
                </a:lnTo>
                <a:lnTo>
                  <a:pt x="0" y="19812"/>
                </a:lnTo>
                <a:lnTo>
                  <a:pt x="424588" y="21118"/>
                </a:lnTo>
                <a:lnTo>
                  <a:pt x="458385" y="1996"/>
                </a:lnTo>
                <a:lnTo>
                  <a:pt x="454983" y="0"/>
                </a:lnTo>
                <a:close/>
              </a:path>
              <a:path w="533400" h="87629">
                <a:moveTo>
                  <a:pt x="486156" y="0"/>
                </a:moveTo>
                <a:lnTo>
                  <a:pt x="461913" y="0"/>
                </a:lnTo>
                <a:lnTo>
                  <a:pt x="458385" y="1996"/>
                </a:lnTo>
                <a:lnTo>
                  <a:pt x="486156" y="18287"/>
                </a:lnTo>
                <a:lnTo>
                  <a:pt x="486156" y="0"/>
                </a:lnTo>
                <a:close/>
              </a:path>
              <a:path w="533400" h="87629">
                <a:moveTo>
                  <a:pt x="495300" y="0"/>
                </a:moveTo>
                <a:lnTo>
                  <a:pt x="486156" y="0"/>
                </a:lnTo>
                <a:lnTo>
                  <a:pt x="486156" y="18287"/>
                </a:lnTo>
                <a:lnTo>
                  <a:pt x="495300" y="18287"/>
                </a:lnTo>
                <a:lnTo>
                  <a:pt x="495300" y="0"/>
                </a:lnTo>
                <a:close/>
              </a:path>
              <a:path w="533400" h="87629">
                <a:moveTo>
                  <a:pt x="461913" y="0"/>
                </a:moveTo>
                <a:lnTo>
                  <a:pt x="454983" y="0"/>
                </a:lnTo>
                <a:lnTo>
                  <a:pt x="458385" y="1996"/>
                </a:lnTo>
                <a:lnTo>
                  <a:pt x="46191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7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typedef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663" y="1619440"/>
            <a:ext cx="262191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6600"/>
                </a:solidFill>
                <a:latin typeface="Lucida Console"/>
                <a:cs typeface="Lucida Console"/>
              </a:rPr>
              <a:t>typedef</a:t>
            </a:r>
            <a:r>
              <a:rPr sz="2000" spc="-70" dirty="0">
                <a:solidFill>
                  <a:srgbClr val="006600"/>
                </a:solidFill>
                <a:latin typeface="Lucida Console"/>
                <a:cs typeface="Lucida Console"/>
              </a:rPr>
              <a:t> </a:t>
            </a:r>
            <a:r>
              <a:rPr sz="2000" dirty="0">
                <a:solidFill>
                  <a:srgbClr val="006600"/>
                </a:solidFill>
                <a:latin typeface="Lucida Console"/>
                <a:cs typeface="Lucida Console"/>
              </a:rPr>
              <a:t>struct</a:t>
            </a:r>
            <a:r>
              <a:rPr sz="2000" spc="-75" dirty="0">
                <a:solidFill>
                  <a:srgbClr val="006600"/>
                </a:solidFill>
                <a:latin typeface="Lucida Console"/>
                <a:cs typeface="Lucida Console"/>
              </a:rPr>
              <a:t> </a:t>
            </a:r>
            <a:r>
              <a:rPr sz="2000" spc="-50" dirty="0">
                <a:solidFill>
                  <a:srgbClr val="0000C4"/>
                </a:solidFill>
                <a:latin typeface="Lucida Console"/>
                <a:cs typeface="Lucida Console"/>
              </a:rPr>
              <a:t>{</a:t>
            </a:r>
            <a:endParaRPr sz="2000" dirty="0">
              <a:latin typeface="Lucida Console"/>
              <a:cs typeface="Lucida Console"/>
            </a:endParaRPr>
          </a:p>
          <a:p>
            <a:pPr marL="927100">
              <a:lnSpc>
                <a:spcPts val="2400"/>
              </a:lnSpc>
            </a:pPr>
            <a:r>
              <a:rPr sz="2000" spc="-10" dirty="0">
                <a:solidFill>
                  <a:srgbClr val="0000C4"/>
                </a:solidFill>
                <a:latin typeface="Lucida Console"/>
                <a:cs typeface="Lucida Console"/>
              </a:rPr>
              <a:t>member-</a:t>
            </a:r>
            <a:r>
              <a:rPr sz="2000" spc="-20" dirty="0">
                <a:solidFill>
                  <a:srgbClr val="0000C4"/>
                </a:solidFill>
                <a:latin typeface="Lucida Console"/>
                <a:cs typeface="Lucida Console"/>
              </a:rPr>
              <a:t>list</a:t>
            </a:r>
            <a:endParaRPr sz="2000" dirty="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00C4"/>
                </a:solidFill>
                <a:latin typeface="Lucida Console"/>
                <a:cs typeface="Lucida Console"/>
              </a:rPr>
              <a:t>}</a:t>
            </a:r>
            <a:r>
              <a:rPr sz="2000" spc="-25" dirty="0">
                <a:solidFill>
                  <a:srgbClr val="0000C4"/>
                </a:solidFill>
                <a:latin typeface="Lucida Console"/>
                <a:cs typeface="Lucida Console"/>
              </a:rPr>
              <a:t> </a:t>
            </a:r>
            <a:r>
              <a:rPr sz="2000" dirty="0">
                <a:solidFill>
                  <a:srgbClr val="FF0A85"/>
                </a:solidFill>
                <a:latin typeface="Lucida Console"/>
                <a:cs typeface="Lucida Console"/>
              </a:rPr>
              <a:t>type-</a:t>
            </a:r>
            <a:r>
              <a:rPr sz="2000" spc="-10" dirty="0">
                <a:solidFill>
                  <a:srgbClr val="FF0A85"/>
                </a:solidFill>
                <a:latin typeface="Lucida Console"/>
                <a:cs typeface="Lucida Console"/>
              </a:rPr>
              <a:t>name</a:t>
            </a:r>
            <a:r>
              <a:rPr sz="2000" spc="-10" dirty="0">
                <a:solidFill>
                  <a:srgbClr val="FF0000"/>
                </a:solidFill>
                <a:latin typeface="Lucida Console"/>
                <a:cs typeface="Lucida Console"/>
              </a:rPr>
              <a:t>;</a:t>
            </a:r>
            <a:endParaRPr sz="2000" dirty="0">
              <a:latin typeface="Lucida Console"/>
              <a:cs typeface="Lucida Consol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94503" y="3118104"/>
            <a:ext cx="3519170" cy="768350"/>
          </a:xfrm>
          <a:custGeom>
            <a:avLst/>
            <a:gdLst/>
            <a:ahLst/>
            <a:cxnLst/>
            <a:rect l="l" t="t" r="r" b="b"/>
            <a:pathLst>
              <a:path w="3519170" h="768350">
                <a:moveTo>
                  <a:pt x="3518916" y="0"/>
                </a:moveTo>
                <a:lnTo>
                  <a:pt x="0" y="0"/>
                </a:lnTo>
                <a:lnTo>
                  <a:pt x="0" y="768096"/>
                </a:lnTo>
                <a:lnTo>
                  <a:pt x="13716" y="768096"/>
                </a:lnTo>
                <a:lnTo>
                  <a:pt x="13716" y="13716"/>
                </a:lnTo>
                <a:lnTo>
                  <a:pt x="6096" y="13716"/>
                </a:lnTo>
                <a:lnTo>
                  <a:pt x="13716" y="6096"/>
                </a:lnTo>
                <a:lnTo>
                  <a:pt x="3518916" y="6096"/>
                </a:lnTo>
                <a:lnTo>
                  <a:pt x="3518916" y="0"/>
                </a:lnTo>
                <a:close/>
              </a:path>
              <a:path w="3519170" h="768350">
                <a:moveTo>
                  <a:pt x="3505200" y="6096"/>
                </a:moveTo>
                <a:lnTo>
                  <a:pt x="3505200" y="768096"/>
                </a:lnTo>
                <a:lnTo>
                  <a:pt x="3518916" y="768096"/>
                </a:lnTo>
                <a:lnTo>
                  <a:pt x="3518916" y="13716"/>
                </a:lnTo>
                <a:lnTo>
                  <a:pt x="3511296" y="13716"/>
                </a:lnTo>
                <a:lnTo>
                  <a:pt x="3505200" y="6096"/>
                </a:lnTo>
                <a:close/>
              </a:path>
              <a:path w="3519170" h="768350">
                <a:moveTo>
                  <a:pt x="13716" y="6096"/>
                </a:moveTo>
                <a:lnTo>
                  <a:pt x="6096" y="13716"/>
                </a:lnTo>
                <a:lnTo>
                  <a:pt x="13716" y="13716"/>
                </a:lnTo>
                <a:lnTo>
                  <a:pt x="13716" y="6096"/>
                </a:lnTo>
                <a:close/>
              </a:path>
              <a:path w="3519170" h="768350">
                <a:moveTo>
                  <a:pt x="3505200" y="6096"/>
                </a:moveTo>
                <a:lnTo>
                  <a:pt x="13716" y="6096"/>
                </a:lnTo>
                <a:lnTo>
                  <a:pt x="13716" y="13716"/>
                </a:lnTo>
                <a:lnTo>
                  <a:pt x="3505200" y="13716"/>
                </a:lnTo>
                <a:lnTo>
                  <a:pt x="3505200" y="6096"/>
                </a:lnTo>
                <a:close/>
              </a:path>
              <a:path w="3519170" h="768350">
                <a:moveTo>
                  <a:pt x="3518916" y="6096"/>
                </a:moveTo>
                <a:lnTo>
                  <a:pt x="3505200" y="6096"/>
                </a:lnTo>
                <a:lnTo>
                  <a:pt x="3511296" y="13716"/>
                </a:lnTo>
                <a:lnTo>
                  <a:pt x="3518916" y="13716"/>
                </a:lnTo>
                <a:lnTo>
                  <a:pt x="3518916" y="6096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79271" y="3134268"/>
            <a:ext cx="19792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typedef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struct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45130" y="3377498"/>
            <a:ext cx="136715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  <a:tabLst>
                <a:tab pos="623570" algn="l"/>
              </a:tabLst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month;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day;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849386" y="6884920"/>
            <a:ext cx="21462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11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94503" y="3886200"/>
            <a:ext cx="3519170" cy="2834640"/>
          </a:xfrm>
          <a:custGeom>
            <a:avLst/>
            <a:gdLst/>
            <a:ahLst/>
            <a:cxnLst/>
            <a:rect l="l" t="t" r="r" b="b"/>
            <a:pathLst>
              <a:path w="3519170" h="2834640">
                <a:moveTo>
                  <a:pt x="13716" y="0"/>
                </a:moveTo>
                <a:lnTo>
                  <a:pt x="0" y="0"/>
                </a:lnTo>
                <a:lnTo>
                  <a:pt x="0" y="2834640"/>
                </a:lnTo>
                <a:lnTo>
                  <a:pt x="3518916" y="2834640"/>
                </a:lnTo>
                <a:lnTo>
                  <a:pt x="3518916" y="2828544"/>
                </a:lnTo>
                <a:lnTo>
                  <a:pt x="13716" y="2828544"/>
                </a:lnTo>
                <a:lnTo>
                  <a:pt x="6096" y="2822448"/>
                </a:lnTo>
                <a:lnTo>
                  <a:pt x="13716" y="2822448"/>
                </a:lnTo>
                <a:lnTo>
                  <a:pt x="13716" y="0"/>
                </a:lnTo>
                <a:close/>
              </a:path>
              <a:path w="3519170" h="2834640">
                <a:moveTo>
                  <a:pt x="13716" y="2822448"/>
                </a:moveTo>
                <a:lnTo>
                  <a:pt x="6096" y="2822448"/>
                </a:lnTo>
                <a:lnTo>
                  <a:pt x="13716" y="2828544"/>
                </a:lnTo>
                <a:lnTo>
                  <a:pt x="13716" y="2822448"/>
                </a:lnTo>
                <a:close/>
              </a:path>
              <a:path w="3519170" h="2834640">
                <a:moveTo>
                  <a:pt x="3505200" y="2822448"/>
                </a:moveTo>
                <a:lnTo>
                  <a:pt x="13716" y="2822448"/>
                </a:lnTo>
                <a:lnTo>
                  <a:pt x="13716" y="2828544"/>
                </a:lnTo>
                <a:lnTo>
                  <a:pt x="3505200" y="2828544"/>
                </a:lnTo>
                <a:lnTo>
                  <a:pt x="3505200" y="2822448"/>
                </a:lnTo>
                <a:close/>
              </a:path>
              <a:path w="3519170" h="2834640">
                <a:moveTo>
                  <a:pt x="3518916" y="0"/>
                </a:moveTo>
                <a:lnTo>
                  <a:pt x="3505200" y="0"/>
                </a:lnTo>
                <a:lnTo>
                  <a:pt x="3505200" y="2828544"/>
                </a:lnTo>
                <a:lnTo>
                  <a:pt x="3511295" y="2822448"/>
                </a:lnTo>
                <a:lnTo>
                  <a:pt x="3518916" y="2822448"/>
                </a:lnTo>
                <a:lnTo>
                  <a:pt x="3518916" y="0"/>
                </a:lnTo>
                <a:close/>
              </a:path>
              <a:path w="3519170" h="2834640">
                <a:moveTo>
                  <a:pt x="3518916" y="2822448"/>
                </a:moveTo>
                <a:lnTo>
                  <a:pt x="3511295" y="2822448"/>
                </a:lnTo>
                <a:lnTo>
                  <a:pt x="3505199" y="2828544"/>
                </a:lnTo>
                <a:lnTo>
                  <a:pt x="3518916" y="2828544"/>
                </a:lnTo>
                <a:lnTo>
                  <a:pt x="3518916" y="2822448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879271" y="3962670"/>
            <a:ext cx="1611630" cy="6108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484"/>
              </a:spcBef>
              <a:tabLst>
                <a:tab pos="989330" algn="l"/>
              </a:tabLst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year;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}Date;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9271" y="4547842"/>
            <a:ext cx="3014345" cy="20739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>
              <a:latin typeface="Courier New"/>
              <a:cs typeface="Courier New"/>
            </a:endParaRPr>
          </a:p>
          <a:p>
            <a:pPr marL="927100" marR="247650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Date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date;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date.month</a:t>
            </a:r>
            <a:r>
              <a:rPr sz="1600" b="1" spc="-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1;</a:t>
            </a:r>
            <a:endParaRPr sz="16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date.day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18;</a:t>
            </a:r>
            <a:endParaRPr sz="16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date.year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2018;</a:t>
            </a:r>
            <a:endParaRPr sz="16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return</a:t>
            </a:r>
            <a:r>
              <a:rPr sz="1600" b="1" spc="-7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0;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7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struct</a:t>
            </a:r>
          </a:p>
        </p:txBody>
      </p:sp>
      <p:sp>
        <p:nvSpPr>
          <p:cNvPr id="3" name="object 3"/>
          <p:cNvSpPr/>
          <p:nvPr/>
        </p:nvSpPr>
        <p:spPr>
          <a:xfrm>
            <a:off x="4794503" y="3118104"/>
            <a:ext cx="3519170" cy="768350"/>
          </a:xfrm>
          <a:custGeom>
            <a:avLst/>
            <a:gdLst/>
            <a:ahLst/>
            <a:cxnLst/>
            <a:rect l="l" t="t" r="r" b="b"/>
            <a:pathLst>
              <a:path w="3519170" h="768350">
                <a:moveTo>
                  <a:pt x="3518916" y="0"/>
                </a:moveTo>
                <a:lnTo>
                  <a:pt x="0" y="0"/>
                </a:lnTo>
                <a:lnTo>
                  <a:pt x="0" y="768096"/>
                </a:lnTo>
                <a:lnTo>
                  <a:pt x="13716" y="768096"/>
                </a:lnTo>
                <a:lnTo>
                  <a:pt x="13716" y="13716"/>
                </a:lnTo>
                <a:lnTo>
                  <a:pt x="6096" y="13716"/>
                </a:lnTo>
                <a:lnTo>
                  <a:pt x="13716" y="6096"/>
                </a:lnTo>
                <a:lnTo>
                  <a:pt x="3518916" y="6096"/>
                </a:lnTo>
                <a:lnTo>
                  <a:pt x="3518916" y="0"/>
                </a:lnTo>
                <a:close/>
              </a:path>
              <a:path w="3519170" h="768350">
                <a:moveTo>
                  <a:pt x="3505200" y="6096"/>
                </a:moveTo>
                <a:lnTo>
                  <a:pt x="3505200" y="768096"/>
                </a:lnTo>
                <a:lnTo>
                  <a:pt x="3518916" y="768096"/>
                </a:lnTo>
                <a:lnTo>
                  <a:pt x="3518916" y="13716"/>
                </a:lnTo>
                <a:lnTo>
                  <a:pt x="3511296" y="13716"/>
                </a:lnTo>
                <a:lnTo>
                  <a:pt x="3505200" y="6096"/>
                </a:lnTo>
                <a:close/>
              </a:path>
              <a:path w="3519170" h="768350">
                <a:moveTo>
                  <a:pt x="13716" y="6096"/>
                </a:moveTo>
                <a:lnTo>
                  <a:pt x="6096" y="13716"/>
                </a:lnTo>
                <a:lnTo>
                  <a:pt x="13716" y="13716"/>
                </a:lnTo>
                <a:lnTo>
                  <a:pt x="13716" y="6096"/>
                </a:lnTo>
                <a:close/>
              </a:path>
              <a:path w="3519170" h="768350">
                <a:moveTo>
                  <a:pt x="3505200" y="6096"/>
                </a:moveTo>
                <a:lnTo>
                  <a:pt x="13716" y="6096"/>
                </a:lnTo>
                <a:lnTo>
                  <a:pt x="13716" y="13716"/>
                </a:lnTo>
                <a:lnTo>
                  <a:pt x="3505200" y="13716"/>
                </a:lnTo>
                <a:lnTo>
                  <a:pt x="3505200" y="6096"/>
                </a:lnTo>
                <a:close/>
              </a:path>
              <a:path w="3519170" h="768350">
                <a:moveTo>
                  <a:pt x="3518916" y="6096"/>
                </a:moveTo>
                <a:lnTo>
                  <a:pt x="3505200" y="6096"/>
                </a:lnTo>
                <a:lnTo>
                  <a:pt x="3511296" y="13716"/>
                </a:lnTo>
                <a:lnTo>
                  <a:pt x="3518916" y="13716"/>
                </a:lnTo>
                <a:lnTo>
                  <a:pt x="3518916" y="6096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79271" y="3134268"/>
            <a:ext cx="1610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struct</a:t>
            </a:r>
            <a:r>
              <a:rPr sz="1600" b="1" spc="-7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ADate{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45130" y="3377498"/>
            <a:ext cx="136715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  <a:tabLst>
                <a:tab pos="623570" algn="l"/>
              </a:tabLst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month;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day;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9213" y="1771890"/>
            <a:ext cx="262191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C3C3C"/>
                </a:solidFill>
                <a:latin typeface="Lucida Console"/>
                <a:cs typeface="Lucida Console"/>
              </a:rPr>
              <a:t>struct</a:t>
            </a:r>
            <a:r>
              <a:rPr sz="2000" spc="-65" dirty="0">
                <a:solidFill>
                  <a:srgbClr val="3C3C3C"/>
                </a:solidFill>
                <a:latin typeface="Lucida Console"/>
                <a:cs typeface="Lucida Console"/>
              </a:rPr>
              <a:t> </a:t>
            </a:r>
            <a:r>
              <a:rPr sz="2000" dirty="0">
                <a:solidFill>
                  <a:srgbClr val="008000"/>
                </a:solidFill>
                <a:latin typeface="Lucida Console"/>
                <a:cs typeface="Lucida Console"/>
              </a:rPr>
              <a:t>tag</a:t>
            </a:r>
            <a:r>
              <a:rPr sz="2000" spc="-40" dirty="0">
                <a:solidFill>
                  <a:srgbClr val="008000"/>
                </a:solidFill>
                <a:latin typeface="Lucida Console"/>
                <a:cs typeface="Lucida Console"/>
              </a:rPr>
              <a:t> </a:t>
            </a:r>
            <a:r>
              <a:rPr sz="2000" spc="-50" dirty="0">
                <a:solidFill>
                  <a:srgbClr val="0000C4"/>
                </a:solidFill>
                <a:latin typeface="Lucida Console"/>
                <a:cs typeface="Lucida Console"/>
              </a:rPr>
              <a:t>{</a:t>
            </a:r>
            <a:endParaRPr sz="2000" dirty="0">
              <a:latin typeface="Lucida Console"/>
              <a:cs typeface="Lucida Console"/>
            </a:endParaRPr>
          </a:p>
          <a:p>
            <a:pPr marL="927100">
              <a:lnSpc>
                <a:spcPts val="2400"/>
              </a:lnSpc>
            </a:pPr>
            <a:r>
              <a:rPr sz="2000" spc="-10" dirty="0">
                <a:solidFill>
                  <a:srgbClr val="0000C4"/>
                </a:solidFill>
                <a:latin typeface="Lucida Console"/>
                <a:cs typeface="Lucida Console"/>
              </a:rPr>
              <a:t>member-</a:t>
            </a:r>
            <a:r>
              <a:rPr sz="2000" spc="-20" dirty="0">
                <a:solidFill>
                  <a:srgbClr val="0000C4"/>
                </a:solidFill>
                <a:latin typeface="Lucida Console"/>
                <a:cs typeface="Lucida Console"/>
              </a:rPr>
              <a:t>list</a:t>
            </a:r>
            <a:endParaRPr sz="2000" dirty="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00C4"/>
                </a:solidFill>
                <a:latin typeface="Lucida Console"/>
                <a:cs typeface="Lucida Console"/>
              </a:rPr>
              <a:t>}</a:t>
            </a:r>
            <a:r>
              <a:rPr sz="2000" spc="15" dirty="0">
                <a:solidFill>
                  <a:srgbClr val="0000C4"/>
                </a:solidFill>
                <a:latin typeface="Lucida Console"/>
                <a:cs typeface="Lucida Console"/>
              </a:rPr>
              <a:t> </a:t>
            </a:r>
            <a:r>
              <a:rPr sz="2000" spc="-10" dirty="0">
                <a:solidFill>
                  <a:srgbClr val="FF0A85"/>
                </a:solidFill>
                <a:latin typeface="Lucida Console"/>
                <a:cs typeface="Lucida Console"/>
              </a:rPr>
              <a:t>variable-list</a:t>
            </a:r>
            <a:r>
              <a:rPr sz="2000" spc="-10" dirty="0">
                <a:solidFill>
                  <a:srgbClr val="FF0000"/>
                </a:solidFill>
                <a:latin typeface="Lucida Console"/>
                <a:cs typeface="Lucida Console"/>
              </a:rPr>
              <a:t>;</a:t>
            </a:r>
            <a:endParaRPr sz="2000" dirty="0">
              <a:latin typeface="Lucida Console"/>
              <a:cs typeface="Lucida Consol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840292" y="6884920"/>
            <a:ext cx="2241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12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94503" y="3886200"/>
            <a:ext cx="3519170" cy="2834640"/>
          </a:xfrm>
          <a:custGeom>
            <a:avLst/>
            <a:gdLst/>
            <a:ahLst/>
            <a:cxnLst/>
            <a:rect l="l" t="t" r="r" b="b"/>
            <a:pathLst>
              <a:path w="3519170" h="2834640">
                <a:moveTo>
                  <a:pt x="13716" y="0"/>
                </a:moveTo>
                <a:lnTo>
                  <a:pt x="0" y="0"/>
                </a:lnTo>
                <a:lnTo>
                  <a:pt x="0" y="2834640"/>
                </a:lnTo>
                <a:lnTo>
                  <a:pt x="3518916" y="2834640"/>
                </a:lnTo>
                <a:lnTo>
                  <a:pt x="3518916" y="2828544"/>
                </a:lnTo>
                <a:lnTo>
                  <a:pt x="13716" y="2828544"/>
                </a:lnTo>
                <a:lnTo>
                  <a:pt x="6096" y="2822448"/>
                </a:lnTo>
                <a:lnTo>
                  <a:pt x="13716" y="2822448"/>
                </a:lnTo>
                <a:lnTo>
                  <a:pt x="13716" y="0"/>
                </a:lnTo>
                <a:close/>
              </a:path>
              <a:path w="3519170" h="2834640">
                <a:moveTo>
                  <a:pt x="13716" y="2822448"/>
                </a:moveTo>
                <a:lnTo>
                  <a:pt x="6096" y="2822448"/>
                </a:lnTo>
                <a:lnTo>
                  <a:pt x="13716" y="2828544"/>
                </a:lnTo>
                <a:lnTo>
                  <a:pt x="13716" y="2822448"/>
                </a:lnTo>
                <a:close/>
              </a:path>
              <a:path w="3519170" h="2834640">
                <a:moveTo>
                  <a:pt x="3505200" y="2822448"/>
                </a:moveTo>
                <a:lnTo>
                  <a:pt x="13716" y="2822448"/>
                </a:lnTo>
                <a:lnTo>
                  <a:pt x="13716" y="2828544"/>
                </a:lnTo>
                <a:lnTo>
                  <a:pt x="3505200" y="2828544"/>
                </a:lnTo>
                <a:lnTo>
                  <a:pt x="3505200" y="2822448"/>
                </a:lnTo>
                <a:close/>
              </a:path>
              <a:path w="3519170" h="2834640">
                <a:moveTo>
                  <a:pt x="3518916" y="0"/>
                </a:moveTo>
                <a:lnTo>
                  <a:pt x="3505200" y="0"/>
                </a:lnTo>
                <a:lnTo>
                  <a:pt x="3505200" y="2828544"/>
                </a:lnTo>
                <a:lnTo>
                  <a:pt x="3511295" y="2822448"/>
                </a:lnTo>
                <a:lnTo>
                  <a:pt x="3518916" y="2822448"/>
                </a:lnTo>
                <a:lnTo>
                  <a:pt x="3518916" y="0"/>
                </a:lnTo>
                <a:close/>
              </a:path>
              <a:path w="3519170" h="2834640">
                <a:moveTo>
                  <a:pt x="3518916" y="2822448"/>
                </a:moveTo>
                <a:lnTo>
                  <a:pt x="3511295" y="2822448"/>
                </a:lnTo>
                <a:lnTo>
                  <a:pt x="3505199" y="2828544"/>
                </a:lnTo>
                <a:lnTo>
                  <a:pt x="3518916" y="2828544"/>
                </a:lnTo>
                <a:lnTo>
                  <a:pt x="3518916" y="2822448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879271" y="3962670"/>
            <a:ext cx="3137535" cy="265938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484"/>
              </a:spcBef>
              <a:tabLst>
                <a:tab pos="989330" algn="l"/>
              </a:tabLst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year;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};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>
              <a:latin typeface="Courier New"/>
              <a:cs typeface="Courier New"/>
            </a:endParaRPr>
          </a:p>
          <a:p>
            <a:pPr marL="927100" marR="5080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struct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ADate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date;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date.month</a:t>
            </a:r>
            <a:r>
              <a:rPr sz="1600" b="1" spc="-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1;</a:t>
            </a:r>
            <a:endParaRPr sz="16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date.day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18;</a:t>
            </a:r>
            <a:endParaRPr sz="16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date.year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2018;</a:t>
            </a:r>
            <a:endParaRPr sz="16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return</a:t>
            </a:r>
            <a:r>
              <a:rPr sz="1600" b="1" spc="-7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0;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7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25347" rIns="0" bIns="0" rtlCol="0">
            <a:spAutoFit/>
          </a:bodyPr>
          <a:lstStyle/>
          <a:p>
            <a:pPr marL="241300">
              <a:lnSpc>
                <a:spcPts val="2875"/>
              </a:lnSpc>
              <a:spcBef>
                <a:spcPts val="100"/>
              </a:spcBef>
            </a:pPr>
            <a:r>
              <a:rPr spc="-10" dirty="0"/>
              <a:t>Structure</a:t>
            </a:r>
          </a:p>
          <a:p>
            <a:pPr marL="698500" marR="3592829">
              <a:lnSpc>
                <a:spcPts val="2400"/>
              </a:lnSpc>
              <a:spcBef>
                <a:spcPts val="75"/>
              </a:spcBef>
            </a:pPr>
            <a:r>
              <a:rPr sz="2000" dirty="0"/>
              <a:t>Definition</a:t>
            </a:r>
            <a:r>
              <a:rPr sz="2000" spc="-90" dirty="0"/>
              <a:t> </a:t>
            </a:r>
            <a:r>
              <a:rPr sz="2000" dirty="0"/>
              <a:t>of</a:t>
            </a:r>
            <a:r>
              <a:rPr sz="2000" spc="-60" dirty="0"/>
              <a:t> </a:t>
            </a:r>
            <a:r>
              <a:rPr sz="2000" spc="-10" dirty="0"/>
              <a:t>structures </a:t>
            </a:r>
            <a:r>
              <a:rPr sz="2000" dirty="0"/>
              <a:t>Creating</a:t>
            </a:r>
            <a:r>
              <a:rPr sz="2000" spc="-55" dirty="0"/>
              <a:t> </a:t>
            </a:r>
            <a:r>
              <a:rPr sz="2000" dirty="0"/>
              <a:t>structures</a:t>
            </a:r>
            <a:r>
              <a:rPr sz="2000" spc="-20" dirty="0"/>
              <a:t> </a:t>
            </a:r>
            <a:r>
              <a:rPr sz="2000" dirty="0"/>
              <a:t>in</a:t>
            </a:r>
            <a:r>
              <a:rPr sz="2000" spc="-30" dirty="0"/>
              <a:t> </a:t>
            </a:r>
            <a:r>
              <a:rPr sz="2000" spc="-50" dirty="0"/>
              <a:t>C</a:t>
            </a:r>
            <a:endParaRPr sz="2000"/>
          </a:p>
          <a:p>
            <a:pPr marL="196850" marR="470534" algn="ctr">
              <a:lnSpc>
                <a:spcPts val="2300"/>
              </a:lnSpc>
            </a:pPr>
            <a:r>
              <a:rPr sz="2000" dirty="0">
                <a:latin typeface="Arial"/>
                <a:cs typeface="Arial"/>
              </a:rPr>
              <a:t>dot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printf,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scanf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structure</a:t>
            </a:r>
            <a:endParaRPr sz="200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  <a:spcBef>
                <a:spcPts val="20"/>
              </a:spcBef>
            </a:pPr>
            <a:r>
              <a:rPr sz="2000" dirty="0"/>
              <a:t>typedef</a:t>
            </a:r>
            <a:r>
              <a:rPr sz="2000" spc="-40" dirty="0"/>
              <a:t> </a:t>
            </a:r>
            <a:r>
              <a:rPr sz="2000" dirty="0"/>
              <a:t>vs</a:t>
            </a:r>
            <a:r>
              <a:rPr sz="2000" spc="-20" dirty="0"/>
              <a:t> </a:t>
            </a:r>
            <a:r>
              <a:rPr sz="2000" spc="-10" dirty="0"/>
              <a:t>struct</a:t>
            </a:r>
            <a:endParaRPr sz="2000"/>
          </a:p>
          <a:p>
            <a:pPr marL="698500" marR="8763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0000"/>
                </a:solidFill>
              </a:rPr>
              <a:t>Problem</a:t>
            </a:r>
            <a:r>
              <a:rPr sz="2000" spc="-5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solving</a:t>
            </a:r>
            <a:r>
              <a:rPr sz="2000" spc="-2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with</a:t>
            </a:r>
            <a:r>
              <a:rPr sz="2000" spc="-1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structure</a:t>
            </a:r>
            <a:r>
              <a:rPr sz="2000" spc="-3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(similar</a:t>
            </a:r>
            <a:r>
              <a:rPr sz="2000" spc="-15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type) </a:t>
            </a:r>
            <a:r>
              <a:rPr sz="2000" dirty="0"/>
              <a:t>Problem</a:t>
            </a:r>
            <a:r>
              <a:rPr sz="2000" spc="-80" dirty="0"/>
              <a:t> </a:t>
            </a:r>
            <a:r>
              <a:rPr sz="2000" dirty="0"/>
              <a:t>solving</a:t>
            </a:r>
            <a:r>
              <a:rPr sz="2000" spc="-45" dirty="0"/>
              <a:t> </a:t>
            </a:r>
            <a:r>
              <a:rPr sz="2000" dirty="0"/>
              <a:t>with</a:t>
            </a:r>
            <a:r>
              <a:rPr sz="2000" spc="-45" dirty="0"/>
              <a:t> </a:t>
            </a:r>
            <a:r>
              <a:rPr sz="2000" dirty="0"/>
              <a:t>structure</a:t>
            </a:r>
            <a:r>
              <a:rPr sz="2000" spc="-60" dirty="0"/>
              <a:t> </a:t>
            </a:r>
            <a:r>
              <a:rPr sz="2000" dirty="0"/>
              <a:t>(dissimilar</a:t>
            </a:r>
            <a:r>
              <a:rPr sz="2000" spc="-45" dirty="0"/>
              <a:t> </a:t>
            </a:r>
            <a:r>
              <a:rPr sz="2000" spc="-10" dirty="0"/>
              <a:t>type) </a:t>
            </a:r>
            <a:r>
              <a:rPr sz="2000" dirty="0"/>
              <a:t>Passing</a:t>
            </a:r>
            <a:r>
              <a:rPr sz="2000" spc="-55" dirty="0"/>
              <a:t> </a:t>
            </a:r>
            <a:r>
              <a:rPr sz="2000" dirty="0"/>
              <a:t>structure</a:t>
            </a:r>
            <a:r>
              <a:rPr sz="2000" spc="-35" dirty="0"/>
              <a:t> </a:t>
            </a:r>
            <a:r>
              <a:rPr sz="2000" dirty="0"/>
              <a:t>as</a:t>
            </a:r>
            <a:r>
              <a:rPr sz="2000" spc="-30" dirty="0"/>
              <a:t> </a:t>
            </a:r>
            <a:r>
              <a:rPr sz="2000" dirty="0"/>
              <a:t>function</a:t>
            </a:r>
            <a:r>
              <a:rPr sz="2000" spc="-45" dirty="0"/>
              <a:t> </a:t>
            </a:r>
            <a:r>
              <a:rPr sz="2000" spc="-10" dirty="0"/>
              <a:t>parameter</a:t>
            </a:r>
            <a:endParaRPr sz="2000"/>
          </a:p>
          <a:p>
            <a:pPr marL="698500">
              <a:lnSpc>
                <a:spcPts val="2400"/>
              </a:lnSpc>
            </a:pPr>
            <a:r>
              <a:rPr sz="2000" dirty="0"/>
              <a:t>Arrays</a:t>
            </a:r>
            <a:r>
              <a:rPr sz="2000" spc="-60" dirty="0"/>
              <a:t> </a:t>
            </a:r>
            <a:r>
              <a:rPr sz="2000" dirty="0"/>
              <a:t>of</a:t>
            </a:r>
            <a:r>
              <a:rPr sz="2000" spc="-30" dirty="0"/>
              <a:t> </a:t>
            </a:r>
            <a:r>
              <a:rPr sz="2000" spc="-10" dirty="0"/>
              <a:t>structure</a:t>
            </a:r>
            <a:endParaRPr sz="2000"/>
          </a:p>
          <a:p>
            <a:pPr marL="698500" marR="5080">
              <a:lnSpc>
                <a:spcPct val="100000"/>
              </a:lnSpc>
            </a:pPr>
            <a:r>
              <a:rPr sz="2000" dirty="0"/>
              <a:t>Passing</a:t>
            </a:r>
            <a:r>
              <a:rPr sz="2000" spc="-50" dirty="0"/>
              <a:t> </a:t>
            </a:r>
            <a:r>
              <a:rPr sz="2000" dirty="0"/>
              <a:t>array</a:t>
            </a:r>
            <a:r>
              <a:rPr sz="2000" spc="-30" dirty="0"/>
              <a:t> </a:t>
            </a:r>
            <a:r>
              <a:rPr sz="2000" dirty="0"/>
              <a:t>of</a:t>
            </a:r>
            <a:r>
              <a:rPr sz="2000" spc="-15" dirty="0"/>
              <a:t> </a:t>
            </a:r>
            <a:r>
              <a:rPr sz="2000" dirty="0"/>
              <a:t>structure</a:t>
            </a:r>
            <a:r>
              <a:rPr sz="2000" spc="-20" dirty="0"/>
              <a:t> </a:t>
            </a:r>
            <a:r>
              <a:rPr sz="2000" dirty="0"/>
              <a:t>as</a:t>
            </a:r>
            <a:r>
              <a:rPr sz="2000" spc="-25" dirty="0"/>
              <a:t> </a:t>
            </a:r>
            <a:r>
              <a:rPr sz="2000" dirty="0"/>
              <a:t>function</a:t>
            </a:r>
            <a:r>
              <a:rPr sz="2000" spc="-35" dirty="0"/>
              <a:t> </a:t>
            </a:r>
            <a:r>
              <a:rPr sz="2000" spc="-10" dirty="0"/>
              <a:t>parameter </a:t>
            </a:r>
            <a:r>
              <a:rPr sz="2000" dirty="0"/>
              <a:t>Determining</a:t>
            </a:r>
            <a:r>
              <a:rPr sz="2000" spc="-60" dirty="0"/>
              <a:t> </a:t>
            </a:r>
            <a:r>
              <a:rPr sz="2000" dirty="0"/>
              <a:t>size</a:t>
            </a:r>
            <a:r>
              <a:rPr sz="2000" spc="-35" dirty="0"/>
              <a:t> </a:t>
            </a:r>
            <a:r>
              <a:rPr sz="2000" dirty="0"/>
              <a:t>of</a:t>
            </a:r>
            <a:r>
              <a:rPr sz="2000" spc="-35" dirty="0"/>
              <a:t> </a:t>
            </a:r>
            <a:r>
              <a:rPr sz="2000" spc="-10" dirty="0"/>
              <a:t>structure</a:t>
            </a:r>
            <a:endParaRPr sz="2000"/>
          </a:p>
        </p:txBody>
      </p:sp>
      <p:sp>
        <p:nvSpPr>
          <p:cNvPr id="5" name="object 5"/>
          <p:cNvSpPr/>
          <p:nvPr/>
        </p:nvSpPr>
        <p:spPr>
          <a:xfrm>
            <a:off x="914400" y="4107322"/>
            <a:ext cx="535305" cy="171450"/>
          </a:xfrm>
          <a:custGeom>
            <a:avLst/>
            <a:gdLst/>
            <a:ahLst/>
            <a:cxnLst/>
            <a:rect l="l" t="t" r="r" b="b"/>
            <a:pathLst>
              <a:path w="535305" h="171450">
                <a:moveTo>
                  <a:pt x="425400" y="104794"/>
                </a:moveTo>
                <a:lnTo>
                  <a:pt x="371856" y="135493"/>
                </a:lnTo>
                <a:lnTo>
                  <a:pt x="366188" y="140827"/>
                </a:lnTo>
                <a:lnTo>
                  <a:pt x="363092" y="147304"/>
                </a:lnTo>
                <a:lnTo>
                  <a:pt x="362854" y="154352"/>
                </a:lnTo>
                <a:lnTo>
                  <a:pt x="365759" y="161401"/>
                </a:lnTo>
                <a:lnTo>
                  <a:pt x="370451" y="167092"/>
                </a:lnTo>
                <a:lnTo>
                  <a:pt x="376999" y="170354"/>
                </a:lnTo>
                <a:lnTo>
                  <a:pt x="384405" y="171045"/>
                </a:lnTo>
                <a:lnTo>
                  <a:pt x="391668" y="169021"/>
                </a:lnTo>
                <a:lnTo>
                  <a:pt x="503089" y="105013"/>
                </a:lnTo>
                <a:lnTo>
                  <a:pt x="496824" y="105013"/>
                </a:lnTo>
                <a:lnTo>
                  <a:pt x="425400" y="104794"/>
                </a:lnTo>
                <a:close/>
              </a:path>
              <a:path w="535305" h="171450">
                <a:moveTo>
                  <a:pt x="458753" y="85671"/>
                </a:moveTo>
                <a:lnTo>
                  <a:pt x="425400" y="104794"/>
                </a:lnTo>
                <a:lnTo>
                  <a:pt x="496824" y="105013"/>
                </a:lnTo>
                <a:lnTo>
                  <a:pt x="496824" y="101965"/>
                </a:lnTo>
                <a:lnTo>
                  <a:pt x="486156" y="101965"/>
                </a:lnTo>
                <a:lnTo>
                  <a:pt x="458753" y="85671"/>
                </a:lnTo>
                <a:close/>
              </a:path>
              <a:path w="535305" h="171450">
                <a:moveTo>
                  <a:pt x="384619" y="0"/>
                </a:moveTo>
                <a:lnTo>
                  <a:pt x="377571" y="238"/>
                </a:lnTo>
                <a:lnTo>
                  <a:pt x="371094" y="3333"/>
                </a:lnTo>
                <a:lnTo>
                  <a:pt x="365759" y="9001"/>
                </a:lnTo>
                <a:lnTo>
                  <a:pt x="363735" y="16263"/>
                </a:lnTo>
                <a:lnTo>
                  <a:pt x="364426" y="23669"/>
                </a:lnTo>
                <a:lnTo>
                  <a:pt x="367688" y="30218"/>
                </a:lnTo>
                <a:lnTo>
                  <a:pt x="373380" y="34909"/>
                </a:lnTo>
                <a:lnTo>
                  <a:pt x="426842" y="66697"/>
                </a:lnTo>
                <a:lnTo>
                  <a:pt x="496824" y="66913"/>
                </a:lnTo>
                <a:lnTo>
                  <a:pt x="496824" y="105013"/>
                </a:lnTo>
                <a:lnTo>
                  <a:pt x="503089" y="105013"/>
                </a:lnTo>
                <a:lnTo>
                  <a:pt x="534924" y="86725"/>
                </a:lnTo>
                <a:lnTo>
                  <a:pt x="391668" y="2905"/>
                </a:lnTo>
                <a:lnTo>
                  <a:pt x="384619" y="0"/>
                </a:lnTo>
                <a:close/>
              </a:path>
              <a:path w="535305" h="171450">
                <a:moveTo>
                  <a:pt x="1524" y="65389"/>
                </a:moveTo>
                <a:lnTo>
                  <a:pt x="60" y="101965"/>
                </a:lnTo>
                <a:lnTo>
                  <a:pt x="0" y="103489"/>
                </a:lnTo>
                <a:lnTo>
                  <a:pt x="425400" y="104794"/>
                </a:lnTo>
                <a:lnTo>
                  <a:pt x="458753" y="85671"/>
                </a:lnTo>
                <a:lnTo>
                  <a:pt x="426842" y="66697"/>
                </a:lnTo>
                <a:lnTo>
                  <a:pt x="1524" y="65389"/>
                </a:lnTo>
                <a:close/>
              </a:path>
              <a:path w="535305" h="171450">
                <a:moveTo>
                  <a:pt x="486156" y="69961"/>
                </a:moveTo>
                <a:lnTo>
                  <a:pt x="458753" y="85671"/>
                </a:lnTo>
                <a:lnTo>
                  <a:pt x="486156" y="101965"/>
                </a:lnTo>
                <a:lnTo>
                  <a:pt x="486156" y="69961"/>
                </a:lnTo>
                <a:close/>
              </a:path>
              <a:path w="535305" h="171450">
                <a:moveTo>
                  <a:pt x="496824" y="69961"/>
                </a:moveTo>
                <a:lnTo>
                  <a:pt x="486156" y="69961"/>
                </a:lnTo>
                <a:lnTo>
                  <a:pt x="486156" y="101965"/>
                </a:lnTo>
                <a:lnTo>
                  <a:pt x="496824" y="101965"/>
                </a:lnTo>
                <a:lnTo>
                  <a:pt x="496824" y="69961"/>
                </a:lnTo>
                <a:close/>
              </a:path>
              <a:path w="535305" h="171450">
                <a:moveTo>
                  <a:pt x="426842" y="66697"/>
                </a:moveTo>
                <a:lnTo>
                  <a:pt x="458753" y="85671"/>
                </a:lnTo>
                <a:lnTo>
                  <a:pt x="486156" y="69961"/>
                </a:lnTo>
                <a:lnTo>
                  <a:pt x="496824" y="69961"/>
                </a:lnTo>
                <a:lnTo>
                  <a:pt x="496824" y="66913"/>
                </a:lnTo>
                <a:lnTo>
                  <a:pt x="426842" y="6669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7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840292" y="6884920"/>
            <a:ext cx="2241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14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139" y="2927096"/>
            <a:ext cx="807212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960" marR="5080" indent="-17526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Write</a:t>
            </a:r>
            <a:r>
              <a:rPr sz="2400" b="1" spc="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down</a:t>
            </a:r>
            <a:r>
              <a:rPr sz="2400" b="1" spc="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400" b="1" spc="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program</a:t>
            </a:r>
            <a:r>
              <a:rPr sz="2400" b="1" spc="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that</a:t>
            </a:r>
            <a:r>
              <a:rPr sz="2400" b="1" spc="1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defines</a:t>
            </a:r>
            <a:r>
              <a:rPr sz="2400" b="1" spc="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400" b="1" spc="1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structure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to</a:t>
            </a:r>
            <a:r>
              <a:rPr sz="2400" b="1" spc="30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store</a:t>
            </a:r>
            <a:r>
              <a:rPr sz="2400" b="1" spc="3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x</a:t>
            </a:r>
            <a:r>
              <a:rPr sz="2400" b="1" spc="31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and</a:t>
            </a:r>
            <a:r>
              <a:rPr sz="2400" b="1" spc="3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y</a:t>
            </a:r>
            <a:r>
              <a:rPr sz="2400" b="1" spc="3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coordinates</a:t>
            </a:r>
            <a:r>
              <a:rPr sz="2400" b="1" spc="3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of</a:t>
            </a:r>
            <a:r>
              <a:rPr sz="2400" b="1" spc="31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400" b="1" spc="3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point</a:t>
            </a:r>
            <a:r>
              <a:rPr sz="2400" b="1" spc="30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in</a:t>
            </a:r>
            <a:r>
              <a:rPr sz="2400" b="1" spc="3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2-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dimensional</a:t>
            </a:r>
            <a:r>
              <a:rPr sz="2400" b="1" spc="520" dirty="0">
                <a:solidFill>
                  <a:srgbClr val="006600"/>
                </a:solidFill>
                <a:latin typeface="Verdana"/>
                <a:cs typeface="Verdana"/>
              </a:rPr>
              <a:t> 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space.</a:t>
            </a:r>
            <a:r>
              <a:rPr sz="2400" b="1" spc="525" dirty="0">
                <a:solidFill>
                  <a:srgbClr val="006600"/>
                </a:solidFill>
                <a:latin typeface="Verdana"/>
                <a:cs typeface="Verdana"/>
              </a:rPr>
              <a:t> 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Then</a:t>
            </a:r>
            <a:r>
              <a:rPr sz="2400" b="1" spc="520" dirty="0">
                <a:solidFill>
                  <a:srgbClr val="006600"/>
                </a:solidFill>
                <a:latin typeface="Verdana"/>
                <a:cs typeface="Verdana"/>
              </a:rPr>
              <a:t> 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take</a:t>
            </a:r>
            <a:r>
              <a:rPr sz="2400" b="1" spc="530" dirty="0">
                <a:solidFill>
                  <a:srgbClr val="006600"/>
                </a:solidFill>
                <a:latin typeface="Verdana"/>
                <a:cs typeface="Verdana"/>
              </a:rPr>
              <a:t> 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x,</a:t>
            </a:r>
            <a:r>
              <a:rPr sz="2400" b="1" spc="525" dirty="0">
                <a:solidFill>
                  <a:srgbClr val="006600"/>
                </a:solidFill>
                <a:latin typeface="Verdana"/>
                <a:cs typeface="Verdana"/>
              </a:rPr>
              <a:t>   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y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coordinates</a:t>
            </a:r>
            <a:r>
              <a:rPr sz="2400" b="1" spc="229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of</a:t>
            </a:r>
            <a:r>
              <a:rPr sz="2400" b="1" spc="2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TWO</a:t>
            </a:r>
            <a:r>
              <a:rPr sz="2400" b="1" spc="2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points</a:t>
            </a:r>
            <a:r>
              <a:rPr sz="2400" b="1" spc="229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as</a:t>
            </a:r>
            <a:r>
              <a:rPr sz="2400" b="1" spc="2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user</a:t>
            </a:r>
            <a:r>
              <a:rPr sz="2400" b="1" spc="229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input</a:t>
            </a:r>
            <a:r>
              <a:rPr sz="2400" b="1" spc="2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and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find</a:t>
            </a:r>
            <a:r>
              <a:rPr sz="2400" b="1" spc="-10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Euclidian</a:t>
            </a:r>
            <a:r>
              <a:rPr sz="2400" b="1" spc="-8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distance</a:t>
            </a:r>
            <a:r>
              <a:rPr sz="2400" b="1" spc="-10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between</a:t>
            </a:r>
            <a:r>
              <a:rPr sz="2400" b="1" spc="-9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them.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8200" y="1828800"/>
            <a:ext cx="8063865" cy="4343400"/>
            <a:chOff x="838200" y="1828800"/>
            <a:chExt cx="8063865" cy="4343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2438400"/>
              <a:ext cx="7315200" cy="14478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648200" y="1828800"/>
              <a:ext cx="4191000" cy="2057400"/>
            </a:xfrm>
            <a:custGeom>
              <a:avLst/>
              <a:gdLst/>
              <a:ahLst/>
              <a:cxnLst/>
              <a:rect l="l" t="t" r="r" b="b"/>
              <a:pathLst>
                <a:path w="4191000" h="2057400">
                  <a:moveTo>
                    <a:pt x="4191000" y="0"/>
                  </a:moveTo>
                  <a:lnTo>
                    <a:pt x="0" y="0"/>
                  </a:lnTo>
                  <a:lnTo>
                    <a:pt x="0" y="2057400"/>
                  </a:lnTo>
                  <a:lnTo>
                    <a:pt x="4191000" y="2057400"/>
                  </a:lnTo>
                  <a:lnTo>
                    <a:pt x="4191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7240" y="2819400"/>
              <a:ext cx="4314444" cy="1066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200" y="3886200"/>
              <a:ext cx="7772400" cy="204952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648200" y="3886200"/>
              <a:ext cx="4191000" cy="2286000"/>
            </a:xfrm>
            <a:custGeom>
              <a:avLst/>
              <a:gdLst/>
              <a:ahLst/>
              <a:cxnLst/>
              <a:rect l="l" t="t" r="r" b="b"/>
              <a:pathLst>
                <a:path w="4191000" h="2286000">
                  <a:moveTo>
                    <a:pt x="4191000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4191000" y="2286000"/>
                  </a:lnTo>
                  <a:lnTo>
                    <a:pt x="4191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87240" y="3886200"/>
              <a:ext cx="4314444" cy="1801368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7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dirty="0"/>
              <a:t>Euclidian</a:t>
            </a:r>
            <a:r>
              <a:rPr spc="-85" dirty="0"/>
              <a:t> </a:t>
            </a:r>
            <a:r>
              <a:rPr spc="-10" dirty="0"/>
              <a:t>distance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840292" y="6884920"/>
            <a:ext cx="2241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15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2438400"/>
            <a:ext cx="7315200" cy="1447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7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dirty="0"/>
              <a:t>Euclidian</a:t>
            </a:r>
            <a:r>
              <a:rPr spc="-85" dirty="0"/>
              <a:t> </a:t>
            </a:r>
            <a:r>
              <a:rPr spc="-10" dirty="0"/>
              <a:t>distance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03416" y="3622040"/>
            <a:ext cx="434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d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840292" y="6884920"/>
            <a:ext cx="2241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16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62000" y="3886200"/>
            <a:ext cx="8496300" cy="2677795"/>
            <a:chOff x="762000" y="3886200"/>
            <a:chExt cx="8496300" cy="267779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0" y="3886200"/>
              <a:ext cx="8496300" cy="218236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57600" y="6096000"/>
              <a:ext cx="2182368" cy="46786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784263" y="4812360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dx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52892" y="3745484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dy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50539" y="6194475"/>
            <a:ext cx="434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d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46703" y="2965704"/>
            <a:ext cx="2528570" cy="920750"/>
            <a:chOff x="3346703" y="2965704"/>
            <a:chExt cx="2528570" cy="920750"/>
          </a:xfrm>
        </p:grpSpPr>
        <p:sp>
          <p:nvSpPr>
            <p:cNvPr id="3" name="object 3"/>
            <p:cNvSpPr/>
            <p:nvPr/>
          </p:nvSpPr>
          <p:spPr>
            <a:xfrm>
              <a:off x="3352799" y="2971800"/>
              <a:ext cx="2514600" cy="914400"/>
            </a:xfrm>
            <a:custGeom>
              <a:avLst/>
              <a:gdLst/>
              <a:ahLst/>
              <a:cxnLst/>
              <a:rect l="l" t="t" r="r" b="b"/>
              <a:pathLst>
                <a:path w="2514600" h="914400">
                  <a:moveTo>
                    <a:pt x="2223516" y="0"/>
                  </a:moveTo>
                  <a:lnTo>
                    <a:pt x="292608" y="0"/>
                  </a:lnTo>
                  <a:lnTo>
                    <a:pt x="245159" y="3831"/>
                  </a:lnTo>
                  <a:lnTo>
                    <a:pt x="200143" y="14923"/>
                  </a:lnTo>
                  <a:lnTo>
                    <a:pt x="158163" y="32671"/>
                  </a:lnTo>
                  <a:lnTo>
                    <a:pt x="119822" y="56473"/>
                  </a:lnTo>
                  <a:lnTo>
                    <a:pt x="85725" y="85725"/>
                  </a:lnTo>
                  <a:lnTo>
                    <a:pt x="56473" y="119822"/>
                  </a:lnTo>
                  <a:lnTo>
                    <a:pt x="32671" y="158163"/>
                  </a:lnTo>
                  <a:lnTo>
                    <a:pt x="14923" y="200143"/>
                  </a:lnTo>
                  <a:lnTo>
                    <a:pt x="3831" y="245159"/>
                  </a:lnTo>
                  <a:lnTo>
                    <a:pt x="0" y="292608"/>
                  </a:lnTo>
                  <a:lnTo>
                    <a:pt x="0" y="914400"/>
                  </a:lnTo>
                  <a:lnTo>
                    <a:pt x="2514600" y="914400"/>
                  </a:lnTo>
                  <a:lnTo>
                    <a:pt x="2514600" y="292608"/>
                  </a:lnTo>
                  <a:lnTo>
                    <a:pt x="2510811" y="245159"/>
                  </a:lnTo>
                  <a:lnTo>
                    <a:pt x="2499835" y="200143"/>
                  </a:lnTo>
                  <a:lnTo>
                    <a:pt x="2482257" y="158163"/>
                  </a:lnTo>
                  <a:lnTo>
                    <a:pt x="2458663" y="119822"/>
                  </a:lnTo>
                  <a:lnTo>
                    <a:pt x="2429637" y="85725"/>
                  </a:lnTo>
                  <a:lnTo>
                    <a:pt x="2395764" y="56473"/>
                  </a:lnTo>
                  <a:lnTo>
                    <a:pt x="2357631" y="32671"/>
                  </a:lnTo>
                  <a:lnTo>
                    <a:pt x="2315821" y="14923"/>
                  </a:lnTo>
                  <a:lnTo>
                    <a:pt x="2270921" y="3831"/>
                  </a:lnTo>
                  <a:lnTo>
                    <a:pt x="2223516" y="0"/>
                  </a:lnTo>
                  <a:close/>
                </a:path>
              </a:pathLst>
            </a:custGeom>
            <a:solidFill>
              <a:srgbClr val="AD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46703" y="2965704"/>
              <a:ext cx="2528570" cy="920750"/>
            </a:xfrm>
            <a:custGeom>
              <a:avLst/>
              <a:gdLst/>
              <a:ahLst/>
              <a:cxnLst/>
              <a:rect l="l" t="t" r="r" b="b"/>
              <a:pathLst>
                <a:path w="2528570" h="920750">
                  <a:moveTo>
                    <a:pt x="2260092" y="1524"/>
                  </a:moveTo>
                  <a:lnTo>
                    <a:pt x="268224" y="1524"/>
                  </a:lnTo>
                  <a:lnTo>
                    <a:pt x="252984" y="4572"/>
                  </a:lnTo>
                  <a:lnTo>
                    <a:pt x="239268" y="6096"/>
                  </a:lnTo>
                  <a:lnTo>
                    <a:pt x="224028" y="10668"/>
                  </a:lnTo>
                  <a:lnTo>
                    <a:pt x="210312" y="13716"/>
                  </a:lnTo>
                  <a:lnTo>
                    <a:pt x="196596" y="18287"/>
                  </a:lnTo>
                  <a:lnTo>
                    <a:pt x="169163" y="30480"/>
                  </a:lnTo>
                  <a:lnTo>
                    <a:pt x="156972" y="36575"/>
                  </a:lnTo>
                  <a:lnTo>
                    <a:pt x="144780" y="44196"/>
                  </a:lnTo>
                  <a:lnTo>
                    <a:pt x="131063" y="51816"/>
                  </a:lnTo>
                  <a:lnTo>
                    <a:pt x="88392" y="88392"/>
                  </a:lnTo>
                  <a:lnTo>
                    <a:pt x="51816" y="132587"/>
                  </a:lnTo>
                  <a:lnTo>
                    <a:pt x="30480" y="169163"/>
                  </a:lnTo>
                  <a:lnTo>
                    <a:pt x="9144" y="224028"/>
                  </a:lnTo>
                  <a:lnTo>
                    <a:pt x="4572" y="252984"/>
                  </a:lnTo>
                  <a:lnTo>
                    <a:pt x="1524" y="268224"/>
                  </a:lnTo>
                  <a:lnTo>
                    <a:pt x="1524" y="283463"/>
                  </a:lnTo>
                  <a:lnTo>
                    <a:pt x="0" y="298704"/>
                  </a:lnTo>
                  <a:lnTo>
                    <a:pt x="0" y="920496"/>
                  </a:lnTo>
                  <a:lnTo>
                    <a:pt x="13716" y="920496"/>
                  </a:lnTo>
                  <a:lnTo>
                    <a:pt x="13716" y="283463"/>
                  </a:lnTo>
                  <a:lnTo>
                    <a:pt x="15240" y="269748"/>
                  </a:lnTo>
                  <a:lnTo>
                    <a:pt x="16763" y="254508"/>
                  </a:lnTo>
                  <a:lnTo>
                    <a:pt x="18287" y="240792"/>
                  </a:lnTo>
                  <a:lnTo>
                    <a:pt x="22860" y="227075"/>
                  </a:lnTo>
                  <a:lnTo>
                    <a:pt x="25908" y="213360"/>
                  </a:lnTo>
                  <a:lnTo>
                    <a:pt x="30480" y="201168"/>
                  </a:lnTo>
                  <a:lnTo>
                    <a:pt x="35051" y="187451"/>
                  </a:lnTo>
                  <a:lnTo>
                    <a:pt x="47244" y="163068"/>
                  </a:lnTo>
                  <a:lnTo>
                    <a:pt x="79248" y="117348"/>
                  </a:lnTo>
                  <a:lnTo>
                    <a:pt x="117348" y="77724"/>
                  </a:lnTo>
                  <a:lnTo>
                    <a:pt x="163068" y="47244"/>
                  </a:lnTo>
                  <a:lnTo>
                    <a:pt x="201168" y="30480"/>
                  </a:lnTo>
                  <a:lnTo>
                    <a:pt x="213360" y="25908"/>
                  </a:lnTo>
                  <a:lnTo>
                    <a:pt x="227075" y="22860"/>
                  </a:lnTo>
                  <a:lnTo>
                    <a:pt x="240792" y="18287"/>
                  </a:lnTo>
                  <a:lnTo>
                    <a:pt x="256032" y="16763"/>
                  </a:lnTo>
                  <a:lnTo>
                    <a:pt x="269748" y="15240"/>
                  </a:lnTo>
                  <a:lnTo>
                    <a:pt x="284988" y="13716"/>
                  </a:lnTo>
                  <a:lnTo>
                    <a:pt x="2318004" y="13716"/>
                  </a:lnTo>
                  <a:lnTo>
                    <a:pt x="2304288" y="9144"/>
                  </a:lnTo>
                  <a:lnTo>
                    <a:pt x="2289048" y="6096"/>
                  </a:lnTo>
                  <a:lnTo>
                    <a:pt x="2275332" y="4572"/>
                  </a:lnTo>
                  <a:lnTo>
                    <a:pt x="2260092" y="1524"/>
                  </a:lnTo>
                  <a:close/>
                </a:path>
                <a:path w="2528570" h="920750">
                  <a:moveTo>
                    <a:pt x="2318004" y="13716"/>
                  </a:moveTo>
                  <a:lnTo>
                    <a:pt x="2244852" y="13716"/>
                  </a:lnTo>
                  <a:lnTo>
                    <a:pt x="2258568" y="15240"/>
                  </a:lnTo>
                  <a:lnTo>
                    <a:pt x="2273808" y="16763"/>
                  </a:lnTo>
                  <a:lnTo>
                    <a:pt x="2287524" y="18287"/>
                  </a:lnTo>
                  <a:lnTo>
                    <a:pt x="2301240" y="22860"/>
                  </a:lnTo>
                  <a:lnTo>
                    <a:pt x="2314956" y="25908"/>
                  </a:lnTo>
                  <a:lnTo>
                    <a:pt x="2327148" y="30480"/>
                  </a:lnTo>
                  <a:lnTo>
                    <a:pt x="2365248" y="47244"/>
                  </a:lnTo>
                  <a:lnTo>
                    <a:pt x="2410968" y="79248"/>
                  </a:lnTo>
                  <a:lnTo>
                    <a:pt x="2450592" y="117348"/>
                  </a:lnTo>
                  <a:lnTo>
                    <a:pt x="2481072" y="163068"/>
                  </a:lnTo>
                  <a:lnTo>
                    <a:pt x="2497836" y="201168"/>
                  </a:lnTo>
                  <a:lnTo>
                    <a:pt x="2502408" y="213360"/>
                  </a:lnTo>
                  <a:lnTo>
                    <a:pt x="2508504" y="240792"/>
                  </a:lnTo>
                  <a:lnTo>
                    <a:pt x="2511552" y="256032"/>
                  </a:lnTo>
                  <a:lnTo>
                    <a:pt x="2513076" y="269748"/>
                  </a:lnTo>
                  <a:lnTo>
                    <a:pt x="2514600" y="284988"/>
                  </a:lnTo>
                  <a:lnTo>
                    <a:pt x="2514600" y="920496"/>
                  </a:lnTo>
                  <a:lnTo>
                    <a:pt x="2528316" y="920496"/>
                  </a:lnTo>
                  <a:lnTo>
                    <a:pt x="2528316" y="298704"/>
                  </a:lnTo>
                  <a:lnTo>
                    <a:pt x="2526792" y="283463"/>
                  </a:lnTo>
                  <a:lnTo>
                    <a:pt x="2526792" y="268224"/>
                  </a:lnTo>
                  <a:lnTo>
                    <a:pt x="2523744" y="252984"/>
                  </a:lnTo>
                  <a:lnTo>
                    <a:pt x="2522220" y="239268"/>
                  </a:lnTo>
                  <a:lnTo>
                    <a:pt x="2517648" y="224028"/>
                  </a:lnTo>
                  <a:lnTo>
                    <a:pt x="2497836" y="169163"/>
                  </a:lnTo>
                  <a:lnTo>
                    <a:pt x="2484120" y="144780"/>
                  </a:lnTo>
                  <a:lnTo>
                    <a:pt x="2476500" y="131063"/>
                  </a:lnTo>
                  <a:lnTo>
                    <a:pt x="2439924" y="88392"/>
                  </a:lnTo>
                  <a:lnTo>
                    <a:pt x="2395728" y="51816"/>
                  </a:lnTo>
                  <a:lnTo>
                    <a:pt x="2359152" y="30480"/>
                  </a:lnTo>
                  <a:lnTo>
                    <a:pt x="2331720" y="18287"/>
                  </a:lnTo>
                  <a:lnTo>
                    <a:pt x="2318004" y="13716"/>
                  </a:lnTo>
                  <a:close/>
                </a:path>
                <a:path w="2528570" h="920750">
                  <a:moveTo>
                    <a:pt x="2229612" y="0"/>
                  </a:moveTo>
                  <a:lnTo>
                    <a:pt x="298704" y="0"/>
                  </a:lnTo>
                  <a:lnTo>
                    <a:pt x="283463" y="1524"/>
                  </a:lnTo>
                  <a:lnTo>
                    <a:pt x="2244852" y="1524"/>
                  </a:lnTo>
                  <a:lnTo>
                    <a:pt x="2229612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590606" y="3446227"/>
            <a:ext cx="2038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Times New Roman"/>
                <a:cs typeface="Times New Roman"/>
              </a:rPr>
              <a:t>Your</a:t>
            </a:r>
            <a:r>
              <a:rPr sz="2400" b="1" spc="15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2400" b="1" spc="55" dirty="0">
                <a:solidFill>
                  <a:srgbClr val="006600"/>
                </a:solidFill>
                <a:latin typeface="Times New Roman"/>
                <a:cs typeface="Times New Roman"/>
              </a:rPr>
              <a:t>Program</a:t>
            </a: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7200" y="3372611"/>
            <a:ext cx="9144000" cy="3942715"/>
            <a:chOff x="457200" y="3372611"/>
            <a:chExt cx="9144000" cy="3942715"/>
          </a:xfrm>
        </p:grpSpPr>
        <p:sp>
          <p:nvSpPr>
            <p:cNvPr id="7" name="object 7"/>
            <p:cNvSpPr/>
            <p:nvPr/>
          </p:nvSpPr>
          <p:spPr>
            <a:xfrm>
              <a:off x="1981200" y="3372611"/>
              <a:ext cx="5259705" cy="498475"/>
            </a:xfrm>
            <a:custGeom>
              <a:avLst/>
              <a:gdLst/>
              <a:ahLst/>
              <a:cxnLst/>
              <a:rect l="l" t="t" r="r" b="b"/>
              <a:pathLst>
                <a:path w="5259705" h="498475">
                  <a:moveTo>
                    <a:pt x="1373124" y="59436"/>
                  </a:moveTo>
                  <a:lnTo>
                    <a:pt x="1349768" y="45720"/>
                  </a:lnTo>
                  <a:lnTo>
                    <a:pt x="1277112" y="3048"/>
                  </a:lnTo>
                  <a:lnTo>
                    <a:pt x="1271003" y="0"/>
                  </a:lnTo>
                  <a:lnTo>
                    <a:pt x="1263396" y="1524"/>
                  </a:lnTo>
                  <a:lnTo>
                    <a:pt x="1260348" y="7620"/>
                  </a:lnTo>
                  <a:lnTo>
                    <a:pt x="1255776" y="13716"/>
                  </a:lnTo>
                  <a:lnTo>
                    <a:pt x="1258824" y="21336"/>
                  </a:lnTo>
                  <a:lnTo>
                    <a:pt x="1264920" y="24384"/>
                  </a:lnTo>
                  <a:lnTo>
                    <a:pt x="1300378" y="45669"/>
                  </a:lnTo>
                  <a:lnTo>
                    <a:pt x="0" y="44196"/>
                  </a:lnTo>
                  <a:lnTo>
                    <a:pt x="0" y="70104"/>
                  </a:lnTo>
                  <a:lnTo>
                    <a:pt x="1299159" y="71577"/>
                  </a:lnTo>
                  <a:lnTo>
                    <a:pt x="1347203" y="71628"/>
                  </a:lnTo>
                  <a:lnTo>
                    <a:pt x="1299070" y="71628"/>
                  </a:lnTo>
                  <a:lnTo>
                    <a:pt x="1264920" y="91440"/>
                  </a:lnTo>
                  <a:lnTo>
                    <a:pt x="1258824" y="96012"/>
                  </a:lnTo>
                  <a:lnTo>
                    <a:pt x="1255776" y="103632"/>
                  </a:lnTo>
                  <a:lnTo>
                    <a:pt x="1260348" y="109728"/>
                  </a:lnTo>
                  <a:lnTo>
                    <a:pt x="1263396" y="115824"/>
                  </a:lnTo>
                  <a:lnTo>
                    <a:pt x="1271003" y="117348"/>
                  </a:lnTo>
                  <a:lnTo>
                    <a:pt x="1277112" y="114300"/>
                  </a:lnTo>
                  <a:lnTo>
                    <a:pt x="1351788" y="71628"/>
                  </a:lnTo>
                  <a:lnTo>
                    <a:pt x="1373124" y="59436"/>
                  </a:lnTo>
                  <a:close/>
                </a:path>
                <a:path w="5259705" h="498475">
                  <a:moveTo>
                    <a:pt x="5259324" y="440436"/>
                  </a:moveTo>
                  <a:lnTo>
                    <a:pt x="5235968" y="426720"/>
                  </a:lnTo>
                  <a:lnTo>
                    <a:pt x="5163312" y="384048"/>
                  </a:lnTo>
                  <a:lnTo>
                    <a:pt x="5157216" y="381000"/>
                  </a:lnTo>
                  <a:lnTo>
                    <a:pt x="5149596" y="382524"/>
                  </a:lnTo>
                  <a:lnTo>
                    <a:pt x="5146548" y="388620"/>
                  </a:lnTo>
                  <a:lnTo>
                    <a:pt x="5141976" y="394716"/>
                  </a:lnTo>
                  <a:lnTo>
                    <a:pt x="5145024" y="402336"/>
                  </a:lnTo>
                  <a:lnTo>
                    <a:pt x="5151120" y="405384"/>
                  </a:lnTo>
                  <a:lnTo>
                    <a:pt x="5186578" y="426669"/>
                  </a:lnTo>
                  <a:lnTo>
                    <a:pt x="3886200" y="425196"/>
                  </a:lnTo>
                  <a:lnTo>
                    <a:pt x="3886200" y="451104"/>
                  </a:lnTo>
                  <a:lnTo>
                    <a:pt x="5185359" y="452577"/>
                  </a:lnTo>
                  <a:lnTo>
                    <a:pt x="5233403" y="452628"/>
                  </a:lnTo>
                  <a:lnTo>
                    <a:pt x="5185270" y="452628"/>
                  </a:lnTo>
                  <a:lnTo>
                    <a:pt x="5151120" y="472440"/>
                  </a:lnTo>
                  <a:lnTo>
                    <a:pt x="5145024" y="477012"/>
                  </a:lnTo>
                  <a:lnTo>
                    <a:pt x="5141976" y="484632"/>
                  </a:lnTo>
                  <a:lnTo>
                    <a:pt x="5146548" y="490728"/>
                  </a:lnTo>
                  <a:lnTo>
                    <a:pt x="5149596" y="496824"/>
                  </a:lnTo>
                  <a:lnTo>
                    <a:pt x="5157216" y="498348"/>
                  </a:lnTo>
                  <a:lnTo>
                    <a:pt x="5163312" y="495300"/>
                  </a:lnTo>
                  <a:lnTo>
                    <a:pt x="5237988" y="452628"/>
                  </a:lnTo>
                  <a:lnTo>
                    <a:pt x="5259324" y="44043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58263" y="2846400"/>
            <a:ext cx="9283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P(x</a:t>
            </a:r>
            <a:r>
              <a:rPr sz="1800" b="1" baseline="-20833" dirty="0">
                <a:solidFill>
                  <a:srgbClr val="006600"/>
                </a:solidFill>
                <a:latin typeface="Arial"/>
                <a:cs typeface="Arial"/>
              </a:rPr>
              <a:t>1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,</a:t>
            </a:r>
            <a:r>
              <a:rPr sz="1800" b="1" spc="-4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Arial"/>
                <a:cs typeface="Arial"/>
              </a:rPr>
              <a:t>y</a:t>
            </a:r>
            <a:r>
              <a:rPr sz="1800" b="1" spc="-37" baseline="-20833" dirty="0">
                <a:solidFill>
                  <a:srgbClr val="006600"/>
                </a:solidFill>
                <a:latin typeface="Arial"/>
                <a:cs typeface="Arial"/>
              </a:rPr>
              <a:t>1</a:t>
            </a:r>
            <a:r>
              <a:rPr sz="1800" b="1" spc="-25" dirty="0">
                <a:solidFill>
                  <a:srgbClr val="006600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65340" y="3303600"/>
            <a:ext cx="4705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06600"/>
                </a:solidFill>
                <a:latin typeface="Arial"/>
                <a:cs typeface="Arial"/>
              </a:rPr>
              <a:t>E.D.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7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" dirty="0"/>
              <a:t> </a:t>
            </a:r>
            <a:r>
              <a:rPr dirty="0"/>
              <a:t>at</a:t>
            </a:r>
            <a:r>
              <a:rPr spc="-10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10" dirty="0"/>
              <a:t>glance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840292" y="6884920"/>
            <a:ext cx="2241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17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81200" y="3886200"/>
            <a:ext cx="6830695" cy="845819"/>
            <a:chOff x="1981200" y="3886200"/>
            <a:chExt cx="6830695" cy="845819"/>
          </a:xfrm>
        </p:grpSpPr>
        <p:sp>
          <p:nvSpPr>
            <p:cNvPr id="16" name="object 16"/>
            <p:cNvSpPr/>
            <p:nvPr/>
          </p:nvSpPr>
          <p:spPr>
            <a:xfrm>
              <a:off x="3352800" y="3886200"/>
              <a:ext cx="2514600" cy="838200"/>
            </a:xfrm>
            <a:custGeom>
              <a:avLst/>
              <a:gdLst/>
              <a:ahLst/>
              <a:cxnLst/>
              <a:rect l="l" t="t" r="r" b="b"/>
              <a:pathLst>
                <a:path w="2514600" h="838200">
                  <a:moveTo>
                    <a:pt x="2514600" y="0"/>
                  </a:moveTo>
                  <a:lnTo>
                    <a:pt x="0" y="0"/>
                  </a:lnTo>
                  <a:lnTo>
                    <a:pt x="0" y="547115"/>
                  </a:lnTo>
                  <a:lnTo>
                    <a:pt x="3831" y="594521"/>
                  </a:lnTo>
                  <a:lnTo>
                    <a:pt x="14923" y="639421"/>
                  </a:lnTo>
                  <a:lnTo>
                    <a:pt x="32671" y="681231"/>
                  </a:lnTo>
                  <a:lnTo>
                    <a:pt x="56473" y="719364"/>
                  </a:lnTo>
                  <a:lnTo>
                    <a:pt x="85725" y="753237"/>
                  </a:lnTo>
                  <a:lnTo>
                    <a:pt x="119822" y="782263"/>
                  </a:lnTo>
                  <a:lnTo>
                    <a:pt x="158163" y="805857"/>
                  </a:lnTo>
                  <a:lnTo>
                    <a:pt x="200143" y="823435"/>
                  </a:lnTo>
                  <a:lnTo>
                    <a:pt x="245159" y="834411"/>
                  </a:lnTo>
                  <a:lnTo>
                    <a:pt x="292608" y="838200"/>
                  </a:lnTo>
                  <a:lnTo>
                    <a:pt x="2223516" y="838200"/>
                  </a:lnTo>
                  <a:lnTo>
                    <a:pt x="2270921" y="834411"/>
                  </a:lnTo>
                  <a:lnTo>
                    <a:pt x="2315821" y="823435"/>
                  </a:lnTo>
                  <a:lnTo>
                    <a:pt x="2357631" y="805857"/>
                  </a:lnTo>
                  <a:lnTo>
                    <a:pt x="2395764" y="782263"/>
                  </a:lnTo>
                  <a:lnTo>
                    <a:pt x="2429637" y="753237"/>
                  </a:lnTo>
                  <a:lnTo>
                    <a:pt x="2458663" y="719364"/>
                  </a:lnTo>
                  <a:lnTo>
                    <a:pt x="2482257" y="681231"/>
                  </a:lnTo>
                  <a:lnTo>
                    <a:pt x="2499835" y="639421"/>
                  </a:lnTo>
                  <a:lnTo>
                    <a:pt x="2510811" y="594521"/>
                  </a:lnTo>
                  <a:lnTo>
                    <a:pt x="2514600" y="547115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AD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46703" y="3886200"/>
              <a:ext cx="2528570" cy="845819"/>
            </a:xfrm>
            <a:custGeom>
              <a:avLst/>
              <a:gdLst/>
              <a:ahLst/>
              <a:cxnLst/>
              <a:rect l="l" t="t" r="r" b="b"/>
              <a:pathLst>
                <a:path w="2528570" h="845820">
                  <a:moveTo>
                    <a:pt x="2244852" y="844295"/>
                  </a:moveTo>
                  <a:lnTo>
                    <a:pt x="283463" y="844295"/>
                  </a:lnTo>
                  <a:lnTo>
                    <a:pt x="298704" y="845819"/>
                  </a:lnTo>
                  <a:lnTo>
                    <a:pt x="2229612" y="845819"/>
                  </a:lnTo>
                  <a:lnTo>
                    <a:pt x="2244852" y="844295"/>
                  </a:lnTo>
                  <a:close/>
                </a:path>
                <a:path w="2528570" h="845820">
                  <a:moveTo>
                    <a:pt x="13716" y="0"/>
                  </a:moveTo>
                  <a:lnTo>
                    <a:pt x="0" y="0"/>
                  </a:lnTo>
                  <a:lnTo>
                    <a:pt x="0" y="547115"/>
                  </a:lnTo>
                  <a:lnTo>
                    <a:pt x="1524" y="562355"/>
                  </a:lnTo>
                  <a:lnTo>
                    <a:pt x="1524" y="577596"/>
                  </a:lnTo>
                  <a:lnTo>
                    <a:pt x="4572" y="592836"/>
                  </a:lnTo>
                  <a:lnTo>
                    <a:pt x="6096" y="606551"/>
                  </a:lnTo>
                  <a:lnTo>
                    <a:pt x="10668" y="621791"/>
                  </a:lnTo>
                  <a:lnTo>
                    <a:pt x="30480" y="676656"/>
                  </a:lnTo>
                  <a:lnTo>
                    <a:pt x="51816" y="713232"/>
                  </a:lnTo>
                  <a:lnTo>
                    <a:pt x="88392" y="757427"/>
                  </a:lnTo>
                  <a:lnTo>
                    <a:pt x="132587" y="794004"/>
                  </a:lnTo>
                  <a:lnTo>
                    <a:pt x="169163" y="815339"/>
                  </a:lnTo>
                  <a:lnTo>
                    <a:pt x="210312" y="832104"/>
                  </a:lnTo>
                  <a:lnTo>
                    <a:pt x="224028" y="835151"/>
                  </a:lnTo>
                  <a:lnTo>
                    <a:pt x="239268" y="839724"/>
                  </a:lnTo>
                  <a:lnTo>
                    <a:pt x="252984" y="841248"/>
                  </a:lnTo>
                  <a:lnTo>
                    <a:pt x="268224" y="844295"/>
                  </a:lnTo>
                  <a:lnTo>
                    <a:pt x="2260092" y="844295"/>
                  </a:lnTo>
                  <a:lnTo>
                    <a:pt x="2275332" y="841248"/>
                  </a:lnTo>
                  <a:lnTo>
                    <a:pt x="2289048" y="839724"/>
                  </a:lnTo>
                  <a:lnTo>
                    <a:pt x="2304288" y="835151"/>
                  </a:lnTo>
                  <a:lnTo>
                    <a:pt x="2318004" y="832104"/>
                  </a:lnTo>
                  <a:lnTo>
                    <a:pt x="283463" y="832104"/>
                  </a:lnTo>
                  <a:lnTo>
                    <a:pt x="269748" y="830580"/>
                  </a:lnTo>
                  <a:lnTo>
                    <a:pt x="254508" y="829056"/>
                  </a:lnTo>
                  <a:lnTo>
                    <a:pt x="213360" y="819912"/>
                  </a:lnTo>
                  <a:lnTo>
                    <a:pt x="201168" y="815339"/>
                  </a:lnTo>
                  <a:lnTo>
                    <a:pt x="187451" y="810768"/>
                  </a:lnTo>
                  <a:lnTo>
                    <a:pt x="138684" y="783336"/>
                  </a:lnTo>
                  <a:lnTo>
                    <a:pt x="96012" y="748283"/>
                  </a:lnTo>
                  <a:lnTo>
                    <a:pt x="62484" y="705612"/>
                  </a:lnTo>
                  <a:lnTo>
                    <a:pt x="54863" y="694944"/>
                  </a:lnTo>
                  <a:lnTo>
                    <a:pt x="47244" y="682751"/>
                  </a:lnTo>
                  <a:lnTo>
                    <a:pt x="35051" y="658368"/>
                  </a:lnTo>
                  <a:lnTo>
                    <a:pt x="25908" y="630936"/>
                  </a:lnTo>
                  <a:lnTo>
                    <a:pt x="22860" y="618744"/>
                  </a:lnTo>
                  <a:lnTo>
                    <a:pt x="18287" y="605027"/>
                  </a:lnTo>
                  <a:lnTo>
                    <a:pt x="16763" y="589788"/>
                  </a:lnTo>
                  <a:lnTo>
                    <a:pt x="15240" y="576072"/>
                  </a:lnTo>
                  <a:lnTo>
                    <a:pt x="13716" y="560832"/>
                  </a:lnTo>
                  <a:lnTo>
                    <a:pt x="13716" y="0"/>
                  </a:lnTo>
                  <a:close/>
                </a:path>
                <a:path w="2528570" h="845820">
                  <a:moveTo>
                    <a:pt x="2528316" y="0"/>
                  </a:moveTo>
                  <a:lnTo>
                    <a:pt x="2514600" y="0"/>
                  </a:lnTo>
                  <a:lnTo>
                    <a:pt x="2514600" y="562355"/>
                  </a:lnTo>
                  <a:lnTo>
                    <a:pt x="2513076" y="576072"/>
                  </a:lnTo>
                  <a:lnTo>
                    <a:pt x="2511552" y="591312"/>
                  </a:lnTo>
                  <a:lnTo>
                    <a:pt x="2502408" y="632460"/>
                  </a:lnTo>
                  <a:lnTo>
                    <a:pt x="2497836" y="644651"/>
                  </a:lnTo>
                  <a:lnTo>
                    <a:pt x="2493264" y="658368"/>
                  </a:lnTo>
                  <a:lnTo>
                    <a:pt x="2465832" y="707136"/>
                  </a:lnTo>
                  <a:lnTo>
                    <a:pt x="2430780" y="749807"/>
                  </a:lnTo>
                  <a:lnTo>
                    <a:pt x="2388108" y="783336"/>
                  </a:lnTo>
                  <a:lnTo>
                    <a:pt x="2377440" y="790956"/>
                  </a:lnTo>
                  <a:lnTo>
                    <a:pt x="2340864" y="810768"/>
                  </a:lnTo>
                  <a:lnTo>
                    <a:pt x="2301240" y="822960"/>
                  </a:lnTo>
                  <a:lnTo>
                    <a:pt x="2258568" y="830580"/>
                  </a:lnTo>
                  <a:lnTo>
                    <a:pt x="2243328" y="832104"/>
                  </a:lnTo>
                  <a:lnTo>
                    <a:pt x="2318004" y="832104"/>
                  </a:lnTo>
                  <a:lnTo>
                    <a:pt x="2359152" y="815339"/>
                  </a:lnTo>
                  <a:lnTo>
                    <a:pt x="2395728" y="794004"/>
                  </a:lnTo>
                  <a:lnTo>
                    <a:pt x="2439924" y="757427"/>
                  </a:lnTo>
                  <a:lnTo>
                    <a:pt x="2476500" y="713232"/>
                  </a:lnTo>
                  <a:lnTo>
                    <a:pt x="2497836" y="676656"/>
                  </a:lnTo>
                  <a:lnTo>
                    <a:pt x="2514600" y="635507"/>
                  </a:lnTo>
                  <a:lnTo>
                    <a:pt x="2517648" y="621791"/>
                  </a:lnTo>
                  <a:lnTo>
                    <a:pt x="2522220" y="606551"/>
                  </a:lnTo>
                  <a:lnTo>
                    <a:pt x="2523744" y="592836"/>
                  </a:lnTo>
                  <a:lnTo>
                    <a:pt x="2526792" y="577596"/>
                  </a:lnTo>
                  <a:lnTo>
                    <a:pt x="2526792" y="562355"/>
                  </a:lnTo>
                  <a:lnTo>
                    <a:pt x="2528316" y="547115"/>
                  </a:lnTo>
                  <a:lnTo>
                    <a:pt x="2528316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81200" y="4056887"/>
              <a:ext cx="1373505" cy="117475"/>
            </a:xfrm>
            <a:custGeom>
              <a:avLst/>
              <a:gdLst/>
              <a:ahLst/>
              <a:cxnLst/>
              <a:rect l="l" t="t" r="r" b="b"/>
              <a:pathLst>
                <a:path w="1373504" h="117475">
                  <a:moveTo>
                    <a:pt x="1321747" y="58480"/>
                  </a:moveTo>
                  <a:lnTo>
                    <a:pt x="1264920" y="91439"/>
                  </a:lnTo>
                  <a:lnTo>
                    <a:pt x="1258824" y="96012"/>
                  </a:lnTo>
                  <a:lnTo>
                    <a:pt x="1255776" y="103632"/>
                  </a:lnTo>
                  <a:lnTo>
                    <a:pt x="1260348" y="109727"/>
                  </a:lnTo>
                  <a:lnTo>
                    <a:pt x="1263395" y="115824"/>
                  </a:lnTo>
                  <a:lnTo>
                    <a:pt x="1271015" y="117348"/>
                  </a:lnTo>
                  <a:lnTo>
                    <a:pt x="1277112" y="114300"/>
                  </a:lnTo>
                  <a:lnTo>
                    <a:pt x="1349769" y="71627"/>
                  </a:lnTo>
                  <a:lnTo>
                    <a:pt x="1347215" y="71627"/>
                  </a:lnTo>
                  <a:lnTo>
                    <a:pt x="1347215" y="70103"/>
                  </a:lnTo>
                  <a:lnTo>
                    <a:pt x="1341120" y="70103"/>
                  </a:lnTo>
                  <a:lnTo>
                    <a:pt x="1321747" y="58480"/>
                  </a:lnTo>
                  <a:close/>
                </a:path>
                <a:path w="1373504" h="117475">
                  <a:moveTo>
                    <a:pt x="0" y="44196"/>
                  </a:moveTo>
                  <a:lnTo>
                    <a:pt x="0" y="70103"/>
                  </a:lnTo>
                  <a:lnTo>
                    <a:pt x="1347215" y="71627"/>
                  </a:lnTo>
                  <a:lnTo>
                    <a:pt x="1299078" y="71627"/>
                  </a:lnTo>
                  <a:lnTo>
                    <a:pt x="1321747" y="58480"/>
                  </a:lnTo>
                  <a:lnTo>
                    <a:pt x="1300480" y="45720"/>
                  </a:lnTo>
                  <a:lnTo>
                    <a:pt x="1347215" y="45720"/>
                  </a:lnTo>
                  <a:lnTo>
                    <a:pt x="0" y="44196"/>
                  </a:lnTo>
                  <a:close/>
                </a:path>
                <a:path w="1373504" h="117475">
                  <a:moveTo>
                    <a:pt x="1351788" y="45720"/>
                  </a:moveTo>
                  <a:lnTo>
                    <a:pt x="1347215" y="45720"/>
                  </a:lnTo>
                  <a:lnTo>
                    <a:pt x="1347215" y="71627"/>
                  </a:lnTo>
                  <a:lnTo>
                    <a:pt x="1349769" y="71627"/>
                  </a:lnTo>
                  <a:lnTo>
                    <a:pt x="1373124" y="57912"/>
                  </a:lnTo>
                  <a:lnTo>
                    <a:pt x="1351788" y="45720"/>
                  </a:lnTo>
                  <a:close/>
                </a:path>
                <a:path w="1373504" h="117475">
                  <a:moveTo>
                    <a:pt x="1341120" y="47244"/>
                  </a:moveTo>
                  <a:lnTo>
                    <a:pt x="1321747" y="58480"/>
                  </a:lnTo>
                  <a:lnTo>
                    <a:pt x="1341120" y="70103"/>
                  </a:lnTo>
                  <a:lnTo>
                    <a:pt x="1341120" y="47244"/>
                  </a:lnTo>
                  <a:close/>
                </a:path>
                <a:path w="1373504" h="117475">
                  <a:moveTo>
                    <a:pt x="1347215" y="47244"/>
                  </a:moveTo>
                  <a:lnTo>
                    <a:pt x="1341120" y="47244"/>
                  </a:lnTo>
                  <a:lnTo>
                    <a:pt x="1341120" y="70103"/>
                  </a:lnTo>
                  <a:lnTo>
                    <a:pt x="1347215" y="70103"/>
                  </a:lnTo>
                  <a:lnTo>
                    <a:pt x="1347215" y="47244"/>
                  </a:lnTo>
                  <a:close/>
                </a:path>
                <a:path w="1373504" h="117475">
                  <a:moveTo>
                    <a:pt x="1271015" y="0"/>
                  </a:moveTo>
                  <a:lnTo>
                    <a:pt x="1263395" y="1524"/>
                  </a:lnTo>
                  <a:lnTo>
                    <a:pt x="1260348" y="7620"/>
                  </a:lnTo>
                  <a:lnTo>
                    <a:pt x="1255776" y="13715"/>
                  </a:lnTo>
                  <a:lnTo>
                    <a:pt x="1258824" y="21336"/>
                  </a:lnTo>
                  <a:lnTo>
                    <a:pt x="1264920" y="24384"/>
                  </a:lnTo>
                  <a:lnTo>
                    <a:pt x="1321747" y="58480"/>
                  </a:lnTo>
                  <a:lnTo>
                    <a:pt x="1341120" y="47244"/>
                  </a:lnTo>
                  <a:lnTo>
                    <a:pt x="1347215" y="47244"/>
                  </a:lnTo>
                  <a:lnTo>
                    <a:pt x="1347215" y="45720"/>
                  </a:lnTo>
                  <a:lnTo>
                    <a:pt x="1351788" y="45720"/>
                  </a:lnTo>
                  <a:lnTo>
                    <a:pt x="1277112" y="3048"/>
                  </a:lnTo>
                  <a:lnTo>
                    <a:pt x="127101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9400" y="3886200"/>
              <a:ext cx="2182368" cy="46786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034616" y="4294123"/>
            <a:ext cx="954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Q(x</a:t>
            </a:r>
            <a:r>
              <a:rPr sz="1800" b="1" baseline="-20833" dirty="0">
                <a:solidFill>
                  <a:srgbClr val="006600"/>
                </a:solidFill>
                <a:latin typeface="Arial"/>
                <a:cs typeface="Arial"/>
              </a:rPr>
              <a:t>2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,</a:t>
            </a:r>
            <a:r>
              <a:rPr sz="18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Arial"/>
                <a:cs typeface="Arial"/>
              </a:rPr>
              <a:t>y</a:t>
            </a:r>
            <a:r>
              <a:rPr sz="1800" b="1" spc="-37" baseline="-20833" dirty="0">
                <a:solidFill>
                  <a:srgbClr val="006600"/>
                </a:solidFill>
                <a:latin typeface="Arial"/>
                <a:cs typeface="Arial"/>
              </a:rPr>
              <a:t>2</a:t>
            </a:r>
            <a:r>
              <a:rPr sz="1800" b="1" spc="-25" dirty="0">
                <a:solidFill>
                  <a:srgbClr val="006600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7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dirty="0"/>
              <a:t>Solution:</a:t>
            </a:r>
            <a:r>
              <a:rPr spc="-90" dirty="0"/>
              <a:t> </a:t>
            </a:r>
            <a:r>
              <a:rPr dirty="0"/>
              <a:t>Defining</a:t>
            </a:r>
            <a:r>
              <a:rPr spc="-90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15" y="1782579"/>
            <a:ext cx="23679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Compound</a:t>
            </a:r>
            <a:r>
              <a:rPr sz="20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Verdana"/>
                <a:cs typeface="Verdana"/>
              </a:rPr>
              <a:t>data: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15" y="2473947"/>
            <a:ext cx="3743960" cy="101091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0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Point 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is</a:t>
            </a:r>
            <a:endParaRPr sz="20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280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an</a:t>
            </a:r>
            <a:r>
              <a:rPr sz="1800" b="1" spc="-9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int</a:t>
            </a:r>
            <a:r>
              <a:rPr sz="1800" b="1" spc="-9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x</a:t>
            </a:r>
            <a:r>
              <a:rPr sz="1800" b="1" spc="-484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coordinate</a:t>
            </a:r>
            <a:r>
              <a:rPr sz="1800" b="1" spc="-2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u="heavy" spc="-25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Verdana"/>
                <a:cs typeface="Verdana"/>
              </a:rPr>
              <a:t>and</a:t>
            </a:r>
            <a:endParaRPr sz="18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434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an</a:t>
            </a:r>
            <a:r>
              <a:rPr sz="1800" b="1" spc="-2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int</a:t>
            </a:r>
            <a:r>
              <a:rPr sz="1800" b="1" spc="-3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y</a:t>
            </a:r>
            <a:r>
              <a:rPr sz="1800" b="1" spc="-3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0066"/>
                </a:solidFill>
                <a:latin typeface="Verdana"/>
                <a:cs typeface="Verdana"/>
              </a:rPr>
              <a:t>coordinate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27903" y="1822704"/>
            <a:ext cx="3595370" cy="1534795"/>
          </a:xfrm>
          <a:custGeom>
            <a:avLst/>
            <a:gdLst/>
            <a:ahLst/>
            <a:cxnLst/>
            <a:rect l="l" t="t" r="r" b="b"/>
            <a:pathLst>
              <a:path w="3595370" h="1534795">
                <a:moveTo>
                  <a:pt x="3595116" y="0"/>
                </a:moveTo>
                <a:lnTo>
                  <a:pt x="0" y="0"/>
                </a:lnTo>
                <a:lnTo>
                  <a:pt x="0" y="1534668"/>
                </a:lnTo>
                <a:lnTo>
                  <a:pt x="3595116" y="1534668"/>
                </a:lnTo>
                <a:lnTo>
                  <a:pt x="3595116" y="1527048"/>
                </a:lnTo>
                <a:lnTo>
                  <a:pt x="13716" y="1527048"/>
                </a:lnTo>
                <a:lnTo>
                  <a:pt x="6096" y="1520952"/>
                </a:lnTo>
                <a:lnTo>
                  <a:pt x="13716" y="1520952"/>
                </a:lnTo>
                <a:lnTo>
                  <a:pt x="13716" y="13716"/>
                </a:lnTo>
                <a:lnTo>
                  <a:pt x="6096" y="13716"/>
                </a:lnTo>
                <a:lnTo>
                  <a:pt x="13716" y="6096"/>
                </a:lnTo>
                <a:lnTo>
                  <a:pt x="3595116" y="6096"/>
                </a:lnTo>
                <a:lnTo>
                  <a:pt x="3595116" y="0"/>
                </a:lnTo>
                <a:close/>
              </a:path>
              <a:path w="3595370" h="1534795">
                <a:moveTo>
                  <a:pt x="13716" y="1520952"/>
                </a:moveTo>
                <a:lnTo>
                  <a:pt x="6096" y="1520952"/>
                </a:lnTo>
                <a:lnTo>
                  <a:pt x="13716" y="1527048"/>
                </a:lnTo>
                <a:lnTo>
                  <a:pt x="13716" y="1520952"/>
                </a:lnTo>
                <a:close/>
              </a:path>
              <a:path w="3595370" h="1534795">
                <a:moveTo>
                  <a:pt x="3581400" y="1520952"/>
                </a:moveTo>
                <a:lnTo>
                  <a:pt x="13716" y="1520952"/>
                </a:lnTo>
                <a:lnTo>
                  <a:pt x="13716" y="1527048"/>
                </a:lnTo>
                <a:lnTo>
                  <a:pt x="3581400" y="1527048"/>
                </a:lnTo>
                <a:lnTo>
                  <a:pt x="3581400" y="1520952"/>
                </a:lnTo>
                <a:close/>
              </a:path>
              <a:path w="3595370" h="1534795">
                <a:moveTo>
                  <a:pt x="3581400" y="6096"/>
                </a:moveTo>
                <a:lnTo>
                  <a:pt x="3581400" y="1527048"/>
                </a:lnTo>
                <a:lnTo>
                  <a:pt x="3587496" y="1520952"/>
                </a:lnTo>
                <a:lnTo>
                  <a:pt x="3595116" y="1520952"/>
                </a:lnTo>
                <a:lnTo>
                  <a:pt x="3595116" y="13716"/>
                </a:lnTo>
                <a:lnTo>
                  <a:pt x="3587496" y="13716"/>
                </a:lnTo>
                <a:lnTo>
                  <a:pt x="3581400" y="6096"/>
                </a:lnTo>
                <a:close/>
              </a:path>
              <a:path w="3595370" h="1534795">
                <a:moveTo>
                  <a:pt x="3595116" y="1520952"/>
                </a:moveTo>
                <a:lnTo>
                  <a:pt x="3587496" y="1520952"/>
                </a:lnTo>
                <a:lnTo>
                  <a:pt x="3581400" y="1527048"/>
                </a:lnTo>
                <a:lnTo>
                  <a:pt x="3595116" y="1527048"/>
                </a:lnTo>
                <a:lnTo>
                  <a:pt x="3595116" y="1520952"/>
                </a:lnTo>
                <a:close/>
              </a:path>
              <a:path w="3595370" h="1534795">
                <a:moveTo>
                  <a:pt x="13716" y="6096"/>
                </a:moveTo>
                <a:lnTo>
                  <a:pt x="6096" y="13716"/>
                </a:lnTo>
                <a:lnTo>
                  <a:pt x="13716" y="13716"/>
                </a:lnTo>
                <a:lnTo>
                  <a:pt x="13716" y="6096"/>
                </a:lnTo>
                <a:close/>
              </a:path>
              <a:path w="3595370" h="1534795">
                <a:moveTo>
                  <a:pt x="3581400" y="6096"/>
                </a:moveTo>
                <a:lnTo>
                  <a:pt x="13716" y="6096"/>
                </a:lnTo>
                <a:lnTo>
                  <a:pt x="13716" y="13716"/>
                </a:lnTo>
                <a:lnTo>
                  <a:pt x="3581400" y="13716"/>
                </a:lnTo>
                <a:lnTo>
                  <a:pt x="3581400" y="6096"/>
                </a:lnTo>
                <a:close/>
              </a:path>
              <a:path w="3595370" h="1534795">
                <a:moveTo>
                  <a:pt x="3595116" y="6096"/>
                </a:moveTo>
                <a:lnTo>
                  <a:pt x="3581400" y="6096"/>
                </a:lnTo>
                <a:lnTo>
                  <a:pt x="3587496" y="13716"/>
                </a:lnTo>
                <a:lnTo>
                  <a:pt x="3595116" y="13716"/>
                </a:lnTo>
                <a:lnTo>
                  <a:pt x="3595116" y="6096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12756" y="1843525"/>
            <a:ext cx="18903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baseline="1736" dirty="0">
                <a:solidFill>
                  <a:srgbClr val="006600"/>
                </a:solidFill>
                <a:latin typeface="Courier New"/>
                <a:cs typeface="Courier New"/>
              </a:rPr>
              <a:t>typedef</a:t>
            </a:r>
            <a:r>
              <a:rPr sz="2400" b="1" spc="-37" baseline="1736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2400" b="1" spc="-30" baseline="1736" dirty="0">
                <a:solidFill>
                  <a:srgbClr val="006600"/>
                </a:solidFill>
                <a:latin typeface="Courier New"/>
                <a:cs typeface="Courier New"/>
              </a:rPr>
              <a:t>struct</a:t>
            </a:r>
            <a:r>
              <a:rPr sz="2400" b="1" spc="-1019" baseline="1736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41741" y="2082094"/>
            <a:ext cx="1216660" cy="9036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484"/>
              </a:spcBef>
              <a:tabLst>
                <a:tab pos="960119" algn="l"/>
              </a:tabLst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x;</a:t>
            </a:r>
            <a:endParaRPr sz="1600">
              <a:latin typeface="Courier New"/>
              <a:cs typeface="Courier New"/>
            </a:endParaRPr>
          </a:p>
          <a:p>
            <a:pPr marL="349250">
              <a:lnSpc>
                <a:spcPct val="100000"/>
              </a:lnSpc>
              <a:spcBef>
                <a:spcPts val="385"/>
              </a:spcBef>
              <a:tabLst>
                <a:tab pos="960119" algn="l"/>
              </a:tabLst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y;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400" b="1" spc="-15" baseline="3472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r>
              <a:rPr sz="2400" b="1" spc="-359" baseline="3472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Point;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40292" y="6884920"/>
            <a:ext cx="2241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41704" y="4184903"/>
            <a:ext cx="1309370" cy="942340"/>
          </a:xfrm>
          <a:custGeom>
            <a:avLst/>
            <a:gdLst/>
            <a:ahLst/>
            <a:cxnLst/>
            <a:rect l="l" t="t" r="r" b="b"/>
            <a:pathLst>
              <a:path w="1309370" h="942339">
                <a:moveTo>
                  <a:pt x="1309116" y="475488"/>
                </a:moveTo>
                <a:lnTo>
                  <a:pt x="1306068" y="472440"/>
                </a:lnTo>
                <a:lnTo>
                  <a:pt x="1295400" y="472440"/>
                </a:lnTo>
                <a:lnTo>
                  <a:pt x="1295400" y="484632"/>
                </a:lnTo>
                <a:lnTo>
                  <a:pt x="1295400" y="929640"/>
                </a:lnTo>
                <a:lnTo>
                  <a:pt x="13716" y="929640"/>
                </a:lnTo>
                <a:lnTo>
                  <a:pt x="13716" y="484632"/>
                </a:lnTo>
                <a:lnTo>
                  <a:pt x="1295400" y="484632"/>
                </a:lnTo>
                <a:lnTo>
                  <a:pt x="1295400" y="472440"/>
                </a:lnTo>
                <a:lnTo>
                  <a:pt x="3048" y="472440"/>
                </a:lnTo>
                <a:lnTo>
                  <a:pt x="0" y="475488"/>
                </a:lnTo>
                <a:lnTo>
                  <a:pt x="0" y="938784"/>
                </a:lnTo>
                <a:lnTo>
                  <a:pt x="3048" y="941832"/>
                </a:lnTo>
                <a:lnTo>
                  <a:pt x="1306068" y="941832"/>
                </a:lnTo>
                <a:lnTo>
                  <a:pt x="1309116" y="938784"/>
                </a:lnTo>
                <a:lnTo>
                  <a:pt x="1309116" y="935736"/>
                </a:lnTo>
                <a:lnTo>
                  <a:pt x="1309116" y="929640"/>
                </a:lnTo>
                <a:lnTo>
                  <a:pt x="1309116" y="484632"/>
                </a:lnTo>
                <a:lnTo>
                  <a:pt x="1309116" y="478536"/>
                </a:lnTo>
                <a:lnTo>
                  <a:pt x="1309116" y="475488"/>
                </a:lnTo>
                <a:close/>
              </a:path>
              <a:path w="1309370" h="942339">
                <a:moveTo>
                  <a:pt x="1309116" y="3048"/>
                </a:moveTo>
                <a:lnTo>
                  <a:pt x="1306068" y="0"/>
                </a:lnTo>
                <a:lnTo>
                  <a:pt x="1295400" y="0"/>
                </a:lnTo>
                <a:lnTo>
                  <a:pt x="1295400" y="13716"/>
                </a:lnTo>
                <a:lnTo>
                  <a:pt x="1295400" y="457200"/>
                </a:lnTo>
                <a:lnTo>
                  <a:pt x="13716" y="457200"/>
                </a:lnTo>
                <a:lnTo>
                  <a:pt x="13716" y="13716"/>
                </a:lnTo>
                <a:lnTo>
                  <a:pt x="1295400" y="13716"/>
                </a:lnTo>
                <a:lnTo>
                  <a:pt x="1295400" y="0"/>
                </a:lnTo>
                <a:lnTo>
                  <a:pt x="3048" y="0"/>
                </a:lnTo>
                <a:lnTo>
                  <a:pt x="0" y="3048"/>
                </a:lnTo>
                <a:lnTo>
                  <a:pt x="0" y="467868"/>
                </a:lnTo>
                <a:lnTo>
                  <a:pt x="3048" y="470916"/>
                </a:lnTo>
                <a:lnTo>
                  <a:pt x="1306068" y="470916"/>
                </a:lnTo>
                <a:lnTo>
                  <a:pt x="1309116" y="467868"/>
                </a:lnTo>
                <a:lnTo>
                  <a:pt x="1309116" y="463296"/>
                </a:lnTo>
                <a:lnTo>
                  <a:pt x="1309116" y="457200"/>
                </a:lnTo>
                <a:lnTo>
                  <a:pt x="1309116" y="13716"/>
                </a:lnTo>
                <a:lnTo>
                  <a:pt x="1309116" y="6096"/>
                </a:lnTo>
                <a:lnTo>
                  <a:pt x="1309116" y="3048"/>
                </a:lnTo>
                <a:close/>
              </a:path>
            </a:pathLst>
          </a:custGeom>
          <a:solidFill>
            <a:srgbClr val="55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050539" y="4278807"/>
            <a:ext cx="163195" cy="772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x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800" spc="-50" dirty="0">
                <a:solidFill>
                  <a:srgbClr val="006600"/>
                </a:solidFill>
                <a:latin typeface="Arial MT"/>
                <a:cs typeface="Arial MT"/>
              </a:rPr>
              <a:t>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76600" y="4102607"/>
            <a:ext cx="394970" cy="1169035"/>
          </a:xfrm>
          <a:custGeom>
            <a:avLst/>
            <a:gdLst/>
            <a:ahLst/>
            <a:cxnLst/>
            <a:rect l="l" t="t" r="r" b="b"/>
            <a:pathLst>
              <a:path w="394970" h="1169035">
                <a:moveTo>
                  <a:pt x="394716" y="577596"/>
                </a:moveTo>
                <a:lnTo>
                  <a:pt x="388620" y="571500"/>
                </a:lnTo>
                <a:lnTo>
                  <a:pt x="381000" y="571500"/>
                </a:lnTo>
                <a:lnTo>
                  <a:pt x="362712" y="571500"/>
                </a:lnTo>
                <a:lnTo>
                  <a:pt x="344424" y="571500"/>
                </a:lnTo>
                <a:lnTo>
                  <a:pt x="326136" y="569976"/>
                </a:lnTo>
                <a:lnTo>
                  <a:pt x="309372" y="569976"/>
                </a:lnTo>
                <a:lnTo>
                  <a:pt x="277368" y="566928"/>
                </a:lnTo>
                <a:lnTo>
                  <a:pt x="262128" y="563880"/>
                </a:lnTo>
                <a:lnTo>
                  <a:pt x="237744" y="560832"/>
                </a:lnTo>
                <a:lnTo>
                  <a:pt x="227076" y="557784"/>
                </a:lnTo>
                <a:lnTo>
                  <a:pt x="217932" y="556260"/>
                </a:lnTo>
                <a:lnTo>
                  <a:pt x="211823" y="553212"/>
                </a:lnTo>
                <a:lnTo>
                  <a:pt x="208775" y="551688"/>
                </a:lnTo>
                <a:lnTo>
                  <a:pt x="205740" y="550164"/>
                </a:lnTo>
                <a:lnTo>
                  <a:pt x="207264" y="551688"/>
                </a:lnTo>
                <a:lnTo>
                  <a:pt x="204216" y="549656"/>
                </a:lnTo>
                <a:lnTo>
                  <a:pt x="204216" y="547116"/>
                </a:lnTo>
                <a:lnTo>
                  <a:pt x="204216" y="50292"/>
                </a:lnTo>
                <a:lnTo>
                  <a:pt x="204216" y="44196"/>
                </a:lnTo>
                <a:lnTo>
                  <a:pt x="204216" y="42672"/>
                </a:lnTo>
                <a:lnTo>
                  <a:pt x="202692" y="41148"/>
                </a:lnTo>
                <a:lnTo>
                  <a:pt x="202692" y="38100"/>
                </a:lnTo>
                <a:lnTo>
                  <a:pt x="201168" y="36576"/>
                </a:lnTo>
                <a:lnTo>
                  <a:pt x="201168" y="33528"/>
                </a:lnTo>
                <a:lnTo>
                  <a:pt x="199644" y="33528"/>
                </a:lnTo>
                <a:lnTo>
                  <a:pt x="196596" y="28956"/>
                </a:lnTo>
                <a:lnTo>
                  <a:pt x="195072" y="28956"/>
                </a:lnTo>
                <a:lnTo>
                  <a:pt x="193548" y="27432"/>
                </a:lnTo>
                <a:lnTo>
                  <a:pt x="188976" y="24384"/>
                </a:lnTo>
                <a:lnTo>
                  <a:pt x="187452" y="24384"/>
                </a:lnTo>
                <a:lnTo>
                  <a:pt x="179832" y="19812"/>
                </a:lnTo>
                <a:lnTo>
                  <a:pt x="172212" y="16764"/>
                </a:lnTo>
                <a:lnTo>
                  <a:pt x="161544" y="15240"/>
                </a:lnTo>
                <a:lnTo>
                  <a:pt x="137160" y="9144"/>
                </a:lnTo>
                <a:lnTo>
                  <a:pt x="123444" y="7620"/>
                </a:lnTo>
                <a:lnTo>
                  <a:pt x="76200" y="3048"/>
                </a:lnTo>
                <a:lnTo>
                  <a:pt x="57912" y="1524"/>
                </a:lnTo>
                <a:lnTo>
                  <a:pt x="39624" y="1524"/>
                </a:lnTo>
                <a:lnTo>
                  <a:pt x="19812" y="0"/>
                </a:lnTo>
                <a:lnTo>
                  <a:pt x="1524" y="0"/>
                </a:lnTo>
                <a:lnTo>
                  <a:pt x="88" y="24384"/>
                </a:lnTo>
                <a:lnTo>
                  <a:pt x="0" y="25908"/>
                </a:lnTo>
                <a:lnTo>
                  <a:pt x="38100" y="25908"/>
                </a:lnTo>
                <a:lnTo>
                  <a:pt x="56388" y="27432"/>
                </a:lnTo>
                <a:lnTo>
                  <a:pt x="74676" y="27432"/>
                </a:lnTo>
                <a:lnTo>
                  <a:pt x="120396" y="32004"/>
                </a:lnTo>
                <a:lnTo>
                  <a:pt x="134112" y="35052"/>
                </a:lnTo>
                <a:lnTo>
                  <a:pt x="144780" y="36576"/>
                </a:lnTo>
                <a:lnTo>
                  <a:pt x="155448" y="39624"/>
                </a:lnTo>
                <a:lnTo>
                  <a:pt x="164592" y="41148"/>
                </a:lnTo>
                <a:lnTo>
                  <a:pt x="172212" y="44196"/>
                </a:lnTo>
                <a:lnTo>
                  <a:pt x="176784" y="47244"/>
                </a:lnTo>
                <a:lnTo>
                  <a:pt x="175260" y="45720"/>
                </a:lnTo>
                <a:lnTo>
                  <a:pt x="178308" y="47752"/>
                </a:lnTo>
                <a:lnTo>
                  <a:pt x="178308" y="556260"/>
                </a:lnTo>
                <a:lnTo>
                  <a:pt x="179832" y="559308"/>
                </a:lnTo>
                <a:lnTo>
                  <a:pt x="179832" y="560832"/>
                </a:lnTo>
                <a:lnTo>
                  <a:pt x="181356" y="563880"/>
                </a:lnTo>
                <a:lnTo>
                  <a:pt x="182880" y="563880"/>
                </a:lnTo>
                <a:lnTo>
                  <a:pt x="185928" y="568452"/>
                </a:lnTo>
                <a:lnTo>
                  <a:pt x="187452" y="568452"/>
                </a:lnTo>
                <a:lnTo>
                  <a:pt x="187452" y="569976"/>
                </a:lnTo>
                <a:lnTo>
                  <a:pt x="193548" y="573024"/>
                </a:lnTo>
                <a:lnTo>
                  <a:pt x="195072" y="573024"/>
                </a:lnTo>
                <a:lnTo>
                  <a:pt x="201168" y="576072"/>
                </a:lnTo>
                <a:lnTo>
                  <a:pt x="210312" y="579120"/>
                </a:lnTo>
                <a:lnTo>
                  <a:pt x="229514" y="584606"/>
                </a:lnTo>
                <a:lnTo>
                  <a:pt x="220980" y="586740"/>
                </a:lnTo>
                <a:lnTo>
                  <a:pt x="210312" y="588264"/>
                </a:lnTo>
                <a:lnTo>
                  <a:pt x="202692" y="591312"/>
                </a:lnTo>
                <a:lnTo>
                  <a:pt x="195072" y="595884"/>
                </a:lnTo>
                <a:lnTo>
                  <a:pt x="193548" y="595884"/>
                </a:lnTo>
                <a:lnTo>
                  <a:pt x="187452" y="598932"/>
                </a:lnTo>
                <a:lnTo>
                  <a:pt x="187452" y="600456"/>
                </a:lnTo>
                <a:lnTo>
                  <a:pt x="185928" y="600456"/>
                </a:lnTo>
                <a:lnTo>
                  <a:pt x="182880" y="605028"/>
                </a:lnTo>
                <a:lnTo>
                  <a:pt x="181356" y="605028"/>
                </a:lnTo>
                <a:lnTo>
                  <a:pt x="179832" y="608076"/>
                </a:lnTo>
                <a:lnTo>
                  <a:pt x="179832" y="609600"/>
                </a:lnTo>
                <a:lnTo>
                  <a:pt x="178308" y="612648"/>
                </a:lnTo>
                <a:lnTo>
                  <a:pt x="178308" y="1121156"/>
                </a:lnTo>
                <a:lnTo>
                  <a:pt x="175260" y="1123188"/>
                </a:lnTo>
                <a:lnTo>
                  <a:pt x="176784" y="1121664"/>
                </a:lnTo>
                <a:lnTo>
                  <a:pt x="164592" y="1127760"/>
                </a:lnTo>
                <a:lnTo>
                  <a:pt x="155448" y="1129284"/>
                </a:lnTo>
                <a:lnTo>
                  <a:pt x="144780" y="1132332"/>
                </a:lnTo>
                <a:lnTo>
                  <a:pt x="120396" y="1135380"/>
                </a:lnTo>
                <a:lnTo>
                  <a:pt x="105156" y="1138428"/>
                </a:lnTo>
                <a:lnTo>
                  <a:pt x="73152" y="1141476"/>
                </a:lnTo>
                <a:lnTo>
                  <a:pt x="56388" y="1141476"/>
                </a:lnTo>
                <a:lnTo>
                  <a:pt x="38100" y="1143000"/>
                </a:lnTo>
                <a:lnTo>
                  <a:pt x="0" y="1143000"/>
                </a:lnTo>
                <a:lnTo>
                  <a:pt x="1244" y="1164336"/>
                </a:lnTo>
                <a:lnTo>
                  <a:pt x="1333" y="1165860"/>
                </a:lnTo>
                <a:lnTo>
                  <a:pt x="1422" y="1167384"/>
                </a:lnTo>
                <a:lnTo>
                  <a:pt x="1524" y="1168908"/>
                </a:lnTo>
                <a:lnTo>
                  <a:pt x="19812" y="1168908"/>
                </a:lnTo>
                <a:lnTo>
                  <a:pt x="39624" y="1167384"/>
                </a:lnTo>
                <a:lnTo>
                  <a:pt x="57912" y="1167384"/>
                </a:lnTo>
                <a:lnTo>
                  <a:pt x="123444" y="1161288"/>
                </a:lnTo>
                <a:lnTo>
                  <a:pt x="172212" y="1150620"/>
                </a:lnTo>
                <a:lnTo>
                  <a:pt x="187452" y="1144524"/>
                </a:lnTo>
                <a:lnTo>
                  <a:pt x="188976" y="1144524"/>
                </a:lnTo>
                <a:lnTo>
                  <a:pt x="193548" y="1141476"/>
                </a:lnTo>
                <a:lnTo>
                  <a:pt x="195072" y="1139952"/>
                </a:lnTo>
                <a:lnTo>
                  <a:pt x="196596" y="1139952"/>
                </a:lnTo>
                <a:lnTo>
                  <a:pt x="199644" y="1135380"/>
                </a:lnTo>
                <a:lnTo>
                  <a:pt x="201168" y="1135380"/>
                </a:lnTo>
                <a:lnTo>
                  <a:pt x="201168" y="1132332"/>
                </a:lnTo>
                <a:lnTo>
                  <a:pt x="202692" y="1130808"/>
                </a:lnTo>
                <a:lnTo>
                  <a:pt x="202692" y="1127760"/>
                </a:lnTo>
                <a:lnTo>
                  <a:pt x="204216" y="1126236"/>
                </a:lnTo>
                <a:lnTo>
                  <a:pt x="204216" y="1123188"/>
                </a:lnTo>
                <a:lnTo>
                  <a:pt x="204216" y="1118616"/>
                </a:lnTo>
                <a:lnTo>
                  <a:pt x="204216" y="621792"/>
                </a:lnTo>
                <a:lnTo>
                  <a:pt x="204216" y="619252"/>
                </a:lnTo>
                <a:lnTo>
                  <a:pt x="207264" y="617220"/>
                </a:lnTo>
                <a:lnTo>
                  <a:pt x="205740" y="618744"/>
                </a:lnTo>
                <a:lnTo>
                  <a:pt x="208026" y="617220"/>
                </a:lnTo>
                <a:lnTo>
                  <a:pt x="210312" y="615696"/>
                </a:lnTo>
                <a:lnTo>
                  <a:pt x="217932" y="612648"/>
                </a:lnTo>
                <a:lnTo>
                  <a:pt x="227076" y="611124"/>
                </a:lnTo>
                <a:lnTo>
                  <a:pt x="237744" y="608076"/>
                </a:lnTo>
                <a:lnTo>
                  <a:pt x="248412" y="606552"/>
                </a:lnTo>
                <a:lnTo>
                  <a:pt x="262128" y="603504"/>
                </a:lnTo>
                <a:lnTo>
                  <a:pt x="275844" y="601980"/>
                </a:lnTo>
                <a:lnTo>
                  <a:pt x="307848" y="598932"/>
                </a:lnTo>
                <a:lnTo>
                  <a:pt x="326136" y="598932"/>
                </a:lnTo>
                <a:lnTo>
                  <a:pt x="342900" y="597408"/>
                </a:lnTo>
                <a:lnTo>
                  <a:pt x="362712" y="597408"/>
                </a:lnTo>
                <a:lnTo>
                  <a:pt x="381000" y="597408"/>
                </a:lnTo>
                <a:lnTo>
                  <a:pt x="388620" y="597408"/>
                </a:lnTo>
                <a:lnTo>
                  <a:pt x="394716" y="591312"/>
                </a:lnTo>
                <a:lnTo>
                  <a:pt x="394716" y="577596"/>
                </a:lnTo>
                <a:close/>
              </a:path>
            </a:pathLst>
          </a:custGeom>
          <a:solidFill>
            <a:srgbClr val="55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888816" y="4507407"/>
            <a:ext cx="71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Point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89216" y="4314011"/>
            <a:ext cx="848360" cy="1799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9400">
              <a:lnSpc>
                <a:spcPct val="114999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char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35000"/>
              </a:lnSpc>
              <a:spcBef>
                <a:spcPts val="80"/>
              </a:spcBef>
            </a:pP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float double</a:t>
            </a:r>
            <a:endParaRPr sz="18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925"/>
              </a:spcBef>
            </a:pP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Point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32216" y="4284751"/>
            <a:ext cx="1059180" cy="182880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735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1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Byte</a:t>
            </a:r>
            <a:endParaRPr sz="1800">
              <a:latin typeface="Courier New"/>
              <a:cs typeface="Courier New"/>
            </a:endParaRPr>
          </a:p>
          <a:p>
            <a:pPr marL="88265">
              <a:lnSpc>
                <a:spcPct val="100000"/>
              </a:lnSpc>
              <a:spcBef>
                <a:spcPts val="64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4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Bytes</a:t>
            </a:r>
            <a:endParaRPr sz="1800">
              <a:latin typeface="Courier New"/>
              <a:cs typeface="Courier New"/>
            </a:endParaRPr>
          </a:p>
          <a:p>
            <a:pPr marL="88265">
              <a:lnSpc>
                <a:spcPct val="100000"/>
              </a:lnSpc>
              <a:spcBef>
                <a:spcPts val="359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4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Bytes</a:t>
            </a:r>
            <a:endParaRPr sz="1800">
              <a:latin typeface="Courier New"/>
              <a:cs typeface="Courier New"/>
            </a:endParaRPr>
          </a:p>
          <a:p>
            <a:pPr marL="88265">
              <a:lnSpc>
                <a:spcPct val="100000"/>
              </a:lnSpc>
              <a:spcBef>
                <a:spcPts val="835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8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Bytes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8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Bytes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7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dirty="0"/>
              <a:t>Solution:</a:t>
            </a:r>
            <a:r>
              <a:rPr spc="-145" dirty="0"/>
              <a:t> </a:t>
            </a:r>
            <a:r>
              <a:rPr spc="-10" dirty="0"/>
              <a:t>logic</a:t>
            </a:r>
          </a:p>
        </p:txBody>
      </p:sp>
      <p:sp>
        <p:nvSpPr>
          <p:cNvPr id="3" name="object 3"/>
          <p:cNvSpPr/>
          <p:nvPr/>
        </p:nvSpPr>
        <p:spPr>
          <a:xfrm>
            <a:off x="4870703" y="1746504"/>
            <a:ext cx="3823970" cy="2139950"/>
          </a:xfrm>
          <a:custGeom>
            <a:avLst/>
            <a:gdLst/>
            <a:ahLst/>
            <a:cxnLst/>
            <a:rect l="l" t="t" r="r" b="b"/>
            <a:pathLst>
              <a:path w="3823970" h="2139950">
                <a:moveTo>
                  <a:pt x="3823716" y="0"/>
                </a:moveTo>
                <a:lnTo>
                  <a:pt x="0" y="0"/>
                </a:lnTo>
                <a:lnTo>
                  <a:pt x="0" y="2139696"/>
                </a:lnTo>
                <a:lnTo>
                  <a:pt x="13716" y="2139696"/>
                </a:lnTo>
                <a:lnTo>
                  <a:pt x="13716" y="13716"/>
                </a:lnTo>
                <a:lnTo>
                  <a:pt x="6096" y="13716"/>
                </a:lnTo>
                <a:lnTo>
                  <a:pt x="13716" y="6096"/>
                </a:lnTo>
                <a:lnTo>
                  <a:pt x="3823716" y="6096"/>
                </a:lnTo>
                <a:lnTo>
                  <a:pt x="3823716" y="0"/>
                </a:lnTo>
                <a:close/>
              </a:path>
              <a:path w="3823970" h="2139950">
                <a:moveTo>
                  <a:pt x="3810000" y="6096"/>
                </a:moveTo>
                <a:lnTo>
                  <a:pt x="3810000" y="2139696"/>
                </a:lnTo>
                <a:lnTo>
                  <a:pt x="3823716" y="2139696"/>
                </a:lnTo>
                <a:lnTo>
                  <a:pt x="3823716" y="13716"/>
                </a:lnTo>
                <a:lnTo>
                  <a:pt x="3816096" y="13716"/>
                </a:lnTo>
                <a:lnTo>
                  <a:pt x="3810000" y="6096"/>
                </a:lnTo>
                <a:close/>
              </a:path>
              <a:path w="3823970" h="2139950">
                <a:moveTo>
                  <a:pt x="13716" y="6096"/>
                </a:moveTo>
                <a:lnTo>
                  <a:pt x="6096" y="13716"/>
                </a:lnTo>
                <a:lnTo>
                  <a:pt x="13716" y="13716"/>
                </a:lnTo>
                <a:lnTo>
                  <a:pt x="13716" y="6096"/>
                </a:lnTo>
                <a:close/>
              </a:path>
              <a:path w="3823970" h="2139950">
                <a:moveTo>
                  <a:pt x="3810000" y="6096"/>
                </a:moveTo>
                <a:lnTo>
                  <a:pt x="13716" y="6096"/>
                </a:lnTo>
                <a:lnTo>
                  <a:pt x="13716" y="13716"/>
                </a:lnTo>
                <a:lnTo>
                  <a:pt x="3810000" y="13716"/>
                </a:lnTo>
                <a:lnTo>
                  <a:pt x="3810000" y="6096"/>
                </a:lnTo>
                <a:close/>
              </a:path>
              <a:path w="3823970" h="2139950">
                <a:moveTo>
                  <a:pt x="3823716" y="6096"/>
                </a:moveTo>
                <a:lnTo>
                  <a:pt x="3810000" y="6096"/>
                </a:lnTo>
                <a:lnTo>
                  <a:pt x="3816096" y="13716"/>
                </a:lnTo>
                <a:lnTo>
                  <a:pt x="3823716" y="13716"/>
                </a:lnTo>
                <a:lnTo>
                  <a:pt x="3823716" y="6096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55483" y="1762854"/>
            <a:ext cx="19792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typedef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struct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21342" y="2005882"/>
            <a:ext cx="880110" cy="6108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  <a:tabLst>
                <a:tab pos="623570" algn="l"/>
              </a:tabLst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x;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623570" algn="l"/>
              </a:tabLst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y;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55483" y="2640510"/>
            <a:ext cx="998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Point;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7711" y="2855452"/>
            <a:ext cx="4879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8930" indent="-290830">
              <a:lnSpc>
                <a:spcPct val="100000"/>
              </a:lnSpc>
              <a:spcBef>
                <a:spcPts val="100"/>
              </a:spcBef>
              <a:buSzPct val="88888"/>
              <a:buFont typeface="Wingdings"/>
              <a:buChar char=""/>
              <a:tabLst>
                <a:tab pos="328930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an</a:t>
            </a:r>
            <a:r>
              <a:rPr sz="1800" b="1" spc="-9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int</a:t>
            </a:r>
            <a:r>
              <a:rPr sz="1800" b="1" spc="-8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x</a:t>
            </a:r>
            <a:r>
              <a:rPr sz="1800" b="1" spc="-484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coordinate</a:t>
            </a:r>
            <a:r>
              <a:rPr sz="1800" b="1" spc="-2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u="heavy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Verdana"/>
                <a:cs typeface="Verdana"/>
              </a:rPr>
              <a:t>and</a:t>
            </a:r>
            <a:r>
              <a:rPr sz="1800" b="1" spc="6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2400" b="1" baseline="-13888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2400" b="1" spc="-82" baseline="-13888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2400" b="1" spc="-15" baseline="-13888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2400" baseline="-13888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5565" y="1782579"/>
            <a:ext cx="23679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Compound</a:t>
            </a:r>
            <a:r>
              <a:rPr sz="20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Verdana"/>
                <a:cs typeface="Verdana"/>
              </a:rPr>
              <a:t>data: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5565" y="2514035"/>
            <a:ext cx="13779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0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Point 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is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3111" y="3184636"/>
            <a:ext cx="2899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 indent="-290830">
              <a:lnSpc>
                <a:spcPct val="100000"/>
              </a:lnSpc>
              <a:spcBef>
                <a:spcPts val="100"/>
              </a:spcBef>
              <a:buSzPct val="88888"/>
              <a:buFont typeface="Wingdings"/>
              <a:buChar char=""/>
              <a:tabLst>
                <a:tab pos="303530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an</a:t>
            </a:r>
            <a:r>
              <a:rPr sz="1800" b="1" spc="-3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int</a:t>
            </a:r>
            <a:r>
              <a:rPr sz="1800" b="1" spc="-3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y</a:t>
            </a:r>
            <a:r>
              <a:rPr sz="1800" b="1" spc="-3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0066"/>
                </a:solidFill>
                <a:latin typeface="Verdana"/>
                <a:cs typeface="Verdana"/>
              </a:rPr>
              <a:t>coordinate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40292" y="6884920"/>
            <a:ext cx="2241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19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70704" y="3886200"/>
            <a:ext cx="3823970" cy="3412643"/>
          </a:xfrm>
          <a:custGeom>
            <a:avLst/>
            <a:gdLst/>
            <a:ahLst/>
            <a:cxnLst/>
            <a:rect l="l" t="t" r="r" b="b"/>
            <a:pathLst>
              <a:path w="3823970" h="3429634">
                <a:moveTo>
                  <a:pt x="13716" y="0"/>
                </a:moveTo>
                <a:lnTo>
                  <a:pt x="0" y="0"/>
                </a:lnTo>
                <a:lnTo>
                  <a:pt x="0" y="3429012"/>
                </a:lnTo>
                <a:lnTo>
                  <a:pt x="13716" y="3429012"/>
                </a:lnTo>
                <a:lnTo>
                  <a:pt x="13716" y="0"/>
                </a:lnTo>
                <a:close/>
              </a:path>
              <a:path w="3823970" h="3429634">
                <a:moveTo>
                  <a:pt x="3823716" y="12"/>
                </a:moveTo>
                <a:lnTo>
                  <a:pt x="3810000" y="12"/>
                </a:lnTo>
                <a:lnTo>
                  <a:pt x="3810000" y="3429012"/>
                </a:lnTo>
                <a:lnTo>
                  <a:pt x="3823716" y="3429012"/>
                </a:lnTo>
                <a:lnTo>
                  <a:pt x="3823716" y="12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70030" y="3176630"/>
            <a:ext cx="148780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x,dx,dy;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float</a:t>
            </a:r>
            <a:r>
              <a:rPr sz="1600" b="1" spc="-6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d;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Point</a:t>
            </a:r>
            <a:r>
              <a:rPr sz="1600" b="1" spc="-6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p,q;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5850980" y="4150188"/>
          <a:ext cx="1037589" cy="1106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985">
                <a:tc>
                  <a:txBody>
                    <a:bodyPr/>
                    <a:lstStyle/>
                    <a:p>
                      <a:pPr marR="21590" algn="ctr">
                        <a:lnSpc>
                          <a:spcPts val="1650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p.x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ts val="1650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1;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R="21590"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p.y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2;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R="21590"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q.x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4;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marR="21590"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q.y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5;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5870030" y="5224833"/>
            <a:ext cx="2466975" cy="178117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dx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p.x -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q.x;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dy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p.y -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q.y;</a:t>
            </a:r>
            <a:endParaRPr sz="1600">
              <a:latin typeface="Courier New"/>
              <a:cs typeface="Courier New"/>
            </a:endParaRPr>
          </a:p>
          <a:p>
            <a:pPr marL="12700" marR="250190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d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dx*dx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+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dy*dy;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d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sqrt(d);</a:t>
            </a:r>
            <a:endParaRPr sz="1600">
              <a:latin typeface="Courier New"/>
              <a:cs typeface="Courier New"/>
            </a:endParaRPr>
          </a:p>
          <a:p>
            <a:pPr marL="12700" marR="5080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printf(“E.D.</a:t>
            </a:r>
            <a:r>
              <a:rPr sz="1600" b="1" spc="-114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%f”,d);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return</a:t>
            </a:r>
            <a:r>
              <a:rPr sz="1600" b="1" spc="-7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0;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55483" y="7029603"/>
            <a:ext cx="147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50339" y="4314012"/>
            <a:ext cx="843915" cy="80899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x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1;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y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2;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76" y="830056"/>
            <a:ext cx="418020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62100" algn="l"/>
                <a:tab pos="2922905" algn="l"/>
              </a:tabLst>
            </a:pPr>
            <a:r>
              <a:rPr spc="-10" dirty="0"/>
              <a:t>Input</a:t>
            </a:r>
            <a:r>
              <a:rPr dirty="0"/>
              <a:t>	</a:t>
            </a:r>
            <a:r>
              <a:rPr spc="-20" dirty="0"/>
              <a:t>from</a:t>
            </a:r>
            <a:r>
              <a:rPr dirty="0"/>
              <a:t>	</a:t>
            </a:r>
            <a:r>
              <a:rPr spc="-10" dirty="0"/>
              <a:t>users</a:t>
            </a:r>
          </a:p>
        </p:txBody>
      </p:sp>
      <p:sp>
        <p:nvSpPr>
          <p:cNvPr id="3" name="object 3"/>
          <p:cNvSpPr/>
          <p:nvPr/>
        </p:nvSpPr>
        <p:spPr>
          <a:xfrm>
            <a:off x="4870703" y="1746504"/>
            <a:ext cx="4509770" cy="2139950"/>
          </a:xfrm>
          <a:custGeom>
            <a:avLst/>
            <a:gdLst/>
            <a:ahLst/>
            <a:cxnLst/>
            <a:rect l="l" t="t" r="r" b="b"/>
            <a:pathLst>
              <a:path w="4509770" h="2139950">
                <a:moveTo>
                  <a:pt x="4509516" y="0"/>
                </a:moveTo>
                <a:lnTo>
                  <a:pt x="0" y="0"/>
                </a:lnTo>
                <a:lnTo>
                  <a:pt x="0" y="2139696"/>
                </a:lnTo>
                <a:lnTo>
                  <a:pt x="13716" y="2139696"/>
                </a:lnTo>
                <a:lnTo>
                  <a:pt x="13716" y="13716"/>
                </a:lnTo>
                <a:lnTo>
                  <a:pt x="6095" y="13716"/>
                </a:lnTo>
                <a:lnTo>
                  <a:pt x="13716" y="6096"/>
                </a:lnTo>
                <a:lnTo>
                  <a:pt x="4509516" y="6096"/>
                </a:lnTo>
                <a:lnTo>
                  <a:pt x="4509516" y="0"/>
                </a:lnTo>
                <a:close/>
              </a:path>
              <a:path w="4509770" h="2139950">
                <a:moveTo>
                  <a:pt x="4495800" y="6096"/>
                </a:moveTo>
                <a:lnTo>
                  <a:pt x="4495800" y="2139696"/>
                </a:lnTo>
                <a:lnTo>
                  <a:pt x="4509516" y="2139696"/>
                </a:lnTo>
                <a:lnTo>
                  <a:pt x="4509516" y="13716"/>
                </a:lnTo>
                <a:lnTo>
                  <a:pt x="4501896" y="13716"/>
                </a:lnTo>
                <a:lnTo>
                  <a:pt x="4495800" y="6096"/>
                </a:lnTo>
                <a:close/>
              </a:path>
              <a:path w="4509770" h="2139950">
                <a:moveTo>
                  <a:pt x="13716" y="6096"/>
                </a:moveTo>
                <a:lnTo>
                  <a:pt x="6095" y="13716"/>
                </a:lnTo>
                <a:lnTo>
                  <a:pt x="13716" y="13716"/>
                </a:lnTo>
                <a:lnTo>
                  <a:pt x="13716" y="6096"/>
                </a:lnTo>
                <a:close/>
              </a:path>
              <a:path w="4509770" h="2139950">
                <a:moveTo>
                  <a:pt x="4495800" y="6096"/>
                </a:moveTo>
                <a:lnTo>
                  <a:pt x="13716" y="6096"/>
                </a:lnTo>
                <a:lnTo>
                  <a:pt x="13716" y="13716"/>
                </a:lnTo>
                <a:lnTo>
                  <a:pt x="4495800" y="13716"/>
                </a:lnTo>
                <a:lnTo>
                  <a:pt x="4495800" y="6096"/>
                </a:lnTo>
                <a:close/>
              </a:path>
              <a:path w="4509770" h="2139950">
                <a:moveTo>
                  <a:pt x="4509516" y="6096"/>
                </a:moveTo>
                <a:lnTo>
                  <a:pt x="4495800" y="6096"/>
                </a:lnTo>
                <a:lnTo>
                  <a:pt x="4501896" y="13716"/>
                </a:lnTo>
                <a:lnTo>
                  <a:pt x="4509516" y="13716"/>
                </a:lnTo>
                <a:lnTo>
                  <a:pt x="4509516" y="6096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55483" y="1762854"/>
            <a:ext cx="19792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typedef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struct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21342" y="2005882"/>
            <a:ext cx="880110" cy="6108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  <a:tabLst>
                <a:tab pos="623570" algn="l"/>
              </a:tabLst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x;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623570" algn="l"/>
              </a:tabLst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y;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55483" y="2640510"/>
            <a:ext cx="998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Point;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70030" y="3225885"/>
            <a:ext cx="14878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x,dx,dy;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7711" y="2855452"/>
            <a:ext cx="4879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8930" indent="-290830">
              <a:lnSpc>
                <a:spcPct val="100000"/>
              </a:lnSpc>
              <a:spcBef>
                <a:spcPts val="100"/>
              </a:spcBef>
              <a:buSzPct val="88888"/>
              <a:buFont typeface="Wingdings"/>
              <a:buChar char=""/>
              <a:tabLst>
                <a:tab pos="328930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an</a:t>
            </a:r>
            <a:r>
              <a:rPr sz="1800" b="1" spc="-9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int</a:t>
            </a:r>
            <a:r>
              <a:rPr sz="1800" b="1" spc="-8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x</a:t>
            </a:r>
            <a:r>
              <a:rPr sz="1800" b="1" spc="-484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coordinate</a:t>
            </a:r>
            <a:r>
              <a:rPr sz="1800" b="1" spc="-2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u="heavy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Verdana"/>
                <a:cs typeface="Verdana"/>
              </a:rPr>
              <a:t>and</a:t>
            </a:r>
            <a:r>
              <a:rPr sz="1800" b="1" spc="6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2400" b="1" baseline="-13888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2400" b="1" spc="-82" baseline="-13888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2400" b="1" spc="-15" baseline="-13888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2400" baseline="-13888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5565" y="1782579"/>
            <a:ext cx="23679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Compound</a:t>
            </a:r>
            <a:r>
              <a:rPr sz="20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Verdana"/>
                <a:cs typeface="Verdana"/>
              </a:rPr>
              <a:t>data: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5565" y="2514035"/>
            <a:ext cx="13779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0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Point 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is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93111" y="3184636"/>
            <a:ext cx="2899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 indent="-290830">
              <a:lnSpc>
                <a:spcPct val="100000"/>
              </a:lnSpc>
              <a:spcBef>
                <a:spcPts val="100"/>
              </a:spcBef>
              <a:buSzPct val="88888"/>
              <a:buFont typeface="Wingdings"/>
              <a:buChar char=""/>
              <a:tabLst>
                <a:tab pos="303530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an</a:t>
            </a:r>
            <a:r>
              <a:rPr sz="1800" b="1" spc="-3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int</a:t>
            </a:r>
            <a:r>
              <a:rPr sz="1800" b="1" spc="-3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y</a:t>
            </a:r>
            <a:r>
              <a:rPr sz="1800" b="1" spc="-3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0066"/>
                </a:solidFill>
                <a:latin typeface="Verdana"/>
                <a:cs typeface="Verdana"/>
              </a:rPr>
              <a:t>coordinate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40292" y="6884920"/>
            <a:ext cx="2241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20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70704" y="3886200"/>
            <a:ext cx="4509770" cy="3429635"/>
          </a:xfrm>
          <a:custGeom>
            <a:avLst/>
            <a:gdLst/>
            <a:ahLst/>
            <a:cxnLst/>
            <a:rect l="l" t="t" r="r" b="b"/>
            <a:pathLst>
              <a:path w="4509770" h="3429634">
                <a:moveTo>
                  <a:pt x="13716" y="0"/>
                </a:moveTo>
                <a:lnTo>
                  <a:pt x="0" y="0"/>
                </a:lnTo>
                <a:lnTo>
                  <a:pt x="0" y="3429012"/>
                </a:lnTo>
                <a:lnTo>
                  <a:pt x="13716" y="3429012"/>
                </a:lnTo>
                <a:lnTo>
                  <a:pt x="13716" y="0"/>
                </a:lnTo>
                <a:close/>
              </a:path>
              <a:path w="4509770" h="3429634">
                <a:moveTo>
                  <a:pt x="4509516" y="0"/>
                </a:moveTo>
                <a:lnTo>
                  <a:pt x="4495800" y="0"/>
                </a:lnTo>
                <a:lnTo>
                  <a:pt x="4495800" y="3429012"/>
                </a:lnTo>
                <a:lnTo>
                  <a:pt x="4509516" y="3429012"/>
                </a:lnTo>
                <a:lnTo>
                  <a:pt x="4509516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870030" y="5224833"/>
            <a:ext cx="2466975" cy="178117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dx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p.x -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q.x;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dy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p.y -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q.y;</a:t>
            </a:r>
            <a:endParaRPr sz="1600">
              <a:latin typeface="Courier New"/>
              <a:cs typeface="Courier New"/>
            </a:endParaRPr>
          </a:p>
          <a:p>
            <a:pPr marL="12700" marR="250190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d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dx*dx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+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dy*dy;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d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sqrt(d);</a:t>
            </a:r>
            <a:endParaRPr sz="1600">
              <a:latin typeface="Courier New"/>
              <a:cs typeface="Courier New"/>
            </a:endParaRPr>
          </a:p>
          <a:p>
            <a:pPr marL="12700" marR="5080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printf(“E.D.</a:t>
            </a:r>
            <a:r>
              <a:rPr sz="1600" b="1" spc="-114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%f”,d);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return</a:t>
            </a:r>
            <a:r>
              <a:rPr sz="1600" b="1" spc="-7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0;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55483" y="7029603"/>
            <a:ext cx="147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5850980" y="3565016"/>
          <a:ext cx="3435350" cy="16916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2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3720">
                <a:tc>
                  <a:txBody>
                    <a:bodyPr/>
                    <a:lstStyle/>
                    <a:p>
                      <a:pPr marL="31750">
                        <a:lnSpc>
                          <a:spcPts val="1650"/>
                        </a:lnSpc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float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Point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50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d;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p,q;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marL="31750">
                        <a:lnSpc>
                          <a:spcPts val="1895"/>
                        </a:lnSpc>
                      </a:pPr>
                      <a:r>
                        <a:rPr sz="1600" b="1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p.x</a:t>
                      </a:r>
                      <a:r>
                        <a:rPr sz="1600" b="1" spc="-4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1;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scanf(“%d”,&amp;p.x);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8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005">
                <a:tc>
                  <a:txBody>
                    <a:bodyPr/>
                    <a:lstStyle/>
                    <a:p>
                      <a:pPr marL="31750">
                        <a:lnSpc>
                          <a:spcPts val="1910"/>
                        </a:lnSpc>
                      </a:pPr>
                      <a:r>
                        <a:rPr sz="1600" b="1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p.y</a:t>
                      </a:r>
                      <a:r>
                        <a:rPr sz="1600" b="1" spc="-4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910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2;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1789"/>
                        </a:lnSpc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scanf(“%d”,&amp;p.y);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005">
                <a:tc>
                  <a:txBody>
                    <a:bodyPr/>
                    <a:lstStyle/>
                    <a:p>
                      <a:pPr marL="31750">
                        <a:lnSpc>
                          <a:spcPts val="1895"/>
                        </a:lnSpc>
                      </a:pPr>
                      <a:r>
                        <a:rPr sz="1600" b="1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q.x</a:t>
                      </a:r>
                      <a:r>
                        <a:rPr sz="1600" b="1" spc="-4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4;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scanf(“%d”,&amp;q.x);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333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79">
                <a:tc>
                  <a:txBody>
                    <a:bodyPr/>
                    <a:lstStyle/>
                    <a:p>
                      <a:pPr marL="31750">
                        <a:lnSpc>
                          <a:spcPts val="1885"/>
                        </a:lnSpc>
                      </a:pPr>
                      <a:r>
                        <a:rPr sz="1600" b="1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q.y</a:t>
                      </a:r>
                      <a:r>
                        <a:rPr sz="1600" b="1" spc="-4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8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5;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775"/>
                        </a:lnSpc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scanf(“%d”,&amp;q.y);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7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25347" rIns="0" bIns="0" rtlCol="0">
            <a:spAutoFit/>
          </a:bodyPr>
          <a:lstStyle/>
          <a:p>
            <a:pPr marL="241300">
              <a:lnSpc>
                <a:spcPts val="2875"/>
              </a:lnSpc>
              <a:spcBef>
                <a:spcPts val="100"/>
              </a:spcBef>
            </a:pPr>
            <a:r>
              <a:rPr spc="-10" dirty="0"/>
              <a:t>Structure</a:t>
            </a:r>
          </a:p>
          <a:p>
            <a:pPr marL="698500" marR="3592829">
              <a:lnSpc>
                <a:spcPts val="2400"/>
              </a:lnSpc>
              <a:spcBef>
                <a:spcPts val="75"/>
              </a:spcBef>
            </a:pPr>
            <a:r>
              <a:rPr sz="2000" dirty="0"/>
              <a:t>Definition</a:t>
            </a:r>
            <a:r>
              <a:rPr sz="2000" spc="-90" dirty="0"/>
              <a:t> </a:t>
            </a:r>
            <a:r>
              <a:rPr sz="2000" dirty="0"/>
              <a:t>of</a:t>
            </a:r>
            <a:r>
              <a:rPr sz="2000" spc="-60" dirty="0"/>
              <a:t> </a:t>
            </a:r>
            <a:r>
              <a:rPr sz="2000" spc="-10" dirty="0"/>
              <a:t>structures </a:t>
            </a:r>
            <a:r>
              <a:rPr sz="2000" dirty="0"/>
              <a:t>Creating</a:t>
            </a:r>
            <a:r>
              <a:rPr sz="2000" spc="-55" dirty="0"/>
              <a:t> </a:t>
            </a:r>
            <a:r>
              <a:rPr sz="2000" dirty="0"/>
              <a:t>structures</a:t>
            </a:r>
            <a:r>
              <a:rPr sz="2000" spc="-20" dirty="0"/>
              <a:t> </a:t>
            </a:r>
            <a:r>
              <a:rPr sz="2000" dirty="0"/>
              <a:t>in</a:t>
            </a:r>
            <a:r>
              <a:rPr sz="2000" spc="-30" dirty="0"/>
              <a:t> </a:t>
            </a:r>
            <a:r>
              <a:rPr sz="2000" spc="-50" dirty="0"/>
              <a:t>C</a:t>
            </a:r>
            <a:endParaRPr sz="2000"/>
          </a:p>
          <a:p>
            <a:pPr marL="196850" marR="470534" algn="ctr">
              <a:lnSpc>
                <a:spcPts val="2300"/>
              </a:lnSpc>
            </a:pPr>
            <a:r>
              <a:rPr sz="2000" dirty="0">
                <a:latin typeface="Arial"/>
                <a:cs typeface="Arial"/>
              </a:rPr>
              <a:t>dot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printf,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scanf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structure</a:t>
            </a:r>
            <a:endParaRPr sz="200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  <a:spcBef>
                <a:spcPts val="20"/>
              </a:spcBef>
            </a:pPr>
            <a:r>
              <a:rPr sz="2000" dirty="0"/>
              <a:t>typedef</a:t>
            </a:r>
            <a:r>
              <a:rPr sz="2000" spc="-40" dirty="0"/>
              <a:t> </a:t>
            </a:r>
            <a:r>
              <a:rPr sz="2000" dirty="0"/>
              <a:t>vs</a:t>
            </a:r>
            <a:r>
              <a:rPr sz="2000" spc="-20" dirty="0"/>
              <a:t> </a:t>
            </a:r>
            <a:r>
              <a:rPr sz="2000" spc="-10" dirty="0"/>
              <a:t>struct</a:t>
            </a:r>
            <a:endParaRPr sz="2000"/>
          </a:p>
          <a:p>
            <a:pPr marL="698500" marR="87630">
              <a:lnSpc>
                <a:spcPct val="100000"/>
              </a:lnSpc>
              <a:spcBef>
                <a:spcPts val="5"/>
              </a:spcBef>
            </a:pPr>
            <a:r>
              <a:rPr sz="2000" dirty="0"/>
              <a:t>Problem</a:t>
            </a:r>
            <a:r>
              <a:rPr sz="2000" spc="-55" dirty="0"/>
              <a:t> </a:t>
            </a:r>
            <a:r>
              <a:rPr sz="2000" dirty="0"/>
              <a:t>solving</a:t>
            </a:r>
            <a:r>
              <a:rPr sz="2000" spc="-20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structure</a:t>
            </a:r>
            <a:r>
              <a:rPr sz="2000" spc="-35" dirty="0"/>
              <a:t> </a:t>
            </a:r>
            <a:r>
              <a:rPr sz="2000" dirty="0"/>
              <a:t>(similar</a:t>
            </a:r>
            <a:r>
              <a:rPr sz="2000" spc="-15" dirty="0"/>
              <a:t> </a:t>
            </a:r>
            <a:r>
              <a:rPr sz="2000" spc="-10" dirty="0"/>
              <a:t>type) </a:t>
            </a:r>
            <a:r>
              <a:rPr sz="2000" dirty="0">
                <a:solidFill>
                  <a:srgbClr val="FF0000"/>
                </a:solidFill>
              </a:rPr>
              <a:t>Problem</a:t>
            </a:r>
            <a:r>
              <a:rPr sz="2000" spc="-8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solving</a:t>
            </a:r>
            <a:r>
              <a:rPr sz="2000" spc="-4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with</a:t>
            </a:r>
            <a:r>
              <a:rPr sz="2000" spc="-4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structure</a:t>
            </a:r>
            <a:r>
              <a:rPr sz="2000" spc="-6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(dissimilar</a:t>
            </a:r>
            <a:r>
              <a:rPr sz="2000" spc="-45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type) </a:t>
            </a:r>
            <a:r>
              <a:rPr sz="2000" dirty="0">
                <a:solidFill>
                  <a:srgbClr val="FF0000"/>
                </a:solidFill>
              </a:rPr>
              <a:t>Passing</a:t>
            </a:r>
            <a:r>
              <a:rPr sz="2000" spc="-5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structure</a:t>
            </a:r>
            <a:r>
              <a:rPr sz="2000" spc="-3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as</a:t>
            </a:r>
            <a:r>
              <a:rPr sz="2000" spc="-3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function</a:t>
            </a:r>
            <a:r>
              <a:rPr sz="2000" spc="-45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parameter</a:t>
            </a:r>
            <a:endParaRPr sz="2000"/>
          </a:p>
          <a:p>
            <a:pPr marL="698500">
              <a:lnSpc>
                <a:spcPts val="2400"/>
              </a:lnSpc>
            </a:pPr>
            <a:r>
              <a:rPr sz="2000" dirty="0"/>
              <a:t>Arrays</a:t>
            </a:r>
            <a:r>
              <a:rPr sz="2000" spc="-60" dirty="0"/>
              <a:t> </a:t>
            </a:r>
            <a:r>
              <a:rPr sz="2000" dirty="0"/>
              <a:t>of</a:t>
            </a:r>
            <a:r>
              <a:rPr sz="2000" spc="-30" dirty="0"/>
              <a:t> </a:t>
            </a:r>
            <a:r>
              <a:rPr sz="2000" spc="-10" dirty="0"/>
              <a:t>structure</a:t>
            </a:r>
            <a:endParaRPr sz="2000"/>
          </a:p>
          <a:p>
            <a:pPr marL="698500" marR="5080">
              <a:lnSpc>
                <a:spcPct val="100000"/>
              </a:lnSpc>
            </a:pPr>
            <a:r>
              <a:rPr sz="2000" dirty="0"/>
              <a:t>Passing</a:t>
            </a:r>
            <a:r>
              <a:rPr sz="2000" spc="-50" dirty="0"/>
              <a:t> </a:t>
            </a:r>
            <a:r>
              <a:rPr sz="2000" dirty="0"/>
              <a:t>array</a:t>
            </a:r>
            <a:r>
              <a:rPr sz="2000" spc="-30" dirty="0"/>
              <a:t> </a:t>
            </a:r>
            <a:r>
              <a:rPr sz="2000" dirty="0"/>
              <a:t>of</a:t>
            </a:r>
            <a:r>
              <a:rPr sz="2000" spc="-15" dirty="0"/>
              <a:t> </a:t>
            </a:r>
            <a:r>
              <a:rPr sz="2000" dirty="0"/>
              <a:t>structure</a:t>
            </a:r>
            <a:r>
              <a:rPr sz="2000" spc="-20" dirty="0"/>
              <a:t> </a:t>
            </a:r>
            <a:r>
              <a:rPr sz="2000" dirty="0"/>
              <a:t>as</a:t>
            </a:r>
            <a:r>
              <a:rPr sz="2000" spc="-25" dirty="0"/>
              <a:t> </a:t>
            </a:r>
            <a:r>
              <a:rPr sz="2000" dirty="0"/>
              <a:t>function</a:t>
            </a:r>
            <a:r>
              <a:rPr sz="2000" spc="-35" dirty="0"/>
              <a:t> </a:t>
            </a:r>
            <a:r>
              <a:rPr sz="2000" spc="-10" dirty="0"/>
              <a:t>parameter </a:t>
            </a:r>
            <a:r>
              <a:rPr sz="2000" dirty="0"/>
              <a:t>Determining</a:t>
            </a:r>
            <a:r>
              <a:rPr sz="2000" spc="-60" dirty="0"/>
              <a:t> </a:t>
            </a:r>
            <a:r>
              <a:rPr sz="2000" dirty="0"/>
              <a:t>size</a:t>
            </a:r>
            <a:r>
              <a:rPr sz="2000" spc="-35" dirty="0"/>
              <a:t> </a:t>
            </a:r>
            <a:r>
              <a:rPr sz="2000" dirty="0"/>
              <a:t>of</a:t>
            </a:r>
            <a:r>
              <a:rPr sz="2000" spc="-35" dirty="0"/>
              <a:t> </a:t>
            </a:r>
            <a:r>
              <a:rPr sz="2000" spc="-10" dirty="0"/>
              <a:t>structure</a:t>
            </a:r>
            <a:endParaRPr sz="2000"/>
          </a:p>
        </p:txBody>
      </p:sp>
      <p:sp>
        <p:nvSpPr>
          <p:cNvPr id="5" name="object 5"/>
          <p:cNvSpPr/>
          <p:nvPr/>
        </p:nvSpPr>
        <p:spPr>
          <a:xfrm>
            <a:off x="762000" y="4412122"/>
            <a:ext cx="535305" cy="171450"/>
          </a:xfrm>
          <a:custGeom>
            <a:avLst/>
            <a:gdLst/>
            <a:ahLst/>
            <a:cxnLst/>
            <a:rect l="l" t="t" r="r" b="b"/>
            <a:pathLst>
              <a:path w="535305" h="171450">
                <a:moveTo>
                  <a:pt x="425400" y="104794"/>
                </a:moveTo>
                <a:lnTo>
                  <a:pt x="371856" y="135493"/>
                </a:lnTo>
                <a:lnTo>
                  <a:pt x="366188" y="140827"/>
                </a:lnTo>
                <a:lnTo>
                  <a:pt x="363092" y="147304"/>
                </a:lnTo>
                <a:lnTo>
                  <a:pt x="362854" y="154352"/>
                </a:lnTo>
                <a:lnTo>
                  <a:pt x="365759" y="161401"/>
                </a:lnTo>
                <a:lnTo>
                  <a:pt x="370451" y="167092"/>
                </a:lnTo>
                <a:lnTo>
                  <a:pt x="376999" y="170354"/>
                </a:lnTo>
                <a:lnTo>
                  <a:pt x="384405" y="171045"/>
                </a:lnTo>
                <a:lnTo>
                  <a:pt x="391668" y="169021"/>
                </a:lnTo>
                <a:lnTo>
                  <a:pt x="503089" y="105013"/>
                </a:lnTo>
                <a:lnTo>
                  <a:pt x="496824" y="105013"/>
                </a:lnTo>
                <a:lnTo>
                  <a:pt x="425400" y="104794"/>
                </a:lnTo>
                <a:close/>
              </a:path>
              <a:path w="535305" h="171450">
                <a:moveTo>
                  <a:pt x="458753" y="85671"/>
                </a:moveTo>
                <a:lnTo>
                  <a:pt x="425400" y="104794"/>
                </a:lnTo>
                <a:lnTo>
                  <a:pt x="496824" y="105013"/>
                </a:lnTo>
                <a:lnTo>
                  <a:pt x="496824" y="101965"/>
                </a:lnTo>
                <a:lnTo>
                  <a:pt x="486156" y="101965"/>
                </a:lnTo>
                <a:lnTo>
                  <a:pt x="458753" y="85671"/>
                </a:lnTo>
                <a:close/>
              </a:path>
              <a:path w="535305" h="171450">
                <a:moveTo>
                  <a:pt x="384619" y="0"/>
                </a:moveTo>
                <a:lnTo>
                  <a:pt x="377571" y="238"/>
                </a:lnTo>
                <a:lnTo>
                  <a:pt x="371094" y="3333"/>
                </a:lnTo>
                <a:lnTo>
                  <a:pt x="365759" y="9001"/>
                </a:lnTo>
                <a:lnTo>
                  <a:pt x="363735" y="16263"/>
                </a:lnTo>
                <a:lnTo>
                  <a:pt x="364426" y="23669"/>
                </a:lnTo>
                <a:lnTo>
                  <a:pt x="367688" y="30218"/>
                </a:lnTo>
                <a:lnTo>
                  <a:pt x="373380" y="34909"/>
                </a:lnTo>
                <a:lnTo>
                  <a:pt x="426842" y="66697"/>
                </a:lnTo>
                <a:lnTo>
                  <a:pt x="496824" y="66913"/>
                </a:lnTo>
                <a:lnTo>
                  <a:pt x="496824" y="105013"/>
                </a:lnTo>
                <a:lnTo>
                  <a:pt x="503089" y="105013"/>
                </a:lnTo>
                <a:lnTo>
                  <a:pt x="534924" y="86725"/>
                </a:lnTo>
                <a:lnTo>
                  <a:pt x="391668" y="2905"/>
                </a:lnTo>
                <a:lnTo>
                  <a:pt x="384619" y="0"/>
                </a:lnTo>
                <a:close/>
              </a:path>
              <a:path w="535305" h="171450">
                <a:moveTo>
                  <a:pt x="1523" y="65389"/>
                </a:moveTo>
                <a:lnTo>
                  <a:pt x="60" y="101965"/>
                </a:lnTo>
                <a:lnTo>
                  <a:pt x="0" y="103489"/>
                </a:lnTo>
                <a:lnTo>
                  <a:pt x="425400" y="104794"/>
                </a:lnTo>
                <a:lnTo>
                  <a:pt x="458753" y="85671"/>
                </a:lnTo>
                <a:lnTo>
                  <a:pt x="426842" y="66697"/>
                </a:lnTo>
                <a:lnTo>
                  <a:pt x="1523" y="65389"/>
                </a:lnTo>
                <a:close/>
              </a:path>
              <a:path w="535305" h="171450">
                <a:moveTo>
                  <a:pt x="486156" y="69961"/>
                </a:moveTo>
                <a:lnTo>
                  <a:pt x="458753" y="85671"/>
                </a:lnTo>
                <a:lnTo>
                  <a:pt x="486156" y="101965"/>
                </a:lnTo>
                <a:lnTo>
                  <a:pt x="486156" y="69961"/>
                </a:lnTo>
                <a:close/>
              </a:path>
              <a:path w="535305" h="171450">
                <a:moveTo>
                  <a:pt x="496824" y="69961"/>
                </a:moveTo>
                <a:lnTo>
                  <a:pt x="486156" y="69961"/>
                </a:lnTo>
                <a:lnTo>
                  <a:pt x="486156" y="101965"/>
                </a:lnTo>
                <a:lnTo>
                  <a:pt x="496824" y="101965"/>
                </a:lnTo>
                <a:lnTo>
                  <a:pt x="496824" y="69961"/>
                </a:lnTo>
                <a:close/>
              </a:path>
              <a:path w="535305" h="171450">
                <a:moveTo>
                  <a:pt x="426842" y="66697"/>
                </a:moveTo>
                <a:lnTo>
                  <a:pt x="458753" y="85671"/>
                </a:lnTo>
                <a:lnTo>
                  <a:pt x="486156" y="69961"/>
                </a:lnTo>
                <a:lnTo>
                  <a:pt x="496824" y="69961"/>
                </a:lnTo>
                <a:lnTo>
                  <a:pt x="496824" y="66913"/>
                </a:lnTo>
                <a:lnTo>
                  <a:pt x="426842" y="6669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7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2774696"/>
            <a:ext cx="7817484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Create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structure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named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Verdana"/>
                <a:cs typeface="Verdana"/>
              </a:rPr>
              <a:t>Student</a:t>
            </a:r>
            <a:r>
              <a:rPr sz="2400" b="1" i="1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that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has</a:t>
            </a:r>
            <a:endParaRPr sz="2400">
              <a:latin typeface="Verdana"/>
              <a:cs typeface="Verdana"/>
            </a:endParaRPr>
          </a:p>
          <a:p>
            <a:pPr marL="187960" marR="5080">
              <a:lnSpc>
                <a:spcPct val="100000"/>
              </a:lnSpc>
              <a:tabLst>
                <a:tab pos="1257300" algn="l"/>
              </a:tabLst>
            </a:pPr>
            <a:r>
              <a:rPr sz="2400" b="1" i="1" dirty="0">
                <a:solidFill>
                  <a:srgbClr val="006600"/>
                </a:solidFill>
                <a:latin typeface="Verdana"/>
                <a:cs typeface="Verdana"/>
              </a:rPr>
              <a:t>name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,</a:t>
            </a:r>
            <a:r>
              <a:rPr sz="24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i="1" dirty="0">
                <a:solidFill>
                  <a:srgbClr val="006600"/>
                </a:solidFill>
                <a:latin typeface="Verdana"/>
                <a:cs typeface="Verdana"/>
              </a:rPr>
              <a:t>roll,</a:t>
            </a:r>
            <a:r>
              <a:rPr sz="2400" b="1" i="1" spc="-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i="1" dirty="0">
                <a:solidFill>
                  <a:srgbClr val="006600"/>
                </a:solidFill>
                <a:latin typeface="Verdana"/>
                <a:cs typeface="Verdana"/>
              </a:rPr>
              <a:t>mark</a:t>
            </a:r>
            <a:r>
              <a:rPr sz="2400" b="1" i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i="1" dirty="0">
                <a:solidFill>
                  <a:srgbClr val="006600"/>
                </a:solidFill>
                <a:latin typeface="Verdana"/>
                <a:cs typeface="Verdana"/>
              </a:rPr>
              <a:t>and</a:t>
            </a:r>
            <a:r>
              <a:rPr sz="2400" b="1" i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i="1" dirty="0">
                <a:solidFill>
                  <a:srgbClr val="006600"/>
                </a:solidFill>
                <a:latin typeface="Verdana"/>
                <a:cs typeface="Verdana"/>
              </a:rPr>
              <a:t>grade</a:t>
            </a:r>
            <a:r>
              <a:rPr sz="2400" b="1" i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as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members.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Assume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appropriate</a:t>
            </a:r>
            <a:r>
              <a:rPr sz="2400" b="1" spc="-6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types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and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size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of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member.</a:t>
            </a:r>
            <a:r>
              <a:rPr sz="2400" b="1" spc="-7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Write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4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program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using</a:t>
            </a:r>
            <a:r>
              <a:rPr sz="2400" b="1" spc="-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structure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to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read</a:t>
            </a:r>
            <a:r>
              <a:rPr sz="2400" b="1" spc="-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and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display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data</a:t>
            </a:r>
            <a:r>
              <a:rPr sz="24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entered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by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the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user.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	Find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his/her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grade</a:t>
            </a:r>
            <a:r>
              <a:rPr sz="2400" b="1" spc="-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using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user-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defined</a:t>
            </a:r>
            <a:r>
              <a:rPr sz="2400" b="1" spc="-1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function.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40292" y="6884920"/>
            <a:ext cx="2241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22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7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dirty="0"/>
              <a:t>Solution:</a:t>
            </a:r>
            <a:r>
              <a:rPr spc="-90" dirty="0"/>
              <a:t> </a:t>
            </a:r>
            <a:r>
              <a:rPr dirty="0"/>
              <a:t>Defining</a:t>
            </a:r>
            <a:r>
              <a:rPr spc="-90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15" y="1722261"/>
            <a:ext cx="3311525" cy="2054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48690">
              <a:lnSpc>
                <a:spcPct val="120000"/>
              </a:lnSpc>
              <a:spcBef>
                <a:spcPts val="95"/>
              </a:spcBef>
            </a:pP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Compound</a:t>
            </a:r>
            <a:r>
              <a:rPr sz="20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Verdana"/>
                <a:cs typeface="Verdana"/>
              </a:rPr>
              <a:t>data: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Student</a:t>
            </a:r>
            <a:r>
              <a:rPr sz="20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has</a:t>
            </a:r>
            <a:endParaRPr sz="20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285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</a:t>
            </a:r>
            <a:r>
              <a:rPr sz="1800" b="1" spc="-4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char</a:t>
            </a:r>
            <a:r>
              <a:rPr sz="1800" b="1" spc="-4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n[50]</a:t>
            </a:r>
            <a:r>
              <a:rPr sz="1800" b="1" spc="-5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0066"/>
                </a:solidFill>
                <a:latin typeface="Verdana"/>
                <a:cs typeface="Verdana"/>
              </a:rPr>
              <a:t>name</a:t>
            </a:r>
            <a:endParaRPr sz="18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434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an</a:t>
            </a:r>
            <a:r>
              <a:rPr sz="1800" b="1" spc="-4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int</a:t>
            </a:r>
            <a:r>
              <a:rPr sz="1800" b="1" spc="-6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id</a:t>
            </a:r>
            <a:r>
              <a:rPr sz="1800" b="1" spc="-7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student</a:t>
            </a:r>
            <a:r>
              <a:rPr sz="1800" b="1" spc="-1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spc="-25" dirty="0">
                <a:solidFill>
                  <a:srgbClr val="000066"/>
                </a:solidFill>
                <a:latin typeface="Verdana"/>
                <a:cs typeface="Verdana"/>
              </a:rPr>
              <a:t>id</a:t>
            </a:r>
            <a:endParaRPr sz="18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430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</a:t>
            </a:r>
            <a:r>
              <a:rPr sz="1800" b="1" spc="-3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float</a:t>
            </a:r>
            <a:r>
              <a:rPr sz="1800" b="1" spc="-35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m</a:t>
            </a:r>
            <a:r>
              <a:rPr sz="1800" b="1" spc="-3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mark</a:t>
            </a:r>
            <a:r>
              <a:rPr sz="1800" b="1" spc="-1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u="heavy" spc="-25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Verdana"/>
                <a:cs typeface="Verdana"/>
              </a:rPr>
              <a:t>and</a:t>
            </a:r>
            <a:endParaRPr sz="18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434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</a:t>
            </a:r>
            <a:r>
              <a:rPr sz="1800" b="1" u="heavy" spc="135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Courier New"/>
                <a:cs typeface="Courier New"/>
              </a:rPr>
              <a:t> </a:t>
            </a:r>
            <a:r>
              <a:rPr sz="1800" b="1" u="heavy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Courier New"/>
                <a:cs typeface="Courier New"/>
              </a:rPr>
              <a:t>char</a:t>
            </a:r>
            <a:r>
              <a:rPr sz="1800" b="1" spc="-3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g</a:t>
            </a:r>
            <a:r>
              <a:rPr sz="1800" b="1" spc="-2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0066"/>
                </a:solidFill>
                <a:latin typeface="Verdana"/>
                <a:cs typeface="Verdana"/>
              </a:rPr>
              <a:t>grade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27903" y="1822704"/>
            <a:ext cx="3595370" cy="2063750"/>
          </a:xfrm>
          <a:custGeom>
            <a:avLst/>
            <a:gdLst/>
            <a:ahLst/>
            <a:cxnLst/>
            <a:rect l="l" t="t" r="r" b="b"/>
            <a:pathLst>
              <a:path w="3595370" h="2063750">
                <a:moveTo>
                  <a:pt x="3595116" y="0"/>
                </a:moveTo>
                <a:lnTo>
                  <a:pt x="0" y="0"/>
                </a:lnTo>
                <a:lnTo>
                  <a:pt x="0" y="2063496"/>
                </a:lnTo>
                <a:lnTo>
                  <a:pt x="13716" y="2063496"/>
                </a:lnTo>
                <a:lnTo>
                  <a:pt x="13716" y="13716"/>
                </a:lnTo>
                <a:lnTo>
                  <a:pt x="6096" y="13716"/>
                </a:lnTo>
                <a:lnTo>
                  <a:pt x="13716" y="6096"/>
                </a:lnTo>
                <a:lnTo>
                  <a:pt x="3595116" y="6096"/>
                </a:lnTo>
                <a:lnTo>
                  <a:pt x="3595116" y="0"/>
                </a:lnTo>
                <a:close/>
              </a:path>
              <a:path w="3595370" h="2063750">
                <a:moveTo>
                  <a:pt x="3581400" y="6096"/>
                </a:moveTo>
                <a:lnTo>
                  <a:pt x="3581400" y="2063496"/>
                </a:lnTo>
                <a:lnTo>
                  <a:pt x="3595116" y="2063496"/>
                </a:lnTo>
                <a:lnTo>
                  <a:pt x="3595116" y="13716"/>
                </a:lnTo>
                <a:lnTo>
                  <a:pt x="3587496" y="13716"/>
                </a:lnTo>
                <a:lnTo>
                  <a:pt x="3581400" y="6096"/>
                </a:lnTo>
                <a:close/>
              </a:path>
              <a:path w="3595370" h="2063750">
                <a:moveTo>
                  <a:pt x="13716" y="6096"/>
                </a:moveTo>
                <a:lnTo>
                  <a:pt x="6096" y="13716"/>
                </a:lnTo>
                <a:lnTo>
                  <a:pt x="13716" y="13716"/>
                </a:lnTo>
                <a:lnTo>
                  <a:pt x="13716" y="6096"/>
                </a:lnTo>
                <a:close/>
              </a:path>
              <a:path w="3595370" h="2063750">
                <a:moveTo>
                  <a:pt x="3581400" y="6096"/>
                </a:moveTo>
                <a:lnTo>
                  <a:pt x="13716" y="6096"/>
                </a:lnTo>
                <a:lnTo>
                  <a:pt x="13716" y="13716"/>
                </a:lnTo>
                <a:lnTo>
                  <a:pt x="3581400" y="13716"/>
                </a:lnTo>
                <a:lnTo>
                  <a:pt x="3581400" y="6096"/>
                </a:lnTo>
                <a:close/>
              </a:path>
              <a:path w="3595370" h="2063750">
                <a:moveTo>
                  <a:pt x="3595116" y="6096"/>
                </a:moveTo>
                <a:lnTo>
                  <a:pt x="3581400" y="6096"/>
                </a:lnTo>
                <a:lnTo>
                  <a:pt x="3587496" y="13716"/>
                </a:lnTo>
                <a:lnTo>
                  <a:pt x="3595116" y="13716"/>
                </a:lnTo>
                <a:lnTo>
                  <a:pt x="3595116" y="6096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12756" y="1789407"/>
            <a:ext cx="1899920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 marR="5080" indent="-365760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typedef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struct</a:t>
            </a:r>
            <a:r>
              <a:rPr sz="1600" b="1" spc="-60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2400" b="1" spc="-75" baseline="3472" dirty="0">
                <a:solidFill>
                  <a:srgbClr val="006600"/>
                </a:solidFill>
                <a:latin typeface="Courier New"/>
                <a:cs typeface="Courier New"/>
              </a:rPr>
              <a:t>{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n[50];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12756" y="2374983"/>
            <a:ext cx="1425575" cy="1202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 marR="5080" algn="just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215" dirty="0">
                <a:solidFill>
                  <a:srgbClr val="006600"/>
                </a:solidFill>
                <a:latin typeface="Courier New"/>
                <a:cs typeface="Courier New"/>
              </a:rPr>
              <a:t> 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id;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float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m;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g;</a:t>
            </a:r>
            <a:endParaRPr sz="1600">
              <a:latin typeface="Courier New"/>
              <a:cs typeface="Courier New"/>
            </a:endParaRPr>
          </a:p>
          <a:p>
            <a:pPr marL="12700" algn="just">
              <a:lnSpc>
                <a:spcPct val="100000"/>
              </a:lnSpc>
              <a:spcBef>
                <a:spcPts val="43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2400" b="1" spc="-15" baseline="1736" dirty="0">
                <a:solidFill>
                  <a:srgbClr val="006600"/>
                </a:solidFill>
                <a:latin typeface="Courier New"/>
                <a:cs typeface="Courier New"/>
              </a:rPr>
              <a:t>Student;</a:t>
            </a:r>
            <a:endParaRPr sz="2400" baseline="1736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40292" y="6884920"/>
            <a:ext cx="2241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23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27903" y="3886200"/>
            <a:ext cx="3595370" cy="60960"/>
          </a:xfrm>
          <a:custGeom>
            <a:avLst/>
            <a:gdLst/>
            <a:ahLst/>
            <a:cxnLst/>
            <a:rect l="l" t="t" r="r" b="b"/>
            <a:pathLst>
              <a:path w="3595370" h="60960">
                <a:moveTo>
                  <a:pt x="13716" y="0"/>
                </a:moveTo>
                <a:lnTo>
                  <a:pt x="0" y="0"/>
                </a:lnTo>
                <a:lnTo>
                  <a:pt x="0" y="60960"/>
                </a:lnTo>
                <a:lnTo>
                  <a:pt x="3595116" y="60960"/>
                </a:lnTo>
                <a:lnTo>
                  <a:pt x="3595116" y="54863"/>
                </a:lnTo>
                <a:lnTo>
                  <a:pt x="13716" y="54863"/>
                </a:lnTo>
                <a:lnTo>
                  <a:pt x="6096" y="48767"/>
                </a:lnTo>
                <a:lnTo>
                  <a:pt x="13716" y="48767"/>
                </a:lnTo>
                <a:lnTo>
                  <a:pt x="13716" y="0"/>
                </a:lnTo>
                <a:close/>
              </a:path>
              <a:path w="3595370" h="60960">
                <a:moveTo>
                  <a:pt x="13716" y="48767"/>
                </a:moveTo>
                <a:lnTo>
                  <a:pt x="6096" y="48767"/>
                </a:lnTo>
                <a:lnTo>
                  <a:pt x="13716" y="54863"/>
                </a:lnTo>
                <a:lnTo>
                  <a:pt x="13716" y="48767"/>
                </a:lnTo>
                <a:close/>
              </a:path>
              <a:path w="3595370" h="60960">
                <a:moveTo>
                  <a:pt x="3581400" y="48767"/>
                </a:moveTo>
                <a:lnTo>
                  <a:pt x="13716" y="48767"/>
                </a:lnTo>
                <a:lnTo>
                  <a:pt x="13716" y="54863"/>
                </a:lnTo>
                <a:lnTo>
                  <a:pt x="3581400" y="54863"/>
                </a:lnTo>
                <a:lnTo>
                  <a:pt x="3581400" y="48767"/>
                </a:lnTo>
                <a:close/>
              </a:path>
              <a:path w="3595370" h="60960">
                <a:moveTo>
                  <a:pt x="3595116" y="0"/>
                </a:moveTo>
                <a:lnTo>
                  <a:pt x="3581400" y="0"/>
                </a:lnTo>
                <a:lnTo>
                  <a:pt x="3581400" y="54863"/>
                </a:lnTo>
                <a:lnTo>
                  <a:pt x="3587496" y="48767"/>
                </a:lnTo>
                <a:lnTo>
                  <a:pt x="3595116" y="48767"/>
                </a:lnTo>
                <a:lnTo>
                  <a:pt x="3595116" y="0"/>
                </a:lnTo>
                <a:close/>
              </a:path>
              <a:path w="3595370" h="60960">
                <a:moveTo>
                  <a:pt x="3595116" y="48767"/>
                </a:moveTo>
                <a:lnTo>
                  <a:pt x="3587496" y="48767"/>
                </a:lnTo>
                <a:lnTo>
                  <a:pt x="3581400" y="54863"/>
                </a:lnTo>
                <a:lnTo>
                  <a:pt x="3595116" y="54863"/>
                </a:lnTo>
                <a:lnTo>
                  <a:pt x="3595116" y="48767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41704" y="4184903"/>
            <a:ext cx="1309370" cy="1856739"/>
          </a:xfrm>
          <a:custGeom>
            <a:avLst/>
            <a:gdLst/>
            <a:ahLst/>
            <a:cxnLst/>
            <a:rect l="l" t="t" r="r" b="b"/>
            <a:pathLst>
              <a:path w="1309370" h="1856739">
                <a:moveTo>
                  <a:pt x="1309116" y="1389888"/>
                </a:moveTo>
                <a:lnTo>
                  <a:pt x="1306068" y="1386840"/>
                </a:lnTo>
                <a:lnTo>
                  <a:pt x="1295400" y="1386840"/>
                </a:lnTo>
                <a:lnTo>
                  <a:pt x="1295400" y="1399032"/>
                </a:lnTo>
                <a:lnTo>
                  <a:pt x="1295400" y="1844040"/>
                </a:lnTo>
                <a:lnTo>
                  <a:pt x="13716" y="1844040"/>
                </a:lnTo>
                <a:lnTo>
                  <a:pt x="13716" y="1399032"/>
                </a:lnTo>
                <a:lnTo>
                  <a:pt x="1295400" y="1399032"/>
                </a:lnTo>
                <a:lnTo>
                  <a:pt x="1295400" y="1386840"/>
                </a:lnTo>
                <a:lnTo>
                  <a:pt x="3048" y="1386840"/>
                </a:lnTo>
                <a:lnTo>
                  <a:pt x="0" y="1389888"/>
                </a:lnTo>
                <a:lnTo>
                  <a:pt x="0" y="1853184"/>
                </a:lnTo>
                <a:lnTo>
                  <a:pt x="3048" y="1856232"/>
                </a:lnTo>
                <a:lnTo>
                  <a:pt x="1306068" y="1856232"/>
                </a:lnTo>
                <a:lnTo>
                  <a:pt x="1309116" y="1853184"/>
                </a:lnTo>
                <a:lnTo>
                  <a:pt x="1309116" y="1850136"/>
                </a:lnTo>
                <a:lnTo>
                  <a:pt x="1309116" y="1844040"/>
                </a:lnTo>
                <a:lnTo>
                  <a:pt x="1309116" y="1399032"/>
                </a:lnTo>
                <a:lnTo>
                  <a:pt x="1309116" y="1392936"/>
                </a:lnTo>
                <a:lnTo>
                  <a:pt x="1309116" y="1389888"/>
                </a:lnTo>
                <a:close/>
              </a:path>
              <a:path w="1309370" h="1856739">
                <a:moveTo>
                  <a:pt x="1309116" y="475488"/>
                </a:moveTo>
                <a:lnTo>
                  <a:pt x="1306068" y="472440"/>
                </a:lnTo>
                <a:lnTo>
                  <a:pt x="1295400" y="472440"/>
                </a:lnTo>
                <a:lnTo>
                  <a:pt x="1295400" y="484632"/>
                </a:lnTo>
                <a:lnTo>
                  <a:pt x="1295400" y="914400"/>
                </a:lnTo>
                <a:lnTo>
                  <a:pt x="1295400" y="928116"/>
                </a:lnTo>
                <a:lnTo>
                  <a:pt x="1295400" y="929640"/>
                </a:lnTo>
                <a:lnTo>
                  <a:pt x="1295400" y="941832"/>
                </a:lnTo>
                <a:lnTo>
                  <a:pt x="1295400" y="1371600"/>
                </a:lnTo>
                <a:lnTo>
                  <a:pt x="13716" y="1371600"/>
                </a:lnTo>
                <a:lnTo>
                  <a:pt x="13716" y="941832"/>
                </a:lnTo>
                <a:lnTo>
                  <a:pt x="1295400" y="941832"/>
                </a:lnTo>
                <a:lnTo>
                  <a:pt x="1295400" y="929640"/>
                </a:lnTo>
                <a:lnTo>
                  <a:pt x="13716" y="929640"/>
                </a:lnTo>
                <a:lnTo>
                  <a:pt x="13716" y="928116"/>
                </a:lnTo>
                <a:lnTo>
                  <a:pt x="1295400" y="928116"/>
                </a:lnTo>
                <a:lnTo>
                  <a:pt x="1295400" y="914400"/>
                </a:lnTo>
                <a:lnTo>
                  <a:pt x="13716" y="914400"/>
                </a:lnTo>
                <a:lnTo>
                  <a:pt x="13716" y="484632"/>
                </a:lnTo>
                <a:lnTo>
                  <a:pt x="1295400" y="484632"/>
                </a:lnTo>
                <a:lnTo>
                  <a:pt x="1295400" y="472440"/>
                </a:lnTo>
                <a:lnTo>
                  <a:pt x="3048" y="472440"/>
                </a:lnTo>
                <a:lnTo>
                  <a:pt x="0" y="475488"/>
                </a:lnTo>
                <a:lnTo>
                  <a:pt x="0" y="917448"/>
                </a:lnTo>
                <a:lnTo>
                  <a:pt x="0" y="938784"/>
                </a:lnTo>
                <a:lnTo>
                  <a:pt x="0" y="1382268"/>
                </a:lnTo>
                <a:lnTo>
                  <a:pt x="3048" y="1385316"/>
                </a:lnTo>
                <a:lnTo>
                  <a:pt x="1306068" y="1385316"/>
                </a:lnTo>
                <a:lnTo>
                  <a:pt x="1309116" y="1382268"/>
                </a:lnTo>
                <a:lnTo>
                  <a:pt x="1309116" y="1377696"/>
                </a:lnTo>
                <a:lnTo>
                  <a:pt x="1309116" y="1371600"/>
                </a:lnTo>
                <a:lnTo>
                  <a:pt x="1309116" y="478536"/>
                </a:lnTo>
                <a:lnTo>
                  <a:pt x="1309116" y="475488"/>
                </a:lnTo>
                <a:close/>
              </a:path>
              <a:path w="1309370" h="1856739">
                <a:moveTo>
                  <a:pt x="1309116" y="3048"/>
                </a:moveTo>
                <a:lnTo>
                  <a:pt x="1306068" y="0"/>
                </a:lnTo>
                <a:lnTo>
                  <a:pt x="1295400" y="0"/>
                </a:lnTo>
                <a:lnTo>
                  <a:pt x="1295400" y="13716"/>
                </a:lnTo>
                <a:lnTo>
                  <a:pt x="1295400" y="457200"/>
                </a:lnTo>
                <a:lnTo>
                  <a:pt x="13716" y="457200"/>
                </a:lnTo>
                <a:lnTo>
                  <a:pt x="13716" y="13716"/>
                </a:lnTo>
                <a:lnTo>
                  <a:pt x="1295400" y="13716"/>
                </a:lnTo>
                <a:lnTo>
                  <a:pt x="1295400" y="0"/>
                </a:lnTo>
                <a:lnTo>
                  <a:pt x="3048" y="0"/>
                </a:lnTo>
                <a:lnTo>
                  <a:pt x="0" y="3048"/>
                </a:lnTo>
                <a:lnTo>
                  <a:pt x="0" y="467868"/>
                </a:lnTo>
                <a:lnTo>
                  <a:pt x="3048" y="470916"/>
                </a:lnTo>
                <a:lnTo>
                  <a:pt x="1306068" y="470916"/>
                </a:lnTo>
                <a:lnTo>
                  <a:pt x="1309116" y="467868"/>
                </a:lnTo>
                <a:lnTo>
                  <a:pt x="1309116" y="463296"/>
                </a:lnTo>
                <a:lnTo>
                  <a:pt x="1309116" y="457200"/>
                </a:lnTo>
                <a:lnTo>
                  <a:pt x="1309116" y="13716"/>
                </a:lnTo>
                <a:lnTo>
                  <a:pt x="1309116" y="6096"/>
                </a:lnTo>
                <a:lnTo>
                  <a:pt x="1309116" y="3048"/>
                </a:lnTo>
                <a:close/>
              </a:path>
            </a:pathLst>
          </a:custGeom>
          <a:solidFill>
            <a:srgbClr val="55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76600" y="4102607"/>
            <a:ext cx="394970" cy="1931035"/>
          </a:xfrm>
          <a:custGeom>
            <a:avLst/>
            <a:gdLst/>
            <a:ahLst/>
            <a:cxnLst/>
            <a:rect l="l" t="t" r="r" b="b"/>
            <a:pathLst>
              <a:path w="394970" h="1931035">
                <a:moveTo>
                  <a:pt x="394716" y="958596"/>
                </a:moveTo>
                <a:lnTo>
                  <a:pt x="388620" y="952500"/>
                </a:lnTo>
                <a:lnTo>
                  <a:pt x="381000" y="952500"/>
                </a:lnTo>
                <a:lnTo>
                  <a:pt x="362712" y="952500"/>
                </a:lnTo>
                <a:lnTo>
                  <a:pt x="344424" y="952500"/>
                </a:lnTo>
                <a:lnTo>
                  <a:pt x="326136" y="950976"/>
                </a:lnTo>
                <a:lnTo>
                  <a:pt x="309372" y="950976"/>
                </a:lnTo>
                <a:lnTo>
                  <a:pt x="277368" y="947928"/>
                </a:lnTo>
                <a:lnTo>
                  <a:pt x="262128" y="944880"/>
                </a:lnTo>
                <a:lnTo>
                  <a:pt x="237744" y="941832"/>
                </a:lnTo>
                <a:lnTo>
                  <a:pt x="227076" y="938784"/>
                </a:lnTo>
                <a:lnTo>
                  <a:pt x="217932" y="937260"/>
                </a:lnTo>
                <a:lnTo>
                  <a:pt x="211823" y="934212"/>
                </a:lnTo>
                <a:lnTo>
                  <a:pt x="208775" y="932688"/>
                </a:lnTo>
                <a:lnTo>
                  <a:pt x="205740" y="931164"/>
                </a:lnTo>
                <a:lnTo>
                  <a:pt x="207264" y="932688"/>
                </a:lnTo>
                <a:lnTo>
                  <a:pt x="204216" y="930656"/>
                </a:lnTo>
                <a:lnTo>
                  <a:pt x="204216" y="928116"/>
                </a:lnTo>
                <a:lnTo>
                  <a:pt x="204216" y="50292"/>
                </a:lnTo>
                <a:lnTo>
                  <a:pt x="204216" y="44196"/>
                </a:lnTo>
                <a:lnTo>
                  <a:pt x="204216" y="42672"/>
                </a:lnTo>
                <a:lnTo>
                  <a:pt x="202692" y="41148"/>
                </a:lnTo>
                <a:lnTo>
                  <a:pt x="202692" y="38100"/>
                </a:lnTo>
                <a:lnTo>
                  <a:pt x="201168" y="36576"/>
                </a:lnTo>
                <a:lnTo>
                  <a:pt x="201168" y="33528"/>
                </a:lnTo>
                <a:lnTo>
                  <a:pt x="199644" y="33528"/>
                </a:lnTo>
                <a:lnTo>
                  <a:pt x="196596" y="28956"/>
                </a:lnTo>
                <a:lnTo>
                  <a:pt x="195072" y="28956"/>
                </a:lnTo>
                <a:lnTo>
                  <a:pt x="193548" y="27432"/>
                </a:lnTo>
                <a:lnTo>
                  <a:pt x="188976" y="24384"/>
                </a:lnTo>
                <a:lnTo>
                  <a:pt x="187452" y="24384"/>
                </a:lnTo>
                <a:lnTo>
                  <a:pt x="179832" y="19812"/>
                </a:lnTo>
                <a:lnTo>
                  <a:pt x="172212" y="16764"/>
                </a:lnTo>
                <a:lnTo>
                  <a:pt x="161544" y="15240"/>
                </a:lnTo>
                <a:lnTo>
                  <a:pt x="137160" y="9144"/>
                </a:lnTo>
                <a:lnTo>
                  <a:pt x="123444" y="7620"/>
                </a:lnTo>
                <a:lnTo>
                  <a:pt x="76200" y="3048"/>
                </a:lnTo>
                <a:lnTo>
                  <a:pt x="57912" y="1524"/>
                </a:lnTo>
                <a:lnTo>
                  <a:pt x="39624" y="1524"/>
                </a:lnTo>
                <a:lnTo>
                  <a:pt x="19812" y="0"/>
                </a:lnTo>
                <a:lnTo>
                  <a:pt x="1524" y="0"/>
                </a:lnTo>
                <a:lnTo>
                  <a:pt x="88" y="24384"/>
                </a:lnTo>
                <a:lnTo>
                  <a:pt x="0" y="25908"/>
                </a:lnTo>
                <a:lnTo>
                  <a:pt x="38100" y="25908"/>
                </a:lnTo>
                <a:lnTo>
                  <a:pt x="56388" y="27432"/>
                </a:lnTo>
                <a:lnTo>
                  <a:pt x="74676" y="27432"/>
                </a:lnTo>
                <a:lnTo>
                  <a:pt x="120396" y="32004"/>
                </a:lnTo>
                <a:lnTo>
                  <a:pt x="134112" y="35052"/>
                </a:lnTo>
                <a:lnTo>
                  <a:pt x="144780" y="36576"/>
                </a:lnTo>
                <a:lnTo>
                  <a:pt x="155448" y="39624"/>
                </a:lnTo>
                <a:lnTo>
                  <a:pt x="164592" y="41148"/>
                </a:lnTo>
                <a:lnTo>
                  <a:pt x="172212" y="44196"/>
                </a:lnTo>
                <a:lnTo>
                  <a:pt x="176784" y="47244"/>
                </a:lnTo>
                <a:lnTo>
                  <a:pt x="175260" y="45720"/>
                </a:lnTo>
                <a:lnTo>
                  <a:pt x="178308" y="47752"/>
                </a:lnTo>
                <a:lnTo>
                  <a:pt x="178308" y="937260"/>
                </a:lnTo>
                <a:lnTo>
                  <a:pt x="179832" y="940308"/>
                </a:lnTo>
                <a:lnTo>
                  <a:pt x="179832" y="941832"/>
                </a:lnTo>
                <a:lnTo>
                  <a:pt x="181356" y="944880"/>
                </a:lnTo>
                <a:lnTo>
                  <a:pt x="182880" y="944880"/>
                </a:lnTo>
                <a:lnTo>
                  <a:pt x="185928" y="949452"/>
                </a:lnTo>
                <a:lnTo>
                  <a:pt x="187452" y="949452"/>
                </a:lnTo>
                <a:lnTo>
                  <a:pt x="187452" y="950976"/>
                </a:lnTo>
                <a:lnTo>
                  <a:pt x="193548" y="954024"/>
                </a:lnTo>
                <a:lnTo>
                  <a:pt x="195072" y="954024"/>
                </a:lnTo>
                <a:lnTo>
                  <a:pt x="201168" y="957072"/>
                </a:lnTo>
                <a:lnTo>
                  <a:pt x="210312" y="960120"/>
                </a:lnTo>
                <a:lnTo>
                  <a:pt x="229514" y="965606"/>
                </a:lnTo>
                <a:lnTo>
                  <a:pt x="220980" y="967740"/>
                </a:lnTo>
                <a:lnTo>
                  <a:pt x="210312" y="969264"/>
                </a:lnTo>
                <a:lnTo>
                  <a:pt x="202692" y="972312"/>
                </a:lnTo>
                <a:lnTo>
                  <a:pt x="195072" y="976884"/>
                </a:lnTo>
                <a:lnTo>
                  <a:pt x="193548" y="976884"/>
                </a:lnTo>
                <a:lnTo>
                  <a:pt x="187452" y="979932"/>
                </a:lnTo>
                <a:lnTo>
                  <a:pt x="187452" y="981456"/>
                </a:lnTo>
                <a:lnTo>
                  <a:pt x="185928" y="981456"/>
                </a:lnTo>
                <a:lnTo>
                  <a:pt x="182880" y="986028"/>
                </a:lnTo>
                <a:lnTo>
                  <a:pt x="181356" y="986028"/>
                </a:lnTo>
                <a:lnTo>
                  <a:pt x="179832" y="989076"/>
                </a:lnTo>
                <a:lnTo>
                  <a:pt x="179832" y="990600"/>
                </a:lnTo>
                <a:lnTo>
                  <a:pt x="178308" y="993648"/>
                </a:lnTo>
                <a:lnTo>
                  <a:pt x="178308" y="1883156"/>
                </a:lnTo>
                <a:lnTo>
                  <a:pt x="175260" y="1885188"/>
                </a:lnTo>
                <a:lnTo>
                  <a:pt x="176784" y="1883664"/>
                </a:lnTo>
                <a:lnTo>
                  <a:pt x="164592" y="1889760"/>
                </a:lnTo>
                <a:lnTo>
                  <a:pt x="155448" y="1891284"/>
                </a:lnTo>
                <a:lnTo>
                  <a:pt x="144780" y="1894332"/>
                </a:lnTo>
                <a:lnTo>
                  <a:pt x="120396" y="1897380"/>
                </a:lnTo>
                <a:lnTo>
                  <a:pt x="105156" y="1900428"/>
                </a:lnTo>
                <a:lnTo>
                  <a:pt x="73152" y="1903476"/>
                </a:lnTo>
                <a:lnTo>
                  <a:pt x="56388" y="1903476"/>
                </a:lnTo>
                <a:lnTo>
                  <a:pt x="38100" y="1905000"/>
                </a:lnTo>
                <a:lnTo>
                  <a:pt x="0" y="1905000"/>
                </a:lnTo>
                <a:lnTo>
                  <a:pt x="1244" y="1926336"/>
                </a:lnTo>
                <a:lnTo>
                  <a:pt x="1333" y="1927860"/>
                </a:lnTo>
                <a:lnTo>
                  <a:pt x="1422" y="1929384"/>
                </a:lnTo>
                <a:lnTo>
                  <a:pt x="1524" y="1930908"/>
                </a:lnTo>
                <a:lnTo>
                  <a:pt x="19812" y="1930908"/>
                </a:lnTo>
                <a:lnTo>
                  <a:pt x="39624" y="1929384"/>
                </a:lnTo>
                <a:lnTo>
                  <a:pt x="57912" y="1929384"/>
                </a:lnTo>
                <a:lnTo>
                  <a:pt x="123444" y="1923288"/>
                </a:lnTo>
                <a:lnTo>
                  <a:pt x="172212" y="1912620"/>
                </a:lnTo>
                <a:lnTo>
                  <a:pt x="187452" y="1906524"/>
                </a:lnTo>
                <a:lnTo>
                  <a:pt x="188976" y="1906524"/>
                </a:lnTo>
                <a:lnTo>
                  <a:pt x="193548" y="1903476"/>
                </a:lnTo>
                <a:lnTo>
                  <a:pt x="195072" y="1901952"/>
                </a:lnTo>
                <a:lnTo>
                  <a:pt x="196596" y="1901952"/>
                </a:lnTo>
                <a:lnTo>
                  <a:pt x="199644" y="1897380"/>
                </a:lnTo>
                <a:lnTo>
                  <a:pt x="201168" y="1897380"/>
                </a:lnTo>
                <a:lnTo>
                  <a:pt x="201168" y="1894332"/>
                </a:lnTo>
                <a:lnTo>
                  <a:pt x="202692" y="1892808"/>
                </a:lnTo>
                <a:lnTo>
                  <a:pt x="202692" y="1889760"/>
                </a:lnTo>
                <a:lnTo>
                  <a:pt x="204216" y="1888236"/>
                </a:lnTo>
                <a:lnTo>
                  <a:pt x="204216" y="1885188"/>
                </a:lnTo>
                <a:lnTo>
                  <a:pt x="204216" y="1880616"/>
                </a:lnTo>
                <a:lnTo>
                  <a:pt x="204216" y="1002792"/>
                </a:lnTo>
                <a:lnTo>
                  <a:pt x="204216" y="1000252"/>
                </a:lnTo>
                <a:lnTo>
                  <a:pt x="207264" y="998220"/>
                </a:lnTo>
                <a:lnTo>
                  <a:pt x="205740" y="999744"/>
                </a:lnTo>
                <a:lnTo>
                  <a:pt x="208026" y="998220"/>
                </a:lnTo>
                <a:lnTo>
                  <a:pt x="210312" y="996696"/>
                </a:lnTo>
                <a:lnTo>
                  <a:pt x="217932" y="993648"/>
                </a:lnTo>
                <a:lnTo>
                  <a:pt x="227076" y="992124"/>
                </a:lnTo>
                <a:lnTo>
                  <a:pt x="237744" y="989076"/>
                </a:lnTo>
                <a:lnTo>
                  <a:pt x="248412" y="987552"/>
                </a:lnTo>
                <a:lnTo>
                  <a:pt x="262128" y="984504"/>
                </a:lnTo>
                <a:lnTo>
                  <a:pt x="275844" y="982980"/>
                </a:lnTo>
                <a:lnTo>
                  <a:pt x="307848" y="979932"/>
                </a:lnTo>
                <a:lnTo>
                  <a:pt x="326136" y="979932"/>
                </a:lnTo>
                <a:lnTo>
                  <a:pt x="342900" y="978408"/>
                </a:lnTo>
                <a:lnTo>
                  <a:pt x="362712" y="978408"/>
                </a:lnTo>
                <a:lnTo>
                  <a:pt x="381000" y="978408"/>
                </a:lnTo>
                <a:lnTo>
                  <a:pt x="388620" y="978408"/>
                </a:lnTo>
                <a:lnTo>
                  <a:pt x="394716" y="972312"/>
                </a:lnTo>
                <a:lnTo>
                  <a:pt x="394716" y="958596"/>
                </a:lnTo>
                <a:close/>
              </a:path>
            </a:pathLst>
          </a:custGeom>
          <a:solidFill>
            <a:srgbClr val="55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050539" y="4278807"/>
            <a:ext cx="299720" cy="1665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n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61700"/>
              </a:lnSpc>
              <a:spcBef>
                <a:spcPts val="6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id 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m</a:t>
            </a:r>
            <a:endParaRPr sz="1800">
              <a:latin typeface="Courier New"/>
              <a:cs typeface="Courier New"/>
            </a:endParaRPr>
          </a:p>
          <a:p>
            <a:pPr marL="26034">
              <a:lnSpc>
                <a:spcPct val="100000"/>
              </a:lnSpc>
              <a:spcBef>
                <a:spcPts val="1545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g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88816" y="4964607"/>
            <a:ext cx="9855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Student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7070166" y="4406146"/>
          <a:ext cx="2240280" cy="1324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2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ts val="1939"/>
                        </a:lnSpc>
                      </a:pPr>
                      <a:r>
                        <a:rPr sz="18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939"/>
                        </a:lnSpc>
                      </a:pPr>
                      <a:r>
                        <a:rPr sz="18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Byte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marL="31750">
                        <a:lnSpc>
                          <a:spcPts val="1839"/>
                        </a:lnSpc>
                      </a:pPr>
                      <a:r>
                        <a:rPr sz="18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Bytes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float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ts val="2100"/>
                        </a:lnSpc>
                      </a:pPr>
                      <a:r>
                        <a:rPr sz="18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2100"/>
                        </a:lnSpc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Bytes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double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Bytes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7115047" y="5813628"/>
            <a:ext cx="9855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Student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32216" y="5813628"/>
            <a:ext cx="1120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59</a:t>
            </a:r>
            <a:r>
              <a:rPr sz="18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Bytes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600" y="1514855"/>
            <a:ext cx="8545195" cy="5625465"/>
          </a:xfrm>
          <a:custGeom>
            <a:avLst/>
            <a:gdLst/>
            <a:ahLst/>
            <a:cxnLst/>
            <a:rect l="l" t="t" r="r" b="b"/>
            <a:pathLst>
              <a:path w="8545195" h="5625465">
                <a:moveTo>
                  <a:pt x="8545068" y="4572"/>
                </a:moveTo>
                <a:lnTo>
                  <a:pt x="8531352" y="4572"/>
                </a:lnTo>
                <a:lnTo>
                  <a:pt x="8531352" y="18288"/>
                </a:lnTo>
                <a:lnTo>
                  <a:pt x="8531352" y="2371344"/>
                </a:lnTo>
                <a:lnTo>
                  <a:pt x="8531352" y="5612904"/>
                </a:lnTo>
                <a:lnTo>
                  <a:pt x="3973068" y="5612904"/>
                </a:lnTo>
                <a:lnTo>
                  <a:pt x="3973068" y="2371344"/>
                </a:lnTo>
                <a:lnTo>
                  <a:pt x="3973068" y="19812"/>
                </a:lnTo>
                <a:lnTo>
                  <a:pt x="8077200" y="19812"/>
                </a:lnTo>
                <a:lnTo>
                  <a:pt x="8077200" y="18288"/>
                </a:lnTo>
                <a:lnTo>
                  <a:pt x="8531352" y="18288"/>
                </a:lnTo>
                <a:lnTo>
                  <a:pt x="8531352" y="4572"/>
                </a:lnTo>
                <a:lnTo>
                  <a:pt x="8077200" y="4572"/>
                </a:lnTo>
                <a:lnTo>
                  <a:pt x="8077200" y="0"/>
                </a:lnTo>
                <a:lnTo>
                  <a:pt x="0" y="0"/>
                </a:lnTo>
                <a:lnTo>
                  <a:pt x="0" y="19812"/>
                </a:lnTo>
                <a:lnTo>
                  <a:pt x="3959352" y="19812"/>
                </a:lnTo>
                <a:lnTo>
                  <a:pt x="3959352" y="2371344"/>
                </a:lnTo>
                <a:lnTo>
                  <a:pt x="3959352" y="5625084"/>
                </a:lnTo>
                <a:lnTo>
                  <a:pt x="8545068" y="5625084"/>
                </a:lnTo>
                <a:lnTo>
                  <a:pt x="8545068" y="5619000"/>
                </a:lnTo>
                <a:lnTo>
                  <a:pt x="8545068" y="5612904"/>
                </a:lnTo>
                <a:lnTo>
                  <a:pt x="8545068" y="2371344"/>
                </a:lnTo>
                <a:lnTo>
                  <a:pt x="8545068" y="18288"/>
                </a:lnTo>
                <a:lnTo>
                  <a:pt x="8545068" y="12192"/>
                </a:lnTo>
                <a:lnTo>
                  <a:pt x="8545068" y="4572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176" y="830056"/>
            <a:ext cx="64369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Solution:</a:t>
            </a:r>
            <a:r>
              <a:rPr spc="-90" dirty="0"/>
              <a:t> </a:t>
            </a:r>
            <a:r>
              <a:rPr dirty="0"/>
              <a:t>Defining</a:t>
            </a:r>
            <a:r>
              <a:rPr spc="-90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34736" y="1486180"/>
            <a:ext cx="4173220" cy="5638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marR="2199005" indent="-366395">
              <a:lnSpc>
                <a:spcPct val="120000"/>
              </a:lnSpc>
              <a:spcBef>
                <a:spcPts val="100"/>
              </a:spcBef>
              <a:tabLst>
                <a:tab pos="1047115" algn="l"/>
              </a:tabLst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typedef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struct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{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n[50];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id;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float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m;</a:t>
            </a:r>
            <a:endParaRPr sz="16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g;</a:t>
            </a:r>
            <a:endParaRPr sz="1600">
              <a:latin typeface="Courier New"/>
              <a:cs typeface="Courier New"/>
            </a:endParaRPr>
          </a:p>
          <a:p>
            <a:pPr marL="12700" marR="2811780" indent="120014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}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Student;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>
              <a:latin typeface="Courier New"/>
              <a:cs typeface="Courier New"/>
            </a:endParaRPr>
          </a:p>
          <a:p>
            <a:pPr marL="927100" marR="1163320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Student</a:t>
            </a:r>
            <a:r>
              <a:rPr sz="1600" b="1" spc="-7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s;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printf(“Name:</a:t>
            </a:r>
            <a:r>
              <a:rPr sz="1600" b="1" spc="-1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“);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gets(s.n);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printf(“ID:</a:t>
            </a:r>
            <a:r>
              <a:rPr sz="1600" b="1" spc="-114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”);</a:t>
            </a:r>
            <a:endParaRPr sz="16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80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scanf(“%d”,&amp;s.id);</a:t>
            </a:r>
            <a:endParaRPr sz="16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printf(“Mark:</a:t>
            </a:r>
            <a:r>
              <a:rPr sz="1600" b="1" spc="-1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“);</a:t>
            </a:r>
            <a:endParaRPr sz="16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85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scanf(“%f”,&amp;s.m);</a:t>
            </a:r>
            <a:endParaRPr sz="1600">
              <a:latin typeface="Courier New"/>
              <a:cs typeface="Courier New"/>
            </a:endParaRPr>
          </a:p>
          <a:p>
            <a:pPr marL="927100" marR="62230">
              <a:lnSpc>
                <a:spcPct val="1199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s.g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findGrade(s);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printf(“%s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%d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%f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%c”,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s.n,</a:t>
            </a:r>
            <a:endParaRPr sz="1600">
              <a:latin typeface="Courier New"/>
              <a:cs typeface="Courier New"/>
            </a:endParaRPr>
          </a:p>
          <a:p>
            <a:pPr marL="2206625">
              <a:lnSpc>
                <a:spcPct val="10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s.id,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s.m,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s.g);</a:t>
            </a:r>
            <a:endParaRPr sz="16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return</a:t>
            </a:r>
            <a:r>
              <a:rPr sz="1600" b="1" spc="-7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0;</a:t>
            </a:r>
            <a:endParaRPr sz="1600">
              <a:latin typeface="Courier New"/>
              <a:cs typeface="Courier New"/>
            </a:endParaRPr>
          </a:p>
          <a:p>
            <a:pPr marR="148590" algn="r">
              <a:lnSpc>
                <a:spcPct val="100000"/>
              </a:lnSpc>
              <a:spcBef>
                <a:spcPts val="181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24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4736" y="6705093"/>
            <a:ext cx="147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3504" y="4032503"/>
            <a:ext cx="4052570" cy="2715895"/>
          </a:xfrm>
          <a:custGeom>
            <a:avLst/>
            <a:gdLst/>
            <a:ahLst/>
            <a:cxnLst/>
            <a:rect l="l" t="t" r="r" b="b"/>
            <a:pathLst>
              <a:path w="4052570" h="2715895">
                <a:moveTo>
                  <a:pt x="4052316" y="0"/>
                </a:moveTo>
                <a:lnTo>
                  <a:pt x="0" y="0"/>
                </a:lnTo>
                <a:lnTo>
                  <a:pt x="0" y="2715768"/>
                </a:lnTo>
                <a:lnTo>
                  <a:pt x="4052316" y="2715768"/>
                </a:lnTo>
                <a:lnTo>
                  <a:pt x="4052316" y="2708148"/>
                </a:lnTo>
                <a:lnTo>
                  <a:pt x="13715" y="2708148"/>
                </a:lnTo>
                <a:lnTo>
                  <a:pt x="6095" y="2702052"/>
                </a:lnTo>
                <a:lnTo>
                  <a:pt x="13715" y="2702052"/>
                </a:lnTo>
                <a:lnTo>
                  <a:pt x="13715" y="13716"/>
                </a:lnTo>
                <a:lnTo>
                  <a:pt x="6095" y="13716"/>
                </a:lnTo>
                <a:lnTo>
                  <a:pt x="13715" y="6096"/>
                </a:lnTo>
                <a:lnTo>
                  <a:pt x="4052316" y="6096"/>
                </a:lnTo>
                <a:lnTo>
                  <a:pt x="4052316" y="0"/>
                </a:lnTo>
                <a:close/>
              </a:path>
              <a:path w="4052570" h="2715895">
                <a:moveTo>
                  <a:pt x="13715" y="2702052"/>
                </a:moveTo>
                <a:lnTo>
                  <a:pt x="6095" y="2702052"/>
                </a:lnTo>
                <a:lnTo>
                  <a:pt x="13715" y="2708148"/>
                </a:lnTo>
                <a:lnTo>
                  <a:pt x="13715" y="2702052"/>
                </a:lnTo>
                <a:close/>
              </a:path>
              <a:path w="4052570" h="2715895">
                <a:moveTo>
                  <a:pt x="4038600" y="2702052"/>
                </a:moveTo>
                <a:lnTo>
                  <a:pt x="13715" y="2702052"/>
                </a:lnTo>
                <a:lnTo>
                  <a:pt x="13715" y="2708148"/>
                </a:lnTo>
                <a:lnTo>
                  <a:pt x="4038600" y="2708148"/>
                </a:lnTo>
                <a:lnTo>
                  <a:pt x="4038600" y="2702052"/>
                </a:lnTo>
                <a:close/>
              </a:path>
              <a:path w="4052570" h="2715895">
                <a:moveTo>
                  <a:pt x="4038600" y="6096"/>
                </a:moveTo>
                <a:lnTo>
                  <a:pt x="4038600" y="2708148"/>
                </a:lnTo>
                <a:lnTo>
                  <a:pt x="4044696" y="2702052"/>
                </a:lnTo>
                <a:lnTo>
                  <a:pt x="4052316" y="2702052"/>
                </a:lnTo>
                <a:lnTo>
                  <a:pt x="4052316" y="13716"/>
                </a:lnTo>
                <a:lnTo>
                  <a:pt x="4044696" y="13716"/>
                </a:lnTo>
                <a:lnTo>
                  <a:pt x="4038600" y="6096"/>
                </a:lnTo>
                <a:close/>
              </a:path>
              <a:path w="4052570" h="2715895">
                <a:moveTo>
                  <a:pt x="4052316" y="2702052"/>
                </a:moveTo>
                <a:lnTo>
                  <a:pt x="4044696" y="2702052"/>
                </a:lnTo>
                <a:lnTo>
                  <a:pt x="4038600" y="2708148"/>
                </a:lnTo>
                <a:lnTo>
                  <a:pt x="4052316" y="2708148"/>
                </a:lnTo>
                <a:lnTo>
                  <a:pt x="4052316" y="2702052"/>
                </a:lnTo>
                <a:close/>
              </a:path>
              <a:path w="4052570" h="2715895">
                <a:moveTo>
                  <a:pt x="13715" y="6096"/>
                </a:moveTo>
                <a:lnTo>
                  <a:pt x="6095" y="13716"/>
                </a:lnTo>
                <a:lnTo>
                  <a:pt x="13715" y="13716"/>
                </a:lnTo>
                <a:lnTo>
                  <a:pt x="13715" y="6096"/>
                </a:lnTo>
                <a:close/>
              </a:path>
              <a:path w="4052570" h="2715895">
                <a:moveTo>
                  <a:pt x="4038600" y="6096"/>
                </a:moveTo>
                <a:lnTo>
                  <a:pt x="13715" y="6096"/>
                </a:lnTo>
                <a:lnTo>
                  <a:pt x="13715" y="13716"/>
                </a:lnTo>
                <a:lnTo>
                  <a:pt x="4038600" y="13716"/>
                </a:lnTo>
                <a:lnTo>
                  <a:pt x="4038600" y="6096"/>
                </a:lnTo>
                <a:close/>
              </a:path>
              <a:path w="4052570" h="2715895">
                <a:moveTo>
                  <a:pt x="4052316" y="6096"/>
                </a:moveTo>
                <a:lnTo>
                  <a:pt x="4038600" y="6096"/>
                </a:lnTo>
                <a:lnTo>
                  <a:pt x="4044696" y="13716"/>
                </a:lnTo>
                <a:lnTo>
                  <a:pt x="4052316" y="13716"/>
                </a:lnTo>
                <a:lnTo>
                  <a:pt x="4052316" y="6096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88411" y="1722261"/>
            <a:ext cx="3616325" cy="3180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6865" marR="948690">
              <a:lnSpc>
                <a:spcPct val="120000"/>
              </a:lnSpc>
              <a:spcBef>
                <a:spcPts val="95"/>
              </a:spcBef>
            </a:pP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Compound</a:t>
            </a:r>
            <a:r>
              <a:rPr sz="20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Verdana"/>
                <a:cs typeface="Verdana"/>
              </a:rPr>
              <a:t>data: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Student</a:t>
            </a:r>
            <a:r>
              <a:rPr sz="20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has</a:t>
            </a:r>
            <a:endParaRPr sz="2000">
              <a:latin typeface="Verdana"/>
              <a:cs typeface="Verdana"/>
            </a:endParaRPr>
          </a:p>
          <a:p>
            <a:pPr marL="955675" indent="-290830">
              <a:lnSpc>
                <a:spcPct val="100000"/>
              </a:lnSpc>
              <a:spcBef>
                <a:spcPts val="285"/>
              </a:spcBef>
              <a:buSzPct val="88888"/>
              <a:buFont typeface="Wingdings"/>
              <a:buChar char=""/>
              <a:tabLst>
                <a:tab pos="9556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</a:t>
            </a:r>
            <a:r>
              <a:rPr sz="1800" b="1" spc="-4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char</a:t>
            </a:r>
            <a:r>
              <a:rPr sz="1800" b="1" spc="-4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n[50]</a:t>
            </a:r>
            <a:r>
              <a:rPr sz="1800" b="1" spc="-5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0066"/>
                </a:solidFill>
                <a:latin typeface="Verdana"/>
                <a:cs typeface="Verdana"/>
              </a:rPr>
              <a:t>name</a:t>
            </a:r>
            <a:endParaRPr sz="1800">
              <a:latin typeface="Verdana"/>
              <a:cs typeface="Verdana"/>
            </a:endParaRPr>
          </a:p>
          <a:p>
            <a:pPr marL="955675" indent="-290830">
              <a:lnSpc>
                <a:spcPct val="100000"/>
              </a:lnSpc>
              <a:spcBef>
                <a:spcPts val="434"/>
              </a:spcBef>
              <a:buSzPct val="88888"/>
              <a:buFont typeface="Wingdings"/>
              <a:buChar char=""/>
              <a:tabLst>
                <a:tab pos="9556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an</a:t>
            </a:r>
            <a:r>
              <a:rPr sz="1800" b="1" spc="-4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int</a:t>
            </a:r>
            <a:r>
              <a:rPr sz="1800" b="1" spc="-6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id</a:t>
            </a:r>
            <a:r>
              <a:rPr sz="1800" b="1" spc="-7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student</a:t>
            </a:r>
            <a:r>
              <a:rPr sz="1800" b="1" spc="-1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spc="-25" dirty="0">
                <a:solidFill>
                  <a:srgbClr val="000066"/>
                </a:solidFill>
                <a:latin typeface="Verdana"/>
                <a:cs typeface="Verdana"/>
              </a:rPr>
              <a:t>id</a:t>
            </a:r>
            <a:endParaRPr sz="1800">
              <a:latin typeface="Verdana"/>
              <a:cs typeface="Verdana"/>
            </a:endParaRPr>
          </a:p>
          <a:p>
            <a:pPr marL="955675" indent="-290830">
              <a:lnSpc>
                <a:spcPct val="100000"/>
              </a:lnSpc>
              <a:spcBef>
                <a:spcPts val="430"/>
              </a:spcBef>
              <a:buSzPct val="88888"/>
              <a:buFont typeface="Wingdings"/>
              <a:buChar char=""/>
              <a:tabLst>
                <a:tab pos="9556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</a:t>
            </a:r>
            <a:r>
              <a:rPr sz="1800" b="1" spc="-3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float</a:t>
            </a:r>
            <a:r>
              <a:rPr sz="1800" b="1" spc="-35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m</a:t>
            </a:r>
            <a:r>
              <a:rPr sz="1800" b="1" spc="-3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mark</a:t>
            </a:r>
            <a:r>
              <a:rPr sz="1800" b="1" spc="-1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u="heavy" spc="-25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Verdana"/>
                <a:cs typeface="Verdana"/>
              </a:rPr>
              <a:t>and</a:t>
            </a:r>
            <a:endParaRPr sz="1800">
              <a:latin typeface="Verdana"/>
              <a:cs typeface="Verdana"/>
            </a:endParaRPr>
          </a:p>
          <a:p>
            <a:pPr marL="955675" indent="-290830">
              <a:lnSpc>
                <a:spcPct val="100000"/>
              </a:lnSpc>
              <a:spcBef>
                <a:spcPts val="434"/>
              </a:spcBef>
              <a:buSzPct val="88888"/>
              <a:buFont typeface="Wingdings"/>
              <a:buChar char=""/>
              <a:tabLst>
                <a:tab pos="9556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</a:t>
            </a:r>
            <a:r>
              <a:rPr sz="1800" b="1" u="heavy" spc="135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Courier New"/>
                <a:cs typeface="Courier New"/>
              </a:rPr>
              <a:t> </a:t>
            </a:r>
            <a:r>
              <a:rPr sz="1800" b="1" u="heavy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Courier New"/>
                <a:cs typeface="Courier New"/>
              </a:rPr>
              <a:t>char</a:t>
            </a:r>
            <a:r>
              <a:rPr sz="1800" b="1" spc="-3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g</a:t>
            </a:r>
            <a:r>
              <a:rPr sz="1800" b="1" spc="-2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0066"/>
                </a:solidFill>
                <a:latin typeface="Verdana"/>
                <a:cs typeface="Verdana"/>
              </a:rPr>
              <a:t>grade</a:t>
            </a:r>
            <a:endParaRPr sz="1800">
              <a:latin typeface="Verdana"/>
              <a:cs typeface="Verdana"/>
            </a:endParaRPr>
          </a:p>
          <a:p>
            <a:pPr marL="499745" marR="419734" indent="-487680">
              <a:lnSpc>
                <a:spcPct val="119900"/>
              </a:lnSpc>
              <a:spcBef>
                <a:spcPts val="195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1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findGrade(Student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s){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g;</a:t>
            </a:r>
            <a:endParaRPr sz="1600">
              <a:latin typeface="Courier New"/>
              <a:cs typeface="Courier New"/>
            </a:endParaRPr>
          </a:p>
          <a:p>
            <a:pPr marL="499745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if(s.m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&gt;=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90)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g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‘A’;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157038" y="4973320"/>
          <a:ext cx="3364865" cy="814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1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51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16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0985">
                <a:tc>
                  <a:txBody>
                    <a:bodyPr/>
                    <a:lstStyle/>
                    <a:p>
                      <a:pPr marR="22225" algn="ctr">
                        <a:lnSpc>
                          <a:spcPts val="1650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else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if(s.m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&gt;=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80)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50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g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650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‘B’;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R="22225" algn="ctr">
                        <a:lnSpc>
                          <a:spcPts val="1895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else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if(s.m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&gt;=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70)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g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895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‘C’;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marR="22225" algn="ctr">
                        <a:lnSpc>
                          <a:spcPts val="1895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else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if(s.m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&gt;=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60)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g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895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‘D’;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688411" y="5754873"/>
            <a:ext cx="210121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9745" marR="5080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else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g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‘F’;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return</a:t>
            </a:r>
            <a:r>
              <a:rPr sz="1600" b="1" spc="-6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g;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" marR="5080">
              <a:lnSpc>
                <a:spcPct val="100000"/>
              </a:lnSpc>
              <a:spcBef>
                <a:spcPts val="100"/>
              </a:spcBef>
              <a:tabLst>
                <a:tab pos="8089265" algn="l"/>
              </a:tabLst>
            </a:pPr>
            <a:r>
              <a:rPr dirty="0"/>
              <a:t>How</a:t>
            </a:r>
            <a:r>
              <a:rPr spc="-5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store</a:t>
            </a:r>
            <a:r>
              <a:rPr spc="-10" dirty="0"/>
              <a:t> </a:t>
            </a:r>
            <a:r>
              <a:rPr dirty="0"/>
              <a:t>info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many </a:t>
            </a:r>
            <a:r>
              <a:rPr u="heavy" spc="-10" dirty="0">
                <a:uFill>
                  <a:solidFill>
                    <a:srgbClr val="006600"/>
                  </a:solidFill>
                </a:uFill>
              </a:rPr>
              <a:t>students?</a:t>
            </a:r>
            <a:r>
              <a:rPr u="heavy" dirty="0">
                <a:uFill>
                  <a:solidFill>
                    <a:srgbClr val="006600"/>
                  </a:solidFill>
                </a:uFill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784096"/>
            <a:ext cx="7924800" cy="3536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960" marR="1093470" indent="-17526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Suppose</a:t>
            </a:r>
            <a:r>
              <a:rPr sz="24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we</a:t>
            </a:r>
            <a:r>
              <a:rPr sz="24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want</a:t>
            </a:r>
            <a:r>
              <a:rPr sz="2400" b="1" spc="-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to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keep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record</a:t>
            </a:r>
            <a:r>
              <a:rPr sz="24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of</a:t>
            </a:r>
            <a:r>
              <a:rPr sz="24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100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students,</a:t>
            </a:r>
            <a:endParaRPr sz="2400">
              <a:latin typeface="Verdana"/>
              <a:cs typeface="Verdana"/>
            </a:endParaRPr>
          </a:p>
          <a:p>
            <a:pPr marL="1163320" marR="1459865" indent="-208915">
              <a:lnSpc>
                <a:spcPct val="120000"/>
              </a:lnSpc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-we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have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to</a:t>
            </a:r>
            <a:r>
              <a:rPr sz="24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make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100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structure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variables</a:t>
            </a:r>
            <a:r>
              <a:rPr sz="2400" b="1" spc="-7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like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s1,</a:t>
            </a:r>
            <a:r>
              <a:rPr sz="2400" b="1" spc="-8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s2,</a:t>
            </a:r>
            <a:r>
              <a:rPr sz="2400" b="1" spc="-7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…,s100.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2400">
              <a:latin typeface="Verdana"/>
              <a:cs typeface="Verdana"/>
            </a:endParaRPr>
          </a:p>
          <a:p>
            <a:pPr marL="187960" marR="5080" indent="-175260" algn="just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In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this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situation</a:t>
            </a:r>
            <a:r>
              <a:rPr sz="2400" b="1" spc="-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we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can</a:t>
            </a:r>
            <a:r>
              <a:rPr sz="24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use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array</a:t>
            </a:r>
            <a:r>
              <a:rPr sz="2400" b="1" spc="-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of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structure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to</a:t>
            </a:r>
            <a:r>
              <a:rPr sz="24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store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records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of</a:t>
            </a:r>
            <a:r>
              <a:rPr sz="24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100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students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which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is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easier</a:t>
            </a:r>
            <a:r>
              <a:rPr sz="2400" b="1" spc="-9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and</a:t>
            </a:r>
            <a:r>
              <a:rPr sz="2400" b="1" spc="-7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efficient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to</a:t>
            </a:r>
            <a:r>
              <a:rPr sz="2400" b="1" spc="-7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handle</a:t>
            </a:r>
            <a:r>
              <a:rPr sz="2400" b="1" spc="-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(because</a:t>
            </a:r>
            <a:r>
              <a:rPr sz="2400" b="1" spc="-7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loops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can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be</a:t>
            </a:r>
            <a:r>
              <a:rPr sz="2400" b="1" spc="-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used).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40292" y="6884920"/>
            <a:ext cx="2241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25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7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25347" rIns="0" bIns="0" rtlCol="0">
            <a:spAutoFit/>
          </a:bodyPr>
          <a:lstStyle/>
          <a:p>
            <a:pPr marL="241300">
              <a:lnSpc>
                <a:spcPts val="2875"/>
              </a:lnSpc>
              <a:spcBef>
                <a:spcPts val="100"/>
              </a:spcBef>
            </a:pPr>
            <a:r>
              <a:rPr spc="-10" dirty="0"/>
              <a:t>Structure</a:t>
            </a:r>
          </a:p>
          <a:p>
            <a:pPr marL="698500" marR="3592829">
              <a:lnSpc>
                <a:spcPts val="2400"/>
              </a:lnSpc>
              <a:spcBef>
                <a:spcPts val="75"/>
              </a:spcBef>
            </a:pPr>
            <a:r>
              <a:rPr sz="2000" dirty="0"/>
              <a:t>Definition</a:t>
            </a:r>
            <a:r>
              <a:rPr sz="2000" spc="-90" dirty="0"/>
              <a:t> </a:t>
            </a:r>
            <a:r>
              <a:rPr sz="2000" dirty="0"/>
              <a:t>of</a:t>
            </a:r>
            <a:r>
              <a:rPr sz="2000" spc="-60" dirty="0"/>
              <a:t> </a:t>
            </a:r>
            <a:r>
              <a:rPr sz="2000" spc="-10" dirty="0"/>
              <a:t>structures </a:t>
            </a:r>
            <a:r>
              <a:rPr sz="2000" dirty="0"/>
              <a:t>Creating</a:t>
            </a:r>
            <a:r>
              <a:rPr sz="2000" spc="-55" dirty="0"/>
              <a:t> </a:t>
            </a:r>
            <a:r>
              <a:rPr sz="2000" dirty="0"/>
              <a:t>structures</a:t>
            </a:r>
            <a:r>
              <a:rPr sz="2000" spc="-20" dirty="0"/>
              <a:t> </a:t>
            </a:r>
            <a:r>
              <a:rPr sz="2000" dirty="0"/>
              <a:t>in</a:t>
            </a:r>
            <a:r>
              <a:rPr sz="2000" spc="-30" dirty="0"/>
              <a:t> </a:t>
            </a:r>
            <a:r>
              <a:rPr sz="2000" spc="-50" dirty="0"/>
              <a:t>C</a:t>
            </a:r>
            <a:endParaRPr sz="2000"/>
          </a:p>
          <a:p>
            <a:pPr marL="196850" marR="470534" algn="ctr">
              <a:lnSpc>
                <a:spcPts val="2300"/>
              </a:lnSpc>
            </a:pPr>
            <a:r>
              <a:rPr sz="2000" dirty="0">
                <a:latin typeface="Arial"/>
                <a:cs typeface="Arial"/>
              </a:rPr>
              <a:t>dot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printf,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scanf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structure</a:t>
            </a:r>
            <a:endParaRPr sz="200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  <a:spcBef>
                <a:spcPts val="20"/>
              </a:spcBef>
            </a:pPr>
            <a:r>
              <a:rPr sz="2000" dirty="0"/>
              <a:t>typedef</a:t>
            </a:r>
            <a:r>
              <a:rPr sz="2000" spc="-40" dirty="0"/>
              <a:t> </a:t>
            </a:r>
            <a:r>
              <a:rPr sz="2000" dirty="0"/>
              <a:t>vs</a:t>
            </a:r>
            <a:r>
              <a:rPr sz="2000" spc="-20" dirty="0"/>
              <a:t> </a:t>
            </a:r>
            <a:r>
              <a:rPr sz="2000" spc="-10" dirty="0"/>
              <a:t>struct</a:t>
            </a:r>
            <a:endParaRPr sz="2000"/>
          </a:p>
          <a:p>
            <a:pPr marL="698500" marR="87630">
              <a:lnSpc>
                <a:spcPct val="100000"/>
              </a:lnSpc>
              <a:spcBef>
                <a:spcPts val="5"/>
              </a:spcBef>
            </a:pPr>
            <a:r>
              <a:rPr sz="2000" dirty="0"/>
              <a:t>Problem</a:t>
            </a:r>
            <a:r>
              <a:rPr sz="2000" spc="-55" dirty="0"/>
              <a:t> </a:t>
            </a:r>
            <a:r>
              <a:rPr sz="2000" dirty="0"/>
              <a:t>solving</a:t>
            </a:r>
            <a:r>
              <a:rPr sz="2000" spc="-20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structure</a:t>
            </a:r>
            <a:r>
              <a:rPr sz="2000" spc="-35" dirty="0"/>
              <a:t> </a:t>
            </a:r>
            <a:r>
              <a:rPr sz="2000" dirty="0"/>
              <a:t>(similar</a:t>
            </a:r>
            <a:r>
              <a:rPr sz="2000" spc="-15" dirty="0"/>
              <a:t> </a:t>
            </a:r>
            <a:r>
              <a:rPr sz="2000" spc="-10" dirty="0"/>
              <a:t>type) </a:t>
            </a:r>
            <a:r>
              <a:rPr sz="2000" dirty="0"/>
              <a:t>Problem</a:t>
            </a:r>
            <a:r>
              <a:rPr sz="2000" spc="-80" dirty="0"/>
              <a:t> </a:t>
            </a:r>
            <a:r>
              <a:rPr sz="2000" dirty="0"/>
              <a:t>solving</a:t>
            </a:r>
            <a:r>
              <a:rPr sz="2000" spc="-45" dirty="0"/>
              <a:t> </a:t>
            </a:r>
            <a:r>
              <a:rPr sz="2000" dirty="0"/>
              <a:t>with</a:t>
            </a:r>
            <a:r>
              <a:rPr sz="2000" spc="-45" dirty="0"/>
              <a:t> </a:t>
            </a:r>
            <a:r>
              <a:rPr sz="2000" dirty="0"/>
              <a:t>structure</a:t>
            </a:r>
            <a:r>
              <a:rPr sz="2000" spc="-60" dirty="0"/>
              <a:t> </a:t>
            </a:r>
            <a:r>
              <a:rPr sz="2000" dirty="0"/>
              <a:t>(dissimilar</a:t>
            </a:r>
            <a:r>
              <a:rPr sz="2000" spc="-45" dirty="0"/>
              <a:t> </a:t>
            </a:r>
            <a:r>
              <a:rPr sz="2000" spc="-10" dirty="0"/>
              <a:t>type) </a:t>
            </a:r>
            <a:r>
              <a:rPr sz="2000" dirty="0"/>
              <a:t>Passing</a:t>
            </a:r>
            <a:r>
              <a:rPr sz="2000" spc="-55" dirty="0"/>
              <a:t> </a:t>
            </a:r>
            <a:r>
              <a:rPr sz="2000" dirty="0"/>
              <a:t>structure</a:t>
            </a:r>
            <a:r>
              <a:rPr sz="2000" spc="-35" dirty="0"/>
              <a:t> </a:t>
            </a:r>
            <a:r>
              <a:rPr sz="2000" dirty="0"/>
              <a:t>as</a:t>
            </a:r>
            <a:r>
              <a:rPr sz="2000" spc="-30" dirty="0"/>
              <a:t> </a:t>
            </a:r>
            <a:r>
              <a:rPr sz="2000" dirty="0"/>
              <a:t>function</a:t>
            </a:r>
            <a:r>
              <a:rPr sz="2000" spc="-45" dirty="0"/>
              <a:t> </a:t>
            </a:r>
            <a:r>
              <a:rPr sz="2000" spc="-10" dirty="0"/>
              <a:t>parameter</a:t>
            </a:r>
            <a:endParaRPr sz="2000"/>
          </a:p>
          <a:p>
            <a:pPr marL="698500">
              <a:lnSpc>
                <a:spcPts val="2400"/>
              </a:lnSpc>
            </a:pPr>
            <a:r>
              <a:rPr sz="2000" dirty="0">
                <a:solidFill>
                  <a:srgbClr val="FF0000"/>
                </a:solidFill>
              </a:rPr>
              <a:t>Arrays</a:t>
            </a:r>
            <a:r>
              <a:rPr sz="2000" spc="-6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of</a:t>
            </a:r>
            <a:r>
              <a:rPr sz="2000" spc="-30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structure</a:t>
            </a:r>
            <a:endParaRPr sz="2000"/>
          </a:p>
          <a:p>
            <a:pPr marL="698500" marR="5080">
              <a:lnSpc>
                <a:spcPct val="100000"/>
              </a:lnSpc>
            </a:pPr>
            <a:r>
              <a:rPr sz="2000" dirty="0"/>
              <a:t>Passing</a:t>
            </a:r>
            <a:r>
              <a:rPr sz="2000" spc="-50" dirty="0"/>
              <a:t> </a:t>
            </a:r>
            <a:r>
              <a:rPr sz="2000" dirty="0"/>
              <a:t>array</a:t>
            </a:r>
            <a:r>
              <a:rPr sz="2000" spc="-30" dirty="0"/>
              <a:t> </a:t>
            </a:r>
            <a:r>
              <a:rPr sz="2000" dirty="0"/>
              <a:t>of</a:t>
            </a:r>
            <a:r>
              <a:rPr sz="2000" spc="-15" dirty="0"/>
              <a:t> </a:t>
            </a:r>
            <a:r>
              <a:rPr sz="2000" dirty="0"/>
              <a:t>structure</a:t>
            </a:r>
            <a:r>
              <a:rPr sz="2000" spc="-20" dirty="0"/>
              <a:t> </a:t>
            </a:r>
            <a:r>
              <a:rPr sz="2000" dirty="0"/>
              <a:t>as</a:t>
            </a:r>
            <a:r>
              <a:rPr sz="2000" spc="-25" dirty="0"/>
              <a:t> </a:t>
            </a:r>
            <a:r>
              <a:rPr sz="2000" dirty="0"/>
              <a:t>function</a:t>
            </a:r>
            <a:r>
              <a:rPr sz="2000" spc="-35" dirty="0"/>
              <a:t> </a:t>
            </a:r>
            <a:r>
              <a:rPr sz="2000" spc="-10" dirty="0"/>
              <a:t>parameter </a:t>
            </a:r>
            <a:r>
              <a:rPr sz="2000" dirty="0"/>
              <a:t>Determining</a:t>
            </a:r>
            <a:r>
              <a:rPr sz="2000" spc="-60" dirty="0"/>
              <a:t> </a:t>
            </a:r>
            <a:r>
              <a:rPr sz="2000" dirty="0"/>
              <a:t>size</a:t>
            </a:r>
            <a:r>
              <a:rPr sz="2000" spc="-35" dirty="0"/>
              <a:t> </a:t>
            </a:r>
            <a:r>
              <a:rPr sz="2000" dirty="0"/>
              <a:t>of</a:t>
            </a:r>
            <a:r>
              <a:rPr sz="2000" spc="-35" dirty="0"/>
              <a:t> </a:t>
            </a:r>
            <a:r>
              <a:rPr sz="2000" spc="-10" dirty="0"/>
              <a:t>structure</a:t>
            </a:r>
            <a:endParaRPr sz="2000"/>
          </a:p>
        </p:txBody>
      </p:sp>
      <p:sp>
        <p:nvSpPr>
          <p:cNvPr id="5" name="object 5"/>
          <p:cNvSpPr/>
          <p:nvPr/>
        </p:nvSpPr>
        <p:spPr>
          <a:xfrm>
            <a:off x="882396" y="5021722"/>
            <a:ext cx="533400" cy="171450"/>
          </a:xfrm>
          <a:custGeom>
            <a:avLst/>
            <a:gdLst/>
            <a:ahLst/>
            <a:cxnLst/>
            <a:rect l="l" t="t" r="r" b="b"/>
            <a:pathLst>
              <a:path w="533400" h="171450">
                <a:moveTo>
                  <a:pt x="424588" y="104795"/>
                </a:moveTo>
                <a:lnTo>
                  <a:pt x="370331" y="135493"/>
                </a:lnTo>
                <a:lnTo>
                  <a:pt x="364664" y="140827"/>
                </a:lnTo>
                <a:lnTo>
                  <a:pt x="361569" y="147304"/>
                </a:lnTo>
                <a:lnTo>
                  <a:pt x="361330" y="154352"/>
                </a:lnTo>
                <a:lnTo>
                  <a:pt x="364235" y="161401"/>
                </a:lnTo>
                <a:lnTo>
                  <a:pt x="368927" y="167092"/>
                </a:lnTo>
                <a:lnTo>
                  <a:pt x="375475" y="170354"/>
                </a:lnTo>
                <a:lnTo>
                  <a:pt x="382881" y="171045"/>
                </a:lnTo>
                <a:lnTo>
                  <a:pt x="390144" y="169021"/>
                </a:lnTo>
                <a:lnTo>
                  <a:pt x="501565" y="105013"/>
                </a:lnTo>
                <a:lnTo>
                  <a:pt x="495300" y="105013"/>
                </a:lnTo>
                <a:lnTo>
                  <a:pt x="424588" y="104795"/>
                </a:lnTo>
                <a:close/>
              </a:path>
              <a:path w="533400" h="171450">
                <a:moveTo>
                  <a:pt x="458385" y="85673"/>
                </a:moveTo>
                <a:lnTo>
                  <a:pt x="424588" y="104795"/>
                </a:lnTo>
                <a:lnTo>
                  <a:pt x="495300" y="105013"/>
                </a:lnTo>
                <a:lnTo>
                  <a:pt x="495300" y="101965"/>
                </a:lnTo>
                <a:lnTo>
                  <a:pt x="486156" y="101965"/>
                </a:lnTo>
                <a:lnTo>
                  <a:pt x="458385" y="85673"/>
                </a:lnTo>
                <a:close/>
              </a:path>
              <a:path w="533400" h="171450">
                <a:moveTo>
                  <a:pt x="383095" y="0"/>
                </a:moveTo>
                <a:lnTo>
                  <a:pt x="376047" y="238"/>
                </a:lnTo>
                <a:lnTo>
                  <a:pt x="369569" y="3333"/>
                </a:lnTo>
                <a:lnTo>
                  <a:pt x="364235" y="9001"/>
                </a:lnTo>
                <a:lnTo>
                  <a:pt x="362211" y="16263"/>
                </a:lnTo>
                <a:lnTo>
                  <a:pt x="362902" y="23669"/>
                </a:lnTo>
                <a:lnTo>
                  <a:pt x="366164" y="30218"/>
                </a:lnTo>
                <a:lnTo>
                  <a:pt x="371856" y="34909"/>
                </a:lnTo>
                <a:lnTo>
                  <a:pt x="426045" y="66700"/>
                </a:lnTo>
                <a:lnTo>
                  <a:pt x="495300" y="66913"/>
                </a:lnTo>
                <a:lnTo>
                  <a:pt x="495300" y="105013"/>
                </a:lnTo>
                <a:lnTo>
                  <a:pt x="501565" y="105013"/>
                </a:lnTo>
                <a:lnTo>
                  <a:pt x="533400" y="86725"/>
                </a:lnTo>
                <a:lnTo>
                  <a:pt x="390144" y="2905"/>
                </a:lnTo>
                <a:lnTo>
                  <a:pt x="383095" y="0"/>
                </a:lnTo>
                <a:close/>
              </a:path>
              <a:path w="533400" h="171450">
                <a:moveTo>
                  <a:pt x="0" y="65389"/>
                </a:moveTo>
                <a:lnTo>
                  <a:pt x="0" y="103489"/>
                </a:lnTo>
                <a:lnTo>
                  <a:pt x="424588" y="104795"/>
                </a:lnTo>
                <a:lnTo>
                  <a:pt x="458385" y="85673"/>
                </a:lnTo>
                <a:lnTo>
                  <a:pt x="426045" y="66700"/>
                </a:lnTo>
                <a:lnTo>
                  <a:pt x="0" y="65389"/>
                </a:lnTo>
                <a:close/>
              </a:path>
              <a:path w="533400" h="171450">
                <a:moveTo>
                  <a:pt x="486156" y="69961"/>
                </a:moveTo>
                <a:lnTo>
                  <a:pt x="458385" y="85673"/>
                </a:lnTo>
                <a:lnTo>
                  <a:pt x="486156" y="101965"/>
                </a:lnTo>
                <a:lnTo>
                  <a:pt x="486156" y="69961"/>
                </a:lnTo>
                <a:close/>
              </a:path>
              <a:path w="533400" h="171450">
                <a:moveTo>
                  <a:pt x="495300" y="69961"/>
                </a:moveTo>
                <a:lnTo>
                  <a:pt x="486156" y="69961"/>
                </a:lnTo>
                <a:lnTo>
                  <a:pt x="486156" y="101965"/>
                </a:lnTo>
                <a:lnTo>
                  <a:pt x="495300" y="101965"/>
                </a:lnTo>
                <a:lnTo>
                  <a:pt x="495300" y="69961"/>
                </a:lnTo>
                <a:close/>
              </a:path>
              <a:path w="533400" h="171450">
                <a:moveTo>
                  <a:pt x="426045" y="66700"/>
                </a:moveTo>
                <a:lnTo>
                  <a:pt x="458385" y="85673"/>
                </a:lnTo>
                <a:lnTo>
                  <a:pt x="486156" y="69961"/>
                </a:lnTo>
                <a:lnTo>
                  <a:pt x="495300" y="69961"/>
                </a:lnTo>
                <a:lnTo>
                  <a:pt x="495300" y="66913"/>
                </a:lnTo>
                <a:lnTo>
                  <a:pt x="426045" y="66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7539" y="3173984"/>
            <a:ext cx="1822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3460" algn="l"/>
              </a:tabLst>
            </a:pP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Write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	</a:t>
            </a:r>
            <a:r>
              <a:rPr sz="2400" b="1" spc="-20" dirty="0">
                <a:solidFill>
                  <a:srgbClr val="006600"/>
                </a:solidFill>
                <a:latin typeface="Arial"/>
                <a:cs typeface="Arial"/>
              </a:rPr>
              <a:t>down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48176" y="3173984"/>
            <a:ext cx="4201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5450" algn="l"/>
                <a:tab pos="1905000" algn="l"/>
                <a:tab pos="2708275" algn="l"/>
                <a:tab pos="4018915" algn="l"/>
              </a:tabLst>
            </a:pPr>
            <a:r>
              <a:rPr sz="2400" b="1" spc="-50" dirty="0">
                <a:solidFill>
                  <a:srgbClr val="006600"/>
                </a:solidFill>
                <a:latin typeface="Arial"/>
                <a:cs typeface="Arial"/>
              </a:rPr>
              <a:t>a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program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	</a:t>
            </a:r>
            <a:r>
              <a:rPr sz="2400" b="1" spc="-20" dirty="0">
                <a:solidFill>
                  <a:srgbClr val="006600"/>
                </a:solidFill>
                <a:latin typeface="Arial"/>
                <a:cs typeface="Arial"/>
              </a:rPr>
              <a:t>that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defines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	</a:t>
            </a:r>
            <a:r>
              <a:rPr sz="2400" b="1" spc="-50" dirty="0">
                <a:solidFill>
                  <a:srgbClr val="006600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7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</a:t>
            </a:r>
          </a:p>
        </p:txBody>
      </p:sp>
      <p:sp>
        <p:nvSpPr>
          <p:cNvPr id="5" name="object 5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840292" y="6884920"/>
            <a:ext cx="2241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27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7539" y="3539744"/>
            <a:ext cx="625983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structure</a:t>
            </a:r>
            <a:r>
              <a:rPr sz="2400" b="1" spc="3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to</a:t>
            </a:r>
            <a:r>
              <a:rPr sz="2400" b="1" spc="3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store</a:t>
            </a:r>
            <a:r>
              <a:rPr sz="2400" b="1" spc="3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a</a:t>
            </a:r>
            <a:r>
              <a:rPr sz="2400" b="1" spc="31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student’s</a:t>
            </a:r>
            <a:r>
              <a:rPr sz="2400" b="1" spc="30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information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in</a:t>
            </a:r>
            <a:r>
              <a:rPr sz="2400" b="1" spc="229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a</a:t>
            </a:r>
            <a:r>
              <a:rPr sz="2400" b="1" spc="240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university.</a:t>
            </a:r>
            <a:r>
              <a:rPr sz="2400" b="1" spc="240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Then</a:t>
            </a:r>
            <a:r>
              <a:rPr sz="2400" b="1" spc="235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take</a:t>
            </a:r>
            <a:r>
              <a:rPr sz="2400" b="1" spc="240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5</a:t>
            </a:r>
            <a:r>
              <a:rPr sz="2400" b="1" spc="235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students’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information</a:t>
            </a:r>
            <a:r>
              <a:rPr sz="24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as</a:t>
            </a:r>
            <a:r>
              <a:rPr sz="24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user</a:t>
            </a:r>
            <a:r>
              <a:rPr sz="24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input</a:t>
            </a:r>
            <a:r>
              <a:rPr sz="24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and</a:t>
            </a:r>
            <a:r>
              <a:rPr sz="2400" b="1" spc="-4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find</a:t>
            </a:r>
            <a:r>
              <a:rPr sz="24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grade</a:t>
            </a:r>
            <a:r>
              <a:rPr sz="24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006600"/>
                </a:solidFill>
                <a:latin typeface="Arial"/>
                <a:cs typeface="Arial"/>
              </a:rPr>
              <a:t>of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each</a:t>
            </a:r>
            <a:r>
              <a:rPr sz="24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student</a:t>
            </a:r>
            <a:r>
              <a:rPr sz="24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using</a:t>
            </a:r>
            <a:r>
              <a:rPr sz="2400" b="1" spc="-5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a</a:t>
            </a:r>
            <a:r>
              <a:rPr sz="24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user</a:t>
            </a:r>
            <a:r>
              <a:rPr sz="24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defined</a:t>
            </a:r>
            <a:r>
              <a:rPr sz="2400" b="1" spc="-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function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600" y="1514855"/>
            <a:ext cx="8161020" cy="2371725"/>
          </a:xfrm>
          <a:custGeom>
            <a:avLst/>
            <a:gdLst/>
            <a:ahLst/>
            <a:cxnLst/>
            <a:rect l="l" t="t" r="r" b="b"/>
            <a:pathLst>
              <a:path w="8161020" h="2371725">
                <a:moveTo>
                  <a:pt x="8161020" y="3048"/>
                </a:moveTo>
                <a:lnTo>
                  <a:pt x="8077200" y="3048"/>
                </a:lnTo>
                <a:lnTo>
                  <a:pt x="8077200" y="0"/>
                </a:lnTo>
                <a:lnTo>
                  <a:pt x="0" y="0"/>
                </a:lnTo>
                <a:lnTo>
                  <a:pt x="0" y="19812"/>
                </a:lnTo>
                <a:lnTo>
                  <a:pt x="3575304" y="19812"/>
                </a:lnTo>
                <a:lnTo>
                  <a:pt x="3575304" y="2371344"/>
                </a:lnTo>
                <a:lnTo>
                  <a:pt x="3589020" y="2371344"/>
                </a:lnTo>
                <a:lnTo>
                  <a:pt x="3589020" y="19812"/>
                </a:lnTo>
                <a:lnTo>
                  <a:pt x="8077200" y="19812"/>
                </a:lnTo>
                <a:lnTo>
                  <a:pt x="8077200" y="16764"/>
                </a:lnTo>
                <a:lnTo>
                  <a:pt x="8147304" y="16764"/>
                </a:lnTo>
                <a:lnTo>
                  <a:pt x="8147304" y="2371344"/>
                </a:lnTo>
                <a:lnTo>
                  <a:pt x="8161020" y="2371344"/>
                </a:lnTo>
                <a:lnTo>
                  <a:pt x="8161020" y="16764"/>
                </a:lnTo>
                <a:lnTo>
                  <a:pt x="8161020" y="9144"/>
                </a:lnTo>
                <a:lnTo>
                  <a:pt x="8161020" y="3048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176" y="830056"/>
            <a:ext cx="191706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115" y="1722261"/>
            <a:ext cx="3311525" cy="2054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48690">
              <a:lnSpc>
                <a:spcPct val="120000"/>
              </a:lnSpc>
              <a:spcBef>
                <a:spcPts val="95"/>
              </a:spcBef>
            </a:pP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Compound</a:t>
            </a:r>
            <a:r>
              <a:rPr sz="20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Verdana"/>
                <a:cs typeface="Verdana"/>
              </a:rPr>
              <a:t>data: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Student</a:t>
            </a:r>
            <a:r>
              <a:rPr sz="20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has</a:t>
            </a:r>
            <a:endParaRPr sz="20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285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</a:t>
            </a:r>
            <a:r>
              <a:rPr sz="1800" b="1" spc="-4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char</a:t>
            </a:r>
            <a:r>
              <a:rPr sz="1800" b="1" spc="-4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n[50]</a:t>
            </a:r>
            <a:r>
              <a:rPr sz="1800" b="1" spc="-5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0066"/>
                </a:solidFill>
                <a:latin typeface="Verdana"/>
                <a:cs typeface="Verdana"/>
              </a:rPr>
              <a:t>name</a:t>
            </a:r>
            <a:endParaRPr sz="18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434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an</a:t>
            </a:r>
            <a:r>
              <a:rPr sz="1800" b="1" spc="-4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int</a:t>
            </a:r>
            <a:r>
              <a:rPr sz="1800" b="1" spc="-6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id</a:t>
            </a:r>
            <a:r>
              <a:rPr sz="1800" b="1" spc="-7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student</a:t>
            </a:r>
            <a:r>
              <a:rPr sz="1800" b="1" spc="-1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spc="-25" dirty="0">
                <a:solidFill>
                  <a:srgbClr val="000066"/>
                </a:solidFill>
                <a:latin typeface="Verdana"/>
                <a:cs typeface="Verdana"/>
              </a:rPr>
              <a:t>id</a:t>
            </a:r>
            <a:endParaRPr sz="18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430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</a:t>
            </a:r>
            <a:r>
              <a:rPr sz="1800" b="1" spc="-3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float</a:t>
            </a:r>
            <a:r>
              <a:rPr sz="1800" b="1" spc="-35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m</a:t>
            </a:r>
            <a:r>
              <a:rPr sz="1800" b="1" spc="-3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mark</a:t>
            </a:r>
            <a:r>
              <a:rPr sz="1800" b="1" spc="-1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u="heavy" spc="-25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Verdana"/>
                <a:cs typeface="Verdana"/>
              </a:rPr>
              <a:t>and</a:t>
            </a:r>
            <a:endParaRPr sz="18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434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</a:t>
            </a:r>
            <a:r>
              <a:rPr sz="1800" b="1" u="heavy" spc="135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Courier New"/>
                <a:cs typeface="Courier New"/>
              </a:rPr>
              <a:t> </a:t>
            </a:r>
            <a:r>
              <a:rPr sz="1800" b="1" u="heavy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Courier New"/>
                <a:cs typeface="Courier New"/>
              </a:rPr>
              <a:t>char</a:t>
            </a:r>
            <a:r>
              <a:rPr sz="1800" b="1" spc="-3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g</a:t>
            </a:r>
            <a:r>
              <a:rPr sz="1800" b="1" spc="-2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0066"/>
                </a:solidFill>
                <a:latin typeface="Verdana"/>
                <a:cs typeface="Verdana"/>
              </a:rPr>
              <a:t>grade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50837" y="1484963"/>
            <a:ext cx="197929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 marR="5080" indent="-365760">
              <a:lnSpc>
                <a:spcPct val="120000"/>
              </a:lnSpc>
              <a:spcBef>
                <a:spcPts val="100"/>
              </a:spcBef>
              <a:tabLst>
                <a:tab pos="1047115" algn="l"/>
              </a:tabLst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typedef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struct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{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n[50];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id;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40292" y="6884920"/>
            <a:ext cx="2241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28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7304" y="3886200"/>
            <a:ext cx="8624570" cy="3429635"/>
          </a:xfrm>
          <a:custGeom>
            <a:avLst/>
            <a:gdLst/>
            <a:ahLst/>
            <a:cxnLst/>
            <a:rect l="l" t="t" r="r" b="b"/>
            <a:pathLst>
              <a:path w="8624570" h="3429634">
                <a:moveTo>
                  <a:pt x="4052316" y="0"/>
                </a:moveTo>
                <a:lnTo>
                  <a:pt x="4038600" y="0"/>
                </a:lnTo>
                <a:lnTo>
                  <a:pt x="4038600" y="146304"/>
                </a:lnTo>
                <a:lnTo>
                  <a:pt x="4038600" y="160020"/>
                </a:lnTo>
                <a:lnTo>
                  <a:pt x="4038600" y="2848356"/>
                </a:lnTo>
                <a:lnTo>
                  <a:pt x="13716" y="2848356"/>
                </a:lnTo>
                <a:lnTo>
                  <a:pt x="13716" y="160020"/>
                </a:lnTo>
                <a:lnTo>
                  <a:pt x="4038600" y="160020"/>
                </a:lnTo>
                <a:lnTo>
                  <a:pt x="4038600" y="146304"/>
                </a:lnTo>
                <a:lnTo>
                  <a:pt x="0" y="146304"/>
                </a:lnTo>
                <a:lnTo>
                  <a:pt x="0" y="2862072"/>
                </a:lnTo>
                <a:lnTo>
                  <a:pt x="4038600" y="2862084"/>
                </a:lnTo>
                <a:lnTo>
                  <a:pt x="4038600" y="3429012"/>
                </a:lnTo>
                <a:lnTo>
                  <a:pt x="4052316" y="3429012"/>
                </a:lnTo>
                <a:lnTo>
                  <a:pt x="4052316" y="2862084"/>
                </a:lnTo>
                <a:lnTo>
                  <a:pt x="4052316" y="2854452"/>
                </a:lnTo>
                <a:lnTo>
                  <a:pt x="4052316" y="2848356"/>
                </a:lnTo>
                <a:lnTo>
                  <a:pt x="4052316" y="160020"/>
                </a:lnTo>
                <a:lnTo>
                  <a:pt x="4052316" y="152400"/>
                </a:lnTo>
                <a:lnTo>
                  <a:pt x="4052316" y="146304"/>
                </a:lnTo>
                <a:lnTo>
                  <a:pt x="4052316" y="0"/>
                </a:lnTo>
                <a:close/>
              </a:path>
              <a:path w="8624570" h="3429634">
                <a:moveTo>
                  <a:pt x="8624316" y="0"/>
                </a:moveTo>
                <a:lnTo>
                  <a:pt x="8610600" y="0"/>
                </a:lnTo>
                <a:lnTo>
                  <a:pt x="8610600" y="3429012"/>
                </a:lnTo>
                <a:lnTo>
                  <a:pt x="8624316" y="3429012"/>
                </a:lnTo>
                <a:lnTo>
                  <a:pt x="8624316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50837" y="2362823"/>
            <a:ext cx="4236085" cy="441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 marR="2872740">
              <a:lnSpc>
                <a:spcPct val="1199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float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m;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g;</a:t>
            </a:r>
            <a:endParaRPr sz="1600">
              <a:latin typeface="Courier New"/>
              <a:cs typeface="Courier New"/>
            </a:endParaRPr>
          </a:p>
          <a:p>
            <a:pPr marL="12700" marR="2874645">
              <a:lnSpc>
                <a:spcPct val="119900"/>
              </a:lnSpc>
              <a:spcBef>
                <a:spcPts val="5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}Student;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>
              <a:latin typeface="Courier New"/>
              <a:cs typeface="Courier New"/>
            </a:endParaRPr>
          </a:p>
          <a:p>
            <a:pPr marL="499745" marR="2141220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Student</a:t>
            </a:r>
            <a:r>
              <a:rPr sz="1600" b="1" spc="-7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s[5];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i;</a:t>
            </a:r>
            <a:endParaRPr sz="1600">
              <a:latin typeface="Courier New"/>
              <a:cs typeface="Courier New"/>
            </a:endParaRPr>
          </a:p>
          <a:p>
            <a:pPr marL="926465" marR="917575" indent="-426720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for(i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0;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&lt;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5;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i++){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printf(“Name:</a:t>
            </a:r>
            <a:r>
              <a:rPr sz="1600" b="1" spc="-1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“);</a:t>
            </a:r>
            <a:endParaRPr sz="16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0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gets(s[i].n);</a:t>
            </a:r>
            <a:endParaRPr sz="1600">
              <a:latin typeface="Courier New"/>
              <a:cs typeface="Courier New"/>
            </a:endParaRPr>
          </a:p>
          <a:p>
            <a:pPr marL="926465" marR="741045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printf(“ID:</a:t>
            </a:r>
            <a:r>
              <a:rPr sz="1600" b="1" spc="-114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”);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scanf(“%d”,&amp;s[i].id);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printf(“Mark:</a:t>
            </a:r>
            <a:r>
              <a:rPr sz="1600" b="1" spc="-1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“);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scanf(“%f”,&amp;s[i].m);</a:t>
            </a:r>
            <a:endParaRPr sz="16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s[i].g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findGrade(s[i]);</a:t>
            </a:r>
            <a:endParaRPr sz="16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printf(“%d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%f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%c”,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s[i].id,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65181" y="6702863"/>
            <a:ext cx="2891790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13765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s[i].m,</a:t>
            </a:r>
            <a:r>
              <a:rPr sz="1600" b="1" spc="-7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s[i].g);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return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0;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2199" y="3999560"/>
            <a:ext cx="320167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9745" marR="5080" indent="-487680">
              <a:lnSpc>
                <a:spcPct val="1199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1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findGrade(Student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s){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g;</a:t>
            </a:r>
            <a:endParaRPr sz="1600">
              <a:latin typeface="Courier New"/>
              <a:cs typeface="Courier New"/>
            </a:endParaRPr>
          </a:p>
          <a:p>
            <a:pPr marL="499745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if(s.m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&gt;=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90)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g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‘A’;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080826" y="4973320"/>
          <a:ext cx="3364865" cy="814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1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51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16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0985">
                <a:tc>
                  <a:txBody>
                    <a:bodyPr/>
                    <a:lstStyle/>
                    <a:p>
                      <a:pPr marR="22225" algn="ctr">
                        <a:lnSpc>
                          <a:spcPts val="1650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else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if(s.m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&gt;=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80)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50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g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650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‘B’;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R="22225" algn="ctr">
                        <a:lnSpc>
                          <a:spcPts val="1895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else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if(s.m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&gt;=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70)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g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895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‘C’;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marR="22225" algn="ctr">
                        <a:lnSpc>
                          <a:spcPts val="1895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else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if(s.m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&gt;=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60)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g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895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‘D’;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1099876" y="5754873"/>
            <a:ext cx="161353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else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g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‘F’;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return</a:t>
            </a:r>
            <a:r>
              <a:rPr sz="1600" b="1" spc="-6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g;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2199" y="6389704"/>
            <a:ext cx="147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7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840292" y="6884920"/>
            <a:ext cx="2241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29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7539" y="3173984"/>
            <a:ext cx="625856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Write</a:t>
            </a:r>
            <a:r>
              <a:rPr sz="2400" b="1" spc="265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down</a:t>
            </a:r>
            <a:r>
              <a:rPr sz="2400" b="1" spc="270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a</a:t>
            </a:r>
            <a:r>
              <a:rPr sz="2400" b="1" spc="265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program</a:t>
            </a:r>
            <a:r>
              <a:rPr sz="2400" b="1" spc="275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that</a:t>
            </a:r>
            <a:r>
              <a:rPr sz="2400" b="1" spc="275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defines</a:t>
            </a:r>
            <a:r>
              <a:rPr sz="2400" b="1" spc="275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spc="-50" dirty="0">
                <a:solidFill>
                  <a:srgbClr val="006600"/>
                </a:solidFill>
                <a:latin typeface="Arial"/>
                <a:cs typeface="Arial"/>
              </a:rPr>
              <a:t>a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structure</a:t>
            </a:r>
            <a:r>
              <a:rPr sz="2400" b="1" spc="3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to</a:t>
            </a:r>
            <a:r>
              <a:rPr sz="2400" b="1" spc="3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store</a:t>
            </a:r>
            <a:r>
              <a:rPr sz="2400" b="1" spc="3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a</a:t>
            </a:r>
            <a:r>
              <a:rPr sz="2400" b="1" spc="31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student’s</a:t>
            </a:r>
            <a:r>
              <a:rPr sz="2400" b="1" spc="30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information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in</a:t>
            </a:r>
            <a:r>
              <a:rPr sz="2400" b="1" spc="85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a</a:t>
            </a:r>
            <a:r>
              <a:rPr sz="2400" b="1" spc="75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university.</a:t>
            </a:r>
            <a:r>
              <a:rPr sz="2400" b="1" spc="85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Then</a:t>
            </a:r>
            <a:r>
              <a:rPr sz="2400" b="1" spc="80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taken</a:t>
            </a:r>
            <a:r>
              <a:rPr sz="2400" b="1" spc="80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2400" b="1" spc="8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students’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information</a:t>
            </a:r>
            <a:r>
              <a:rPr sz="24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as</a:t>
            </a:r>
            <a:r>
              <a:rPr sz="24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user</a:t>
            </a:r>
            <a:r>
              <a:rPr sz="24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input</a:t>
            </a:r>
            <a:r>
              <a:rPr sz="24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and</a:t>
            </a:r>
            <a:r>
              <a:rPr sz="2400" b="1" spc="-4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find</a:t>
            </a:r>
            <a:r>
              <a:rPr sz="24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grade</a:t>
            </a:r>
            <a:r>
              <a:rPr sz="24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006600"/>
                </a:solidFill>
                <a:latin typeface="Arial"/>
                <a:cs typeface="Arial"/>
              </a:rPr>
              <a:t>of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each</a:t>
            </a:r>
            <a:r>
              <a:rPr sz="2400" b="1" spc="220" dirty="0">
                <a:solidFill>
                  <a:srgbClr val="006600"/>
                </a:solidFill>
                <a:latin typeface="Arial"/>
                <a:cs typeface="Arial"/>
              </a:rPr>
              <a:t> 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student</a:t>
            </a:r>
            <a:r>
              <a:rPr sz="2400" b="1" spc="220" dirty="0">
                <a:solidFill>
                  <a:srgbClr val="006600"/>
                </a:solidFill>
                <a:latin typeface="Arial"/>
                <a:cs typeface="Arial"/>
              </a:rPr>
              <a:t> 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using</a:t>
            </a:r>
            <a:r>
              <a:rPr sz="2400" b="1" spc="220" dirty="0">
                <a:solidFill>
                  <a:srgbClr val="006600"/>
                </a:solidFill>
                <a:latin typeface="Arial"/>
                <a:cs typeface="Arial"/>
              </a:rPr>
              <a:t> 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a</a:t>
            </a:r>
            <a:r>
              <a:rPr sz="2400" b="1" spc="220" dirty="0">
                <a:solidFill>
                  <a:srgbClr val="006600"/>
                </a:solidFill>
                <a:latin typeface="Arial"/>
                <a:cs typeface="Arial"/>
              </a:rPr>
              <a:t> 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user</a:t>
            </a:r>
            <a:r>
              <a:rPr sz="2400" b="1" spc="220" dirty="0">
                <a:solidFill>
                  <a:srgbClr val="006600"/>
                </a:solidFill>
                <a:latin typeface="Arial"/>
                <a:cs typeface="Arial"/>
              </a:rPr>
              <a:t>   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defined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function.</a:t>
            </a:r>
            <a:r>
              <a:rPr sz="24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N will</a:t>
            </a:r>
            <a:r>
              <a:rPr sz="2400" b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also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be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input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600" y="1514855"/>
            <a:ext cx="8313420" cy="2371725"/>
          </a:xfrm>
          <a:custGeom>
            <a:avLst/>
            <a:gdLst/>
            <a:ahLst/>
            <a:cxnLst/>
            <a:rect l="l" t="t" r="r" b="b"/>
            <a:pathLst>
              <a:path w="8313420" h="2371725">
                <a:moveTo>
                  <a:pt x="8313420" y="3048"/>
                </a:moveTo>
                <a:lnTo>
                  <a:pt x="8077200" y="3048"/>
                </a:lnTo>
                <a:lnTo>
                  <a:pt x="8077200" y="0"/>
                </a:lnTo>
                <a:lnTo>
                  <a:pt x="0" y="0"/>
                </a:lnTo>
                <a:lnTo>
                  <a:pt x="0" y="19812"/>
                </a:lnTo>
                <a:lnTo>
                  <a:pt x="3575304" y="19812"/>
                </a:lnTo>
                <a:lnTo>
                  <a:pt x="3575304" y="2371344"/>
                </a:lnTo>
                <a:lnTo>
                  <a:pt x="3589020" y="2371344"/>
                </a:lnTo>
                <a:lnTo>
                  <a:pt x="3589020" y="19812"/>
                </a:lnTo>
                <a:lnTo>
                  <a:pt x="8077200" y="19812"/>
                </a:lnTo>
                <a:lnTo>
                  <a:pt x="8077200" y="16764"/>
                </a:lnTo>
                <a:lnTo>
                  <a:pt x="8299704" y="16764"/>
                </a:lnTo>
                <a:lnTo>
                  <a:pt x="8299704" y="2371344"/>
                </a:lnTo>
                <a:lnTo>
                  <a:pt x="8313420" y="2371344"/>
                </a:lnTo>
                <a:lnTo>
                  <a:pt x="8313420" y="16764"/>
                </a:lnTo>
                <a:lnTo>
                  <a:pt x="8313420" y="9144"/>
                </a:lnTo>
                <a:lnTo>
                  <a:pt x="8313420" y="3048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176" y="830056"/>
            <a:ext cx="191706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115" y="1722261"/>
            <a:ext cx="3311525" cy="2054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48690">
              <a:lnSpc>
                <a:spcPct val="120000"/>
              </a:lnSpc>
              <a:spcBef>
                <a:spcPts val="95"/>
              </a:spcBef>
            </a:pP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Compound</a:t>
            </a:r>
            <a:r>
              <a:rPr sz="20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Verdana"/>
                <a:cs typeface="Verdana"/>
              </a:rPr>
              <a:t>data: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Student</a:t>
            </a:r>
            <a:r>
              <a:rPr sz="20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has</a:t>
            </a:r>
            <a:endParaRPr sz="20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285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</a:t>
            </a:r>
            <a:r>
              <a:rPr sz="1800" b="1" spc="-4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char</a:t>
            </a:r>
            <a:r>
              <a:rPr sz="1800" b="1" spc="-4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n[50]</a:t>
            </a:r>
            <a:r>
              <a:rPr sz="1800" b="1" spc="-5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0066"/>
                </a:solidFill>
                <a:latin typeface="Verdana"/>
                <a:cs typeface="Verdana"/>
              </a:rPr>
              <a:t>name</a:t>
            </a:r>
            <a:endParaRPr sz="18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434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an</a:t>
            </a:r>
            <a:r>
              <a:rPr sz="1800" b="1" spc="-4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int</a:t>
            </a:r>
            <a:r>
              <a:rPr sz="1800" b="1" spc="-6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id</a:t>
            </a:r>
            <a:r>
              <a:rPr sz="1800" b="1" spc="-7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student</a:t>
            </a:r>
            <a:r>
              <a:rPr sz="1800" b="1" spc="-1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spc="-25" dirty="0">
                <a:solidFill>
                  <a:srgbClr val="000066"/>
                </a:solidFill>
                <a:latin typeface="Verdana"/>
                <a:cs typeface="Verdana"/>
              </a:rPr>
              <a:t>id</a:t>
            </a:r>
            <a:endParaRPr sz="18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430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</a:t>
            </a:r>
            <a:r>
              <a:rPr sz="1800" b="1" spc="-3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float</a:t>
            </a:r>
            <a:r>
              <a:rPr sz="1800" b="1" spc="-35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m</a:t>
            </a:r>
            <a:r>
              <a:rPr sz="1800" b="1" spc="-3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mark</a:t>
            </a:r>
            <a:r>
              <a:rPr sz="1800" b="1" spc="-1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u="heavy" spc="-25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Verdana"/>
                <a:cs typeface="Verdana"/>
              </a:rPr>
              <a:t>and</a:t>
            </a:r>
            <a:endParaRPr sz="18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434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</a:t>
            </a:r>
            <a:r>
              <a:rPr sz="1800" b="1" u="heavy" spc="135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Courier New"/>
                <a:cs typeface="Courier New"/>
              </a:rPr>
              <a:t> </a:t>
            </a:r>
            <a:r>
              <a:rPr sz="1800" b="1" u="heavy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Courier New"/>
                <a:cs typeface="Courier New"/>
              </a:rPr>
              <a:t>char</a:t>
            </a:r>
            <a:r>
              <a:rPr sz="1800" b="1" spc="-3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g</a:t>
            </a:r>
            <a:r>
              <a:rPr sz="1800" b="1" spc="-2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0066"/>
                </a:solidFill>
                <a:latin typeface="Verdana"/>
                <a:cs typeface="Verdana"/>
              </a:rPr>
              <a:t>grade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50837" y="1484963"/>
            <a:ext cx="197929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 marR="5080" indent="-365760">
              <a:lnSpc>
                <a:spcPct val="120000"/>
              </a:lnSpc>
              <a:spcBef>
                <a:spcPts val="100"/>
              </a:spcBef>
              <a:tabLst>
                <a:tab pos="1047115" algn="l"/>
              </a:tabLst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typedef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struct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{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n[50];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id;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50837" y="2362823"/>
            <a:ext cx="136779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 marR="5080">
              <a:lnSpc>
                <a:spcPct val="1199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float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m;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g;</a:t>
            </a:r>
            <a:endParaRPr sz="1600">
              <a:latin typeface="Courier New"/>
              <a:cs typeface="Courier New"/>
            </a:endParaRPr>
          </a:p>
          <a:p>
            <a:pPr marL="12700" marR="6350">
              <a:lnSpc>
                <a:spcPct val="119900"/>
              </a:lnSpc>
              <a:spcBef>
                <a:spcPts val="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Student;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>
              <a:latin typeface="Courier New"/>
              <a:cs typeface="Courier New"/>
            </a:endParaRPr>
          </a:p>
          <a:p>
            <a:pPr marL="499745">
              <a:lnSpc>
                <a:spcPct val="100000"/>
              </a:lnSpc>
              <a:spcBef>
                <a:spcPts val="3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i;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22251" y="3562556"/>
            <a:ext cx="1122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i,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N;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40292" y="6884920"/>
            <a:ext cx="2241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30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7304" y="3886200"/>
            <a:ext cx="8776970" cy="3429635"/>
          </a:xfrm>
          <a:custGeom>
            <a:avLst/>
            <a:gdLst/>
            <a:ahLst/>
            <a:cxnLst/>
            <a:rect l="l" t="t" r="r" b="b"/>
            <a:pathLst>
              <a:path w="8776970" h="3429634">
                <a:moveTo>
                  <a:pt x="4052316" y="0"/>
                </a:moveTo>
                <a:lnTo>
                  <a:pt x="4038600" y="0"/>
                </a:lnTo>
                <a:lnTo>
                  <a:pt x="4038600" y="146304"/>
                </a:lnTo>
                <a:lnTo>
                  <a:pt x="4038600" y="160020"/>
                </a:lnTo>
                <a:lnTo>
                  <a:pt x="4038600" y="2848356"/>
                </a:lnTo>
                <a:lnTo>
                  <a:pt x="13716" y="2848356"/>
                </a:lnTo>
                <a:lnTo>
                  <a:pt x="13716" y="160020"/>
                </a:lnTo>
                <a:lnTo>
                  <a:pt x="4038600" y="160020"/>
                </a:lnTo>
                <a:lnTo>
                  <a:pt x="4038600" y="146304"/>
                </a:lnTo>
                <a:lnTo>
                  <a:pt x="0" y="146304"/>
                </a:lnTo>
                <a:lnTo>
                  <a:pt x="0" y="2862072"/>
                </a:lnTo>
                <a:lnTo>
                  <a:pt x="4038600" y="2862084"/>
                </a:lnTo>
                <a:lnTo>
                  <a:pt x="4038600" y="3429012"/>
                </a:lnTo>
                <a:lnTo>
                  <a:pt x="4052316" y="3429012"/>
                </a:lnTo>
                <a:lnTo>
                  <a:pt x="4052316" y="2862084"/>
                </a:lnTo>
                <a:lnTo>
                  <a:pt x="4052316" y="2854452"/>
                </a:lnTo>
                <a:lnTo>
                  <a:pt x="4052316" y="2848356"/>
                </a:lnTo>
                <a:lnTo>
                  <a:pt x="4052316" y="160020"/>
                </a:lnTo>
                <a:lnTo>
                  <a:pt x="4052316" y="152400"/>
                </a:lnTo>
                <a:lnTo>
                  <a:pt x="4052316" y="146304"/>
                </a:lnTo>
                <a:lnTo>
                  <a:pt x="4052316" y="0"/>
                </a:lnTo>
                <a:close/>
              </a:path>
              <a:path w="8776970" h="3429634">
                <a:moveTo>
                  <a:pt x="8776716" y="0"/>
                </a:moveTo>
                <a:lnTo>
                  <a:pt x="8763000" y="0"/>
                </a:lnTo>
                <a:lnTo>
                  <a:pt x="8763000" y="3429012"/>
                </a:lnTo>
                <a:lnTo>
                  <a:pt x="8776716" y="3429012"/>
                </a:lnTo>
                <a:lnTo>
                  <a:pt x="8776716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38514" y="3875108"/>
            <a:ext cx="16116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Student</a:t>
            </a:r>
            <a:r>
              <a:rPr sz="1600" b="1" spc="-7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s[5];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38514" y="4118135"/>
            <a:ext cx="3748404" cy="2659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917575" algn="ctr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for(i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0;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&lt;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5;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i++){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printf(“Name:</a:t>
            </a:r>
            <a:r>
              <a:rPr sz="1600" b="1" spc="-1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“);</a:t>
            </a:r>
            <a:endParaRPr sz="1600">
              <a:latin typeface="Courier New"/>
              <a:cs typeface="Courier New"/>
            </a:endParaRPr>
          </a:p>
          <a:p>
            <a:pPr marR="910590" algn="ctr">
              <a:lnSpc>
                <a:spcPct val="100000"/>
              </a:lnSpc>
              <a:spcBef>
                <a:spcPts val="384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gets(s[i].name);</a:t>
            </a:r>
            <a:endParaRPr sz="1600">
              <a:latin typeface="Courier New"/>
              <a:cs typeface="Courier New"/>
            </a:endParaRPr>
          </a:p>
          <a:p>
            <a:pPr marL="438784" marR="741045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printf(“ID:</a:t>
            </a:r>
            <a:r>
              <a:rPr sz="1600" b="1" spc="-114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”);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scanf(“%d”,&amp;s[i].id);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printf(“Mark:</a:t>
            </a:r>
            <a:r>
              <a:rPr sz="1600" b="1" spc="-1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“);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scanf(“%f”,&amp;s[i].m);</a:t>
            </a:r>
            <a:endParaRPr sz="1600">
              <a:latin typeface="Courier New"/>
              <a:cs typeface="Courier New"/>
            </a:endParaRPr>
          </a:p>
          <a:p>
            <a:pPr marL="438784">
              <a:lnSpc>
                <a:spcPct val="100000"/>
              </a:lnSpc>
              <a:spcBef>
                <a:spcPts val="3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s[i].g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findGrade(s[i]);</a:t>
            </a:r>
            <a:endParaRPr sz="1600">
              <a:latin typeface="Courier New"/>
              <a:cs typeface="Courier New"/>
            </a:endParaRPr>
          </a:p>
          <a:p>
            <a:pPr marL="438784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printf(“%d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%f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%c”,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s[i].id,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65181" y="6702863"/>
            <a:ext cx="2891790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13765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s[i].m,</a:t>
            </a:r>
            <a:r>
              <a:rPr sz="1600" b="1" spc="-7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s[i].g);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return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0;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2199" y="3999560"/>
            <a:ext cx="320167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9745" marR="5080" indent="-487680">
              <a:lnSpc>
                <a:spcPct val="1199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1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findGrade(Student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s){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g;</a:t>
            </a:r>
            <a:endParaRPr sz="1600">
              <a:latin typeface="Courier New"/>
              <a:cs typeface="Courier New"/>
            </a:endParaRPr>
          </a:p>
          <a:p>
            <a:pPr marL="499745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if(s.m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&gt;=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90)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g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‘A’;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080826" y="4973320"/>
          <a:ext cx="3364865" cy="814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1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51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16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0985">
                <a:tc>
                  <a:txBody>
                    <a:bodyPr/>
                    <a:lstStyle/>
                    <a:p>
                      <a:pPr marR="22225" algn="ctr">
                        <a:lnSpc>
                          <a:spcPts val="1650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else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if(s.m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&gt;=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80)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50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g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650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‘B’;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R="22225" algn="ctr">
                        <a:lnSpc>
                          <a:spcPts val="1895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else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if(s.m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&gt;=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70)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g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895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‘C’;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marR="22225" algn="ctr">
                        <a:lnSpc>
                          <a:spcPts val="1895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else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if(s.m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&gt;=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60)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g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895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‘D’;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1099876" y="5754873"/>
            <a:ext cx="161353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else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g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‘F’;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return</a:t>
            </a:r>
            <a:r>
              <a:rPr sz="1600" b="1" spc="-6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g;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2199" y="6389704"/>
            <a:ext cx="147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39141" y="3458576"/>
            <a:ext cx="185356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scanf(“%d”,&amp;N);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Student</a:t>
            </a:r>
            <a:r>
              <a:rPr sz="1600" b="1" spc="-7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s[N];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600" y="1514855"/>
            <a:ext cx="8313420" cy="2371725"/>
          </a:xfrm>
          <a:custGeom>
            <a:avLst/>
            <a:gdLst/>
            <a:ahLst/>
            <a:cxnLst/>
            <a:rect l="l" t="t" r="r" b="b"/>
            <a:pathLst>
              <a:path w="8313420" h="2371725">
                <a:moveTo>
                  <a:pt x="8313420" y="3048"/>
                </a:moveTo>
                <a:lnTo>
                  <a:pt x="8077200" y="3048"/>
                </a:lnTo>
                <a:lnTo>
                  <a:pt x="8077200" y="0"/>
                </a:lnTo>
                <a:lnTo>
                  <a:pt x="0" y="0"/>
                </a:lnTo>
                <a:lnTo>
                  <a:pt x="0" y="19812"/>
                </a:lnTo>
                <a:lnTo>
                  <a:pt x="3575304" y="19812"/>
                </a:lnTo>
                <a:lnTo>
                  <a:pt x="3575304" y="2371344"/>
                </a:lnTo>
                <a:lnTo>
                  <a:pt x="3589020" y="2371344"/>
                </a:lnTo>
                <a:lnTo>
                  <a:pt x="3589020" y="19812"/>
                </a:lnTo>
                <a:lnTo>
                  <a:pt x="8077200" y="19812"/>
                </a:lnTo>
                <a:lnTo>
                  <a:pt x="8077200" y="16764"/>
                </a:lnTo>
                <a:lnTo>
                  <a:pt x="8299704" y="16764"/>
                </a:lnTo>
                <a:lnTo>
                  <a:pt x="8299704" y="2371344"/>
                </a:lnTo>
                <a:lnTo>
                  <a:pt x="8313420" y="2371344"/>
                </a:lnTo>
                <a:lnTo>
                  <a:pt x="8313420" y="16764"/>
                </a:lnTo>
                <a:lnTo>
                  <a:pt x="8313420" y="9144"/>
                </a:lnTo>
                <a:lnTo>
                  <a:pt x="8313420" y="3048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176" y="830056"/>
            <a:ext cx="191706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115" y="1722261"/>
            <a:ext cx="3311525" cy="2054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48690">
              <a:lnSpc>
                <a:spcPct val="120000"/>
              </a:lnSpc>
              <a:spcBef>
                <a:spcPts val="95"/>
              </a:spcBef>
            </a:pP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Compound</a:t>
            </a:r>
            <a:r>
              <a:rPr sz="20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Verdana"/>
                <a:cs typeface="Verdana"/>
              </a:rPr>
              <a:t>data: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600"/>
                </a:solidFill>
                <a:latin typeface="Verdana"/>
                <a:cs typeface="Verdana"/>
              </a:rPr>
              <a:t>Student</a:t>
            </a:r>
            <a:r>
              <a:rPr sz="20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000" b="1" spc="-25" dirty="0">
                <a:solidFill>
                  <a:srgbClr val="006600"/>
                </a:solidFill>
                <a:latin typeface="Verdana"/>
                <a:cs typeface="Verdana"/>
              </a:rPr>
              <a:t>has</a:t>
            </a:r>
            <a:endParaRPr sz="20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285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</a:t>
            </a:r>
            <a:r>
              <a:rPr sz="1800" b="1" spc="-4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char</a:t>
            </a:r>
            <a:r>
              <a:rPr sz="1800" b="1" spc="-4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n[50]</a:t>
            </a:r>
            <a:r>
              <a:rPr sz="1800" b="1" spc="-5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0066"/>
                </a:solidFill>
                <a:latin typeface="Verdana"/>
                <a:cs typeface="Verdana"/>
              </a:rPr>
              <a:t>name</a:t>
            </a:r>
            <a:endParaRPr sz="18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434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an</a:t>
            </a:r>
            <a:r>
              <a:rPr sz="1800" b="1" spc="-4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int</a:t>
            </a:r>
            <a:r>
              <a:rPr sz="1800" b="1" spc="-6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id</a:t>
            </a:r>
            <a:r>
              <a:rPr sz="1800" b="1" spc="-7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student</a:t>
            </a:r>
            <a:r>
              <a:rPr sz="1800" b="1" spc="-1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spc="-25" dirty="0">
                <a:solidFill>
                  <a:srgbClr val="000066"/>
                </a:solidFill>
                <a:latin typeface="Verdana"/>
                <a:cs typeface="Verdana"/>
              </a:rPr>
              <a:t>id</a:t>
            </a:r>
            <a:endParaRPr sz="18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430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</a:t>
            </a:r>
            <a:r>
              <a:rPr sz="1800" b="1" spc="-3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float</a:t>
            </a:r>
            <a:r>
              <a:rPr sz="1800" b="1" spc="-35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m</a:t>
            </a:r>
            <a:r>
              <a:rPr sz="1800" b="1" spc="-3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mark</a:t>
            </a:r>
            <a:r>
              <a:rPr sz="1800" b="1" spc="-1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800" b="1" u="heavy" spc="-25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Verdana"/>
                <a:cs typeface="Verdana"/>
              </a:rPr>
              <a:t>and</a:t>
            </a:r>
            <a:endParaRPr sz="1800">
              <a:latin typeface="Verdana"/>
              <a:cs typeface="Verdana"/>
            </a:endParaRPr>
          </a:p>
          <a:p>
            <a:pPr marL="650875" indent="-290830">
              <a:lnSpc>
                <a:spcPct val="100000"/>
              </a:lnSpc>
              <a:spcBef>
                <a:spcPts val="434"/>
              </a:spcBef>
              <a:buSzPct val="88888"/>
              <a:buFont typeface="Wingdings"/>
              <a:buChar char=""/>
              <a:tabLst>
                <a:tab pos="650875" algn="l"/>
              </a:tabLst>
            </a:pPr>
            <a:r>
              <a:rPr sz="1800" b="1" dirty="0">
                <a:solidFill>
                  <a:srgbClr val="000066"/>
                </a:solidFill>
                <a:latin typeface="Verdana"/>
                <a:cs typeface="Verdana"/>
              </a:rPr>
              <a:t>a</a:t>
            </a:r>
            <a:r>
              <a:rPr sz="1800" b="1" u="heavy" spc="135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Courier New"/>
                <a:cs typeface="Courier New"/>
              </a:rPr>
              <a:t> </a:t>
            </a:r>
            <a:r>
              <a:rPr sz="1800" b="1" u="heavy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Courier New"/>
                <a:cs typeface="Courier New"/>
              </a:rPr>
              <a:t>char</a:t>
            </a:r>
            <a:r>
              <a:rPr sz="1800" b="1" spc="-3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66"/>
                </a:solidFill>
                <a:latin typeface="Courier New"/>
                <a:cs typeface="Courier New"/>
              </a:rPr>
              <a:t>g</a:t>
            </a:r>
            <a:r>
              <a:rPr sz="1800" b="1" spc="-2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0066"/>
                </a:solidFill>
                <a:latin typeface="Verdana"/>
                <a:cs typeface="Verdana"/>
              </a:rPr>
              <a:t>grade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50837" y="1484963"/>
            <a:ext cx="1979295" cy="2073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 marR="5080" indent="-365760">
              <a:lnSpc>
                <a:spcPct val="120000"/>
              </a:lnSpc>
              <a:spcBef>
                <a:spcPts val="100"/>
              </a:spcBef>
              <a:tabLst>
                <a:tab pos="1047115" algn="l"/>
              </a:tabLst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typedef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struct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{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n[50];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id;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float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m;</a:t>
            </a:r>
            <a:endParaRPr sz="1600">
              <a:latin typeface="Courier New"/>
              <a:cs typeface="Courier New"/>
            </a:endParaRPr>
          </a:p>
          <a:p>
            <a:pPr marL="377825">
              <a:lnSpc>
                <a:spcPct val="100000"/>
              </a:lnSpc>
              <a:spcBef>
                <a:spcPts val="3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g;</a:t>
            </a:r>
            <a:endParaRPr sz="1600">
              <a:latin typeface="Courier New"/>
              <a:cs typeface="Courier New"/>
            </a:endParaRPr>
          </a:p>
          <a:p>
            <a:pPr marL="12700" marR="617855">
              <a:lnSpc>
                <a:spcPct val="119900"/>
              </a:lnSpc>
              <a:spcBef>
                <a:spcPts val="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Student;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22251" y="3562556"/>
            <a:ext cx="1122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i,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N;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40292" y="6884920"/>
            <a:ext cx="2241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31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7304" y="3886200"/>
            <a:ext cx="8776970" cy="3429635"/>
          </a:xfrm>
          <a:custGeom>
            <a:avLst/>
            <a:gdLst/>
            <a:ahLst/>
            <a:cxnLst/>
            <a:rect l="l" t="t" r="r" b="b"/>
            <a:pathLst>
              <a:path w="8776970" h="3429634">
                <a:moveTo>
                  <a:pt x="4052316" y="0"/>
                </a:moveTo>
                <a:lnTo>
                  <a:pt x="4038600" y="0"/>
                </a:lnTo>
                <a:lnTo>
                  <a:pt x="4038600" y="146304"/>
                </a:lnTo>
                <a:lnTo>
                  <a:pt x="4038600" y="160020"/>
                </a:lnTo>
                <a:lnTo>
                  <a:pt x="4038600" y="2848356"/>
                </a:lnTo>
                <a:lnTo>
                  <a:pt x="13716" y="2848356"/>
                </a:lnTo>
                <a:lnTo>
                  <a:pt x="13716" y="160020"/>
                </a:lnTo>
                <a:lnTo>
                  <a:pt x="4038600" y="160020"/>
                </a:lnTo>
                <a:lnTo>
                  <a:pt x="4038600" y="146304"/>
                </a:lnTo>
                <a:lnTo>
                  <a:pt x="0" y="146304"/>
                </a:lnTo>
                <a:lnTo>
                  <a:pt x="0" y="2862072"/>
                </a:lnTo>
                <a:lnTo>
                  <a:pt x="4038600" y="2862084"/>
                </a:lnTo>
                <a:lnTo>
                  <a:pt x="4038600" y="3429012"/>
                </a:lnTo>
                <a:lnTo>
                  <a:pt x="4052316" y="3429012"/>
                </a:lnTo>
                <a:lnTo>
                  <a:pt x="4052316" y="2862084"/>
                </a:lnTo>
                <a:lnTo>
                  <a:pt x="4052316" y="2854452"/>
                </a:lnTo>
                <a:lnTo>
                  <a:pt x="4052316" y="2848356"/>
                </a:lnTo>
                <a:lnTo>
                  <a:pt x="4052316" y="160020"/>
                </a:lnTo>
                <a:lnTo>
                  <a:pt x="4052316" y="152400"/>
                </a:lnTo>
                <a:lnTo>
                  <a:pt x="4052316" y="146304"/>
                </a:lnTo>
                <a:lnTo>
                  <a:pt x="4052316" y="0"/>
                </a:lnTo>
                <a:close/>
              </a:path>
              <a:path w="8776970" h="3429634">
                <a:moveTo>
                  <a:pt x="8776716" y="0"/>
                </a:moveTo>
                <a:lnTo>
                  <a:pt x="8763000" y="0"/>
                </a:lnTo>
                <a:lnTo>
                  <a:pt x="8763000" y="3429012"/>
                </a:lnTo>
                <a:lnTo>
                  <a:pt x="8776716" y="3429012"/>
                </a:lnTo>
                <a:lnTo>
                  <a:pt x="8776716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138514" y="4118135"/>
            <a:ext cx="3748404" cy="2659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8784" marR="917575" indent="-426720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for(i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0;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1600" b="1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;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i++){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printf(“Name:</a:t>
            </a:r>
            <a:r>
              <a:rPr sz="1600" b="1" spc="-1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“);</a:t>
            </a:r>
            <a:endParaRPr sz="1600">
              <a:latin typeface="Courier New"/>
              <a:cs typeface="Courier New"/>
            </a:endParaRPr>
          </a:p>
          <a:p>
            <a:pPr marL="438784">
              <a:lnSpc>
                <a:spcPct val="100000"/>
              </a:lnSpc>
              <a:spcBef>
                <a:spcPts val="384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gets(s[i].n);</a:t>
            </a:r>
            <a:endParaRPr sz="1600">
              <a:latin typeface="Courier New"/>
              <a:cs typeface="Courier New"/>
            </a:endParaRPr>
          </a:p>
          <a:p>
            <a:pPr marL="438784" marR="741045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printf(“ID:</a:t>
            </a:r>
            <a:r>
              <a:rPr sz="1600" b="1" spc="-114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”);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scanf(“%d”,&amp;s[i].id);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printf(“Mark:</a:t>
            </a:r>
            <a:r>
              <a:rPr sz="1600" b="1" spc="-1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“);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scanf(“%f”,&amp;s[i].m);</a:t>
            </a:r>
            <a:endParaRPr sz="1600">
              <a:latin typeface="Courier New"/>
              <a:cs typeface="Courier New"/>
            </a:endParaRPr>
          </a:p>
          <a:p>
            <a:pPr marL="438784">
              <a:lnSpc>
                <a:spcPct val="100000"/>
              </a:lnSpc>
              <a:spcBef>
                <a:spcPts val="3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s[i].g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findGrade(s[i]);</a:t>
            </a:r>
            <a:endParaRPr sz="1600">
              <a:latin typeface="Courier New"/>
              <a:cs typeface="Courier New"/>
            </a:endParaRPr>
          </a:p>
          <a:p>
            <a:pPr marL="438784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printf(“%d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%f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%c”,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s[i].id,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65181" y="6702863"/>
            <a:ext cx="2891790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13765">
              <a:lnSpc>
                <a:spcPct val="120000"/>
              </a:lnSpc>
              <a:spcBef>
                <a:spcPts val="100"/>
              </a:spcBef>
              <a:tabLst>
                <a:tab pos="1354455" algn="l"/>
              </a:tabLst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s[i].m,</a:t>
            </a:r>
            <a:r>
              <a:rPr sz="1600" b="1" spc="-7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s[i].g);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return</a:t>
            </a:r>
            <a:r>
              <a:rPr sz="1600" b="1" spc="-7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0;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2199" y="3999560"/>
            <a:ext cx="320167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9745" marR="5080" indent="-487680">
              <a:lnSpc>
                <a:spcPct val="1199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1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findGrade(Student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s){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g;</a:t>
            </a:r>
            <a:endParaRPr sz="1600">
              <a:latin typeface="Courier New"/>
              <a:cs typeface="Courier New"/>
            </a:endParaRPr>
          </a:p>
          <a:p>
            <a:pPr marL="499745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if(s.m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&gt;=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90)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g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‘A’;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080826" y="4973320"/>
          <a:ext cx="3364865" cy="814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1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51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16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0985">
                <a:tc>
                  <a:txBody>
                    <a:bodyPr/>
                    <a:lstStyle/>
                    <a:p>
                      <a:pPr marR="22225" algn="ctr">
                        <a:lnSpc>
                          <a:spcPts val="1650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else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if(s.m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&gt;=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80)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50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g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650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‘B’;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R="22225" algn="ctr">
                        <a:lnSpc>
                          <a:spcPts val="1895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else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if(s.m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&gt;=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70)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g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895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‘C’;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marR="22225" algn="ctr">
                        <a:lnSpc>
                          <a:spcPts val="1895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else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if(s.m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&gt;=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60)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g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895"/>
                        </a:lnSpc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‘D’;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1099876" y="5754873"/>
            <a:ext cx="161353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else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g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‘F’;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return</a:t>
            </a:r>
            <a:r>
              <a:rPr sz="1600" b="1" spc="-6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g;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2199" y="6389704"/>
            <a:ext cx="147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39141" y="3458576"/>
            <a:ext cx="185356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scanf(“%d”,&amp;N);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Student</a:t>
            </a:r>
            <a:r>
              <a:rPr sz="1600" b="1" spc="-7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s[N];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7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25347" rIns="0" bIns="0" rtlCol="0">
            <a:spAutoFit/>
          </a:bodyPr>
          <a:lstStyle/>
          <a:p>
            <a:pPr marL="241300">
              <a:lnSpc>
                <a:spcPts val="2875"/>
              </a:lnSpc>
              <a:spcBef>
                <a:spcPts val="100"/>
              </a:spcBef>
            </a:pPr>
            <a:r>
              <a:rPr spc="-10" dirty="0"/>
              <a:t>Structure</a:t>
            </a:r>
          </a:p>
          <a:p>
            <a:pPr marL="698500" marR="3592829">
              <a:lnSpc>
                <a:spcPts val="2400"/>
              </a:lnSpc>
              <a:spcBef>
                <a:spcPts val="75"/>
              </a:spcBef>
            </a:pPr>
            <a:r>
              <a:rPr sz="2000" dirty="0"/>
              <a:t>Definition</a:t>
            </a:r>
            <a:r>
              <a:rPr sz="2000" spc="-90" dirty="0"/>
              <a:t> </a:t>
            </a:r>
            <a:r>
              <a:rPr sz="2000" dirty="0"/>
              <a:t>of</a:t>
            </a:r>
            <a:r>
              <a:rPr sz="2000" spc="-60" dirty="0"/>
              <a:t> </a:t>
            </a:r>
            <a:r>
              <a:rPr sz="2000" spc="-10" dirty="0"/>
              <a:t>structures </a:t>
            </a:r>
            <a:r>
              <a:rPr sz="2000" dirty="0"/>
              <a:t>Creating</a:t>
            </a:r>
            <a:r>
              <a:rPr sz="2000" spc="-55" dirty="0"/>
              <a:t> </a:t>
            </a:r>
            <a:r>
              <a:rPr sz="2000" dirty="0"/>
              <a:t>structures</a:t>
            </a:r>
            <a:r>
              <a:rPr sz="2000" spc="-20" dirty="0"/>
              <a:t> </a:t>
            </a:r>
            <a:r>
              <a:rPr sz="2000" dirty="0"/>
              <a:t>in</a:t>
            </a:r>
            <a:r>
              <a:rPr sz="2000" spc="-30" dirty="0"/>
              <a:t> </a:t>
            </a:r>
            <a:r>
              <a:rPr sz="2000" spc="-50" dirty="0"/>
              <a:t>C</a:t>
            </a:r>
            <a:endParaRPr sz="2000"/>
          </a:p>
          <a:p>
            <a:pPr marL="196850" marR="470534" algn="ctr">
              <a:lnSpc>
                <a:spcPts val="2300"/>
              </a:lnSpc>
            </a:pPr>
            <a:r>
              <a:rPr sz="2000" dirty="0">
                <a:latin typeface="Arial"/>
                <a:cs typeface="Arial"/>
              </a:rPr>
              <a:t>dot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printf,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scanf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structure</a:t>
            </a:r>
            <a:endParaRPr sz="200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  <a:spcBef>
                <a:spcPts val="20"/>
              </a:spcBef>
            </a:pPr>
            <a:r>
              <a:rPr sz="2000" dirty="0"/>
              <a:t>typedef</a:t>
            </a:r>
            <a:r>
              <a:rPr sz="2000" spc="-40" dirty="0"/>
              <a:t> </a:t>
            </a:r>
            <a:r>
              <a:rPr sz="2000" dirty="0"/>
              <a:t>vs</a:t>
            </a:r>
            <a:r>
              <a:rPr sz="2000" spc="-20" dirty="0"/>
              <a:t> </a:t>
            </a:r>
            <a:r>
              <a:rPr sz="2000" spc="-10" dirty="0"/>
              <a:t>struct</a:t>
            </a:r>
            <a:endParaRPr sz="2000"/>
          </a:p>
          <a:p>
            <a:pPr marL="698500" marR="87630">
              <a:lnSpc>
                <a:spcPct val="100000"/>
              </a:lnSpc>
              <a:spcBef>
                <a:spcPts val="5"/>
              </a:spcBef>
            </a:pPr>
            <a:r>
              <a:rPr sz="2000" dirty="0"/>
              <a:t>Problem</a:t>
            </a:r>
            <a:r>
              <a:rPr sz="2000" spc="-55" dirty="0"/>
              <a:t> </a:t>
            </a:r>
            <a:r>
              <a:rPr sz="2000" dirty="0"/>
              <a:t>solving</a:t>
            </a:r>
            <a:r>
              <a:rPr sz="2000" spc="-20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structure</a:t>
            </a:r>
            <a:r>
              <a:rPr sz="2000" spc="-35" dirty="0"/>
              <a:t> </a:t>
            </a:r>
            <a:r>
              <a:rPr sz="2000" dirty="0"/>
              <a:t>(similar</a:t>
            </a:r>
            <a:r>
              <a:rPr sz="2000" spc="-15" dirty="0"/>
              <a:t> </a:t>
            </a:r>
            <a:r>
              <a:rPr sz="2000" spc="-10" dirty="0"/>
              <a:t>type) </a:t>
            </a:r>
            <a:r>
              <a:rPr sz="2000" dirty="0"/>
              <a:t>Problem</a:t>
            </a:r>
            <a:r>
              <a:rPr sz="2000" spc="-80" dirty="0"/>
              <a:t> </a:t>
            </a:r>
            <a:r>
              <a:rPr sz="2000" dirty="0"/>
              <a:t>solving</a:t>
            </a:r>
            <a:r>
              <a:rPr sz="2000" spc="-45" dirty="0"/>
              <a:t> </a:t>
            </a:r>
            <a:r>
              <a:rPr sz="2000" dirty="0"/>
              <a:t>with</a:t>
            </a:r>
            <a:r>
              <a:rPr sz="2000" spc="-45" dirty="0"/>
              <a:t> </a:t>
            </a:r>
            <a:r>
              <a:rPr sz="2000" dirty="0"/>
              <a:t>structure</a:t>
            </a:r>
            <a:r>
              <a:rPr sz="2000" spc="-60" dirty="0"/>
              <a:t> </a:t>
            </a:r>
            <a:r>
              <a:rPr sz="2000" dirty="0"/>
              <a:t>(dissimilar</a:t>
            </a:r>
            <a:r>
              <a:rPr sz="2000" spc="-45" dirty="0"/>
              <a:t> </a:t>
            </a:r>
            <a:r>
              <a:rPr sz="2000" spc="-10" dirty="0"/>
              <a:t>type) </a:t>
            </a:r>
            <a:r>
              <a:rPr sz="2000" dirty="0"/>
              <a:t>Passing</a:t>
            </a:r>
            <a:r>
              <a:rPr sz="2000" spc="-55" dirty="0"/>
              <a:t> </a:t>
            </a:r>
            <a:r>
              <a:rPr sz="2000" dirty="0"/>
              <a:t>structure</a:t>
            </a:r>
            <a:r>
              <a:rPr sz="2000" spc="-35" dirty="0"/>
              <a:t> </a:t>
            </a:r>
            <a:r>
              <a:rPr sz="2000" dirty="0"/>
              <a:t>as</a:t>
            </a:r>
            <a:r>
              <a:rPr sz="2000" spc="-30" dirty="0"/>
              <a:t> </a:t>
            </a:r>
            <a:r>
              <a:rPr sz="2000" dirty="0"/>
              <a:t>function</a:t>
            </a:r>
            <a:r>
              <a:rPr sz="2000" spc="-45" dirty="0"/>
              <a:t> </a:t>
            </a:r>
            <a:r>
              <a:rPr sz="2000" spc="-10" dirty="0"/>
              <a:t>parameter</a:t>
            </a:r>
            <a:endParaRPr sz="2000"/>
          </a:p>
          <a:p>
            <a:pPr marL="698500">
              <a:lnSpc>
                <a:spcPts val="2400"/>
              </a:lnSpc>
            </a:pPr>
            <a:r>
              <a:rPr sz="2000" dirty="0"/>
              <a:t>Arrays</a:t>
            </a:r>
            <a:r>
              <a:rPr sz="2000" spc="-60" dirty="0"/>
              <a:t> </a:t>
            </a:r>
            <a:r>
              <a:rPr sz="2000" dirty="0"/>
              <a:t>of</a:t>
            </a:r>
            <a:r>
              <a:rPr sz="2000" spc="-30" dirty="0"/>
              <a:t> </a:t>
            </a:r>
            <a:r>
              <a:rPr sz="2000" spc="-10" dirty="0"/>
              <a:t>structure</a:t>
            </a:r>
            <a:endParaRPr sz="2000"/>
          </a:p>
          <a:p>
            <a:pPr marL="698500" marR="5080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</a:rPr>
              <a:t>Passing</a:t>
            </a:r>
            <a:r>
              <a:rPr sz="2000" spc="-5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array</a:t>
            </a:r>
            <a:r>
              <a:rPr sz="2000" spc="-3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of</a:t>
            </a:r>
            <a:r>
              <a:rPr sz="2000" spc="-1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structure</a:t>
            </a:r>
            <a:r>
              <a:rPr sz="2000" spc="-2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as</a:t>
            </a:r>
            <a:r>
              <a:rPr sz="2000" spc="-2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function</a:t>
            </a:r>
            <a:r>
              <a:rPr sz="2000" spc="-35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parameter </a:t>
            </a:r>
            <a:r>
              <a:rPr sz="2000" dirty="0"/>
              <a:t>Determining</a:t>
            </a:r>
            <a:r>
              <a:rPr sz="2000" spc="-60" dirty="0"/>
              <a:t> </a:t>
            </a:r>
            <a:r>
              <a:rPr sz="2000" dirty="0"/>
              <a:t>size</a:t>
            </a:r>
            <a:r>
              <a:rPr sz="2000" spc="-35" dirty="0"/>
              <a:t> </a:t>
            </a:r>
            <a:r>
              <a:rPr sz="2000" dirty="0"/>
              <a:t>of</a:t>
            </a:r>
            <a:r>
              <a:rPr sz="2000" spc="-35" dirty="0"/>
              <a:t> </a:t>
            </a:r>
            <a:r>
              <a:rPr sz="2000" spc="-10" dirty="0"/>
              <a:t>structure</a:t>
            </a:r>
            <a:endParaRPr sz="2000"/>
          </a:p>
        </p:txBody>
      </p:sp>
      <p:sp>
        <p:nvSpPr>
          <p:cNvPr id="5" name="object 5"/>
          <p:cNvSpPr/>
          <p:nvPr/>
        </p:nvSpPr>
        <p:spPr>
          <a:xfrm>
            <a:off x="762000" y="5326522"/>
            <a:ext cx="535305" cy="171450"/>
          </a:xfrm>
          <a:custGeom>
            <a:avLst/>
            <a:gdLst/>
            <a:ahLst/>
            <a:cxnLst/>
            <a:rect l="l" t="t" r="r" b="b"/>
            <a:pathLst>
              <a:path w="535305" h="171450">
                <a:moveTo>
                  <a:pt x="425400" y="104794"/>
                </a:moveTo>
                <a:lnTo>
                  <a:pt x="371856" y="135493"/>
                </a:lnTo>
                <a:lnTo>
                  <a:pt x="366188" y="140827"/>
                </a:lnTo>
                <a:lnTo>
                  <a:pt x="363092" y="147304"/>
                </a:lnTo>
                <a:lnTo>
                  <a:pt x="362854" y="154352"/>
                </a:lnTo>
                <a:lnTo>
                  <a:pt x="365759" y="161401"/>
                </a:lnTo>
                <a:lnTo>
                  <a:pt x="370451" y="167092"/>
                </a:lnTo>
                <a:lnTo>
                  <a:pt x="376999" y="170354"/>
                </a:lnTo>
                <a:lnTo>
                  <a:pt x="384405" y="171045"/>
                </a:lnTo>
                <a:lnTo>
                  <a:pt x="391668" y="169021"/>
                </a:lnTo>
                <a:lnTo>
                  <a:pt x="503089" y="105013"/>
                </a:lnTo>
                <a:lnTo>
                  <a:pt x="496824" y="105013"/>
                </a:lnTo>
                <a:lnTo>
                  <a:pt x="425400" y="104794"/>
                </a:lnTo>
                <a:close/>
              </a:path>
              <a:path w="535305" h="171450">
                <a:moveTo>
                  <a:pt x="458753" y="85671"/>
                </a:moveTo>
                <a:lnTo>
                  <a:pt x="425400" y="104794"/>
                </a:lnTo>
                <a:lnTo>
                  <a:pt x="496824" y="105013"/>
                </a:lnTo>
                <a:lnTo>
                  <a:pt x="496824" y="101965"/>
                </a:lnTo>
                <a:lnTo>
                  <a:pt x="486156" y="101965"/>
                </a:lnTo>
                <a:lnTo>
                  <a:pt x="458753" y="85671"/>
                </a:lnTo>
                <a:close/>
              </a:path>
              <a:path w="535305" h="171450">
                <a:moveTo>
                  <a:pt x="384619" y="0"/>
                </a:moveTo>
                <a:lnTo>
                  <a:pt x="377571" y="238"/>
                </a:lnTo>
                <a:lnTo>
                  <a:pt x="371094" y="3333"/>
                </a:lnTo>
                <a:lnTo>
                  <a:pt x="365759" y="9001"/>
                </a:lnTo>
                <a:lnTo>
                  <a:pt x="363735" y="16263"/>
                </a:lnTo>
                <a:lnTo>
                  <a:pt x="364426" y="23669"/>
                </a:lnTo>
                <a:lnTo>
                  <a:pt x="367688" y="30218"/>
                </a:lnTo>
                <a:lnTo>
                  <a:pt x="373380" y="34909"/>
                </a:lnTo>
                <a:lnTo>
                  <a:pt x="426842" y="66697"/>
                </a:lnTo>
                <a:lnTo>
                  <a:pt x="496824" y="66913"/>
                </a:lnTo>
                <a:lnTo>
                  <a:pt x="496824" y="105013"/>
                </a:lnTo>
                <a:lnTo>
                  <a:pt x="503089" y="105013"/>
                </a:lnTo>
                <a:lnTo>
                  <a:pt x="534924" y="86725"/>
                </a:lnTo>
                <a:lnTo>
                  <a:pt x="391668" y="2905"/>
                </a:lnTo>
                <a:lnTo>
                  <a:pt x="384619" y="0"/>
                </a:lnTo>
                <a:close/>
              </a:path>
              <a:path w="535305" h="171450">
                <a:moveTo>
                  <a:pt x="1523" y="65389"/>
                </a:moveTo>
                <a:lnTo>
                  <a:pt x="60" y="101965"/>
                </a:lnTo>
                <a:lnTo>
                  <a:pt x="0" y="103489"/>
                </a:lnTo>
                <a:lnTo>
                  <a:pt x="425400" y="104794"/>
                </a:lnTo>
                <a:lnTo>
                  <a:pt x="458753" y="85671"/>
                </a:lnTo>
                <a:lnTo>
                  <a:pt x="426842" y="66697"/>
                </a:lnTo>
                <a:lnTo>
                  <a:pt x="1523" y="65389"/>
                </a:lnTo>
                <a:close/>
              </a:path>
              <a:path w="535305" h="171450">
                <a:moveTo>
                  <a:pt x="486156" y="69961"/>
                </a:moveTo>
                <a:lnTo>
                  <a:pt x="458753" y="85671"/>
                </a:lnTo>
                <a:lnTo>
                  <a:pt x="486156" y="101965"/>
                </a:lnTo>
                <a:lnTo>
                  <a:pt x="486156" y="69961"/>
                </a:lnTo>
                <a:close/>
              </a:path>
              <a:path w="535305" h="171450">
                <a:moveTo>
                  <a:pt x="496824" y="69961"/>
                </a:moveTo>
                <a:lnTo>
                  <a:pt x="486156" y="69961"/>
                </a:lnTo>
                <a:lnTo>
                  <a:pt x="486156" y="101965"/>
                </a:lnTo>
                <a:lnTo>
                  <a:pt x="496824" y="101965"/>
                </a:lnTo>
                <a:lnTo>
                  <a:pt x="496824" y="69961"/>
                </a:lnTo>
                <a:close/>
              </a:path>
              <a:path w="535305" h="171450">
                <a:moveTo>
                  <a:pt x="426842" y="66697"/>
                </a:moveTo>
                <a:lnTo>
                  <a:pt x="458753" y="85671"/>
                </a:lnTo>
                <a:lnTo>
                  <a:pt x="486156" y="69961"/>
                </a:lnTo>
                <a:lnTo>
                  <a:pt x="496824" y="69961"/>
                </a:lnTo>
                <a:lnTo>
                  <a:pt x="496824" y="66913"/>
                </a:lnTo>
                <a:lnTo>
                  <a:pt x="426842" y="6669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7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840292" y="6884920"/>
            <a:ext cx="2241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33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7539" y="3173984"/>
            <a:ext cx="625856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Write</a:t>
            </a:r>
            <a:r>
              <a:rPr sz="2400" b="1" spc="265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down</a:t>
            </a:r>
            <a:r>
              <a:rPr sz="2400" b="1" spc="270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a</a:t>
            </a:r>
            <a:r>
              <a:rPr sz="2400" b="1" spc="265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program</a:t>
            </a:r>
            <a:r>
              <a:rPr sz="2400" b="1" spc="275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that</a:t>
            </a:r>
            <a:r>
              <a:rPr sz="2400" b="1" spc="275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defines</a:t>
            </a:r>
            <a:r>
              <a:rPr sz="2400" b="1" spc="275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spc="-50" dirty="0">
                <a:solidFill>
                  <a:srgbClr val="006600"/>
                </a:solidFill>
                <a:latin typeface="Arial"/>
                <a:cs typeface="Arial"/>
              </a:rPr>
              <a:t>a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structure</a:t>
            </a:r>
            <a:r>
              <a:rPr sz="2400" b="1" spc="3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to</a:t>
            </a:r>
            <a:r>
              <a:rPr sz="2400" b="1" spc="3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store</a:t>
            </a:r>
            <a:r>
              <a:rPr sz="2400" b="1" spc="3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a</a:t>
            </a:r>
            <a:r>
              <a:rPr sz="2400" b="1" spc="31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student’s</a:t>
            </a:r>
            <a:r>
              <a:rPr sz="2400" b="1" spc="30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information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in</a:t>
            </a:r>
            <a:r>
              <a:rPr sz="2400" b="1" spc="85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a</a:t>
            </a:r>
            <a:r>
              <a:rPr sz="2400" b="1" spc="75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university.</a:t>
            </a:r>
            <a:r>
              <a:rPr sz="2400" b="1" spc="85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Then</a:t>
            </a:r>
            <a:r>
              <a:rPr sz="2400" b="1" spc="80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taken</a:t>
            </a:r>
            <a:r>
              <a:rPr sz="2400" b="1" spc="80" dirty="0">
                <a:solidFill>
                  <a:srgbClr val="0066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2400" b="1" spc="8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students’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information</a:t>
            </a:r>
            <a:r>
              <a:rPr sz="2400" b="1" spc="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as</a:t>
            </a:r>
            <a:r>
              <a:rPr sz="2400" b="1" spc="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user</a:t>
            </a:r>
            <a:r>
              <a:rPr sz="2400" b="1" spc="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input</a:t>
            </a:r>
            <a:r>
              <a:rPr sz="2400" b="1" spc="4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and</a:t>
            </a:r>
            <a:r>
              <a:rPr sz="2400" b="1" spc="1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find</a:t>
            </a:r>
            <a:r>
              <a:rPr sz="2400" b="1" spc="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average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mark</a:t>
            </a:r>
            <a:r>
              <a:rPr sz="2400" b="1" spc="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using</a:t>
            </a:r>
            <a:r>
              <a:rPr sz="2400" b="1" spc="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a</a:t>
            </a:r>
            <a:r>
              <a:rPr sz="2400" b="1" spc="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user</a:t>
            </a:r>
            <a:r>
              <a:rPr sz="2400" b="1" spc="19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defined</a:t>
            </a:r>
            <a:r>
              <a:rPr sz="2400" b="1" spc="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function.</a:t>
            </a:r>
            <a:r>
              <a:rPr sz="2400" b="1" spc="19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2400" b="1" spc="1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will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also</a:t>
            </a:r>
            <a:r>
              <a:rPr sz="24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be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input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600" y="1514855"/>
            <a:ext cx="8487410" cy="2371725"/>
          </a:xfrm>
          <a:custGeom>
            <a:avLst/>
            <a:gdLst/>
            <a:ahLst/>
            <a:cxnLst/>
            <a:rect l="l" t="t" r="r" b="b"/>
            <a:pathLst>
              <a:path w="8487410" h="2371725">
                <a:moveTo>
                  <a:pt x="8487156" y="3048"/>
                </a:moveTo>
                <a:lnTo>
                  <a:pt x="8077200" y="3048"/>
                </a:lnTo>
                <a:lnTo>
                  <a:pt x="8077200" y="0"/>
                </a:lnTo>
                <a:lnTo>
                  <a:pt x="0" y="0"/>
                </a:lnTo>
                <a:lnTo>
                  <a:pt x="0" y="19812"/>
                </a:lnTo>
                <a:lnTo>
                  <a:pt x="3750564" y="19812"/>
                </a:lnTo>
                <a:lnTo>
                  <a:pt x="3750564" y="2371344"/>
                </a:lnTo>
                <a:lnTo>
                  <a:pt x="3762756" y="2371344"/>
                </a:lnTo>
                <a:lnTo>
                  <a:pt x="3762756" y="19812"/>
                </a:lnTo>
                <a:lnTo>
                  <a:pt x="8077200" y="19812"/>
                </a:lnTo>
                <a:lnTo>
                  <a:pt x="8077200" y="16764"/>
                </a:lnTo>
                <a:lnTo>
                  <a:pt x="8474964" y="16764"/>
                </a:lnTo>
                <a:lnTo>
                  <a:pt x="8474964" y="2371344"/>
                </a:lnTo>
                <a:lnTo>
                  <a:pt x="8487156" y="2371344"/>
                </a:lnTo>
                <a:lnTo>
                  <a:pt x="8487156" y="16764"/>
                </a:lnTo>
                <a:lnTo>
                  <a:pt x="8487156" y="9144"/>
                </a:lnTo>
                <a:lnTo>
                  <a:pt x="8487156" y="3048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176" y="830056"/>
            <a:ext cx="191706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7473" y="7022039"/>
            <a:ext cx="2241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34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0060" y="3886200"/>
            <a:ext cx="8997950" cy="3429635"/>
          </a:xfrm>
          <a:custGeom>
            <a:avLst/>
            <a:gdLst/>
            <a:ahLst/>
            <a:cxnLst/>
            <a:rect l="l" t="t" r="r" b="b"/>
            <a:pathLst>
              <a:path w="8997950" h="3429634">
                <a:moveTo>
                  <a:pt x="4279392" y="146304"/>
                </a:moveTo>
                <a:lnTo>
                  <a:pt x="4273296" y="146304"/>
                </a:lnTo>
                <a:lnTo>
                  <a:pt x="4273296" y="0"/>
                </a:lnTo>
                <a:lnTo>
                  <a:pt x="4261104" y="0"/>
                </a:lnTo>
                <a:lnTo>
                  <a:pt x="4261104" y="146304"/>
                </a:lnTo>
                <a:lnTo>
                  <a:pt x="4261104" y="160020"/>
                </a:lnTo>
                <a:lnTo>
                  <a:pt x="4261104" y="2848356"/>
                </a:lnTo>
                <a:lnTo>
                  <a:pt x="12192" y="2848356"/>
                </a:lnTo>
                <a:lnTo>
                  <a:pt x="12192" y="160020"/>
                </a:lnTo>
                <a:lnTo>
                  <a:pt x="4261104" y="160020"/>
                </a:lnTo>
                <a:lnTo>
                  <a:pt x="4261104" y="146304"/>
                </a:lnTo>
                <a:lnTo>
                  <a:pt x="0" y="146304"/>
                </a:lnTo>
                <a:lnTo>
                  <a:pt x="0" y="2862072"/>
                </a:lnTo>
                <a:lnTo>
                  <a:pt x="4261104" y="2862084"/>
                </a:lnTo>
                <a:lnTo>
                  <a:pt x="4261104" y="3429012"/>
                </a:lnTo>
                <a:lnTo>
                  <a:pt x="4273296" y="3429012"/>
                </a:lnTo>
                <a:lnTo>
                  <a:pt x="4273296" y="2862084"/>
                </a:lnTo>
                <a:lnTo>
                  <a:pt x="4279392" y="2862084"/>
                </a:lnTo>
                <a:lnTo>
                  <a:pt x="4279392" y="2854452"/>
                </a:lnTo>
                <a:lnTo>
                  <a:pt x="4279392" y="2848368"/>
                </a:lnTo>
                <a:lnTo>
                  <a:pt x="4279392" y="160020"/>
                </a:lnTo>
                <a:lnTo>
                  <a:pt x="4279392" y="152400"/>
                </a:lnTo>
                <a:lnTo>
                  <a:pt x="4279392" y="146304"/>
                </a:lnTo>
                <a:close/>
              </a:path>
              <a:path w="8997950" h="3429634">
                <a:moveTo>
                  <a:pt x="8997696" y="0"/>
                </a:moveTo>
                <a:lnTo>
                  <a:pt x="8985504" y="0"/>
                </a:lnTo>
                <a:lnTo>
                  <a:pt x="8985504" y="3429012"/>
                </a:lnTo>
                <a:lnTo>
                  <a:pt x="8997696" y="3429012"/>
                </a:lnTo>
                <a:lnTo>
                  <a:pt x="8997696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25963" y="1484963"/>
            <a:ext cx="4114165" cy="5829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marR="2139315" indent="-366395">
              <a:lnSpc>
                <a:spcPct val="120000"/>
              </a:lnSpc>
              <a:spcBef>
                <a:spcPts val="100"/>
              </a:spcBef>
              <a:tabLst>
                <a:tab pos="1047115" algn="l"/>
              </a:tabLst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typedef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struct</a:t>
            </a:r>
            <a:r>
              <a:rPr sz="16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{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n[50];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id;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float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m;</a:t>
            </a:r>
            <a:endParaRPr sz="16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3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g;</a:t>
            </a:r>
            <a:endParaRPr sz="1600">
              <a:latin typeface="Courier New"/>
              <a:cs typeface="Courier New"/>
            </a:endParaRPr>
          </a:p>
          <a:p>
            <a:pPr marL="12700" marR="2752725">
              <a:lnSpc>
                <a:spcPct val="119900"/>
              </a:lnSpc>
              <a:spcBef>
                <a:spcPts val="5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}Student;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>
              <a:latin typeface="Courier New"/>
              <a:cs typeface="Courier New"/>
            </a:endParaRPr>
          </a:p>
          <a:p>
            <a:pPr marL="499745" marR="1162685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i,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N;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float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avg;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scanf(“%d”,&amp;N);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Student</a:t>
            </a:r>
            <a:r>
              <a:rPr sz="1600" b="1" spc="-7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s[N];</a:t>
            </a:r>
            <a:endParaRPr sz="1600">
              <a:latin typeface="Courier New"/>
              <a:cs typeface="Courier New"/>
            </a:endParaRPr>
          </a:p>
          <a:p>
            <a:pPr marL="926465" marR="795655" indent="-426720">
              <a:lnSpc>
                <a:spcPct val="1199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for(i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0;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1600" b="1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;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i++){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printf(“Name:</a:t>
            </a:r>
            <a:r>
              <a:rPr sz="1600" b="1" spc="-1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“);</a:t>
            </a:r>
            <a:endParaRPr sz="16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5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gets(s[i].n);</a:t>
            </a:r>
            <a:endParaRPr sz="1600">
              <a:latin typeface="Courier New"/>
              <a:cs typeface="Courier New"/>
            </a:endParaRPr>
          </a:p>
          <a:p>
            <a:pPr marL="926465" marR="619125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printf(“ID:</a:t>
            </a:r>
            <a:r>
              <a:rPr sz="1600" b="1" spc="-114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”);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scanf(“%d”,&amp;s[i].id);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printf(“Mark:</a:t>
            </a:r>
            <a:r>
              <a:rPr sz="1600" b="1" spc="-1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“);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scanf(“%f”,&amp;s[i].m);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avg</a:t>
            </a:r>
            <a:r>
              <a:rPr sz="1600" b="1" spc="-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average(s,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N);</a:t>
            </a:r>
            <a:endParaRPr sz="1600">
              <a:latin typeface="Courier New"/>
              <a:cs typeface="Courier New"/>
            </a:endParaRPr>
          </a:p>
          <a:p>
            <a:pPr marL="926465" marR="5080">
              <a:lnSpc>
                <a:spcPct val="100000"/>
              </a:lnSpc>
              <a:spcBef>
                <a:spcPts val="385"/>
              </a:spcBef>
              <a:tabLst>
                <a:tab pos="2268855" algn="l"/>
              </a:tabLst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printf(“Average</a:t>
            </a:r>
            <a:r>
              <a:rPr sz="1600" b="1" spc="-8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%f”,</a:t>
            </a:r>
            <a:r>
              <a:rPr sz="1600" b="1" spc="-10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avg);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return</a:t>
            </a:r>
            <a:r>
              <a:rPr sz="1600" b="1" spc="-7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0;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40690">
              <a:lnSpc>
                <a:spcPct val="100000"/>
              </a:lnSpc>
              <a:spcBef>
                <a:spcPts val="575"/>
              </a:spcBef>
            </a:pPr>
            <a:r>
              <a:rPr dirty="0"/>
              <a:t>Compound</a:t>
            </a:r>
            <a:r>
              <a:rPr spc="-55" dirty="0"/>
              <a:t> </a:t>
            </a:r>
            <a:r>
              <a:rPr spc="-10" dirty="0"/>
              <a:t>data:</a:t>
            </a:r>
          </a:p>
          <a:p>
            <a:pPr marL="440690">
              <a:lnSpc>
                <a:spcPct val="100000"/>
              </a:lnSpc>
              <a:spcBef>
                <a:spcPts val="480"/>
              </a:spcBef>
            </a:pPr>
            <a:r>
              <a:rPr dirty="0"/>
              <a:t>A</a:t>
            </a:r>
            <a:r>
              <a:rPr spc="-25" dirty="0"/>
              <a:t> </a:t>
            </a:r>
            <a:r>
              <a:rPr dirty="0"/>
              <a:t>Student</a:t>
            </a:r>
            <a:r>
              <a:rPr spc="-20" dirty="0"/>
              <a:t> </a:t>
            </a:r>
            <a:r>
              <a:rPr spc="-25" dirty="0"/>
              <a:t>has</a:t>
            </a:r>
          </a:p>
          <a:p>
            <a:pPr marL="1078865" indent="-290830">
              <a:lnSpc>
                <a:spcPct val="100000"/>
              </a:lnSpc>
              <a:spcBef>
                <a:spcPts val="285"/>
              </a:spcBef>
              <a:buSzPct val="88888"/>
              <a:buFont typeface="Wingdings"/>
              <a:buChar char=""/>
              <a:tabLst>
                <a:tab pos="1078865" algn="l"/>
              </a:tabLst>
            </a:pPr>
            <a:r>
              <a:rPr sz="1800" dirty="0">
                <a:solidFill>
                  <a:srgbClr val="000066"/>
                </a:solidFill>
              </a:rPr>
              <a:t>a</a:t>
            </a:r>
            <a:r>
              <a:rPr sz="1800" spc="-40" dirty="0">
                <a:solidFill>
                  <a:srgbClr val="000066"/>
                </a:solidFill>
              </a:rPr>
              <a:t> </a:t>
            </a:r>
            <a:r>
              <a:rPr sz="1800" dirty="0">
                <a:solidFill>
                  <a:srgbClr val="000066"/>
                </a:solidFill>
                <a:latin typeface="Courier New"/>
                <a:cs typeface="Courier New"/>
              </a:rPr>
              <a:t>char</a:t>
            </a:r>
            <a:r>
              <a:rPr sz="1800" spc="-4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66"/>
                </a:solidFill>
                <a:latin typeface="Courier New"/>
                <a:cs typeface="Courier New"/>
              </a:rPr>
              <a:t>n[50]</a:t>
            </a:r>
            <a:r>
              <a:rPr sz="1800" spc="-5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000066"/>
                </a:solidFill>
              </a:rPr>
              <a:t>name</a:t>
            </a:r>
            <a:endParaRPr sz="1800" dirty="0">
              <a:latin typeface="Courier New"/>
              <a:cs typeface="Courier New"/>
            </a:endParaRPr>
          </a:p>
          <a:p>
            <a:pPr marL="1078865" indent="-290830">
              <a:lnSpc>
                <a:spcPct val="100000"/>
              </a:lnSpc>
              <a:spcBef>
                <a:spcPts val="434"/>
              </a:spcBef>
              <a:buSzPct val="88888"/>
              <a:buFont typeface="Wingdings"/>
              <a:buChar char=""/>
              <a:tabLst>
                <a:tab pos="1078865" algn="l"/>
              </a:tabLst>
            </a:pPr>
            <a:r>
              <a:rPr sz="1800" dirty="0">
                <a:solidFill>
                  <a:srgbClr val="000066"/>
                </a:solidFill>
              </a:rPr>
              <a:t>an</a:t>
            </a:r>
            <a:r>
              <a:rPr sz="1800" spc="-45" dirty="0">
                <a:solidFill>
                  <a:srgbClr val="000066"/>
                </a:solidFill>
              </a:rPr>
              <a:t> </a:t>
            </a:r>
            <a:r>
              <a:rPr sz="1800" dirty="0">
                <a:solidFill>
                  <a:srgbClr val="000066"/>
                </a:solidFill>
                <a:latin typeface="Courier New"/>
                <a:cs typeface="Courier New"/>
              </a:rPr>
              <a:t>int</a:t>
            </a:r>
            <a:r>
              <a:rPr sz="1800" spc="-6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66"/>
                </a:solidFill>
                <a:latin typeface="Courier New"/>
                <a:cs typeface="Courier New"/>
              </a:rPr>
              <a:t>id</a:t>
            </a:r>
            <a:r>
              <a:rPr sz="1800" spc="-7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66"/>
                </a:solidFill>
              </a:rPr>
              <a:t>student</a:t>
            </a:r>
            <a:r>
              <a:rPr sz="1800" spc="-10" dirty="0">
                <a:solidFill>
                  <a:srgbClr val="000066"/>
                </a:solidFill>
              </a:rPr>
              <a:t> </a:t>
            </a:r>
            <a:r>
              <a:rPr sz="1800" spc="-25" dirty="0">
                <a:solidFill>
                  <a:srgbClr val="000066"/>
                </a:solidFill>
              </a:rPr>
              <a:t>id</a:t>
            </a:r>
            <a:endParaRPr sz="1800" dirty="0">
              <a:latin typeface="Courier New"/>
              <a:cs typeface="Courier New"/>
            </a:endParaRPr>
          </a:p>
          <a:p>
            <a:pPr marL="1078865" indent="-290830">
              <a:lnSpc>
                <a:spcPct val="100000"/>
              </a:lnSpc>
              <a:spcBef>
                <a:spcPts val="430"/>
              </a:spcBef>
              <a:buSzPct val="88888"/>
              <a:buFont typeface="Wingdings"/>
              <a:buChar char=""/>
              <a:tabLst>
                <a:tab pos="1078865" algn="l"/>
              </a:tabLst>
            </a:pPr>
            <a:r>
              <a:rPr sz="1800" dirty="0">
                <a:solidFill>
                  <a:srgbClr val="000066"/>
                </a:solidFill>
              </a:rPr>
              <a:t>a</a:t>
            </a:r>
            <a:r>
              <a:rPr sz="1800" spc="-30" dirty="0">
                <a:solidFill>
                  <a:srgbClr val="000066"/>
                </a:solidFill>
              </a:rPr>
              <a:t> </a:t>
            </a:r>
            <a:r>
              <a:rPr sz="1800" dirty="0">
                <a:solidFill>
                  <a:srgbClr val="000066"/>
                </a:solidFill>
                <a:latin typeface="Courier New"/>
                <a:cs typeface="Courier New"/>
              </a:rPr>
              <a:t>float</a:t>
            </a:r>
            <a:r>
              <a:rPr sz="1800" spc="-35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66"/>
                </a:solidFill>
                <a:latin typeface="Courier New"/>
                <a:cs typeface="Courier New"/>
              </a:rPr>
              <a:t>m</a:t>
            </a:r>
            <a:r>
              <a:rPr sz="1800" spc="-3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66"/>
                </a:solidFill>
              </a:rPr>
              <a:t>mark</a:t>
            </a:r>
            <a:r>
              <a:rPr sz="1800" spc="-15" dirty="0">
                <a:solidFill>
                  <a:srgbClr val="000066"/>
                </a:solidFill>
              </a:rPr>
              <a:t> </a:t>
            </a:r>
            <a:r>
              <a:rPr sz="1800" u="heavy" spc="-25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</a:rPr>
              <a:t>and</a:t>
            </a:r>
            <a:endParaRPr sz="1800" dirty="0">
              <a:latin typeface="Courier New"/>
              <a:cs typeface="Courier New"/>
            </a:endParaRPr>
          </a:p>
          <a:p>
            <a:pPr marL="1078865" indent="-290830">
              <a:lnSpc>
                <a:spcPct val="100000"/>
              </a:lnSpc>
              <a:spcBef>
                <a:spcPts val="434"/>
              </a:spcBef>
              <a:buSzPct val="88888"/>
              <a:buFont typeface="Wingdings"/>
              <a:buChar char=""/>
              <a:tabLst>
                <a:tab pos="1078865" algn="l"/>
              </a:tabLst>
            </a:pPr>
            <a:r>
              <a:rPr sz="1800" dirty="0">
                <a:solidFill>
                  <a:srgbClr val="000066"/>
                </a:solidFill>
              </a:rPr>
              <a:t>a</a:t>
            </a:r>
            <a:r>
              <a:rPr sz="1800" u="heavy" spc="135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Courier New"/>
                <a:cs typeface="Courier New"/>
              </a:rPr>
              <a:t> </a:t>
            </a:r>
            <a:r>
              <a:rPr sz="1800" u="heavy" dirty="0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Courier New"/>
                <a:cs typeface="Courier New"/>
              </a:rPr>
              <a:t>char</a:t>
            </a:r>
            <a:r>
              <a:rPr sz="1800" spc="-3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66"/>
                </a:solidFill>
                <a:latin typeface="Courier New"/>
                <a:cs typeface="Courier New"/>
              </a:rPr>
              <a:t>g</a:t>
            </a:r>
            <a:r>
              <a:rPr sz="1800" spc="-20" dirty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000066"/>
                </a:solidFill>
              </a:rPr>
              <a:t>grade</a:t>
            </a:r>
            <a:endParaRPr sz="1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800" dirty="0"/>
          </a:p>
          <a:p>
            <a:pPr marL="12700">
              <a:lnSpc>
                <a:spcPct val="100000"/>
              </a:lnSpc>
            </a:pPr>
            <a:r>
              <a:rPr sz="1600" dirty="0">
                <a:latin typeface="Courier New"/>
                <a:cs typeface="Courier New"/>
              </a:rPr>
              <a:t>float</a:t>
            </a:r>
            <a:r>
              <a:rPr sz="1600" spc="-8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average(Student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s[],</a:t>
            </a:r>
            <a:r>
              <a:rPr sz="1600" spc="-7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int</a:t>
            </a:r>
            <a:r>
              <a:rPr sz="1600" spc="-75" dirty="0">
                <a:latin typeface="Courier New"/>
                <a:cs typeface="Courier New"/>
              </a:rPr>
              <a:t> </a:t>
            </a:r>
            <a:r>
              <a:rPr sz="1600" spc="-25" dirty="0">
                <a:latin typeface="Courier New"/>
                <a:cs typeface="Courier New"/>
              </a:rPr>
              <a:t>N)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spc="-50" dirty="0">
                <a:latin typeface="Courier New"/>
                <a:cs typeface="Courier New"/>
              </a:rPr>
              <a:t>{</a:t>
            </a:r>
            <a:endParaRPr sz="1600" dirty="0">
              <a:latin typeface="Courier New"/>
              <a:cs typeface="Courier New"/>
            </a:endParaRPr>
          </a:p>
          <a:p>
            <a:pPr marL="499745" marR="1595120">
              <a:lnSpc>
                <a:spcPct val="120000"/>
              </a:lnSpc>
            </a:pPr>
            <a:r>
              <a:rPr sz="1600" dirty="0">
                <a:latin typeface="Courier New"/>
                <a:cs typeface="Courier New"/>
              </a:rPr>
              <a:t>float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sum=0,avg; </a:t>
            </a:r>
            <a:r>
              <a:rPr sz="1600" dirty="0">
                <a:latin typeface="Courier New"/>
                <a:cs typeface="Courier New"/>
              </a:rPr>
              <a:t>int</a:t>
            </a:r>
            <a:r>
              <a:rPr sz="1600" spc="-25" dirty="0">
                <a:latin typeface="Courier New"/>
                <a:cs typeface="Courier New"/>
              </a:rPr>
              <a:t> i;</a:t>
            </a:r>
            <a:endParaRPr sz="1600" dirty="0">
              <a:latin typeface="Courier New"/>
              <a:cs typeface="Courier New"/>
            </a:endParaRPr>
          </a:p>
          <a:p>
            <a:pPr marL="926465" marR="803275" indent="-426720">
              <a:lnSpc>
                <a:spcPct val="120000"/>
              </a:lnSpc>
            </a:pPr>
            <a:r>
              <a:rPr sz="1600" dirty="0">
                <a:latin typeface="Courier New"/>
                <a:cs typeface="Courier New"/>
              </a:rPr>
              <a:t>for(i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0;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&lt;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N;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spc="-20" dirty="0">
                <a:latin typeface="Courier New"/>
                <a:cs typeface="Courier New"/>
              </a:rPr>
              <a:t>i++) </a:t>
            </a:r>
            <a:r>
              <a:rPr sz="1600" dirty="0">
                <a:latin typeface="Courier New"/>
                <a:cs typeface="Courier New"/>
              </a:rPr>
              <a:t>sum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sum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+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s[i].m;</a:t>
            </a:r>
            <a:endParaRPr sz="1600" dirty="0">
              <a:latin typeface="Courier New"/>
              <a:cs typeface="Courier New"/>
            </a:endParaRPr>
          </a:p>
          <a:p>
            <a:pPr marL="499745" marR="2083435">
              <a:lnSpc>
                <a:spcPct val="120000"/>
              </a:lnSpc>
            </a:pPr>
            <a:r>
              <a:rPr sz="1600" dirty="0">
                <a:latin typeface="Courier New"/>
                <a:cs typeface="Courier New"/>
              </a:rPr>
              <a:t>avg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sum/N; </a:t>
            </a:r>
            <a:r>
              <a:rPr sz="1600" dirty="0">
                <a:latin typeface="Courier New"/>
                <a:cs typeface="Courier New"/>
              </a:rPr>
              <a:t>return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spc="-20" dirty="0">
                <a:latin typeface="Courier New"/>
                <a:cs typeface="Courier New"/>
              </a:rPr>
              <a:t>avg;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spc="-50" dirty="0"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600" dirty="0">
              <a:latin typeface="Courier New"/>
              <a:cs typeface="Courier New"/>
            </a:endParaRPr>
          </a:p>
          <a:p>
            <a:pPr marL="440690">
              <a:lnSpc>
                <a:spcPct val="100000"/>
              </a:lnSpc>
              <a:tabLst>
                <a:tab pos="2141220" algn="l"/>
              </a:tabLst>
            </a:pPr>
            <a:r>
              <a:rPr sz="1400" dirty="0">
                <a:latin typeface="Arial"/>
                <a:cs typeface="Arial"/>
              </a:rPr>
              <a:t>	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</TotalTime>
  <Words>2795</Words>
  <Application>Microsoft Office PowerPoint</Application>
  <PresentationFormat>Custom</PresentationFormat>
  <Paragraphs>523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Arial MT</vt:lpstr>
      <vt:lpstr>Calibri</vt:lpstr>
      <vt:lpstr>Courier New</vt:lpstr>
      <vt:lpstr>Lucida Console</vt:lpstr>
      <vt:lpstr>Times New Roman</vt:lpstr>
      <vt:lpstr>Verdana</vt:lpstr>
      <vt:lpstr>Wingdings</vt:lpstr>
      <vt:lpstr>Office Theme</vt:lpstr>
      <vt:lpstr>Structures in C</vt:lpstr>
      <vt:lpstr>Outline</vt:lpstr>
      <vt:lpstr>Objectives</vt:lpstr>
      <vt:lpstr>Outline</vt:lpstr>
      <vt:lpstr>Structures</vt:lpstr>
      <vt:lpstr>Structure: Formal Definition</vt:lpstr>
      <vt:lpstr>Outline</vt:lpstr>
      <vt:lpstr>Defining Structures</vt:lpstr>
      <vt:lpstr>Defining Structures</vt:lpstr>
      <vt:lpstr>Outline</vt:lpstr>
      <vt:lpstr>typedef</vt:lpstr>
      <vt:lpstr>struct</vt:lpstr>
      <vt:lpstr>Outline</vt:lpstr>
      <vt:lpstr>Question</vt:lpstr>
      <vt:lpstr>Euclidian distance</vt:lpstr>
      <vt:lpstr>Euclidian distance</vt:lpstr>
      <vt:lpstr>Problem at a glance</vt:lpstr>
      <vt:lpstr>Solution: Defining Structure</vt:lpstr>
      <vt:lpstr>Solution: logic</vt:lpstr>
      <vt:lpstr>Input from users</vt:lpstr>
      <vt:lpstr>Outline</vt:lpstr>
      <vt:lpstr>Question</vt:lpstr>
      <vt:lpstr>Solution: Defining Structure</vt:lpstr>
      <vt:lpstr>Solution: Defining Structure</vt:lpstr>
      <vt:lpstr>How to store info of many students? </vt:lpstr>
      <vt:lpstr>Outline</vt:lpstr>
      <vt:lpstr>Question</vt:lpstr>
      <vt:lpstr>Solution</vt:lpstr>
      <vt:lpstr>Question</vt:lpstr>
      <vt:lpstr>Solution</vt:lpstr>
      <vt:lpstr>Solution</vt:lpstr>
      <vt:lpstr>Outline</vt:lpstr>
      <vt:lpstr>Question</vt:lpstr>
      <vt:lpstr>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Structures in C</dc:title>
  <cp:lastModifiedBy>Asif Rifat</cp:lastModifiedBy>
  <cp:revision>7</cp:revision>
  <dcterms:created xsi:type="dcterms:W3CDTF">2024-12-28T16:15:21Z</dcterms:created>
  <dcterms:modified xsi:type="dcterms:W3CDTF">2024-12-28T23:44:44Z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2020-04-08T00:00:00Z</vt:filetime>
  </property>
  <property fmtid="{D5CDD505-2E9C-101B-9397-08002B2CF9AE}" pid="3" name="LastSaved">
    <vt:filetime>2024-12-28T00:00:00Z</vt:filetime>
  </property>
  <property fmtid="{D5CDD505-2E9C-101B-9397-08002B2CF9AE}" pid="4" name="Producer">
    <vt:lpwstr>Foxit Reader PDF Printer Version 8.3.0.0331</vt:lpwstr>
  </property>
</Properties>
</file>